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97" r:id="rId3"/>
    <p:sldId id="300" r:id="rId4"/>
    <p:sldId id="301" r:id="rId5"/>
    <p:sldId id="296" r:id="rId6"/>
    <p:sldId id="298" r:id="rId7"/>
    <p:sldId id="299" r:id="rId8"/>
    <p:sldId id="817" r:id="rId9"/>
    <p:sldId id="303" r:id="rId10"/>
    <p:sldId id="302" r:id="rId11"/>
    <p:sldId id="818" r:id="rId12"/>
    <p:sldId id="304" r:id="rId13"/>
    <p:sldId id="819" r:id="rId14"/>
    <p:sldId id="820" r:id="rId15"/>
    <p:sldId id="305" r:id="rId16"/>
    <p:sldId id="309" r:id="rId17"/>
    <p:sldId id="310" r:id="rId18"/>
    <p:sldId id="306" r:id="rId19"/>
    <p:sldId id="821" r:id="rId20"/>
    <p:sldId id="307" r:id="rId21"/>
    <p:sldId id="822" r:id="rId22"/>
    <p:sldId id="308" r:id="rId23"/>
    <p:sldId id="559" r:id="rId24"/>
    <p:sldId id="747" r:id="rId25"/>
    <p:sldId id="753" r:id="rId26"/>
    <p:sldId id="666" r:id="rId27"/>
    <p:sldId id="755" r:id="rId28"/>
    <p:sldId id="754" r:id="rId29"/>
    <p:sldId id="829" r:id="rId30"/>
    <p:sldId id="756" r:id="rId31"/>
    <p:sldId id="312" r:id="rId32"/>
    <p:sldId id="825" r:id="rId33"/>
    <p:sldId id="826" r:id="rId34"/>
    <p:sldId id="824" r:id="rId35"/>
    <p:sldId id="828" r:id="rId36"/>
    <p:sldId id="567" r:id="rId37"/>
    <p:sldId id="743" r:id="rId38"/>
    <p:sldId id="744" r:id="rId39"/>
    <p:sldId id="791" r:id="rId40"/>
    <p:sldId id="792" r:id="rId41"/>
    <p:sldId id="816" r:id="rId42"/>
    <p:sldId id="794" r:id="rId43"/>
    <p:sldId id="793" r:id="rId44"/>
    <p:sldId id="686" r:id="rId45"/>
    <p:sldId id="815" r:id="rId46"/>
    <p:sldId id="757" r:id="rId47"/>
    <p:sldId id="295"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07-07-2026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CAC25918-00C0-EE91-2833-2C57578F5F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AEFFB91-08BB-456E-9C6A-64786BC0451A}" type="slidenum">
              <a:rPr lang="en-US" altLang="en-US" sz="1200"/>
              <a:pPr eaLnBrk="1" hangingPunct="1"/>
              <a:t>23</a:t>
            </a:fld>
            <a:endParaRPr lang="en-US" altLang="en-US" sz="1200"/>
          </a:p>
        </p:txBody>
      </p:sp>
      <p:sp>
        <p:nvSpPr>
          <p:cNvPr id="53251" name="Rectangle 2">
            <a:extLst>
              <a:ext uri="{FF2B5EF4-FFF2-40B4-BE49-F238E27FC236}">
                <a16:creationId xmlns:a16="http://schemas.microsoft.com/office/drawing/2014/main" id="{13B7EDE3-6F33-B232-22B6-6ACE0E6A0BBC}"/>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55B1829-9255-0EB7-D47D-0E9643376C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50FF889-6EBE-D5DC-39C4-3A7D6984D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90DBB3F8-5EBD-4E7B-9AFA-0776A2DA0965}" type="slidenum">
              <a:rPr lang="en-US" altLang="en-US" sz="1200"/>
              <a:pPr eaLnBrk="1" hangingPunct="1"/>
              <a:t>24</a:t>
            </a:fld>
            <a:endParaRPr lang="en-US" altLang="en-US" sz="1200"/>
          </a:p>
        </p:txBody>
      </p:sp>
      <p:sp>
        <p:nvSpPr>
          <p:cNvPr id="57347" name="Rectangle 2">
            <a:extLst>
              <a:ext uri="{FF2B5EF4-FFF2-40B4-BE49-F238E27FC236}">
                <a16:creationId xmlns:a16="http://schemas.microsoft.com/office/drawing/2014/main" id="{8A6E1C10-75DD-9DFD-3063-9FBA82269AE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534A57A6-7D63-A9FB-0F34-45194E81BC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47338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0DE617F2-BBFA-3B7B-23A4-E47C06094A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536A529-0CC2-4C6B-87D8-7FBD4FBEF8C5}" type="slidenum">
              <a:rPr lang="en-US" altLang="en-US" sz="1200"/>
              <a:pPr eaLnBrk="1" hangingPunct="1"/>
              <a:t>25</a:t>
            </a:fld>
            <a:endParaRPr lang="en-US" altLang="en-US" sz="1200"/>
          </a:p>
        </p:txBody>
      </p:sp>
      <p:sp>
        <p:nvSpPr>
          <p:cNvPr id="54275" name="Rectangle 2">
            <a:extLst>
              <a:ext uri="{FF2B5EF4-FFF2-40B4-BE49-F238E27FC236}">
                <a16:creationId xmlns:a16="http://schemas.microsoft.com/office/drawing/2014/main" id="{D1A1CBBE-E4AD-D874-7B74-2166CF4C328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36EAC95D-5652-D228-F5A0-098D9C2088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74F7C8F-CAF3-0CFF-1B9E-0771304390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3CFCAD4C-B907-4CFA-8AD9-E83416B70055}" type="slidenum">
              <a:rPr lang="en-US" altLang="en-US" sz="1200"/>
              <a:pPr eaLnBrk="1" hangingPunct="1"/>
              <a:t>26</a:t>
            </a:fld>
            <a:endParaRPr lang="en-US" altLang="en-US" sz="1200"/>
          </a:p>
        </p:txBody>
      </p:sp>
      <p:sp>
        <p:nvSpPr>
          <p:cNvPr id="55299" name="Rectangle 2">
            <a:extLst>
              <a:ext uri="{FF2B5EF4-FFF2-40B4-BE49-F238E27FC236}">
                <a16:creationId xmlns:a16="http://schemas.microsoft.com/office/drawing/2014/main" id="{B2E94584-BE46-BA7A-B76C-40931DA1795F}"/>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7383F62-B243-C95A-190C-968933E5FE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F35AD729-7BD1-9896-5B3A-B3D7FD5D45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870EC1A8-F192-4BFA-9306-6E3E44348DF4}" type="slidenum">
              <a:rPr lang="en-US" altLang="en-US" sz="1200"/>
              <a:pPr eaLnBrk="1" hangingPunct="1"/>
              <a:t>27</a:t>
            </a:fld>
            <a:endParaRPr lang="en-US" altLang="en-US" sz="1200"/>
          </a:p>
        </p:txBody>
      </p:sp>
      <p:sp>
        <p:nvSpPr>
          <p:cNvPr id="56323" name="Rectangle 2">
            <a:extLst>
              <a:ext uri="{FF2B5EF4-FFF2-40B4-BE49-F238E27FC236}">
                <a16:creationId xmlns:a16="http://schemas.microsoft.com/office/drawing/2014/main" id="{3F5C6F80-B889-ABA8-03E0-20C06757C63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6C4A9777-D914-6EB2-B60E-E78003424C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363D3C8-37C5-3CB7-60CD-E0247DADB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6CD6CDFA-71E8-46AE-9A9A-8250000ABC4D}" type="slidenum">
              <a:rPr lang="en-US" altLang="en-US" sz="1200"/>
              <a:pPr eaLnBrk="1" hangingPunct="1"/>
              <a:t>28</a:t>
            </a:fld>
            <a:endParaRPr lang="en-US" altLang="en-US" sz="1200"/>
          </a:p>
        </p:txBody>
      </p:sp>
      <p:sp>
        <p:nvSpPr>
          <p:cNvPr id="58371" name="Rectangle 2">
            <a:extLst>
              <a:ext uri="{FF2B5EF4-FFF2-40B4-BE49-F238E27FC236}">
                <a16:creationId xmlns:a16="http://schemas.microsoft.com/office/drawing/2014/main" id="{17EC41BA-D867-DAD9-0D29-823E9E30A109}"/>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B2FF1D81-0904-3D4A-B31E-85E258E42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012DFE4-BDF1-CBA3-58D3-7E0E6AE5BD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D6245C59-B735-4B0A-89DE-31CA70DB60BB}" type="slidenum">
              <a:rPr lang="en-US" altLang="en-US" sz="1200"/>
              <a:pPr eaLnBrk="1" hangingPunct="1"/>
              <a:t>36</a:t>
            </a:fld>
            <a:endParaRPr lang="en-US" altLang="en-US" sz="1200"/>
          </a:p>
        </p:txBody>
      </p:sp>
      <p:sp>
        <p:nvSpPr>
          <p:cNvPr id="64515" name="Rectangle 2">
            <a:extLst>
              <a:ext uri="{FF2B5EF4-FFF2-40B4-BE49-F238E27FC236}">
                <a16:creationId xmlns:a16="http://schemas.microsoft.com/office/drawing/2014/main" id="{AE71631C-15AA-C888-03A9-B3E5560FF53D}"/>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CF7C035-4551-58F5-B3B7-55857E27F0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 BELIEVE WE MAY NEED TO DO IT IN MORE IN-DEPTH INTRODUCTION, USING SOME EXAMPLES.  So it will take one slide for one function, i.e., one chapter we want to cover.  Do we need to cover chapter 2: preprocessing and 3. Statistical methods?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7FF1749-01CF-C0E5-64FF-20D20470FF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95159DD9-0193-4208-BC31-B7437A957DD5}" type="slidenum">
              <a:rPr lang="en-US" altLang="en-US" sz="1200"/>
              <a:pPr eaLnBrk="1" hangingPunct="1"/>
              <a:t>37</a:t>
            </a:fld>
            <a:endParaRPr lang="en-US" altLang="en-US" sz="1200"/>
          </a:p>
        </p:txBody>
      </p:sp>
      <p:sp>
        <p:nvSpPr>
          <p:cNvPr id="65539" name="Rectangle 2">
            <a:extLst>
              <a:ext uri="{FF2B5EF4-FFF2-40B4-BE49-F238E27FC236}">
                <a16:creationId xmlns:a16="http://schemas.microsoft.com/office/drawing/2014/main" id="{369D3B6D-6A52-A1DF-B3FB-B3F12AAAF882}"/>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8940BF07-B592-EF50-787C-F9F56128E4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B9EF9D0B-ED18-5B41-C2E7-E746E7DEF7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39808C94-D29A-43D5-BB2E-223217506AF4}" type="slidenum">
              <a:rPr lang="en-US" altLang="en-US" sz="1200"/>
              <a:pPr eaLnBrk="1" hangingPunct="1"/>
              <a:t>38</a:t>
            </a:fld>
            <a:endParaRPr lang="en-US" altLang="en-US" sz="1200"/>
          </a:p>
        </p:txBody>
      </p:sp>
      <p:sp>
        <p:nvSpPr>
          <p:cNvPr id="66563" name="Rectangle 2">
            <a:extLst>
              <a:ext uri="{FF2B5EF4-FFF2-40B4-BE49-F238E27FC236}">
                <a16:creationId xmlns:a16="http://schemas.microsoft.com/office/drawing/2014/main" id="{8981BCBD-96DA-0428-11AB-8011D8244313}"/>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4661C139-7F77-621C-04A7-67E56CDD72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82121BA3-3CD4-8061-20F7-4714EA90DF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A42ABCCB-0178-4719-B1F5-3105D0E506CB}" type="slidenum">
              <a:rPr lang="en-US" altLang="en-US" sz="1200"/>
              <a:pPr eaLnBrk="1" hangingPunct="1"/>
              <a:t>39</a:t>
            </a:fld>
            <a:endParaRPr lang="en-US" altLang="en-US" sz="1200"/>
          </a:p>
        </p:txBody>
      </p:sp>
      <p:sp>
        <p:nvSpPr>
          <p:cNvPr id="67587" name="Rectangle 2">
            <a:extLst>
              <a:ext uri="{FF2B5EF4-FFF2-40B4-BE49-F238E27FC236}">
                <a16:creationId xmlns:a16="http://schemas.microsoft.com/office/drawing/2014/main" id="{2D84A765-6AFC-57C0-9D57-0CE865988D6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8EF9C630-C79E-48ED-1BC5-998D4BFBBE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71403A53-87BD-C2FF-E355-2CB0EC6C19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63260167-4C8F-47BF-A991-3698B1D387BF}" type="slidenum">
              <a:rPr lang="en-US" altLang="en-US" sz="1200"/>
              <a:pPr eaLnBrk="1" hangingPunct="1"/>
              <a:t>40</a:t>
            </a:fld>
            <a:endParaRPr lang="en-US" altLang="en-US" sz="1200"/>
          </a:p>
        </p:txBody>
      </p:sp>
      <p:sp>
        <p:nvSpPr>
          <p:cNvPr id="68611" name="Rectangle 2">
            <a:extLst>
              <a:ext uri="{FF2B5EF4-FFF2-40B4-BE49-F238E27FC236}">
                <a16:creationId xmlns:a16="http://schemas.microsoft.com/office/drawing/2014/main" id="{16331805-54AA-C207-B326-932C563A28A8}"/>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4B02BB5E-5EAE-B32B-FF70-09C643A3F6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925FFFAD-5B85-3A77-9A95-4CF1E984E5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DD303AC1-63AD-4687-B049-CF4FF84951DD}" type="slidenum">
              <a:rPr lang="en-US" altLang="en-US" sz="1200"/>
              <a:pPr eaLnBrk="1" hangingPunct="1"/>
              <a:t>44</a:t>
            </a:fld>
            <a:endParaRPr lang="en-US" altLang="en-US" sz="1200"/>
          </a:p>
        </p:txBody>
      </p:sp>
      <p:sp>
        <p:nvSpPr>
          <p:cNvPr id="78851" name="Rectangle 2">
            <a:extLst>
              <a:ext uri="{FF2B5EF4-FFF2-40B4-BE49-F238E27FC236}">
                <a16:creationId xmlns:a16="http://schemas.microsoft.com/office/drawing/2014/main" id="{62D34BC9-28E9-6A01-19EA-D770D762CBAB}"/>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BDBB8870-653B-4C0D-7661-F152AE881C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A6141E6E-BF9D-7613-C3D7-4A1C15E474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74C8C2-555F-4EB1-B3EE-666ACE3CF641}" type="slidenum">
              <a:rPr lang="en-US" altLang="en-US" sz="1200"/>
              <a:pPr eaLnBrk="1" hangingPunct="1"/>
              <a:t>45</a:t>
            </a:fld>
            <a:endParaRPr lang="en-US" altLang="en-US" sz="1200"/>
          </a:p>
        </p:txBody>
      </p:sp>
      <p:sp>
        <p:nvSpPr>
          <p:cNvPr id="79875" name="Rectangle 2">
            <a:extLst>
              <a:ext uri="{FF2B5EF4-FFF2-40B4-BE49-F238E27FC236}">
                <a16:creationId xmlns:a16="http://schemas.microsoft.com/office/drawing/2014/main" id="{E03EEFD1-92B1-92D1-D213-366123970B28}"/>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8E044DCE-19DD-BE8E-F8C5-86B1B55FDB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7/7/2026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7/7/2026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7/7/2026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geeksforgeeks.org/dbms/what-is-data-inconsistency-in-dbms/"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 Introduction to Data Mining</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B3060C-79DB-F72C-D4E0-7474AA245925}"/>
              </a:ext>
            </a:extLst>
          </p:cNvPr>
          <p:cNvSpPr>
            <a:spLocks noGrp="1"/>
          </p:cNvSpPr>
          <p:nvPr>
            <p:ph idx="1"/>
          </p:nvPr>
        </p:nvSpPr>
        <p:spPr>
          <a:xfrm>
            <a:off x="457200" y="1481329"/>
            <a:ext cx="4495800" cy="2404872"/>
          </a:xfrm>
        </p:spPr>
        <p:txBody>
          <a:bodyPr>
            <a:normAutofit/>
          </a:bodyPr>
          <a:lstStyle/>
          <a:p>
            <a:r>
              <a:rPr lang="en-US" sz="2000" dirty="0">
                <a:latin typeface="Times New Roman" panose="02020603050405020304" pitchFamily="18" charset="0"/>
                <a:cs typeface="Times New Roman" panose="02020603050405020304" pitchFamily="18" charset="0"/>
              </a:rPr>
              <a:t>What Data mining? </a:t>
            </a:r>
          </a:p>
          <a:p>
            <a:r>
              <a:rPr lang="en-US" sz="2000" dirty="0">
                <a:latin typeface="Times New Roman" panose="02020603050405020304" pitchFamily="18" charset="0"/>
                <a:cs typeface="Times New Roman" panose="02020603050405020304" pitchFamily="18" charset="0"/>
              </a:rPr>
              <a:t>Kinds of Data,</a:t>
            </a:r>
          </a:p>
          <a:p>
            <a:r>
              <a:rPr lang="en-US" sz="2000" dirty="0">
                <a:latin typeface="Times New Roman" panose="02020603050405020304" pitchFamily="18" charset="0"/>
                <a:cs typeface="Times New Roman" panose="02020603050405020304" pitchFamily="18" charset="0"/>
              </a:rPr>
              <a:t> Knowledge Discovery process, </a:t>
            </a:r>
          </a:p>
          <a:p>
            <a:r>
              <a:rPr lang="en-US" sz="2000" dirty="0">
                <a:latin typeface="Times New Roman" panose="02020603050405020304" pitchFamily="18" charset="0"/>
                <a:cs typeface="Times New Roman" panose="02020603050405020304" pitchFamily="18" charset="0"/>
              </a:rPr>
              <a:t>Data Mining Functionalities, </a:t>
            </a:r>
          </a:p>
          <a:p>
            <a:r>
              <a:rPr lang="en-US" sz="2000" dirty="0">
                <a:latin typeface="Times New Roman" panose="02020603050405020304" pitchFamily="18" charset="0"/>
                <a:cs typeface="Times New Roman" panose="02020603050405020304" pitchFamily="18" charset="0"/>
              </a:rPr>
              <a:t>Kinds of Patterns, </a:t>
            </a:r>
          </a:p>
          <a:p>
            <a:r>
              <a:rPr lang="en-US" sz="2000" dirty="0">
                <a:latin typeface="Times New Roman" panose="02020603050405020304" pitchFamily="18" charset="0"/>
                <a:cs typeface="Times New Roman" panose="02020603050405020304" pitchFamily="18" charset="0"/>
              </a:rPr>
              <a:t>Major Issues in Data Mining. </a:t>
            </a:r>
          </a:p>
        </p:txBody>
      </p:sp>
      <p:sp>
        <p:nvSpPr>
          <p:cNvPr id="3" name="Title 2">
            <a:extLst>
              <a:ext uri="{FF2B5EF4-FFF2-40B4-BE49-F238E27FC236}">
                <a16:creationId xmlns:a16="http://schemas.microsoft.com/office/drawing/2014/main" id="{27D30880-6A30-4448-609B-28B8A565754E}"/>
              </a:ext>
            </a:extLst>
          </p:cNvPr>
          <p:cNvSpPr>
            <a:spLocks noGrp="1"/>
          </p:cNvSpPr>
          <p:nvPr>
            <p:ph type="title"/>
          </p:nvPr>
        </p:nvSpPr>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UNIT - I</a:t>
            </a:r>
            <a:br>
              <a:rPr lang="en-IN" sz="3200" dirty="0">
                <a:solidFill>
                  <a:srgbClr val="002060"/>
                </a:solidFill>
                <a:latin typeface="Times New Roman" panose="02020603050405020304" pitchFamily="18" charset="0"/>
                <a:cs typeface="Times New Roman" panose="02020603050405020304" pitchFamily="18" charset="0"/>
              </a:rPr>
            </a:br>
            <a:r>
              <a:rPr lang="en-US" sz="3200" dirty="0">
                <a:solidFill>
                  <a:srgbClr val="002060"/>
                </a:solidFill>
                <a:latin typeface="Times New Roman" panose="02020603050405020304" pitchFamily="18" charset="0"/>
                <a:cs typeface="Times New Roman" panose="02020603050405020304" pitchFamily="18" charset="0"/>
              </a:rPr>
              <a:t>Introduction to Data Mining</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F7B9F7-A100-6EEE-D5F4-E1A71FB0B908}"/>
              </a:ext>
            </a:extLst>
          </p:cNvPr>
          <p:cNvSpPr txBox="1"/>
          <p:nvPr/>
        </p:nvSpPr>
        <p:spPr>
          <a:xfrm>
            <a:off x="5334000" y="1600200"/>
            <a:ext cx="3433916" cy="240065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Pre-processing</a:t>
            </a:r>
            <a:r>
              <a:rPr lang="en-US" sz="2400" b="1"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Major Tasks in Data Pre-processing,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Cleaning,</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Integration,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Reduction,</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Transformation and Data Discretization.</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1E2F3D-F9D2-A93C-A4A8-DBFA268BFC78}"/>
              </a:ext>
            </a:extLst>
          </p:cNvPr>
          <p:cNvSpPr txBox="1"/>
          <p:nvPr/>
        </p:nvSpPr>
        <p:spPr>
          <a:xfrm>
            <a:off x="990600" y="4277856"/>
            <a:ext cx="4576916" cy="1754326"/>
          </a:xfrm>
          <a:prstGeom prst="rect">
            <a:avLst/>
          </a:prstGeom>
          <a:noFill/>
        </p:spPr>
        <p:txBody>
          <a:bodyPr wrap="square">
            <a:spAutoFit/>
          </a:bodyPr>
          <a:lstStyle/>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Objects and Attribute Types</a:t>
            </a: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Basic Statistical Descriptions of Data,</a:t>
            </a:r>
          </a:p>
          <a:p>
            <a:r>
              <a:rPr lang="en-US" sz="18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Visualization,</a:t>
            </a: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Measuring Data Similarity and Dissimilarity, </a:t>
            </a:r>
          </a:p>
        </p:txBody>
      </p:sp>
    </p:spTree>
    <p:extLst>
      <p:ext uri="{BB962C8B-B14F-4D97-AF65-F5344CB8AC3E}">
        <p14:creationId xmlns:p14="http://schemas.microsoft.com/office/powerpoint/2010/main" val="1279738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6D4-9036-CF88-9569-2F1AF5DAD4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B5A013-173F-0D55-B1C3-35697771D51B}"/>
              </a:ext>
            </a:extLst>
          </p:cNvPr>
          <p:cNvSpPr>
            <a:spLocks noGrp="1"/>
          </p:cNvSpPr>
          <p:nvPr>
            <p:ph idx="1"/>
          </p:nvPr>
        </p:nvSpPr>
        <p:spPr>
          <a:xfrm>
            <a:off x="457200" y="973394"/>
            <a:ext cx="8229600" cy="4525963"/>
          </a:xfrm>
        </p:spPr>
        <p:txBody>
          <a:bodyPr>
            <a:normAutofit/>
          </a:bodyPr>
          <a:lstStyle/>
          <a:p>
            <a:r>
              <a:rPr lang="en-US" dirty="0">
                <a:latin typeface="Times New Roman" panose="02020603050405020304" pitchFamily="18" charset="0"/>
                <a:cs typeface="Times New Roman" panose="02020603050405020304" pitchFamily="18" charset="0"/>
              </a:rPr>
              <a:t>Data mining definitions, goals, and processes</a:t>
            </a:r>
          </a:p>
          <a:p>
            <a:r>
              <a:rPr lang="en-US" dirty="0">
                <a:latin typeface="Times New Roman" panose="02020603050405020304" pitchFamily="18" charset="0"/>
                <a:cs typeface="Times New Roman" panose="02020603050405020304" pitchFamily="18" charset="0"/>
              </a:rPr>
              <a:t>Types of data, patterns, and issues</a:t>
            </a:r>
          </a:p>
          <a:p>
            <a:r>
              <a:rPr lang="en-IN" dirty="0">
                <a:latin typeface="Times New Roman" panose="02020603050405020304" pitchFamily="18" charset="0"/>
                <a:cs typeface="Times New Roman" panose="02020603050405020304" pitchFamily="18" charset="0"/>
              </a:rPr>
              <a:t>Data visualization, similarity measures</a:t>
            </a:r>
          </a:p>
          <a:p>
            <a:r>
              <a:rPr lang="en-IN" dirty="0">
                <a:latin typeface="Times New Roman" panose="02020603050405020304" pitchFamily="18" charset="0"/>
                <a:cs typeface="Times New Roman" panose="02020603050405020304" pitchFamily="18" charset="0"/>
              </a:rPr>
              <a:t>Data cleaning, integration, transformation</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B51CCBF-A35D-02B0-BF17-D4027C192016}"/>
              </a:ext>
            </a:extLst>
          </p:cNvPr>
          <p:cNvSpPr>
            <a:spLocks noGrp="1"/>
          </p:cNvSpPr>
          <p:nvPr>
            <p:ph type="title"/>
          </p:nvPr>
        </p:nvSpPr>
        <p:spPr>
          <a:xfrm>
            <a:off x="457200" y="274638"/>
            <a:ext cx="8229600" cy="715962"/>
          </a:xfrm>
        </p:spPr>
        <p:txBody>
          <a:bodyPr>
            <a:normAutofit/>
          </a:bodyPr>
          <a:lstStyle/>
          <a:p>
            <a:pPr algn="ctr"/>
            <a:r>
              <a:rPr lang="en-IN" sz="3200" dirty="0">
                <a:solidFill>
                  <a:srgbClr val="002060"/>
                </a:solidFill>
                <a:latin typeface="Times New Roman" panose="02020603050405020304" pitchFamily="18" charset="0"/>
                <a:cs typeface="Times New Roman" panose="02020603050405020304" pitchFamily="18" charset="0"/>
              </a:rPr>
              <a:t>Unit I: </a:t>
            </a:r>
            <a:r>
              <a:rPr lang="en-IN" sz="3200" dirty="0" err="1">
                <a:solidFill>
                  <a:srgbClr val="002060"/>
                </a:solidFill>
                <a:latin typeface="Times New Roman" panose="02020603050405020304" pitchFamily="18" charset="0"/>
                <a:cs typeface="Times New Roman" panose="02020603050405020304" pitchFamily="18" charset="0"/>
              </a:rPr>
              <a:t>Introductionto</a:t>
            </a:r>
            <a:r>
              <a:rPr lang="en-IN" sz="3200" dirty="0">
                <a:solidFill>
                  <a:srgbClr val="002060"/>
                </a:solidFill>
                <a:latin typeface="Times New Roman" panose="02020603050405020304" pitchFamily="18" charset="0"/>
                <a:cs typeface="Times New Roman" panose="02020603050405020304" pitchFamily="18" charset="0"/>
              </a:rPr>
              <a:t> Data Mining</a:t>
            </a:r>
          </a:p>
        </p:txBody>
      </p:sp>
    </p:spTree>
    <p:extLst>
      <p:ext uri="{BB962C8B-B14F-4D97-AF65-F5344CB8AC3E}">
        <p14:creationId xmlns:p14="http://schemas.microsoft.com/office/powerpoint/2010/main" val="3409630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24DA9-BEDA-82F2-2298-791101F41F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52D8AA-F879-0B4D-949B-9E7BAC36AF58}"/>
              </a:ext>
            </a:extLst>
          </p:cNvPr>
          <p:cNvSpPr>
            <a:spLocks noGrp="1"/>
          </p:cNvSpPr>
          <p:nvPr>
            <p:ph idx="1"/>
          </p:nvPr>
        </p:nvSpPr>
        <p:spPr>
          <a:xfrm>
            <a:off x="533400" y="685799"/>
            <a:ext cx="8229600" cy="6056671"/>
          </a:xfrm>
        </p:spPr>
        <p:txBody>
          <a:bodyPr>
            <a:noAutofit/>
          </a:bodyPr>
          <a:lstStyle/>
          <a:p>
            <a:r>
              <a:rPr lang="en-US" sz="2000" b="1" dirty="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is a collection of raw facts, figures, or symbols that represent information.</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Examples of Data: </a:t>
            </a:r>
            <a:r>
              <a:rPr lang="en-US" sz="2000" dirty="0">
                <a:latin typeface="Times New Roman" panose="02020603050405020304" pitchFamily="18" charset="0"/>
                <a:cs typeface="Times New Roman" panose="02020603050405020304" pitchFamily="18" charset="0"/>
              </a:rPr>
              <a:t>numbers, text, images, videos, audios, sensor readings, transaction records, weblogs, etc.</a:t>
            </a:r>
          </a:p>
          <a:p>
            <a:endParaRPr lang="en-US" sz="2000" dirty="0">
              <a:latin typeface="Times New Roman" panose="02020603050405020304" pitchFamily="18" charset="0"/>
              <a:cs typeface="Times New Roman" panose="02020603050405020304" pitchFamily="18" charset="0"/>
            </a:endParaRPr>
          </a:p>
          <a:p>
            <a:pPr marL="109728" indent="0">
              <a:buNone/>
            </a:pPr>
            <a:r>
              <a:rPr lang="en-IN" sz="2000" b="1" dirty="0">
                <a:solidFill>
                  <a:srgbClr val="002060"/>
                </a:solidFill>
                <a:latin typeface="Times New Roman" panose="02020603050405020304" pitchFamily="18" charset="0"/>
                <a:cs typeface="Times New Roman" panose="02020603050405020304" pitchFamily="18" charset="0"/>
              </a:rPr>
              <a:t>Moving toward the Information Age</a:t>
            </a:r>
          </a:p>
          <a:p>
            <a:pPr marL="109728" indent="0">
              <a:buNone/>
            </a:pPr>
            <a:endParaRPr lang="en-US" sz="2000" b="1" dirty="0">
              <a:solidFill>
                <a:srgbClr val="002060"/>
              </a:solidFill>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“We are living in the information age” is a popular saying; however, we are actually living in the data age. </a:t>
            </a:r>
          </a:p>
          <a:p>
            <a:pPr marL="109728" indent="0">
              <a:buNone/>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AFF9BE1-9862-59A2-2BD8-96DBFDB65244}"/>
              </a:ext>
            </a:extLst>
          </p:cNvPr>
          <p:cNvSpPr>
            <a:spLocks noGrp="1"/>
          </p:cNvSpPr>
          <p:nvPr>
            <p:ph type="title"/>
          </p:nvPr>
        </p:nvSpPr>
        <p:spPr>
          <a:xfrm>
            <a:off x="457200" y="115529"/>
            <a:ext cx="8229600" cy="715962"/>
          </a:xfrm>
        </p:spPr>
        <p:txBody>
          <a:bodyPr>
            <a:norm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Why Data mining? </a:t>
            </a:r>
            <a:endParaRPr lang="en-IN" sz="3200" dirty="0">
              <a:solidFill>
                <a:srgbClr val="002060"/>
              </a:solidFill>
            </a:endParaRPr>
          </a:p>
        </p:txBody>
      </p:sp>
    </p:spTree>
    <p:extLst>
      <p:ext uri="{BB962C8B-B14F-4D97-AF65-F5344CB8AC3E}">
        <p14:creationId xmlns:p14="http://schemas.microsoft.com/office/powerpoint/2010/main" val="259740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BA40A-CAF7-C84B-84B2-7C29CB0792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6969B4-E986-3AAB-B5F1-D2BDF428237B}"/>
              </a:ext>
            </a:extLst>
          </p:cNvPr>
          <p:cNvSpPr>
            <a:spLocks noGrp="1"/>
          </p:cNvSpPr>
          <p:nvPr>
            <p:ph idx="1"/>
          </p:nvPr>
        </p:nvSpPr>
        <p:spPr>
          <a:xfrm>
            <a:off x="533400" y="685799"/>
            <a:ext cx="8229600" cy="6056671"/>
          </a:xfrm>
        </p:spPr>
        <p:txBody>
          <a:bodyPr>
            <a:noAutofit/>
          </a:bodyPr>
          <a:lstStyle/>
          <a:p>
            <a:pPr marL="109728" indent="0">
              <a:buNone/>
            </a:pPr>
            <a:r>
              <a:rPr lang="en-IN" sz="1800" b="1" dirty="0">
                <a:solidFill>
                  <a:srgbClr val="002060"/>
                </a:solidFill>
                <a:latin typeface="Times New Roman" panose="02020603050405020304" pitchFamily="18" charset="0"/>
                <a:cs typeface="Times New Roman" panose="02020603050405020304" pitchFamily="18" charset="0"/>
              </a:rPr>
              <a:t>Moving toward the Information Age</a:t>
            </a:r>
            <a:endParaRPr lang="en-US" sz="1800" b="1" dirty="0">
              <a:solidFill>
                <a:srgbClr val="002060"/>
              </a:solidFill>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Terabytes or petabytes of data pour into our computer networks, the World Wide Web (WWW), and various data storage devices every day from business, society, science and engineering, medicine, and almost every other aspect of daily life.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This explosive growth of available data volume is a result of the computerization of our society and the fast development of powerful data collection and storage tools.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Businesses worldwide generate gigantic data sets, including</a:t>
            </a:r>
          </a:p>
          <a:p>
            <a:pPr lvl="3"/>
            <a:r>
              <a:rPr lang="en-IN" sz="2000" dirty="0">
                <a:latin typeface="Times New Roman" panose="02020603050405020304" pitchFamily="18" charset="0"/>
                <a:cs typeface="Times New Roman" panose="02020603050405020304" pitchFamily="18" charset="0"/>
              </a:rPr>
              <a:t> sales transactions,</a:t>
            </a:r>
          </a:p>
          <a:p>
            <a:pPr lvl="3"/>
            <a:r>
              <a:rPr lang="en-IN" sz="2000" dirty="0">
                <a:latin typeface="Times New Roman" panose="02020603050405020304" pitchFamily="18" charset="0"/>
                <a:cs typeface="Times New Roman" panose="02020603050405020304" pitchFamily="18" charset="0"/>
              </a:rPr>
              <a:t> stock trading records, </a:t>
            </a:r>
          </a:p>
          <a:p>
            <a:pPr lvl="3"/>
            <a:r>
              <a:rPr lang="en-IN" sz="2000" dirty="0">
                <a:latin typeface="Times New Roman" panose="02020603050405020304" pitchFamily="18" charset="0"/>
                <a:cs typeface="Times New Roman" panose="02020603050405020304" pitchFamily="18" charset="0"/>
              </a:rPr>
              <a:t>product descriptions,</a:t>
            </a:r>
          </a:p>
          <a:p>
            <a:pPr lvl="3"/>
            <a:r>
              <a:rPr lang="en-IN" sz="2000" dirty="0">
                <a:latin typeface="Times New Roman" panose="02020603050405020304" pitchFamily="18" charset="0"/>
                <a:cs typeface="Times New Roman" panose="02020603050405020304" pitchFamily="18" charset="0"/>
              </a:rPr>
              <a:t> sales promotions, </a:t>
            </a:r>
          </a:p>
          <a:p>
            <a:pPr lvl="3"/>
            <a:r>
              <a:rPr lang="en-IN" sz="2000" dirty="0">
                <a:latin typeface="Times New Roman" panose="02020603050405020304" pitchFamily="18" charset="0"/>
                <a:cs typeface="Times New Roman" panose="02020603050405020304" pitchFamily="18" charset="0"/>
              </a:rPr>
              <a:t>company profiles and performance, and </a:t>
            </a:r>
          </a:p>
          <a:p>
            <a:pPr lvl="3"/>
            <a:r>
              <a:rPr lang="en-IN" sz="2000" dirty="0">
                <a:latin typeface="Times New Roman" panose="02020603050405020304" pitchFamily="18" charset="0"/>
                <a:cs typeface="Times New Roman" panose="02020603050405020304" pitchFamily="18" charset="0"/>
              </a:rPr>
              <a:t>customer feedback.</a:t>
            </a:r>
            <a:endParaRPr lang="en-US" sz="20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BFD7C72-4390-09AD-A8D7-56865BC04443}"/>
              </a:ext>
            </a:extLst>
          </p:cNvPr>
          <p:cNvSpPr>
            <a:spLocks noGrp="1"/>
          </p:cNvSpPr>
          <p:nvPr>
            <p:ph type="title"/>
          </p:nvPr>
        </p:nvSpPr>
        <p:spPr>
          <a:xfrm>
            <a:off x="457200" y="115529"/>
            <a:ext cx="8229600" cy="715962"/>
          </a:xfrm>
        </p:spPr>
        <p:txBody>
          <a:bodyPr>
            <a:norm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Why Data mining? Contd.. </a:t>
            </a:r>
            <a:endParaRPr lang="en-IN" sz="3200" dirty="0">
              <a:solidFill>
                <a:srgbClr val="002060"/>
              </a:solidFill>
            </a:endParaRPr>
          </a:p>
        </p:txBody>
      </p:sp>
    </p:spTree>
    <p:extLst>
      <p:ext uri="{BB962C8B-B14F-4D97-AF65-F5344CB8AC3E}">
        <p14:creationId xmlns:p14="http://schemas.microsoft.com/office/powerpoint/2010/main" val="3332510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B143-5E69-EFA3-AB39-6BF8F04F04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2AAD4D-CB78-A68A-24FF-35036FA146C1}"/>
              </a:ext>
            </a:extLst>
          </p:cNvPr>
          <p:cNvSpPr>
            <a:spLocks noGrp="1"/>
          </p:cNvSpPr>
          <p:nvPr>
            <p:ph idx="1"/>
          </p:nvPr>
        </p:nvSpPr>
        <p:spPr>
          <a:xfrm>
            <a:off x="533400" y="685799"/>
            <a:ext cx="8229600" cy="6056671"/>
          </a:xfrm>
        </p:spPr>
        <p:txBody>
          <a:bodyPr>
            <a:noAutofit/>
          </a:bodyPr>
          <a:lstStyle/>
          <a:p>
            <a:r>
              <a:rPr lang="en-IN" sz="1800" dirty="0">
                <a:latin typeface="Times New Roman" panose="02020603050405020304" pitchFamily="18" charset="0"/>
                <a:cs typeface="Times New Roman" panose="02020603050405020304" pitchFamily="18" charset="0"/>
              </a:rPr>
              <a:t>“We are living in the information age” is a popular saying; however, we are actually living in the data age. </a:t>
            </a:r>
          </a:p>
          <a:p>
            <a:r>
              <a:rPr lang="en-IN" sz="1800" dirty="0">
                <a:latin typeface="Times New Roman" panose="02020603050405020304" pitchFamily="18" charset="0"/>
                <a:cs typeface="Times New Roman" panose="02020603050405020304" pitchFamily="18" charset="0"/>
              </a:rPr>
              <a:t>Terabytes or petabytes of data pour into our computer networks, the World Wide Web (WWW), and various data storage devices every day from</a:t>
            </a:r>
          </a:p>
          <a:p>
            <a:pPr lvl="3"/>
            <a:r>
              <a:rPr lang="en-IN" sz="10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business,</a:t>
            </a:r>
          </a:p>
          <a:p>
            <a:pPr lvl="3"/>
            <a:r>
              <a:rPr lang="en-IN" sz="1800" dirty="0">
                <a:latin typeface="Times New Roman" panose="02020603050405020304" pitchFamily="18" charset="0"/>
                <a:cs typeface="Times New Roman" panose="02020603050405020304" pitchFamily="18" charset="0"/>
              </a:rPr>
              <a:t> society, </a:t>
            </a:r>
          </a:p>
          <a:p>
            <a:pPr lvl="3"/>
            <a:r>
              <a:rPr lang="en-IN" sz="1800" dirty="0">
                <a:latin typeface="Times New Roman" panose="02020603050405020304" pitchFamily="18" charset="0"/>
                <a:cs typeface="Times New Roman" panose="02020603050405020304" pitchFamily="18" charset="0"/>
              </a:rPr>
              <a:t>science and engineering,</a:t>
            </a:r>
          </a:p>
          <a:p>
            <a:pPr lvl="3"/>
            <a:r>
              <a:rPr lang="en-IN" sz="1800" dirty="0">
                <a:latin typeface="Times New Roman" panose="02020603050405020304" pitchFamily="18" charset="0"/>
                <a:cs typeface="Times New Roman" panose="02020603050405020304" pitchFamily="18" charset="0"/>
              </a:rPr>
              <a:t> medicine, and</a:t>
            </a:r>
          </a:p>
          <a:p>
            <a:pPr lvl="3"/>
            <a:r>
              <a:rPr lang="en-IN" sz="1800" dirty="0">
                <a:latin typeface="Times New Roman" panose="02020603050405020304" pitchFamily="18" charset="0"/>
                <a:cs typeface="Times New Roman" panose="02020603050405020304" pitchFamily="18" charset="0"/>
              </a:rPr>
              <a:t> almost every other aspect of daily life.</a:t>
            </a:r>
          </a:p>
          <a:p>
            <a:r>
              <a:rPr lang="en-IN" sz="1800" dirty="0">
                <a:latin typeface="Times New Roman" panose="02020603050405020304" pitchFamily="18" charset="0"/>
                <a:cs typeface="Times New Roman" panose="02020603050405020304" pitchFamily="18" charset="0"/>
              </a:rPr>
              <a:t>This explosive growth of available data volume is a result of the computerization of our society and the fast development of powerful data collection and storage tools. </a:t>
            </a:r>
          </a:p>
          <a:p>
            <a:r>
              <a:rPr lang="en-IN" sz="1800" dirty="0">
                <a:latin typeface="Times New Roman" panose="02020603050405020304" pitchFamily="18" charset="0"/>
                <a:cs typeface="Times New Roman" panose="02020603050405020304" pitchFamily="18" charset="0"/>
              </a:rPr>
              <a:t>Businesses worldwide generate gigantic data sets, including</a:t>
            </a:r>
          </a:p>
          <a:p>
            <a:pPr lvl="3"/>
            <a:r>
              <a:rPr lang="en-IN" sz="1800" dirty="0">
                <a:latin typeface="Times New Roman" panose="02020603050405020304" pitchFamily="18" charset="0"/>
                <a:cs typeface="Times New Roman" panose="02020603050405020304" pitchFamily="18" charset="0"/>
              </a:rPr>
              <a:t> sales transactions,</a:t>
            </a:r>
          </a:p>
          <a:p>
            <a:pPr lvl="3"/>
            <a:r>
              <a:rPr lang="en-IN" sz="1800" dirty="0">
                <a:latin typeface="Times New Roman" panose="02020603050405020304" pitchFamily="18" charset="0"/>
                <a:cs typeface="Times New Roman" panose="02020603050405020304" pitchFamily="18" charset="0"/>
              </a:rPr>
              <a:t> stock trading records, </a:t>
            </a:r>
          </a:p>
          <a:p>
            <a:pPr lvl="3"/>
            <a:r>
              <a:rPr lang="en-IN" sz="1800" dirty="0">
                <a:latin typeface="Times New Roman" panose="02020603050405020304" pitchFamily="18" charset="0"/>
                <a:cs typeface="Times New Roman" panose="02020603050405020304" pitchFamily="18" charset="0"/>
              </a:rPr>
              <a:t>product descriptions,</a:t>
            </a:r>
          </a:p>
          <a:p>
            <a:pPr lvl="3"/>
            <a:r>
              <a:rPr lang="en-IN" sz="1800" dirty="0">
                <a:latin typeface="Times New Roman" panose="02020603050405020304" pitchFamily="18" charset="0"/>
                <a:cs typeface="Times New Roman" panose="02020603050405020304" pitchFamily="18" charset="0"/>
              </a:rPr>
              <a:t> sales promotions, </a:t>
            </a:r>
          </a:p>
          <a:p>
            <a:pPr lvl="3"/>
            <a:r>
              <a:rPr lang="en-IN" sz="1800" dirty="0">
                <a:latin typeface="Times New Roman" panose="02020603050405020304" pitchFamily="18" charset="0"/>
                <a:cs typeface="Times New Roman" panose="02020603050405020304" pitchFamily="18" charset="0"/>
              </a:rPr>
              <a:t>company profiles and performance, and </a:t>
            </a:r>
          </a:p>
          <a:p>
            <a:pPr lvl="3"/>
            <a:r>
              <a:rPr lang="en-IN" sz="1800" dirty="0">
                <a:latin typeface="Times New Roman" panose="02020603050405020304" pitchFamily="18" charset="0"/>
                <a:cs typeface="Times New Roman" panose="02020603050405020304" pitchFamily="18" charset="0"/>
              </a:rPr>
              <a:t>customer feedback.</a:t>
            </a: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2EBEADE-8CDC-29A0-BCCB-49E00FC53CA7}"/>
              </a:ext>
            </a:extLst>
          </p:cNvPr>
          <p:cNvSpPr>
            <a:spLocks noGrp="1"/>
          </p:cNvSpPr>
          <p:nvPr>
            <p:ph type="title"/>
          </p:nvPr>
        </p:nvSpPr>
        <p:spPr>
          <a:xfrm>
            <a:off x="152400" y="115529"/>
            <a:ext cx="8915400" cy="715962"/>
          </a:xfrm>
        </p:spPr>
        <p:txBody>
          <a:bodyPr>
            <a:noAutofit/>
          </a:bodyPr>
          <a:lstStyle/>
          <a:p>
            <a:pPr algn="ctr"/>
            <a:r>
              <a:rPr lang="en-US" sz="2800" dirty="0">
                <a:solidFill>
                  <a:srgbClr val="002060"/>
                </a:solidFill>
                <a:latin typeface="Times New Roman" panose="02020603050405020304" pitchFamily="18" charset="0"/>
                <a:cs typeface="Times New Roman" panose="02020603050405020304" pitchFamily="18" charset="0"/>
              </a:rPr>
              <a:t>Why Data mining? -</a:t>
            </a:r>
            <a:r>
              <a:rPr lang="en-IN" sz="2800" dirty="0">
                <a:solidFill>
                  <a:srgbClr val="002060"/>
                </a:solidFill>
                <a:latin typeface="Times New Roman" panose="02020603050405020304" pitchFamily="18" charset="0"/>
                <a:cs typeface="Times New Roman" panose="02020603050405020304" pitchFamily="18" charset="0"/>
              </a:rPr>
              <a:t>Moving toward the Information Age</a:t>
            </a:r>
            <a:endParaRPr lang="en-IN" sz="2800" dirty="0">
              <a:solidFill>
                <a:srgbClr val="002060"/>
              </a:solidFill>
            </a:endParaRPr>
          </a:p>
        </p:txBody>
      </p:sp>
    </p:spTree>
    <p:extLst>
      <p:ext uri="{BB962C8B-B14F-4D97-AF65-F5344CB8AC3E}">
        <p14:creationId xmlns:p14="http://schemas.microsoft.com/office/powerpoint/2010/main" val="1009932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2B68B4-7D58-DBCD-2B3B-53EA7E3EE998}"/>
              </a:ext>
            </a:extLst>
          </p:cNvPr>
          <p:cNvSpPr>
            <a:spLocks noGrp="1"/>
          </p:cNvSpPr>
          <p:nvPr>
            <p:ph idx="1"/>
          </p:nvPr>
        </p:nvSpPr>
        <p:spPr>
          <a:xfrm>
            <a:off x="486697" y="888051"/>
            <a:ext cx="8229600" cy="5436549"/>
          </a:xfrm>
        </p:spPr>
        <p:txBody>
          <a:bodyPr>
            <a:noAutofit/>
          </a:bodyPr>
          <a:lstStyle/>
          <a:p>
            <a:pPr marL="109728" indent="0">
              <a:buNone/>
            </a:pPr>
            <a:r>
              <a:rPr lang="en-IN" sz="2000" b="1" dirty="0">
                <a:latin typeface="Times New Roman" panose="02020603050405020304" pitchFamily="18" charset="0"/>
                <a:cs typeface="Times New Roman" panose="02020603050405020304" pitchFamily="18" charset="0"/>
              </a:rPr>
              <a:t>Data mining turns a large collection of data into knowledge:</a:t>
            </a:r>
          </a:p>
          <a:p>
            <a:pPr marL="109728" indent="0">
              <a:buNone/>
            </a:pPr>
            <a:endParaRPr lang="en-IN" sz="2000" b="1" dirty="0">
              <a:latin typeface="Times New Roman" panose="02020603050405020304" pitchFamily="18" charset="0"/>
              <a:cs typeface="Times New Roman" panose="02020603050405020304" pitchFamily="18" charset="0"/>
            </a:endParaRPr>
          </a:p>
          <a:p>
            <a:pPr marL="109728" indent="0">
              <a:buNone/>
            </a:pP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search engine (e.g., Google) receives hundreds of millions of queries every day.</a:t>
            </a:r>
          </a:p>
          <a:p>
            <a:pPr marL="109728" indent="0">
              <a:buNone/>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Each query can be viewed as a transaction where the user describes her or his information need. </a:t>
            </a:r>
          </a:p>
          <a:p>
            <a:pPr marL="109728" indent="0">
              <a:buNone/>
            </a:pPr>
            <a:endParaRPr lang="en-IN" sz="2000" dirty="0">
              <a:latin typeface="Times New Roman" panose="02020603050405020304" pitchFamily="18" charset="0"/>
              <a:cs typeface="Times New Roman" panose="02020603050405020304" pitchFamily="18" charset="0"/>
            </a:endParaRPr>
          </a:p>
          <a:p>
            <a:pPr marL="109728" indent="0">
              <a:buNone/>
            </a:pPr>
            <a:r>
              <a:rPr lang="en-IN" sz="2000"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D3FFCE94-D949-480C-D4D9-B2CACF02F78D}"/>
              </a:ext>
            </a:extLst>
          </p:cNvPr>
          <p:cNvSpPr>
            <a:spLocks noGrp="1"/>
          </p:cNvSpPr>
          <p:nvPr>
            <p:ph type="title"/>
          </p:nvPr>
        </p:nvSpPr>
        <p:spPr>
          <a:xfrm>
            <a:off x="457200" y="274638"/>
            <a:ext cx="8229600" cy="576071"/>
          </a:xfrm>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Why Data mining? Contd… </a:t>
            </a:r>
            <a:endParaRPr lang="en-IN" sz="3200" dirty="0"/>
          </a:p>
        </p:txBody>
      </p:sp>
    </p:spTree>
    <p:extLst>
      <p:ext uri="{BB962C8B-B14F-4D97-AF65-F5344CB8AC3E}">
        <p14:creationId xmlns:p14="http://schemas.microsoft.com/office/powerpoint/2010/main" val="1432577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62A1A-D075-BDC0-3177-3CD6D653D8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CD6769-28CD-2CEB-1273-D3717A7BE3D2}"/>
              </a:ext>
            </a:extLst>
          </p:cNvPr>
          <p:cNvSpPr>
            <a:spLocks noGrp="1"/>
          </p:cNvSpPr>
          <p:nvPr>
            <p:ph idx="1"/>
          </p:nvPr>
        </p:nvSpPr>
        <p:spPr>
          <a:xfrm>
            <a:off x="486697" y="888051"/>
            <a:ext cx="8229600" cy="5436549"/>
          </a:xfrm>
        </p:spPr>
        <p:txBody>
          <a:bodyPr>
            <a:noAutofit/>
          </a:bodyPr>
          <a:lstStyle/>
          <a:p>
            <a:pPr marL="109728" indent="0">
              <a:buNone/>
            </a:pPr>
            <a:r>
              <a:rPr lang="en-IN" sz="2000" b="1" dirty="0">
                <a:latin typeface="Times New Roman" panose="02020603050405020304" pitchFamily="18" charset="0"/>
                <a:cs typeface="Times New Roman" panose="02020603050405020304" pitchFamily="18" charset="0"/>
              </a:rPr>
              <a:t>Data mining turns a large collection of data into knowledge:</a:t>
            </a:r>
          </a:p>
          <a:p>
            <a:r>
              <a:rPr lang="en-IN" sz="2000" dirty="0">
                <a:latin typeface="Times New Roman" panose="02020603050405020304" pitchFamily="18" charset="0"/>
                <a:cs typeface="Times New Roman" panose="02020603050405020304" pitchFamily="18" charset="0"/>
              </a:rPr>
              <a:t>A search engine (e.g., Google) receives hundreds of millions of queries every day. Each query can be viewed as a transaction where the user describes her or his information need. </a:t>
            </a:r>
          </a:p>
          <a:p>
            <a:pPr marL="109728" indent="0">
              <a:buNone/>
            </a:pPr>
            <a:r>
              <a:rPr lang="en-IN" sz="2000" b="1" dirty="0">
                <a:latin typeface="Times New Roman" panose="02020603050405020304" pitchFamily="18" charset="0"/>
                <a:cs typeface="Times New Roman" panose="02020603050405020304" pitchFamily="18" charset="0"/>
              </a:rPr>
              <a:t>For example</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Google’s Flu Trends uses specific search terms as indicators of flu activity. </a:t>
            </a:r>
          </a:p>
          <a:p>
            <a:r>
              <a:rPr lang="en-IN" sz="2000" dirty="0">
                <a:latin typeface="Times New Roman" panose="02020603050405020304" pitchFamily="18" charset="0"/>
                <a:cs typeface="Times New Roman" panose="02020603050405020304" pitchFamily="18" charset="0"/>
              </a:rPr>
              <a:t>It found a close relationship between the number of people who search for flu-related information and the number of people who actually have flu symptoms.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pattern emerges when all of the search queries related to flu are aggregated. Using aggregated Google search data, Flu Trends can estimate flu activity up to two weeks faster than traditional systems can.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This example shows how data mining can turn a large collection of data into knowledge that can help meet a current global challenge.</a:t>
            </a:r>
          </a:p>
        </p:txBody>
      </p:sp>
      <p:sp>
        <p:nvSpPr>
          <p:cNvPr id="3" name="Title 2">
            <a:extLst>
              <a:ext uri="{FF2B5EF4-FFF2-40B4-BE49-F238E27FC236}">
                <a16:creationId xmlns:a16="http://schemas.microsoft.com/office/drawing/2014/main" id="{E41A1243-5C5D-690D-7BEC-728B29038908}"/>
              </a:ext>
            </a:extLst>
          </p:cNvPr>
          <p:cNvSpPr>
            <a:spLocks noGrp="1"/>
          </p:cNvSpPr>
          <p:nvPr>
            <p:ph type="title"/>
          </p:nvPr>
        </p:nvSpPr>
        <p:spPr>
          <a:xfrm>
            <a:off x="457200" y="274638"/>
            <a:ext cx="8229600" cy="576071"/>
          </a:xfrm>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Why Data mining? Contd… </a:t>
            </a:r>
            <a:endParaRPr lang="en-IN" sz="3200" dirty="0"/>
          </a:p>
        </p:txBody>
      </p:sp>
    </p:spTree>
    <p:extLst>
      <p:ext uri="{BB962C8B-B14F-4D97-AF65-F5344CB8AC3E}">
        <p14:creationId xmlns:p14="http://schemas.microsoft.com/office/powerpoint/2010/main" val="2289771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5B3D2B-ADB2-38E2-63DA-686DEA8DA856}"/>
              </a:ext>
            </a:extLst>
          </p:cNvPr>
          <p:cNvSpPr>
            <a:spLocks noGrp="1"/>
          </p:cNvSpPr>
          <p:nvPr>
            <p:ph type="title"/>
          </p:nvPr>
        </p:nvSpPr>
        <p:spPr>
          <a:xfrm>
            <a:off x="876300" y="70863"/>
            <a:ext cx="7391400" cy="487362"/>
          </a:xfrm>
        </p:spPr>
        <p:txBody>
          <a:bodyPr>
            <a:noAutofit/>
          </a:bodyPr>
          <a:lstStyle/>
          <a:p>
            <a:pPr algn="ctr"/>
            <a:r>
              <a:rPr lang="en-IN" sz="2000" dirty="0">
                <a:solidFill>
                  <a:srgbClr val="002060"/>
                </a:solidFill>
                <a:latin typeface="Times New Roman" panose="02020603050405020304" pitchFamily="18" charset="0"/>
                <a:cs typeface="Times New Roman" panose="02020603050405020304" pitchFamily="18" charset="0"/>
              </a:rPr>
              <a:t>Data Mining as the Evolution of Information Technology</a:t>
            </a:r>
          </a:p>
        </p:txBody>
      </p:sp>
      <p:pic>
        <p:nvPicPr>
          <p:cNvPr id="5" name="Picture 4">
            <a:extLst>
              <a:ext uri="{FF2B5EF4-FFF2-40B4-BE49-F238E27FC236}">
                <a16:creationId xmlns:a16="http://schemas.microsoft.com/office/drawing/2014/main" id="{970706DE-E395-85C4-39E2-91565572AD40}"/>
              </a:ext>
            </a:extLst>
          </p:cNvPr>
          <p:cNvPicPr>
            <a:picLocks noChangeAspect="1"/>
          </p:cNvPicPr>
          <p:nvPr/>
        </p:nvPicPr>
        <p:blipFill>
          <a:blip r:embed="rId2"/>
          <a:srcRect l="16712" t="1602" r="3435" b="53728"/>
          <a:stretch>
            <a:fillRect/>
          </a:stretch>
        </p:blipFill>
        <p:spPr>
          <a:xfrm>
            <a:off x="152400" y="762000"/>
            <a:ext cx="8761193" cy="4267200"/>
          </a:xfrm>
          <a:prstGeom prst="rect">
            <a:avLst/>
          </a:prstGeom>
        </p:spPr>
      </p:pic>
    </p:spTree>
    <p:extLst>
      <p:ext uri="{BB962C8B-B14F-4D97-AF65-F5344CB8AC3E}">
        <p14:creationId xmlns:p14="http://schemas.microsoft.com/office/powerpoint/2010/main" val="470406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5C82F-04E5-CD09-8DF1-0D79266AF8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DA7198-579F-993C-AC2C-35EFED41B101}"/>
              </a:ext>
            </a:extLst>
          </p:cNvPr>
          <p:cNvSpPr>
            <a:spLocks noGrp="1"/>
          </p:cNvSpPr>
          <p:nvPr>
            <p:ph type="title"/>
          </p:nvPr>
        </p:nvSpPr>
        <p:spPr>
          <a:xfrm>
            <a:off x="152400" y="274638"/>
            <a:ext cx="7391400" cy="487362"/>
          </a:xfrm>
        </p:spPr>
        <p:txBody>
          <a:bodyPr>
            <a:noAutofit/>
          </a:bodyPr>
          <a:lstStyle/>
          <a:p>
            <a:pPr algn="ctr"/>
            <a:r>
              <a:rPr lang="en-IN" sz="2000" dirty="0">
                <a:solidFill>
                  <a:srgbClr val="002060"/>
                </a:solidFill>
                <a:latin typeface="Times New Roman" panose="02020603050405020304" pitchFamily="18" charset="0"/>
                <a:cs typeface="Times New Roman" panose="02020603050405020304" pitchFamily="18" charset="0"/>
              </a:rPr>
              <a:t>Data Mining as the Evolution of Information Technology</a:t>
            </a:r>
          </a:p>
        </p:txBody>
      </p:sp>
      <p:pic>
        <p:nvPicPr>
          <p:cNvPr id="5" name="Picture 4">
            <a:extLst>
              <a:ext uri="{FF2B5EF4-FFF2-40B4-BE49-F238E27FC236}">
                <a16:creationId xmlns:a16="http://schemas.microsoft.com/office/drawing/2014/main" id="{BAB2D3CC-18E2-7060-2A9A-38324C9B3111}"/>
              </a:ext>
            </a:extLst>
          </p:cNvPr>
          <p:cNvPicPr>
            <a:picLocks noChangeAspect="1"/>
          </p:cNvPicPr>
          <p:nvPr/>
        </p:nvPicPr>
        <p:blipFill>
          <a:blip r:embed="rId2"/>
          <a:srcRect l="14739" t="39947" r="3245" b="14099"/>
          <a:stretch>
            <a:fillRect/>
          </a:stretch>
        </p:blipFill>
        <p:spPr>
          <a:xfrm>
            <a:off x="95059" y="1371600"/>
            <a:ext cx="8953882" cy="4368240"/>
          </a:xfrm>
          <a:prstGeom prst="rect">
            <a:avLst/>
          </a:prstGeom>
        </p:spPr>
      </p:pic>
      <p:sp>
        <p:nvSpPr>
          <p:cNvPr id="9" name="TextBox 8">
            <a:extLst>
              <a:ext uri="{FF2B5EF4-FFF2-40B4-BE49-F238E27FC236}">
                <a16:creationId xmlns:a16="http://schemas.microsoft.com/office/drawing/2014/main" id="{C6191206-73BA-D12C-5FEB-DA1229017301}"/>
              </a:ext>
            </a:extLst>
          </p:cNvPr>
          <p:cNvSpPr txBox="1"/>
          <p:nvPr/>
        </p:nvSpPr>
        <p:spPr>
          <a:xfrm>
            <a:off x="4038600" y="6401459"/>
            <a:ext cx="4724400" cy="33855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Online Analytical Processing (OLAP)</a:t>
            </a:r>
          </a:p>
        </p:txBody>
      </p:sp>
    </p:spTree>
    <p:extLst>
      <p:ext uri="{BB962C8B-B14F-4D97-AF65-F5344CB8AC3E}">
        <p14:creationId xmlns:p14="http://schemas.microsoft.com/office/powerpoint/2010/main" val="1125179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09D8-53CC-CEB0-7329-E17469199A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6E333F-F2AA-B555-DB55-0826D4766774}"/>
              </a:ext>
            </a:extLst>
          </p:cNvPr>
          <p:cNvSpPr>
            <a:spLocks noGrp="1"/>
          </p:cNvSpPr>
          <p:nvPr>
            <p:ph type="title"/>
          </p:nvPr>
        </p:nvSpPr>
        <p:spPr>
          <a:xfrm>
            <a:off x="152400" y="274638"/>
            <a:ext cx="1828801" cy="1858962"/>
          </a:xfrm>
        </p:spPr>
        <p:txBody>
          <a:bodyPr>
            <a:noAutofit/>
          </a:bodyPr>
          <a:lstStyle/>
          <a:p>
            <a:pPr algn="ctr"/>
            <a:r>
              <a:rPr lang="en-IN" sz="2000" dirty="0">
                <a:solidFill>
                  <a:srgbClr val="002060"/>
                </a:solidFill>
                <a:latin typeface="Times New Roman" panose="02020603050405020304" pitchFamily="18" charset="0"/>
                <a:cs typeface="Times New Roman" panose="02020603050405020304" pitchFamily="18" charset="0"/>
              </a:rPr>
              <a:t>Data Mining as the Evolution of Information Technology</a:t>
            </a:r>
          </a:p>
        </p:txBody>
      </p:sp>
      <p:pic>
        <p:nvPicPr>
          <p:cNvPr id="5" name="Picture 4">
            <a:extLst>
              <a:ext uri="{FF2B5EF4-FFF2-40B4-BE49-F238E27FC236}">
                <a16:creationId xmlns:a16="http://schemas.microsoft.com/office/drawing/2014/main" id="{A5E4B5CE-8060-7CB0-5E12-8C540AAF2993}"/>
              </a:ext>
            </a:extLst>
          </p:cNvPr>
          <p:cNvPicPr>
            <a:picLocks noChangeAspect="1"/>
          </p:cNvPicPr>
          <p:nvPr/>
        </p:nvPicPr>
        <p:blipFill>
          <a:blip r:embed="rId2"/>
          <a:srcRect l="7839" t="1602" r="1463"/>
          <a:stretch>
            <a:fillRect/>
          </a:stretch>
        </p:blipFill>
        <p:spPr>
          <a:xfrm>
            <a:off x="1981201" y="117987"/>
            <a:ext cx="7010399" cy="6622026"/>
          </a:xfrm>
          <a:prstGeom prst="rect">
            <a:avLst/>
          </a:prstGeom>
        </p:spPr>
      </p:pic>
      <p:sp>
        <p:nvSpPr>
          <p:cNvPr id="9" name="TextBox 8">
            <a:extLst>
              <a:ext uri="{FF2B5EF4-FFF2-40B4-BE49-F238E27FC236}">
                <a16:creationId xmlns:a16="http://schemas.microsoft.com/office/drawing/2014/main" id="{B622B52E-C3C8-4DD3-5A0A-0A944A6F9AC9}"/>
              </a:ext>
            </a:extLst>
          </p:cNvPr>
          <p:cNvSpPr txBox="1"/>
          <p:nvPr/>
        </p:nvSpPr>
        <p:spPr>
          <a:xfrm>
            <a:off x="24581" y="5943600"/>
            <a:ext cx="2362200"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Online Analytical Processing (OLAP)</a:t>
            </a:r>
          </a:p>
        </p:txBody>
      </p:sp>
    </p:spTree>
    <p:extLst>
      <p:ext uri="{BB962C8B-B14F-4D97-AF65-F5344CB8AC3E}">
        <p14:creationId xmlns:p14="http://schemas.microsoft.com/office/powerpoint/2010/main" val="1456219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AF6B2-63DA-9D82-A5C7-52EE07D78EF4}"/>
              </a:ext>
            </a:extLst>
          </p:cNvPr>
          <p:cNvSpPr>
            <a:spLocks noGrp="1"/>
          </p:cNvSpPr>
          <p:nvPr>
            <p:ph type="title"/>
          </p:nvPr>
        </p:nvSpPr>
        <p:spPr>
          <a:xfrm>
            <a:off x="457200" y="274638"/>
            <a:ext cx="8229600" cy="411162"/>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The world is data rich but information poor</a:t>
            </a:r>
          </a:p>
        </p:txBody>
      </p:sp>
      <p:pic>
        <p:nvPicPr>
          <p:cNvPr id="5" name="Picture 4">
            <a:extLst>
              <a:ext uri="{FF2B5EF4-FFF2-40B4-BE49-F238E27FC236}">
                <a16:creationId xmlns:a16="http://schemas.microsoft.com/office/drawing/2014/main" id="{A503AFDD-5C6C-B184-FE42-DBEF2A7D6180}"/>
              </a:ext>
            </a:extLst>
          </p:cNvPr>
          <p:cNvPicPr>
            <a:picLocks noChangeAspect="1"/>
          </p:cNvPicPr>
          <p:nvPr/>
        </p:nvPicPr>
        <p:blipFill>
          <a:blip r:embed="rId2"/>
          <a:stretch>
            <a:fillRect/>
          </a:stretch>
        </p:blipFill>
        <p:spPr>
          <a:xfrm>
            <a:off x="1600200" y="838200"/>
            <a:ext cx="6172199" cy="5983201"/>
          </a:xfrm>
          <a:prstGeom prst="rect">
            <a:avLst/>
          </a:prstGeom>
        </p:spPr>
      </p:pic>
    </p:spTree>
    <p:extLst>
      <p:ext uri="{BB962C8B-B14F-4D97-AF65-F5344CB8AC3E}">
        <p14:creationId xmlns:p14="http://schemas.microsoft.com/office/powerpoint/2010/main" val="3931059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000525-14F2-A16C-5E7C-E0D8B6EBBE58}"/>
              </a:ext>
            </a:extLst>
          </p:cNvPr>
          <p:cNvSpPr>
            <a:spLocks noGrp="1"/>
          </p:cNvSpPr>
          <p:nvPr>
            <p:ph idx="1"/>
          </p:nvPr>
        </p:nvSpPr>
        <p:spPr/>
        <p:txBody>
          <a:bodyPr>
            <a:normAutofit/>
          </a:bodyPr>
          <a:lstStyle/>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Mining is also known as Knowledge Discovery from Data (KDD)</a:t>
            </a:r>
          </a:p>
          <a:p>
            <a:r>
              <a:rPr lang="en-US" sz="2000" dirty="0">
                <a:latin typeface="Times New Roman" panose="02020603050405020304" pitchFamily="18" charset="0"/>
                <a:cs typeface="Times New Roman" panose="02020603050405020304" pitchFamily="18" charset="0"/>
              </a:rPr>
              <a:t>Data Mining is the process of discovering meaningful patterns, correlations, and trends by </a:t>
            </a:r>
            <a:r>
              <a:rPr lang="en-US" sz="2000" dirty="0" err="1">
                <a:latin typeface="Times New Roman" panose="02020603050405020304" pitchFamily="18" charset="0"/>
                <a:cs typeface="Times New Roman" panose="02020603050405020304" pitchFamily="18" charset="0"/>
              </a:rPr>
              <a:t>analysing</a:t>
            </a:r>
            <a:r>
              <a:rPr lang="en-US" sz="2000" dirty="0">
                <a:latin typeface="Times New Roman" panose="02020603050405020304" pitchFamily="18" charset="0"/>
                <a:cs typeface="Times New Roman" panose="02020603050405020304" pitchFamily="18" charset="0"/>
              </a:rPr>
              <a:t> large sets of data. </a:t>
            </a:r>
          </a:p>
          <a:p>
            <a:r>
              <a:rPr lang="en-US" sz="2000" dirty="0">
                <a:latin typeface="Times New Roman" panose="02020603050405020304" pitchFamily="18" charset="0"/>
                <a:cs typeface="Times New Roman" panose="02020603050405020304" pitchFamily="18" charset="0"/>
              </a:rPr>
              <a:t>It uses methods from statistics, machine learning, and database systems. </a:t>
            </a:r>
          </a:p>
          <a:p>
            <a:r>
              <a:rPr lang="en-US" sz="2000" dirty="0">
                <a:latin typeface="Times New Roman" panose="02020603050405020304" pitchFamily="18" charset="0"/>
                <a:cs typeface="Times New Roman" panose="02020603050405020304" pitchFamily="18" charset="0"/>
              </a:rPr>
              <a:t>It's like finding hidden gems or useful knowledge from massive data.</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1E09DE7-8EC8-0C0D-E5EE-FD977F3BBDC5}"/>
              </a:ext>
            </a:extLst>
          </p:cNvPr>
          <p:cNvSpPr>
            <a:spLocks noGrp="1"/>
          </p:cNvSpPr>
          <p:nvPr>
            <p:ph type="title"/>
          </p:nvPr>
        </p:nvSpPr>
        <p:spPr/>
        <p:txBody>
          <a:bodyPr>
            <a:normAutofit/>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Why is Data Mining Important?</a:t>
            </a:r>
            <a:endParaRPr lang="en-IN" sz="3200" dirty="0">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756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3496-B8E4-E7E1-3EA9-DE6130A0532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AD34B2-DA10-98F1-1FF5-B629480BA7ED}"/>
              </a:ext>
            </a:extLst>
          </p:cNvPr>
          <p:cNvSpPr>
            <a:spLocks noGrp="1"/>
          </p:cNvSpPr>
          <p:nvPr>
            <p:ph idx="1"/>
          </p:nvPr>
        </p:nvSpPr>
        <p:spPr/>
        <p:txBody>
          <a:bodyPr>
            <a:normAutofit/>
          </a:bodyPr>
          <a:lstStyle/>
          <a:p>
            <a:pPr marL="109728" indent="0">
              <a:buNone/>
            </a:pPr>
            <a:r>
              <a:rPr lang="en-US" sz="2000" dirty="0">
                <a:latin typeface="Times New Roman" panose="02020603050405020304" pitchFamily="18" charset="0"/>
                <a:cs typeface="Times New Roman" panose="02020603050405020304" pitchFamily="18" charset="0"/>
              </a:rPr>
              <a:t>Data Mining Helps us in:</a:t>
            </a:r>
          </a:p>
          <a:p>
            <a:r>
              <a:rPr lang="en-US" sz="2000" b="1" dirty="0">
                <a:latin typeface="Times New Roman" panose="02020603050405020304" pitchFamily="18" charset="0"/>
                <a:cs typeface="Times New Roman" panose="02020603050405020304" pitchFamily="18" charset="0"/>
              </a:rPr>
              <a:t>Discover patterns</a:t>
            </a:r>
            <a:r>
              <a:rPr lang="en-US" sz="2000" dirty="0">
                <a:latin typeface="Times New Roman" panose="02020603050405020304" pitchFamily="18" charset="0"/>
                <a:cs typeface="Times New Roman" panose="02020603050405020304" pitchFamily="18" charset="0"/>
              </a:rPr>
              <a:t>: Find hidden trends and relationships in large datasets.</a:t>
            </a:r>
          </a:p>
          <a:p>
            <a:r>
              <a:rPr lang="en-US" sz="2000" b="1" dirty="0">
                <a:latin typeface="Times New Roman" panose="02020603050405020304" pitchFamily="18" charset="0"/>
                <a:cs typeface="Times New Roman" panose="02020603050405020304" pitchFamily="18" charset="0"/>
              </a:rPr>
              <a:t>Make better decisions</a:t>
            </a:r>
            <a:r>
              <a:rPr lang="en-US" sz="2000" dirty="0">
                <a:latin typeface="Times New Roman" panose="02020603050405020304" pitchFamily="18" charset="0"/>
                <a:cs typeface="Times New Roman" panose="02020603050405020304" pitchFamily="18" charset="0"/>
              </a:rPr>
              <a:t>: Businesses, governments, and scientists use it for smarter decisions.</a:t>
            </a:r>
          </a:p>
          <a:p>
            <a:r>
              <a:rPr lang="en-US" sz="2000" b="1" dirty="0">
                <a:latin typeface="Times New Roman" panose="02020603050405020304" pitchFamily="18" charset="0"/>
                <a:cs typeface="Times New Roman" panose="02020603050405020304" pitchFamily="18" charset="0"/>
              </a:rPr>
              <a:t>Predict outcomes</a:t>
            </a:r>
            <a:r>
              <a:rPr lang="en-US" sz="2000" dirty="0">
                <a:latin typeface="Times New Roman" panose="02020603050405020304" pitchFamily="18" charset="0"/>
                <a:cs typeface="Times New Roman" panose="02020603050405020304" pitchFamily="18" charset="0"/>
              </a:rPr>
              <a:t>: Helps forecast sales, customer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or risks.</a:t>
            </a:r>
          </a:p>
          <a:p>
            <a:r>
              <a:rPr lang="en-US" sz="2000" b="1" dirty="0">
                <a:latin typeface="Times New Roman" panose="02020603050405020304" pitchFamily="18" charset="0"/>
                <a:cs typeface="Times New Roman" panose="02020603050405020304" pitchFamily="18" charset="0"/>
              </a:rPr>
              <a:t>Improve efficiency</a:t>
            </a:r>
            <a:r>
              <a:rPr lang="en-US" sz="2000" dirty="0">
                <a:latin typeface="Times New Roman" panose="02020603050405020304" pitchFamily="18" charset="0"/>
                <a:cs typeface="Times New Roman" panose="02020603050405020304" pitchFamily="18" charset="0"/>
              </a:rPr>
              <a:t>: Automates analysis of massive data, saving time and resources.</a:t>
            </a:r>
          </a:p>
          <a:p>
            <a:r>
              <a:rPr lang="en-IN" sz="2000" b="1" dirty="0">
                <a:latin typeface="Times New Roman" panose="02020603050405020304" pitchFamily="18" charset="0"/>
                <a:cs typeface="Times New Roman" panose="02020603050405020304" pitchFamily="18" charset="0"/>
              </a:rPr>
              <a:t>Personalize experiences</a:t>
            </a:r>
            <a:r>
              <a:rPr lang="en-IN" sz="2000" dirty="0">
                <a:latin typeface="Times New Roman" panose="02020603050405020304" pitchFamily="18" charset="0"/>
                <a:cs typeface="Times New Roman" panose="02020603050405020304" pitchFamily="18" charset="0"/>
              </a:rPr>
              <a:t>: Used in recommendations (like Netflix, Amazon, etc.).</a:t>
            </a:r>
          </a:p>
          <a:p>
            <a:r>
              <a:rPr lang="en-US" sz="2000" b="1" dirty="0">
                <a:latin typeface="Times New Roman" panose="02020603050405020304" pitchFamily="18" charset="0"/>
                <a:cs typeface="Times New Roman" panose="02020603050405020304" pitchFamily="18" charset="0"/>
              </a:rPr>
              <a:t>Detect fraud or anomalies</a:t>
            </a:r>
            <a:r>
              <a:rPr lang="en-US" sz="2000" dirty="0">
                <a:latin typeface="Times New Roman" panose="02020603050405020304" pitchFamily="18" charset="0"/>
                <a:cs typeface="Times New Roman" panose="02020603050405020304" pitchFamily="18" charset="0"/>
              </a:rPr>
              <a:t>: Helps spot unusual patterns in finance or cybersecurity.</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C6250DE-EE1A-22AB-E70F-9C0D070BFA8F}"/>
              </a:ext>
            </a:extLst>
          </p:cNvPr>
          <p:cNvSpPr>
            <a:spLocks noGrp="1"/>
          </p:cNvSpPr>
          <p:nvPr>
            <p:ph type="title"/>
          </p:nvPr>
        </p:nvSpPr>
        <p:spPr/>
        <p:txBody>
          <a:bodyPr>
            <a:normAutofit/>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Why is Data Mining Important?</a:t>
            </a:r>
            <a:endParaRPr lang="en-IN" sz="3200" dirty="0">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0766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5ED3AA-BD06-3657-F7E5-6DA11DEE21A5}"/>
              </a:ext>
            </a:extLst>
          </p:cNvPr>
          <p:cNvSpPr>
            <a:spLocks noGrp="1"/>
          </p:cNvSpPr>
          <p:nvPr>
            <p:ph type="title"/>
          </p:nvPr>
        </p:nvSpPr>
        <p:spPr>
          <a:xfrm>
            <a:off x="457200" y="17436"/>
            <a:ext cx="8229600" cy="576071"/>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What Is Data Mining?</a:t>
            </a:r>
          </a:p>
        </p:txBody>
      </p:sp>
      <p:pic>
        <p:nvPicPr>
          <p:cNvPr id="5" name="Picture 4">
            <a:extLst>
              <a:ext uri="{FF2B5EF4-FFF2-40B4-BE49-F238E27FC236}">
                <a16:creationId xmlns:a16="http://schemas.microsoft.com/office/drawing/2014/main" id="{050B035F-F251-66EC-EE91-E6FE6A97C7FA}"/>
              </a:ext>
            </a:extLst>
          </p:cNvPr>
          <p:cNvPicPr>
            <a:picLocks noChangeAspect="1"/>
          </p:cNvPicPr>
          <p:nvPr/>
        </p:nvPicPr>
        <p:blipFill>
          <a:blip r:embed="rId2"/>
          <a:stretch>
            <a:fillRect/>
          </a:stretch>
        </p:blipFill>
        <p:spPr>
          <a:xfrm>
            <a:off x="76200" y="1460309"/>
            <a:ext cx="5711740" cy="5397691"/>
          </a:xfrm>
          <a:prstGeom prst="rect">
            <a:avLst/>
          </a:prstGeom>
        </p:spPr>
      </p:pic>
      <p:sp>
        <p:nvSpPr>
          <p:cNvPr id="7" name="TextBox 6">
            <a:extLst>
              <a:ext uri="{FF2B5EF4-FFF2-40B4-BE49-F238E27FC236}">
                <a16:creationId xmlns:a16="http://schemas.microsoft.com/office/drawing/2014/main" id="{8E257588-94BE-4EDB-1A9A-FE5D56A7E6BD}"/>
              </a:ext>
            </a:extLst>
          </p:cNvPr>
          <p:cNvSpPr txBox="1"/>
          <p:nvPr/>
        </p:nvSpPr>
        <p:spPr>
          <a:xfrm>
            <a:off x="486697" y="547917"/>
            <a:ext cx="8674510" cy="1354217"/>
          </a:xfrm>
          <a:prstGeom prst="rect">
            <a:avLst/>
          </a:prstGeom>
          <a:noFill/>
        </p:spPr>
        <p:txBody>
          <a:bodyPr wrap="square">
            <a:spAutoFit/>
          </a:bodyPr>
          <a:lstStyle/>
          <a:p>
            <a:pPr algn="just"/>
            <a:r>
              <a:rPr lang="en-IN" dirty="0">
                <a:solidFill>
                  <a:srgbClr val="0070C0"/>
                </a:solidFill>
                <a:latin typeface="Times New Roman" panose="02020603050405020304" pitchFamily="18" charset="0"/>
                <a:cs typeface="Times New Roman" panose="02020603050405020304" pitchFamily="18" charset="0"/>
              </a:rPr>
              <a:t>It is no surprise that data mining, as a truly interdisciplinary subject, can be defined in many different ways. Even the term data mining does not really present all the major components in the picture.</a:t>
            </a:r>
          </a:p>
          <a:p>
            <a:pPr algn="just"/>
            <a:endParaRPr lang="en-IN" sz="1400" dirty="0">
              <a:latin typeface="Times New Roman" panose="02020603050405020304" pitchFamily="18" charset="0"/>
              <a:cs typeface="Times New Roman" panose="02020603050405020304" pitchFamily="18" charset="0"/>
            </a:endParaRPr>
          </a:p>
          <a:p>
            <a:pPr algn="just"/>
            <a:r>
              <a:rPr lang="en-IN" sz="14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C369C1A1-F0F3-C394-3888-5D6F6A2F6D3F}"/>
              </a:ext>
            </a:extLst>
          </p:cNvPr>
          <p:cNvSpPr txBox="1"/>
          <p:nvPr/>
        </p:nvSpPr>
        <p:spPr>
          <a:xfrm>
            <a:off x="5029200" y="2032505"/>
            <a:ext cx="3674806" cy="2308324"/>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To refer to the mining of gold from rocks or sand, we say gold mining instead of rock or sand mining. Analogously, data mining should have been more appropriately named “knowledge mining from data,” which is unfortunately somewhat long. </a:t>
            </a:r>
            <a:endParaRPr lang="en-IN" dirty="0"/>
          </a:p>
        </p:txBody>
      </p:sp>
    </p:spTree>
    <p:extLst>
      <p:ext uri="{BB962C8B-B14F-4D97-AF65-F5344CB8AC3E}">
        <p14:creationId xmlns:p14="http://schemas.microsoft.com/office/powerpoint/2010/main" val="2327057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1CC4C-A2E5-7283-BE22-074671E024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08B45A-D728-3BC1-5FC6-C97A549172CE}"/>
              </a:ext>
            </a:extLst>
          </p:cNvPr>
          <p:cNvSpPr>
            <a:spLocks noGrp="1"/>
          </p:cNvSpPr>
          <p:nvPr>
            <p:ph type="title"/>
          </p:nvPr>
        </p:nvSpPr>
        <p:spPr>
          <a:xfrm>
            <a:off x="457200" y="17436"/>
            <a:ext cx="8229600" cy="576071"/>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What Is Data Mining? Contd..</a:t>
            </a:r>
          </a:p>
        </p:txBody>
      </p:sp>
      <p:pic>
        <p:nvPicPr>
          <p:cNvPr id="5" name="Picture 4">
            <a:extLst>
              <a:ext uri="{FF2B5EF4-FFF2-40B4-BE49-F238E27FC236}">
                <a16:creationId xmlns:a16="http://schemas.microsoft.com/office/drawing/2014/main" id="{24B7EDB8-9136-F10C-7F79-4FC85C2B3787}"/>
              </a:ext>
            </a:extLst>
          </p:cNvPr>
          <p:cNvPicPr>
            <a:picLocks noChangeAspect="1"/>
          </p:cNvPicPr>
          <p:nvPr/>
        </p:nvPicPr>
        <p:blipFill>
          <a:blip r:embed="rId2"/>
          <a:stretch>
            <a:fillRect/>
          </a:stretch>
        </p:blipFill>
        <p:spPr>
          <a:xfrm>
            <a:off x="76200" y="1460309"/>
            <a:ext cx="5711740" cy="5397691"/>
          </a:xfrm>
          <a:prstGeom prst="rect">
            <a:avLst/>
          </a:prstGeom>
        </p:spPr>
      </p:pic>
      <p:sp>
        <p:nvSpPr>
          <p:cNvPr id="7" name="TextBox 6">
            <a:extLst>
              <a:ext uri="{FF2B5EF4-FFF2-40B4-BE49-F238E27FC236}">
                <a16:creationId xmlns:a16="http://schemas.microsoft.com/office/drawing/2014/main" id="{A9BBB4A4-A634-0DD8-1E8D-1FEE4D495177}"/>
              </a:ext>
            </a:extLst>
          </p:cNvPr>
          <p:cNvSpPr txBox="1"/>
          <p:nvPr/>
        </p:nvSpPr>
        <p:spPr>
          <a:xfrm>
            <a:off x="486697" y="547917"/>
            <a:ext cx="8674510" cy="1169551"/>
          </a:xfrm>
          <a:prstGeom prst="rect">
            <a:avLst/>
          </a:prstGeom>
          <a:noFill/>
        </p:spPr>
        <p:txBody>
          <a:bodyPr wrap="square">
            <a:spAutoFit/>
          </a:bodyPr>
          <a:lstStyle/>
          <a:p>
            <a:pPr algn="just"/>
            <a:r>
              <a:rPr lang="en-IN" sz="1400" dirty="0">
                <a:latin typeface="Times New Roman" panose="02020603050405020304" pitchFamily="18" charset="0"/>
                <a:cs typeface="Times New Roman" panose="02020603050405020304" pitchFamily="18" charset="0"/>
              </a:rPr>
              <a:t>It is no surprise that data mining, as a truly interdisciplinary subject, can be defined in many different ways. Even the term data mining does not really present all the major components in the picture.</a:t>
            </a:r>
          </a:p>
          <a:p>
            <a:pPr algn="just"/>
            <a:r>
              <a:rPr lang="en-IN" sz="1400" dirty="0">
                <a:latin typeface="Times New Roman" panose="02020603050405020304" pitchFamily="18" charset="0"/>
                <a:cs typeface="Times New Roman" panose="02020603050405020304" pitchFamily="18" charset="0"/>
              </a:rPr>
              <a:t> To refer to the mining of gold from rocks or sand, we say gold mining instead of rock or sand mining. Analogously, data mining should have been more appropriately named “knowledge mining from data,” which is unfortunately somewhat long. </a:t>
            </a:r>
          </a:p>
        </p:txBody>
      </p:sp>
      <p:sp>
        <p:nvSpPr>
          <p:cNvPr id="9" name="TextBox 8">
            <a:extLst>
              <a:ext uri="{FF2B5EF4-FFF2-40B4-BE49-F238E27FC236}">
                <a16:creationId xmlns:a16="http://schemas.microsoft.com/office/drawing/2014/main" id="{8A2CAE8F-854F-108E-A8F4-C8353BCA874C}"/>
              </a:ext>
            </a:extLst>
          </p:cNvPr>
          <p:cNvSpPr txBox="1"/>
          <p:nvPr/>
        </p:nvSpPr>
        <p:spPr>
          <a:xfrm>
            <a:off x="4831326" y="1640279"/>
            <a:ext cx="3991896" cy="3046988"/>
          </a:xfrm>
          <a:prstGeom prst="rect">
            <a:avLst/>
          </a:prstGeom>
          <a:noFill/>
        </p:spPr>
        <p:txBody>
          <a:bodyPr wrap="square">
            <a:spAutoFit/>
          </a:bodyPr>
          <a:lstStyle/>
          <a:p>
            <a:pPr algn="just"/>
            <a:r>
              <a:rPr lang="en-IN" sz="1600" b="1" dirty="0">
                <a:solidFill>
                  <a:srgbClr val="0070C0"/>
                </a:solidFill>
                <a:latin typeface="Times New Roman" panose="02020603050405020304" pitchFamily="18" charset="0"/>
                <a:cs typeface="Times New Roman" panose="02020603050405020304" pitchFamily="18" charset="0"/>
              </a:rPr>
              <a:t>However, the shorter term, knowledge mining may not reflect the emphasis on mining from large amounts of data.</a:t>
            </a:r>
          </a:p>
          <a:p>
            <a:pPr algn="just"/>
            <a:endParaRPr lang="en-IN" sz="1600" b="1" dirty="0">
              <a:solidFill>
                <a:srgbClr val="0070C0"/>
              </a:solidFill>
              <a:latin typeface="Times New Roman" panose="02020603050405020304" pitchFamily="18" charset="0"/>
              <a:cs typeface="Times New Roman" panose="02020603050405020304" pitchFamily="18" charset="0"/>
            </a:endParaRPr>
          </a:p>
          <a:p>
            <a:pPr algn="just"/>
            <a:r>
              <a:rPr lang="en-IN" sz="1600" b="1" dirty="0">
                <a:solidFill>
                  <a:srgbClr val="0070C0"/>
                </a:solidFill>
                <a:latin typeface="Times New Roman" panose="02020603050405020304" pitchFamily="18" charset="0"/>
                <a:cs typeface="Times New Roman" panose="02020603050405020304" pitchFamily="18" charset="0"/>
              </a:rPr>
              <a:t> Nevertheless, mining is a vivid term characterizing the process that finds a small set of precious nuggets from a great deal of raw material (Figure 1.3). </a:t>
            </a:r>
          </a:p>
          <a:p>
            <a:pPr algn="just"/>
            <a:endParaRPr lang="en-IN" sz="1600" b="1" dirty="0">
              <a:solidFill>
                <a:srgbClr val="0070C0"/>
              </a:solidFill>
              <a:latin typeface="Times New Roman" panose="02020603050405020304" pitchFamily="18" charset="0"/>
              <a:cs typeface="Times New Roman" panose="02020603050405020304" pitchFamily="18" charset="0"/>
            </a:endParaRPr>
          </a:p>
          <a:p>
            <a:pPr algn="just"/>
            <a:r>
              <a:rPr lang="en-IN" sz="1600" b="1" dirty="0">
                <a:solidFill>
                  <a:srgbClr val="0070C0"/>
                </a:solidFill>
                <a:latin typeface="Times New Roman" panose="02020603050405020304" pitchFamily="18" charset="0"/>
                <a:cs typeface="Times New Roman" panose="02020603050405020304" pitchFamily="18" charset="0"/>
              </a:rPr>
              <a:t>Thus, such a misnomer carrying both “data” and “mining” became a popular choice. </a:t>
            </a:r>
          </a:p>
        </p:txBody>
      </p:sp>
    </p:spTree>
    <p:extLst>
      <p:ext uri="{BB962C8B-B14F-4D97-AF65-F5344CB8AC3E}">
        <p14:creationId xmlns:p14="http://schemas.microsoft.com/office/powerpoint/2010/main" val="355591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4BF157-9227-F3C7-A728-3730CBCD9FAE}"/>
              </a:ext>
            </a:extLst>
          </p:cNvPr>
          <p:cNvSpPr>
            <a:spLocks noGrp="1"/>
          </p:cNvSpPr>
          <p:nvPr>
            <p:ph type="title"/>
          </p:nvPr>
        </p:nvSpPr>
        <p:spPr>
          <a:xfrm>
            <a:off x="457200" y="274638"/>
            <a:ext cx="8229600" cy="411162"/>
          </a:xfrm>
        </p:spPr>
        <p:txBody>
          <a:bodyPr>
            <a:normAutofit fontScale="90000"/>
          </a:bodyPr>
          <a:lstStyle/>
          <a:p>
            <a:r>
              <a:rPr lang="en-IN" sz="3200" dirty="0">
                <a:solidFill>
                  <a:srgbClr val="002060"/>
                </a:solidFill>
                <a:latin typeface="Times New Roman" panose="02020603050405020304" pitchFamily="18" charset="0"/>
                <a:cs typeface="Times New Roman" panose="02020603050405020304" pitchFamily="18" charset="0"/>
              </a:rPr>
              <a:t>What Is Data Mining? Contd..</a:t>
            </a:r>
            <a:endParaRPr lang="en-IN" sz="3200" dirty="0"/>
          </a:p>
        </p:txBody>
      </p:sp>
      <p:sp>
        <p:nvSpPr>
          <p:cNvPr id="5" name="TextBox 4">
            <a:extLst>
              <a:ext uri="{FF2B5EF4-FFF2-40B4-BE49-F238E27FC236}">
                <a16:creationId xmlns:a16="http://schemas.microsoft.com/office/drawing/2014/main" id="{7859A243-56E0-3A5A-D930-6B3A1F45F907}"/>
              </a:ext>
            </a:extLst>
          </p:cNvPr>
          <p:cNvSpPr txBox="1"/>
          <p:nvPr/>
        </p:nvSpPr>
        <p:spPr>
          <a:xfrm>
            <a:off x="838200" y="1676400"/>
            <a:ext cx="7696200" cy="1015663"/>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Many people treat data mining as a synonym for another popularly used term, knowledge discovery from data, or KDD, while others view data mining as merely an essential step in the process of knowledge discovery.</a:t>
            </a:r>
          </a:p>
        </p:txBody>
      </p:sp>
    </p:spTree>
    <p:extLst>
      <p:ext uri="{BB962C8B-B14F-4D97-AF65-F5344CB8AC3E}">
        <p14:creationId xmlns:p14="http://schemas.microsoft.com/office/powerpoint/2010/main" val="275396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EC66-E492-E602-10B2-573D0D8E62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2D8B62-A9BC-9B68-3C6E-109499AD0A7C}"/>
              </a:ext>
            </a:extLst>
          </p:cNvPr>
          <p:cNvSpPr>
            <a:spLocks noGrp="1"/>
          </p:cNvSpPr>
          <p:nvPr>
            <p:ph idx="1"/>
          </p:nvPr>
        </p:nvSpPr>
        <p:spPr>
          <a:xfrm>
            <a:off x="304800" y="1600200"/>
            <a:ext cx="8458200" cy="4983162"/>
          </a:xfrm>
        </p:spPr>
        <p:txBody>
          <a:bodyPr>
            <a:normAutofit/>
          </a:bodyPr>
          <a:lstStyle/>
          <a:p>
            <a:pPr marL="109728" indent="0">
              <a:buNone/>
            </a:pPr>
            <a:r>
              <a:rPr lang="en-IN" sz="1800" dirty="0">
                <a:latin typeface="Times New Roman" panose="02020603050405020304" pitchFamily="18" charset="0"/>
                <a:cs typeface="Times New Roman" panose="02020603050405020304" pitchFamily="18" charset="0"/>
              </a:rPr>
              <a:t> The knowledge discovery process is an iterative sequence of the following steps:</a:t>
            </a:r>
          </a:p>
          <a:p>
            <a:r>
              <a:rPr lang="en-IN" sz="1800" dirty="0">
                <a:latin typeface="Times New Roman" panose="02020603050405020304" pitchFamily="18" charset="0"/>
                <a:cs typeface="Times New Roman" panose="02020603050405020304" pitchFamily="18" charset="0"/>
              </a:rPr>
              <a:t> 1. </a:t>
            </a:r>
            <a:r>
              <a:rPr lang="en-IN" sz="1800" b="1" dirty="0">
                <a:latin typeface="Times New Roman" panose="02020603050405020304" pitchFamily="18" charset="0"/>
                <a:cs typeface="Times New Roman" panose="02020603050405020304" pitchFamily="18" charset="0"/>
              </a:rPr>
              <a:t>Data cleaning </a:t>
            </a:r>
            <a:r>
              <a:rPr lang="en-IN" sz="1800" dirty="0">
                <a:latin typeface="Times New Roman" panose="02020603050405020304" pitchFamily="18" charset="0"/>
                <a:cs typeface="Times New Roman" panose="02020603050405020304" pitchFamily="18" charset="0"/>
              </a:rPr>
              <a:t>(to remove noise and inconsistent data) </a:t>
            </a:r>
          </a:p>
          <a:p>
            <a:r>
              <a:rPr lang="en-IN" sz="1800" dirty="0">
                <a:latin typeface="Times New Roman" panose="02020603050405020304" pitchFamily="18" charset="0"/>
                <a:cs typeface="Times New Roman" panose="02020603050405020304" pitchFamily="18" charset="0"/>
              </a:rPr>
              <a:t>2. </a:t>
            </a:r>
            <a:r>
              <a:rPr lang="en-IN" sz="1800" b="1" dirty="0">
                <a:latin typeface="Times New Roman" panose="02020603050405020304" pitchFamily="18" charset="0"/>
                <a:cs typeface="Times New Roman" panose="02020603050405020304" pitchFamily="18" charset="0"/>
              </a:rPr>
              <a:t>Data integration </a:t>
            </a:r>
            <a:r>
              <a:rPr lang="en-IN" sz="1800" dirty="0">
                <a:latin typeface="Times New Roman" panose="02020603050405020304" pitchFamily="18" charset="0"/>
                <a:cs typeface="Times New Roman" panose="02020603050405020304" pitchFamily="18" charset="0"/>
              </a:rPr>
              <a:t>(where multiple data sources may be combined)</a:t>
            </a:r>
          </a:p>
          <a:p>
            <a:r>
              <a:rPr lang="en-IN" sz="1800" dirty="0">
                <a:latin typeface="Times New Roman" panose="02020603050405020304" pitchFamily="18" charset="0"/>
                <a:cs typeface="Times New Roman" panose="02020603050405020304" pitchFamily="18" charset="0"/>
              </a:rPr>
              <a:t>3. </a:t>
            </a:r>
            <a:r>
              <a:rPr lang="en-IN" sz="1800" b="1" dirty="0">
                <a:latin typeface="Times New Roman" panose="02020603050405020304" pitchFamily="18" charset="0"/>
                <a:cs typeface="Times New Roman" panose="02020603050405020304" pitchFamily="18" charset="0"/>
              </a:rPr>
              <a:t>Data selection </a:t>
            </a:r>
            <a:r>
              <a:rPr lang="en-IN" sz="1800" dirty="0">
                <a:latin typeface="Times New Roman" panose="02020603050405020304" pitchFamily="18" charset="0"/>
                <a:cs typeface="Times New Roman" panose="02020603050405020304" pitchFamily="18" charset="0"/>
              </a:rPr>
              <a:t>(where data relevant to the analysis task are retrieved from the database) </a:t>
            </a:r>
          </a:p>
          <a:p>
            <a:r>
              <a:rPr lang="en-IN" sz="1800" dirty="0">
                <a:latin typeface="Times New Roman" panose="02020603050405020304" pitchFamily="18" charset="0"/>
                <a:cs typeface="Times New Roman" panose="02020603050405020304" pitchFamily="18" charset="0"/>
              </a:rPr>
              <a:t>4. </a:t>
            </a:r>
            <a:r>
              <a:rPr lang="en-IN" sz="1800" b="1" dirty="0">
                <a:latin typeface="Times New Roman" panose="02020603050405020304" pitchFamily="18" charset="0"/>
                <a:cs typeface="Times New Roman" panose="02020603050405020304" pitchFamily="18" charset="0"/>
              </a:rPr>
              <a:t>Data transformation </a:t>
            </a:r>
            <a:r>
              <a:rPr lang="en-IN" sz="1800" dirty="0">
                <a:latin typeface="Times New Roman" panose="02020603050405020304" pitchFamily="18" charset="0"/>
                <a:cs typeface="Times New Roman" panose="02020603050405020304" pitchFamily="18" charset="0"/>
              </a:rPr>
              <a:t>(where data are transformed and consolidated into forms appropriate for mining by performing summary or aggregation operations)</a:t>
            </a:r>
          </a:p>
          <a:p>
            <a:r>
              <a:rPr lang="en-IN" sz="1800" dirty="0">
                <a:latin typeface="Times New Roman" panose="02020603050405020304" pitchFamily="18" charset="0"/>
                <a:cs typeface="Times New Roman" panose="02020603050405020304" pitchFamily="18" charset="0"/>
              </a:rPr>
              <a:t> 5. </a:t>
            </a:r>
            <a:r>
              <a:rPr lang="en-IN" sz="1800" b="1" dirty="0">
                <a:latin typeface="Times New Roman" panose="02020603050405020304" pitchFamily="18" charset="0"/>
                <a:cs typeface="Times New Roman" panose="02020603050405020304" pitchFamily="18" charset="0"/>
              </a:rPr>
              <a:t>Data mining </a:t>
            </a:r>
            <a:r>
              <a:rPr lang="en-IN" sz="1800" dirty="0">
                <a:latin typeface="Times New Roman" panose="02020603050405020304" pitchFamily="18" charset="0"/>
                <a:cs typeface="Times New Roman" panose="02020603050405020304" pitchFamily="18" charset="0"/>
              </a:rPr>
              <a:t>(an essential process where intelligent methods are applied to extract data patterns)</a:t>
            </a:r>
          </a:p>
          <a:p>
            <a:r>
              <a:rPr lang="en-IN" sz="1800" dirty="0">
                <a:latin typeface="Times New Roman" panose="02020603050405020304" pitchFamily="18" charset="0"/>
                <a:cs typeface="Times New Roman" panose="02020603050405020304" pitchFamily="18" charset="0"/>
              </a:rPr>
              <a:t> 6. </a:t>
            </a:r>
            <a:r>
              <a:rPr lang="en-IN" sz="1800" b="1" dirty="0">
                <a:latin typeface="Times New Roman" panose="02020603050405020304" pitchFamily="18" charset="0"/>
                <a:cs typeface="Times New Roman" panose="02020603050405020304" pitchFamily="18" charset="0"/>
              </a:rPr>
              <a:t>Pattern evaluation </a:t>
            </a:r>
            <a:r>
              <a:rPr lang="en-IN" sz="1800" dirty="0">
                <a:latin typeface="Times New Roman" panose="02020603050405020304" pitchFamily="18" charset="0"/>
                <a:cs typeface="Times New Roman" panose="02020603050405020304" pitchFamily="18" charset="0"/>
              </a:rPr>
              <a:t>(to identify the truly interesting patterns representing knowledge based on interestingness measures) </a:t>
            </a:r>
          </a:p>
          <a:p>
            <a:r>
              <a:rPr lang="en-IN" sz="1800" dirty="0">
                <a:latin typeface="Times New Roman" panose="02020603050405020304" pitchFamily="18" charset="0"/>
                <a:cs typeface="Times New Roman" panose="02020603050405020304" pitchFamily="18" charset="0"/>
              </a:rPr>
              <a:t>7. </a:t>
            </a:r>
            <a:r>
              <a:rPr lang="en-IN" sz="1800" b="1" dirty="0">
                <a:latin typeface="Times New Roman" panose="02020603050405020304" pitchFamily="18" charset="0"/>
                <a:cs typeface="Times New Roman" panose="02020603050405020304" pitchFamily="18" charset="0"/>
              </a:rPr>
              <a:t>Knowledge presentation </a:t>
            </a:r>
            <a:r>
              <a:rPr lang="en-IN" sz="1800" dirty="0">
                <a:latin typeface="Times New Roman" panose="02020603050405020304" pitchFamily="18" charset="0"/>
                <a:cs typeface="Times New Roman" panose="02020603050405020304" pitchFamily="18" charset="0"/>
              </a:rPr>
              <a:t>(where visualization and knowledge representation techniques are used to present mined knowledge to users) </a:t>
            </a:r>
          </a:p>
        </p:txBody>
      </p:sp>
      <p:sp>
        <p:nvSpPr>
          <p:cNvPr id="3" name="Title 2">
            <a:extLst>
              <a:ext uri="{FF2B5EF4-FFF2-40B4-BE49-F238E27FC236}">
                <a16:creationId xmlns:a16="http://schemas.microsoft.com/office/drawing/2014/main" id="{BC5031CB-F726-4759-707E-A9F986625F02}"/>
              </a:ext>
            </a:extLst>
          </p:cNvPr>
          <p:cNvSpPr>
            <a:spLocks noGrp="1"/>
          </p:cNvSpPr>
          <p:nvPr>
            <p:ph type="title"/>
          </p:nvPr>
        </p:nvSpPr>
        <p:spPr>
          <a:xfrm>
            <a:off x="457200" y="274638"/>
            <a:ext cx="8229600" cy="411162"/>
          </a:xfrm>
        </p:spPr>
        <p:txBody>
          <a:bodyPr>
            <a:normAutofit fontScale="90000"/>
          </a:bodyPr>
          <a:lstStyle/>
          <a:p>
            <a:r>
              <a:rPr lang="en-IN" sz="3200" dirty="0">
                <a:solidFill>
                  <a:srgbClr val="002060"/>
                </a:solidFill>
                <a:latin typeface="Times New Roman" panose="02020603050405020304" pitchFamily="18" charset="0"/>
                <a:cs typeface="Times New Roman" panose="02020603050405020304" pitchFamily="18" charset="0"/>
              </a:rPr>
              <a:t>What Is Data Mining? Contd..</a:t>
            </a:r>
            <a:endParaRPr lang="en-IN" sz="3200" dirty="0"/>
          </a:p>
        </p:txBody>
      </p:sp>
      <p:sp>
        <p:nvSpPr>
          <p:cNvPr id="5" name="TextBox 4">
            <a:extLst>
              <a:ext uri="{FF2B5EF4-FFF2-40B4-BE49-F238E27FC236}">
                <a16:creationId xmlns:a16="http://schemas.microsoft.com/office/drawing/2014/main" id="{269CD085-246A-E6CE-CE31-1F5C41AB1EDF}"/>
              </a:ext>
            </a:extLst>
          </p:cNvPr>
          <p:cNvSpPr txBox="1"/>
          <p:nvPr/>
        </p:nvSpPr>
        <p:spPr>
          <a:xfrm>
            <a:off x="228600" y="609600"/>
            <a:ext cx="8229600" cy="830997"/>
          </a:xfrm>
          <a:prstGeom prst="rect">
            <a:avLst/>
          </a:prstGeom>
          <a:noFill/>
        </p:spPr>
        <p:txBody>
          <a:bodyPr wrap="square">
            <a:spAutoFit/>
          </a:bodyPr>
          <a:lstStyle/>
          <a:p>
            <a:pPr algn="just"/>
            <a:r>
              <a:rPr lang="en-IN" sz="1600" dirty="0">
                <a:latin typeface="Times New Roman" panose="02020603050405020304" pitchFamily="18" charset="0"/>
                <a:cs typeface="Times New Roman" panose="02020603050405020304" pitchFamily="18" charset="0"/>
              </a:rPr>
              <a:t>Many people treat data mining as a synonym for another popularly used term, knowledge discovery from data, or KDD, while others view data mining as merely an essential step in the process of knowledge discovery.</a:t>
            </a:r>
          </a:p>
        </p:txBody>
      </p:sp>
    </p:spTree>
    <p:extLst>
      <p:ext uri="{BB962C8B-B14F-4D97-AF65-F5344CB8AC3E}">
        <p14:creationId xmlns:p14="http://schemas.microsoft.com/office/powerpoint/2010/main" val="2704783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A6D076-310B-1170-ACA7-30F4586E305F}"/>
              </a:ext>
            </a:extLst>
          </p:cNvPr>
          <p:cNvPicPr>
            <a:picLocks noChangeAspect="1"/>
          </p:cNvPicPr>
          <p:nvPr/>
        </p:nvPicPr>
        <p:blipFill>
          <a:blip r:embed="rId2"/>
          <a:srcRect l="6944" t="2485"/>
          <a:stretch>
            <a:fillRect/>
          </a:stretch>
        </p:blipFill>
        <p:spPr>
          <a:xfrm>
            <a:off x="-2458" y="646471"/>
            <a:ext cx="5105400" cy="6248400"/>
          </a:xfrm>
          <a:prstGeom prst="rect">
            <a:avLst/>
          </a:prstGeom>
        </p:spPr>
      </p:pic>
      <p:sp>
        <p:nvSpPr>
          <p:cNvPr id="6" name="Title 2">
            <a:extLst>
              <a:ext uri="{FF2B5EF4-FFF2-40B4-BE49-F238E27FC236}">
                <a16:creationId xmlns:a16="http://schemas.microsoft.com/office/drawing/2014/main" id="{26D05068-5779-4414-B81C-41FCB412FA9B}"/>
              </a:ext>
            </a:extLst>
          </p:cNvPr>
          <p:cNvSpPr txBox="1">
            <a:spLocks/>
          </p:cNvSpPr>
          <p:nvPr/>
        </p:nvSpPr>
        <p:spPr>
          <a:xfrm>
            <a:off x="457200" y="274638"/>
            <a:ext cx="8229600" cy="411162"/>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IN" sz="3200" dirty="0">
                <a:solidFill>
                  <a:srgbClr val="002060"/>
                </a:solidFill>
                <a:effectLst/>
                <a:latin typeface="Times New Roman" panose="02020603050405020304" pitchFamily="18" charset="0"/>
                <a:cs typeface="Times New Roman" panose="02020603050405020304" pitchFamily="18" charset="0"/>
              </a:rPr>
              <a:t>What Is Data Mining?  ---How is it Done?</a:t>
            </a:r>
          </a:p>
        </p:txBody>
      </p:sp>
      <p:sp>
        <p:nvSpPr>
          <p:cNvPr id="9" name="Content Placeholder 1">
            <a:extLst>
              <a:ext uri="{FF2B5EF4-FFF2-40B4-BE49-F238E27FC236}">
                <a16:creationId xmlns:a16="http://schemas.microsoft.com/office/drawing/2014/main" id="{14B124CA-9FDB-C147-D35E-523AA67F02E1}"/>
              </a:ext>
            </a:extLst>
          </p:cNvPr>
          <p:cNvSpPr>
            <a:spLocks noGrp="1"/>
          </p:cNvSpPr>
          <p:nvPr>
            <p:ph idx="1"/>
          </p:nvPr>
        </p:nvSpPr>
        <p:spPr>
          <a:xfrm>
            <a:off x="4953000" y="815876"/>
            <a:ext cx="4191000" cy="2994124"/>
          </a:xfrm>
        </p:spPr>
        <p:txBody>
          <a:bodyPr>
            <a:noAutofit/>
          </a:bodyPr>
          <a:lstStyle/>
          <a:p>
            <a:pPr marL="109728" indent="0">
              <a:buNone/>
            </a:pPr>
            <a:r>
              <a:rPr lang="en-US" sz="1600" dirty="0">
                <a:latin typeface="Times New Roman" panose="02020603050405020304" pitchFamily="18" charset="0"/>
                <a:cs typeface="Times New Roman" panose="02020603050405020304" pitchFamily="18" charset="0"/>
              </a:rPr>
              <a:t>Data Mining follows a process called </a:t>
            </a:r>
            <a:r>
              <a:rPr lang="en-US" sz="1600" b="1" dirty="0">
                <a:latin typeface="Times New Roman" panose="02020603050405020304" pitchFamily="18" charset="0"/>
                <a:cs typeface="Times New Roman" panose="02020603050405020304" pitchFamily="18" charset="0"/>
              </a:rPr>
              <a:t>Knowledge Discovery in Databases (KDD)</a:t>
            </a:r>
            <a:r>
              <a:rPr lang="en-US" sz="1600" dirty="0">
                <a:latin typeface="Times New Roman" panose="02020603050405020304" pitchFamily="18" charset="0"/>
                <a:cs typeface="Times New Roman" panose="02020603050405020304" pitchFamily="18" charset="0"/>
              </a:rPr>
              <a:t>.</a:t>
            </a:r>
          </a:p>
          <a:p>
            <a:pPr marL="109728" indent="0">
              <a:buNone/>
            </a:pPr>
            <a:r>
              <a:rPr lang="en-US"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Knowledge Discovery Process:</a:t>
            </a:r>
            <a:endParaRPr lang="en-IN" sz="1600" dirty="0">
              <a:latin typeface="Times New Roman" panose="02020603050405020304" pitchFamily="18" charset="0"/>
              <a:cs typeface="Times New Roman" panose="02020603050405020304" pitchFamily="18" charset="0"/>
            </a:endParaRPr>
          </a:p>
          <a:p>
            <a:pPr marL="109728" indent="0">
              <a:buNone/>
            </a:pPr>
            <a:r>
              <a:rPr lang="en-IN" sz="1600" dirty="0">
                <a:latin typeface="Times New Roman" panose="02020603050405020304" pitchFamily="18" charset="0"/>
                <a:cs typeface="Times New Roman" panose="02020603050405020304" pitchFamily="18" charset="0"/>
              </a:rPr>
              <a:t>1. Data cleaning </a:t>
            </a:r>
          </a:p>
          <a:p>
            <a:pPr marL="109728" indent="0">
              <a:buNone/>
            </a:pPr>
            <a:r>
              <a:rPr lang="en-IN" sz="1600" dirty="0">
                <a:latin typeface="Times New Roman" panose="02020603050405020304" pitchFamily="18" charset="0"/>
                <a:cs typeface="Times New Roman" panose="02020603050405020304" pitchFamily="18" charset="0"/>
              </a:rPr>
              <a:t>2. Data integration</a:t>
            </a:r>
          </a:p>
          <a:p>
            <a:pPr marL="109728" indent="0">
              <a:buNone/>
            </a:pPr>
            <a:r>
              <a:rPr lang="en-IN" sz="1600" dirty="0">
                <a:latin typeface="Times New Roman" panose="02020603050405020304" pitchFamily="18" charset="0"/>
                <a:cs typeface="Times New Roman" panose="02020603050405020304" pitchFamily="18" charset="0"/>
              </a:rPr>
              <a:t>3. Data selection</a:t>
            </a:r>
          </a:p>
          <a:p>
            <a:pPr marL="109728" indent="0">
              <a:buNone/>
            </a:pPr>
            <a:r>
              <a:rPr lang="en-IN" sz="1600" dirty="0">
                <a:latin typeface="Times New Roman" panose="02020603050405020304" pitchFamily="18" charset="0"/>
                <a:cs typeface="Times New Roman" panose="02020603050405020304" pitchFamily="18" charset="0"/>
              </a:rPr>
              <a:t>4. Data transformation </a:t>
            </a:r>
          </a:p>
          <a:p>
            <a:pPr marL="109728" indent="0">
              <a:buNone/>
            </a:pPr>
            <a:r>
              <a:rPr lang="en-IN" sz="1600" dirty="0">
                <a:latin typeface="Times New Roman" panose="02020603050405020304" pitchFamily="18" charset="0"/>
                <a:cs typeface="Times New Roman" panose="02020603050405020304" pitchFamily="18" charset="0"/>
              </a:rPr>
              <a:t>5. Data mining </a:t>
            </a:r>
          </a:p>
          <a:p>
            <a:pPr marL="109728" indent="0">
              <a:buNone/>
            </a:pPr>
            <a:r>
              <a:rPr lang="en-IN" sz="1600" dirty="0">
                <a:latin typeface="Times New Roman" panose="02020603050405020304" pitchFamily="18" charset="0"/>
                <a:cs typeface="Times New Roman" panose="02020603050405020304" pitchFamily="18" charset="0"/>
              </a:rPr>
              <a:t>6. Pattern evaluation</a:t>
            </a:r>
          </a:p>
          <a:p>
            <a:pPr marL="109728" indent="0">
              <a:buNone/>
            </a:pPr>
            <a:r>
              <a:rPr lang="en-IN" sz="1600" dirty="0">
                <a:latin typeface="Times New Roman" panose="02020603050405020304" pitchFamily="18" charset="0"/>
                <a:cs typeface="Times New Roman" panose="02020603050405020304" pitchFamily="18" charset="0"/>
              </a:rPr>
              <a:t> 7. Knowledge presentation</a:t>
            </a:r>
          </a:p>
        </p:txBody>
      </p:sp>
      <p:sp>
        <p:nvSpPr>
          <p:cNvPr id="11" name="TextBox 10">
            <a:extLst>
              <a:ext uri="{FF2B5EF4-FFF2-40B4-BE49-F238E27FC236}">
                <a16:creationId xmlns:a16="http://schemas.microsoft.com/office/drawing/2014/main" id="{CBF19059-E7DB-7BBD-D25F-895F1ACF1985}"/>
              </a:ext>
            </a:extLst>
          </p:cNvPr>
          <p:cNvSpPr txBox="1"/>
          <p:nvPr/>
        </p:nvSpPr>
        <p:spPr>
          <a:xfrm>
            <a:off x="4853449" y="3755550"/>
            <a:ext cx="4151670" cy="3139321"/>
          </a:xfrm>
          <a:prstGeom prst="rect">
            <a:avLst/>
          </a:prstGeom>
          <a:noFill/>
        </p:spPr>
        <p:txBody>
          <a:bodyPr wrap="square">
            <a:spAutoFit/>
          </a:bodyPr>
          <a:lstStyle/>
          <a:p>
            <a:pPr marL="285750" indent="-285750" algn="just">
              <a:buFont typeface="Arial" panose="020B0604020202020204" pitchFamily="34" charset="0"/>
              <a:buChar char="•"/>
            </a:pPr>
            <a:r>
              <a:rPr lang="en-IN" sz="1800" b="1" dirty="0">
                <a:solidFill>
                  <a:srgbClr val="0070C0"/>
                </a:solidFill>
                <a:latin typeface="Times New Roman" panose="02020603050405020304" pitchFamily="18" charset="0"/>
                <a:cs typeface="Times New Roman" panose="02020603050405020304" pitchFamily="18" charset="0"/>
              </a:rPr>
              <a:t>Steps 1 through 4 are different forms of data preprocessing, where data are prepared for mining. </a:t>
            </a:r>
          </a:p>
          <a:p>
            <a:pPr marL="285750" indent="-285750" algn="just">
              <a:buFont typeface="Arial" panose="020B0604020202020204" pitchFamily="34" charset="0"/>
              <a:buChar char="•"/>
            </a:pPr>
            <a:endParaRPr lang="en-IN" sz="1800" b="1"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a:solidFill>
                  <a:srgbClr val="0070C0"/>
                </a:solidFill>
                <a:latin typeface="Times New Roman" panose="02020603050405020304" pitchFamily="18" charset="0"/>
                <a:cs typeface="Times New Roman" panose="02020603050405020304" pitchFamily="18" charset="0"/>
              </a:rPr>
              <a:t>The data mining step may interact with the user or a knowledge base.</a:t>
            </a:r>
          </a:p>
          <a:p>
            <a:pPr marL="285750" indent="-285750" algn="just">
              <a:buFont typeface="Arial" panose="020B0604020202020204" pitchFamily="34" charset="0"/>
              <a:buChar char="•"/>
            </a:pPr>
            <a:endParaRPr lang="en-IN" sz="1800" b="1"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a:solidFill>
                  <a:srgbClr val="0070C0"/>
                </a:solidFill>
                <a:latin typeface="Times New Roman" panose="02020603050405020304" pitchFamily="18" charset="0"/>
                <a:cs typeface="Times New Roman" panose="02020603050405020304" pitchFamily="18" charset="0"/>
              </a:rPr>
              <a:t> The interesting patterns are presented to the user and may be stored as new knowledge in the knowledge base.</a:t>
            </a:r>
            <a:endParaRPr lang="en-IN" b="1" dirty="0">
              <a:solidFill>
                <a:srgbClr val="0070C0"/>
              </a:solidFill>
            </a:endParaRPr>
          </a:p>
        </p:txBody>
      </p:sp>
    </p:spTree>
    <p:extLst>
      <p:ext uri="{BB962C8B-B14F-4D97-AF65-F5344CB8AC3E}">
        <p14:creationId xmlns:p14="http://schemas.microsoft.com/office/powerpoint/2010/main" val="1906396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50C7535F-7DEE-74EE-ADCA-F486FF088A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9C449626-CE44-4C40-9B51-6C3B2888DF7C}" type="slidenum">
              <a:rPr lang="en-US" altLang="en-US" sz="1400"/>
              <a:pPr eaLnBrk="1" hangingPunct="1"/>
              <a:t>23</a:t>
            </a:fld>
            <a:endParaRPr lang="en-US" altLang="en-US" sz="1400"/>
          </a:p>
        </p:txBody>
      </p:sp>
      <p:sp>
        <p:nvSpPr>
          <p:cNvPr id="10243" name="Rectangle 2050">
            <a:extLst>
              <a:ext uri="{FF2B5EF4-FFF2-40B4-BE49-F238E27FC236}">
                <a16:creationId xmlns:a16="http://schemas.microsoft.com/office/drawing/2014/main" id="{1F4E4506-2A26-C29E-B751-6E900E682B88}"/>
              </a:ext>
            </a:extLst>
          </p:cNvPr>
          <p:cNvSpPr>
            <a:spLocks noGrp="1" noChangeArrowheads="1"/>
          </p:cNvSpPr>
          <p:nvPr>
            <p:ph type="title"/>
          </p:nvPr>
        </p:nvSpPr>
        <p:spPr>
          <a:xfrm>
            <a:off x="0" y="228600"/>
            <a:ext cx="9144000" cy="914400"/>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Knowledge Discovery (KDD) Process</a:t>
            </a:r>
            <a:endParaRPr lang="en-US" altLang="en-US" sz="3200" b="0" dirty="0">
              <a:solidFill>
                <a:srgbClr val="002060"/>
              </a:solidFill>
              <a:effectLst/>
              <a:latin typeface="Times New Roman" panose="02020603050405020304" pitchFamily="18" charset="0"/>
              <a:cs typeface="Times New Roman" panose="02020603050405020304" pitchFamily="18" charset="0"/>
            </a:endParaRPr>
          </a:p>
        </p:txBody>
      </p:sp>
      <p:sp>
        <p:nvSpPr>
          <p:cNvPr id="10244" name="Rectangle 2051">
            <a:extLst>
              <a:ext uri="{FF2B5EF4-FFF2-40B4-BE49-F238E27FC236}">
                <a16:creationId xmlns:a16="http://schemas.microsoft.com/office/drawing/2014/main" id="{C241177C-D2F3-0F10-694E-883E62F3CEBE}"/>
              </a:ext>
            </a:extLst>
          </p:cNvPr>
          <p:cNvSpPr>
            <a:spLocks noGrp="1" noChangeArrowheads="1"/>
          </p:cNvSpPr>
          <p:nvPr>
            <p:ph type="body" idx="1"/>
          </p:nvPr>
        </p:nvSpPr>
        <p:spPr>
          <a:xfrm>
            <a:off x="152400" y="1295400"/>
            <a:ext cx="4419600" cy="1752600"/>
          </a:xfrm>
          <a:noFill/>
        </p:spPr>
        <p:txBody>
          <a:bodyPr lIns="92075" tIns="46038" rIns="92075" bIns="46038">
            <a:normAutofit/>
          </a:bodyPr>
          <a:lstStyle/>
          <a:p>
            <a:pPr eaLnBrk="1" hangingPunct="1">
              <a:lnSpc>
                <a:spcPct val="90000"/>
              </a:lnSpc>
            </a:pPr>
            <a:r>
              <a:rPr lang="en-US" altLang="en-US" sz="2000" dirty="0">
                <a:solidFill>
                  <a:srgbClr val="002060"/>
                </a:solidFill>
                <a:latin typeface="Times New Roman" panose="02020603050405020304" pitchFamily="18" charset="0"/>
                <a:cs typeface="Times New Roman" panose="02020603050405020304" pitchFamily="18" charset="0"/>
              </a:rPr>
              <a:t>This is a view from typical database systems and data warehousing communities</a:t>
            </a:r>
          </a:p>
          <a:p>
            <a:pPr eaLnBrk="1" hangingPunct="1">
              <a:lnSpc>
                <a:spcPct val="90000"/>
              </a:lnSpc>
            </a:pPr>
            <a:r>
              <a:rPr lang="en-US" altLang="en-US" sz="2000" dirty="0">
                <a:solidFill>
                  <a:srgbClr val="002060"/>
                </a:solidFill>
                <a:latin typeface="Times New Roman" panose="02020603050405020304" pitchFamily="18" charset="0"/>
                <a:cs typeface="Times New Roman" panose="02020603050405020304" pitchFamily="18" charset="0"/>
              </a:rPr>
              <a:t>Data mining plays an essential role in the knowledge discovery process</a:t>
            </a:r>
            <a:endParaRPr lang="en-US" altLang="en-US" sz="2000" b="1" dirty="0">
              <a:solidFill>
                <a:srgbClr val="002060"/>
              </a:solidFill>
              <a:latin typeface="Times New Roman" panose="02020603050405020304" pitchFamily="18" charset="0"/>
              <a:cs typeface="Times New Roman" panose="02020603050405020304" pitchFamily="18" charset="0"/>
            </a:endParaRPr>
          </a:p>
        </p:txBody>
      </p:sp>
      <p:sp>
        <p:nvSpPr>
          <p:cNvPr id="10245" name="Line 2052">
            <a:extLst>
              <a:ext uri="{FF2B5EF4-FFF2-40B4-BE49-F238E27FC236}">
                <a16:creationId xmlns:a16="http://schemas.microsoft.com/office/drawing/2014/main" id="{EDB9B9FA-7580-A03F-1626-B766EDC049E7}"/>
              </a:ext>
            </a:extLst>
          </p:cNvPr>
          <p:cNvSpPr>
            <a:spLocks noChangeShapeType="1"/>
          </p:cNvSpPr>
          <p:nvPr/>
        </p:nvSpPr>
        <p:spPr bwMode="auto">
          <a:xfrm flipV="1">
            <a:off x="1219200" y="5105400"/>
            <a:ext cx="990600" cy="60960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46" name="Line 2053">
            <a:extLst>
              <a:ext uri="{FF2B5EF4-FFF2-40B4-BE49-F238E27FC236}">
                <a16:creationId xmlns:a16="http://schemas.microsoft.com/office/drawing/2014/main" id="{5DEE23CC-630D-944E-7CF3-FFCCDBBC19B9}"/>
              </a:ext>
            </a:extLst>
          </p:cNvPr>
          <p:cNvSpPr>
            <a:spLocks noChangeShapeType="1"/>
          </p:cNvSpPr>
          <p:nvPr/>
        </p:nvSpPr>
        <p:spPr bwMode="auto">
          <a:xfrm flipV="1">
            <a:off x="6781800" y="1600200"/>
            <a:ext cx="990600" cy="60960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47" name="Line 2054">
            <a:extLst>
              <a:ext uri="{FF2B5EF4-FFF2-40B4-BE49-F238E27FC236}">
                <a16:creationId xmlns:a16="http://schemas.microsoft.com/office/drawing/2014/main" id="{AFF2F723-EF15-781C-A3E9-B8295682487D}"/>
              </a:ext>
            </a:extLst>
          </p:cNvPr>
          <p:cNvSpPr>
            <a:spLocks noChangeShapeType="1"/>
          </p:cNvSpPr>
          <p:nvPr/>
        </p:nvSpPr>
        <p:spPr bwMode="auto">
          <a:xfrm flipV="1">
            <a:off x="5105400" y="2667000"/>
            <a:ext cx="990600" cy="60960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48" name="Line 2055">
            <a:extLst>
              <a:ext uri="{FF2B5EF4-FFF2-40B4-BE49-F238E27FC236}">
                <a16:creationId xmlns:a16="http://schemas.microsoft.com/office/drawing/2014/main" id="{52FDB90F-D877-E5FA-0491-F065BE4C6C7B}"/>
              </a:ext>
            </a:extLst>
          </p:cNvPr>
          <p:cNvSpPr>
            <a:spLocks noChangeShapeType="1"/>
          </p:cNvSpPr>
          <p:nvPr/>
        </p:nvSpPr>
        <p:spPr bwMode="auto">
          <a:xfrm flipV="1">
            <a:off x="3276600" y="3733800"/>
            <a:ext cx="990600" cy="60960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49" name="Oval 2056">
            <a:extLst>
              <a:ext uri="{FF2B5EF4-FFF2-40B4-BE49-F238E27FC236}">
                <a16:creationId xmlns:a16="http://schemas.microsoft.com/office/drawing/2014/main" id="{6436E9DF-F8D2-ECE2-9DE2-8C62900E33B0}"/>
              </a:ext>
            </a:extLst>
          </p:cNvPr>
          <p:cNvSpPr>
            <a:spLocks noChangeArrowheads="1"/>
          </p:cNvSpPr>
          <p:nvPr/>
        </p:nvSpPr>
        <p:spPr bwMode="auto">
          <a:xfrm>
            <a:off x="228600" y="5562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0" name="Rectangle 2057">
            <a:extLst>
              <a:ext uri="{FF2B5EF4-FFF2-40B4-BE49-F238E27FC236}">
                <a16:creationId xmlns:a16="http://schemas.microsoft.com/office/drawing/2014/main" id="{4765DCC8-6001-9CD3-114D-BC9C8C2FE3A3}"/>
              </a:ext>
            </a:extLst>
          </p:cNvPr>
          <p:cNvSpPr>
            <a:spLocks noChangeArrowheads="1"/>
          </p:cNvSpPr>
          <p:nvPr/>
        </p:nvSpPr>
        <p:spPr bwMode="auto">
          <a:xfrm>
            <a:off x="228600" y="5638800"/>
            <a:ext cx="685800" cy="406400"/>
          </a:xfrm>
          <a:prstGeom prst="rect">
            <a:avLst/>
          </a:prstGeom>
          <a:solidFill>
            <a:srgbClr val="00CC66"/>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1" name="Oval 2058">
            <a:extLst>
              <a:ext uri="{FF2B5EF4-FFF2-40B4-BE49-F238E27FC236}">
                <a16:creationId xmlns:a16="http://schemas.microsoft.com/office/drawing/2014/main" id="{E44A5C00-E999-B519-9FA1-85B92BA4F908}"/>
              </a:ext>
            </a:extLst>
          </p:cNvPr>
          <p:cNvSpPr>
            <a:spLocks noChangeArrowheads="1"/>
          </p:cNvSpPr>
          <p:nvPr/>
        </p:nvSpPr>
        <p:spPr bwMode="auto">
          <a:xfrm>
            <a:off x="228600" y="5943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2" name="Oval 2059">
            <a:extLst>
              <a:ext uri="{FF2B5EF4-FFF2-40B4-BE49-F238E27FC236}">
                <a16:creationId xmlns:a16="http://schemas.microsoft.com/office/drawing/2014/main" id="{ED6EC1F2-38BE-279E-0556-96A1C9FE586C}"/>
              </a:ext>
            </a:extLst>
          </p:cNvPr>
          <p:cNvSpPr>
            <a:spLocks noChangeArrowheads="1"/>
          </p:cNvSpPr>
          <p:nvPr/>
        </p:nvSpPr>
        <p:spPr bwMode="auto">
          <a:xfrm>
            <a:off x="609600" y="5943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3" name="Rectangle 2060">
            <a:extLst>
              <a:ext uri="{FF2B5EF4-FFF2-40B4-BE49-F238E27FC236}">
                <a16:creationId xmlns:a16="http://schemas.microsoft.com/office/drawing/2014/main" id="{5B0F4F21-7D97-43D6-E02F-6492BB894537}"/>
              </a:ext>
            </a:extLst>
          </p:cNvPr>
          <p:cNvSpPr>
            <a:spLocks noChangeArrowheads="1"/>
          </p:cNvSpPr>
          <p:nvPr/>
        </p:nvSpPr>
        <p:spPr bwMode="auto">
          <a:xfrm>
            <a:off x="609600" y="6019800"/>
            <a:ext cx="685800" cy="406400"/>
          </a:xfrm>
          <a:prstGeom prst="rect">
            <a:avLst/>
          </a:prstGeom>
          <a:solidFill>
            <a:srgbClr val="00CC66"/>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4" name="Oval 2061">
            <a:extLst>
              <a:ext uri="{FF2B5EF4-FFF2-40B4-BE49-F238E27FC236}">
                <a16:creationId xmlns:a16="http://schemas.microsoft.com/office/drawing/2014/main" id="{5F172934-6C02-D55A-F535-AEA873079E39}"/>
              </a:ext>
            </a:extLst>
          </p:cNvPr>
          <p:cNvSpPr>
            <a:spLocks noChangeArrowheads="1"/>
          </p:cNvSpPr>
          <p:nvPr/>
        </p:nvSpPr>
        <p:spPr bwMode="auto">
          <a:xfrm>
            <a:off x="609600" y="6324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5" name="Oval 2062">
            <a:extLst>
              <a:ext uri="{FF2B5EF4-FFF2-40B4-BE49-F238E27FC236}">
                <a16:creationId xmlns:a16="http://schemas.microsoft.com/office/drawing/2014/main" id="{FED8072C-411B-EB5A-BC01-2AF8501B0A59}"/>
              </a:ext>
            </a:extLst>
          </p:cNvPr>
          <p:cNvSpPr>
            <a:spLocks noChangeArrowheads="1"/>
          </p:cNvSpPr>
          <p:nvPr/>
        </p:nvSpPr>
        <p:spPr bwMode="auto">
          <a:xfrm>
            <a:off x="1295400" y="57150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6" name="Rectangle 2063">
            <a:extLst>
              <a:ext uri="{FF2B5EF4-FFF2-40B4-BE49-F238E27FC236}">
                <a16:creationId xmlns:a16="http://schemas.microsoft.com/office/drawing/2014/main" id="{E028CFD8-BDD2-CEF7-ADF7-6C630B2E869B}"/>
              </a:ext>
            </a:extLst>
          </p:cNvPr>
          <p:cNvSpPr>
            <a:spLocks noChangeArrowheads="1"/>
          </p:cNvSpPr>
          <p:nvPr/>
        </p:nvSpPr>
        <p:spPr bwMode="auto">
          <a:xfrm>
            <a:off x="1295400" y="5791200"/>
            <a:ext cx="685800" cy="406400"/>
          </a:xfrm>
          <a:prstGeom prst="rect">
            <a:avLst/>
          </a:prstGeom>
          <a:solidFill>
            <a:srgbClr val="00CC66"/>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7" name="Oval 2064">
            <a:extLst>
              <a:ext uri="{FF2B5EF4-FFF2-40B4-BE49-F238E27FC236}">
                <a16:creationId xmlns:a16="http://schemas.microsoft.com/office/drawing/2014/main" id="{FAEDB897-DB63-3A95-0340-5DDF01117513}"/>
              </a:ext>
            </a:extLst>
          </p:cNvPr>
          <p:cNvSpPr>
            <a:spLocks noChangeArrowheads="1"/>
          </p:cNvSpPr>
          <p:nvPr/>
        </p:nvSpPr>
        <p:spPr bwMode="auto">
          <a:xfrm>
            <a:off x="1295400" y="60960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58" name="Text Box 2065">
            <a:extLst>
              <a:ext uri="{FF2B5EF4-FFF2-40B4-BE49-F238E27FC236}">
                <a16:creationId xmlns:a16="http://schemas.microsoft.com/office/drawing/2014/main" id="{04B92508-EC08-0DF0-BFC9-5A8838694B0A}"/>
              </a:ext>
            </a:extLst>
          </p:cNvPr>
          <p:cNvSpPr txBox="1">
            <a:spLocks noChangeArrowheads="1"/>
          </p:cNvSpPr>
          <p:nvPr/>
        </p:nvSpPr>
        <p:spPr bwMode="auto">
          <a:xfrm>
            <a:off x="304800" y="4876800"/>
            <a:ext cx="1743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dirty="0">
                <a:latin typeface="Times New Roman" panose="02020603050405020304" pitchFamily="18" charset="0"/>
              </a:rPr>
              <a:t>Data Cleaning</a:t>
            </a:r>
            <a:endParaRPr lang="en-US" altLang="en-US" sz="1800" dirty="0">
              <a:latin typeface="Times New Roman" panose="02020603050405020304" pitchFamily="18" charset="0"/>
            </a:endParaRPr>
          </a:p>
        </p:txBody>
      </p:sp>
      <p:sp>
        <p:nvSpPr>
          <p:cNvPr id="10259" name="Text Box 2066">
            <a:extLst>
              <a:ext uri="{FF2B5EF4-FFF2-40B4-BE49-F238E27FC236}">
                <a16:creationId xmlns:a16="http://schemas.microsoft.com/office/drawing/2014/main" id="{0633E351-0F52-CFFA-86F0-9AB86CC21A3D}"/>
              </a:ext>
            </a:extLst>
          </p:cNvPr>
          <p:cNvSpPr txBox="1">
            <a:spLocks noChangeArrowheads="1"/>
          </p:cNvSpPr>
          <p:nvPr/>
        </p:nvSpPr>
        <p:spPr bwMode="auto">
          <a:xfrm>
            <a:off x="1600200" y="5410200"/>
            <a:ext cx="1995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latin typeface="Times New Roman" panose="02020603050405020304" pitchFamily="18" charset="0"/>
              </a:rPr>
              <a:t>Data Integration</a:t>
            </a:r>
            <a:endParaRPr lang="en-US" altLang="en-US" sz="1800">
              <a:latin typeface="Times New Roman" panose="02020603050405020304" pitchFamily="18" charset="0"/>
            </a:endParaRPr>
          </a:p>
        </p:txBody>
      </p:sp>
      <p:sp>
        <p:nvSpPr>
          <p:cNvPr id="10260" name="Text Box 2067">
            <a:extLst>
              <a:ext uri="{FF2B5EF4-FFF2-40B4-BE49-F238E27FC236}">
                <a16:creationId xmlns:a16="http://schemas.microsoft.com/office/drawing/2014/main" id="{CD296B99-E92F-D212-2BC4-7D2259A1AD3E}"/>
              </a:ext>
            </a:extLst>
          </p:cNvPr>
          <p:cNvSpPr txBox="1">
            <a:spLocks noChangeArrowheads="1"/>
          </p:cNvSpPr>
          <p:nvPr/>
        </p:nvSpPr>
        <p:spPr bwMode="auto">
          <a:xfrm>
            <a:off x="1371600" y="62484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solidFill>
                  <a:srgbClr val="000099"/>
                </a:solidFill>
                <a:latin typeface="Times New Roman" panose="02020603050405020304" pitchFamily="18" charset="0"/>
              </a:rPr>
              <a:t>Databases</a:t>
            </a:r>
          </a:p>
        </p:txBody>
      </p:sp>
      <p:sp>
        <p:nvSpPr>
          <p:cNvPr id="10261" name="Text Box 2068">
            <a:extLst>
              <a:ext uri="{FF2B5EF4-FFF2-40B4-BE49-F238E27FC236}">
                <a16:creationId xmlns:a16="http://schemas.microsoft.com/office/drawing/2014/main" id="{33CD8BDB-4055-0116-21F0-B2B6CC9122B9}"/>
              </a:ext>
            </a:extLst>
          </p:cNvPr>
          <p:cNvSpPr txBox="1">
            <a:spLocks noChangeArrowheads="1"/>
          </p:cNvSpPr>
          <p:nvPr/>
        </p:nvSpPr>
        <p:spPr bwMode="auto">
          <a:xfrm>
            <a:off x="1066800" y="4114800"/>
            <a:ext cx="199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solidFill>
                  <a:srgbClr val="000099"/>
                </a:solidFill>
                <a:latin typeface="Times New Roman" panose="02020603050405020304" pitchFamily="18" charset="0"/>
              </a:rPr>
              <a:t>Data Warehouse</a:t>
            </a:r>
          </a:p>
        </p:txBody>
      </p:sp>
      <p:sp>
        <p:nvSpPr>
          <p:cNvPr id="10262" name="Rectangle 2069">
            <a:extLst>
              <a:ext uri="{FF2B5EF4-FFF2-40B4-BE49-F238E27FC236}">
                <a16:creationId xmlns:a16="http://schemas.microsoft.com/office/drawing/2014/main" id="{4744977E-AFFB-97F6-A90C-FBD0F292E5D4}"/>
              </a:ext>
            </a:extLst>
          </p:cNvPr>
          <p:cNvSpPr>
            <a:spLocks noChangeArrowheads="1"/>
          </p:cNvSpPr>
          <p:nvPr/>
        </p:nvSpPr>
        <p:spPr bwMode="auto">
          <a:xfrm>
            <a:off x="2362200" y="4572000"/>
            <a:ext cx="685800" cy="6858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contourClr>
              <a:srgbClr val="00CC66"/>
            </a:contourClr>
          </a:sp3d>
        </p:spPr>
        <p:txBody>
          <a:bodyPr wrap="none" anchor="ctr">
            <a:flatTx/>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3" name="Rectangle 2070">
            <a:extLst>
              <a:ext uri="{FF2B5EF4-FFF2-40B4-BE49-F238E27FC236}">
                <a16:creationId xmlns:a16="http://schemas.microsoft.com/office/drawing/2014/main" id="{47722978-3046-B3C7-9080-185D482C4BE4}"/>
              </a:ext>
            </a:extLst>
          </p:cNvPr>
          <p:cNvSpPr>
            <a:spLocks noChangeArrowheads="1"/>
          </p:cNvSpPr>
          <p:nvPr/>
        </p:nvSpPr>
        <p:spPr bwMode="auto">
          <a:xfrm>
            <a:off x="4419600" y="3429000"/>
            <a:ext cx="457200" cy="4572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contourClr>
              <a:srgbClr val="00CC66"/>
            </a:contourClr>
          </a:sp3d>
        </p:spPr>
        <p:txBody>
          <a:bodyPr wrap="none" anchor="ctr">
            <a:flatTx/>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4" name="Rectangle 2071">
            <a:extLst>
              <a:ext uri="{FF2B5EF4-FFF2-40B4-BE49-F238E27FC236}">
                <a16:creationId xmlns:a16="http://schemas.microsoft.com/office/drawing/2014/main" id="{A5819AE5-2786-64F3-2737-E748E8F2A67B}"/>
              </a:ext>
            </a:extLst>
          </p:cNvPr>
          <p:cNvSpPr>
            <a:spLocks noChangeArrowheads="1"/>
          </p:cNvSpPr>
          <p:nvPr/>
        </p:nvSpPr>
        <p:spPr bwMode="auto">
          <a:xfrm>
            <a:off x="6477000" y="1981200"/>
            <a:ext cx="76200" cy="609600"/>
          </a:xfrm>
          <a:prstGeom prst="rect">
            <a:avLst/>
          </a:prstGeom>
          <a:solidFill>
            <a:schemeClr val="hlink"/>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5" name="Rectangle 2072">
            <a:extLst>
              <a:ext uri="{FF2B5EF4-FFF2-40B4-BE49-F238E27FC236}">
                <a16:creationId xmlns:a16="http://schemas.microsoft.com/office/drawing/2014/main" id="{B15F04FB-578F-2FB3-065C-D7B858394D03}"/>
              </a:ext>
            </a:extLst>
          </p:cNvPr>
          <p:cNvSpPr>
            <a:spLocks noChangeArrowheads="1"/>
          </p:cNvSpPr>
          <p:nvPr/>
        </p:nvSpPr>
        <p:spPr bwMode="auto">
          <a:xfrm>
            <a:off x="6553200" y="2209800"/>
            <a:ext cx="76200" cy="381000"/>
          </a:xfrm>
          <a:prstGeom prst="rect">
            <a:avLst/>
          </a:prstGeom>
          <a:solidFill>
            <a:schemeClr val="accent2"/>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6" name="Rectangle 2073">
            <a:extLst>
              <a:ext uri="{FF2B5EF4-FFF2-40B4-BE49-F238E27FC236}">
                <a16:creationId xmlns:a16="http://schemas.microsoft.com/office/drawing/2014/main" id="{F3CFCA63-DCE3-BC7D-0A2B-EC86FE4E91F9}"/>
              </a:ext>
            </a:extLst>
          </p:cNvPr>
          <p:cNvSpPr>
            <a:spLocks noChangeArrowheads="1"/>
          </p:cNvSpPr>
          <p:nvPr/>
        </p:nvSpPr>
        <p:spPr bwMode="auto">
          <a:xfrm>
            <a:off x="6400800" y="2133600"/>
            <a:ext cx="76200" cy="4572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7" name="Rectangle 2074">
            <a:extLst>
              <a:ext uri="{FF2B5EF4-FFF2-40B4-BE49-F238E27FC236}">
                <a16:creationId xmlns:a16="http://schemas.microsoft.com/office/drawing/2014/main" id="{C6C0C8EA-38C3-D652-A8CB-C0161BF80FB5}"/>
              </a:ext>
            </a:extLst>
          </p:cNvPr>
          <p:cNvSpPr>
            <a:spLocks noChangeArrowheads="1"/>
          </p:cNvSpPr>
          <p:nvPr/>
        </p:nvSpPr>
        <p:spPr bwMode="auto">
          <a:xfrm>
            <a:off x="6629400" y="2362200"/>
            <a:ext cx="76200" cy="228600"/>
          </a:xfrm>
          <a:prstGeom prst="rect">
            <a:avLst/>
          </a:prstGeom>
          <a:solidFill>
            <a:schemeClr val="tx1"/>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8" name="Rectangle 2075">
            <a:extLst>
              <a:ext uri="{FF2B5EF4-FFF2-40B4-BE49-F238E27FC236}">
                <a16:creationId xmlns:a16="http://schemas.microsoft.com/office/drawing/2014/main" id="{20377759-BDE8-DE1F-980A-D50217B5EA98}"/>
              </a:ext>
            </a:extLst>
          </p:cNvPr>
          <p:cNvSpPr>
            <a:spLocks noChangeArrowheads="1"/>
          </p:cNvSpPr>
          <p:nvPr/>
        </p:nvSpPr>
        <p:spPr bwMode="auto">
          <a:xfrm>
            <a:off x="6172200" y="2590800"/>
            <a:ext cx="685800" cy="762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69" name="Rectangle 2076">
            <a:extLst>
              <a:ext uri="{FF2B5EF4-FFF2-40B4-BE49-F238E27FC236}">
                <a16:creationId xmlns:a16="http://schemas.microsoft.com/office/drawing/2014/main" id="{B6952C10-2BEC-974C-1278-4B4D6C457C2D}"/>
              </a:ext>
            </a:extLst>
          </p:cNvPr>
          <p:cNvSpPr>
            <a:spLocks noChangeArrowheads="1"/>
          </p:cNvSpPr>
          <p:nvPr/>
        </p:nvSpPr>
        <p:spPr bwMode="auto">
          <a:xfrm>
            <a:off x="6248400" y="2362200"/>
            <a:ext cx="152400" cy="228600"/>
          </a:xfrm>
          <a:prstGeom prst="rect">
            <a:avLst/>
          </a:prstGeom>
          <a:solidFill>
            <a:srgbClr val="FF99FF"/>
          </a:solidFill>
          <a:ln w="12700">
            <a:solidFill>
              <a:schemeClr val="tx1"/>
            </a:solidFill>
            <a:miter lim="800000"/>
            <a:headEnd type="none" w="sm" len="sm"/>
            <a:tailEnd type="none" w="sm" len="sm"/>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p>
        </p:txBody>
      </p:sp>
      <p:sp>
        <p:nvSpPr>
          <p:cNvPr id="10270" name="WordArt 2077">
            <a:extLst>
              <a:ext uri="{FF2B5EF4-FFF2-40B4-BE49-F238E27FC236}">
                <a16:creationId xmlns:a16="http://schemas.microsoft.com/office/drawing/2014/main" id="{A917E872-FDAA-EF84-78B4-5EC867AA088A}"/>
              </a:ext>
            </a:extLst>
          </p:cNvPr>
          <p:cNvSpPr>
            <a:spLocks noChangeArrowheads="1" noChangeShapeType="1" noTextEdit="1"/>
          </p:cNvSpPr>
          <p:nvPr/>
        </p:nvSpPr>
        <p:spPr bwMode="auto">
          <a:xfrm>
            <a:off x="7086600" y="990600"/>
            <a:ext cx="1743075" cy="612775"/>
          </a:xfrm>
          <a:prstGeom prst="rect">
            <a:avLst/>
          </a:prstGeom>
        </p:spPr>
        <p:txBody>
          <a:bodyPr wrap="none" fromWordArt="1">
            <a:prstTxWarp prst="textCascadeUp">
              <a:avLst>
                <a:gd name="adj" fmla="val 44444"/>
              </a:avLst>
            </a:prstTxWarp>
            <a:scene3d>
              <a:camera prst="legacyPerspectiveFront">
                <a:rot lat="20519990" lon="1080000" rev="0"/>
              </a:camera>
              <a:lightRig rig="legacyHarsh2" dir="b"/>
            </a:scene3d>
            <a:sp3d extrusionH="430200" prstMaterial="legacyMatte">
              <a:extrusionClr>
                <a:srgbClr val="FF6600"/>
              </a:extrusionClr>
              <a:contourClr>
                <a:srgbClr val="FFE701"/>
              </a:contourClr>
            </a:sp3d>
          </a:bodyPr>
          <a:lstStyle/>
          <a:p>
            <a:pPr algn="ctr"/>
            <a:r>
              <a:rPr lang="en-IN" kern="10">
                <a:ln w="9525">
                  <a:round/>
                  <a:headEnd/>
                  <a:tailEnd/>
                </a:ln>
                <a:gradFill rotWithShape="1">
                  <a:gsLst>
                    <a:gs pos="0">
                      <a:srgbClr val="FFE701"/>
                    </a:gs>
                    <a:gs pos="100000">
                      <a:srgbClr val="FE3E02"/>
                    </a:gs>
                  </a:gsLst>
                  <a:lin ang="5400000" scaled="1"/>
                </a:gradFill>
                <a:latin typeface="Impact" panose="020B0806030902050204" pitchFamily="34" charset="0"/>
              </a:rPr>
              <a:t>Knowledge</a:t>
            </a:r>
          </a:p>
        </p:txBody>
      </p:sp>
      <p:sp>
        <p:nvSpPr>
          <p:cNvPr id="10271" name="Text Box 2078">
            <a:extLst>
              <a:ext uri="{FF2B5EF4-FFF2-40B4-BE49-F238E27FC236}">
                <a16:creationId xmlns:a16="http://schemas.microsoft.com/office/drawing/2014/main" id="{F50307A3-26C8-BE5E-5B57-E01F95D3EADC}"/>
              </a:ext>
            </a:extLst>
          </p:cNvPr>
          <p:cNvSpPr txBox="1">
            <a:spLocks noChangeArrowheads="1"/>
          </p:cNvSpPr>
          <p:nvPr/>
        </p:nvSpPr>
        <p:spPr bwMode="auto">
          <a:xfrm>
            <a:off x="2514600" y="3276600"/>
            <a:ext cx="227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solidFill>
                  <a:srgbClr val="000099"/>
                </a:solidFill>
                <a:latin typeface="Times New Roman" panose="02020603050405020304" pitchFamily="18" charset="0"/>
              </a:rPr>
              <a:t>Task-relevant Data</a:t>
            </a:r>
          </a:p>
        </p:txBody>
      </p:sp>
      <p:sp>
        <p:nvSpPr>
          <p:cNvPr id="10272" name="Text Box 2079">
            <a:extLst>
              <a:ext uri="{FF2B5EF4-FFF2-40B4-BE49-F238E27FC236}">
                <a16:creationId xmlns:a16="http://schemas.microsoft.com/office/drawing/2014/main" id="{79BE8367-4802-16F8-20BB-600F7616878B}"/>
              </a:ext>
            </a:extLst>
          </p:cNvPr>
          <p:cNvSpPr txBox="1">
            <a:spLocks noChangeArrowheads="1"/>
          </p:cNvSpPr>
          <p:nvPr/>
        </p:nvSpPr>
        <p:spPr bwMode="auto">
          <a:xfrm>
            <a:off x="3641725" y="4052888"/>
            <a:ext cx="1155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latin typeface="Times New Roman" panose="02020603050405020304" pitchFamily="18" charset="0"/>
              </a:rPr>
              <a:t>Selection</a:t>
            </a:r>
          </a:p>
        </p:txBody>
      </p:sp>
      <p:sp>
        <p:nvSpPr>
          <p:cNvPr id="10273" name="Text Box 2080">
            <a:extLst>
              <a:ext uri="{FF2B5EF4-FFF2-40B4-BE49-F238E27FC236}">
                <a16:creationId xmlns:a16="http://schemas.microsoft.com/office/drawing/2014/main" id="{AE0ECA73-2C51-AAB5-F50C-2EAD77C013C9}"/>
              </a:ext>
            </a:extLst>
          </p:cNvPr>
          <p:cNvSpPr txBox="1">
            <a:spLocks noChangeArrowheads="1"/>
          </p:cNvSpPr>
          <p:nvPr/>
        </p:nvSpPr>
        <p:spPr bwMode="auto">
          <a:xfrm>
            <a:off x="4267200" y="2590800"/>
            <a:ext cx="155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solidFill>
                  <a:schemeClr val="hlink"/>
                </a:solidFill>
                <a:latin typeface="Times New Roman" panose="02020603050405020304" pitchFamily="18" charset="0"/>
              </a:rPr>
              <a:t>Data Mining</a:t>
            </a:r>
          </a:p>
        </p:txBody>
      </p:sp>
      <p:sp>
        <p:nvSpPr>
          <p:cNvPr id="10274" name="Text Box 2081">
            <a:extLst>
              <a:ext uri="{FF2B5EF4-FFF2-40B4-BE49-F238E27FC236}">
                <a16:creationId xmlns:a16="http://schemas.microsoft.com/office/drawing/2014/main" id="{C7A60F07-076C-A12B-4AEE-BE26486A2D41}"/>
              </a:ext>
            </a:extLst>
          </p:cNvPr>
          <p:cNvSpPr txBox="1">
            <a:spLocks noChangeArrowheads="1"/>
          </p:cNvSpPr>
          <p:nvPr/>
        </p:nvSpPr>
        <p:spPr bwMode="auto">
          <a:xfrm>
            <a:off x="5257800" y="1676400"/>
            <a:ext cx="2249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2000" b="1">
                <a:latin typeface="Times New Roman" panose="02020603050405020304" pitchFamily="18" charset="0"/>
              </a:rPr>
              <a:t>Pattern Evaluation</a:t>
            </a:r>
          </a:p>
        </p:txBody>
      </p:sp>
      <p:sp>
        <p:nvSpPr>
          <p:cNvPr id="10275" name="Line 2082">
            <a:extLst>
              <a:ext uri="{FF2B5EF4-FFF2-40B4-BE49-F238E27FC236}">
                <a16:creationId xmlns:a16="http://schemas.microsoft.com/office/drawing/2014/main" id="{A238E985-642D-A5C4-D624-D3E1045125BA}"/>
              </a:ext>
            </a:extLst>
          </p:cNvPr>
          <p:cNvSpPr>
            <a:spLocks noChangeShapeType="1"/>
          </p:cNvSpPr>
          <p:nvPr/>
        </p:nvSpPr>
        <p:spPr bwMode="auto">
          <a:xfrm>
            <a:off x="5638800" y="3124200"/>
            <a:ext cx="0" cy="21336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IN"/>
          </a:p>
        </p:txBody>
      </p:sp>
      <p:sp>
        <p:nvSpPr>
          <p:cNvPr id="10276" name="Line 2083">
            <a:extLst>
              <a:ext uri="{FF2B5EF4-FFF2-40B4-BE49-F238E27FC236}">
                <a16:creationId xmlns:a16="http://schemas.microsoft.com/office/drawing/2014/main" id="{23AE5FB1-B595-45C2-094E-50A2789D026C}"/>
              </a:ext>
            </a:extLst>
          </p:cNvPr>
          <p:cNvSpPr>
            <a:spLocks noChangeShapeType="1"/>
          </p:cNvSpPr>
          <p:nvPr/>
        </p:nvSpPr>
        <p:spPr bwMode="auto">
          <a:xfrm>
            <a:off x="7315200" y="2057400"/>
            <a:ext cx="0" cy="32004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77" name="Line 2084">
            <a:extLst>
              <a:ext uri="{FF2B5EF4-FFF2-40B4-BE49-F238E27FC236}">
                <a16:creationId xmlns:a16="http://schemas.microsoft.com/office/drawing/2014/main" id="{72582819-1CBA-755A-E4BC-C872DD805C8F}"/>
              </a:ext>
            </a:extLst>
          </p:cNvPr>
          <p:cNvSpPr>
            <a:spLocks noChangeShapeType="1"/>
          </p:cNvSpPr>
          <p:nvPr/>
        </p:nvSpPr>
        <p:spPr bwMode="auto">
          <a:xfrm flipH="1">
            <a:off x="3962400" y="5257800"/>
            <a:ext cx="3352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78" name="Line 2085">
            <a:extLst>
              <a:ext uri="{FF2B5EF4-FFF2-40B4-BE49-F238E27FC236}">
                <a16:creationId xmlns:a16="http://schemas.microsoft.com/office/drawing/2014/main" id="{D31DFED1-C79C-A9CC-C877-ECF5CC1258B4}"/>
              </a:ext>
            </a:extLst>
          </p:cNvPr>
          <p:cNvSpPr>
            <a:spLocks noChangeShapeType="1"/>
          </p:cNvSpPr>
          <p:nvPr/>
        </p:nvSpPr>
        <p:spPr bwMode="auto">
          <a:xfrm flipV="1">
            <a:off x="3962400" y="4343400"/>
            <a:ext cx="0" cy="9144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79" name="Line 2086">
            <a:extLst>
              <a:ext uri="{FF2B5EF4-FFF2-40B4-BE49-F238E27FC236}">
                <a16:creationId xmlns:a16="http://schemas.microsoft.com/office/drawing/2014/main" id="{8F65D358-35B8-5927-9D63-595A92EA59F7}"/>
              </a:ext>
            </a:extLst>
          </p:cNvPr>
          <p:cNvSpPr>
            <a:spLocks noChangeShapeType="1"/>
          </p:cNvSpPr>
          <p:nvPr/>
        </p:nvSpPr>
        <p:spPr bwMode="auto">
          <a:xfrm>
            <a:off x="7315200" y="5257800"/>
            <a:ext cx="0" cy="838200"/>
          </a:xfrm>
          <a:prstGeom prst="line">
            <a:avLst/>
          </a:prstGeom>
          <a:noFill/>
          <a:ln w="381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80" name="Line 2087">
            <a:extLst>
              <a:ext uri="{FF2B5EF4-FFF2-40B4-BE49-F238E27FC236}">
                <a16:creationId xmlns:a16="http://schemas.microsoft.com/office/drawing/2014/main" id="{45D16E6B-E4C6-7774-71A0-4FD0B40D5F47}"/>
              </a:ext>
            </a:extLst>
          </p:cNvPr>
          <p:cNvSpPr>
            <a:spLocks noChangeShapeType="1"/>
          </p:cNvSpPr>
          <p:nvPr/>
        </p:nvSpPr>
        <p:spPr bwMode="auto">
          <a:xfrm flipH="1">
            <a:off x="2286000" y="6096000"/>
            <a:ext cx="5029200" cy="0"/>
          </a:xfrm>
          <a:prstGeom prst="line">
            <a:avLst/>
          </a:prstGeom>
          <a:noFill/>
          <a:ln w="381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81" name="Line 2088">
            <a:extLst>
              <a:ext uri="{FF2B5EF4-FFF2-40B4-BE49-F238E27FC236}">
                <a16:creationId xmlns:a16="http://schemas.microsoft.com/office/drawing/2014/main" id="{6E067EAE-5F03-41A9-1863-632FDBCD4C79}"/>
              </a:ext>
            </a:extLst>
          </p:cNvPr>
          <p:cNvSpPr>
            <a:spLocks noChangeShapeType="1"/>
          </p:cNvSpPr>
          <p:nvPr/>
        </p:nvSpPr>
        <p:spPr bwMode="auto">
          <a:xfrm flipH="1" flipV="1">
            <a:off x="1905000" y="5410200"/>
            <a:ext cx="381000" cy="685800"/>
          </a:xfrm>
          <a:prstGeom prst="line">
            <a:avLst/>
          </a:prstGeom>
          <a:noFill/>
          <a:ln w="381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0282" name="Line 2089">
            <a:extLst>
              <a:ext uri="{FF2B5EF4-FFF2-40B4-BE49-F238E27FC236}">
                <a16:creationId xmlns:a16="http://schemas.microsoft.com/office/drawing/2014/main" id="{74151910-3EA8-1FD4-3151-60E1A3561E04}"/>
              </a:ext>
            </a:extLst>
          </p:cNvPr>
          <p:cNvSpPr>
            <a:spLocks noChangeShapeType="1"/>
          </p:cNvSpPr>
          <p:nvPr/>
        </p:nvSpPr>
        <p:spPr bwMode="auto">
          <a:xfrm>
            <a:off x="2057400" y="5410200"/>
            <a:ext cx="160020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0283" name="Line 2090">
            <a:extLst>
              <a:ext uri="{FF2B5EF4-FFF2-40B4-BE49-F238E27FC236}">
                <a16:creationId xmlns:a16="http://schemas.microsoft.com/office/drawing/2014/main" id="{88722C92-8D82-3FB6-34A7-C97B6EDECA6A}"/>
              </a:ext>
            </a:extLst>
          </p:cNvPr>
          <p:cNvSpPr>
            <a:spLocks noChangeShapeType="1"/>
          </p:cNvSpPr>
          <p:nvPr/>
        </p:nvSpPr>
        <p:spPr bwMode="auto">
          <a:xfrm flipV="1">
            <a:off x="3657600" y="4191000"/>
            <a:ext cx="0" cy="1219200"/>
          </a:xfrm>
          <a:prstGeom prst="line">
            <a:avLst/>
          </a:prstGeom>
          <a:noFill/>
          <a:ln w="28575">
            <a:solidFill>
              <a:schemeClr val="tx1"/>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2FFB854E-821D-92E5-8826-6CB605683E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0E2DE771-0201-48FB-847F-2A674978DE19}" type="slidenum">
              <a:rPr lang="en-US" altLang="en-US" sz="1400">
                <a:latin typeface="Times New Roman" panose="02020603050405020304" pitchFamily="18" charset="0"/>
                <a:cs typeface="Times New Roman" panose="02020603050405020304" pitchFamily="18" charset="0"/>
              </a:rPr>
              <a:pPr eaLnBrk="1" hangingPunct="1"/>
              <a:t>24</a:t>
            </a:fld>
            <a:endParaRPr lang="en-US" altLang="en-US" sz="1400">
              <a:latin typeface="Times New Roman" panose="02020603050405020304" pitchFamily="18" charset="0"/>
              <a:cs typeface="Times New Roman" panose="02020603050405020304" pitchFamily="18" charset="0"/>
            </a:endParaRPr>
          </a:p>
        </p:txBody>
      </p:sp>
      <p:sp>
        <p:nvSpPr>
          <p:cNvPr id="14339" name="Rectangle 2">
            <a:extLst>
              <a:ext uri="{FF2B5EF4-FFF2-40B4-BE49-F238E27FC236}">
                <a16:creationId xmlns:a16="http://schemas.microsoft.com/office/drawing/2014/main" id="{2E8944F5-4E20-D741-0863-30254D59D1BD}"/>
              </a:ext>
            </a:extLst>
          </p:cNvPr>
          <p:cNvSpPr>
            <a:spLocks noGrp="1" noChangeArrowheads="1"/>
          </p:cNvSpPr>
          <p:nvPr>
            <p:ph type="title"/>
          </p:nvPr>
        </p:nvSpPr>
        <p:spPr>
          <a:xfrm>
            <a:off x="0" y="228600"/>
            <a:ext cx="9144000" cy="914400"/>
          </a:xfrm>
          <a:noFill/>
        </p:spPr>
        <p:txBody>
          <a:bodyPr lIns="92075" tIns="46038" rIns="92075" bIns="46038" anchor="ctr">
            <a:noAutofit/>
          </a:bodyPr>
          <a:lstStyle/>
          <a:p>
            <a:pPr eaLnBrk="1" hangingPunct="1"/>
            <a:r>
              <a:rPr lang="en-US" altLang="en-US" sz="2800" dirty="0">
                <a:solidFill>
                  <a:srgbClr val="002060"/>
                </a:solidFill>
                <a:latin typeface="Times New Roman" panose="02020603050405020304" pitchFamily="18" charset="0"/>
                <a:cs typeface="Times New Roman" panose="02020603050405020304" pitchFamily="18" charset="0"/>
              </a:rPr>
              <a:t>KDD Process: A Typical View from ML and Statistics</a:t>
            </a:r>
            <a:endParaRPr lang="en-US" altLang="en-US" sz="2800" b="0" dirty="0">
              <a:solidFill>
                <a:srgbClr val="002060"/>
              </a:solidFill>
              <a:latin typeface="Times New Roman" panose="02020603050405020304" pitchFamily="18" charset="0"/>
              <a:cs typeface="Times New Roman" panose="02020603050405020304" pitchFamily="18" charset="0"/>
            </a:endParaRPr>
          </a:p>
        </p:txBody>
      </p:sp>
      <p:sp>
        <p:nvSpPr>
          <p:cNvPr id="14340" name="Line 4">
            <a:extLst>
              <a:ext uri="{FF2B5EF4-FFF2-40B4-BE49-F238E27FC236}">
                <a16:creationId xmlns:a16="http://schemas.microsoft.com/office/drawing/2014/main" id="{9DD2EF09-76B6-8B9F-5CC3-0DDDC16ADE6D}"/>
              </a:ext>
            </a:extLst>
          </p:cNvPr>
          <p:cNvSpPr>
            <a:spLocks noChangeShapeType="1"/>
          </p:cNvSpPr>
          <p:nvPr/>
        </p:nvSpPr>
        <p:spPr bwMode="auto">
          <a:xfrm flipV="1">
            <a:off x="1533525" y="2362200"/>
            <a:ext cx="381000" cy="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4341" name="Line 5">
            <a:extLst>
              <a:ext uri="{FF2B5EF4-FFF2-40B4-BE49-F238E27FC236}">
                <a16:creationId xmlns:a16="http://schemas.microsoft.com/office/drawing/2014/main" id="{0145AA2D-D95F-6A23-6C50-8298BBCF48B0}"/>
              </a:ext>
            </a:extLst>
          </p:cNvPr>
          <p:cNvSpPr>
            <a:spLocks noChangeShapeType="1"/>
          </p:cNvSpPr>
          <p:nvPr/>
        </p:nvSpPr>
        <p:spPr bwMode="auto">
          <a:xfrm flipV="1">
            <a:off x="6562725" y="2362200"/>
            <a:ext cx="457200" cy="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4342" name="Text Box 17">
            <a:extLst>
              <a:ext uri="{FF2B5EF4-FFF2-40B4-BE49-F238E27FC236}">
                <a16:creationId xmlns:a16="http://schemas.microsoft.com/office/drawing/2014/main" id="{8C3DA42B-D052-E283-B239-52893ECD23D3}"/>
              </a:ext>
            </a:extLst>
          </p:cNvPr>
          <p:cNvSpPr txBox="1">
            <a:spLocks noChangeArrowheads="1"/>
          </p:cNvSpPr>
          <p:nvPr/>
        </p:nvSpPr>
        <p:spPr bwMode="auto">
          <a:xfrm>
            <a:off x="85725" y="2151063"/>
            <a:ext cx="1268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cs typeface="Times New Roman" panose="02020603050405020304" pitchFamily="18" charset="0"/>
              </a:rPr>
              <a:t>Input Data</a:t>
            </a:r>
            <a:endParaRPr lang="en-US" altLang="en-US" sz="1600">
              <a:latin typeface="Times New Roman" panose="02020603050405020304" pitchFamily="18" charset="0"/>
              <a:cs typeface="Times New Roman" panose="02020603050405020304" pitchFamily="18" charset="0"/>
            </a:endParaRPr>
          </a:p>
        </p:txBody>
      </p:sp>
      <p:sp>
        <p:nvSpPr>
          <p:cNvPr id="14343" name="Rectangle 21">
            <a:extLst>
              <a:ext uri="{FF2B5EF4-FFF2-40B4-BE49-F238E27FC236}">
                <a16:creationId xmlns:a16="http://schemas.microsoft.com/office/drawing/2014/main" id="{CD228D28-B1B4-84EB-C8E6-B578B61B47DA}"/>
              </a:ext>
            </a:extLst>
          </p:cNvPr>
          <p:cNvSpPr>
            <a:spLocks noChangeArrowheads="1"/>
          </p:cNvSpPr>
          <p:nvPr/>
        </p:nvSpPr>
        <p:spPr bwMode="auto">
          <a:xfrm>
            <a:off x="1990725" y="1981200"/>
            <a:ext cx="914400" cy="10668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contourClr>
              <a:srgbClr val="00CC66"/>
            </a:contourClr>
          </a:sp3d>
        </p:spPr>
        <p:txBody>
          <a:bodyPr wrap="none" anchor="ctr">
            <a:flatTx/>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44" name="Rectangle 22">
            <a:extLst>
              <a:ext uri="{FF2B5EF4-FFF2-40B4-BE49-F238E27FC236}">
                <a16:creationId xmlns:a16="http://schemas.microsoft.com/office/drawing/2014/main" id="{075B2740-5ACF-F5E9-EB10-E3D831ED8E56}"/>
              </a:ext>
            </a:extLst>
          </p:cNvPr>
          <p:cNvSpPr>
            <a:spLocks noChangeArrowheads="1"/>
          </p:cNvSpPr>
          <p:nvPr/>
        </p:nvSpPr>
        <p:spPr bwMode="auto">
          <a:xfrm>
            <a:off x="3667125" y="1981200"/>
            <a:ext cx="914400" cy="10668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contourClr>
              <a:srgbClr val="00CC66"/>
            </a:contourClr>
          </a:sp3d>
        </p:spPr>
        <p:txBody>
          <a:bodyPr wrap="none" anchor="ctr">
            <a:flatTx/>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45" name="WordArt 29">
            <a:extLst>
              <a:ext uri="{FF2B5EF4-FFF2-40B4-BE49-F238E27FC236}">
                <a16:creationId xmlns:a16="http://schemas.microsoft.com/office/drawing/2014/main" id="{1A7A5C1E-8AC1-156B-69AB-CFFE91174B17}"/>
              </a:ext>
            </a:extLst>
          </p:cNvPr>
          <p:cNvSpPr>
            <a:spLocks noChangeArrowheads="1" noChangeShapeType="1" noTextEdit="1"/>
          </p:cNvSpPr>
          <p:nvPr/>
        </p:nvSpPr>
        <p:spPr bwMode="auto">
          <a:xfrm rot="823813">
            <a:off x="7096125" y="1676400"/>
            <a:ext cx="1743075" cy="1295400"/>
          </a:xfrm>
          <a:prstGeom prst="rect">
            <a:avLst/>
          </a:prstGeom>
        </p:spPr>
        <p:txBody>
          <a:bodyPr wrap="none" fromWordArt="1">
            <a:prstTxWarp prst="textCascadeUp">
              <a:avLst>
                <a:gd name="adj" fmla="val 44444"/>
              </a:avLst>
            </a:prstTxWarp>
            <a:scene3d>
              <a:camera prst="legacyPerspectiveFront">
                <a:rot lat="20519990" lon="1080000" rev="0"/>
              </a:camera>
              <a:lightRig rig="legacyHarsh2" dir="b"/>
            </a:scene3d>
            <a:sp3d extrusionH="430200" prstMaterial="legacyMatte">
              <a:extrusionClr>
                <a:srgbClr val="FF6600"/>
              </a:extrusionClr>
              <a:contourClr>
                <a:srgbClr val="FFE701"/>
              </a:contourClr>
            </a:sp3d>
          </a:bodyPr>
          <a:lstStyle/>
          <a:p>
            <a:pPr algn="ctr"/>
            <a:r>
              <a:rPr lang="en-IN" kern="10">
                <a:ln w="9525">
                  <a:round/>
                  <a:headEnd/>
                  <a:tailEnd/>
                </a:ln>
                <a:gradFill rotWithShape="1">
                  <a:gsLst>
                    <a:gs pos="0">
                      <a:srgbClr val="FFE701"/>
                    </a:gs>
                    <a:gs pos="100000">
                      <a:srgbClr val="FE3E02"/>
                    </a:gs>
                  </a:gsLst>
                  <a:lin ang="4560000" scaled="1"/>
                </a:gradFill>
                <a:latin typeface="Impact" panose="020B0806030902050204" pitchFamily="34" charset="0"/>
              </a:rPr>
              <a:t>Pattern</a:t>
            </a:r>
          </a:p>
          <a:p>
            <a:pPr algn="ctr"/>
            <a:r>
              <a:rPr lang="en-IN" kern="10">
                <a:ln w="9525">
                  <a:round/>
                  <a:headEnd/>
                  <a:tailEnd/>
                </a:ln>
                <a:gradFill rotWithShape="1">
                  <a:gsLst>
                    <a:gs pos="0">
                      <a:srgbClr val="FFE701"/>
                    </a:gs>
                    <a:gs pos="100000">
                      <a:srgbClr val="FE3E02"/>
                    </a:gs>
                  </a:gsLst>
                  <a:lin ang="4560000" scaled="1"/>
                </a:gradFill>
                <a:latin typeface="Impact" panose="020B0806030902050204" pitchFamily="34" charset="0"/>
              </a:rPr>
              <a:t>Information</a:t>
            </a:r>
          </a:p>
          <a:p>
            <a:pPr algn="ctr"/>
            <a:r>
              <a:rPr lang="en-IN" kern="10">
                <a:ln w="9525">
                  <a:round/>
                  <a:headEnd/>
                  <a:tailEnd/>
                </a:ln>
                <a:gradFill rotWithShape="1">
                  <a:gsLst>
                    <a:gs pos="0">
                      <a:srgbClr val="FFE701"/>
                    </a:gs>
                    <a:gs pos="100000">
                      <a:srgbClr val="FE3E02"/>
                    </a:gs>
                  </a:gsLst>
                  <a:lin ang="4560000" scaled="1"/>
                </a:gradFill>
                <a:latin typeface="Impact" panose="020B0806030902050204" pitchFamily="34" charset="0"/>
              </a:rPr>
              <a:t>Knowledge</a:t>
            </a:r>
          </a:p>
        </p:txBody>
      </p:sp>
      <p:sp>
        <p:nvSpPr>
          <p:cNvPr id="14346" name="Text Box 32">
            <a:extLst>
              <a:ext uri="{FF2B5EF4-FFF2-40B4-BE49-F238E27FC236}">
                <a16:creationId xmlns:a16="http://schemas.microsoft.com/office/drawing/2014/main" id="{C18DA6CA-7D86-F7FF-0173-E2E8239BBECD}"/>
              </a:ext>
            </a:extLst>
          </p:cNvPr>
          <p:cNvSpPr txBox="1">
            <a:spLocks noChangeArrowheads="1"/>
          </p:cNvSpPr>
          <p:nvPr/>
        </p:nvSpPr>
        <p:spPr bwMode="auto">
          <a:xfrm>
            <a:off x="3514725" y="2057400"/>
            <a:ext cx="1295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ctr" eaLnBrk="1" hangingPunct="1"/>
            <a:r>
              <a:rPr lang="en-US" altLang="en-US" sz="2000" b="1">
                <a:solidFill>
                  <a:schemeClr val="hlink"/>
                </a:solidFill>
                <a:latin typeface="Times New Roman" panose="02020603050405020304" pitchFamily="18" charset="0"/>
                <a:cs typeface="Times New Roman" panose="02020603050405020304" pitchFamily="18" charset="0"/>
              </a:rPr>
              <a:t>Data Mining</a:t>
            </a:r>
          </a:p>
        </p:txBody>
      </p:sp>
      <p:sp>
        <p:nvSpPr>
          <p:cNvPr id="14347" name="Text Box 44">
            <a:extLst>
              <a:ext uri="{FF2B5EF4-FFF2-40B4-BE49-F238E27FC236}">
                <a16:creationId xmlns:a16="http://schemas.microsoft.com/office/drawing/2014/main" id="{4EE9EB40-E62C-0E98-DF27-32018F2BFF44}"/>
              </a:ext>
            </a:extLst>
          </p:cNvPr>
          <p:cNvSpPr txBox="1">
            <a:spLocks noChangeArrowheads="1"/>
          </p:cNvSpPr>
          <p:nvPr/>
        </p:nvSpPr>
        <p:spPr bwMode="auto">
          <a:xfrm>
            <a:off x="1762125" y="2149475"/>
            <a:ext cx="1447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ctr" eaLnBrk="1" hangingPunct="1">
              <a:spcBef>
                <a:spcPct val="50000"/>
              </a:spcBef>
            </a:pPr>
            <a:r>
              <a:rPr lang="en-US" altLang="en-US" sz="1400" b="1">
                <a:latin typeface="Times New Roman" panose="02020603050405020304" pitchFamily="18" charset="0"/>
                <a:cs typeface="Times New Roman" panose="02020603050405020304" pitchFamily="18" charset="0"/>
              </a:rPr>
              <a:t>Data Pre-Processing</a:t>
            </a:r>
          </a:p>
        </p:txBody>
      </p:sp>
      <p:sp>
        <p:nvSpPr>
          <p:cNvPr id="14348" name="Line 45">
            <a:extLst>
              <a:ext uri="{FF2B5EF4-FFF2-40B4-BE49-F238E27FC236}">
                <a16:creationId xmlns:a16="http://schemas.microsoft.com/office/drawing/2014/main" id="{38852CFD-356F-2262-3944-67444014B017}"/>
              </a:ext>
            </a:extLst>
          </p:cNvPr>
          <p:cNvSpPr>
            <a:spLocks noChangeShapeType="1"/>
          </p:cNvSpPr>
          <p:nvPr/>
        </p:nvSpPr>
        <p:spPr bwMode="auto">
          <a:xfrm flipV="1">
            <a:off x="3133725" y="2362200"/>
            <a:ext cx="381000" cy="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4349" name="Line 46">
            <a:extLst>
              <a:ext uri="{FF2B5EF4-FFF2-40B4-BE49-F238E27FC236}">
                <a16:creationId xmlns:a16="http://schemas.microsoft.com/office/drawing/2014/main" id="{F23AEBEE-13EC-FA34-69D3-F2FEC054BC0E}"/>
              </a:ext>
            </a:extLst>
          </p:cNvPr>
          <p:cNvSpPr>
            <a:spLocks noChangeShapeType="1"/>
          </p:cNvSpPr>
          <p:nvPr/>
        </p:nvSpPr>
        <p:spPr bwMode="auto">
          <a:xfrm flipV="1">
            <a:off x="4886325" y="2362200"/>
            <a:ext cx="381000" cy="0"/>
          </a:xfrm>
          <a:prstGeom prst="line">
            <a:avLst/>
          </a:prstGeom>
          <a:noFill/>
          <a:ln w="3810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4350" name="Rectangle 47">
            <a:extLst>
              <a:ext uri="{FF2B5EF4-FFF2-40B4-BE49-F238E27FC236}">
                <a16:creationId xmlns:a16="http://schemas.microsoft.com/office/drawing/2014/main" id="{B12A6F8F-233F-CDDA-3ACC-798BB3A2348A}"/>
              </a:ext>
            </a:extLst>
          </p:cNvPr>
          <p:cNvSpPr>
            <a:spLocks noChangeArrowheads="1"/>
          </p:cNvSpPr>
          <p:nvPr/>
        </p:nvSpPr>
        <p:spPr bwMode="auto">
          <a:xfrm>
            <a:off x="5419725" y="1981200"/>
            <a:ext cx="990600" cy="10668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contourClr>
              <a:srgbClr val="00CC66"/>
            </a:contourClr>
          </a:sp3d>
        </p:spPr>
        <p:txBody>
          <a:bodyPr wrap="none" anchor="ctr">
            <a:flatTx/>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51" name="Text Box 48">
            <a:extLst>
              <a:ext uri="{FF2B5EF4-FFF2-40B4-BE49-F238E27FC236}">
                <a16:creationId xmlns:a16="http://schemas.microsoft.com/office/drawing/2014/main" id="{7772FD92-A75C-31C8-4C38-56D7B881C644}"/>
              </a:ext>
            </a:extLst>
          </p:cNvPr>
          <p:cNvSpPr txBox="1">
            <a:spLocks noChangeArrowheads="1"/>
          </p:cNvSpPr>
          <p:nvPr/>
        </p:nvSpPr>
        <p:spPr bwMode="auto">
          <a:xfrm>
            <a:off x="5343525" y="2085975"/>
            <a:ext cx="1295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ctr" eaLnBrk="1" hangingPunct="1"/>
            <a:r>
              <a:rPr lang="en-US" altLang="en-US" sz="1600" b="1">
                <a:latin typeface="Times New Roman" panose="02020603050405020304" pitchFamily="18" charset="0"/>
                <a:cs typeface="Times New Roman" panose="02020603050405020304" pitchFamily="18" charset="0"/>
              </a:rPr>
              <a:t>Post-Processing</a:t>
            </a:r>
          </a:p>
        </p:txBody>
      </p:sp>
      <p:sp>
        <p:nvSpPr>
          <p:cNvPr id="14352" name="Rectangle 49">
            <a:extLst>
              <a:ext uri="{FF2B5EF4-FFF2-40B4-BE49-F238E27FC236}">
                <a16:creationId xmlns:a16="http://schemas.microsoft.com/office/drawing/2014/main" id="{387E615D-6070-5325-0B4C-DABDB7A5EB9A}"/>
              </a:ext>
            </a:extLst>
          </p:cNvPr>
          <p:cNvSpPr>
            <a:spLocks noGrp="1" noChangeArrowheads="1"/>
          </p:cNvSpPr>
          <p:nvPr>
            <p:ph type="body" idx="1"/>
          </p:nvPr>
        </p:nvSpPr>
        <p:spPr>
          <a:xfrm>
            <a:off x="664462" y="5549667"/>
            <a:ext cx="8153400" cy="457200"/>
          </a:xfrm>
          <a:noFill/>
        </p:spPr>
        <p:txBody>
          <a:bodyPr lIns="92075" tIns="46038" rIns="92075" bIns="46038">
            <a:normAutofit/>
          </a:bodyPr>
          <a:lstStyle/>
          <a:p>
            <a:pPr eaLnBrk="1" hangingPunct="1">
              <a:lnSpc>
                <a:spcPct val="130000"/>
              </a:lnSpc>
            </a:pPr>
            <a:r>
              <a:rPr lang="en-US" altLang="en-US" sz="1800" dirty="0">
                <a:latin typeface="Times New Roman" panose="02020603050405020304" pitchFamily="18" charset="0"/>
                <a:cs typeface="Times New Roman" panose="02020603050405020304" pitchFamily="18" charset="0"/>
              </a:rPr>
              <a:t>This is a view from typical machine learning and statistics communities</a:t>
            </a:r>
          </a:p>
        </p:txBody>
      </p:sp>
      <p:grpSp>
        <p:nvGrpSpPr>
          <p:cNvPr id="14353" name="Group 52">
            <a:extLst>
              <a:ext uri="{FF2B5EF4-FFF2-40B4-BE49-F238E27FC236}">
                <a16:creationId xmlns:a16="http://schemas.microsoft.com/office/drawing/2014/main" id="{03982F97-DF40-BDE1-3D74-E3B778AE25EB}"/>
              </a:ext>
            </a:extLst>
          </p:cNvPr>
          <p:cNvGrpSpPr>
            <a:grpSpLocks/>
          </p:cNvGrpSpPr>
          <p:nvPr/>
        </p:nvGrpSpPr>
        <p:grpSpPr bwMode="auto">
          <a:xfrm>
            <a:off x="542925" y="3886202"/>
            <a:ext cx="2362200" cy="1163638"/>
            <a:chOff x="288" y="2880"/>
            <a:chExt cx="1488" cy="733"/>
          </a:xfrm>
        </p:grpSpPr>
        <p:sp>
          <p:nvSpPr>
            <p:cNvPr id="14362" name="Rectangle 50">
              <a:extLst>
                <a:ext uri="{FF2B5EF4-FFF2-40B4-BE49-F238E27FC236}">
                  <a16:creationId xmlns:a16="http://schemas.microsoft.com/office/drawing/2014/main" id="{2E139312-E5DC-A1E9-4339-7386680C91CF}"/>
                </a:ext>
              </a:extLst>
            </p:cNvPr>
            <p:cNvSpPr>
              <a:spLocks noChangeArrowheads="1"/>
            </p:cNvSpPr>
            <p:nvPr/>
          </p:nvSpPr>
          <p:spPr bwMode="auto">
            <a:xfrm>
              <a:off x="288" y="2880"/>
              <a:ext cx="1344" cy="7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63" name="Text Box 51">
              <a:extLst>
                <a:ext uri="{FF2B5EF4-FFF2-40B4-BE49-F238E27FC236}">
                  <a16:creationId xmlns:a16="http://schemas.microsoft.com/office/drawing/2014/main" id="{48376990-BCFE-8948-8482-CD7E419779A4}"/>
                </a:ext>
              </a:extLst>
            </p:cNvPr>
            <p:cNvSpPr txBox="1">
              <a:spLocks noChangeArrowheads="1"/>
            </p:cNvSpPr>
            <p:nvPr/>
          </p:nvSpPr>
          <p:spPr bwMode="auto">
            <a:xfrm>
              <a:off x="288" y="2943"/>
              <a:ext cx="1488"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Data integration</a:t>
              </a:r>
            </a:p>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Normalization</a:t>
              </a:r>
            </a:p>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Feature selection</a:t>
              </a:r>
            </a:p>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Dimension reduction</a:t>
              </a:r>
            </a:p>
          </p:txBody>
        </p:sp>
      </p:grpSp>
      <p:sp>
        <p:nvSpPr>
          <p:cNvPr id="14354" name="Rectangle 54">
            <a:extLst>
              <a:ext uri="{FF2B5EF4-FFF2-40B4-BE49-F238E27FC236}">
                <a16:creationId xmlns:a16="http://schemas.microsoft.com/office/drawing/2014/main" id="{42448D22-C2DE-18FA-CF81-B0FF337151A1}"/>
              </a:ext>
            </a:extLst>
          </p:cNvPr>
          <p:cNvSpPr>
            <a:spLocks noChangeArrowheads="1"/>
          </p:cNvSpPr>
          <p:nvPr/>
        </p:nvSpPr>
        <p:spPr bwMode="auto">
          <a:xfrm>
            <a:off x="3057525" y="3886200"/>
            <a:ext cx="2362200" cy="152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55" name="Text Box 55">
            <a:extLst>
              <a:ext uri="{FF2B5EF4-FFF2-40B4-BE49-F238E27FC236}">
                <a16:creationId xmlns:a16="http://schemas.microsoft.com/office/drawing/2014/main" id="{7465AC72-CA9D-A769-3053-86DDAA4B56D1}"/>
              </a:ext>
            </a:extLst>
          </p:cNvPr>
          <p:cNvSpPr txBox="1">
            <a:spLocks noChangeArrowheads="1"/>
          </p:cNvSpPr>
          <p:nvPr/>
        </p:nvSpPr>
        <p:spPr bwMode="auto">
          <a:xfrm>
            <a:off x="3057525" y="3962400"/>
            <a:ext cx="2438400" cy="146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lnSpc>
                <a:spcPct val="50000"/>
              </a:lnSpc>
              <a:spcBef>
                <a:spcPct val="50000"/>
              </a:spcBef>
            </a:pPr>
            <a:r>
              <a:rPr lang="en-US" altLang="en-US" sz="1600" dirty="0">
                <a:latin typeface="Times New Roman" panose="02020603050405020304" pitchFamily="18" charset="0"/>
                <a:cs typeface="Times New Roman" panose="02020603050405020304" pitchFamily="18" charset="0"/>
              </a:rPr>
              <a:t>Pattern discovery</a:t>
            </a:r>
          </a:p>
          <a:p>
            <a:pPr eaLnBrk="1" hangingPunct="1">
              <a:lnSpc>
                <a:spcPct val="50000"/>
              </a:lnSpc>
              <a:spcBef>
                <a:spcPct val="50000"/>
              </a:spcBef>
            </a:pPr>
            <a:r>
              <a:rPr lang="en-US" altLang="en-US" sz="1600" dirty="0">
                <a:latin typeface="Times New Roman" panose="02020603050405020304" pitchFamily="18" charset="0"/>
                <a:cs typeface="Times New Roman" panose="02020603050405020304" pitchFamily="18" charset="0"/>
              </a:rPr>
              <a:t>Association &amp; correlation</a:t>
            </a:r>
          </a:p>
          <a:p>
            <a:pPr eaLnBrk="1" hangingPunct="1">
              <a:lnSpc>
                <a:spcPct val="50000"/>
              </a:lnSpc>
              <a:spcBef>
                <a:spcPct val="50000"/>
              </a:spcBef>
            </a:pPr>
            <a:r>
              <a:rPr lang="en-US" altLang="en-US" sz="1600" dirty="0">
                <a:latin typeface="Times New Roman" panose="02020603050405020304" pitchFamily="18" charset="0"/>
                <a:cs typeface="Times New Roman" panose="02020603050405020304" pitchFamily="18" charset="0"/>
              </a:rPr>
              <a:t>Classification</a:t>
            </a:r>
          </a:p>
          <a:p>
            <a:pPr eaLnBrk="1" hangingPunct="1">
              <a:lnSpc>
                <a:spcPct val="50000"/>
              </a:lnSpc>
              <a:spcBef>
                <a:spcPct val="50000"/>
              </a:spcBef>
            </a:pPr>
            <a:r>
              <a:rPr lang="en-US" altLang="en-US" sz="1600" dirty="0">
                <a:latin typeface="Times New Roman" panose="02020603050405020304" pitchFamily="18" charset="0"/>
                <a:cs typeface="Times New Roman" panose="02020603050405020304" pitchFamily="18" charset="0"/>
              </a:rPr>
              <a:t>Clustering</a:t>
            </a:r>
          </a:p>
          <a:p>
            <a:pPr eaLnBrk="1" hangingPunct="1">
              <a:lnSpc>
                <a:spcPct val="50000"/>
              </a:lnSpc>
              <a:spcBef>
                <a:spcPct val="50000"/>
              </a:spcBef>
            </a:pPr>
            <a:r>
              <a:rPr lang="en-US" altLang="en-US" sz="1600" dirty="0">
                <a:latin typeface="Times New Roman" panose="02020603050405020304" pitchFamily="18" charset="0"/>
                <a:cs typeface="Times New Roman" panose="02020603050405020304" pitchFamily="18" charset="0"/>
              </a:rPr>
              <a:t>Outlier analysis</a:t>
            </a:r>
          </a:p>
          <a:p>
            <a:pPr eaLnBrk="1" hangingPunct="1">
              <a:lnSpc>
                <a:spcPct val="50000"/>
              </a:lnSpc>
              <a:spcBef>
                <a:spcPct val="50000"/>
              </a:spcBef>
            </a:pPr>
            <a:r>
              <a:rPr lang="en-US" altLang="en-US" sz="1600" dirty="0">
                <a:latin typeface="Times New Roman" panose="02020603050405020304" pitchFamily="18" charset="0"/>
                <a:cs typeface="Times New Roman" panose="02020603050405020304" pitchFamily="18" charset="0"/>
              </a:rPr>
              <a:t>… … … …</a:t>
            </a:r>
          </a:p>
        </p:txBody>
      </p:sp>
      <p:grpSp>
        <p:nvGrpSpPr>
          <p:cNvPr id="14356" name="Group 56">
            <a:extLst>
              <a:ext uri="{FF2B5EF4-FFF2-40B4-BE49-F238E27FC236}">
                <a16:creationId xmlns:a16="http://schemas.microsoft.com/office/drawing/2014/main" id="{A518183F-9564-9171-C820-00A82D1420C3}"/>
              </a:ext>
            </a:extLst>
          </p:cNvPr>
          <p:cNvGrpSpPr>
            <a:grpSpLocks/>
          </p:cNvGrpSpPr>
          <p:nvPr/>
        </p:nvGrpSpPr>
        <p:grpSpPr bwMode="auto">
          <a:xfrm>
            <a:off x="5876925" y="3886202"/>
            <a:ext cx="2362200" cy="1163638"/>
            <a:chOff x="288" y="2880"/>
            <a:chExt cx="1488" cy="733"/>
          </a:xfrm>
        </p:grpSpPr>
        <p:sp>
          <p:nvSpPr>
            <p:cNvPr id="14360" name="Rectangle 57">
              <a:extLst>
                <a:ext uri="{FF2B5EF4-FFF2-40B4-BE49-F238E27FC236}">
                  <a16:creationId xmlns:a16="http://schemas.microsoft.com/office/drawing/2014/main" id="{5DC63095-E014-C514-1FCD-B6085E864F1A}"/>
                </a:ext>
              </a:extLst>
            </p:cNvPr>
            <p:cNvSpPr>
              <a:spLocks noChangeArrowheads="1"/>
            </p:cNvSpPr>
            <p:nvPr/>
          </p:nvSpPr>
          <p:spPr bwMode="auto">
            <a:xfrm>
              <a:off x="288" y="2880"/>
              <a:ext cx="1344" cy="7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61" name="Text Box 58">
              <a:extLst>
                <a:ext uri="{FF2B5EF4-FFF2-40B4-BE49-F238E27FC236}">
                  <a16:creationId xmlns:a16="http://schemas.microsoft.com/office/drawing/2014/main" id="{5D83777F-DB76-F5F2-D91A-CE18B7F28919}"/>
                </a:ext>
              </a:extLst>
            </p:cNvPr>
            <p:cNvSpPr txBox="1">
              <a:spLocks noChangeArrowheads="1"/>
            </p:cNvSpPr>
            <p:nvPr/>
          </p:nvSpPr>
          <p:spPr bwMode="auto">
            <a:xfrm>
              <a:off x="288" y="2943"/>
              <a:ext cx="1488"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Pattern evaluation</a:t>
              </a:r>
            </a:p>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Pattern selection</a:t>
              </a:r>
            </a:p>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Pattern interpretation</a:t>
              </a:r>
            </a:p>
            <a:p>
              <a:pPr eaLnBrk="1" hangingPunct="1">
                <a:lnSpc>
                  <a:spcPct val="60000"/>
                </a:lnSpc>
                <a:spcBef>
                  <a:spcPct val="50000"/>
                </a:spcBef>
              </a:pPr>
              <a:r>
                <a:rPr lang="en-US" altLang="en-US" sz="1600">
                  <a:latin typeface="Times New Roman" panose="02020603050405020304" pitchFamily="18" charset="0"/>
                  <a:cs typeface="Times New Roman" panose="02020603050405020304" pitchFamily="18" charset="0"/>
                </a:rPr>
                <a:t>Pattern visualization</a:t>
              </a:r>
            </a:p>
          </p:txBody>
        </p:sp>
      </p:grpSp>
      <p:sp>
        <p:nvSpPr>
          <p:cNvPr id="14357" name="AutoShape 62">
            <a:extLst>
              <a:ext uri="{FF2B5EF4-FFF2-40B4-BE49-F238E27FC236}">
                <a16:creationId xmlns:a16="http://schemas.microsoft.com/office/drawing/2014/main" id="{5E0A54DC-3482-9847-F884-78ACD02C605C}"/>
              </a:ext>
            </a:extLst>
          </p:cNvPr>
          <p:cNvSpPr>
            <a:spLocks noChangeArrowheads="1"/>
          </p:cNvSpPr>
          <p:nvPr/>
        </p:nvSpPr>
        <p:spPr bwMode="auto">
          <a:xfrm rot="-10256010">
            <a:off x="1838325" y="2819400"/>
            <a:ext cx="304800" cy="990600"/>
          </a:xfrm>
          <a:prstGeom prst="curvedLeftArrow">
            <a:avLst>
              <a:gd name="adj1" fmla="val 65000"/>
              <a:gd name="adj2" fmla="val 130000"/>
              <a:gd name="adj3" fmla="val 33333"/>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58" name="AutoShape 63">
            <a:extLst>
              <a:ext uri="{FF2B5EF4-FFF2-40B4-BE49-F238E27FC236}">
                <a16:creationId xmlns:a16="http://schemas.microsoft.com/office/drawing/2014/main" id="{E6C3AF74-0B1F-630B-16D8-17B19FACC7F8}"/>
              </a:ext>
            </a:extLst>
          </p:cNvPr>
          <p:cNvSpPr>
            <a:spLocks noChangeArrowheads="1"/>
          </p:cNvSpPr>
          <p:nvPr/>
        </p:nvSpPr>
        <p:spPr bwMode="auto">
          <a:xfrm rot="-10256010">
            <a:off x="3667125" y="2819400"/>
            <a:ext cx="304800" cy="990600"/>
          </a:xfrm>
          <a:prstGeom prst="curvedLeftArrow">
            <a:avLst>
              <a:gd name="adj1" fmla="val 65000"/>
              <a:gd name="adj2" fmla="val 130000"/>
              <a:gd name="adj3" fmla="val 33333"/>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14359" name="AutoShape 64">
            <a:extLst>
              <a:ext uri="{FF2B5EF4-FFF2-40B4-BE49-F238E27FC236}">
                <a16:creationId xmlns:a16="http://schemas.microsoft.com/office/drawing/2014/main" id="{57645206-F333-1C51-B016-32B821BE553C}"/>
              </a:ext>
            </a:extLst>
          </p:cNvPr>
          <p:cNvSpPr>
            <a:spLocks noChangeArrowheads="1"/>
          </p:cNvSpPr>
          <p:nvPr/>
        </p:nvSpPr>
        <p:spPr bwMode="auto">
          <a:xfrm rot="-10256010">
            <a:off x="5800725" y="2819400"/>
            <a:ext cx="304800" cy="990600"/>
          </a:xfrm>
          <a:prstGeom prst="curvedLeftArrow">
            <a:avLst>
              <a:gd name="adj1" fmla="val 65000"/>
              <a:gd name="adj2" fmla="val 130000"/>
              <a:gd name="adj3" fmla="val 33333"/>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014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8F3619A6-0757-839C-1C2E-932B094ADD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A239309-4274-4CA0-BD4E-2324143E74B4}" type="slidenum">
              <a:rPr lang="en-US" altLang="en-US" sz="1400"/>
              <a:pPr eaLnBrk="1" hangingPunct="1"/>
              <a:t>25</a:t>
            </a:fld>
            <a:endParaRPr lang="en-US" altLang="en-US" sz="1400"/>
          </a:p>
        </p:txBody>
      </p:sp>
      <p:sp>
        <p:nvSpPr>
          <p:cNvPr id="11267" name="Rectangle 2">
            <a:extLst>
              <a:ext uri="{FF2B5EF4-FFF2-40B4-BE49-F238E27FC236}">
                <a16:creationId xmlns:a16="http://schemas.microsoft.com/office/drawing/2014/main" id="{E4D5EC84-DBC9-FB40-48AB-ACEBDC84C37E}"/>
              </a:ext>
            </a:extLst>
          </p:cNvPr>
          <p:cNvSpPr>
            <a:spLocks noGrp="1" noChangeArrowheads="1"/>
          </p:cNvSpPr>
          <p:nvPr>
            <p:ph type="title"/>
          </p:nvPr>
        </p:nvSpPr>
        <p:spPr>
          <a:xfrm>
            <a:off x="457200" y="274638"/>
            <a:ext cx="8229600" cy="715962"/>
          </a:xfrm>
        </p:spPr>
        <p:txBody>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Example: A Web Mining Framework</a:t>
            </a:r>
          </a:p>
        </p:txBody>
      </p:sp>
      <p:sp>
        <p:nvSpPr>
          <p:cNvPr id="11268" name="Rectangle 3">
            <a:extLst>
              <a:ext uri="{FF2B5EF4-FFF2-40B4-BE49-F238E27FC236}">
                <a16:creationId xmlns:a16="http://schemas.microsoft.com/office/drawing/2014/main" id="{05DCF4E7-9DE6-C3C4-F0A8-170DFCFCDD63}"/>
              </a:ext>
            </a:extLst>
          </p:cNvPr>
          <p:cNvSpPr>
            <a:spLocks noGrp="1" noChangeArrowheads="1"/>
          </p:cNvSpPr>
          <p:nvPr>
            <p:ph type="body" idx="1"/>
          </p:nvPr>
        </p:nvSpPr>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Web mining usually involves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Data cleaning</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Data integration from multiple sources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Warehousing the data</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Data cube construction</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Data selection for data mining</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Data mining</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Presentation of the mining results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Patterns and knowledge to be used or stored into knowledge-base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88CE2D69-7C0F-F7CE-D630-44AF03220D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AEE0F3EF-CF45-4347-A699-6C1BFD9CBEAA}" type="slidenum">
              <a:rPr lang="en-US" altLang="en-US" sz="1400">
                <a:solidFill>
                  <a:srgbClr val="002060"/>
                </a:solidFill>
                <a:latin typeface="Times New Roman" panose="02020603050405020304" pitchFamily="18" charset="0"/>
                <a:cs typeface="Times New Roman" panose="02020603050405020304" pitchFamily="18" charset="0"/>
              </a:rPr>
              <a:pPr eaLnBrk="1" hangingPunct="1"/>
              <a:t>26</a:t>
            </a:fld>
            <a:endParaRPr lang="en-US" altLang="en-US" sz="1400">
              <a:solidFill>
                <a:srgbClr val="002060"/>
              </a:solidFill>
              <a:latin typeface="Times New Roman" panose="02020603050405020304" pitchFamily="18" charset="0"/>
              <a:cs typeface="Times New Roman" panose="02020603050405020304" pitchFamily="18" charset="0"/>
            </a:endParaRPr>
          </a:p>
        </p:txBody>
      </p:sp>
      <p:sp>
        <p:nvSpPr>
          <p:cNvPr id="12291" name="Rectangle 2">
            <a:extLst>
              <a:ext uri="{FF2B5EF4-FFF2-40B4-BE49-F238E27FC236}">
                <a16:creationId xmlns:a16="http://schemas.microsoft.com/office/drawing/2014/main" id="{B42DC9BD-D5CF-E30D-9312-A6849816C76E}"/>
              </a:ext>
            </a:extLst>
          </p:cNvPr>
          <p:cNvSpPr>
            <a:spLocks noGrp="1" noChangeArrowheads="1"/>
          </p:cNvSpPr>
          <p:nvPr>
            <p:ph type="title"/>
          </p:nvPr>
        </p:nvSpPr>
        <p:spPr>
          <a:xfrm>
            <a:off x="228600" y="381000"/>
            <a:ext cx="8686800" cy="533400"/>
          </a:xfrm>
          <a:noFill/>
        </p:spPr>
        <p:txBody>
          <a:bodyPr lIns="92075" tIns="46038" rIns="92075" bIns="46038" anchor="ct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Mining in Business Intelligence</a:t>
            </a:r>
            <a:r>
              <a:rPr lang="en-US" altLang="en-US" sz="2800" b="0" dirty="0">
                <a:solidFill>
                  <a:srgbClr val="002060"/>
                </a:solidFill>
                <a:effectLst/>
                <a:latin typeface="Times New Roman" panose="02020603050405020304" pitchFamily="18" charset="0"/>
                <a:cs typeface="Times New Roman" panose="02020603050405020304" pitchFamily="18" charset="0"/>
              </a:rPr>
              <a:t> </a:t>
            </a:r>
          </a:p>
        </p:txBody>
      </p:sp>
      <p:sp>
        <p:nvSpPr>
          <p:cNvPr id="12292" name="AutoShape 3">
            <a:extLst>
              <a:ext uri="{FF2B5EF4-FFF2-40B4-BE49-F238E27FC236}">
                <a16:creationId xmlns:a16="http://schemas.microsoft.com/office/drawing/2014/main" id="{44491DAF-53EE-D434-FE7B-733DC242240A}"/>
              </a:ext>
            </a:extLst>
          </p:cNvPr>
          <p:cNvSpPr>
            <a:spLocks noChangeArrowheads="1"/>
          </p:cNvSpPr>
          <p:nvPr/>
        </p:nvSpPr>
        <p:spPr bwMode="auto">
          <a:xfrm>
            <a:off x="762000" y="1447800"/>
            <a:ext cx="7467600" cy="5029200"/>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ctr"/>
            <a:endParaRPr lang="en-US" altLang="en-US" sz="2400">
              <a:solidFill>
                <a:srgbClr val="002060"/>
              </a:solidFill>
              <a:latin typeface="Times New Roman" panose="02020603050405020304" pitchFamily="18" charset="0"/>
              <a:cs typeface="Times New Roman" panose="02020603050405020304" pitchFamily="18" charset="0"/>
            </a:endParaRPr>
          </a:p>
        </p:txBody>
      </p:sp>
      <p:sp>
        <p:nvSpPr>
          <p:cNvPr id="12293" name="Line 4">
            <a:extLst>
              <a:ext uri="{FF2B5EF4-FFF2-40B4-BE49-F238E27FC236}">
                <a16:creationId xmlns:a16="http://schemas.microsoft.com/office/drawing/2014/main" id="{4CE8AF27-CA8F-D897-0ADC-132A07A3169B}"/>
              </a:ext>
            </a:extLst>
          </p:cNvPr>
          <p:cNvSpPr>
            <a:spLocks noChangeShapeType="1"/>
          </p:cNvSpPr>
          <p:nvPr/>
        </p:nvSpPr>
        <p:spPr bwMode="auto">
          <a:xfrm>
            <a:off x="1219200" y="5867400"/>
            <a:ext cx="655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294" name="Line 5">
            <a:extLst>
              <a:ext uri="{FF2B5EF4-FFF2-40B4-BE49-F238E27FC236}">
                <a16:creationId xmlns:a16="http://schemas.microsoft.com/office/drawing/2014/main" id="{FE769E03-AFE2-2C4A-5ABB-68FC51E2F1D9}"/>
              </a:ext>
            </a:extLst>
          </p:cNvPr>
          <p:cNvSpPr>
            <a:spLocks noChangeShapeType="1"/>
          </p:cNvSpPr>
          <p:nvPr/>
        </p:nvSpPr>
        <p:spPr bwMode="auto">
          <a:xfrm>
            <a:off x="1676400" y="5257800"/>
            <a:ext cx="563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295" name="Line 6">
            <a:extLst>
              <a:ext uri="{FF2B5EF4-FFF2-40B4-BE49-F238E27FC236}">
                <a16:creationId xmlns:a16="http://schemas.microsoft.com/office/drawing/2014/main" id="{16887B18-9DE6-1560-4516-C6B13288C42E}"/>
              </a:ext>
            </a:extLst>
          </p:cNvPr>
          <p:cNvSpPr>
            <a:spLocks noChangeShapeType="1"/>
          </p:cNvSpPr>
          <p:nvPr/>
        </p:nvSpPr>
        <p:spPr bwMode="auto">
          <a:xfrm>
            <a:off x="2209800" y="4495800"/>
            <a:ext cx="457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296" name="Line 7">
            <a:extLst>
              <a:ext uri="{FF2B5EF4-FFF2-40B4-BE49-F238E27FC236}">
                <a16:creationId xmlns:a16="http://schemas.microsoft.com/office/drawing/2014/main" id="{3C4ABF08-7A12-C157-A32D-20B8BB5F1FCF}"/>
              </a:ext>
            </a:extLst>
          </p:cNvPr>
          <p:cNvSpPr>
            <a:spLocks noChangeShapeType="1"/>
          </p:cNvSpPr>
          <p:nvPr/>
        </p:nvSpPr>
        <p:spPr bwMode="auto">
          <a:xfrm>
            <a:off x="2819400" y="3733800"/>
            <a:ext cx="3352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297" name="Line 8">
            <a:extLst>
              <a:ext uri="{FF2B5EF4-FFF2-40B4-BE49-F238E27FC236}">
                <a16:creationId xmlns:a16="http://schemas.microsoft.com/office/drawing/2014/main" id="{A5D89C21-3388-FCCB-4359-D6CFD62AC843}"/>
              </a:ext>
            </a:extLst>
          </p:cNvPr>
          <p:cNvSpPr>
            <a:spLocks noChangeShapeType="1"/>
          </p:cNvSpPr>
          <p:nvPr/>
        </p:nvSpPr>
        <p:spPr bwMode="auto">
          <a:xfrm>
            <a:off x="3429000" y="28956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298" name="Line 9">
            <a:extLst>
              <a:ext uri="{FF2B5EF4-FFF2-40B4-BE49-F238E27FC236}">
                <a16:creationId xmlns:a16="http://schemas.microsoft.com/office/drawing/2014/main" id="{05EF2BE0-33E9-DD92-69C7-95FF10E08AF8}"/>
              </a:ext>
            </a:extLst>
          </p:cNvPr>
          <p:cNvSpPr>
            <a:spLocks noChangeShapeType="1"/>
          </p:cNvSpPr>
          <p:nvPr/>
        </p:nvSpPr>
        <p:spPr bwMode="auto">
          <a:xfrm flipV="1">
            <a:off x="533400" y="1447800"/>
            <a:ext cx="0" cy="5029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299" name="Line 10">
            <a:extLst>
              <a:ext uri="{FF2B5EF4-FFF2-40B4-BE49-F238E27FC236}">
                <a16:creationId xmlns:a16="http://schemas.microsoft.com/office/drawing/2014/main" id="{44137DA2-11FD-EF5D-F5F9-9EEBE7472011}"/>
              </a:ext>
            </a:extLst>
          </p:cNvPr>
          <p:cNvSpPr>
            <a:spLocks noChangeShapeType="1"/>
          </p:cNvSpPr>
          <p:nvPr/>
        </p:nvSpPr>
        <p:spPr bwMode="auto">
          <a:xfrm flipV="1">
            <a:off x="8839200" y="1447800"/>
            <a:ext cx="0" cy="5029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
        <p:nvSpPr>
          <p:cNvPr id="12300" name="Text Box 11">
            <a:extLst>
              <a:ext uri="{FF2B5EF4-FFF2-40B4-BE49-F238E27FC236}">
                <a16:creationId xmlns:a16="http://schemas.microsoft.com/office/drawing/2014/main" id="{095A5FFB-39BC-13D9-2F4E-AC7DA46F437E}"/>
              </a:ext>
            </a:extLst>
          </p:cNvPr>
          <p:cNvSpPr txBox="1">
            <a:spLocks noChangeArrowheads="1"/>
          </p:cNvSpPr>
          <p:nvPr/>
        </p:nvSpPr>
        <p:spPr bwMode="auto">
          <a:xfrm>
            <a:off x="593725" y="1509713"/>
            <a:ext cx="19208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600" b="1">
                <a:solidFill>
                  <a:srgbClr val="002060"/>
                </a:solidFill>
                <a:latin typeface="Times New Roman" panose="02020603050405020304" pitchFamily="18" charset="0"/>
                <a:cs typeface="Times New Roman" panose="02020603050405020304" pitchFamily="18" charset="0"/>
              </a:rPr>
              <a:t>Increasing potential</a:t>
            </a:r>
          </a:p>
          <a:p>
            <a:r>
              <a:rPr lang="en-US" altLang="en-US" sz="1600" b="1">
                <a:solidFill>
                  <a:srgbClr val="002060"/>
                </a:solidFill>
                <a:latin typeface="Times New Roman" panose="02020603050405020304" pitchFamily="18" charset="0"/>
                <a:cs typeface="Times New Roman" panose="02020603050405020304" pitchFamily="18" charset="0"/>
              </a:rPr>
              <a:t>to support</a:t>
            </a:r>
          </a:p>
          <a:p>
            <a:r>
              <a:rPr lang="en-US" altLang="en-US" sz="1600" b="1">
                <a:solidFill>
                  <a:srgbClr val="002060"/>
                </a:solidFill>
                <a:latin typeface="Times New Roman" panose="02020603050405020304" pitchFamily="18" charset="0"/>
                <a:cs typeface="Times New Roman" panose="02020603050405020304" pitchFamily="18" charset="0"/>
              </a:rPr>
              <a:t>business decisions</a:t>
            </a:r>
          </a:p>
        </p:txBody>
      </p:sp>
      <p:sp>
        <p:nvSpPr>
          <p:cNvPr id="12301" name="Text Box 12">
            <a:extLst>
              <a:ext uri="{FF2B5EF4-FFF2-40B4-BE49-F238E27FC236}">
                <a16:creationId xmlns:a16="http://schemas.microsoft.com/office/drawing/2014/main" id="{0103FBF5-101B-5F81-8DD4-E06C7DF2AD8E}"/>
              </a:ext>
            </a:extLst>
          </p:cNvPr>
          <p:cNvSpPr txBox="1">
            <a:spLocks noChangeArrowheads="1"/>
          </p:cNvSpPr>
          <p:nvPr/>
        </p:nvSpPr>
        <p:spPr bwMode="auto">
          <a:xfrm>
            <a:off x="7748588" y="1955800"/>
            <a:ext cx="1001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r"/>
            <a:r>
              <a:rPr lang="en-US" altLang="en-US" sz="1600" b="1">
                <a:solidFill>
                  <a:srgbClr val="002060"/>
                </a:solidFill>
                <a:latin typeface="Times New Roman" panose="02020603050405020304" pitchFamily="18" charset="0"/>
                <a:cs typeface="Times New Roman" panose="02020603050405020304" pitchFamily="18" charset="0"/>
              </a:rPr>
              <a:t>End User</a:t>
            </a:r>
            <a:endParaRPr lang="en-US" altLang="en-US" sz="1600">
              <a:solidFill>
                <a:srgbClr val="002060"/>
              </a:solidFill>
              <a:latin typeface="Times New Roman" panose="02020603050405020304" pitchFamily="18" charset="0"/>
              <a:cs typeface="Times New Roman" panose="02020603050405020304" pitchFamily="18" charset="0"/>
            </a:endParaRPr>
          </a:p>
        </p:txBody>
      </p:sp>
      <p:sp>
        <p:nvSpPr>
          <p:cNvPr id="12302" name="Text Box 13">
            <a:extLst>
              <a:ext uri="{FF2B5EF4-FFF2-40B4-BE49-F238E27FC236}">
                <a16:creationId xmlns:a16="http://schemas.microsoft.com/office/drawing/2014/main" id="{F890B890-2235-704F-0BF6-40160C3D634F}"/>
              </a:ext>
            </a:extLst>
          </p:cNvPr>
          <p:cNvSpPr txBox="1">
            <a:spLocks noChangeArrowheads="1"/>
          </p:cNvSpPr>
          <p:nvPr/>
        </p:nvSpPr>
        <p:spPr bwMode="auto">
          <a:xfrm>
            <a:off x="7751763" y="2946400"/>
            <a:ext cx="9525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r"/>
            <a:r>
              <a:rPr lang="en-US" altLang="en-US" sz="1600" b="1">
                <a:solidFill>
                  <a:srgbClr val="002060"/>
                </a:solidFill>
                <a:latin typeface="Times New Roman" panose="02020603050405020304" pitchFamily="18" charset="0"/>
                <a:cs typeface="Times New Roman" panose="02020603050405020304" pitchFamily="18" charset="0"/>
              </a:rPr>
              <a:t>Business</a:t>
            </a:r>
          </a:p>
          <a:p>
            <a:pPr algn="r"/>
            <a:r>
              <a:rPr lang="en-US" altLang="en-US" sz="1600" b="1">
                <a:solidFill>
                  <a:srgbClr val="002060"/>
                </a:solidFill>
                <a:latin typeface="Times New Roman" panose="02020603050405020304" pitchFamily="18" charset="0"/>
                <a:cs typeface="Times New Roman" panose="02020603050405020304" pitchFamily="18" charset="0"/>
              </a:rPr>
              <a:t>  Analyst</a:t>
            </a:r>
          </a:p>
        </p:txBody>
      </p:sp>
      <p:sp>
        <p:nvSpPr>
          <p:cNvPr id="12303" name="Text Box 14">
            <a:extLst>
              <a:ext uri="{FF2B5EF4-FFF2-40B4-BE49-F238E27FC236}">
                <a16:creationId xmlns:a16="http://schemas.microsoft.com/office/drawing/2014/main" id="{5F062AF1-6558-0D4D-5C64-8CE9DC189B70}"/>
              </a:ext>
            </a:extLst>
          </p:cNvPr>
          <p:cNvSpPr txBox="1">
            <a:spLocks noChangeArrowheads="1"/>
          </p:cNvSpPr>
          <p:nvPr/>
        </p:nvSpPr>
        <p:spPr bwMode="auto">
          <a:xfrm>
            <a:off x="7840663" y="3784600"/>
            <a:ext cx="8556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r"/>
            <a:r>
              <a:rPr lang="en-US" altLang="en-US" sz="1600" b="1">
                <a:solidFill>
                  <a:srgbClr val="002060"/>
                </a:solidFill>
                <a:latin typeface="Times New Roman" panose="02020603050405020304" pitchFamily="18" charset="0"/>
                <a:cs typeface="Times New Roman" panose="02020603050405020304" pitchFamily="18" charset="0"/>
              </a:rPr>
              <a:t>     Data</a:t>
            </a:r>
          </a:p>
          <a:p>
            <a:pPr algn="r"/>
            <a:r>
              <a:rPr lang="en-US" altLang="en-US" sz="1600" b="1">
                <a:solidFill>
                  <a:srgbClr val="002060"/>
                </a:solidFill>
                <a:latin typeface="Times New Roman" panose="02020603050405020304" pitchFamily="18" charset="0"/>
                <a:cs typeface="Times New Roman" panose="02020603050405020304" pitchFamily="18" charset="0"/>
              </a:rPr>
              <a:t>Analyst</a:t>
            </a:r>
          </a:p>
        </p:txBody>
      </p:sp>
      <p:sp>
        <p:nvSpPr>
          <p:cNvPr id="12304" name="Text Box 15">
            <a:extLst>
              <a:ext uri="{FF2B5EF4-FFF2-40B4-BE49-F238E27FC236}">
                <a16:creationId xmlns:a16="http://schemas.microsoft.com/office/drawing/2014/main" id="{398EA009-EBC8-6C00-88CD-51419C217F0F}"/>
              </a:ext>
            </a:extLst>
          </p:cNvPr>
          <p:cNvSpPr txBox="1">
            <a:spLocks noChangeArrowheads="1"/>
          </p:cNvSpPr>
          <p:nvPr/>
        </p:nvSpPr>
        <p:spPr bwMode="auto">
          <a:xfrm>
            <a:off x="8102600" y="5689600"/>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r"/>
            <a:r>
              <a:rPr lang="en-US" altLang="en-US" sz="1600" b="1" dirty="0">
                <a:solidFill>
                  <a:srgbClr val="002060"/>
                </a:solidFill>
                <a:latin typeface="Times New Roman" panose="02020603050405020304" pitchFamily="18" charset="0"/>
                <a:cs typeface="Times New Roman" panose="02020603050405020304" pitchFamily="18" charset="0"/>
              </a:rPr>
              <a:t>DBA</a:t>
            </a:r>
          </a:p>
        </p:txBody>
      </p:sp>
      <p:sp>
        <p:nvSpPr>
          <p:cNvPr id="12305" name="Text Box 16">
            <a:extLst>
              <a:ext uri="{FF2B5EF4-FFF2-40B4-BE49-F238E27FC236}">
                <a16:creationId xmlns:a16="http://schemas.microsoft.com/office/drawing/2014/main" id="{433B404E-4E4F-7225-9490-2916157CE1DE}"/>
              </a:ext>
            </a:extLst>
          </p:cNvPr>
          <p:cNvSpPr txBox="1">
            <a:spLocks noChangeArrowheads="1"/>
          </p:cNvSpPr>
          <p:nvPr/>
        </p:nvSpPr>
        <p:spPr bwMode="auto">
          <a:xfrm>
            <a:off x="3886200" y="2178050"/>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ctr"/>
            <a:r>
              <a:rPr lang="en-US" altLang="en-US" sz="1800" b="1">
                <a:solidFill>
                  <a:srgbClr val="002060"/>
                </a:solidFill>
                <a:latin typeface="Times New Roman" panose="02020603050405020304" pitchFamily="18" charset="0"/>
                <a:cs typeface="Times New Roman" panose="02020603050405020304" pitchFamily="18" charset="0"/>
              </a:rPr>
              <a:t>Decision</a:t>
            </a:r>
            <a:r>
              <a:rPr lang="en-US" altLang="en-US" sz="1800">
                <a:solidFill>
                  <a:srgbClr val="002060"/>
                </a:solidFill>
                <a:latin typeface="Times New Roman" panose="02020603050405020304" pitchFamily="18" charset="0"/>
                <a:cs typeface="Times New Roman" panose="02020603050405020304" pitchFamily="18" charset="0"/>
              </a:rPr>
              <a:t> </a:t>
            </a:r>
            <a:r>
              <a:rPr lang="en-US" altLang="en-US" sz="1800" b="1">
                <a:solidFill>
                  <a:srgbClr val="002060"/>
                </a:solidFill>
                <a:latin typeface="Times New Roman" panose="02020603050405020304" pitchFamily="18" charset="0"/>
                <a:cs typeface="Times New Roman" panose="02020603050405020304" pitchFamily="18" charset="0"/>
              </a:rPr>
              <a:t>Making</a:t>
            </a:r>
          </a:p>
        </p:txBody>
      </p:sp>
      <p:sp>
        <p:nvSpPr>
          <p:cNvPr id="12306" name="Text Box 17">
            <a:extLst>
              <a:ext uri="{FF2B5EF4-FFF2-40B4-BE49-F238E27FC236}">
                <a16:creationId xmlns:a16="http://schemas.microsoft.com/office/drawing/2014/main" id="{17CE7932-888D-9C9D-FEDA-97DDD7939C7B}"/>
              </a:ext>
            </a:extLst>
          </p:cNvPr>
          <p:cNvSpPr txBox="1">
            <a:spLocks noChangeArrowheads="1"/>
          </p:cNvSpPr>
          <p:nvPr/>
        </p:nvSpPr>
        <p:spPr bwMode="auto">
          <a:xfrm>
            <a:off x="3352800" y="2992438"/>
            <a:ext cx="19566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dirty="0">
                <a:solidFill>
                  <a:srgbClr val="002060"/>
                </a:solidFill>
                <a:latin typeface="Times New Roman" panose="02020603050405020304" pitchFamily="18" charset="0"/>
                <a:cs typeface="Times New Roman" panose="02020603050405020304" pitchFamily="18" charset="0"/>
              </a:rPr>
              <a:t>Data Presentation</a:t>
            </a:r>
          </a:p>
        </p:txBody>
      </p:sp>
      <p:sp>
        <p:nvSpPr>
          <p:cNvPr id="12307" name="Text Box 18">
            <a:extLst>
              <a:ext uri="{FF2B5EF4-FFF2-40B4-BE49-F238E27FC236}">
                <a16:creationId xmlns:a16="http://schemas.microsoft.com/office/drawing/2014/main" id="{DC8BD90A-915C-0919-F725-EBF2E311E2DE}"/>
              </a:ext>
            </a:extLst>
          </p:cNvPr>
          <p:cNvSpPr txBox="1">
            <a:spLocks noChangeArrowheads="1"/>
          </p:cNvSpPr>
          <p:nvPr/>
        </p:nvSpPr>
        <p:spPr bwMode="auto">
          <a:xfrm>
            <a:off x="3276600" y="3352800"/>
            <a:ext cx="2578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i="1">
                <a:solidFill>
                  <a:srgbClr val="002060"/>
                </a:solidFill>
                <a:latin typeface="Times New Roman" panose="02020603050405020304" pitchFamily="18" charset="0"/>
                <a:cs typeface="Times New Roman" panose="02020603050405020304" pitchFamily="18" charset="0"/>
              </a:rPr>
              <a:t>Visualization Techniques</a:t>
            </a:r>
          </a:p>
        </p:txBody>
      </p:sp>
      <p:sp>
        <p:nvSpPr>
          <p:cNvPr id="12308" name="Text Box 19">
            <a:extLst>
              <a:ext uri="{FF2B5EF4-FFF2-40B4-BE49-F238E27FC236}">
                <a16:creationId xmlns:a16="http://schemas.microsoft.com/office/drawing/2014/main" id="{CFD9C266-069C-62FD-8E29-6B64B4E2FFC0}"/>
              </a:ext>
            </a:extLst>
          </p:cNvPr>
          <p:cNvSpPr txBox="1">
            <a:spLocks noChangeArrowheads="1"/>
          </p:cNvSpPr>
          <p:nvPr/>
        </p:nvSpPr>
        <p:spPr bwMode="auto">
          <a:xfrm>
            <a:off x="3657600" y="3765550"/>
            <a:ext cx="17827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a:solidFill>
                  <a:srgbClr val="002060"/>
                </a:solidFill>
                <a:latin typeface="Times New Roman" panose="02020603050405020304" pitchFamily="18" charset="0"/>
                <a:cs typeface="Times New Roman" panose="02020603050405020304" pitchFamily="18" charset="0"/>
              </a:rPr>
              <a:t>Data Mining</a:t>
            </a:r>
          </a:p>
        </p:txBody>
      </p:sp>
      <p:sp>
        <p:nvSpPr>
          <p:cNvPr id="12309" name="Text Box 20">
            <a:extLst>
              <a:ext uri="{FF2B5EF4-FFF2-40B4-BE49-F238E27FC236}">
                <a16:creationId xmlns:a16="http://schemas.microsoft.com/office/drawing/2014/main" id="{CF06B59C-CE30-1B33-FD17-6637E3F1C4AD}"/>
              </a:ext>
            </a:extLst>
          </p:cNvPr>
          <p:cNvSpPr txBox="1">
            <a:spLocks noChangeArrowheads="1"/>
          </p:cNvSpPr>
          <p:nvPr/>
        </p:nvSpPr>
        <p:spPr bwMode="auto">
          <a:xfrm>
            <a:off x="3581400" y="4038600"/>
            <a:ext cx="2324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i="1">
                <a:solidFill>
                  <a:srgbClr val="002060"/>
                </a:solidFill>
                <a:latin typeface="Times New Roman" panose="02020603050405020304" pitchFamily="18" charset="0"/>
                <a:cs typeface="Times New Roman" panose="02020603050405020304" pitchFamily="18" charset="0"/>
              </a:rPr>
              <a:t>Information Discovery</a:t>
            </a:r>
          </a:p>
        </p:txBody>
      </p:sp>
      <p:sp>
        <p:nvSpPr>
          <p:cNvPr id="12310" name="Text Box 21">
            <a:extLst>
              <a:ext uri="{FF2B5EF4-FFF2-40B4-BE49-F238E27FC236}">
                <a16:creationId xmlns:a16="http://schemas.microsoft.com/office/drawing/2014/main" id="{4B4F6B00-662C-7E91-6531-28B9DA4820CF}"/>
              </a:ext>
            </a:extLst>
          </p:cNvPr>
          <p:cNvSpPr txBox="1">
            <a:spLocks noChangeArrowheads="1"/>
          </p:cNvSpPr>
          <p:nvPr/>
        </p:nvSpPr>
        <p:spPr bwMode="auto">
          <a:xfrm>
            <a:off x="3368675" y="4572000"/>
            <a:ext cx="2346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algn="ctr"/>
            <a:r>
              <a:rPr lang="en-US" altLang="en-US" sz="1800" b="1">
                <a:solidFill>
                  <a:srgbClr val="002060"/>
                </a:solidFill>
                <a:latin typeface="Times New Roman" panose="02020603050405020304" pitchFamily="18" charset="0"/>
                <a:cs typeface="Times New Roman" panose="02020603050405020304" pitchFamily="18" charset="0"/>
              </a:rPr>
              <a:t>Data Exploration</a:t>
            </a:r>
          </a:p>
        </p:txBody>
      </p:sp>
      <p:sp>
        <p:nvSpPr>
          <p:cNvPr id="12311" name="Text Box 23">
            <a:extLst>
              <a:ext uri="{FF2B5EF4-FFF2-40B4-BE49-F238E27FC236}">
                <a16:creationId xmlns:a16="http://schemas.microsoft.com/office/drawing/2014/main" id="{02F0EBFC-F3CE-28CA-9030-E9FCB42A314D}"/>
              </a:ext>
            </a:extLst>
          </p:cNvPr>
          <p:cNvSpPr txBox="1">
            <a:spLocks noChangeArrowheads="1"/>
          </p:cNvSpPr>
          <p:nvPr/>
        </p:nvSpPr>
        <p:spPr bwMode="auto">
          <a:xfrm>
            <a:off x="2133600" y="4876800"/>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i="1">
                <a:solidFill>
                  <a:srgbClr val="002060"/>
                </a:solidFill>
                <a:latin typeface="Times New Roman" panose="02020603050405020304" pitchFamily="18" charset="0"/>
                <a:cs typeface="Times New Roman" panose="02020603050405020304" pitchFamily="18" charset="0"/>
              </a:rPr>
              <a:t>Statistical Summary, Querying, and Reporting</a:t>
            </a:r>
          </a:p>
        </p:txBody>
      </p:sp>
      <p:sp>
        <p:nvSpPr>
          <p:cNvPr id="12312" name="Text Box 24">
            <a:extLst>
              <a:ext uri="{FF2B5EF4-FFF2-40B4-BE49-F238E27FC236}">
                <a16:creationId xmlns:a16="http://schemas.microsoft.com/office/drawing/2014/main" id="{A4E51749-9A89-925D-8883-7BCB5584B354}"/>
              </a:ext>
            </a:extLst>
          </p:cNvPr>
          <p:cNvSpPr txBox="1">
            <a:spLocks noChangeArrowheads="1"/>
          </p:cNvSpPr>
          <p:nvPr/>
        </p:nvSpPr>
        <p:spPr bwMode="auto">
          <a:xfrm>
            <a:off x="1600200" y="5410200"/>
            <a:ext cx="51053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a:solidFill>
                  <a:srgbClr val="002060"/>
                </a:solidFill>
                <a:latin typeface="Times New Roman" panose="02020603050405020304" pitchFamily="18" charset="0"/>
                <a:cs typeface="Times New Roman" panose="02020603050405020304" pitchFamily="18" charset="0"/>
              </a:rPr>
              <a:t>Data Preprocessing/Integration, Data Warehouses</a:t>
            </a:r>
          </a:p>
        </p:txBody>
      </p:sp>
      <p:sp>
        <p:nvSpPr>
          <p:cNvPr id="12313" name="Text Box 25">
            <a:extLst>
              <a:ext uri="{FF2B5EF4-FFF2-40B4-BE49-F238E27FC236}">
                <a16:creationId xmlns:a16="http://schemas.microsoft.com/office/drawing/2014/main" id="{CA47D204-A57A-0B6F-2D87-179F0070D114}"/>
              </a:ext>
            </a:extLst>
          </p:cNvPr>
          <p:cNvSpPr txBox="1">
            <a:spLocks noChangeArrowheads="1"/>
          </p:cNvSpPr>
          <p:nvPr/>
        </p:nvSpPr>
        <p:spPr bwMode="auto">
          <a:xfrm>
            <a:off x="3581400" y="5791200"/>
            <a:ext cx="1482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a:solidFill>
                  <a:srgbClr val="002060"/>
                </a:solidFill>
                <a:latin typeface="Times New Roman" panose="02020603050405020304" pitchFamily="18" charset="0"/>
                <a:cs typeface="Times New Roman" panose="02020603050405020304" pitchFamily="18" charset="0"/>
              </a:rPr>
              <a:t>Data Sources</a:t>
            </a:r>
          </a:p>
        </p:txBody>
      </p:sp>
      <p:sp>
        <p:nvSpPr>
          <p:cNvPr id="12314" name="Text Box 26">
            <a:extLst>
              <a:ext uri="{FF2B5EF4-FFF2-40B4-BE49-F238E27FC236}">
                <a16:creationId xmlns:a16="http://schemas.microsoft.com/office/drawing/2014/main" id="{078FD89B-C5CD-D0F9-233F-D2EF21EB3270}"/>
              </a:ext>
            </a:extLst>
          </p:cNvPr>
          <p:cNvSpPr txBox="1">
            <a:spLocks noChangeArrowheads="1"/>
          </p:cNvSpPr>
          <p:nvPr/>
        </p:nvSpPr>
        <p:spPr bwMode="auto">
          <a:xfrm>
            <a:off x="1066800" y="6096000"/>
            <a:ext cx="711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r>
              <a:rPr lang="en-US" altLang="en-US" sz="1800" b="1" i="1">
                <a:solidFill>
                  <a:srgbClr val="002060"/>
                </a:solidFill>
                <a:latin typeface="Times New Roman" panose="02020603050405020304" pitchFamily="18" charset="0"/>
                <a:cs typeface="Times New Roman" panose="02020603050405020304" pitchFamily="18" charset="0"/>
              </a:rPr>
              <a:t>Paper, Files, Web documents, Scientific experiments, Database Systems</a:t>
            </a:r>
          </a:p>
        </p:txBody>
      </p:sp>
      <p:sp>
        <p:nvSpPr>
          <p:cNvPr id="12315" name="Line 27">
            <a:extLst>
              <a:ext uri="{FF2B5EF4-FFF2-40B4-BE49-F238E27FC236}">
                <a16:creationId xmlns:a16="http://schemas.microsoft.com/office/drawing/2014/main" id="{55A30A3E-77FC-827C-12ED-CB2C0F42D934}"/>
              </a:ext>
            </a:extLst>
          </p:cNvPr>
          <p:cNvSpPr>
            <a:spLocks noChangeShapeType="1"/>
          </p:cNvSpPr>
          <p:nvPr/>
        </p:nvSpPr>
        <p:spPr bwMode="auto">
          <a:xfrm>
            <a:off x="457200" y="6477000"/>
            <a:ext cx="838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D5E5ABCD-161F-F5F1-FC52-F05CE7EEDE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E81B93A1-666F-49AE-9494-EF9573273AA9}" type="slidenum">
              <a:rPr lang="en-US" altLang="en-US" sz="1400"/>
              <a:pPr eaLnBrk="1" hangingPunct="1"/>
              <a:t>27</a:t>
            </a:fld>
            <a:endParaRPr lang="en-US" altLang="en-US" sz="1400"/>
          </a:p>
        </p:txBody>
      </p:sp>
      <p:sp>
        <p:nvSpPr>
          <p:cNvPr id="13315" name="Rectangle 2">
            <a:extLst>
              <a:ext uri="{FF2B5EF4-FFF2-40B4-BE49-F238E27FC236}">
                <a16:creationId xmlns:a16="http://schemas.microsoft.com/office/drawing/2014/main" id="{74F07C90-18ED-53E9-AC6D-A00AAE1C86BD}"/>
              </a:ext>
            </a:extLst>
          </p:cNvPr>
          <p:cNvSpPr>
            <a:spLocks noGrp="1" noChangeArrowheads="1"/>
          </p:cNvSpPr>
          <p:nvPr>
            <p:ph type="title"/>
          </p:nvPr>
        </p:nvSpPr>
        <p:spPr>
          <a:xfrm>
            <a:off x="0" y="228600"/>
            <a:ext cx="91440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Example: Mining vs. Data Exploration</a:t>
            </a:r>
          </a:p>
        </p:txBody>
      </p:sp>
      <p:sp>
        <p:nvSpPr>
          <p:cNvPr id="13316" name="Rectangle 3">
            <a:extLst>
              <a:ext uri="{FF2B5EF4-FFF2-40B4-BE49-F238E27FC236}">
                <a16:creationId xmlns:a16="http://schemas.microsoft.com/office/drawing/2014/main" id="{5D9BC349-990A-43B6-456D-74814E43CDE8}"/>
              </a:ext>
            </a:extLst>
          </p:cNvPr>
          <p:cNvSpPr>
            <a:spLocks noGrp="1" noChangeArrowheads="1"/>
          </p:cNvSpPr>
          <p:nvPr>
            <p:ph type="body" idx="1"/>
          </p:nvPr>
        </p:nvSpPr>
        <p:spPr/>
        <p:txBody>
          <a:bodyPr>
            <a:normAutofit/>
          </a:bodyPr>
          <a:lstStyle/>
          <a:p>
            <a:pPr eaLnBrk="1" hangingPunct="1">
              <a:lnSpc>
                <a:spcPct val="100000"/>
              </a:lnSpc>
            </a:pPr>
            <a:r>
              <a:rPr lang="en-US" altLang="en-US" sz="2400" dirty="0">
                <a:latin typeface="Times New Roman" panose="02020603050405020304" pitchFamily="18" charset="0"/>
                <a:cs typeface="Times New Roman" panose="02020603050405020304" pitchFamily="18" charset="0"/>
              </a:rPr>
              <a:t>Business intelligence view</a:t>
            </a:r>
          </a:p>
          <a:p>
            <a:pPr lvl="1" eaLnBrk="1" hangingPunct="1">
              <a:lnSpc>
                <a:spcPct val="100000"/>
              </a:lnSpc>
            </a:pPr>
            <a:r>
              <a:rPr lang="en-US" altLang="en-US" sz="2400" dirty="0">
                <a:latin typeface="Times New Roman" panose="02020603050405020304" pitchFamily="18" charset="0"/>
                <a:cs typeface="Times New Roman" panose="02020603050405020304" pitchFamily="18" charset="0"/>
              </a:rPr>
              <a:t>Warehouse, data cube, reporting but not much mining</a:t>
            </a: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Business objects vs. data mining tools</a:t>
            </a: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Supply chain example: tools</a:t>
            </a: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Data presentation</a:t>
            </a:r>
          </a:p>
          <a:p>
            <a:pPr eaLnBrk="1" hangingPunct="1">
              <a:lnSpc>
                <a:spcPct val="100000"/>
              </a:lnSpc>
            </a:pPr>
            <a:r>
              <a:rPr lang="en-US" altLang="en-US" sz="2400" dirty="0">
                <a:latin typeface="Times New Roman" panose="02020603050405020304" pitchFamily="18" charset="0"/>
                <a:cs typeface="Times New Roman" panose="02020603050405020304" pitchFamily="18" charset="0"/>
              </a:rPr>
              <a:t>Exploration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45FC477-C472-8344-1340-75EE4A5345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0DAD96AD-02C6-4F73-8A86-F0D85C4202CE}" type="slidenum">
              <a:rPr lang="en-US" altLang="en-US" sz="1400"/>
              <a:pPr eaLnBrk="1" hangingPunct="1"/>
              <a:t>28</a:t>
            </a:fld>
            <a:endParaRPr lang="en-US" altLang="en-US" sz="1400"/>
          </a:p>
        </p:txBody>
      </p:sp>
      <p:sp>
        <p:nvSpPr>
          <p:cNvPr id="15363" name="Rectangle 2">
            <a:extLst>
              <a:ext uri="{FF2B5EF4-FFF2-40B4-BE49-F238E27FC236}">
                <a16:creationId xmlns:a16="http://schemas.microsoft.com/office/drawing/2014/main" id="{11AF7FD1-A39B-88F8-18F2-25EF028F960C}"/>
              </a:ext>
            </a:extLst>
          </p:cNvPr>
          <p:cNvSpPr>
            <a:spLocks noGrp="1" noChangeArrowheads="1"/>
          </p:cNvSpPr>
          <p:nvPr>
            <p:ph type="title"/>
          </p:nvPr>
        </p:nvSpPr>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Example: Medical Data Mining </a:t>
            </a:r>
          </a:p>
        </p:txBody>
      </p:sp>
      <p:sp>
        <p:nvSpPr>
          <p:cNvPr id="15364" name="Rectangle 3">
            <a:extLst>
              <a:ext uri="{FF2B5EF4-FFF2-40B4-BE49-F238E27FC236}">
                <a16:creationId xmlns:a16="http://schemas.microsoft.com/office/drawing/2014/main" id="{BEFFF8DB-FE98-EF53-265B-6C3CE26A9D30}"/>
              </a:ext>
            </a:extLst>
          </p:cNvPr>
          <p:cNvSpPr>
            <a:spLocks noGrp="1" noChangeArrowheads="1"/>
          </p:cNvSpPr>
          <p:nvPr>
            <p:ph type="body" idx="1"/>
          </p:nvPr>
        </p:nvSpPr>
        <p:spPr/>
        <p:txBody>
          <a:bodyPr>
            <a:normAutofit/>
          </a:bodyPr>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Health care &amp; medical data mining – often adopted such a view in statistics and machine learning</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Preprocessing of the data (including feature extraction and dimension reduction)</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Classification or/and clustering processes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Post-processing for presentation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94FA4-8651-6D89-CE9F-7E30E5DF92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15D9A4-3EE4-39E6-88D8-C1F43057ED5F}"/>
              </a:ext>
            </a:extLst>
          </p:cNvPr>
          <p:cNvSpPr>
            <a:spLocks noGrp="1"/>
          </p:cNvSpPr>
          <p:nvPr>
            <p:ph idx="1"/>
          </p:nvPr>
        </p:nvSpPr>
        <p:spPr>
          <a:xfrm>
            <a:off x="457200" y="1481329"/>
            <a:ext cx="4495800" cy="2404872"/>
          </a:xfrm>
        </p:spPr>
        <p:txBody>
          <a:bodyPr>
            <a:normAutofit/>
          </a:bodyPr>
          <a:lstStyle/>
          <a:p>
            <a:r>
              <a:rPr lang="en-US" sz="2000" dirty="0">
                <a:latin typeface="Times New Roman" panose="02020603050405020304" pitchFamily="18" charset="0"/>
                <a:cs typeface="Times New Roman" panose="02020603050405020304" pitchFamily="18" charset="0"/>
              </a:rPr>
              <a:t>What Data mining? </a:t>
            </a:r>
          </a:p>
          <a:p>
            <a:r>
              <a:rPr lang="en-US" sz="2000" b="1" dirty="0">
                <a:latin typeface="Times New Roman" panose="02020603050405020304" pitchFamily="18" charset="0"/>
                <a:cs typeface="Times New Roman" panose="02020603050405020304" pitchFamily="18" charset="0"/>
              </a:rPr>
              <a:t>Kinds of Data</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Knowledge Discovery process, </a:t>
            </a:r>
          </a:p>
          <a:p>
            <a:r>
              <a:rPr lang="en-US" sz="2000" b="1" dirty="0">
                <a:latin typeface="Times New Roman" panose="02020603050405020304" pitchFamily="18" charset="0"/>
                <a:cs typeface="Times New Roman" panose="02020603050405020304" pitchFamily="18" charset="0"/>
              </a:rPr>
              <a:t>Data Mining Functionalities, </a:t>
            </a:r>
          </a:p>
          <a:p>
            <a:r>
              <a:rPr lang="en-US" sz="2000" b="1" dirty="0">
                <a:latin typeface="Times New Roman" panose="02020603050405020304" pitchFamily="18" charset="0"/>
                <a:cs typeface="Times New Roman" panose="02020603050405020304" pitchFamily="18" charset="0"/>
              </a:rPr>
              <a:t>Kinds of Patterns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Major Issues in Data Mining. </a:t>
            </a:r>
          </a:p>
        </p:txBody>
      </p:sp>
      <p:sp>
        <p:nvSpPr>
          <p:cNvPr id="3" name="Title 2">
            <a:extLst>
              <a:ext uri="{FF2B5EF4-FFF2-40B4-BE49-F238E27FC236}">
                <a16:creationId xmlns:a16="http://schemas.microsoft.com/office/drawing/2014/main" id="{4FE56B71-8F61-64D6-EFC8-A0FD5F33E448}"/>
              </a:ext>
            </a:extLst>
          </p:cNvPr>
          <p:cNvSpPr>
            <a:spLocks noGrp="1"/>
          </p:cNvSpPr>
          <p:nvPr>
            <p:ph type="title"/>
          </p:nvPr>
        </p:nvSpPr>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UNIT - I</a:t>
            </a:r>
            <a:br>
              <a:rPr lang="en-IN" sz="3200" dirty="0">
                <a:solidFill>
                  <a:srgbClr val="002060"/>
                </a:solidFill>
                <a:latin typeface="Times New Roman" panose="02020603050405020304" pitchFamily="18" charset="0"/>
                <a:cs typeface="Times New Roman" panose="02020603050405020304" pitchFamily="18" charset="0"/>
              </a:rPr>
            </a:br>
            <a:r>
              <a:rPr lang="en-US" sz="3200" dirty="0">
                <a:solidFill>
                  <a:srgbClr val="002060"/>
                </a:solidFill>
                <a:latin typeface="Times New Roman" panose="02020603050405020304" pitchFamily="18" charset="0"/>
                <a:cs typeface="Times New Roman" panose="02020603050405020304" pitchFamily="18" charset="0"/>
              </a:rPr>
              <a:t>Introduction to Data Mining</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AA337CE-9095-F2D2-2F3F-8B45F1ECA500}"/>
              </a:ext>
            </a:extLst>
          </p:cNvPr>
          <p:cNvSpPr txBox="1"/>
          <p:nvPr/>
        </p:nvSpPr>
        <p:spPr>
          <a:xfrm>
            <a:off x="5334000" y="1600200"/>
            <a:ext cx="3433916" cy="240065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Pre-processing</a:t>
            </a:r>
            <a:r>
              <a:rPr lang="en-US" sz="2400" b="1"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Major Tasks in Data Pre-processing,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Cleaning,</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Integration,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Reduction,</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Transformation and Data Discretization.</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03EC738-30E9-5C4D-73F9-7FF030A1D25B}"/>
              </a:ext>
            </a:extLst>
          </p:cNvPr>
          <p:cNvSpPr txBox="1"/>
          <p:nvPr/>
        </p:nvSpPr>
        <p:spPr>
          <a:xfrm>
            <a:off x="990600" y="4277856"/>
            <a:ext cx="4576916" cy="1754326"/>
          </a:xfrm>
          <a:prstGeom prst="rect">
            <a:avLst/>
          </a:prstGeom>
          <a:noFill/>
        </p:spPr>
        <p:txBody>
          <a:bodyPr wrap="square">
            <a:spAutoFit/>
          </a:bodyPr>
          <a:lstStyle/>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Objects and Attribute Types</a:t>
            </a: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Basic Statistical Descriptions of Data,</a:t>
            </a:r>
          </a:p>
          <a:p>
            <a:r>
              <a:rPr lang="en-US" sz="18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Visualization,</a:t>
            </a: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Measuring Data Similarity and Dissimilarity, </a:t>
            </a:r>
          </a:p>
        </p:txBody>
      </p:sp>
    </p:spTree>
    <p:extLst>
      <p:ext uri="{BB962C8B-B14F-4D97-AF65-F5344CB8AC3E}">
        <p14:creationId xmlns:p14="http://schemas.microsoft.com/office/powerpoint/2010/main" val="1579867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0A6085-62C3-D7F8-4139-9DA98BEF075D}"/>
              </a:ext>
            </a:extLst>
          </p:cNvPr>
          <p:cNvSpPr>
            <a:spLocks noGrp="1"/>
          </p:cNvSpPr>
          <p:nvPr>
            <p:ph idx="1"/>
          </p:nvPr>
        </p:nvSpPr>
        <p:spPr>
          <a:xfrm>
            <a:off x="457200" y="1166018"/>
            <a:ext cx="8229600" cy="4525963"/>
          </a:xfrm>
        </p:spPr>
        <p:txBody>
          <a:bodyPr>
            <a:normAutofit/>
          </a:bodyPr>
          <a:lstStyle/>
          <a:p>
            <a:endParaRPr lang="en-IN" sz="2000" dirty="0">
              <a:latin typeface="Times New Roman" panose="02020603050405020304" pitchFamily="18" charset="0"/>
              <a:cs typeface="Times New Roman" panose="02020603050405020304" pitchFamily="18" charset="0"/>
            </a:endParaRPr>
          </a:p>
          <a:p>
            <a:pPr marL="109728" indent="0">
              <a:buNone/>
            </a:pPr>
            <a:r>
              <a:rPr lang="en-IN" sz="2000" dirty="0">
                <a:latin typeface="Times New Roman" panose="02020603050405020304" pitchFamily="18" charset="0"/>
                <a:cs typeface="Times New Roman" panose="02020603050405020304" pitchFamily="18" charset="0"/>
              </a:rPr>
              <a:t>Text Data</a:t>
            </a:r>
          </a:p>
          <a:p>
            <a:r>
              <a:rPr lang="en-IN" sz="2000" dirty="0">
                <a:latin typeface="Times New Roman" panose="02020603050405020304" pitchFamily="18" charset="0"/>
                <a:cs typeface="Times New Roman" panose="02020603050405020304" pitchFamily="18" charset="0"/>
              </a:rPr>
              <a:t>Documents, emails, social media posts.</a:t>
            </a:r>
          </a:p>
          <a:p>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Customer reviews, news articles, tweets.</a:t>
            </a:r>
          </a:p>
          <a:p>
            <a:endParaRPr lang="en-IN" sz="2000" dirty="0">
              <a:latin typeface="Times New Roman" panose="02020603050405020304" pitchFamily="18" charset="0"/>
              <a:cs typeface="Times New Roman" panose="02020603050405020304" pitchFamily="18" charset="0"/>
            </a:endParaRPr>
          </a:p>
          <a:p>
            <a:pPr marL="109728" indent="0">
              <a:buNone/>
            </a:pPr>
            <a:r>
              <a:rPr lang="en-IN" sz="2000" dirty="0">
                <a:latin typeface="Times New Roman" panose="02020603050405020304" pitchFamily="18" charset="0"/>
                <a:cs typeface="Times New Roman" panose="02020603050405020304" pitchFamily="18" charset="0"/>
              </a:rPr>
              <a:t>Multimedia Data</a:t>
            </a:r>
          </a:p>
          <a:p>
            <a:r>
              <a:rPr lang="en-IN" sz="2000" dirty="0">
                <a:latin typeface="Times New Roman" panose="02020603050405020304" pitchFamily="18" charset="0"/>
                <a:cs typeface="Times New Roman" panose="02020603050405020304" pitchFamily="18" charset="0"/>
              </a:rPr>
              <a:t>Images, audio, video.</a:t>
            </a:r>
          </a:p>
          <a:p>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Face recognition datasets, speech recordings.</a:t>
            </a:r>
          </a:p>
          <a:p>
            <a:endParaRPr lang="en-IN" sz="2000" dirty="0">
              <a:latin typeface="Times New Roman" panose="02020603050405020304" pitchFamily="18" charset="0"/>
              <a:cs typeface="Times New Roman" panose="02020603050405020304" pitchFamily="18" charset="0"/>
            </a:endParaRPr>
          </a:p>
          <a:p>
            <a:pPr marL="109728" indent="0">
              <a:buNone/>
            </a:pPr>
            <a:r>
              <a:rPr lang="en-IN" sz="2000" dirty="0">
                <a:latin typeface="Times New Roman" panose="02020603050405020304" pitchFamily="18" charset="0"/>
                <a:cs typeface="Times New Roman" panose="02020603050405020304" pitchFamily="18" charset="0"/>
              </a:rPr>
              <a:t>Web Data</a:t>
            </a:r>
          </a:p>
          <a:p>
            <a:r>
              <a:rPr lang="en-IN" sz="2000" dirty="0">
                <a:latin typeface="Times New Roman" panose="02020603050405020304" pitchFamily="18" charset="0"/>
                <a:cs typeface="Times New Roman" panose="02020603050405020304" pitchFamily="18" charset="0"/>
              </a:rPr>
              <a:t>Internet logs, website structure, and content.</a:t>
            </a:r>
          </a:p>
          <a:p>
            <a:r>
              <a:rPr lang="en-US" sz="2000" dirty="0">
                <a:latin typeface="Times New Roman" panose="02020603050405020304" pitchFamily="18" charset="0"/>
                <a:cs typeface="Times New Roman" panose="02020603050405020304" pitchFamily="18" charset="0"/>
              </a:rPr>
              <a:t>User behavior logs, page links, clickstreams</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974B22F-042D-542F-793F-F905AB66C5E8}"/>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Kinds of Data</a:t>
            </a:r>
          </a:p>
        </p:txBody>
      </p:sp>
    </p:spTree>
    <p:extLst>
      <p:ext uri="{BB962C8B-B14F-4D97-AF65-F5344CB8AC3E}">
        <p14:creationId xmlns:p14="http://schemas.microsoft.com/office/powerpoint/2010/main" val="942911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45EB2B-1997-E3B5-E589-B716B9572075}"/>
              </a:ext>
            </a:extLst>
          </p:cNvPr>
          <p:cNvSpPr>
            <a:spLocks noGrp="1"/>
          </p:cNvSpPr>
          <p:nvPr>
            <p:ph idx="1"/>
          </p:nvPr>
        </p:nvSpPr>
        <p:spPr>
          <a:xfrm>
            <a:off x="433848" y="635906"/>
            <a:ext cx="3628103" cy="1954894"/>
          </a:xfrm>
        </p:spPr>
        <p:txBody>
          <a:bodyPr>
            <a:noAutofit/>
          </a:bodyPr>
          <a:lstStyle/>
          <a:p>
            <a:pPr>
              <a:lnSpc>
                <a:spcPct val="130000"/>
              </a:lnSpc>
            </a:pPr>
            <a:r>
              <a:rPr lang="en-US" altLang="en-US" sz="1800" dirty="0">
                <a:latin typeface="Times New Roman" panose="02020603050405020304" pitchFamily="18" charset="0"/>
                <a:cs typeface="Times New Roman" panose="02020603050405020304" pitchFamily="18" charset="0"/>
              </a:rPr>
              <a:t>Database-oriented data sets and applications</a:t>
            </a:r>
          </a:p>
          <a:p>
            <a:pPr lvl="1">
              <a:lnSpc>
                <a:spcPct val="130000"/>
              </a:lnSpc>
            </a:pPr>
            <a:r>
              <a:rPr lang="en-US" altLang="en-US" sz="1800" b="1" dirty="0">
                <a:latin typeface="Times New Roman" panose="02020603050405020304" pitchFamily="18" charset="0"/>
                <a:cs typeface="Times New Roman" panose="02020603050405020304" pitchFamily="18" charset="0"/>
              </a:rPr>
              <a:t>Relational database</a:t>
            </a:r>
            <a:r>
              <a:rPr lang="en-US" altLang="en-US" sz="1800" dirty="0">
                <a:latin typeface="Times New Roman" panose="02020603050405020304" pitchFamily="18" charset="0"/>
                <a:cs typeface="Times New Roman" panose="02020603050405020304" pitchFamily="18" charset="0"/>
              </a:rPr>
              <a:t>, data warehouse, transactional database</a:t>
            </a:r>
          </a:p>
        </p:txBody>
      </p:sp>
      <p:sp>
        <p:nvSpPr>
          <p:cNvPr id="3" name="Title 2">
            <a:extLst>
              <a:ext uri="{FF2B5EF4-FFF2-40B4-BE49-F238E27FC236}">
                <a16:creationId xmlns:a16="http://schemas.microsoft.com/office/drawing/2014/main" id="{89CF5AEB-32E3-E842-DC7B-16C65BCDDADC}"/>
              </a:ext>
            </a:extLst>
          </p:cNvPr>
          <p:cNvSpPr>
            <a:spLocks noGrp="1"/>
          </p:cNvSpPr>
          <p:nvPr>
            <p:ph type="title"/>
          </p:nvPr>
        </p:nvSpPr>
        <p:spPr>
          <a:xfrm>
            <a:off x="486697" y="96706"/>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What Kinds of Data Can Be Mined?</a:t>
            </a:r>
          </a:p>
        </p:txBody>
      </p:sp>
      <p:sp>
        <p:nvSpPr>
          <p:cNvPr id="5" name="TextBox 4">
            <a:extLst>
              <a:ext uri="{FF2B5EF4-FFF2-40B4-BE49-F238E27FC236}">
                <a16:creationId xmlns:a16="http://schemas.microsoft.com/office/drawing/2014/main" id="{00FD7F42-A7BB-618A-52DD-96E89D0BB623}"/>
              </a:ext>
            </a:extLst>
          </p:cNvPr>
          <p:cNvSpPr txBox="1"/>
          <p:nvPr/>
        </p:nvSpPr>
        <p:spPr>
          <a:xfrm>
            <a:off x="161003" y="2725776"/>
            <a:ext cx="3886200" cy="1200329"/>
          </a:xfrm>
          <a:prstGeom prst="rect">
            <a:avLst/>
          </a:prstGeom>
          <a:noFill/>
        </p:spPr>
        <p:txBody>
          <a:bodyPr wrap="square">
            <a:spAutoFit/>
          </a:bodyPr>
          <a:lstStyle/>
          <a:p>
            <a:pPr fontAlgn="base"/>
            <a:r>
              <a:rPr lang="en-US" altLang="en-US" sz="1200" b="1" dirty="0">
                <a:latin typeface="Times New Roman" panose="02020603050405020304" pitchFamily="18" charset="0"/>
                <a:cs typeface="Times New Roman" panose="02020603050405020304" pitchFamily="18" charset="0"/>
              </a:rPr>
              <a:t>Relational database: </a:t>
            </a:r>
            <a:r>
              <a:rPr lang="en-IN" sz="1200" dirty="0">
                <a:latin typeface="Times New Roman" panose="02020603050405020304" pitchFamily="18" charset="0"/>
                <a:cs typeface="Times New Roman" panose="02020603050405020304" pitchFamily="18" charset="0"/>
              </a:rPr>
              <a:t>RDBMS stands for Relational Database Management Systems. A database is an organized collection of data stored in a computer system and usually controlled by a database management system (DBMS). It is a program that allows us to create, delete, and update a relational database.</a:t>
            </a:r>
          </a:p>
        </p:txBody>
      </p:sp>
      <p:pic>
        <p:nvPicPr>
          <p:cNvPr id="6" name="Picture 5" descr="rdbms-2">
            <a:extLst>
              <a:ext uri="{FF2B5EF4-FFF2-40B4-BE49-F238E27FC236}">
                <a16:creationId xmlns:a16="http://schemas.microsoft.com/office/drawing/2014/main" id="{3E80C57F-DCC5-EB47-E87E-38EB4DE749D8}"/>
              </a:ext>
            </a:extLst>
          </p:cNvPr>
          <p:cNvPicPr>
            <a:picLocks noChangeAspect="1"/>
          </p:cNvPicPr>
          <p:nvPr/>
        </p:nvPicPr>
        <p:blipFill>
          <a:blip r:embed="rId2"/>
          <a:stretch>
            <a:fillRect/>
          </a:stretch>
        </p:blipFill>
        <p:spPr>
          <a:xfrm>
            <a:off x="4309847" y="762000"/>
            <a:ext cx="4910353" cy="2796174"/>
          </a:xfrm>
          <a:prstGeom prst="rect">
            <a:avLst/>
          </a:prstGeom>
        </p:spPr>
      </p:pic>
      <p:sp>
        <p:nvSpPr>
          <p:cNvPr id="8" name="TextBox 7">
            <a:extLst>
              <a:ext uri="{FF2B5EF4-FFF2-40B4-BE49-F238E27FC236}">
                <a16:creationId xmlns:a16="http://schemas.microsoft.com/office/drawing/2014/main" id="{E968B503-CC97-A5F3-8A46-2210A4C9313E}"/>
              </a:ext>
            </a:extLst>
          </p:cNvPr>
          <p:cNvSpPr txBox="1"/>
          <p:nvPr/>
        </p:nvSpPr>
        <p:spPr>
          <a:xfrm>
            <a:off x="186813" y="3933479"/>
            <a:ext cx="8534400" cy="2610971"/>
          </a:xfrm>
          <a:prstGeom prst="rect">
            <a:avLst/>
          </a:prstGeom>
          <a:noFill/>
        </p:spPr>
        <p:txBody>
          <a:bodyPr wrap="square">
            <a:spAutoFit/>
          </a:bodyPr>
          <a:lstStyle/>
          <a:p>
            <a:pPr marL="0" marR="0" indent="0" algn="l" rtl="0" fontAlgn="base">
              <a:spcAft>
                <a:spcPts val="750"/>
              </a:spcAft>
              <a:buNone/>
            </a:pPr>
            <a:r>
              <a:rPr lang="en-IN" sz="1400" b="0" i="0" spc="12" dirty="0">
                <a:solidFill>
                  <a:srgbClr val="273239"/>
                </a:solidFill>
                <a:effectLst/>
                <a:latin typeface="Times New Roman" panose="02020603050405020304" pitchFamily="18" charset="0"/>
                <a:cs typeface="Times New Roman" panose="02020603050405020304" pitchFamily="18" charset="0"/>
              </a:rPr>
              <a:t>Relational Database Management Systems maintain data integrity by simulating the following features: </a:t>
            </a:r>
            <a:endParaRPr lang="en-IN" sz="1400" b="0" i="0" spc="10" dirty="0">
              <a:solidFill>
                <a:srgbClr val="273239"/>
              </a:solidFill>
              <a:effectLst/>
              <a:latin typeface="Times New Roman" panose="02020603050405020304" pitchFamily="18" charset="0"/>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400" b="1" i="0" spc="10" dirty="0">
                <a:solidFill>
                  <a:srgbClr val="273239"/>
                </a:solidFill>
                <a:effectLst/>
                <a:latin typeface="Times New Roman" panose="02020603050405020304" pitchFamily="18" charset="0"/>
                <a:cs typeface="Times New Roman" panose="02020603050405020304" pitchFamily="18" charset="0"/>
              </a:rPr>
              <a:t>Entity Integrity:</a:t>
            </a:r>
            <a:r>
              <a:rPr lang="en-IN" sz="1400" b="0" i="0" spc="12" dirty="0">
                <a:solidFill>
                  <a:srgbClr val="273239"/>
                </a:solidFill>
                <a:effectLst/>
                <a:latin typeface="Times New Roman" panose="02020603050405020304" pitchFamily="18" charset="0"/>
                <a:cs typeface="Times New Roman" panose="02020603050405020304" pitchFamily="18" charset="0"/>
              </a:rPr>
              <a:t> No two records of the database table can be completely duplicates.</a:t>
            </a:r>
            <a:endParaRPr lang="en-IN" sz="1400" b="0" i="0" spc="10" dirty="0">
              <a:solidFill>
                <a:srgbClr val="273239"/>
              </a:solidFill>
              <a:effectLst/>
              <a:latin typeface="Times New Roman" panose="02020603050405020304" pitchFamily="18" charset="0"/>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400" b="1" i="0" spc="10" dirty="0">
                <a:solidFill>
                  <a:srgbClr val="273239"/>
                </a:solidFill>
                <a:effectLst/>
                <a:latin typeface="Times New Roman" panose="02020603050405020304" pitchFamily="18" charset="0"/>
                <a:cs typeface="Times New Roman" panose="02020603050405020304" pitchFamily="18" charset="0"/>
              </a:rPr>
              <a:t>Referential Integrity:</a:t>
            </a:r>
            <a:r>
              <a:rPr lang="en-IN" sz="1400" b="0" i="0" spc="12" dirty="0">
                <a:solidFill>
                  <a:srgbClr val="273239"/>
                </a:solidFill>
                <a:effectLst/>
                <a:latin typeface="Times New Roman" panose="02020603050405020304" pitchFamily="18" charset="0"/>
                <a:cs typeface="Times New Roman" panose="02020603050405020304" pitchFamily="18" charset="0"/>
              </a:rPr>
              <a:t> Only the rows of those tables can be deleted which are not used by other tables. Otherwise, it may lead to </a:t>
            </a:r>
            <a:r>
              <a:rPr lang="en-IN" sz="1400" b="0" i="0" u="sng" spc="12" dirty="0">
                <a:solidFill>
                  <a:srgbClr val="357960"/>
                </a:solidFill>
                <a:effectLst/>
                <a:latin typeface="Times New Roman" panose="02020603050405020304" pitchFamily="18" charset="0"/>
                <a:cs typeface="Times New Roman" panose="02020603050405020304" pitchFamily="18" charset="0"/>
                <a:hlinkClick r:id="rId3"/>
              </a:rPr>
              <a:t>data inconsistency</a:t>
            </a:r>
            <a:r>
              <a:rPr lang="en-IN" sz="1400" b="0" i="0" spc="12" dirty="0">
                <a:solidFill>
                  <a:srgbClr val="273239"/>
                </a:solidFill>
                <a:effectLst/>
                <a:latin typeface="Times New Roman" panose="02020603050405020304" pitchFamily="18" charset="0"/>
                <a:cs typeface="Times New Roman" panose="02020603050405020304" pitchFamily="18" charset="0"/>
              </a:rPr>
              <a:t>.</a:t>
            </a:r>
            <a:endParaRPr lang="en-IN" sz="1400" b="0" i="0" spc="10" dirty="0">
              <a:solidFill>
                <a:srgbClr val="273239"/>
              </a:solidFill>
              <a:effectLst/>
              <a:latin typeface="Times New Roman" panose="02020603050405020304" pitchFamily="18" charset="0"/>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400" b="1" i="0" spc="10" dirty="0">
                <a:solidFill>
                  <a:srgbClr val="273239"/>
                </a:solidFill>
                <a:effectLst/>
                <a:latin typeface="Times New Roman" panose="02020603050405020304" pitchFamily="18" charset="0"/>
                <a:cs typeface="Times New Roman" panose="02020603050405020304" pitchFamily="18" charset="0"/>
              </a:rPr>
              <a:t>User-defined Integrity:</a:t>
            </a:r>
            <a:r>
              <a:rPr lang="en-IN" sz="1400" b="0" i="0" spc="12" dirty="0">
                <a:solidFill>
                  <a:srgbClr val="273239"/>
                </a:solidFill>
                <a:effectLst/>
                <a:latin typeface="Times New Roman" panose="02020603050405020304" pitchFamily="18" charset="0"/>
                <a:cs typeface="Times New Roman" panose="02020603050405020304" pitchFamily="18" charset="0"/>
              </a:rPr>
              <a:t> Rules defined by the users based on confidentiality and access.</a:t>
            </a:r>
            <a:endParaRPr lang="en-IN" sz="1400" b="0" i="0" spc="10" dirty="0">
              <a:solidFill>
                <a:srgbClr val="273239"/>
              </a:solidFill>
              <a:effectLst/>
              <a:latin typeface="Times New Roman" panose="02020603050405020304" pitchFamily="18" charset="0"/>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400" b="1" i="0" spc="10" dirty="0">
                <a:solidFill>
                  <a:srgbClr val="273239"/>
                </a:solidFill>
                <a:effectLst/>
                <a:latin typeface="Times New Roman" panose="02020603050405020304" pitchFamily="18" charset="0"/>
                <a:cs typeface="Times New Roman" panose="02020603050405020304" pitchFamily="18" charset="0"/>
              </a:rPr>
              <a:t>Domain integrity: </a:t>
            </a:r>
            <a:r>
              <a:rPr lang="en-IN" sz="1400" b="0" i="0" spc="12" dirty="0">
                <a:solidFill>
                  <a:srgbClr val="273239"/>
                </a:solidFill>
                <a:effectLst/>
                <a:latin typeface="Times New Roman" panose="02020603050405020304" pitchFamily="18" charset="0"/>
                <a:cs typeface="Times New Roman" panose="02020603050405020304" pitchFamily="18" charset="0"/>
              </a:rPr>
              <a:t>The columns of the database tables are enclosed within some structured limits, based on default values, type of data or ranges.</a:t>
            </a: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749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27E04-78E4-C8C5-B0E9-6F5DFF22D77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67524B-5E9B-0790-95A0-05EB95BF0199}"/>
              </a:ext>
            </a:extLst>
          </p:cNvPr>
          <p:cNvSpPr>
            <a:spLocks noGrp="1"/>
          </p:cNvSpPr>
          <p:nvPr>
            <p:ph idx="1"/>
          </p:nvPr>
        </p:nvSpPr>
        <p:spPr>
          <a:xfrm>
            <a:off x="433848" y="635906"/>
            <a:ext cx="3628103" cy="1954894"/>
          </a:xfrm>
        </p:spPr>
        <p:txBody>
          <a:bodyPr>
            <a:noAutofit/>
          </a:bodyPr>
          <a:lstStyle/>
          <a:p>
            <a:pPr>
              <a:lnSpc>
                <a:spcPct val="130000"/>
              </a:lnSpc>
            </a:pPr>
            <a:r>
              <a:rPr lang="en-US" altLang="en-US" sz="1800" dirty="0">
                <a:latin typeface="Times New Roman" panose="02020603050405020304" pitchFamily="18" charset="0"/>
                <a:cs typeface="Times New Roman" panose="02020603050405020304" pitchFamily="18" charset="0"/>
              </a:rPr>
              <a:t>Database-oriented data sets and applications</a:t>
            </a:r>
          </a:p>
          <a:p>
            <a:pPr lvl="1">
              <a:lnSpc>
                <a:spcPct val="130000"/>
              </a:lnSpc>
            </a:pPr>
            <a:r>
              <a:rPr lang="en-US" altLang="en-US" sz="1800" dirty="0">
                <a:latin typeface="Times New Roman" panose="02020603050405020304" pitchFamily="18" charset="0"/>
                <a:cs typeface="Times New Roman" panose="02020603050405020304" pitchFamily="18" charset="0"/>
              </a:rPr>
              <a:t>Relational database, </a:t>
            </a:r>
            <a:r>
              <a:rPr lang="en-US" altLang="en-US" sz="1800" b="1" dirty="0">
                <a:latin typeface="Times New Roman" panose="02020603050405020304" pitchFamily="18" charset="0"/>
                <a:cs typeface="Times New Roman" panose="02020603050405020304" pitchFamily="18" charset="0"/>
              </a:rPr>
              <a:t>data warehouse</a:t>
            </a:r>
            <a:r>
              <a:rPr lang="en-US" altLang="en-US" sz="1800" dirty="0">
                <a:latin typeface="Times New Roman" panose="02020603050405020304" pitchFamily="18" charset="0"/>
                <a:cs typeface="Times New Roman" panose="02020603050405020304" pitchFamily="18" charset="0"/>
              </a:rPr>
              <a:t>, transactional database</a:t>
            </a:r>
          </a:p>
        </p:txBody>
      </p:sp>
      <p:sp>
        <p:nvSpPr>
          <p:cNvPr id="3" name="Title 2">
            <a:extLst>
              <a:ext uri="{FF2B5EF4-FFF2-40B4-BE49-F238E27FC236}">
                <a16:creationId xmlns:a16="http://schemas.microsoft.com/office/drawing/2014/main" id="{75A840CE-9EDC-8DC0-E313-CC79A0AAD14E}"/>
              </a:ext>
            </a:extLst>
          </p:cNvPr>
          <p:cNvSpPr>
            <a:spLocks noGrp="1"/>
          </p:cNvSpPr>
          <p:nvPr>
            <p:ph type="title"/>
          </p:nvPr>
        </p:nvSpPr>
        <p:spPr>
          <a:xfrm>
            <a:off x="486697" y="96706"/>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What Kinds of Data Can Be Mined?</a:t>
            </a:r>
          </a:p>
        </p:txBody>
      </p:sp>
      <p:sp>
        <p:nvSpPr>
          <p:cNvPr id="5" name="TextBox 4">
            <a:extLst>
              <a:ext uri="{FF2B5EF4-FFF2-40B4-BE49-F238E27FC236}">
                <a16:creationId xmlns:a16="http://schemas.microsoft.com/office/drawing/2014/main" id="{3A448B67-8C2B-C30F-2C82-FD62F0C8AD2F}"/>
              </a:ext>
            </a:extLst>
          </p:cNvPr>
          <p:cNvSpPr txBox="1"/>
          <p:nvPr/>
        </p:nvSpPr>
        <p:spPr>
          <a:xfrm>
            <a:off x="167148" y="2442834"/>
            <a:ext cx="3886200" cy="1384995"/>
          </a:xfrm>
          <a:prstGeom prst="rect">
            <a:avLst/>
          </a:prstGeom>
          <a:noFill/>
        </p:spPr>
        <p:txBody>
          <a:bodyPr wrap="square">
            <a:spAutoFit/>
          </a:bodyPr>
          <a:lstStyle/>
          <a:p>
            <a:pPr algn="just" fontAlgn="base"/>
            <a:r>
              <a:rPr lang="en-US" altLang="en-US" sz="1400" b="1" dirty="0">
                <a:latin typeface="Times New Roman" panose="02020603050405020304" pitchFamily="18" charset="0"/>
                <a:cs typeface="Times New Roman" panose="02020603050405020304" pitchFamily="18" charset="0"/>
              </a:rPr>
              <a:t>Data Warehouse:</a:t>
            </a:r>
            <a:r>
              <a:rPr lang="en-IN" sz="1400" dirty="0">
                <a:latin typeface="Times New Roman" panose="02020603050405020304" pitchFamily="18" charset="0"/>
                <a:cs typeface="Times New Roman" panose="02020603050405020304" pitchFamily="18" charset="0"/>
              </a:rPr>
              <a:t> Data warehousing is the process of collecting, integrating, storing and managing data from multiple sources in a central repository. It enables organisations to organise large volumes of current and historical data for efficient querying, analysis and reporting</a:t>
            </a:r>
          </a:p>
        </p:txBody>
      </p:sp>
      <p:sp>
        <p:nvSpPr>
          <p:cNvPr id="8" name="TextBox 7">
            <a:extLst>
              <a:ext uri="{FF2B5EF4-FFF2-40B4-BE49-F238E27FC236}">
                <a16:creationId xmlns:a16="http://schemas.microsoft.com/office/drawing/2014/main" id="{C61D5159-E16B-D35D-8F1B-FB1AC7FC902E}"/>
              </a:ext>
            </a:extLst>
          </p:cNvPr>
          <p:cNvSpPr txBox="1"/>
          <p:nvPr/>
        </p:nvSpPr>
        <p:spPr>
          <a:xfrm>
            <a:off x="186812" y="3933479"/>
            <a:ext cx="8820765" cy="2462213"/>
          </a:xfrm>
          <a:prstGeom prst="rect">
            <a:avLst/>
          </a:prstGeom>
          <a:noFill/>
        </p:spPr>
        <p:txBody>
          <a:bodyPr wrap="square">
            <a:spAutoFit/>
          </a:bodyPr>
          <a:lstStyle/>
          <a:p>
            <a:pPr fontAlgn="base"/>
            <a:r>
              <a:rPr lang="en-IN" sz="1400" b="1" dirty="0">
                <a:latin typeface="Times New Roman" panose="02020603050405020304" pitchFamily="18" charset="0"/>
                <a:cs typeface="Times New Roman" panose="02020603050405020304" pitchFamily="18" charset="0"/>
              </a:rPr>
              <a:t>Need for Data Warehousing:</a:t>
            </a:r>
          </a:p>
          <a:p>
            <a:pPr marL="285750" indent="-285750" fontAlgn="base">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Handling Large Data Volumes</a:t>
            </a:r>
            <a:r>
              <a:rPr lang="en-IN" sz="1400" dirty="0">
                <a:latin typeface="Times New Roman" panose="02020603050405020304" pitchFamily="18" charset="0"/>
                <a:cs typeface="Times New Roman" panose="02020603050405020304" pitchFamily="18" charset="0"/>
              </a:rPr>
              <a:t>: Traditional databases store limited data (MBs to GBs), while data warehouses are built to handle huge datasets (up to TBs), making it easier to store and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long-term historical data.</a:t>
            </a:r>
          </a:p>
          <a:p>
            <a:pPr marL="285750" indent="-285750" fontAlgn="base">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Enhanced Analytics</a:t>
            </a:r>
            <a:r>
              <a:rPr lang="en-IN" sz="1400" dirty="0">
                <a:latin typeface="Times New Roman" panose="02020603050405020304" pitchFamily="18" charset="0"/>
                <a:cs typeface="Times New Roman" panose="02020603050405020304" pitchFamily="18" charset="0"/>
              </a:rPr>
              <a:t>: Databases handle transactions; data warehouses are optimized for complex analysis and historical insights.</a:t>
            </a:r>
          </a:p>
          <a:p>
            <a:pPr marL="285750" indent="-285750" fontAlgn="base">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Centralized Data Storage</a:t>
            </a:r>
            <a:r>
              <a:rPr lang="en-IN" sz="1400" dirty="0">
                <a:latin typeface="Times New Roman" panose="02020603050405020304" pitchFamily="18" charset="0"/>
                <a:cs typeface="Times New Roman" panose="02020603050405020304" pitchFamily="18" charset="0"/>
              </a:rPr>
              <a:t>: A data warehouse combines data from multiple sources, giving a single, unified view for better decision-making.</a:t>
            </a:r>
          </a:p>
          <a:p>
            <a:pPr marL="285750" indent="-285750" fontAlgn="base">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Trend Analysis</a:t>
            </a:r>
            <a:r>
              <a:rPr lang="en-IN" sz="1400" dirty="0">
                <a:latin typeface="Times New Roman" panose="02020603050405020304" pitchFamily="18" charset="0"/>
                <a:cs typeface="Times New Roman" panose="02020603050405020304" pitchFamily="18" charset="0"/>
              </a:rPr>
              <a:t>: By storing historical data, a data warehouse allows businesses to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trends over time, enabling them to make strategic decisions based on past performance and predict future outcomes.</a:t>
            </a:r>
          </a:p>
          <a:p>
            <a:pPr marL="285750" indent="-285750" fontAlgn="base">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Business Intelligence Support:</a:t>
            </a:r>
            <a:r>
              <a:rPr lang="en-IN" sz="1400" dirty="0">
                <a:latin typeface="Times New Roman" panose="02020603050405020304" pitchFamily="18" charset="0"/>
                <a:cs typeface="Times New Roman" panose="02020603050405020304" pitchFamily="18" charset="0"/>
              </a:rPr>
              <a:t> Data warehouses work with BI tools to give quick access to insights, helping in data-driven decisions and improving efficiency</a:t>
            </a:r>
          </a:p>
        </p:txBody>
      </p:sp>
      <p:pic>
        <p:nvPicPr>
          <p:cNvPr id="4" name="Picture 3" descr="data_warehouse">
            <a:extLst>
              <a:ext uri="{FF2B5EF4-FFF2-40B4-BE49-F238E27FC236}">
                <a16:creationId xmlns:a16="http://schemas.microsoft.com/office/drawing/2014/main" id="{B97BCA8C-C5C7-7860-91E9-340F53E3CC82}"/>
              </a:ext>
            </a:extLst>
          </p:cNvPr>
          <p:cNvPicPr>
            <a:picLocks noChangeAspect="1"/>
          </p:cNvPicPr>
          <p:nvPr/>
        </p:nvPicPr>
        <p:blipFill>
          <a:blip r:embed="rId2"/>
          <a:stretch>
            <a:fillRect/>
          </a:stretch>
        </p:blipFill>
        <p:spPr>
          <a:xfrm>
            <a:off x="4132006" y="675235"/>
            <a:ext cx="4793788" cy="3428285"/>
          </a:xfrm>
          <a:prstGeom prst="rect">
            <a:avLst/>
          </a:prstGeom>
        </p:spPr>
      </p:pic>
    </p:spTree>
    <p:extLst>
      <p:ext uri="{BB962C8B-B14F-4D97-AF65-F5344CB8AC3E}">
        <p14:creationId xmlns:p14="http://schemas.microsoft.com/office/powerpoint/2010/main" val="280266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B164C-1563-3BC3-47D0-1D085AD167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1EEB3B-5194-3865-EF60-1BCA91CB00D0}"/>
              </a:ext>
            </a:extLst>
          </p:cNvPr>
          <p:cNvSpPr>
            <a:spLocks noGrp="1"/>
          </p:cNvSpPr>
          <p:nvPr>
            <p:ph idx="1"/>
          </p:nvPr>
        </p:nvSpPr>
        <p:spPr>
          <a:xfrm>
            <a:off x="433848" y="635906"/>
            <a:ext cx="3628103" cy="1954894"/>
          </a:xfrm>
        </p:spPr>
        <p:txBody>
          <a:bodyPr>
            <a:noAutofit/>
          </a:bodyPr>
          <a:lstStyle/>
          <a:p>
            <a:pPr>
              <a:lnSpc>
                <a:spcPct val="130000"/>
              </a:lnSpc>
            </a:pPr>
            <a:r>
              <a:rPr lang="en-US" altLang="en-US" sz="1800" dirty="0">
                <a:latin typeface="Times New Roman" panose="02020603050405020304" pitchFamily="18" charset="0"/>
                <a:cs typeface="Times New Roman" panose="02020603050405020304" pitchFamily="18" charset="0"/>
              </a:rPr>
              <a:t>Database-oriented data sets and applications</a:t>
            </a:r>
          </a:p>
          <a:p>
            <a:pPr lvl="1">
              <a:lnSpc>
                <a:spcPct val="130000"/>
              </a:lnSpc>
            </a:pPr>
            <a:r>
              <a:rPr lang="en-US" altLang="en-US" sz="1800" dirty="0">
                <a:latin typeface="Times New Roman" panose="02020603050405020304" pitchFamily="18" charset="0"/>
                <a:cs typeface="Times New Roman" panose="02020603050405020304" pitchFamily="18" charset="0"/>
              </a:rPr>
              <a:t>Relational database, data warehouse, </a:t>
            </a:r>
            <a:r>
              <a:rPr lang="en-US" altLang="en-US" sz="1800" b="1" dirty="0">
                <a:latin typeface="Times New Roman" panose="02020603050405020304" pitchFamily="18" charset="0"/>
                <a:cs typeface="Times New Roman" panose="02020603050405020304" pitchFamily="18" charset="0"/>
              </a:rPr>
              <a:t>transactional database</a:t>
            </a:r>
          </a:p>
        </p:txBody>
      </p:sp>
      <p:sp>
        <p:nvSpPr>
          <p:cNvPr id="3" name="Title 2">
            <a:extLst>
              <a:ext uri="{FF2B5EF4-FFF2-40B4-BE49-F238E27FC236}">
                <a16:creationId xmlns:a16="http://schemas.microsoft.com/office/drawing/2014/main" id="{A6467A05-2E16-4FC6-7C0E-CDE2C700E8BB}"/>
              </a:ext>
            </a:extLst>
          </p:cNvPr>
          <p:cNvSpPr>
            <a:spLocks noGrp="1"/>
          </p:cNvSpPr>
          <p:nvPr>
            <p:ph type="title"/>
          </p:nvPr>
        </p:nvSpPr>
        <p:spPr>
          <a:xfrm>
            <a:off x="486697" y="96706"/>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What Kinds of Data Can Be Mined?</a:t>
            </a:r>
          </a:p>
        </p:txBody>
      </p:sp>
      <p:sp>
        <p:nvSpPr>
          <p:cNvPr id="5" name="TextBox 4">
            <a:extLst>
              <a:ext uri="{FF2B5EF4-FFF2-40B4-BE49-F238E27FC236}">
                <a16:creationId xmlns:a16="http://schemas.microsoft.com/office/drawing/2014/main" id="{1B99EF38-330A-78A3-2119-2AD4289D3ACB}"/>
              </a:ext>
            </a:extLst>
          </p:cNvPr>
          <p:cNvSpPr txBox="1"/>
          <p:nvPr/>
        </p:nvSpPr>
        <p:spPr>
          <a:xfrm>
            <a:off x="186813" y="2590800"/>
            <a:ext cx="3013587" cy="3108543"/>
          </a:xfrm>
          <a:prstGeom prst="rect">
            <a:avLst/>
          </a:prstGeom>
          <a:noFill/>
        </p:spPr>
        <p:txBody>
          <a:bodyPr wrap="square">
            <a:spAutoFit/>
          </a:bodyPr>
          <a:lstStyle/>
          <a:p>
            <a:pPr fontAlgn="base"/>
            <a:r>
              <a:rPr lang="en-IN" sz="1400" dirty="0">
                <a:latin typeface="Times New Roman" panose="02020603050405020304" pitchFamily="18" charset="0"/>
                <a:cs typeface="Times New Roman" panose="02020603050405020304" pitchFamily="18" charset="0"/>
              </a:rPr>
              <a:t>A transaction refers to a sequence of one or more operations (such as read, write, update, or delete) performed on the database as a single logical unit of work.</a:t>
            </a:r>
          </a:p>
          <a:p>
            <a:pPr marL="171450" indent="-171450" fontAlgn="base">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 transaction ensures that either all the operations are successfully executed (committed) or none of them take effect (rolled back).</a:t>
            </a:r>
          </a:p>
          <a:p>
            <a:pPr marL="171450" indent="-171450" fontAlgn="base">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Transactions are designed to maintain the integrity, consistency and reliability of the database, even in the case of system failures or concurrent access.</a:t>
            </a:r>
          </a:p>
        </p:txBody>
      </p:sp>
      <p:sp>
        <p:nvSpPr>
          <p:cNvPr id="8" name="TextBox 7">
            <a:extLst>
              <a:ext uri="{FF2B5EF4-FFF2-40B4-BE49-F238E27FC236}">
                <a16:creationId xmlns:a16="http://schemas.microsoft.com/office/drawing/2014/main" id="{9AB0D6DE-1311-251B-F2B4-55A50410A023}"/>
              </a:ext>
            </a:extLst>
          </p:cNvPr>
          <p:cNvSpPr txBox="1"/>
          <p:nvPr/>
        </p:nvSpPr>
        <p:spPr>
          <a:xfrm>
            <a:off x="3200400" y="4433355"/>
            <a:ext cx="5943600" cy="2031325"/>
          </a:xfrm>
          <a:prstGeom prst="rect">
            <a:avLst/>
          </a:prstGeom>
          <a:noFill/>
        </p:spPr>
        <p:txBody>
          <a:bodyPr wrap="square">
            <a:spAutoFit/>
          </a:bodyPr>
          <a:lstStyle/>
          <a:p>
            <a:pPr fontAlgn="base"/>
            <a:r>
              <a:rPr lang="en-IN" b="1" dirty="0">
                <a:latin typeface="Times New Roman" panose="02020603050405020304" pitchFamily="18" charset="0"/>
                <a:cs typeface="Times New Roman" panose="02020603050405020304" pitchFamily="18" charset="0"/>
              </a:rPr>
              <a:t>Example: </a:t>
            </a:r>
            <a:r>
              <a:rPr lang="en-IN" dirty="0">
                <a:latin typeface="Times New Roman" panose="02020603050405020304" pitchFamily="18" charset="0"/>
                <a:cs typeface="Times New Roman" panose="02020603050405020304" pitchFamily="18" charset="0"/>
              </a:rPr>
              <a:t>Let’s consider an online banking applicatio</a:t>
            </a:r>
            <a:r>
              <a:rPr lang="en-IN" b="1" dirty="0">
                <a:latin typeface="Times New Roman" panose="02020603050405020304" pitchFamily="18" charset="0"/>
                <a:cs typeface="Times New Roman" panose="02020603050405020304" pitchFamily="18" charset="0"/>
              </a:rPr>
              <a:t>n</a:t>
            </a:r>
            <a:r>
              <a:rPr lang="en-IN" dirty="0">
                <a:latin typeface="Times New Roman" panose="02020603050405020304" pitchFamily="18" charset="0"/>
                <a:cs typeface="Times New Roman" panose="02020603050405020304" pitchFamily="18" charset="0"/>
              </a:rPr>
              <a:t>:</a:t>
            </a:r>
          </a:p>
          <a:p>
            <a:pPr fontAlgn="base"/>
            <a:endParaRPr lang="en-IN"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Transaction</a:t>
            </a:r>
            <a:r>
              <a:rPr lang="en-IN" dirty="0">
                <a:latin typeface="Times New Roman" panose="02020603050405020304" pitchFamily="18" charset="0"/>
                <a:cs typeface="Times New Roman" panose="02020603050405020304" pitchFamily="18" charset="0"/>
              </a:rPr>
              <a:t>: When a user performs a </a:t>
            </a:r>
            <a:r>
              <a:rPr lang="en-IN" b="1" dirty="0">
                <a:latin typeface="Times New Roman" panose="02020603050405020304" pitchFamily="18" charset="0"/>
                <a:cs typeface="Times New Roman" panose="02020603050405020304" pitchFamily="18" charset="0"/>
              </a:rPr>
              <a:t>money transfer</a:t>
            </a:r>
            <a:r>
              <a:rPr lang="en-IN" dirty="0">
                <a:latin typeface="Times New Roman" panose="02020603050405020304" pitchFamily="18" charset="0"/>
                <a:cs typeface="Times New Roman" panose="02020603050405020304" pitchFamily="18" charset="0"/>
              </a:rPr>
              <a:t>, several operations occur, such as:</a:t>
            </a:r>
          </a:p>
          <a:p>
            <a:pPr marL="285750" indent="-285750"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Reading</a:t>
            </a:r>
            <a:r>
              <a:rPr lang="en-IN" dirty="0">
                <a:latin typeface="Times New Roman" panose="02020603050405020304" pitchFamily="18" charset="0"/>
                <a:cs typeface="Times New Roman" panose="02020603050405020304" pitchFamily="18" charset="0"/>
              </a:rPr>
              <a:t> the account balance of the sender.</a:t>
            </a:r>
          </a:p>
          <a:p>
            <a:pPr marL="285750" indent="-285750"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Writing</a:t>
            </a:r>
            <a:r>
              <a:rPr lang="en-IN" dirty="0">
                <a:latin typeface="Times New Roman" panose="02020603050405020304" pitchFamily="18" charset="0"/>
                <a:cs typeface="Times New Roman" panose="02020603050405020304" pitchFamily="18" charset="0"/>
              </a:rPr>
              <a:t> the deducted amount from the sender’s account.</a:t>
            </a:r>
          </a:p>
          <a:p>
            <a:pPr marL="285750" indent="-285750"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Writing</a:t>
            </a:r>
            <a:r>
              <a:rPr lang="en-IN" dirty="0">
                <a:latin typeface="Times New Roman" panose="02020603050405020304" pitchFamily="18" charset="0"/>
                <a:cs typeface="Times New Roman" panose="02020603050405020304" pitchFamily="18" charset="0"/>
              </a:rPr>
              <a:t> the added amount to the recipient’s account.</a:t>
            </a:r>
          </a:p>
        </p:txBody>
      </p:sp>
      <p:pic>
        <p:nvPicPr>
          <p:cNvPr id="4" name="Picture 3" descr="transaction_1">
            <a:extLst>
              <a:ext uri="{FF2B5EF4-FFF2-40B4-BE49-F238E27FC236}">
                <a16:creationId xmlns:a16="http://schemas.microsoft.com/office/drawing/2014/main" id="{74DD4418-2F1E-13F5-DB53-E464F3629351}"/>
              </a:ext>
            </a:extLst>
          </p:cNvPr>
          <p:cNvPicPr>
            <a:picLocks noChangeAspect="1"/>
          </p:cNvPicPr>
          <p:nvPr/>
        </p:nvPicPr>
        <p:blipFill>
          <a:blip r:embed="rId2"/>
          <a:stretch>
            <a:fillRect/>
          </a:stretch>
        </p:blipFill>
        <p:spPr>
          <a:xfrm>
            <a:off x="4127551" y="915245"/>
            <a:ext cx="4711650" cy="2513756"/>
          </a:xfrm>
          <a:prstGeom prst="rect">
            <a:avLst/>
          </a:prstGeom>
        </p:spPr>
      </p:pic>
    </p:spTree>
    <p:extLst>
      <p:ext uri="{BB962C8B-B14F-4D97-AF65-F5344CB8AC3E}">
        <p14:creationId xmlns:p14="http://schemas.microsoft.com/office/powerpoint/2010/main" val="4097963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2E7F9-21C4-8D84-4AA0-752E30FA17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CAADC0-3860-690E-DBF3-6AFCA8C02F3C}"/>
              </a:ext>
            </a:extLst>
          </p:cNvPr>
          <p:cNvSpPr>
            <a:spLocks noGrp="1"/>
          </p:cNvSpPr>
          <p:nvPr>
            <p:ph idx="1"/>
          </p:nvPr>
        </p:nvSpPr>
        <p:spPr>
          <a:xfrm>
            <a:off x="457200" y="850709"/>
            <a:ext cx="3581400" cy="4767072"/>
          </a:xfrm>
        </p:spPr>
        <p:txBody>
          <a:bodyPr>
            <a:noAutofit/>
          </a:bodyPr>
          <a:lstStyle/>
          <a:p>
            <a:pPr>
              <a:lnSpc>
                <a:spcPct val="130000"/>
              </a:lnSpc>
            </a:pPr>
            <a:r>
              <a:rPr lang="en-US" altLang="en-US" sz="1400" dirty="0">
                <a:latin typeface="Times New Roman" panose="02020603050405020304" pitchFamily="18" charset="0"/>
                <a:cs typeface="Times New Roman" panose="02020603050405020304" pitchFamily="18" charset="0"/>
              </a:rPr>
              <a:t>Advanced data sets and advanced applications </a:t>
            </a:r>
          </a:p>
          <a:p>
            <a:pPr lvl="1">
              <a:lnSpc>
                <a:spcPct val="130000"/>
              </a:lnSpc>
            </a:pPr>
            <a:r>
              <a:rPr lang="en-US" altLang="en-US" sz="1800" b="1" dirty="0">
                <a:latin typeface="Times New Roman" panose="02020603050405020304" pitchFamily="18" charset="0"/>
                <a:cs typeface="Times New Roman" panose="02020603050405020304" pitchFamily="18" charset="0"/>
              </a:rPr>
              <a:t>Data streams and sensor data</a:t>
            </a:r>
          </a:p>
          <a:p>
            <a:pPr lvl="1">
              <a:lnSpc>
                <a:spcPct val="130000"/>
              </a:lnSpc>
            </a:pPr>
            <a:r>
              <a:rPr lang="en-US" altLang="en-US" sz="1400" dirty="0">
                <a:latin typeface="Times New Roman" panose="02020603050405020304" pitchFamily="18" charset="0"/>
                <a:cs typeface="Times New Roman" panose="02020603050405020304" pitchFamily="18" charset="0"/>
              </a:rPr>
              <a:t>Time-series data, temporal data, sequence data (incl. bio-sequences) </a:t>
            </a:r>
          </a:p>
          <a:p>
            <a:pPr lvl="1">
              <a:lnSpc>
                <a:spcPct val="130000"/>
              </a:lnSpc>
            </a:pPr>
            <a:r>
              <a:rPr lang="en-US" altLang="en-US" sz="1400" dirty="0">
                <a:latin typeface="Times New Roman" panose="02020603050405020304" pitchFamily="18" charset="0"/>
                <a:cs typeface="Times New Roman" panose="02020603050405020304" pitchFamily="18" charset="0"/>
              </a:rPr>
              <a:t>Structure data, graphs, social networks and multi-linked data</a:t>
            </a:r>
          </a:p>
          <a:p>
            <a:pPr lvl="1">
              <a:lnSpc>
                <a:spcPct val="130000"/>
              </a:lnSpc>
            </a:pPr>
            <a:r>
              <a:rPr lang="en-US" altLang="en-US" sz="1400" dirty="0">
                <a:latin typeface="Times New Roman" panose="02020603050405020304" pitchFamily="18" charset="0"/>
                <a:cs typeface="Times New Roman" panose="02020603050405020304" pitchFamily="18" charset="0"/>
              </a:rPr>
              <a:t>Object-relational databases</a:t>
            </a:r>
          </a:p>
          <a:p>
            <a:pPr lvl="1">
              <a:lnSpc>
                <a:spcPct val="130000"/>
              </a:lnSpc>
            </a:pPr>
            <a:r>
              <a:rPr lang="en-US" altLang="en-US" sz="1400" dirty="0">
                <a:latin typeface="Times New Roman" panose="02020603050405020304" pitchFamily="18" charset="0"/>
                <a:cs typeface="Times New Roman" panose="02020603050405020304" pitchFamily="18" charset="0"/>
              </a:rPr>
              <a:t>Heterogeneous databases and legacy databases</a:t>
            </a:r>
          </a:p>
          <a:p>
            <a:pPr lvl="1">
              <a:lnSpc>
                <a:spcPct val="130000"/>
              </a:lnSpc>
            </a:pPr>
            <a:r>
              <a:rPr lang="en-US" altLang="en-US" sz="1400" dirty="0">
                <a:latin typeface="Times New Roman" panose="02020603050405020304" pitchFamily="18" charset="0"/>
                <a:cs typeface="Times New Roman" panose="02020603050405020304" pitchFamily="18" charset="0"/>
              </a:rPr>
              <a:t>Spatial data and spatiotemporal data</a:t>
            </a:r>
          </a:p>
          <a:p>
            <a:pPr lvl="1">
              <a:lnSpc>
                <a:spcPct val="130000"/>
              </a:lnSpc>
            </a:pPr>
            <a:r>
              <a:rPr lang="en-US" altLang="en-US" sz="1400" dirty="0">
                <a:latin typeface="Times New Roman" panose="02020603050405020304" pitchFamily="18" charset="0"/>
                <a:cs typeface="Times New Roman" panose="02020603050405020304" pitchFamily="18" charset="0"/>
              </a:rPr>
              <a:t>Multimedia database</a:t>
            </a:r>
          </a:p>
          <a:p>
            <a:pPr lvl="1">
              <a:lnSpc>
                <a:spcPct val="130000"/>
              </a:lnSpc>
            </a:pPr>
            <a:r>
              <a:rPr lang="en-US" altLang="en-US" sz="1400" dirty="0">
                <a:latin typeface="Times New Roman" panose="02020603050405020304" pitchFamily="18" charset="0"/>
                <a:cs typeface="Times New Roman" panose="02020603050405020304" pitchFamily="18" charset="0"/>
              </a:rPr>
              <a:t>Text databases</a:t>
            </a:r>
          </a:p>
          <a:p>
            <a:pPr lvl="1">
              <a:lnSpc>
                <a:spcPct val="130000"/>
              </a:lnSpc>
            </a:pPr>
            <a:r>
              <a:rPr lang="en-US" altLang="en-US" sz="1400" dirty="0">
                <a:latin typeface="Times New Roman" panose="02020603050405020304" pitchFamily="18" charset="0"/>
                <a:cs typeface="Times New Roman" panose="02020603050405020304" pitchFamily="18" charset="0"/>
              </a:rPr>
              <a:t>The World-Wide Web</a:t>
            </a:r>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FBE8BA1-18BC-7B30-C998-B8F5A6760124}"/>
              </a:ext>
            </a:extLst>
          </p:cNvPr>
          <p:cNvSpPr>
            <a:spLocks noGrp="1"/>
          </p:cNvSpPr>
          <p:nvPr>
            <p:ph type="title"/>
          </p:nvPr>
        </p:nvSpPr>
        <p:spPr>
          <a:xfrm>
            <a:off x="474406" y="19665"/>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What Kinds of Data Can Be Mined?</a:t>
            </a:r>
          </a:p>
        </p:txBody>
      </p:sp>
      <p:pic>
        <p:nvPicPr>
          <p:cNvPr id="4" name="Picture 3" descr="What is Real-Time Data Streaming: Architecture, Tools &amp; Use Cases">
            <a:extLst>
              <a:ext uri="{FF2B5EF4-FFF2-40B4-BE49-F238E27FC236}">
                <a16:creationId xmlns:a16="http://schemas.microsoft.com/office/drawing/2014/main" id="{DBD433F6-C231-EEB1-215B-4A0311C9D6EF}"/>
              </a:ext>
            </a:extLst>
          </p:cNvPr>
          <p:cNvPicPr>
            <a:picLocks noChangeAspect="1"/>
          </p:cNvPicPr>
          <p:nvPr/>
        </p:nvPicPr>
        <p:blipFill>
          <a:blip r:embed="rId2"/>
          <a:stretch>
            <a:fillRect/>
          </a:stretch>
        </p:blipFill>
        <p:spPr>
          <a:xfrm>
            <a:off x="4107373" y="1298729"/>
            <a:ext cx="3892398" cy="2435072"/>
          </a:xfrm>
          <a:prstGeom prst="rect">
            <a:avLst/>
          </a:prstGeom>
        </p:spPr>
      </p:pic>
      <p:pic>
        <p:nvPicPr>
          <p:cNvPr id="5" name="Picture 4" descr="Sensor Data Analytics - Automobile">
            <a:extLst>
              <a:ext uri="{FF2B5EF4-FFF2-40B4-BE49-F238E27FC236}">
                <a16:creationId xmlns:a16="http://schemas.microsoft.com/office/drawing/2014/main" id="{D4E62ADC-AB28-ACC3-5249-61D82C5F9044}"/>
              </a:ext>
            </a:extLst>
          </p:cNvPr>
          <p:cNvPicPr>
            <a:picLocks noChangeAspect="1"/>
          </p:cNvPicPr>
          <p:nvPr/>
        </p:nvPicPr>
        <p:blipFill>
          <a:blip r:embed="rId3"/>
          <a:stretch>
            <a:fillRect/>
          </a:stretch>
        </p:blipFill>
        <p:spPr>
          <a:xfrm>
            <a:off x="4259649" y="3886201"/>
            <a:ext cx="3897629" cy="2514600"/>
          </a:xfrm>
          <a:prstGeom prst="rect">
            <a:avLst/>
          </a:prstGeom>
        </p:spPr>
      </p:pic>
    </p:spTree>
    <p:extLst>
      <p:ext uri="{BB962C8B-B14F-4D97-AF65-F5344CB8AC3E}">
        <p14:creationId xmlns:p14="http://schemas.microsoft.com/office/powerpoint/2010/main" val="2578516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C0E7-AE61-54E2-C47D-82A30F8A2C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1B782E-7B82-1AAD-D269-56440FC402DC}"/>
              </a:ext>
            </a:extLst>
          </p:cNvPr>
          <p:cNvSpPr>
            <a:spLocks noGrp="1"/>
          </p:cNvSpPr>
          <p:nvPr>
            <p:ph idx="1"/>
          </p:nvPr>
        </p:nvSpPr>
        <p:spPr>
          <a:xfrm>
            <a:off x="457200" y="1481328"/>
            <a:ext cx="8229600" cy="4767072"/>
          </a:xfrm>
        </p:spPr>
        <p:txBody>
          <a:bodyPr>
            <a:noAutofit/>
          </a:bodyPr>
          <a:lstStyle/>
          <a:p>
            <a:pPr>
              <a:lnSpc>
                <a:spcPct val="130000"/>
              </a:lnSpc>
            </a:pPr>
            <a:r>
              <a:rPr lang="en-US" altLang="en-US" sz="1800" dirty="0">
                <a:latin typeface="Times New Roman" panose="02020603050405020304" pitchFamily="18" charset="0"/>
                <a:cs typeface="Times New Roman" panose="02020603050405020304" pitchFamily="18" charset="0"/>
              </a:rPr>
              <a:t>Database-oriented data sets and applications</a:t>
            </a:r>
          </a:p>
          <a:p>
            <a:pPr lvl="1">
              <a:lnSpc>
                <a:spcPct val="130000"/>
              </a:lnSpc>
            </a:pPr>
            <a:r>
              <a:rPr lang="en-US" altLang="en-US" sz="1800" dirty="0">
                <a:latin typeface="Times New Roman" panose="02020603050405020304" pitchFamily="18" charset="0"/>
                <a:cs typeface="Times New Roman" panose="02020603050405020304" pitchFamily="18" charset="0"/>
              </a:rPr>
              <a:t>Relational database, data warehouse, transactional database</a:t>
            </a:r>
          </a:p>
          <a:p>
            <a:pPr>
              <a:lnSpc>
                <a:spcPct val="130000"/>
              </a:lnSpc>
            </a:pPr>
            <a:r>
              <a:rPr lang="en-US" altLang="en-US" sz="1800" dirty="0">
                <a:latin typeface="Times New Roman" panose="02020603050405020304" pitchFamily="18" charset="0"/>
                <a:cs typeface="Times New Roman" panose="02020603050405020304" pitchFamily="18" charset="0"/>
              </a:rPr>
              <a:t>Advanced data sets and advanced applications </a:t>
            </a:r>
          </a:p>
          <a:p>
            <a:pPr lvl="1">
              <a:lnSpc>
                <a:spcPct val="130000"/>
              </a:lnSpc>
            </a:pPr>
            <a:r>
              <a:rPr lang="en-US" altLang="en-US" sz="1800" dirty="0">
                <a:latin typeface="Times New Roman" panose="02020603050405020304" pitchFamily="18" charset="0"/>
                <a:cs typeface="Times New Roman" panose="02020603050405020304" pitchFamily="18" charset="0"/>
              </a:rPr>
              <a:t>Data streams and sensor data</a:t>
            </a:r>
          </a:p>
          <a:p>
            <a:pPr lvl="1">
              <a:lnSpc>
                <a:spcPct val="130000"/>
              </a:lnSpc>
            </a:pPr>
            <a:r>
              <a:rPr lang="en-US" altLang="en-US" sz="1800" dirty="0">
                <a:latin typeface="Times New Roman" panose="02020603050405020304" pitchFamily="18" charset="0"/>
                <a:cs typeface="Times New Roman" panose="02020603050405020304" pitchFamily="18" charset="0"/>
              </a:rPr>
              <a:t>Time-series data, temporal data, sequence data (incl. bio-sequences) </a:t>
            </a:r>
          </a:p>
          <a:p>
            <a:pPr lvl="1">
              <a:lnSpc>
                <a:spcPct val="130000"/>
              </a:lnSpc>
            </a:pPr>
            <a:r>
              <a:rPr lang="en-US" altLang="en-US" sz="1800" dirty="0">
                <a:latin typeface="Times New Roman" panose="02020603050405020304" pitchFamily="18" charset="0"/>
                <a:cs typeface="Times New Roman" panose="02020603050405020304" pitchFamily="18" charset="0"/>
              </a:rPr>
              <a:t>Structure data, graphs, social networks and multi-linked data</a:t>
            </a:r>
          </a:p>
          <a:p>
            <a:pPr lvl="1">
              <a:lnSpc>
                <a:spcPct val="130000"/>
              </a:lnSpc>
            </a:pPr>
            <a:r>
              <a:rPr lang="en-US" altLang="en-US" sz="1800" dirty="0">
                <a:latin typeface="Times New Roman" panose="02020603050405020304" pitchFamily="18" charset="0"/>
                <a:cs typeface="Times New Roman" panose="02020603050405020304" pitchFamily="18" charset="0"/>
              </a:rPr>
              <a:t>Object-relational databases</a:t>
            </a:r>
          </a:p>
          <a:p>
            <a:pPr lvl="1">
              <a:lnSpc>
                <a:spcPct val="130000"/>
              </a:lnSpc>
            </a:pPr>
            <a:r>
              <a:rPr lang="en-US" altLang="en-US" sz="1800" dirty="0">
                <a:latin typeface="Times New Roman" panose="02020603050405020304" pitchFamily="18" charset="0"/>
                <a:cs typeface="Times New Roman" panose="02020603050405020304" pitchFamily="18" charset="0"/>
              </a:rPr>
              <a:t>Heterogeneous databases and legacy databases</a:t>
            </a:r>
          </a:p>
          <a:p>
            <a:pPr lvl="1">
              <a:lnSpc>
                <a:spcPct val="130000"/>
              </a:lnSpc>
            </a:pPr>
            <a:r>
              <a:rPr lang="en-US" altLang="en-US" sz="1800" dirty="0">
                <a:latin typeface="Times New Roman" panose="02020603050405020304" pitchFamily="18" charset="0"/>
                <a:cs typeface="Times New Roman" panose="02020603050405020304" pitchFamily="18" charset="0"/>
              </a:rPr>
              <a:t>Spatial data and spatiotemporal data</a:t>
            </a:r>
          </a:p>
          <a:p>
            <a:pPr lvl="1">
              <a:lnSpc>
                <a:spcPct val="130000"/>
              </a:lnSpc>
            </a:pPr>
            <a:r>
              <a:rPr lang="en-US" altLang="en-US" sz="1800" dirty="0">
                <a:latin typeface="Times New Roman" panose="02020603050405020304" pitchFamily="18" charset="0"/>
                <a:cs typeface="Times New Roman" panose="02020603050405020304" pitchFamily="18" charset="0"/>
              </a:rPr>
              <a:t>Multimedia database</a:t>
            </a:r>
          </a:p>
          <a:p>
            <a:pPr lvl="1">
              <a:lnSpc>
                <a:spcPct val="130000"/>
              </a:lnSpc>
            </a:pPr>
            <a:r>
              <a:rPr lang="en-US" altLang="en-US" sz="1800" dirty="0">
                <a:latin typeface="Times New Roman" panose="02020603050405020304" pitchFamily="18" charset="0"/>
                <a:cs typeface="Times New Roman" panose="02020603050405020304" pitchFamily="18" charset="0"/>
              </a:rPr>
              <a:t>Text databases</a:t>
            </a:r>
          </a:p>
          <a:p>
            <a:pPr lvl="1">
              <a:lnSpc>
                <a:spcPct val="130000"/>
              </a:lnSpc>
            </a:pPr>
            <a:r>
              <a:rPr lang="en-US" altLang="en-US" sz="1800" dirty="0">
                <a:latin typeface="Times New Roman" panose="02020603050405020304" pitchFamily="18" charset="0"/>
                <a:cs typeface="Times New Roman" panose="02020603050405020304" pitchFamily="18" charset="0"/>
              </a:rPr>
              <a:t>The World-Wide Web</a:t>
            </a: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D54F8E4-CC01-B8B0-B7CE-3BFDF4AF7543}"/>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What Kinds of Data Can Be Mined?</a:t>
            </a:r>
          </a:p>
        </p:txBody>
      </p:sp>
    </p:spTree>
    <p:extLst>
      <p:ext uri="{BB962C8B-B14F-4D97-AF65-F5344CB8AC3E}">
        <p14:creationId xmlns:p14="http://schemas.microsoft.com/office/powerpoint/2010/main" val="2471189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694EAF6D-E5A8-9D02-9588-E528E68381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A733D554-758B-4ADA-B5C8-64C16F5A4AA4}" type="slidenum">
              <a:rPr lang="en-US" altLang="en-US" sz="1400"/>
              <a:pPr eaLnBrk="1" hangingPunct="1"/>
              <a:t>36</a:t>
            </a:fld>
            <a:endParaRPr lang="en-US" altLang="en-US" sz="1400"/>
          </a:p>
        </p:txBody>
      </p:sp>
      <p:sp>
        <p:nvSpPr>
          <p:cNvPr id="21507" name="Rectangle 2">
            <a:extLst>
              <a:ext uri="{FF2B5EF4-FFF2-40B4-BE49-F238E27FC236}">
                <a16:creationId xmlns:a16="http://schemas.microsoft.com/office/drawing/2014/main" id="{7EA5A490-7CF5-63B7-C805-E6AC5BE73D75}"/>
              </a:ext>
            </a:extLst>
          </p:cNvPr>
          <p:cNvSpPr>
            <a:spLocks noGrp="1" noChangeArrowheads="1"/>
          </p:cNvSpPr>
          <p:nvPr>
            <p:ph type="title"/>
          </p:nvPr>
        </p:nvSpPr>
        <p:spPr>
          <a:xfrm>
            <a:off x="0" y="381000"/>
            <a:ext cx="9144000" cy="561975"/>
          </a:xfrm>
          <a:noFill/>
        </p:spPr>
        <p:txBody>
          <a:bodyPr lIns="92075" tIns="46038" rIns="92075" bIns="46038" anchor="ctr">
            <a:no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Mining Function: (1) Generalization</a:t>
            </a:r>
            <a:endParaRPr lang="en-US" altLang="en-US" sz="3200" b="0" dirty="0">
              <a:solidFill>
                <a:srgbClr val="002060"/>
              </a:solidFill>
              <a:effectLst/>
              <a:latin typeface="Times New Roman" panose="02020603050405020304" pitchFamily="18" charset="0"/>
              <a:cs typeface="Times New Roman" panose="02020603050405020304" pitchFamily="18" charset="0"/>
            </a:endParaRPr>
          </a:p>
        </p:txBody>
      </p:sp>
      <p:sp>
        <p:nvSpPr>
          <p:cNvPr id="21508" name="Rectangle 3">
            <a:extLst>
              <a:ext uri="{FF2B5EF4-FFF2-40B4-BE49-F238E27FC236}">
                <a16:creationId xmlns:a16="http://schemas.microsoft.com/office/drawing/2014/main" id="{94EF9993-299E-1224-F7D0-477B82A0D948}"/>
              </a:ext>
            </a:extLst>
          </p:cNvPr>
          <p:cNvSpPr>
            <a:spLocks noGrp="1" noChangeArrowheads="1"/>
          </p:cNvSpPr>
          <p:nvPr>
            <p:ph type="body" idx="1"/>
          </p:nvPr>
        </p:nvSpPr>
        <p:spPr>
          <a:xfrm>
            <a:off x="381000" y="1295400"/>
            <a:ext cx="8305800" cy="5105400"/>
          </a:xfrm>
          <a:noFill/>
        </p:spPr>
        <p:txBody>
          <a:bodyPr lIns="92075" tIns="46038" rIns="92075" bIns="46038"/>
          <a:lstStyle/>
          <a:p>
            <a:pPr eaLnBrk="1" hangingPunct="1">
              <a:lnSpc>
                <a:spcPct val="110000"/>
              </a:lnSpc>
            </a:pPr>
            <a:r>
              <a:rPr lang="en-US" altLang="en-US" sz="2400" b="1" dirty="0">
                <a:latin typeface="Times New Roman" panose="02020603050405020304" pitchFamily="18" charset="0"/>
                <a:cs typeface="Times New Roman" panose="02020603050405020304" pitchFamily="18" charset="0"/>
              </a:rPr>
              <a:t>Information integration and data warehouse construction</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Data cleaning, transformation, integration, and multidimensional data model</a:t>
            </a:r>
          </a:p>
          <a:p>
            <a:pPr eaLnBrk="1" hangingPunct="1">
              <a:lnSpc>
                <a:spcPct val="110000"/>
              </a:lnSpc>
            </a:pPr>
            <a:r>
              <a:rPr lang="en-US" altLang="en-US" sz="2400" b="1" dirty="0">
                <a:latin typeface="Times New Roman" panose="02020603050405020304" pitchFamily="18" charset="0"/>
                <a:cs typeface="Times New Roman" panose="02020603050405020304" pitchFamily="18" charset="0"/>
              </a:rPr>
              <a:t>Data cube technology</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Scalable methods for computing (i.e., materializing) multidimensional aggregates</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OLAP (online analytical processing)</a:t>
            </a:r>
          </a:p>
          <a:p>
            <a:pPr eaLnBrk="1" hangingPunct="1">
              <a:lnSpc>
                <a:spcPct val="110000"/>
              </a:lnSpc>
            </a:pPr>
            <a:r>
              <a:rPr lang="en-US" altLang="en-US" sz="2400" b="1" dirty="0">
                <a:latin typeface="Times New Roman" panose="02020603050405020304" pitchFamily="18" charset="0"/>
                <a:cs typeface="Times New Roman" panose="02020603050405020304" pitchFamily="18" charset="0"/>
              </a:rPr>
              <a:t>Multidimensional concept description: Characterization and discrimination</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Generalize, summarize, and contrast data characteristics, e.g., dry vs. wet region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28BEE6C9-5BB7-F520-4DCB-730D6F5EE4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E565A62-7CA9-4A26-B241-CB98B2A4C4D4}" type="slidenum">
              <a:rPr lang="en-US" altLang="en-US" sz="1400"/>
              <a:pPr eaLnBrk="1" hangingPunct="1"/>
              <a:t>37</a:t>
            </a:fld>
            <a:endParaRPr lang="en-US" altLang="en-US" sz="1400"/>
          </a:p>
        </p:txBody>
      </p:sp>
      <p:sp>
        <p:nvSpPr>
          <p:cNvPr id="22531" name="Rectangle 2">
            <a:extLst>
              <a:ext uri="{FF2B5EF4-FFF2-40B4-BE49-F238E27FC236}">
                <a16:creationId xmlns:a16="http://schemas.microsoft.com/office/drawing/2014/main" id="{0E0BF86D-3C77-880D-2B48-7AD606F0D5CA}"/>
              </a:ext>
            </a:extLst>
          </p:cNvPr>
          <p:cNvSpPr>
            <a:spLocks noGrp="1" noChangeArrowheads="1"/>
          </p:cNvSpPr>
          <p:nvPr>
            <p:ph type="title"/>
          </p:nvPr>
        </p:nvSpPr>
        <p:spPr>
          <a:xfrm>
            <a:off x="228600" y="152400"/>
            <a:ext cx="8763000" cy="990600"/>
          </a:xfrm>
          <a:noFill/>
        </p:spPr>
        <p:txBody>
          <a:bodyPr lIns="92075" tIns="46038" rIns="92075" bIns="46038" anchor="ctr">
            <a:no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Mining Function: (2) Association and Correlation Analysis</a:t>
            </a:r>
            <a:endParaRPr lang="en-US" altLang="en-US" sz="3200" b="0" dirty="0">
              <a:solidFill>
                <a:srgbClr val="002060"/>
              </a:solidFill>
              <a:effectLst/>
              <a:latin typeface="Times New Roman" panose="02020603050405020304" pitchFamily="18" charset="0"/>
              <a:cs typeface="Times New Roman" panose="02020603050405020304" pitchFamily="18" charset="0"/>
            </a:endParaRPr>
          </a:p>
        </p:txBody>
      </p:sp>
      <p:sp>
        <p:nvSpPr>
          <p:cNvPr id="22532" name="Rectangle 3">
            <a:extLst>
              <a:ext uri="{FF2B5EF4-FFF2-40B4-BE49-F238E27FC236}">
                <a16:creationId xmlns:a16="http://schemas.microsoft.com/office/drawing/2014/main" id="{0EAFC9AB-15CD-FAF9-EB77-BDB2F587C926}"/>
              </a:ext>
            </a:extLst>
          </p:cNvPr>
          <p:cNvSpPr>
            <a:spLocks noGrp="1" noChangeArrowheads="1"/>
          </p:cNvSpPr>
          <p:nvPr>
            <p:ph type="body" idx="1"/>
          </p:nvPr>
        </p:nvSpPr>
        <p:spPr>
          <a:xfrm>
            <a:off x="381000" y="1295400"/>
            <a:ext cx="8305800" cy="5105400"/>
          </a:xfrm>
          <a:noFill/>
        </p:spPr>
        <p:txBody>
          <a:bodyPr lIns="92075" tIns="46038" rIns="92075" bIns="46038"/>
          <a:lstStyle/>
          <a:p>
            <a:pPr eaLnBrk="1" hangingPunct="1">
              <a:lnSpc>
                <a:spcPct val="110000"/>
              </a:lnSpc>
            </a:pPr>
            <a:r>
              <a:rPr lang="en-US" altLang="en-US" sz="2400" dirty="0">
                <a:latin typeface="Times New Roman" panose="02020603050405020304" pitchFamily="18" charset="0"/>
                <a:cs typeface="Times New Roman" panose="02020603050405020304" pitchFamily="18" charset="0"/>
              </a:rPr>
              <a:t>Frequent patterns (or frequent </a:t>
            </a:r>
            <a:r>
              <a:rPr lang="en-US" altLang="en-US" sz="2400" dirty="0" err="1">
                <a:latin typeface="Times New Roman" panose="02020603050405020304" pitchFamily="18" charset="0"/>
                <a:cs typeface="Times New Roman" panose="02020603050405020304" pitchFamily="18" charset="0"/>
              </a:rPr>
              <a:t>itemsets</a:t>
            </a:r>
            <a:r>
              <a:rPr lang="en-US" altLang="en-US" sz="2400" dirty="0">
                <a:latin typeface="Times New Roman" panose="02020603050405020304" pitchFamily="18" charset="0"/>
                <a:cs typeface="Times New Roman" panose="02020603050405020304" pitchFamily="18" charset="0"/>
              </a:rPr>
              <a:t>)</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What items are frequently purchased together in your Walmart?</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Association, correlation vs. causality</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A typical association rule</a:t>
            </a:r>
          </a:p>
          <a:p>
            <a:pPr lvl="2" eaLnBrk="1" hangingPunct="1">
              <a:lnSpc>
                <a:spcPct val="110000"/>
              </a:lnSpc>
            </a:pPr>
            <a:r>
              <a:rPr lang="en-US" altLang="en-US" dirty="0">
                <a:latin typeface="Times New Roman" panose="02020603050405020304" pitchFamily="18" charset="0"/>
                <a:cs typeface="Times New Roman" panose="02020603050405020304" pitchFamily="18" charset="0"/>
              </a:rPr>
              <a:t>Diaper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latin typeface="Times New Roman" panose="02020603050405020304" pitchFamily="18" charset="0"/>
                <a:cs typeface="Times New Roman" panose="02020603050405020304" pitchFamily="18" charset="0"/>
              </a:rPr>
              <a:t> Beer [0.5%, 75%]  (support, confidence)</a:t>
            </a:r>
          </a:p>
          <a:p>
            <a:pPr lvl="1" eaLnBrk="1" hangingPunct="1">
              <a:lnSpc>
                <a:spcPct val="110000"/>
              </a:lnSpc>
            </a:pPr>
            <a:r>
              <a:rPr lang="en-US" altLang="en-US" dirty="0">
                <a:latin typeface="Times New Roman" panose="02020603050405020304" pitchFamily="18" charset="0"/>
                <a:cs typeface="Times New Roman" panose="02020603050405020304" pitchFamily="18" charset="0"/>
              </a:rPr>
              <a:t>Are strongly associated items also strongly correlated?</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How to mine such patterns and rules efficiently in large datasets?</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How to use such patterns for classification, clustering, and other applications?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34052DC4-A9B5-B4C8-6293-84D46448D8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A9A307B2-7F02-49A1-AEB5-BF70958A3C32}" type="slidenum">
              <a:rPr lang="en-US" altLang="en-US" sz="1400"/>
              <a:pPr eaLnBrk="1" hangingPunct="1"/>
              <a:t>38</a:t>
            </a:fld>
            <a:endParaRPr lang="en-US" altLang="en-US" sz="1400"/>
          </a:p>
        </p:txBody>
      </p:sp>
      <p:sp>
        <p:nvSpPr>
          <p:cNvPr id="23555" name="Rectangle 2">
            <a:extLst>
              <a:ext uri="{FF2B5EF4-FFF2-40B4-BE49-F238E27FC236}">
                <a16:creationId xmlns:a16="http://schemas.microsoft.com/office/drawing/2014/main" id="{39B4D956-1AE8-15DA-CEE1-5211483FC9BE}"/>
              </a:ext>
            </a:extLst>
          </p:cNvPr>
          <p:cNvSpPr>
            <a:spLocks noGrp="1" noChangeArrowheads="1"/>
          </p:cNvSpPr>
          <p:nvPr>
            <p:ph type="title"/>
          </p:nvPr>
        </p:nvSpPr>
        <p:spPr>
          <a:xfrm>
            <a:off x="228600" y="152400"/>
            <a:ext cx="8763000" cy="914400"/>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Mining Function: (3) Classification</a:t>
            </a:r>
            <a:endParaRPr lang="en-US" altLang="en-US" sz="2800" b="0" dirty="0">
              <a:solidFill>
                <a:srgbClr val="002060"/>
              </a:solidFill>
              <a:effectLst/>
              <a:latin typeface="Times New Roman" panose="02020603050405020304" pitchFamily="18" charset="0"/>
              <a:cs typeface="Times New Roman" panose="02020603050405020304" pitchFamily="18" charset="0"/>
            </a:endParaRPr>
          </a:p>
        </p:txBody>
      </p:sp>
      <p:sp>
        <p:nvSpPr>
          <p:cNvPr id="23556" name="Rectangle 3">
            <a:extLst>
              <a:ext uri="{FF2B5EF4-FFF2-40B4-BE49-F238E27FC236}">
                <a16:creationId xmlns:a16="http://schemas.microsoft.com/office/drawing/2014/main" id="{60D4EC5C-DE42-C744-823F-F262AC0B3BAB}"/>
              </a:ext>
            </a:extLst>
          </p:cNvPr>
          <p:cNvSpPr>
            <a:spLocks noGrp="1" noChangeArrowheads="1"/>
          </p:cNvSpPr>
          <p:nvPr>
            <p:ph type="body" idx="1"/>
          </p:nvPr>
        </p:nvSpPr>
        <p:spPr>
          <a:xfrm>
            <a:off x="381000" y="1371600"/>
            <a:ext cx="8458200" cy="5181600"/>
          </a:xfrm>
          <a:noFill/>
        </p:spPr>
        <p:txBody>
          <a:bodyPr lIns="92075" tIns="46038" rIns="92075" bIns="46038">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Classification and label prediction  </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Construct models (functions) based on some training examples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Describe and distinguish classes or concepts for future prediction</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E.g., classify countries based on (climate), or classify cars based on (gas mileage)</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Predict some unknown class labels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Typical methods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Decision trees, naïve Bayesian classification, support vector machines, neural networks, rule-based classification, pattern-based classification, logistic regression, …</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Typical applications: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Credit card fraud detection, direct marketing, classifying stars, diseases,  web-pages,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D2F893AC-C0A4-7522-05CE-BDB1830EDA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7FC9390F-F245-4B72-99E9-82B817C54505}" type="slidenum">
              <a:rPr lang="en-US" altLang="en-US" sz="1400"/>
              <a:pPr eaLnBrk="1" hangingPunct="1"/>
              <a:t>39</a:t>
            </a:fld>
            <a:endParaRPr lang="en-US" altLang="en-US" sz="1400"/>
          </a:p>
        </p:txBody>
      </p:sp>
      <p:sp>
        <p:nvSpPr>
          <p:cNvPr id="24579" name="Rectangle 2">
            <a:extLst>
              <a:ext uri="{FF2B5EF4-FFF2-40B4-BE49-F238E27FC236}">
                <a16:creationId xmlns:a16="http://schemas.microsoft.com/office/drawing/2014/main" id="{DDCD9C4B-C587-387B-16EA-C983B7881E98}"/>
              </a:ext>
            </a:extLst>
          </p:cNvPr>
          <p:cNvSpPr>
            <a:spLocks noGrp="1" noChangeArrowheads="1"/>
          </p:cNvSpPr>
          <p:nvPr>
            <p:ph type="title"/>
          </p:nvPr>
        </p:nvSpPr>
        <p:spPr>
          <a:xfrm>
            <a:off x="0" y="304800"/>
            <a:ext cx="8991600" cy="635000"/>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Mining Function: (4) Cluster Analysis</a:t>
            </a:r>
          </a:p>
        </p:txBody>
      </p:sp>
      <p:sp>
        <p:nvSpPr>
          <p:cNvPr id="24580" name="Rectangle 3">
            <a:extLst>
              <a:ext uri="{FF2B5EF4-FFF2-40B4-BE49-F238E27FC236}">
                <a16:creationId xmlns:a16="http://schemas.microsoft.com/office/drawing/2014/main" id="{699DC643-5441-C78A-DEB9-F4C83C6E5558}"/>
              </a:ext>
            </a:extLst>
          </p:cNvPr>
          <p:cNvSpPr>
            <a:spLocks noGrp="1" noChangeArrowheads="1"/>
          </p:cNvSpPr>
          <p:nvPr>
            <p:ph type="body" idx="1"/>
          </p:nvPr>
        </p:nvSpPr>
        <p:spPr>
          <a:xfrm>
            <a:off x="304800" y="1295400"/>
            <a:ext cx="8534400" cy="5257800"/>
          </a:xfrm>
          <a:noFill/>
        </p:spPr>
        <p:txBody>
          <a:bodyPr lIns="92075" tIns="46038" rIns="92075" bIns="46038"/>
          <a:lstStyle/>
          <a:p>
            <a:pPr eaLnBrk="1" hangingPunct="1">
              <a:lnSpc>
                <a:spcPct val="110000"/>
              </a:lnSpc>
            </a:pPr>
            <a:r>
              <a:rPr lang="en-US" altLang="en-US" sz="2400" dirty="0">
                <a:latin typeface="Times New Roman" panose="02020603050405020304" pitchFamily="18" charset="0"/>
                <a:cs typeface="Times New Roman" panose="02020603050405020304" pitchFamily="18" charset="0"/>
              </a:rPr>
              <a:t>Unsupervised learning (i.e., Class label is unknown)</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Group data to form new categories (i.e., clusters), e.g., cluster houses to find distribution patterns</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Principle: Maximizing intra-class similarity &amp; minimizing interclass similarity</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Many methods and applications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E02965C9-EDEF-870F-4E34-936F37D138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817EC9C-6D68-4C4C-B04A-075F5231A8E2}" type="slidenum">
              <a:rPr lang="en-US" altLang="en-US" sz="1400"/>
              <a:pPr eaLnBrk="1" hangingPunct="1"/>
              <a:t>40</a:t>
            </a:fld>
            <a:endParaRPr lang="en-US" altLang="en-US" sz="1400"/>
          </a:p>
        </p:txBody>
      </p:sp>
      <p:sp>
        <p:nvSpPr>
          <p:cNvPr id="25603" name="Rectangle 2">
            <a:extLst>
              <a:ext uri="{FF2B5EF4-FFF2-40B4-BE49-F238E27FC236}">
                <a16:creationId xmlns:a16="http://schemas.microsoft.com/office/drawing/2014/main" id="{93631C00-386B-2263-6FE8-FB9CE952DA64}"/>
              </a:ext>
            </a:extLst>
          </p:cNvPr>
          <p:cNvSpPr>
            <a:spLocks noGrp="1" noChangeArrowheads="1"/>
          </p:cNvSpPr>
          <p:nvPr>
            <p:ph type="title"/>
          </p:nvPr>
        </p:nvSpPr>
        <p:spPr>
          <a:xfrm>
            <a:off x="0" y="304800"/>
            <a:ext cx="8991600" cy="635000"/>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Mining Function: (5) Outlier Analysis</a:t>
            </a:r>
          </a:p>
        </p:txBody>
      </p:sp>
      <p:sp>
        <p:nvSpPr>
          <p:cNvPr id="25604" name="Rectangle 3">
            <a:extLst>
              <a:ext uri="{FF2B5EF4-FFF2-40B4-BE49-F238E27FC236}">
                <a16:creationId xmlns:a16="http://schemas.microsoft.com/office/drawing/2014/main" id="{F1E9D0FB-13BE-636B-F779-AEF6EADCA2B8}"/>
              </a:ext>
            </a:extLst>
          </p:cNvPr>
          <p:cNvSpPr>
            <a:spLocks noGrp="1" noChangeArrowheads="1"/>
          </p:cNvSpPr>
          <p:nvPr>
            <p:ph type="body" idx="1"/>
          </p:nvPr>
        </p:nvSpPr>
        <p:spPr>
          <a:xfrm>
            <a:off x="304800" y="1295400"/>
            <a:ext cx="8534400" cy="5257800"/>
          </a:xfrm>
          <a:noFill/>
        </p:spPr>
        <p:txBody>
          <a:bodyPr lIns="92075" tIns="46038" rIns="92075" bIns="46038"/>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Outlier analysis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Outlier: A data object that does not comply with the general behavior of the data</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Noise or exception? ― One person’s garbage could be another person’s treasure</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Methods: by product of clustering or regression analysis, …</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Useful in fraud detection, rare events analysis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D6DB35-0587-3A03-AB16-BDA0D582488C}"/>
              </a:ext>
            </a:extLst>
          </p:cNvPr>
          <p:cNvSpPr>
            <a:spLocks noGrp="1"/>
          </p:cNvSpPr>
          <p:nvPr>
            <p:ph idx="1"/>
          </p:nvPr>
        </p:nvSpPr>
        <p:spPr>
          <a:xfrm>
            <a:off x="457200" y="1066800"/>
            <a:ext cx="8610600" cy="5516562"/>
          </a:xfrm>
        </p:spPr>
        <p:txBody>
          <a:bodyPr>
            <a:noAutofit/>
          </a:bodyPr>
          <a:lstStyle/>
          <a:p>
            <a:pPr marL="109728" indent="0">
              <a:buNone/>
            </a:pPr>
            <a:r>
              <a:rPr lang="en-US" sz="2000" b="1" dirty="0">
                <a:latin typeface="Times New Roman" panose="02020603050405020304" pitchFamily="18" charset="0"/>
                <a:cs typeface="Times New Roman" panose="02020603050405020304" pitchFamily="18" charset="0"/>
              </a:rPr>
              <a:t>Descriptive Functions</a:t>
            </a:r>
          </a:p>
          <a:p>
            <a:pPr marL="109728" indent="0">
              <a:buNone/>
            </a:pPr>
            <a:r>
              <a:rPr lang="en-US" sz="2000" dirty="0">
                <a:latin typeface="Times New Roman" panose="02020603050405020304" pitchFamily="18" charset="0"/>
                <a:cs typeface="Times New Roman" panose="02020603050405020304" pitchFamily="18" charset="0"/>
              </a:rPr>
              <a:t>These summarize and describe the general properties of data.</a:t>
            </a:r>
          </a:p>
          <a:p>
            <a:r>
              <a:rPr lang="en-US" sz="2000" b="1" dirty="0">
                <a:latin typeface="Times New Roman" panose="02020603050405020304" pitchFamily="18" charset="0"/>
                <a:cs typeface="Times New Roman" panose="02020603050405020304" pitchFamily="18" charset="0"/>
              </a:rPr>
              <a:t>Classification</a:t>
            </a:r>
            <a:r>
              <a:rPr lang="en-US" sz="2000" dirty="0">
                <a:latin typeface="Times New Roman" panose="02020603050405020304" pitchFamily="18" charset="0"/>
                <a:cs typeface="Times New Roman" panose="02020603050405020304" pitchFamily="18" charset="0"/>
              </a:rPr>
              <a:t>: Assign items to predefined categories (e.g., spam or not spam).</a:t>
            </a:r>
          </a:p>
          <a:p>
            <a:r>
              <a:rPr lang="en-US" sz="2000" b="1" dirty="0">
                <a:latin typeface="Times New Roman" panose="02020603050405020304" pitchFamily="18" charset="0"/>
                <a:cs typeface="Times New Roman" panose="02020603050405020304" pitchFamily="18" charset="0"/>
              </a:rPr>
              <a:t>Clustering</a:t>
            </a:r>
            <a:r>
              <a:rPr lang="en-US" sz="2000" dirty="0">
                <a:latin typeface="Times New Roman" panose="02020603050405020304" pitchFamily="18" charset="0"/>
                <a:cs typeface="Times New Roman" panose="02020603050405020304" pitchFamily="18" charset="0"/>
              </a:rPr>
              <a:t>: Group similar data without predefined labels (e.g., customer segments).</a:t>
            </a:r>
          </a:p>
          <a:p>
            <a:r>
              <a:rPr lang="en-US" sz="2000" b="1" dirty="0">
                <a:latin typeface="Times New Roman" panose="02020603050405020304" pitchFamily="18" charset="0"/>
                <a:cs typeface="Times New Roman" panose="02020603050405020304" pitchFamily="18" charset="0"/>
              </a:rPr>
              <a:t>Association Rule Mining</a:t>
            </a:r>
            <a:r>
              <a:rPr lang="en-US" sz="2000" dirty="0">
                <a:latin typeface="Times New Roman" panose="02020603050405020304" pitchFamily="18" charset="0"/>
                <a:cs typeface="Times New Roman" panose="02020603050405020304" pitchFamily="18" charset="0"/>
              </a:rPr>
              <a:t>: Find relationships among items (e.g., if a customer buys bread, they also buy butter).</a:t>
            </a:r>
          </a:p>
          <a:p>
            <a:r>
              <a:rPr lang="en-US" sz="2000" b="1" dirty="0">
                <a:latin typeface="Times New Roman" panose="02020603050405020304" pitchFamily="18" charset="0"/>
                <a:cs typeface="Times New Roman" panose="02020603050405020304" pitchFamily="18" charset="0"/>
              </a:rPr>
              <a:t>Summarization</a:t>
            </a:r>
            <a:r>
              <a:rPr lang="en-US" sz="2000" dirty="0">
                <a:latin typeface="Times New Roman" panose="02020603050405020304" pitchFamily="18" charset="0"/>
                <a:cs typeface="Times New Roman" panose="02020603050405020304" pitchFamily="18" charset="0"/>
              </a:rPr>
              <a:t>: Provide compact descriptions of data (e.g., averages, trends).</a:t>
            </a:r>
          </a:p>
          <a:p>
            <a:r>
              <a:rPr lang="en-US" sz="2000" b="1" dirty="0">
                <a:latin typeface="Times New Roman" panose="02020603050405020304" pitchFamily="18" charset="0"/>
                <a:cs typeface="Times New Roman" panose="02020603050405020304" pitchFamily="18" charset="0"/>
              </a:rPr>
              <a:t>Sequence Pattern Mining</a:t>
            </a:r>
            <a:r>
              <a:rPr lang="en-US" sz="2000" dirty="0">
                <a:latin typeface="Times New Roman" panose="02020603050405020304" pitchFamily="18" charset="0"/>
                <a:cs typeface="Times New Roman" panose="02020603050405020304" pitchFamily="18" charset="0"/>
              </a:rPr>
              <a:t>: Discover patterns in sequences (e.g., buying habits over time).</a:t>
            </a:r>
          </a:p>
          <a:p>
            <a:pPr marL="109728" indent="0">
              <a:buNone/>
            </a:pPr>
            <a:r>
              <a:rPr lang="en-US" sz="2000" b="1" dirty="0">
                <a:latin typeface="Times New Roman" panose="02020603050405020304" pitchFamily="18" charset="0"/>
                <a:cs typeface="Times New Roman" panose="02020603050405020304" pitchFamily="18" charset="0"/>
              </a:rPr>
              <a:t>Predictive Functions</a:t>
            </a:r>
          </a:p>
          <a:p>
            <a:r>
              <a:rPr lang="en-US" sz="2000" b="1" dirty="0">
                <a:latin typeface="Times New Roman" panose="02020603050405020304" pitchFamily="18" charset="0"/>
                <a:cs typeface="Times New Roman" panose="02020603050405020304" pitchFamily="18" charset="0"/>
              </a:rPr>
              <a:t>Classification </a:t>
            </a:r>
            <a:r>
              <a:rPr lang="en-US" sz="2000" dirty="0">
                <a:latin typeface="Times New Roman" panose="02020603050405020304" pitchFamily="18" charset="0"/>
                <a:cs typeface="Times New Roman" panose="02020603050405020304" pitchFamily="18" charset="0"/>
              </a:rPr>
              <a:t>(also predictive): Predict class labels.</a:t>
            </a:r>
          </a:p>
          <a:p>
            <a:r>
              <a:rPr lang="en-US" sz="2000" b="1" dirty="0">
                <a:latin typeface="Times New Roman" panose="02020603050405020304" pitchFamily="18" charset="0"/>
                <a:cs typeface="Times New Roman" panose="02020603050405020304" pitchFamily="18" charset="0"/>
              </a:rPr>
              <a:t>Regression</a:t>
            </a:r>
            <a:r>
              <a:rPr lang="en-US" sz="2000" dirty="0">
                <a:latin typeface="Times New Roman" panose="02020603050405020304" pitchFamily="18" charset="0"/>
                <a:cs typeface="Times New Roman" panose="02020603050405020304" pitchFamily="18" charset="0"/>
              </a:rPr>
              <a:t>: Predict continuous values (e.g., weather prediction).</a:t>
            </a:r>
          </a:p>
          <a:p>
            <a:r>
              <a:rPr lang="en-US" sz="2000" b="1" dirty="0">
                <a:latin typeface="Times New Roman" panose="02020603050405020304" pitchFamily="18" charset="0"/>
                <a:cs typeface="Times New Roman" panose="02020603050405020304" pitchFamily="18" charset="0"/>
              </a:rPr>
              <a:t>Time-Series Analysis</a:t>
            </a:r>
            <a:r>
              <a:rPr lang="en-US" sz="2000" dirty="0">
                <a:latin typeface="Times New Roman" panose="02020603050405020304" pitchFamily="18" charset="0"/>
                <a:cs typeface="Times New Roman" panose="02020603050405020304" pitchFamily="18" charset="0"/>
              </a:rPr>
              <a:t>: Forecast future trends using temporal data. (e.g., stock price prediction)</a:t>
            </a:r>
          </a:p>
          <a:p>
            <a:endParaRPr lang="en-IN"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DEC5645-0310-96E2-681F-BC0E91759D6B}"/>
              </a:ext>
            </a:extLst>
          </p:cNvPr>
          <p:cNvSpPr>
            <a:spLocks noGrp="1"/>
          </p:cNvSpPr>
          <p:nvPr>
            <p:ph type="title"/>
          </p:nvPr>
        </p:nvSpPr>
        <p:spPr>
          <a:xfrm>
            <a:off x="457200" y="274638"/>
            <a:ext cx="8229600" cy="576071"/>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Data Mining Functionalities</a:t>
            </a:r>
          </a:p>
        </p:txBody>
      </p:sp>
    </p:spTree>
    <p:extLst>
      <p:ext uri="{BB962C8B-B14F-4D97-AF65-F5344CB8AC3E}">
        <p14:creationId xmlns:p14="http://schemas.microsoft.com/office/powerpoint/2010/main" val="1915087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3CBFA3-F95A-400E-C383-1D594FB0C592}"/>
              </a:ext>
            </a:extLst>
          </p:cNvPr>
          <p:cNvSpPr>
            <a:spLocks noGrp="1"/>
          </p:cNvSpPr>
          <p:nvPr>
            <p:ph idx="1"/>
          </p:nvPr>
        </p:nvSpPr>
        <p:spPr>
          <a:xfrm>
            <a:off x="609600" y="1066800"/>
            <a:ext cx="4038600" cy="5334000"/>
          </a:xfrm>
        </p:spPr>
        <p:txBody>
          <a:bodyPr>
            <a:noAutofit/>
          </a:bodyPr>
          <a:lstStyle/>
          <a:p>
            <a:pPr marL="109728" indent="0">
              <a:buNone/>
            </a:pPr>
            <a:r>
              <a:rPr lang="en-US" sz="1800" dirty="0">
                <a:latin typeface="Times New Roman" panose="02020603050405020304" pitchFamily="18" charset="0"/>
                <a:cs typeface="Times New Roman" panose="02020603050405020304" pitchFamily="18" charset="0"/>
              </a:rPr>
              <a:t>Structured Data</a:t>
            </a:r>
          </a:p>
          <a:p>
            <a:r>
              <a:rPr lang="en-US" sz="1800" dirty="0">
                <a:latin typeface="Times New Roman" panose="02020603050405020304" pitchFamily="18" charset="0"/>
                <a:cs typeface="Times New Roman" panose="02020603050405020304" pitchFamily="18" charset="0"/>
              </a:rPr>
              <a:t>Clearly defined format (tables, rows, columns).</a:t>
            </a:r>
          </a:p>
          <a:p>
            <a:r>
              <a:rPr lang="en-IN" sz="1800" dirty="0">
                <a:latin typeface="Times New Roman" panose="02020603050405020304" pitchFamily="18" charset="0"/>
                <a:cs typeface="Times New Roman" panose="02020603050405020304" pitchFamily="18" charset="0"/>
              </a:rPr>
              <a:t>Example: Databases (SQL), Excel files, CSV files etc.</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dirty="0">
                <a:latin typeface="Times New Roman" panose="02020603050405020304" pitchFamily="18" charset="0"/>
                <a:cs typeface="Times New Roman" panose="02020603050405020304" pitchFamily="18" charset="0"/>
              </a:rPr>
              <a:t>Unstructured Data</a:t>
            </a:r>
          </a:p>
          <a:p>
            <a:r>
              <a:rPr lang="en-US" sz="1800" dirty="0">
                <a:latin typeface="Times New Roman" panose="02020603050405020304" pitchFamily="18" charset="0"/>
                <a:cs typeface="Times New Roman" panose="02020603050405020304" pitchFamily="18" charset="0"/>
              </a:rPr>
              <a:t>No predefined format or organization.</a:t>
            </a:r>
          </a:p>
          <a:p>
            <a:r>
              <a:rPr lang="fr-FR" sz="1800" dirty="0">
                <a:latin typeface="Times New Roman" panose="02020603050405020304" pitchFamily="18" charset="0"/>
                <a:cs typeface="Times New Roman" panose="02020603050405020304" pitchFamily="18" charset="0"/>
              </a:rPr>
              <a:t>Example: </a:t>
            </a:r>
            <a:r>
              <a:rPr lang="fr-FR" sz="1800" dirty="0" err="1">
                <a:latin typeface="Times New Roman" panose="02020603050405020304" pitchFamily="18" charset="0"/>
                <a:cs typeface="Times New Roman" panose="02020603050405020304" pitchFamily="18" charset="0"/>
              </a:rPr>
              <a:t>Text</a:t>
            </a:r>
            <a:r>
              <a:rPr lang="fr-FR" sz="1800" dirty="0">
                <a:latin typeface="Times New Roman" panose="02020603050405020304" pitchFamily="18" charset="0"/>
                <a:cs typeface="Times New Roman" panose="02020603050405020304" pitchFamily="18" charset="0"/>
              </a:rPr>
              <a:t> documents, images, </a:t>
            </a:r>
            <a:r>
              <a:rPr lang="fr-FR" sz="1800" dirty="0" err="1">
                <a:latin typeface="Times New Roman" panose="02020603050405020304" pitchFamily="18" charset="0"/>
                <a:cs typeface="Times New Roman" panose="02020603050405020304" pitchFamily="18" charset="0"/>
              </a:rPr>
              <a:t>videos</a:t>
            </a:r>
            <a:r>
              <a:rPr lang="fr-FR" sz="1800" dirty="0">
                <a:latin typeface="Times New Roman" panose="02020603050405020304" pitchFamily="18" charset="0"/>
                <a:cs typeface="Times New Roman" panose="02020603050405020304" pitchFamily="18" charset="0"/>
              </a:rPr>
              <a:t>, audio.</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dirty="0">
                <a:latin typeface="Times New Roman" panose="02020603050405020304" pitchFamily="18" charset="0"/>
                <a:cs typeface="Times New Roman" panose="02020603050405020304" pitchFamily="18" charset="0"/>
              </a:rPr>
              <a:t>Semi-Structured Data</a:t>
            </a:r>
          </a:p>
          <a:p>
            <a:r>
              <a:rPr lang="en-US" sz="1800" dirty="0">
                <a:latin typeface="Times New Roman" panose="02020603050405020304" pitchFamily="18" charset="0"/>
                <a:cs typeface="Times New Roman" panose="02020603050405020304" pitchFamily="18" charset="0"/>
              </a:rPr>
              <a:t>Partially organized with tags or markers.</a:t>
            </a:r>
          </a:p>
          <a:p>
            <a:r>
              <a:rPr lang="fr-FR" sz="1800" dirty="0">
                <a:latin typeface="Times New Roman" panose="02020603050405020304" pitchFamily="18" charset="0"/>
                <a:cs typeface="Times New Roman" panose="02020603050405020304" pitchFamily="18" charset="0"/>
              </a:rPr>
              <a:t>Example: XML, JSON, HTML pages.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E7B026B-32EE-2B03-E3AB-B352524ECE33}"/>
              </a:ext>
            </a:extLst>
          </p:cNvPr>
          <p:cNvSpPr>
            <a:spLocks noGrp="1"/>
          </p:cNvSpPr>
          <p:nvPr>
            <p:ph type="title"/>
          </p:nvPr>
        </p:nvSpPr>
        <p:spPr>
          <a:xfrm>
            <a:off x="457200" y="274638"/>
            <a:ext cx="8229600" cy="639761"/>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Types of Data</a:t>
            </a:r>
          </a:p>
        </p:txBody>
      </p:sp>
      <p:sp>
        <p:nvSpPr>
          <p:cNvPr id="4" name="Content Placeholder 1">
            <a:extLst>
              <a:ext uri="{FF2B5EF4-FFF2-40B4-BE49-F238E27FC236}">
                <a16:creationId xmlns:a16="http://schemas.microsoft.com/office/drawing/2014/main" id="{19D697DC-15AB-918C-9A89-094AF36D2390}"/>
              </a:ext>
            </a:extLst>
          </p:cNvPr>
          <p:cNvSpPr txBox="1">
            <a:spLocks/>
          </p:cNvSpPr>
          <p:nvPr/>
        </p:nvSpPr>
        <p:spPr>
          <a:xfrm>
            <a:off x="4901381" y="1066800"/>
            <a:ext cx="3810000" cy="4525963"/>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Font typeface="Wingdings 3"/>
              <a:buNone/>
            </a:pPr>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IN" sz="1800" dirty="0">
                <a:latin typeface="Times New Roman" panose="02020603050405020304" pitchFamily="18" charset="0"/>
                <a:cs typeface="Times New Roman" panose="02020603050405020304" pitchFamily="18" charset="0"/>
              </a:rPr>
              <a:t>Quantitative Data</a:t>
            </a:r>
          </a:p>
          <a:p>
            <a:r>
              <a:rPr lang="en-IN" sz="1800" b="1" dirty="0">
                <a:latin typeface="Times New Roman" panose="02020603050405020304" pitchFamily="18" charset="0"/>
                <a:cs typeface="Times New Roman" panose="02020603050405020304" pitchFamily="18" charset="0"/>
              </a:rPr>
              <a:t>Numerical</a:t>
            </a:r>
            <a:r>
              <a:rPr lang="en-IN" sz="1800" dirty="0">
                <a:latin typeface="Times New Roman" panose="02020603050405020304" pitchFamily="18" charset="0"/>
                <a:cs typeface="Times New Roman" panose="02020603050405020304" pitchFamily="18" charset="0"/>
              </a:rPr>
              <a:t>, measurable values.</a:t>
            </a:r>
          </a:p>
          <a:p>
            <a:r>
              <a:rPr lang="en-IN" sz="1800" dirty="0">
                <a:latin typeface="Times New Roman" panose="02020603050405020304" pitchFamily="18" charset="0"/>
                <a:cs typeface="Times New Roman" panose="02020603050405020304" pitchFamily="18" charset="0"/>
              </a:rPr>
              <a:t>Example: Age, salary, temperature.</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IN" sz="1800" dirty="0">
                <a:latin typeface="Times New Roman" panose="02020603050405020304" pitchFamily="18" charset="0"/>
                <a:cs typeface="Times New Roman" panose="02020603050405020304" pitchFamily="18" charset="0"/>
              </a:rPr>
              <a:t>Qualitative (Categorical) Data</a:t>
            </a:r>
          </a:p>
          <a:p>
            <a:r>
              <a:rPr lang="en-IN" sz="1800" dirty="0">
                <a:latin typeface="Times New Roman" panose="02020603050405020304" pitchFamily="18" charset="0"/>
                <a:cs typeface="Times New Roman" panose="02020603050405020304" pitchFamily="18" charset="0"/>
              </a:rPr>
              <a:t>Descriptive labels or categories.</a:t>
            </a:r>
          </a:p>
          <a:p>
            <a:r>
              <a:rPr lang="en-US" sz="1800" dirty="0">
                <a:latin typeface="Times New Roman" panose="02020603050405020304" pitchFamily="18" charset="0"/>
                <a:cs typeface="Times New Roman" panose="02020603050405020304" pitchFamily="18" charset="0"/>
              </a:rPr>
              <a:t>Example: Gender, product type, city names.</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US" sz="1800" dirty="0">
                <a:latin typeface="Times New Roman" panose="02020603050405020304" pitchFamily="18" charset="0"/>
                <a:cs typeface="Times New Roman" panose="02020603050405020304" pitchFamily="18" charset="0"/>
              </a:rPr>
              <a:t>Binary Data</a:t>
            </a:r>
          </a:p>
          <a:p>
            <a:r>
              <a:rPr lang="en-US" sz="1800" dirty="0">
                <a:latin typeface="Times New Roman" panose="02020603050405020304" pitchFamily="18" charset="0"/>
                <a:cs typeface="Times New Roman" panose="02020603050405020304" pitchFamily="18" charset="0"/>
              </a:rPr>
              <a:t>Two possible values: 0/1, Yes/No.</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698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BC359F-9C21-2286-3D41-6E58A8EC110A}"/>
              </a:ext>
            </a:extLst>
          </p:cNvPr>
          <p:cNvSpPr>
            <a:spLocks noGrp="1"/>
          </p:cNvSpPr>
          <p:nvPr>
            <p:ph idx="1"/>
          </p:nvPr>
        </p:nvSpPr>
        <p:spPr>
          <a:xfrm>
            <a:off x="437535" y="1132916"/>
            <a:ext cx="4038600" cy="4525963"/>
          </a:xfrm>
        </p:spPr>
        <p:txBody>
          <a:bodyPr>
            <a:normAutofit fontScale="92500" lnSpcReduction="10000"/>
          </a:bodyPr>
          <a:lstStyle/>
          <a:p>
            <a:pPr marL="109728" indent="0">
              <a:buNone/>
            </a:pPr>
            <a:r>
              <a:rPr lang="en-US" sz="2000" dirty="0">
                <a:latin typeface="Times New Roman" panose="02020603050405020304" pitchFamily="18" charset="0"/>
                <a:cs typeface="Times New Roman" panose="02020603050405020304" pitchFamily="18" charset="0"/>
              </a:rPr>
              <a:t>Association Patterns</a:t>
            </a:r>
          </a:p>
          <a:p>
            <a:r>
              <a:rPr lang="en-US" sz="2000" dirty="0">
                <a:latin typeface="Times New Roman" panose="02020603050405020304" pitchFamily="18" charset="0"/>
                <a:cs typeface="Times New Roman" panose="02020603050405020304" pitchFamily="18" charset="0"/>
              </a:rPr>
              <a:t>Discover relationships or co-occurrences among items.</a:t>
            </a:r>
          </a:p>
          <a:p>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Customers who buy tea also buy sugar.</a:t>
            </a:r>
          </a:p>
          <a:p>
            <a:pPr marL="109728" indent="0">
              <a:buNone/>
            </a:pPr>
            <a:endParaRPr lang="en-IN" sz="2000" dirty="0">
              <a:latin typeface="Times New Roman" panose="02020603050405020304" pitchFamily="18" charset="0"/>
              <a:cs typeface="Times New Roman" panose="02020603050405020304" pitchFamily="18" charset="0"/>
            </a:endParaRPr>
          </a:p>
          <a:p>
            <a:pPr marL="109728" indent="0">
              <a:buNone/>
            </a:pPr>
            <a:r>
              <a:rPr lang="en-IN" sz="2000" dirty="0">
                <a:latin typeface="Times New Roman" panose="02020603050405020304" pitchFamily="18" charset="0"/>
                <a:cs typeface="Times New Roman" panose="02020603050405020304" pitchFamily="18" charset="0"/>
              </a:rPr>
              <a:t>Classification Patterns</a:t>
            </a:r>
          </a:p>
          <a:p>
            <a:r>
              <a:rPr lang="en-IN" sz="2000" dirty="0">
                <a:latin typeface="Times New Roman" panose="02020603050405020304" pitchFamily="18" charset="0"/>
                <a:cs typeface="Times New Roman" panose="02020603050405020304" pitchFamily="18" charset="0"/>
              </a:rPr>
              <a:t>Assign data to predefined classes.</a:t>
            </a:r>
          </a:p>
          <a:p>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Email classified as </a:t>
            </a:r>
            <a:r>
              <a:rPr lang="en-US" sz="2000" i="1" dirty="0">
                <a:latin typeface="Times New Roman" panose="02020603050405020304" pitchFamily="18" charset="0"/>
                <a:cs typeface="Times New Roman" panose="02020603050405020304" pitchFamily="18" charset="0"/>
              </a:rPr>
              <a:t>spam </a:t>
            </a:r>
            <a:r>
              <a:rPr lang="en-US" sz="2000" dirty="0">
                <a:latin typeface="Times New Roman" panose="02020603050405020304" pitchFamily="18" charset="0"/>
                <a:cs typeface="Times New Roman" panose="02020603050405020304" pitchFamily="18" charset="0"/>
              </a:rPr>
              <a:t>or </a:t>
            </a:r>
            <a:r>
              <a:rPr lang="en-US" sz="2000" i="1" dirty="0">
                <a:latin typeface="Times New Roman" panose="02020603050405020304" pitchFamily="18" charset="0"/>
                <a:cs typeface="Times New Roman" panose="02020603050405020304" pitchFamily="18" charset="0"/>
              </a:rPr>
              <a:t>not spam</a:t>
            </a:r>
            <a:r>
              <a:rPr lang="en-US"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pPr marL="109728" indent="0">
              <a:buNone/>
            </a:pPr>
            <a:r>
              <a:rPr lang="en-US" sz="2000" dirty="0">
                <a:latin typeface="Times New Roman" panose="02020603050405020304" pitchFamily="18" charset="0"/>
                <a:cs typeface="Times New Roman" panose="02020603050405020304" pitchFamily="18" charset="0"/>
              </a:rPr>
              <a:t>Clustering Patterns</a:t>
            </a:r>
          </a:p>
          <a:p>
            <a:r>
              <a:rPr lang="en-US" sz="2000" dirty="0">
                <a:latin typeface="Times New Roman" panose="02020603050405020304" pitchFamily="18" charset="0"/>
                <a:cs typeface="Times New Roman" panose="02020603050405020304" pitchFamily="18" charset="0"/>
              </a:rPr>
              <a:t>Group similar data without labels.</a:t>
            </a:r>
          </a:p>
          <a:p>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Market segments based on shopping behavior.</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AE9CE4F-14E3-53FD-874F-BF8B0B2580E6}"/>
              </a:ext>
            </a:extLst>
          </p:cNvPr>
          <p:cNvSpPr>
            <a:spLocks noGrp="1"/>
          </p:cNvSpPr>
          <p:nvPr>
            <p:ph type="title"/>
          </p:nvPr>
        </p:nvSpPr>
        <p:spPr>
          <a:xfrm>
            <a:off x="457200" y="274638"/>
            <a:ext cx="8229600" cy="487362"/>
          </a:xfrm>
        </p:spPr>
        <p:txBody>
          <a:bodyPr>
            <a:normAutofit fontScale="90000"/>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Kinds of Patterns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8ECCF3D-9608-FA30-7675-6DECF4CB1E10}"/>
              </a:ext>
            </a:extLst>
          </p:cNvPr>
          <p:cNvSpPr txBox="1"/>
          <p:nvPr/>
        </p:nvSpPr>
        <p:spPr>
          <a:xfrm>
            <a:off x="4876800" y="1428452"/>
            <a:ext cx="4038600" cy="4524315"/>
          </a:xfrm>
          <a:prstGeom prst="rect">
            <a:avLst/>
          </a:prstGeom>
          <a:noFill/>
        </p:spPr>
        <p:txBody>
          <a:bodyPr wrap="square">
            <a:spAutoFit/>
          </a:bodyPr>
          <a:lstStyle/>
          <a:p>
            <a:pPr algn="l"/>
            <a:endParaRPr lang="en-IN"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Sequential Patterns</a:t>
            </a:r>
          </a:p>
          <a:p>
            <a:pPr marL="285750" indent="-285750">
              <a:buFont typeface="Wingdings" panose="05000000000000000000" pitchFamily="2" charset="2"/>
              <a:buChar char="Ø"/>
            </a:pPr>
            <a:r>
              <a:rPr lang="en-US" b="0" i="0" u="none" strike="noStrike" baseline="0" dirty="0">
                <a:solidFill>
                  <a:srgbClr val="404040"/>
                </a:solidFill>
                <a:latin typeface="Times New Roman" panose="02020603050405020304" pitchFamily="18" charset="0"/>
                <a:cs typeface="Times New Roman" panose="02020603050405020304" pitchFamily="18" charset="0"/>
              </a:rPr>
              <a:t>Find patterns in ordered events or actions.</a:t>
            </a:r>
          </a:p>
          <a:p>
            <a:pPr marL="285750" indent="-285750">
              <a:buFont typeface="Wingdings" panose="05000000000000000000" pitchFamily="2" charset="2"/>
              <a:buChar char="Ø"/>
            </a:pPr>
            <a:r>
              <a:rPr lang="en-US" b="1" i="0" u="none" strike="noStrike" baseline="0" dirty="0">
                <a:solidFill>
                  <a:srgbClr val="404040"/>
                </a:solidFill>
                <a:latin typeface="Times New Roman" panose="02020603050405020304" pitchFamily="18" charset="0"/>
                <a:cs typeface="Times New Roman" panose="02020603050405020304" pitchFamily="18" charset="0"/>
              </a:rPr>
              <a:t>Example</a:t>
            </a:r>
            <a:r>
              <a:rPr lang="en-US" b="0" i="0" u="none" strike="noStrike" baseline="0" dirty="0">
                <a:solidFill>
                  <a:srgbClr val="404040"/>
                </a:solidFill>
                <a:latin typeface="Times New Roman" panose="02020603050405020304" pitchFamily="18" charset="0"/>
                <a:cs typeface="Times New Roman" panose="02020603050405020304" pitchFamily="18" charset="0"/>
              </a:rPr>
              <a:t>: A person buys a phone → then a cover → then a charger.</a:t>
            </a: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Regression Patterns</a:t>
            </a:r>
          </a:p>
          <a:p>
            <a:pPr marL="285750" indent="-285750">
              <a:buFont typeface="Wingdings" panose="05000000000000000000" pitchFamily="2" charset="2"/>
              <a:buChar char="Ø"/>
            </a:pPr>
            <a:r>
              <a:rPr lang="en-US" b="0" i="0" u="none" strike="noStrike" baseline="0" dirty="0">
                <a:solidFill>
                  <a:srgbClr val="404040"/>
                </a:solidFill>
                <a:latin typeface="Times New Roman" panose="02020603050405020304" pitchFamily="18" charset="0"/>
                <a:cs typeface="Times New Roman" panose="02020603050405020304" pitchFamily="18" charset="0"/>
              </a:rPr>
              <a:t>Predict continuous numeric values.</a:t>
            </a:r>
          </a:p>
          <a:p>
            <a:pPr marL="285750" indent="-285750">
              <a:buFont typeface="Wingdings" panose="05000000000000000000" pitchFamily="2" charset="2"/>
              <a:buChar char="Ø"/>
            </a:pPr>
            <a:r>
              <a:rPr lang="en-IN" b="1" i="0" u="none" strike="noStrike" baseline="0" dirty="0">
                <a:solidFill>
                  <a:srgbClr val="404040"/>
                </a:solidFill>
                <a:latin typeface="Times New Roman" panose="02020603050405020304" pitchFamily="18" charset="0"/>
                <a:cs typeface="Times New Roman" panose="02020603050405020304" pitchFamily="18" charset="0"/>
              </a:rPr>
              <a:t>Example</a:t>
            </a:r>
            <a:r>
              <a:rPr lang="en-IN" b="0" i="0" u="none" strike="noStrike" baseline="0" dirty="0">
                <a:solidFill>
                  <a:srgbClr val="404040"/>
                </a:solidFill>
                <a:latin typeface="Times New Roman" panose="02020603050405020304" pitchFamily="18" charset="0"/>
                <a:cs typeface="Times New Roman" panose="02020603050405020304" pitchFamily="18" charset="0"/>
              </a:rPr>
              <a:t>: Predicting temperature.</a:t>
            </a: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Outlier/Anomaly Patterns</a:t>
            </a:r>
          </a:p>
          <a:p>
            <a:pPr marL="285750" indent="-285750">
              <a:buFont typeface="Wingdings" panose="05000000000000000000" pitchFamily="2" charset="2"/>
              <a:buChar char="Ø"/>
            </a:pPr>
            <a:r>
              <a:rPr lang="en-US" b="0" i="0" u="none" strike="noStrike" baseline="0" dirty="0">
                <a:solidFill>
                  <a:srgbClr val="404040"/>
                </a:solidFill>
                <a:latin typeface="Times New Roman" panose="02020603050405020304" pitchFamily="18" charset="0"/>
                <a:cs typeface="Times New Roman" panose="02020603050405020304" pitchFamily="18" charset="0"/>
              </a:rPr>
              <a:t>Identify rare or abnormal data points.</a:t>
            </a:r>
          </a:p>
          <a:p>
            <a:pPr marL="285750" indent="-285750">
              <a:buFont typeface="Wingdings" panose="05000000000000000000" pitchFamily="2" charset="2"/>
              <a:buChar char="Ø"/>
            </a:pPr>
            <a:r>
              <a:rPr lang="en-US" b="1" i="0" u="none" strike="noStrike" baseline="0" dirty="0">
                <a:solidFill>
                  <a:srgbClr val="404040"/>
                </a:solidFill>
                <a:latin typeface="Times New Roman" panose="02020603050405020304" pitchFamily="18" charset="0"/>
                <a:cs typeface="Times New Roman" panose="02020603050405020304" pitchFamily="18" charset="0"/>
              </a:rPr>
              <a:t>Example</a:t>
            </a:r>
            <a:r>
              <a:rPr lang="en-US" b="0" i="0" u="none" strike="noStrike" baseline="0" dirty="0">
                <a:solidFill>
                  <a:srgbClr val="404040"/>
                </a:solidFill>
                <a:latin typeface="Times New Roman" panose="02020603050405020304" pitchFamily="18" charset="0"/>
                <a:cs typeface="Times New Roman" panose="02020603050405020304" pitchFamily="18" charset="0"/>
              </a:rPr>
              <a:t>: Unusual credit card transactions.</a:t>
            </a: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745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7A53B127-514A-923E-A526-434448B459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EE19D56F-5950-4F8A-9996-DC5DCA7339AD}" type="slidenum">
              <a:rPr lang="en-US" altLang="en-US" sz="1400"/>
              <a:pPr eaLnBrk="1" hangingPunct="1"/>
              <a:t>44</a:t>
            </a:fld>
            <a:endParaRPr lang="en-US" altLang="en-US" sz="1400"/>
          </a:p>
        </p:txBody>
      </p:sp>
      <p:sp>
        <p:nvSpPr>
          <p:cNvPr id="35843" name="Rectangle 2">
            <a:extLst>
              <a:ext uri="{FF2B5EF4-FFF2-40B4-BE49-F238E27FC236}">
                <a16:creationId xmlns:a16="http://schemas.microsoft.com/office/drawing/2014/main" id="{67456F23-8CD1-5C72-F35A-0F65778E5FB4}"/>
              </a:ext>
            </a:extLst>
          </p:cNvPr>
          <p:cNvSpPr>
            <a:spLocks noGrp="1" noChangeArrowheads="1"/>
          </p:cNvSpPr>
          <p:nvPr>
            <p:ph type="title"/>
          </p:nvPr>
        </p:nvSpPr>
        <p:spPr>
          <a:xfrm>
            <a:off x="1066800" y="304800"/>
            <a:ext cx="7239000" cy="585788"/>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Major Issues in Data Mining (1)</a:t>
            </a:r>
            <a:endParaRPr lang="en-US" altLang="en-US" sz="3200" b="0" u="sng" dirty="0">
              <a:solidFill>
                <a:srgbClr val="002060"/>
              </a:solidFill>
              <a:effectLst/>
              <a:latin typeface="Times New Roman" panose="02020603050405020304" pitchFamily="18" charset="0"/>
              <a:cs typeface="Times New Roman" panose="02020603050405020304" pitchFamily="18" charset="0"/>
            </a:endParaRPr>
          </a:p>
        </p:txBody>
      </p:sp>
      <p:sp>
        <p:nvSpPr>
          <p:cNvPr id="35844" name="Rectangle 3">
            <a:extLst>
              <a:ext uri="{FF2B5EF4-FFF2-40B4-BE49-F238E27FC236}">
                <a16:creationId xmlns:a16="http://schemas.microsoft.com/office/drawing/2014/main" id="{684983CF-37F2-F1BA-4810-CB8E61D17303}"/>
              </a:ext>
            </a:extLst>
          </p:cNvPr>
          <p:cNvSpPr>
            <a:spLocks noGrp="1" noChangeArrowheads="1"/>
          </p:cNvSpPr>
          <p:nvPr>
            <p:ph type="body" idx="1"/>
          </p:nvPr>
        </p:nvSpPr>
        <p:spPr>
          <a:xfrm>
            <a:off x="381000" y="1447800"/>
            <a:ext cx="8382000" cy="5029200"/>
          </a:xfrm>
          <a:noFill/>
        </p:spPr>
        <p:txBody>
          <a:bodyPr lIns="92075" tIns="46038" rIns="92075" bIns="46038"/>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Mining Methodology</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Mining various and new kinds of knowledge</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Mining knowledge in multi-dimensional space</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Data mining: An interdisciplinary effort</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Boosting the power of discovery in a networked environment</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Handling noise, uncertainty, and incompleteness of data</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Pattern evaluation and pattern- or constraint-guided mining</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User Interaction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Interactive mining</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Incorporation of background knowledge</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Presentation and visualization of data mining results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F82027F9-B06B-0ABD-A158-DBEE3F72C3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anose="020B0604030504040204" pitchFamily="34" charset="0"/>
              </a:defRPr>
            </a:lvl1pPr>
            <a:lvl2pPr marL="742950" indent="-285750" eaLnBrk="0" hangingPunct="0">
              <a:defRPr sz="2800">
                <a:solidFill>
                  <a:schemeClr val="tx1"/>
                </a:solidFill>
                <a:latin typeface="Tahoma" panose="020B0604030504040204" pitchFamily="34" charset="0"/>
              </a:defRPr>
            </a:lvl2pPr>
            <a:lvl3pPr marL="1143000" indent="-228600" eaLnBrk="0" hangingPunct="0">
              <a:defRPr sz="2800">
                <a:solidFill>
                  <a:schemeClr val="tx1"/>
                </a:solidFill>
                <a:latin typeface="Tahoma" panose="020B0604030504040204" pitchFamily="34" charset="0"/>
              </a:defRPr>
            </a:lvl3pPr>
            <a:lvl4pPr marL="1600200" indent="-228600" eaLnBrk="0" hangingPunct="0">
              <a:defRPr sz="2800">
                <a:solidFill>
                  <a:schemeClr val="tx1"/>
                </a:solidFill>
                <a:latin typeface="Tahoma" panose="020B0604030504040204" pitchFamily="34" charset="0"/>
              </a:defRPr>
            </a:lvl4pPr>
            <a:lvl5pPr marL="2057400" indent="-228600" eaLnBrk="0" hangingPunct="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48D89D38-6ABB-4FFD-BD8F-31ED421E979B}" type="slidenum">
              <a:rPr lang="en-US" altLang="en-US" sz="1400"/>
              <a:pPr eaLnBrk="1" hangingPunct="1"/>
              <a:t>45</a:t>
            </a:fld>
            <a:endParaRPr lang="en-US" altLang="en-US" sz="1400"/>
          </a:p>
        </p:txBody>
      </p:sp>
      <p:sp>
        <p:nvSpPr>
          <p:cNvPr id="36867" name="Rectangle 2">
            <a:extLst>
              <a:ext uri="{FF2B5EF4-FFF2-40B4-BE49-F238E27FC236}">
                <a16:creationId xmlns:a16="http://schemas.microsoft.com/office/drawing/2014/main" id="{248C8052-EBD5-03C1-1C83-968157D52212}"/>
              </a:ext>
            </a:extLst>
          </p:cNvPr>
          <p:cNvSpPr>
            <a:spLocks noGrp="1" noChangeArrowheads="1"/>
          </p:cNvSpPr>
          <p:nvPr>
            <p:ph type="title"/>
          </p:nvPr>
        </p:nvSpPr>
        <p:spPr>
          <a:xfrm>
            <a:off x="1066800" y="304800"/>
            <a:ext cx="7239000" cy="585788"/>
          </a:xfrm>
          <a:noFill/>
        </p:spPr>
        <p:txBody>
          <a:bodyPr lIns="92075" tIns="46038" rIns="92075" bIns="46038" anchor="ctr"/>
          <a:lstStyle/>
          <a:p>
            <a:pPr eaLnBrk="1" hangingPunct="1"/>
            <a:r>
              <a:rPr lang="en-US" altLang="en-US" sz="3200" dirty="0">
                <a:solidFill>
                  <a:srgbClr val="002060"/>
                </a:solidFill>
                <a:latin typeface="Times New Roman" panose="02020603050405020304" pitchFamily="18" charset="0"/>
                <a:cs typeface="Times New Roman" panose="02020603050405020304" pitchFamily="18" charset="0"/>
              </a:rPr>
              <a:t>Major Issues in Data Mining (2)</a:t>
            </a:r>
            <a:endParaRPr lang="en-US" altLang="en-US" sz="3200" b="0" u="sng" dirty="0">
              <a:solidFill>
                <a:srgbClr val="002060"/>
              </a:solidFill>
              <a:latin typeface="Times New Roman" panose="02020603050405020304" pitchFamily="18" charset="0"/>
              <a:cs typeface="Times New Roman" panose="02020603050405020304" pitchFamily="18" charset="0"/>
            </a:endParaRPr>
          </a:p>
        </p:txBody>
      </p:sp>
      <p:sp>
        <p:nvSpPr>
          <p:cNvPr id="36868" name="Rectangle 3">
            <a:extLst>
              <a:ext uri="{FF2B5EF4-FFF2-40B4-BE49-F238E27FC236}">
                <a16:creationId xmlns:a16="http://schemas.microsoft.com/office/drawing/2014/main" id="{38548049-4636-9358-E022-760C1946FDCE}"/>
              </a:ext>
            </a:extLst>
          </p:cNvPr>
          <p:cNvSpPr>
            <a:spLocks noGrp="1" noChangeArrowheads="1"/>
          </p:cNvSpPr>
          <p:nvPr>
            <p:ph type="body" idx="1"/>
          </p:nvPr>
        </p:nvSpPr>
        <p:spPr>
          <a:xfrm>
            <a:off x="381000" y="1524000"/>
            <a:ext cx="8382000" cy="4572000"/>
          </a:xfrm>
          <a:noFill/>
        </p:spPr>
        <p:txBody>
          <a:bodyPr lIns="92075" tIns="46038" rIns="92075" bIns="46038"/>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Efficiency and Scalability</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Efficiency and scalability of data mining algorithms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Parallel, distributed, stream, and incremental mining methods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Diversity of data types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Handling complex types of data</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Mining dynamic, networked, and global data repositories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 mining and society</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Social impacts of data mining</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Privacy-preserving data mining</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Invisible data mining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FF83F-2510-AF46-C187-E2FD8DE162AE}"/>
              </a:ext>
            </a:extLst>
          </p:cNvPr>
          <p:cNvSpPr>
            <a:spLocks noGrp="1"/>
          </p:cNvSpPr>
          <p:nvPr>
            <p:ph type="title"/>
          </p:nvPr>
        </p:nvSpPr>
        <p:spPr>
          <a:xfrm>
            <a:off x="457200" y="274638"/>
            <a:ext cx="8229600" cy="792162"/>
          </a:xfrm>
        </p:spPr>
        <p:txBody>
          <a:bodyPr>
            <a:normAutofit/>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Major Issues in Data Mining</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8C5141C-408E-0B45-0C78-23CC0A292246}"/>
              </a:ext>
            </a:extLst>
          </p:cNvPr>
          <p:cNvSpPr>
            <a:spLocks noGrp="1"/>
          </p:cNvSpPr>
          <p:nvPr>
            <p:ph idx="1"/>
          </p:nvPr>
        </p:nvSpPr>
        <p:spPr>
          <a:xfrm>
            <a:off x="457200" y="1031502"/>
            <a:ext cx="4495800" cy="5551860"/>
          </a:xfrm>
        </p:spPr>
        <p:txBody>
          <a:bodyPr>
            <a:noAutofit/>
          </a:bodyPr>
          <a:lstStyle/>
          <a:p>
            <a:pPr marL="109728" indent="0">
              <a:buNone/>
            </a:pPr>
            <a:r>
              <a:rPr lang="en-US" sz="1800" b="1" dirty="0">
                <a:latin typeface="Times New Roman" panose="02020603050405020304" pitchFamily="18" charset="0"/>
                <a:cs typeface="Times New Roman" panose="02020603050405020304" pitchFamily="18" charset="0"/>
              </a:rPr>
              <a:t>Data Quality</a:t>
            </a:r>
          </a:p>
          <a:p>
            <a:r>
              <a:rPr lang="en-US" sz="1800" dirty="0">
                <a:latin typeface="Times New Roman" panose="02020603050405020304" pitchFamily="18" charset="0"/>
                <a:cs typeface="Times New Roman" panose="02020603050405020304" pitchFamily="18" charset="0"/>
              </a:rPr>
              <a:t>Incomplete, noisy, or inconsistent data affects accuracy.</a:t>
            </a:r>
          </a:p>
          <a:p>
            <a:r>
              <a:rPr lang="en-IN" sz="1800" dirty="0">
                <a:latin typeface="Times New Roman" panose="02020603050405020304" pitchFamily="18" charset="0"/>
                <a:cs typeface="Times New Roman" panose="02020603050405020304" pitchFamily="18" charset="0"/>
              </a:rPr>
              <a:t>Needs cleaning before mining.</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Scalability</a:t>
            </a:r>
          </a:p>
          <a:p>
            <a:r>
              <a:rPr lang="en-US" sz="1800" dirty="0">
                <a:latin typeface="Times New Roman" panose="02020603050405020304" pitchFamily="18" charset="0"/>
                <a:cs typeface="Times New Roman" panose="02020603050405020304" pitchFamily="18" charset="0"/>
              </a:rPr>
              <a:t>Algorithms must handle huge datasets efficiently.</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High Dimensionality</a:t>
            </a:r>
          </a:p>
          <a:p>
            <a:r>
              <a:rPr lang="en-US" sz="1800" dirty="0">
                <a:latin typeface="Times New Roman" panose="02020603050405020304" pitchFamily="18" charset="0"/>
                <a:cs typeface="Times New Roman" panose="02020603050405020304" pitchFamily="18" charset="0"/>
              </a:rPr>
              <a:t>Many attributes (features) can make analysis complex and slow.</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Data Integration</a:t>
            </a:r>
          </a:p>
          <a:p>
            <a:r>
              <a:rPr lang="en-US" sz="1800" dirty="0">
                <a:latin typeface="Times New Roman" panose="02020603050405020304" pitchFamily="18" charset="0"/>
                <a:cs typeface="Times New Roman" panose="02020603050405020304" pitchFamily="18" charset="0"/>
              </a:rPr>
              <a:t>Combining data from different sources can be difficult due to format differences.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8" name="Content Placeholder 4">
            <a:extLst>
              <a:ext uri="{FF2B5EF4-FFF2-40B4-BE49-F238E27FC236}">
                <a16:creationId xmlns:a16="http://schemas.microsoft.com/office/drawing/2014/main" id="{24AA39D4-9265-E918-6074-05064E7F3970}"/>
              </a:ext>
            </a:extLst>
          </p:cNvPr>
          <p:cNvSpPr txBox="1">
            <a:spLocks/>
          </p:cNvSpPr>
          <p:nvPr/>
        </p:nvSpPr>
        <p:spPr>
          <a:xfrm>
            <a:off x="5638800" y="1295400"/>
            <a:ext cx="3124200" cy="4525963"/>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Font typeface="Wingdings 3"/>
              <a:buNone/>
            </a:pPr>
            <a:r>
              <a:rPr lang="en-US" sz="1800" b="1" dirty="0">
                <a:latin typeface="Times New Roman" panose="02020603050405020304" pitchFamily="18" charset="0"/>
                <a:cs typeface="Times New Roman" panose="02020603050405020304" pitchFamily="18" charset="0"/>
              </a:rPr>
              <a:t>Privacy and Security</a:t>
            </a:r>
          </a:p>
          <a:p>
            <a:r>
              <a:rPr lang="en-US" sz="1800" dirty="0">
                <a:latin typeface="Times New Roman" panose="02020603050405020304" pitchFamily="18" charset="0"/>
                <a:cs typeface="Times New Roman" panose="02020603050405020304" pitchFamily="18" charset="0"/>
              </a:rPr>
              <a:t>Sensitive data (like health or finance) must be protected during mining.</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US" sz="1800" b="1" dirty="0">
                <a:latin typeface="Times New Roman" panose="02020603050405020304" pitchFamily="18" charset="0"/>
                <a:cs typeface="Times New Roman" panose="02020603050405020304" pitchFamily="18" charset="0"/>
              </a:rPr>
              <a:t>Mining Dynamic Data</a:t>
            </a:r>
          </a:p>
          <a:p>
            <a:r>
              <a:rPr lang="en-US" sz="1800" dirty="0">
                <a:latin typeface="Times New Roman" panose="02020603050405020304" pitchFamily="18" charset="0"/>
                <a:cs typeface="Times New Roman" panose="02020603050405020304" pitchFamily="18" charset="0"/>
              </a:rPr>
              <a:t>Real-time or constantly changing data requires adaptive methods.</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US" sz="1800" b="1" dirty="0">
                <a:latin typeface="Times New Roman" panose="02020603050405020304" pitchFamily="18" charset="0"/>
                <a:cs typeface="Times New Roman" panose="02020603050405020304" pitchFamily="18" charset="0"/>
              </a:rPr>
              <a:t>Interpretability</a:t>
            </a:r>
          </a:p>
          <a:p>
            <a:r>
              <a:rPr lang="en-US" sz="1800" dirty="0">
                <a:latin typeface="Times New Roman" panose="02020603050405020304" pitchFamily="18" charset="0"/>
                <a:cs typeface="Times New Roman" panose="02020603050405020304" pitchFamily="18" charset="0"/>
              </a:rPr>
              <a:t>Patterns found must be easy to understand and useful for decision-making.</a:t>
            </a:r>
            <a:endParaRPr lang="en-IN"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4705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3925</TotalTime>
  <Words>4054</Words>
  <Application>Microsoft Office PowerPoint</Application>
  <PresentationFormat>On-screen Show (4:3)</PresentationFormat>
  <Paragraphs>507</Paragraphs>
  <Slides>47</Slides>
  <Notes>13</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Aptos</vt:lpstr>
      <vt:lpstr>Arial</vt:lpstr>
      <vt:lpstr>Impact</vt:lpstr>
      <vt:lpstr>Lucida Sans Unicode</vt:lpstr>
      <vt:lpstr>Times New Roman</vt:lpstr>
      <vt:lpstr>Verdana</vt:lpstr>
      <vt:lpstr>Wingdings</vt:lpstr>
      <vt:lpstr>Wingdings 2</vt:lpstr>
      <vt:lpstr>Wingdings 3</vt:lpstr>
      <vt:lpstr>Concourse</vt:lpstr>
      <vt:lpstr>Data Mining Unit-I: Introduction to Data Mining</vt:lpstr>
      <vt:lpstr>Course Overview</vt:lpstr>
      <vt:lpstr>Data Mining Syllabus</vt:lpstr>
      <vt:lpstr>PowerPoint Presentation</vt:lpstr>
      <vt:lpstr>UNIT - I Introduction to Data Mining</vt:lpstr>
      <vt:lpstr>Unit I: Introductionto Data Mining</vt:lpstr>
      <vt:lpstr>Why Data mining? </vt:lpstr>
      <vt:lpstr>Why Data mining? Contd.. </vt:lpstr>
      <vt:lpstr>Why Data mining? -Moving toward the Information Age</vt:lpstr>
      <vt:lpstr>Why Data mining? Contd… </vt:lpstr>
      <vt:lpstr>Why Data mining? Contd… </vt:lpstr>
      <vt:lpstr>Data Mining as the Evolution of Information Technology</vt:lpstr>
      <vt:lpstr>Data Mining as the Evolution of Information Technology</vt:lpstr>
      <vt:lpstr>Data Mining as the Evolution of Information Technology</vt:lpstr>
      <vt:lpstr>The world is data rich but information poor</vt:lpstr>
      <vt:lpstr>Why is Data Mining Important?</vt:lpstr>
      <vt:lpstr>Why is Data Mining Important?</vt:lpstr>
      <vt:lpstr>What Is Data Mining?</vt:lpstr>
      <vt:lpstr>What Is Data Mining? Contd..</vt:lpstr>
      <vt:lpstr>What Is Data Mining? Contd..</vt:lpstr>
      <vt:lpstr>What Is Data Mining? Contd..</vt:lpstr>
      <vt:lpstr>PowerPoint Presentation</vt:lpstr>
      <vt:lpstr>Knowledge Discovery (KDD) Process</vt:lpstr>
      <vt:lpstr>KDD Process: A Typical View from ML and Statistics</vt:lpstr>
      <vt:lpstr>Example: A Web Mining Framework</vt:lpstr>
      <vt:lpstr>Data Mining in Business Intelligence </vt:lpstr>
      <vt:lpstr>Example: Mining vs. Data Exploration</vt:lpstr>
      <vt:lpstr>Example: Medical Data Mining </vt:lpstr>
      <vt:lpstr>UNIT - I Introduction to Data Mining</vt:lpstr>
      <vt:lpstr>Kinds of Data</vt:lpstr>
      <vt:lpstr>What Kinds of Data Can Be Mined?</vt:lpstr>
      <vt:lpstr>What Kinds of Data Can Be Mined?</vt:lpstr>
      <vt:lpstr>What Kinds of Data Can Be Mined?</vt:lpstr>
      <vt:lpstr>What Kinds of Data Can Be Mined?</vt:lpstr>
      <vt:lpstr>What Kinds of Data Can Be Mined?</vt:lpstr>
      <vt:lpstr>Data Mining Function: (1) Generalization</vt:lpstr>
      <vt:lpstr>Data Mining Function: (2) Association and Correlation Analysis</vt:lpstr>
      <vt:lpstr>Data Mining Function: (3) Classification</vt:lpstr>
      <vt:lpstr>Data Mining Function: (4) Cluster Analysis</vt:lpstr>
      <vt:lpstr>Data Mining Function: (5) Outlier Analysis</vt:lpstr>
      <vt:lpstr>Data Mining Functionalities</vt:lpstr>
      <vt:lpstr>Types of Data</vt:lpstr>
      <vt:lpstr>Kinds of Patterns</vt:lpstr>
      <vt:lpstr>Major Issues in Data Mining (1)</vt:lpstr>
      <vt:lpstr>Major Issues in Data Mining (2)</vt:lpstr>
      <vt:lpstr>Major Issues in Data Mining</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17</cp:revision>
  <dcterms:created xsi:type="dcterms:W3CDTF">2024-02-25T13:29:34Z</dcterms:created>
  <dcterms:modified xsi:type="dcterms:W3CDTF">2026-07-09T05:14:48Z</dcterms:modified>
</cp:coreProperties>
</file>