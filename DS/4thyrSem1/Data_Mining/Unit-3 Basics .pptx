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405" r:id="rId2"/>
    <p:sldId id="513" r:id="rId3"/>
    <p:sldId id="518" r:id="rId4"/>
    <p:sldId id="515" r:id="rId5"/>
    <p:sldId id="514" r:id="rId6"/>
    <p:sldId id="511" r:id="rId7"/>
    <p:sldId id="516" r:id="rId8"/>
    <p:sldId id="529" r:id="rId9"/>
    <p:sldId id="530" r:id="rId10"/>
    <p:sldId id="540" r:id="rId11"/>
    <p:sldId id="541" r:id="rId12"/>
    <p:sldId id="531" r:id="rId13"/>
    <p:sldId id="532" r:id="rId14"/>
    <p:sldId id="535" r:id="rId15"/>
    <p:sldId id="521" r:id="rId16"/>
    <p:sldId id="517" r:id="rId17"/>
    <p:sldId id="524" r:id="rId18"/>
    <p:sldId id="525" r:id="rId19"/>
    <p:sldId id="522" r:id="rId20"/>
    <p:sldId id="523" r:id="rId21"/>
    <p:sldId id="520" r:id="rId22"/>
    <p:sldId id="519" r:id="rId23"/>
    <p:sldId id="537" r:id="rId24"/>
    <p:sldId id="539" r:id="rId25"/>
    <p:sldId id="538" r:id="rId26"/>
    <p:sldId id="526" r:id="rId27"/>
    <p:sldId id="502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2647" autoAdjust="0"/>
  </p:normalViewPr>
  <p:slideViewPr>
    <p:cSldViewPr>
      <p:cViewPr varScale="1">
        <p:scale>
          <a:sx n="76" d="100"/>
          <a:sy n="76" d="100"/>
        </p:scale>
        <p:origin x="168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92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42621D-2448-4328-8037-DA1D927CF843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B2DE05-EB33-4597-A08F-1238F8CFADCE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 i="1" dirty="0" err="1">
              <a:latin typeface="Times New Roman" pitchFamily="18" charset="0"/>
              <a:cs typeface="Times New Roman" pitchFamily="18" charset="0"/>
            </a:rPr>
            <a:t>Siri</a:t>
          </a:r>
          <a:endParaRPr lang="en-US" dirty="0"/>
        </a:p>
      </dgm:t>
    </dgm:pt>
    <dgm:pt modelId="{358A71F2-F3E7-4363-8053-B2D06BBAE018}" type="parTrans" cxnId="{ABD66EF1-2857-4070-85FC-8BFDC79C3282}">
      <dgm:prSet/>
      <dgm:spPr/>
      <dgm:t>
        <a:bodyPr/>
        <a:lstStyle/>
        <a:p>
          <a:endParaRPr lang="en-US"/>
        </a:p>
      </dgm:t>
    </dgm:pt>
    <dgm:pt modelId="{CFD28EE9-0BE5-4497-BA5C-0BAECB6FDDA7}" type="sibTrans" cxnId="{ABD66EF1-2857-4070-85FC-8BFDC79C3282}">
      <dgm:prSet/>
      <dgm:spPr/>
      <dgm:t>
        <a:bodyPr/>
        <a:lstStyle/>
        <a:p>
          <a:endParaRPr lang="en-US"/>
        </a:p>
      </dgm:t>
    </dgm:pt>
    <dgm:pt modelId="{22F1E104-C94E-41EB-B64D-3B537AB40148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i="1" dirty="0">
              <a:latin typeface="Times New Roman" pitchFamily="18" charset="0"/>
              <a:cs typeface="Times New Roman" pitchFamily="18" charset="0"/>
            </a:rPr>
            <a:t>a powerful speech recognition converts the audio into its corresponding textual form</a:t>
          </a:r>
          <a:endParaRPr lang="en-US" sz="1600" dirty="0"/>
        </a:p>
      </dgm:t>
    </dgm:pt>
    <dgm:pt modelId="{D4CD4E67-8B7C-4ED2-8CD0-61F1A1E75D44}" type="parTrans" cxnId="{464DF208-7977-4363-9882-5EDB5EEA8BCD}">
      <dgm:prSet/>
      <dgm:spPr/>
      <dgm:t>
        <a:bodyPr/>
        <a:lstStyle/>
        <a:p>
          <a:endParaRPr lang="en-US"/>
        </a:p>
      </dgm:t>
    </dgm:pt>
    <dgm:pt modelId="{2D30D34E-3EEB-49F2-9BA6-BE42272A1FAE}" type="sibTrans" cxnId="{464DF208-7977-4363-9882-5EDB5EEA8BCD}">
      <dgm:prSet/>
      <dgm:spPr/>
      <dgm:t>
        <a:bodyPr/>
        <a:lstStyle/>
        <a:p>
          <a:endParaRPr lang="en-US"/>
        </a:p>
      </dgm:t>
    </dgm:pt>
    <dgm:pt modelId="{1B13E8BF-9546-4C09-9AFF-A58BFD341F14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i="1" dirty="0">
              <a:latin typeface="Times New Roman" pitchFamily="18" charset="0"/>
              <a:cs typeface="Times New Roman" pitchFamily="18" charset="0"/>
            </a:rPr>
            <a:t>sent to the Apple servers for further processing</a:t>
          </a:r>
          <a:endParaRPr lang="en-US" sz="1600" dirty="0"/>
        </a:p>
      </dgm:t>
    </dgm:pt>
    <dgm:pt modelId="{C9BE697A-8CDB-454C-9B57-2D794C3D9FA7}" type="parTrans" cxnId="{03B33E0B-013B-4128-9928-BEC8361CF087}">
      <dgm:prSet/>
      <dgm:spPr/>
      <dgm:t>
        <a:bodyPr/>
        <a:lstStyle/>
        <a:p>
          <a:endParaRPr lang="en-US"/>
        </a:p>
      </dgm:t>
    </dgm:pt>
    <dgm:pt modelId="{EBE7CFD3-D2C5-4825-81AB-26077FFFD29D}" type="sibTrans" cxnId="{03B33E0B-013B-4128-9928-BEC8361CF087}">
      <dgm:prSet/>
      <dgm:spPr/>
      <dgm:t>
        <a:bodyPr/>
        <a:lstStyle/>
        <a:p>
          <a:endParaRPr lang="en-US"/>
        </a:p>
      </dgm:t>
    </dgm:pt>
    <dgm:pt modelId="{E218CA27-8371-4121-912C-11A2AF584463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i="1" dirty="0">
              <a:latin typeface="Times New Roman" pitchFamily="18" charset="0"/>
              <a:cs typeface="Times New Roman" pitchFamily="18" charset="0"/>
            </a:rPr>
            <a:t>where language processing algorithms are run to understand the user's intent. </a:t>
          </a:r>
          <a:endParaRPr lang="en-US" sz="1600" dirty="0"/>
        </a:p>
      </dgm:t>
    </dgm:pt>
    <dgm:pt modelId="{1F84AE45-6DF8-41CA-8671-95CACAE0E608}" type="parTrans" cxnId="{478634AF-8BAE-41C8-A9A2-CC5561B982BA}">
      <dgm:prSet/>
      <dgm:spPr/>
      <dgm:t>
        <a:bodyPr/>
        <a:lstStyle/>
        <a:p>
          <a:endParaRPr lang="en-US"/>
        </a:p>
      </dgm:t>
    </dgm:pt>
    <dgm:pt modelId="{A3CA901E-01E7-4E0A-BC83-41E53FEFAA38}" type="sibTrans" cxnId="{478634AF-8BAE-41C8-A9A2-CC5561B982BA}">
      <dgm:prSet/>
      <dgm:spPr/>
      <dgm:t>
        <a:bodyPr/>
        <a:lstStyle/>
        <a:p>
          <a:endParaRPr lang="en-US"/>
        </a:p>
      </dgm:t>
    </dgm:pt>
    <dgm:pt modelId="{19FD4038-A532-406F-B377-D6D42532228C}" type="pres">
      <dgm:prSet presAssocID="{1742621D-2448-4328-8037-DA1D927CF843}" presName="cycle" presStyleCnt="0">
        <dgm:presLayoutVars>
          <dgm:dir/>
          <dgm:resizeHandles val="exact"/>
        </dgm:presLayoutVars>
      </dgm:prSet>
      <dgm:spPr/>
    </dgm:pt>
    <dgm:pt modelId="{84130729-E60A-4454-A45E-2CC453F32470}" type="pres">
      <dgm:prSet presAssocID="{CDB2DE05-EB33-4597-A08F-1238F8CFADCE}" presName="node" presStyleLbl="node1" presStyleIdx="0" presStyleCnt="4">
        <dgm:presLayoutVars>
          <dgm:bulletEnabled val="1"/>
        </dgm:presLayoutVars>
      </dgm:prSet>
      <dgm:spPr/>
    </dgm:pt>
    <dgm:pt modelId="{05E91FC5-7D7B-49A2-94BE-D1BD3DDBE903}" type="pres">
      <dgm:prSet presAssocID="{CDB2DE05-EB33-4597-A08F-1238F8CFADCE}" presName="spNode" presStyleCnt="0"/>
      <dgm:spPr/>
    </dgm:pt>
    <dgm:pt modelId="{B5841C54-195F-4E02-BA7F-04AE3C52D231}" type="pres">
      <dgm:prSet presAssocID="{CFD28EE9-0BE5-4497-BA5C-0BAECB6FDDA7}" presName="sibTrans" presStyleLbl="sibTrans1D1" presStyleIdx="0" presStyleCnt="4"/>
      <dgm:spPr/>
    </dgm:pt>
    <dgm:pt modelId="{A5BB885F-6653-426D-BE2C-2538A5220A18}" type="pres">
      <dgm:prSet presAssocID="{22F1E104-C94E-41EB-B64D-3B537AB40148}" presName="node" presStyleLbl="node1" presStyleIdx="1" presStyleCnt="4" custScaleX="156387">
        <dgm:presLayoutVars>
          <dgm:bulletEnabled val="1"/>
        </dgm:presLayoutVars>
      </dgm:prSet>
      <dgm:spPr/>
    </dgm:pt>
    <dgm:pt modelId="{6B015CD6-1D87-4A38-9245-FE2FF724938F}" type="pres">
      <dgm:prSet presAssocID="{22F1E104-C94E-41EB-B64D-3B537AB40148}" presName="spNode" presStyleCnt="0"/>
      <dgm:spPr/>
    </dgm:pt>
    <dgm:pt modelId="{95F7C0D7-03C7-446E-9615-443D6416B6CE}" type="pres">
      <dgm:prSet presAssocID="{2D30D34E-3EEB-49F2-9BA6-BE42272A1FAE}" presName="sibTrans" presStyleLbl="sibTrans1D1" presStyleIdx="1" presStyleCnt="4"/>
      <dgm:spPr/>
    </dgm:pt>
    <dgm:pt modelId="{FFEEDE6E-9ACE-4A34-AEF1-C523BFA7A5A4}" type="pres">
      <dgm:prSet presAssocID="{1B13E8BF-9546-4C09-9AFF-A58BFD341F14}" presName="node" presStyleLbl="node1" presStyleIdx="2" presStyleCnt="4" custScaleX="127242">
        <dgm:presLayoutVars>
          <dgm:bulletEnabled val="1"/>
        </dgm:presLayoutVars>
      </dgm:prSet>
      <dgm:spPr/>
    </dgm:pt>
    <dgm:pt modelId="{63479744-DFE4-421C-AFB5-24504C8BBB1C}" type="pres">
      <dgm:prSet presAssocID="{1B13E8BF-9546-4C09-9AFF-A58BFD341F14}" presName="spNode" presStyleCnt="0"/>
      <dgm:spPr/>
    </dgm:pt>
    <dgm:pt modelId="{AFD74A88-CFD2-4B27-B9ED-4D894AABF5FA}" type="pres">
      <dgm:prSet presAssocID="{EBE7CFD3-D2C5-4825-81AB-26077FFFD29D}" presName="sibTrans" presStyleLbl="sibTrans1D1" presStyleIdx="2" presStyleCnt="4"/>
      <dgm:spPr/>
    </dgm:pt>
    <dgm:pt modelId="{632F0F56-E931-4CB9-904F-B0E26548C993}" type="pres">
      <dgm:prSet presAssocID="{E218CA27-8371-4121-912C-11A2AF584463}" presName="node" presStyleLbl="node1" presStyleIdx="3" presStyleCnt="4" custScaleX="181195">
        <dgm:presLayoutVars>
          <dgm:bulletEnabled val="1"/>
        </dgm:presLayoutVars>
      </dgm:prSet>
      <dgm:spPr/>
    </dgm:pt>
    <dgm:pt modelId="{7B87167C-78B3-4E09-9F2C-3B3EC42ACC58}" type="pres">
      <dgm:prSet presAssocID="{E218CA27-8371-4121-912C-11A2AF584463}" presName="spNode" presStyleCnt="0"/>
      <dgm:spPr/>
    </dgm:pt>
    <dgm:pt modelId="{E4C5C409-78D5-4857-A9C4-F634B3DE8176}" type="pres">
      <dgm:prSet presAssocID="{A3CA901E-01E7-4E0A-BC83-41E53FEFAA38}" presName="sibTrans" presStyleLbl="sibTrans1D1" presStyleIdx="3" presStyleCnt="4"/>
      <dgm:spPr/>
    </dgm:pt>
  </dgm:ptLst>
  <dgm:cxnLst>
    <dgm:cxn modelId="{464DF208-7977-4363-9882-5EDB5EEA8BCD}" srcId="{1742621D-2448-4328-8037-DA1D927CF843}" destId="{22F1E104-C94E-41EB-B64D-3B537AB40148}" srcOrd="1" destOrd="0" parTransId="{D4CD4E67-8B7C-4ED2-8CD0-61F1A1E75D44}" sibTransId="{2D30D34E-3EEB-49F2-9BA6-BE42272A1FAE}"/>
    <dgm:cxn modelId="{03B33E0B-013B-4128-9928-BEC8361CF087}" srcId="{1742621D-2448-4328-8037-DA1D927CF843}" destId="{1B13E8BF-9546-4C09-9AFF-A58BFD341F14}" srcOrd="2" destOrd="0" parTransId="{C9BE697A-8CDB-454C-9B57-2D794C3D9FA7}" sibTransId="{EBE7CFD3-D2C5-4825-81AB-26077FFFD29D}"/>
    <dgm:cxn modelId="{22160915-48E1-498D-BCA6-EA03D25017BB}" type="presOf" srcId="{1742621D-2448-4328-8037-DA1D927CF843}" destId="{19FD4038-A532-406F-B377-D6D42532228C}" srcOrd="0" destOrd="0" presId="urn:microsoft.com/office/officeart/2005/8/layout/cycle5"/>
    <dgm:cxn modelId="{3FF4823B-8E0C-4D9C-81ED-BB04D00AD8B9}" type="presOf" srcId="{EBE7CFD3-D2C5-4825-81AB-26077FFFD29D}" destId="{AFD74A88-CFD2-4B27-B9ED-4D894AABF5FA}" srcOrd="0" destOrd="0" presId="urn:microsoft.com/office/officeart/2005/8/layout/cycle5"/>
    <dgm:cxn modelId="{0489E15F-5172-4D58-8054-EE0A082F4EC4}" type="presOf" srcId="{E218CA27-8371-4121-912C-11A2AF584463}" destId="{632F0F56-E931-4CB9-904F-B0E26548C993}" srcOrd="0" destOrd="0" presId="urn:microsoft.com/office/officeart/2005/8/layout/cycle5"/>
    <dgm:cxn modelId="{A03C0050-56CD-43D4-933D-7DC40A1EDE07}" type="presOf" srcId="{A3CA901E-01E7-4E0A-BC83-41E53FEFAA38}" destId="{E4C5C409-78D5-4857-A9C4-F634B3DE8176}" srcOrd="0" destOrd="0" presId="urn:microsoft.com/office/officeart/2005/8/layout/cycle5"/>
    <dgm:cxn modelId="{A204C972-5A5E-4302-A8D0-368CD3CB7506}" type="presOf" srcId="{1B13E8BF-9546-4C09-9AFF-A58BFD341F14}" destId="{FFEEDE6E-9ACE-4A34-AEF1-C523BFA7A5A4}" srcOrd="0" destOrd="0" presId="urn:microsoft.com/office/officeart/2005/8/layout/cycle5"/>
    <dgm:cxn modelId="{327D4276-A529-4E2F-8008-6AE5D574253E}" type="presOf" srcId="{CDB2DE05-EB33-4597-A08F-1238F8CFADCE}" destId="{84130729-E60A-4454-A45E-2CC453F32470}" srcOrd="0" destOrd="0" presId="urn:microsoft.com/office/officeart/2005/8/layout/cycle5"/>
    <dgm:cxn modelId="{1A19A1AA-51E1-4B23-9447-63D95EF2BFD1}" type="presOf" srcId="{2D30D34E-3EEB-49F2-9BA6-BE42272A1FAE}" destId="{95F7C0D7-03C7-446E-9615-443D6416B6CE}" srcOrd="0" destOrd="0" presId="urn:microsoft.com/office/officeart/2005/8/layout/cycle5"/>
    <dgm:cxn modelId="{478634AF-8BAE-41C8-A9A2-CC5561B982BA}" srcId="{1742621D-2448-4328-8037-DA1D927CF843}" destId="{E218CA27-8371-4121-912C-11A2AF584463}" srcOrd="3" destOrd="0" parTransId="{1F84AE45-6DF8-41CA-8671-95CACAE0E608}" sibTransId="{A3CA901E-01E7-4E0A-BC83-41E53FEFAA38}"/>
    <dgm:cxn modelId="{14B607DB-8A56-4A5F-9E94-ED92A42B8BB9}" type="presOf" srcId="{CFD28EE9-0BE5-4497-BA5C-0BAECB6FDDA7}" destId="{B5841C54-195F-4E02-BA7F-04AE3C52D231}" srcOrd="0" destOrd="0" presId="urn:microsoft.com/office/officeart/2005/8/layout/cycle5"/>
    <dgm:cxn modelId="{22CF71ED-AF27-42E5-836B-8494B8C8CB89}" type="presOf" srcId="{22F1E104-C94E-41EB-B64D-3B537AB40148}" destId="{A5BB885F-6653-426D-BE2C-2538A5220A18}" srcOrd="0" destOrd="0" presId="urn:microsoft.com/office/officeart/2005/8/layout/cycle5"/>
    <dgm:cxn modelId="{ABD66EF1-2857-4070-85FC-8BFDC79C3282}" srcId="{1742621D-2448-4328-8037-DA1D927CF843}" destId="{CDB2DE05-EB33-4597-A08F-1238F8CFADCE}" srcOrd="0" destOrd="0" parTransId="{358A71F2-F3E7-4363-8053-B2D06BBAE018}" sibTransId="{CFD28EE9-0BE5-4497-BA5C-0BAECB6FDDA7}"/>
    <dgm:cxn modelId="{DBCEFFEA-9CB7-451B-B340-724531AF7408}" type="presParOf" srcId="{19FD4038-A532-406F-B377-D6D42532228C}" destId="{84130729-E60A-4454-A45E-2CC453F32470}" srcOrd="0" destOrd="0" presId="urn:microsoft.com/office/officeart/2005/8/layout/cycle5"/>
    <dgm:cxn modelId="{97D3136F-F80F-4AA6-8E32-4651BAA84C3F}" type="presParOf" srcId="{19FD4038-A532-406F-B377-D6D42532228C}" destId="{05E91FC5-7D7B-49A2-94BE-D1BD3DDBE903}" srcOrd="1" destOrd="0" presId="urn:microsoft.com/office/officeart/2005/8/layout/cycle5"/>
    <dgm:cxn modelId="{B75A2FF9-8D25-4F3A-AAAC-A9933FF88609}" type="presParOf" srcId="{19FD4038-A532-406F-B377-D6D42532228C}" destId="{B5841C54-195F-4E02-BA7F-04AE3C52D231}" srcOrd="2" destOrd="0" presId="urn:microsoft.com/office/officeart/2005/8/layout/cycle5"/>
    <dgm:cxn modelId="{9183EA29-8515-49F4-AB3F-9F3236C897D6}" type="presParOf" srcId="{19FD4038-A532-406F-B377-D6D42532228C}" destId="{A5BB885F-6653-426D-BE2C-2538A5220A18}" srcOrd="3" destOrd="0" presId="urn:microsoft.com/office/officeart/2005/8/layout/cycle5"/>
    <dgm:cxn modelId="{8483FBDC-C500-4397-A430-8A113CF3DCE2}" type="presParOf" srcId="{19FD4038-A532-406F-B377-D6D42532228C}" destId="{6B015CD6-1D87-4A38-9245-FE2FF724938F}" srcOrd="4" destOrd="0" presId="urn:microsoft.com/office/officeart/2005/8/layout/cycle5"/>
    <dgm:cxn modelId="{18124E25-03F5-4207-A265-FC74E3D9E129}" type="presParOf" srcId="{19FD4038-A532-406F-B377-D6D42532228C}" destId="{95F7C0D7-03C7-446E-9615-443D6416B6CE}" srcOrd="5" destOrd="0" presId="urn:microsoft.com/office/officeart/2005/8/layout/cycle5"/>
    <dgm:cxn modelId="{4194C72C-C7A2-42B0-8D53-8AF1666736BA}" type="presParOf" srcId="{19FD4038-A532-406F-B377-D6D42532228C}" destId="{FFEEDE6E-9ACE-4A34-AEF1-C523BFA7A5A4}" srcOrd="6" destOrd="0" presId="urn:microsoft.com/office/officeart/2005/8/layout/cycle5"/>
    <dgm:cxn modelId="{F90C9469-893E-402C-8E37-4ACC69379CE1}" type="presParOf" srcId="{19FD4038-A532-406F-B377-D6D42532228C}" destId="{63479744-DFE4-421C-AFB5-24504C8BBB1C}" srcOrd="7" destOrd="0" presId="urn:microsoft.com/office/officeart/2005/8/layout/cycle5"/>
    <dgm:cxn modelId="{85711631-6E53-445D-BBD4-62CA0260BD37}" type="presParOf" srcId="{19FD4038-A532-406F-B377-D6D42532228C}" destId="{AFD74A88-CFD2-4B27-B9ED-4D894AABF5FA}" srcOrd="8" destOrd="0" presId="urn:microsoft.com/office/officeart/2005/8/layout/cycle5"/>
    <dgm:cxn modelId="{0027658D-5967-4D7B-90A3-93C751E79C70}" type="presParOf" srcId="{19FD4038-A532-406F-B377-D6D42532228C}" destId="{632F0F56-E931-4CB9-904F-B0E26548C993}" srcOrd="9" destOrd="0" presId="urn:microsoft.com/office/officeart/2005/8/layout/cycle5"/>
    <dgm:cxn modelId="{085C0E54-559B-48CF-8383-10560464C08C}" type="presParOf" srcId="{19FD4038-A532-406F-B377-D6D42532228C}" destId="{7B87167C-78B3-4E09-9F2C-3B3EC42ACC58}" srcOrd="10" destOrd="0" presId="urn:microsoft.com/office/officeart/2005/8/layout/cycle5"/>
    <dgm:cxn modelId="{C6013A53-638A-4B51-9C05-6A104E17FE57}" type="presParOf" srcId="{19FD4038-A532-406F-B377-D6D42532228C}" destId="{E4C5C409-78D5-4857-A9C4-F634B3DE8176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30729-E60A-4454-A45E-2CC453F32470}">
      <dsp:nvSpPr>
        <dsp:cNvPr id="0" name=""/>
        <dsp:cNvSpPr/>
      </dsp:nvSpPr>
      <dsp:spPr>
        <a:xfrm>
          <a:off x="3406415" y="1624"/>
          <a:ext cx="1617389" cy="1051303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55000" cap="flat" cmpd="thickThin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i="1" kern="1200" dirty="0" err="1">
              <a:latin typeface="Times New Roman" pitchFamily="18" charset="0"/>
              <a:cs typeface="Times New Roman" pitchFamily="18" charset="0"/>
            </a:rPr>
            <a:t>Siri</a:t>
          </a:r>
          <a:endParaRPr lang="en-US" sz="3600" kern="1200" dirty="0"/>
        </a:p>
      </dsp:txBody>
      <dsp:txXfrm>
        <a:off x="3457735" y="52944"/>
        <a:ext cx="1514749" cy="948663"/>
      </dsp:txXfrm>
    </dsp:sp>
    <dsp:sp modelId="{B5841C54-195F-4E02-BA7F-04AE3C52D231}">
      <dsp:nvSpPr>
        <dsp:cNvPr id="0" name=""/>
        <dsp:cNvSpPr/>
      </dsp:nvSpPr>
      <dsp:spPr>
        <a:xfrm>
          <a:off x="2479405" y="527276"/>
          <a:ext cx="3471409" cy="3471409"/>
        </a:xfrm>
        <a:custGeom>
          <a:avLst/>
          <a:gdLst/>
          <a:ahLst/>
          <a:cxnLst/>
          <a:rect l="0" t="0" r="0" b="0"/>
          <a:pathLst>
            <a:path>
              <a:moveTo>
                <a:pt x="2767323" y="339841"/>
              </a:moveTo>
              <a:arcTo wR="1735704" hR="1735704" stAng="18387985" swAng="163248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BB885F-6653-426D-BE2C-2538A5220A18}">
      <dsp:nvSpPr>
        <dsp:cNvPr id="0" name=""/>
        <dsp:cNvSpPr/>
      </dsp:nvSpPr>
      <dsp:spPr>
        <a:xfrm>
          <a:off x="4686121" y="1737329"/>
          <a:ext cx="2529387" cy="1051303"/>
        </a:xfrm>
        <a:prstGeom prst="roundRect">
          <a:avLst/>
        </a:prstGeom>
        <a:solidFill>
          <a:schemeClr val="lt1"/>
        </a:solidFill>
        <a:ln w="55000" cap="flat" cmpd="thickThin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>
              <a:latin typeface="Times New Roman" pitchFamily="18" charset="0"/>
              <a:cs typeface="Times New Roman" pitchFamily="18" charset="0"/>
            </a:rPr>
            <a:t>a powerful speech recognition converts the audio into its corresponding textual form</a:t>
          </a:r>
          <a:endParaRPr lang="en-US" sz="1600" kern="1200" dirty="0"/>
        </a:p>
      </dsp:txBody>
      <dsp:txXfrm>
        <a:off x="4737441" y="1788649"/>
        <a:ext cx="2426747" cy="948663"/>
      </dsp:txXfrm>
    </dsp:sp>
    <dsp:sp modelId="{95F7C0D7-03C7-446E-9615-443D6416B6CE}">
      <dsp:nvSpPr>
        <dsp:cNvPr id="0" name=""/>
        <dsp:cNvSpPr/>
      </dsp:nvSpPr>
      <dsp:spPr>
        <a:xfrm>
          <a:off x="2479405" y="527276"/>
          <a:ext cx="3471409" cy="3471409"/>
        </a:xfrm>
        <a:custGeom>
          <a:avLst/>
          <a:gdLst/>
          <a:ahLst/>
          <a:cxnLst/>
          <a:rect l="0" t="0" r="0" b="0"/>
          <a:pathLst>
            <a:path>
              <a:moveTo>
                <a:pt x="3312440" y="2461360"/>
              </a:moveTo>
              <a:arcTo wR="1735704" hR="1735704" stAng="1482788" swAng="131060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EEDE6E-9ACE-4A34-AEF1-C523BFA7A5A4}">
      <dsp:nvSpPr>
        <dsp:cNvPr id="0" name=""/>
        <dsp:cNvSpPr/>
      </dsp:nvSpPr>
      <dsp:spPr>
        <a:xfrm>
          <a:off x="3186111" y="3473034"/>
          <a:ext cx="2057998" cy="1051303"/>
        </a:xfrm>
        <a:prstGeom prst="roundRect">
          <a:avLst/>
        </a:prstGeom>
        <a:solidFill>
          <a:schemeClr val="lt1"/>
        </a:solidFill>
        <a:ln w="55000" cap="flat" cmpd="thickThin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>
              <a:latin typeface="Times New Roman" pitchFamily="18" charset="0"/>
              <a:cs typeface="Times New Roman" pitchFamily="18" charset="0"/>
            </a:rPr>
            <a:t>sent to the Apple servers for further processing</a:t>
          </a:r>
          <a:endParaRPr lang="en-US" sz="1600" kern="1200" dirty="0"/>
        </a:p>
      </dsp:txBody>
      <dsp:txXfrm>
        <a:off x="3237431" y="3524354"/>
        <a:ext cx="1955358" cy="948663"/>
      </dsp:txXfrm>
    </dsp:sp>
    <dsp:sp modelId="{AFD74A88-CFD2-4B27-B9ED-4D894AABF5FA}">
      <dsp:nvSpPr>
        <dsp:cNvPr id="0" name=""/>
        <dsp:cNvSpPr/>
      </dsp:nvSpPr>
      <dsp:spPr>
        <a:xfrm>
          <a:off x="2479405" y="527276"/>
          <a:ext cx="3471409" cy="3471409"/>
        </a:xfrm>
        <a:custGeom>
          <a:avLst/>
          <a:gdLst/>
          <a:ahLst/>
          <a:cxnLst/>
          <a:rect l="0" t="0" r="0" b="0"/>
          <a:pathLst>
            <a:path>
              <a:moveTo>
                <a:pt x="542167" y="2995918"/>
              </a:moveTo>
              <a:arcTo wR="1735704" hR="1735704" stAng="8006609" swAng="131060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2F0F56-E931-4CB9-904F-B0E26548C993}">
      <dsp:nvSpPr>
        <dsp:cNvPr id="0" name=""/>
        <dsp:cNvSpPr/>
      </dsp:nvSpPr>
      <dsp:spPr>
        <a:xfrm>
          <a:off x="1014091" y="1737329"/>
          <a:ext cx="2930629" cy="1051303"/>
        </a:xfrm>
        <a:prstGeom prst="roundRect">
          <a:avLst/>
        </a:prstGeom>
        <a:solidFill>
          <a:schemeClr val="lt1"/>
        </a:solidFill>
        <a:ln w="55000" cap="flat" cmpd="thickThin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>
              <a:latin typeface="Times New Roman" pitchFamily="18" charset="0"/>
              <a:cs typeface="Times New Roman" pitchFamily="18" charset="0"/>
            </a:rPr>
            <a:t>where language processing algorithms are run to understand the user's intent. </a:t>
          </a:r>
          <a:endParaRPr lang="en-US" sz="1600" kern="1200" dirty="0"/>
        </a:p>
      </dsp:txBody>
      <dsp:txXfrm>
        <a:off x="1065411" y="1788649"/>
        <a:ext cx="2827989" cy="948663"/>
      </dsp:txXfrm>
    </dsp:sp>
    <dsp:sp modelId="{E4C5C409-78D5-4857-A9C4-F634B3DE8176}">
      <dsp:nvSpPr>
        <dsp:cNvPr id="0" name=""/>
        <dsp:cNvSpPr/>
      </dsp:nvSpPr>
      <dsp:spPr>
        <a:xfrm>
          <a:off x="2479405" y="527276"/>
          <a:ext cx="3471409" cy="3471409"/>
        </a:xfrm>
        <a:custGeom>
          <a:avLst/>
          <a:gdLst/>
          <a:ahLst/>
          <a:cxnLst/>
          <a:rect l="0" t="0" r="0" b="0"/>
          <a:pathLst>
            <a:path>
              <a:moveTo>
                <a:pt x="180010" y="965972"/>
              </a:moveTo>
              <a:arcTo wR="1735704" hR="1735704" stAng="12379527" swAng="163248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84BC1CD-E2F9-4185-8989-FDC0CEA88A62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982EB81-FC60-43B2-AC07-8490AD5588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8C4E8DF0-D523-4E95-83DB-E19AD6D2E2D1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C905D11-E4BC-484F-9736-9FD59D4A46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579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A2FD1-D3DB-4EE8-9BCF-B613F49D0455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2DE15-D37F-41C2-938D-CE7BD9B41A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58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D6CCEF1-32D9-4D8D-82C4-7CD04E0B9E03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FEDB3-23CD-4323-9D71-68F86E72D7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282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AD31569-038F-439B-BAD3-0BD2ABBE319A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F08EE-2675-4A31-ADCB-80A7F3EF03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068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C571866-8B91-496E-A15F-4E098EF092AA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C53C4-B2FD-47F3-A7BA-51B9A13B6E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265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32F7FF1-735A-424E-91FF-ED5826F89911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9C7B5-AA8A-4AAF-8790-B4FE655673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346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2D70DC-4BE8-4979-83B7-EEF612E59F9B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19B7C-FD2D-463B-8C3D-6D8824790B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13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C2E1CB7-DB0A-451F-8E2C-860585F4D622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BB7D5-D778-455B-9C41-3585DD30FD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/>
            <a:gdLst>
              <a:gd name="T0" fmla="*/ 0 w 5760"/>
              <a:gd name="T1" fmla="*/ 0 h 528"/>
              <a:gd name="T2" fmla="*/ 2147483646 w 5760"/>
              <a:gd name="T3" fmla="*/ 0 h 528"/>
              <a:gd name="T4" fmla="*/ 2147483646 w 5760"/>
              <a:gd name="T5" fmla="*/ 2147483646 h 528"/>
              <a:gd name="T6" fmla="*/ 2147483646 w 57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760"/>
              <a:gd name="T13" fmla="*/ 0 h 528"/>
              <a:gd name="T14" fmla="*/ 5760 w 5760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AFF1B516-C7BD-459E-B101-BB697CD6878F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6BD57-61B0-4F9A-A393-46D992EE00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233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C6E96-38AC-4810-92F2-92E205F4860D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DA20E-81C0-45EB-9CD8-FA49013B54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0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3EF18-A98D-4B7B-82EC-BF5596F68150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8BDD2-A9F2-4FC2-84D3-9467C8C74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46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/>
            <a:gdLst>
              <a:gd name="T0" fmla="*/ 0 w 5760"/>
              <a:gd name="T1" fmla="*/ 0 h 528"/>
              <a:gd name="T2" fmla="*/ 2147483646 w 5760"/>
              <a:gd name="T3" fmla="*/ 0 h 528"/>
              <a:gd name="T4" fmla="*/ 2147483646 w 5760"/>
              <a:gd name="T5" fmla="*/ 2147483646 h 528"/>
              <a:gd name="T6" fmla="*/ 2147483646 w 57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760"/>
              <a:gd name="T13" fmla="*/ 0 h 528"/>
              <a:gd name="T14" fmla="*/ 5760 w 5760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E73E4E60-4B1B-4053-B227-BEE108E8A36F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Lucida Sans Unicode" panose="020B0602030504020204" pitchFamily="34" charset="0"/>
              </a:defRPr>
            </a:lvl1pPr>
          </a:lstStyle>
          <a:p>
            <a:pPr>
              <a:defRPr/>
            </a:pPr>
            <a:fld id="{E1E0A219-E2D7-4C8A-864A-3589B84A07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1" r:id="rId1"/>
    <p:sldLayoutId id="2147485017" r:id="rId2"/>
    <p:sldLayoutId id="2147485022" r:id="rId3"/>
    <p:sldLayoutId id="2147485023" r:id="rId4"/>
    <p:sldLayoutId id="2147485024" r:id="rId5"/>
    <p:sldLayoutId id="2147485025" r:id="rId6"/>
    <p:sldLayoutId id="2147485018" r:id="rId7"/>
    <p:sldLayoutId id="2147485026" r:id="rId8"/>
    <p:sldLayoutId id="2147485027" r:id="rId9"/>
    <p:sldLayoutId id="2147485019" r:id="rId10"/>
    <p:sldLayoutId id="21474850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07/s40745-015-0040-1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nvidia.com/blog/2018/08/02/supervised-unsupervised-learning/" TargetMode="External"/><Relationship Id="rId2" Type="http://schemas.openxmlformats.org/officeDocument/2006/relationships/hyperlink" Target="https://www.javatpoint.com/regression-vs-classification-in-machine-learn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wardsdatascience.com/introduction-to-regression-analysis-9151d8ac14b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5"/>
          <p:cNvSpPr>
            <a:spLocks noGrp="1" noChangeArrowheads="1"/>
          </p:cNvSpPr>
          <p:nvPr>
            <p:ph type="ctrTitle"/>
          </p:nvPr>
        </p:nvSpPr>
        <p:spPr>
          <a:xfrm>
            <a:off x="1971173" y="3505200"/>
            <a:ext cx="6039853" cy="14478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br>
              <a:rPr lang="en-US" alt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7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Dr.G.Padmavathi</a:t>
            </a:r>
            <a:br>
              <a:rPr lang="en-US" alt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br>
              <a:rPr lang="en-US" alt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CRRAO AIMSCS</a:t>
            </a:r>
            <a:br>
              <a:rPr lang="en-US" alt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7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Title 5"/>
          <p:cNvSpPr txBox="1">
            <a:spLocks/>
          </p:cNvSpPr>
          <p:nvPr/>
        </p:nvSpPr>
        <p:spPr bwMode="auto">
          <a:xfrm>
            <a:off x="152400" y="381000"/>
            <a:ext cx="9144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6600" b="1">
              <a:solidFill>
                <a:srgbClr val="00000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1571605" y="560388"/>
            <a:ext cx="6276996" cy="1725612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Overview of Supervised &amp; Un-Supervised Learning </a:t>
            </a:r>
            <a:endParaRPr lang="en-US" sz="3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3" name="Picture 5" descr="C:\Users\USER1\Desktop\downloa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98" y="12944"/>
            <a:ext cx="1447800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3233746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Machine learning algorithms are trained with training data.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When new data comes in, they can make predictions and decisions accurately based on past data. 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Introduction to Machine learning</a:t>
            </a:r>
            <a:endParaRPr lang="en-US" sz="3600" dirty="0">
              <a:solidFill>
                <a:srgbClr val="002060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28596" y="1857364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71792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714744" y="500042"/>
            <a:ext cx="1857388" cy="126416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  <a:p>
            <a:pPr lvl="0" algn="ctr"/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If we ask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Siri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to do something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 flipH="1">
            <a:off x="571472" y="1643050"/>
            <a:ext cx="3071834" cy="10715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  <a:p>
            <a:pPr marL="0" lvl="1" algn="ctr"/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finally, </a:t>
            </a:r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Siri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tells you the answer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s://livecodestream.dev/post/2020-06-02-7-steps-of-machine-learning/types_of_ml_hu47b67f97081264bc6ff470e6f5bfe23e_75769_700x0_resize_q75_box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0"/>
            <a:ext cx="6881814" cy="5888868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00034" y="6072207"/>
            <a:ext cx="7786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https://livecodestream.dev/post/2020-06-02-7-steps-of-machine-learning</a:t>
            </a:r>
            <a:r>
              <a:rPr lang="en-US" dirty="0"/>
              <a:t>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Supervised Learning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Unsupervised Learning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Reinforcement Learning</a:t>
            </a: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Types of machine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2305052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 Supervised Learning, the machine learns under supervision.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contains a model that is able to predict with the help of a labeled dataset. A labeled dataset is one where you already know the target answer.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Supervised Learning</a:t>
            </a:r>
          </a:p>
        </p:txBody>
      </p:sp>
      <p:pic>
        <p:nvPicPr>
          <p:cNvPr id="4" name="Picture 2" descr="With supervised machine learning, the algorithm learns from labeled data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4071942"/>
            <a:ext cx="6400800" cy="20002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Example of Supervised Learning</a:t>
            </a:r>
          </a:p>
        </p:txBody>
      </p:sp>
      <p:pic>
        <p:nvPicPr>
          <p:cNvPr id="33794" name="Picture 2" descr="Supervised Learn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1000108"/>
            <a:ext cx="5451679" cy="48418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1500174"/>
            <a:ext cx="321467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Known data is fed to the machine, which analyzes and learns the association of these images based on its features such as shape, size, sharpness, etc.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When a new image is fed to the machine without any label, the machine is able to predict accurately that it is a spoon with the help of the past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Types of ML Classification Algorithms: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Logistic Regression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K-Nearest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Neighbours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 Vector Machines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Kernel SVM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Naïve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Bayes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Decision Tree Classification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Random Forest Classification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Classification of Data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Simple Linear Regression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Multiple Linear Regression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Polynomial Regression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 Vector Regression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Decision Tree Regression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Random Forest Regression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Types of Regression Algorithm</a:t>
            </a:r>
            <a:endParaRPr lang="en-US" dirty="0">
              <a:solidFill>
                <a:srgbClr val="002060"/>
              </a:soli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4348" y="571478"/>
          <a:ext cx="7500990" cy="5888969"/>
        </p:xfrm>
        <a:graphic>
          <a:graphicData uri="http://schemas.openxmlformats.org/drawingml/2006/table">
            <a:tbl>
              <a:tblPr/>
              <a:tblGrid>
                <a:gridCol w="3671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Regression Algorithm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Classification Algorithm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680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 Regression, the output variable must be of continuous nature or real value.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 Classification, the output variable must be a discrete value.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081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task of the regression algorithm is to map the input value (x) with the continuous output variable(y).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task of the classification algorithm is to map the input value(x) with the discrete output variable(y).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87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Regression Algorithms are used with continuous data.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Classification Algorithms are used with discrete data.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081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 Regression, we try to find the best fit line, which can predict the output more accurately.</a:t>
                      </a:r>
                      <a:endParaRPr lang="en-US" sz="1800" b="1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 Classification, we try to find the decision boundary, which can divide the dataset into different classes.</a:t>
                      </a:r>
                      <a:endParaRPr lang="en-US" sz="1800" b="1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8467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Regression algorithms can be used to solve the regression problems such as Weather Prediction, House price prediction, etc.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Classification Algorithms can be used to solve classification problems such as Identification of spam emails, Speech Recognition, Identification of cancer cells, etc.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1081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regression Algorithm can be further divided into Linear and Non-linear Regression.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Classification algorithms can be divided into Binary Classifier and Multi-class Classifier.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fontAlgn="t" hangingPunct="1"/>
            <a:r>
              <a:rPr lang="en-US" sz="36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Regression and Classification</a:t>
            </a:r>
          </a:p>
        </p:txBody>
      </p:sp>
      <p:pic>
        <p:nvPicPr>
          <p:cNvPr id="4" name="Picture 3" descr="Regression vs. Classification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5437" y="1771650"/>
            <a:ext cx="5953125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3448060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comparison of a several classifiers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-learn on synthetic datasets.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The point of this example is to illustrate the nature of decision boundaries of different classifiers. </a:t>
            </a:r>
          </a:p>
          <a:p>
            <a:pPr algn="just"/>
            <a:r>
              <a:rPr lang="en-US" dirty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The plots show training points in solid colors and testing points semi-transparent. The lower right shows the classification accuracy on the test set.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Classifier comparison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put data, Nearest Neighbors, Linear SVM, RBF SVM, Gaussian Process, Decision Tree, Random Forest, Neural Net, AdaBoost, Naive Bayes, Q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144000" cy="614364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57158" y="0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plots show training points in solid colors and testing points semi-transparent. The lower right shows the classification accuracy on the test set.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4348" y="571478"/>
          <a:ext cx="7500990" cy="5888969"/>
        </p:xfrm>
        <a:graphic>
          <a:graphicData uri="http://schemas.openxmlformats.org/drawingml/2006/table">
            <a:tbl>
              <a:tblPr/>
              <a:tblGrid>
                <a:gridCol w="3671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Regression Algorithm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Classification Algorithm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680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 Regression, the output variable must be of continuous nature or real value.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 Classification, the output variable must be a discrete value.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081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task of the regression algorithm is to map the input value (x) with the continuous output variable(y).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task of the classification algorithm is to map the input value(x) with the discrete output variable(y).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87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Regression Algorithms are used with continuous data.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Classification Algorithms are used with discrete data.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081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 Regression, we try to find the best fit line, which can predict the output more accurately.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 Classification, we try to find the decision boundary, which can divide the dataset into different classes.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8467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Regression algorithms can be used to solve the regression problems such as Weather Prediction, House price prediction, etc.</a:t>
                      </a:r>
                      <a:endParaRPr lang="en-US" sz="1800" kern="10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Classification Algorithms can be used to solve classification problems such as Identification of spam emails, Speech Recognition, Identification of cancer cells, etc.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1081"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regression Algorithm can be further divided into Linear and Non-linear Regression.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Classification algorithms can be divided into Binary Classifier and Multi-class Classifier.</a:t>
                      </a:r>
                      <a:endParaRPr lang="en-US" sz="1800" kern="100" dirty="0">
                        <a:solidFill>
                          <a:srgbClr val="002060"/>
                        </a:solidFill>
                        <a:latin typeface="Times New Roman" pitchFamily="18" charset="0"/>
                        <a:ea typeface="Noto Sans CJK SC"/>
                        <a:cs typeface="Times New Roman" pitchFamily="18" charset="0"/>
                      </a:endParaRPr>
                    </a:p>
                  </a:txBody>
                  <a:tcPr marL="64813" marR="6481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7158" y="1071546"/>
            <a:ext cx="8229600" cy="5286412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Unsupervised machine learning finds all kind of unknown patterns in data.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Unsupervised methods help you to find features which can be useful for categorization.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taken place in real time, so all the input data to be analyzed and labeled in the presence of learners.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easier to get unlabeled data from a computer than labeled data, which needs manual intervention.</a:t>
            </a:r>
          </a:p>
          <a:p>
            <a:pPr algn="just">
              <a:buNone/>
            </a:pP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None/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where you are not taught but you learn from the data (based on features/patterns/associations) -  comes under Unsupervised Learning.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Unsupervised Learning</a:t>
            </a:r>
            <a:endParaRPr lang="en-US" sz="3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pPr lvl="0" algn="ctr" eaLnBrk="1" hangingPunct="1"/>
            <a:r>
              <a:rPr lang="en-US" sz="36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Clustering-Unsupervised Learning</a:t>
            </a:r>
            <a:endParaRPr lang="en-US" sz="3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4818" name="Picture 2" descr="What is Cluster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43050"/>
            <a:ext cx="8358246" cy="43577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Exclusive (partitioning)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this clustering method, Data are grouped in such a way that one data can belong to one cluster only.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Example: K-means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Agglomerative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this clustering technique, every data is a cluster. The iterative unions between the two nearest clusters reduce the number of clusters.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Example: Hierarchical clustering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There are different types of clustering we can utilize: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285728"/>
            <a:ext cx="8229600" cy="5857916"/>
          </a:xfrm>
        </p:spPr>
        <p:txBody>
          <a:bodyPr/>
          <a:lstStyle/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Overlapping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this technique, fuzzy sets is used to cluster data. Each point may belong to two or more clusters with separate degrees of membership.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data will be associated with an appropriate membership value. Example: Fuzzy C-Means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Probabilistic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technique uses probability distribution to create the clusters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 Following keywords can be clustered into two categories “shoe” and “glove” or “man” and “women.”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4"/>
            <a:r>
              <a:rPr lang="en-US" dirty="0">
                <a:latin typeface="Times New Roman" pitchFamily="18" charset="0"/>
                <a:cs typeface="Times New Roman" pitchFamily="18" charset="0"/>
              </a:rPr>
              <a:t>“man’s shoe.”</a:t>
            </a:r>
          </a:p>
          <a:p>
            <a:pPr lvl="4"/>
            <a:r>
              <a:rPr lang="en-US" dirty="0">
                <a:latin typeface="Times New Roman" pitchFamily="18" charset="0"/>
                <a:cs typeface="Times New Roman" pitchFamily="18" charset="0"/>
              </a:rPr>
              <a:t>“women’s shoe.”</a:t>
            </a:r>
          </a:p>
          <a:p>
            <a:pPr lvl="4"/>
            <a:r>
              <a:rPr lang="en-US" dirty="0">
                <a:latin typeface="Times New Roman" pitchFamily="18" charset="0"/>
                <a:cs typeface="Times New Roman" pitchFamily="18" charset="0"/>
              </a:rPr>
              <a:t>“women’s glove.”</a:t>
            </a:r>
          </a:p>
          <a:p>
            <a:pPr lvl="4"/>
            <a:r>
              <a:rPr lang="en-US" dirty="0">
                <a:latin typeface="Times New Roman" pitchFamily="18" charset="0"/>
                <a:cs typeface="Times New Roman" pitchFamily="18" charset="0"/>
              </a:rPr>
              <a:t>“man’s glove.”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Hierarchical clustering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K-means clustering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K-NN (k nearest neighbors)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Principal Component Analysis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Singular Value Decomposition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Independent Component Analysis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hlinkClick r:id="rId2"/>
              </a:rPr>
              <a:t>A Comprehensive Survey of Clustering Algorithms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D. &amp;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Tian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Y. Ann. Data. Sci. (2015) 2: 165. 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https://developers.google.com/machine-learning/clustering/overview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Clustering Types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4525962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Association rules allow us to establish associations amongst data objects inside large databases. This unsupervised technique is about discovering interesting relationships between variables in large databases.</a:t>
            </a:r>
          </a:p>
          <a:p>
            <a:pPr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Some examples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people that buy a new home most likely to buy new furniture.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Groups of shopper based on their browsing and purchasing histories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Movie group by the rating given by movies viewers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subgroup of cancer patients grouped by their gene expression measurements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Association-Unsupervised Learning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Clustering automatically split the dataset into groups base on their similarities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Anomaly detection can discover unusual data points in our dataset. It is useful for finding fraudulent transactions.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Association mining identifies sets of items which often occur together in our dataset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Latent variable models are widely used for data preprocessing. Like reducing the number of features in a dataset or decomposing the dataset into multiple components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https://www.kaggle.com/farhanmd29/unsupervised-learning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Applications of Unsupervised Machine Learning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Supervised vs. Unsupervised Machine Learning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100" y="1857364"/>
          <a:ext cx="7048527" cy="40369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49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4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Parameters</a:t>
                      </a:r>
                    </a:p>
                  </a:txBody>
                  <a:tcPr marL="86865" marR="86865" marT="43432" marB="43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Supervised machine learning technique</a:t>
                      </a:r>
                    </a:p>
                  </a:txBody>
                  <a:tcPr marL="86865" marR="86865" marT="43432" marB="43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Unsupervised machine learning technique</a:t>
                      </a:r>
                    </a:p>
                  </a:txBody>
                  <a:tcPr marL="86865" marR="86865" marT="43432" marB="43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2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Input Data</a:t>
                      </a:r>
                    </a:p>
                  </a:txBody>
                  <a:tcPr marL="86865" marR="86865" marT="43432" marB="43432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itchFamily="18" charset="0"/>
                          <a:cs typeface="Times New Roman" pitchFamily="18" charset="0"/>
                        </a:rPr>
                        <a:t>Algorithms are trained using labeled data.</a:t>
                      </a:r>
                    </a:p>
                  </a:txBody>
                  <a:tcPr marL="86865" marR="86865" marT="43432" marB="43432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Algorithms are used against data which is not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labelled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86865" marR="86865" marT="43432" marB="43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2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Computational Complexity</a:t>
                      </a:r>
                    </a:p>
                  </a:txBody>
                  <a:tcPr marL="86865" marR="86865" marT="43432" marB="43432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Supervised learning is a simpler method.</a:t>
                      </a:r>
                    </a:p>
                  </a:txBody>
                  <a:tcPr marL="86865" marR="86865" marT="43432" marB="43432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itchFamily="18" charset="0"/>
                          <a:cs typeface="Times New Roman" pitchFamily="18" charset="0"/>
                        </a:rPr>
                        <a:t>Unsupervised learning is computationally complex</a:t>
                      </a:r>
                    </a:p>
                  </a:txBody>
                  <a:tcPr marL="86865" marR="86865" marT="43432" marB="43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46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Accuracy</a:t>
                      </a:r>
                    </a:p>
                  </a:txBody>
                  <a:tcPr marL="86865" marR="86865" marT="43432" marB="43432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itchFamily="18" charset="0"/>
                          <a:cs typeface="Times New Roman" pitchFamily="18" charset="0"/>
                        </a:rPr>
                        <a:t>Highly accurate and trustworthy method.</a:t>
                      </a:r>
                    </a:p>
                  </a:txBody>
                  <a:tcPr marL="86865" marR="86865" marT="43432" marB="43432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Less accurate and trustworthy method.</a:t>
                      </a:r>
                    </a:p>
                  </a:txBody>
                  <a:tcPr marL="86865" marR="86865" marT="43432" marB="43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Reinforcement Learning(RL) is a type of machine learning technique that enables an agent to learn in an interactive environment by trial and error using feedback from its own actions and experiences.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Reinforcement learning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57356" y="285728"/>
            <a:ext cx="575787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Reinforcement learning</a:t>
            </a:r>
            <a:br>
              <a:rPr lang="en-US" dirty="0"/>
            </a:br>
            <a:endParaRPr lang="en-US" dirty="0"/>
          </a:p>
        </p:txBody>
      </p:sp>
      <p:pic>
        <p:nvPicPr>
          <p:cNvPr id="39938" name="Picture 2" descr="An introduction to Reinforcement Learning | by Shanika Perera | Towards  Data Scienc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500174"/>
            <a:ext cx="7829442" cy="4429157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857224" y="5786454"/>
            <a:ext cx="71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https://towardsdatascience.com/an-introduction-to-reinforcement-learning-1e7825c60bbe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iro.medium.com/max/753/1*8OSHpISmR1l79yX4I234wg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857232"/>
            <a:ext cx="5734050" cy="394335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1357290" y="564357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https://towardsdatascience.com/reinforcement-learning-101-e24b50e1d292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400" dirty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marL="452437" indent="-342900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  <a:hlinkClick r:id="rId3"/>
              </a:rPr>
              <a:t>https://blogs.nvidia.com/blog/2018/08/02/supervised-unsupervised-learning/#:~:text=In%20a%20supervised%20learning%20model,and%20patterns%20on%20its%20own.</a:t>
            </a:r>
            <a:endParaRPr lang="en-US" sz="1400" dirty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marL="452437" indent="-342900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  <a:hlinkClick r:id="rId2"/>
              </a:rPr>
              <a:t>https://www.javatpoint.com/regression-vs-classification-in-machine-learning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452437" indent="-342900"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452437" indent="-342900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  <a:hlinkClick r:id="rId4"/>
              </a:rPr>
              <a:t>https://towardsdatascience.com/introduction-to-regression-analysis-9151d8ac14b3#:~:text=Regression%20and%20classification%20are%20both,their%20models%20and%20make%20predictions.&amp;text=While%20in%20regression%2C%20the%20output,output%20is%20categorical%20or%20discrete.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452437" indent="-342900">
              <a:buFont typeface="+mj-lt"/>
              <a:buAutoNum type="arabicPeriod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https://www.guru99.com/unsupervised-machine-learning.html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9108</TotalTime>
  <Words>1489</Words>
  <Application>Microsoft Office PowerPoint</Application>
  <PresentationFormat>On-screen Show (4:3)</PresentationFormat>
  <Paragraphs>163</Paragraphs>
  <Slides>27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 Dr.G.Padmavathi Assistant Professor CRRAO AIMSCS </vt:lpstr>
      <vt:lpstr>Introduction to Machine learning</vt:lpstr>
      <vt:lpstr>Example</vt:lpstr>
      <vt:lpstr>PowerPoint Presentation</vt:lpstr>
      <vt:lpstr>Types of machine learning</vt:lpstr>
      <vt:lpstr>Supervised Learning</vt:lpstr>
      <vt:lpstr>Example of Supervised Learning</vt:lpstr>
      <vt:lpstr>Classification of Data</vt:lpstr>
      <vt:lpstr>Types of Regression Algorithm</vt:lpstr>
      <vt:lpstr>PowerPoint Presentation</vt:lpstr>
      <vt:lpstr>Regression and Classification</vt:lpstr>
      <vt:lpstr>Classifier comparison</vt:lpstr>
      <vt:lpstr>PowerPoint Presentation</vt:lpstr>
      <vt:lpstr>PowerPoint Presentation</vt:lpstr>
      <vt:lpstr>Unsupervised Learning</vt:lpstr>
      <vt:lpstr>Clustering-Unsupervised Learning</vt:lpstr>
      <vt:lpstr>There are different types of clustering we can utilize:</vt:lpstr>
      <vt:lpstr>PowerPoint Presentation</vt:lpstr>
      <vt:lpstr>Clustering Types</vt:lpstr>
      <vt:lpstr>Association-Unsupervised Learning</vt:lpstr>
      <vt:lpstr> Applications of Unsupervised Machine Learning </vt:lpstr>
      <vt:lpstr> Supervised vs. Unsupervised Machine Learning </vt:lpstr>
      <vt:lpstr>Reinforcement learning</vt:lpstr>
      <vt:lpstr>Reinforcement learning </vt:lpstr>
      <vt:lpstr>PowerPoint Presentation</vt:lpstr>
      <vt:lpstr>PowerPoint Presentation</vt:lpstr>
      <vt:lpstr>Refere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padmavathi</cp:lastModifiedBy>
  <cp:revision>378</cp:revision>
  <dcterms:created xsi:type="dcterms:W3CDTF">2015-07-06T15:33:29Z</dcterms:created>
  <dcterms:modified xsi:type="dcterms:W3CDTF">2026-08-05T07:20:17Z</dcterms:modified>
</cp:coreProperties>
</file>