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256" r:id="rId2"/>
    <p:sldId id="297" r:id="rId3"/>
    <p:sldId id="300" r:id="rId4"/>
    <p:sldId id="301" r:id="rId5"/>
    <p:sldId id="302" r:id="rId6"/>
    <p:sldId id="303" r:id="rId7"/>
    <p:sldId id="304" r:id="rId8"/>
    <p:sldId id="305" r:id="rId9"/>
    <p:sldId id="307" r:id="rId10"/>
    <p:sldId id="306" r:id="rId11"/>
    <p:sldId id="1184" r:id="rId12"/>
    <p:sldId id="1185" r:id="rId13"/>
    <p:sldId id="1186" r:id="rId14"/>
    <p:sldId id="1295" r:id="rId15"/>
    <p:sldId id="1299" r:id="rId16"/>
    <p:sldId id="1377" r:id="rId17"/>
    <p:sldId id="1190" r:id="rId18"/>
    <p:sldId id="1191" r:id="rId19"/>
    <p:sldId id="1033" r:id="rId20"/>
    <p:sldId id="1034" r:id="rId21"/>
    <p:sldId id="260" r:id="rId22"/>
    <p:sldId id="261" r:id="rId23"/>
    <p:sldId id="262" r:id="rId24"/>
    <p:sldId id="263" r:id="rId25"/>
    <p:sldId id="264" r:id="rId26"/>
    <p:sldId id="265" r:id="rId27"/>
    <p:sldId id="266" r:id="rId28"/>
    <p:sldId id="267" r:id="rId29"/>
    <p:sldId id="268" r:id="rId30"/>
    <p:sldId id="269" r:id="rId31"/>
    <p:sldId id="270" r:id="rId32"/>
    <p:sldId id="1374" r:id="rId33"/>
    <p:sldId id="1047" r:id="rId34"/>
    <p:sldId id="1398" r:id="rId35"/>
    <p:sldId id="1048" r:id="rId36"/>
    <p:sldId id="1050" r:id="rId37"/>
    <p:sldId id="1051" r:id="rId38"/>
    <p:sldId id="1052" r:id="rId39"/>
    <p:sldId id="1399" r:id="rId40"/>
    <p:sldId id="1049" r:id="rId41"/>
    <p:sldId id="1054" r:id="rId42"/>
    <p:sldId id="1067" r:id="rId43"/>
    <p:sldId id="271" r:id="rId44"/>
    <p:sldId id="272" r:id="rId45"/>
    <p:sldId id="273" r:id="rId46"/>
    <p:sldId id="274" r:id="rId47"/>
    <p:sldId id="275" r:id="rId48"/>
    <p:sldId id="276" r:id="rId49"/>
    <p:sldId id="277" r:id="rId50"/>
    <p:sldId id="278" r:id="rId51"/>
    <p:sldId id="295"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B931D-A433-438F-AEBB-1ECA22CB9E4C}" type="datetimeFigureOut">
              <a:rPr lang="en-IN" smtClean="0"/>
              <a:t>04-08-2026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7D8915-607C-443A-B92B-ABCCA54276B7}" type="slidenum">
              <a:rPr lang="en-IN" smtClean="0"/>
              <a:t>‹#›</a:t>
            </a:fld>
            <a:endParaRPr lang="en-IN"/>
          </a:p>
        </p:txBody>
      </p:sp>
    </p:spTree>
    <p:extLst>
      <p:ext uri="{BB962C8B-B14F-4D97-AF65-F5344CB8AC3E}">
        <p14:creationId xmlns:p14="http://schemas.microsoft.com/office/powerpoint/2010/main" val="441779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DBFF697A-1CC8-2996-468A-C55694B4CE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551127CC-515E-440C-B0F8-7807C340C768}" type="slidenum">
              <a:rPr lang="en-US" altLang="en-US" sz="1200">
                <a:latin typeface="Times New Roman" panose="02020603050405020304" pitchFamily="18" charset="0"/>
              </a:rPr>
              <a:pPr/>
              <a:t>11</a:t>
            </a:fld>
            <a:endParaRPr lang="en-US" altLang="en-US" sz="1200">
              <a:latin typeface="Times New Roman" panose="02020603050405020304" pitchFamily="18" charset="0"/>
            </a:endParaRPr>
          </a:p>
        </p:txBody>
      </p:sp>
      <p:sp>
        <p:nvSpPr>
          <p:cNvPr id="83971" name="Rectangle 2">
            <a:extLst>
              <a:ext uri="{FF2B5EF4-FFF2-40B4-BE49-F238E27FC236}">
                <a16:creationId xmlns:a16="http://schemas.microsoft.com/office/drawing/2014/main" id="{886DDB8F-AA67-CA79-AD29-002A53F6C982}"/>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E11A248C-0024-2488-C716-C1080EAD20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2515D-0143-1F47-2129-9A458F3C6A6F}"/>
            </a:ext>
          </a:extLst>
        </p:cNvPr>
        <p:cNvGrpSpPr/>
        <p:nvPr/>
      </p:nvGrpSpPr>
      <p:grpSpPr>
        <a:xfrm>
          <a:off x="0" y="0"/>
          <a:ext cx="0" cy="0"/>
          <a:chOff x="0" y="0"/>
          <a:chExt cx="0" cy="0"/>
        </a:xfrm>
      </p:grpSpPr>
      <p:sp>
        <p:nvSpPr>
          <p:cNvPr id="83970" name="Rectangle 7">
            <a:extLst>
              <a:ext uri="{FF2B5EF4-FFF2-40B4-BE49-F238E27FC236}">
                <a16:creationId xmlns:a16="http://schemas.microsoft.com/office/drawing/2014/main" id="{6954F2AC-2D84-A9B3-C19F-2382FC2177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551127CC-515E-440C-B0F8-7807C340C768}" type="slidenum">
              <a:rPr lang="en-US" altLang="en-US" sz="1200">
                <a:latin typeface="Times New Roman" panose="02020603050405020304" pitchFamily="18" charset="0"/>
              </a:rPr>
              <a:pPr/>
              <a:t>12</a:t>
            </a:fld>
            <a:endParaRPr lang="en-US" altLang="en-US" sz="1200">
              <a:latin typeface="Times New Roman" panose="02020603050405020304" pitchFamily="18" charset="0"/>
            </a:endParaRPr>
          </a:p>
        </p:txBody>
      </p:sp>
      <p:sp>
        <p:nvSpPr>
          <p:cNvPr id="83971" name="Rectangle 2">
            <a:extLst>
              <a:ext uri="{FF2B5EF4-FFF2-40B4-BE49-F238E27FC236}">
                <a16:creationId xmlns:a16="http://schemas.microsoft.com/office/drawing/2014/main" id="{F7AB5054-70E7-E1E6-561E-AC3E39A60CE1}"/>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37887E2C-75E0-3E8D-5467-57AD699C33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99493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965570AA-548B-F8D9-1BB9-459CD43301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9FE43283-D1CE-46E4-B26D-2388A8A3A80C}" type="slidenum">
              <a:rPr lang="en-US" altLang="en-US" sz="1200">
                <a:latin typeface="Times New Roman" panose="02020603050405020304" pitchFamily="18" charset="0"/>
              </a:rPr>
              <a:pPr/>
              <a:t>13</a:t>
            </a:fld>
            <a:endParaRPr lang="en-US" altLang="en-US" sz="1200">
              <a:latin typeface="Times New Roman" panose="02020603050405020304" pitchFamily="18" charset="0"/>
            </a:endParaRPr>
          </a:p>
        </p:txBody>
      </p:sp>
      <p:sp>
        <p:nvSpPr>
          <p:cNvPr id="84995" name="Rectangle 2">
            <a:extLst>
              <a:ext uri="{FF2B5EF4-FFF2-40B4-BE49-F238E27FC236}">
                <a16:creationId xmlns:a16="http://schemas.microsoft.com/office/drawing/2014/main" id="{7438CAC9-15A7-B489-71C8-20EC9BC0B9EE}"/>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EABD10B2-45AA-2EFA-0E10-7324DF3021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8D5352AB-F001-EBCF-51B6-1095453DDC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5677F8E8-CF92-4E1E-A883-537C9DB86A37}" type="slidenum">
              <a:rPr lang="en-US" altLang="en-US" sz="1200">
                <a:latin typeface="Times New Roman" panose="02020603050405020304" pitchFamily="18" charset="0"/>
              </a:rPr>
              <a:pPr/>
              <a:t>14</a:t>
            </a:fld>
            <a:endParaRPr lang="en-US" altLang="en-US" sz="1200">
              <a:latin typeface="Times New Roman" panose="02020603050405020304" pitchFamily="18" charset="0"/>
            </a:endParaRPr>
          </a:p>
        </p:txBody>
      </p:sp>
      <p:sp>
        <p:nvSpPr>
          <p:cNvPr id="86019" name="Rectangle 2">
            <a:extLst>
              <a:ext uri="{FF2B5EF4-FFF2-40B4-BE49-F238E27FC236}">
                <a16:creationId xmlns:a16="http://schemas.microsoft.com/office/drawing/2014/main" id="{1DC7E19D-9C50-10A2-0D94-61E818857855}"/>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F5164823-5BD2-0924-912B-0F5E2A0F18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C97DAE36-FE93-FFF4-CD6B-2ACAB07244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53544546-5978-4555-B77B-DC11A470D3A8}" type="slidenum">
              <a:rPr lang="en-US" altLang="en-US" sz="1200">
                <a:latin typeface="Times New Roman" panose="02020603050405020304" pitchFamily="18" charset="0"/>
              </a:rPr>
              <a:pPr/>
              <a:t>15</a:t>
            </a:fld>
            <a:endParaRPr lang="en-US" altLang="en-US" sz="1200">
              <a:latin typeface="Times New Roman" panose="02020603050405020304" pitchFamily="18" charset="0"/>
            </a:endParaRPr>
          </a:p>
        </p:txBody>
      </p:sp>
      <p:sp>
        <p:nvSpPr>
          <p:cNvPr id="87043" name="Rectangle 2">
            <a:extLst>
              <a:ext uri="{FF2B5EF4-FFF2-40B4-BE49-F238E27FC236}">
                <a16:creationId xmlns:a16="http://schemas.microsoft.com/office/drawing/2014/main" id="{A9191951-5805-ED75-0D29-AAF21B37EE80}"/>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E217E5B5-DBDA-381D-73B0-9EC3E184EB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FE853B23-6BA1-BD6C-C64F-27101B9B4B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D2EB38EB-DA7C-4C03-9F73-46BE4AE9446B}" type="slidenum">
              <a:rPr lang="en-US" altLang="en-US" sz="1200">
                <a:latin typeface="Times New Roman" panose="02020603050405020304" pitchFamily="18" charset="0"/>
              </a:rPr>
              <a:pPr/>
              <a:t>16</a:t>
            </a:fld>
            <a:endParaRPr lang="en-US" altLang="en-US" sz="1200">
              <a:latin typeface="Times New Roman" panose="02020603050405020304" pitchFamily="18" charset="0"/>
            </a:endParaRPr>
          </a:p>
        </p:txBody>
      </p:sp>
      <p:sp>
        <p:nvSpPr>
          <p:cNvPr id="92163" name="Rectangle 2">
            <a:extLst>
              <a:ext uri="{FF2B5EF4-FFF2-40B4-BE49-F238E27FC236}">
                <a16:creationId xmlns:a16="http://schemas.microsoft.com/office/drawing/2014/main" id="{1FDD12A2-C66D-7366-A4E3-DA7D17819BDC}"/>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8996F502-584D-6387-B067-A481B258EA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743174ED-A168-E029-A8DE-F179820772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02CDBD0E-7B62-4C04-8B90-2E141C070153}" type="slidenum">
              <a:rPr lang="en-US" altLang="en-US" sz="1200">
                <a:latin typeface="Times New Roman" panose="02020603050405020304" pitchFamily="18" charset="0"/>
              </a:rPr>
              <a:pPr/>
              <a:t>17</a:t>
            </a:fld>
            <a:endParaRPr lang="en-US" altLang="en-US" sz="1200">
              <a:latin typeface="Times New Roman" panose="02020603050405020304" pitchFamily="18" charset="0"/>
            </a:endParaRPr>
          </a:p>
        </p:txBody>
      </p:sp>
      <p:sp>
        <p:nvSpPr>
          <p:cNvPr id="94211" name="Rectangle 2">
            <a:extLst>
              <a:ext uri="{FF2B5EF4-FFF2-40B4-BE49-F238E27FC236}">
                <a16:creationId xmlns:a16="http://schemas.microsoft.com/office/drawing/2014/main" id="{6AC732EE-AB56-F3DC-2BBD-ACA61178F29D}"/>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3F2E4916-2938-9E46-9D5C-E18916E62B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1816D369-8B0C-B648-B5CD-50BF64B338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2AD09693-4E82-41AF-8BC9-BAB39CDFF336}" type="slidenum">
              <a:rPr lang="en-US" altLang="en-US" sz="1200">
                <a:latin typeface="Times New Roman" panose="02020603050405020304" pitchFamily="18" charset="0"/>
              </a:rPr>
              <a:pPr/>
              <a:t>18</a:t>
            </a:fld>
            <a:endParaRPr lang="en-US" altLang="en-US" sz="1200">
              <a:latin typeface="Times New Roman" panose="02020603050405020304" pitchFamily="18" charset="0"/>
            </a:endParaRPr>
          </a:p>
        </p:txBody>
      </p:sp>
      <p:sp>
        <p:nvSpPr>
          <p:cNvPr id="95235" name="Rectangle 2">
            <a:extLst>
              <a:ext uri="{FF2B5EF4-FFF2-40B4-BE49-F238E27FC236}">
                <a16:creationId xmlns:a16="http://schemas.microsoft.com/office/drawing/2014/main" id="{CB0D7607-7F53-E682-EFAF-01AEA690059A}"/>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BB05BD5A-E558-B9D9-95B2-A406B7DEDC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4EB01E6B-AEBE-BA79-609B-0B9EA298FA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6CD938B2-22E1-42B8-990E-10C50E57775F}" type="slidenum">
              <a:rPr lang="en-US" altLang="en-US" sz="1200">
                <a:latin typeface="Times New Roman" panose="02020603050405020304" pitchFamily="18" charset="0"/>
              </a:rPr>
              <a:pPr/>
              <a:t>19</a:t>
            </a:fld>
            <a:endParaRPr lang="en-US" altLang="en-US" sz="1200">
              <a:latin typeface="Times New Roman" panose="02020603050405020304" pitchFamily="18" charset="0"/>
            </a:endParaRPr>
          </a:p>
        </p:txBody>
      </p:sp>
      <p:sp>
        <p:nvSpPr>
          <p:cNvPr id="96259" name="Rectangle 2">
            <a:extLst>
              <a:ext uri="{FF2B5EF4-FFF2-40B4-BE49-F238E27FC236}">
                <a16:creationId xmlns:a16="http://schemas.microsoft.com/office/drawing/2014/main" id="{5447A5EA-D848-42BB-0D22-6C7FFBF6C8A8}"/>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6EB7E87F-FD40-8B44-D1FD-444E458ACC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6D0165AD-A719-9BF9-880E-B5952C7ED2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8F0A5171-9817-4D09-93C4-47A718D0462B}"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97283" name="Rectangle 2">
            <a:extLst>
              <a:ext uri="{FF2B5EF4-FFF2-40B4-BE49-F238E27FC236}">
                <a16:creationId xmlns:a16="http://schemas.microsoft.com/office/drawing/2014/main" id="{83DFEF4B-686B-94EC-4683-CB0CEDBD815A}"/>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811BE90E-7F00-6312-3EFB-3EAEC98785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EF36B2CA-EEB2-5F2D-79B3-7BB34B3BC0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D26EA807-B89B-42E4-AA21-EAD30FEB9540}" type="slidenum">
              <a:rPr lang="en-US" altLang="en-US" sz="1200">
                <a:latin typeface="Times New Roman" panose="02020603050405020304" pitchFamily="18" charset="0"/>
              </a:rPr>
              <a:pPr/>
              <a:t>32</a:t>
            </a:fld>
            <a:endParaRPr lang="en-US" altLang="en-US" sz="1200">
              <a:latin typeface="Times New Roman" panose="02020603050405020304" pitchFamily="18" charset="0"/>
            </a:endParaRPr>
          </a:p>
        </p:txBody>
      </p:sp>
      <p:sp>
        <p:nvSpPr>
          <p:cNvPr id="98307" name="Rectangle 2">
            <a:extLst>
              <a:ext uri="{FF2B5EF4-FFF2-40B4-BE49-F238E27FC236}">
                <a16:creationId xmlns:a16="http://schemas.microsoft.com/office/drawing/2014/main" id="{06250B27-08E9-60EC-C270-68B0D86DD0B6}"/>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D9362952-8FC1-3BE6-A84D-D3B972133A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05816908-68A8-08C4-1A83-BE9E15AC2C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1210C2D9-C19F-4A85-8619-BC90B66BB139}" type="slidenum">
              <a:rPr lang="en-US" altLang="en-US" sz="1200">
                <a:latin typeface="Times New Roman" panose="02020603050405020304" pitchFamily="18" charset="0"/>
              </a:rPr>
              <a:pPr/>
              <a:t>33</a:t>
            </a:fld>
            <a:endParaRPr lang="en-US" altLang="en-US" sz="1200">
              <a:latin typeface="Times New Roman" panose="02020603050405020304" pitchFamily="18" charset="0"/>
            </a:endParaRPr>
          </a:p>
        </p:txBody>
      </p:sp>
      <p:sp>
        <p:nvSpPr>
          <p:cNvPr id="108547" name="Rectangle 2">
            <a:extLst>
              <a:ext uri="{FF2B5EF4-FFF2-40B4-BE49-F238E27FC236}">
                <a16:creationId xmlns:a16="http://schemas.microsoft.com/office/drawing/2014/main" id="{BFFD2C5A-BB03-43E8-1503-32E3B0AC5046}"/>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C1B67CB7-8172-FD64-C171-977C13FD68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2E90B-D1F7-ED06-F571-3926507F8FC6}"/>
            </a:ext>
          </a:extLst>
        </p:cNvPr>
        <p:cNvGrpSpPr/>
        <p:nvPr/>
      </p:nvGrpSpPr>
      <p:grpSpPr>
        <a:xfrm>
          <a:off x="0" y="0"/>
          <a:ext cx="0" cy="0"/>
          <a:chOff x="0" y="0"/>
          <a:chExt cx="0" cy="0"/>
        </a:xfrm>
      </p:grpSpPr>
      <p:sp>
        <p:nvSpPr>
          <p:cNvPr id="109570" name="Rectangle 7">
            <a:extLst>
              <a:ext uri="{FF2B5EF4-FFF2-40B4-BE49-F238E27FC236}">
                <a16:creationId xmlns:a16="http://schemas.microsoft.com/office/drawing/2014/main" id="{7A632E1E-E956-A7CF-8312-707470585E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4B34F7C1-AA2D-478E-993F-463657929F3C}"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109571" name="Rectangle 2">
            <a:extLst>
              <a:ext uri="{FF2B5EF4-FFF2-40B4-BE49-F238E27FC236}">
                <a16:creationId xmlns:a16="http://schemas.microsoft.com/office/drawing/2014/main" id="{96A08E10-AA02-E7D9-5F10-86C4F8A6E9A5}"/>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79488DD7-D2F7-CA65-C703-F36CCA1EF3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043640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C56D10A5-8CB5-C7CA-1A0F-8A5EA4CB5B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4B34F7C1-AA2D-478E-993F-463657929F3C}" type="slidenum">
              <a:rPr lang="en-US" altLang="en-US" sz="1200">
                <a:latin typeface="Times New Roman" panose="02020603050405020304" pitchFamily="18" charset="0"/>
              </a:rPr>
              <a:pPr/>
              <a:t>35</a:t>
            </a:fld>
            <a:endParaRPr lang="en-US" altLang="en-US" sz="1200">
              <a:latin typeface="Times New Roman" panose="02020603050405020304" pitchFamily="18" charset="0"/>
            </a:endParaRPr>
          </a:p>
        </p:txBody>
      </p:sp>
      <p:sp>
        <p:nvSpPr>
          <p:cNvPr id="109571" name="Rectangle 2">
            <a:extLst>
              <a:ext uri="{FF2B5EF4-FFF2-40B4-BE49-F238E27FC236}">
                <a16:creationId xmlns:a16="http://schemas.microsoft.com/office/drawing/2014/main" id="{0B8E04DD-4D61-226F-33AF-B90DED622874}"/>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E01BC83C-F5BB-C7C2-5A46-868AE4234F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F4B07854-E84F-F119-E425-77D57A6226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255B1841-C461-4F40-8782-5CA99733F575}" type="slidenum">
              <a:rPr lang="en-US" altLang="en-US" sz="1200">
                <a:latin typeface="Times New Roman" panose="02020603050405020304" pitchFamily="18" charset="0"/>
              </a:rPr>
              <a:pPr/>
              <a:t>36</a:t>
            </a:fld>
            <a:endParaRPr lang="en-US" altLang="en-US" sz="1200">
              <a:latin typeface="Times New Roman" panose="02020603050405020304" pitchFamily="18" charset="0"/>
            </a:endParaRPr>
          </a:p>
        </p:txBody>
      </p:sp>
      <p:sp>
        <p:nvSpPr>
          <p:cNvPr id="110595" name="Rectangle 2">
            <a:extLst>
              <a:ext uri="{FF2B5EF4-FFF2-40B4-BE49-F238E27FC236}">
                <a16:creationId xmlns:a16="http://schemas.microsoft.com/office/drawing/2014/main" id="{BD1F032B-A910-39E6-3E08-D5F9FBD77B8E}"/>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17437116-B1CC-FCFE-BD2C-82D73A6BED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EAAC1026-F129-B1B9-FCAE-AB3CFE19E9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5C2B1E57-6D34-488D-B6EA-EFDE9B0E3CFA}" type="slidenum">
              <a:rPr lang="en-US" altLang="en-US" sz="1200">
                <a:latin typeface="Times New Roman" panose="02020603050405020304" pitchFamily="18" charset="0"/>
              </a:rPr>
              <a:pPr/>
              <a:t>37</a:t>
            </a:fld>
            <a:endParaRPr lang="en-US" altLang="en-US" sz="1200">
              <a:latin typeface="Times New Roman" panose="02020603050405020304" pitchFamily="18" charset="0"/>
            </a:endParaRPr>
          </a:p>
        </p:txBody>
      </p:sp>
      <p:sp>
        <p:nvSpPr>
          <p:cNvPr id="111619" name="Rectangle 2">
            <a:extLst>
              <a:ext uri="{FF2B5EF4-FFF2-40B4-BE49-F238E27FC236}">
                <a16:creationId xmlns:a16="http://schemas.microsoft.com/office/drawing/2014/main" id="{53536189-93FD-85FC-51FA-4476C83D493B}"/>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7C326597-94A4-440E-ED18-073699AFC4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0924E6D9-9806-97BD-34A6-E86AAF4286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03804BB3-5848-44C1-89CF-E58F7FADF43D}" type="slidenum">
              <a:rPr lang="en-US" altLang="en-US" sz="1200">
                <a:latin typeface="Times New Roman" panose="02020603050405020304" pitchFamily="18" charset="0"/>
              </a:rPr>
              <a:pPr/>
              <a:t>38</a:t>
            </a:fld>
            <a:endParaRPr lang="en-US" altLang="en-US" sz="1200">
              <a:latin typeface="Times New Roman" panose="02020603050405020304" pitchFamily="18" charset="0"/>
            </a:endParaRPr>
          </a:p>
        </p:txBody>
      </p:sp>
      <p:sp>
        <p:nvSpPr>
          <p:cNvPr id="112643" name="Rectangle 2">
            <a:extLst>
              <a:ext uri="{FF2B5EF4-FFF2-40B4-BE49-F238E27FC236}">
                <a16:creationId xmlns:a16="http://schemas.microsoft.com/office/drawing/2014/main" id="{B8E86817-23B0-B7B1-40FD-DDFDA55F9AA6}"/>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74798152-04BC-94B4-9554-44D6FFD312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B3315CEE-300C-8AA2-468E-E38772328B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1FE5A319-F0B9-4CA6-8869-7368D3FC487F}" type="slidenum">
              <a:rPr lang="en-US" altLang="en-US" sz="1200">
                <a:latin typeface="Times New Roman" panose="02020603050405020304" pitchFamily="18" charset="0"/>
              </a:rPr>
              <a:pPr/>
              <a:t>40</a:t>
            </a:fld>
            <a:endParaRPr lang="en-US" altLang="en-US" sz="1200">
              <a:latin typeface="Times New Roman" panose="02020603050405020304" pitchFamily="18" charset="0"/>
            </a:endParaRPr>
          </a:p>
        </p:txBody>
      </p:sp>
      <p:sp>
        <p:nvSpPr>
          <p:cNvPr id="115715" name="Rectangle 2">
            <a:extLst>
              <a:ext uri="{FF2B5EF4-FFF2-40B4-BE49-F238E27FC236}">
                <a16:creationId xmlns:a16="http://schemas.microsoft.com/office/drawing/2014/main" id="{F2051B61-42FE-534B-5BD1-A10D205FB7F3}"/>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57A1BBE1-ECAE-FE9E-6F8D-69CF6CE3EE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1902B7D4-CFB8-4B46-F025-082C460E8D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25395386-A018-4284-A46C-49FA3160007D}" type="slidenum">
              <a:rPr lang="en-US" altLang="en-US" sz="1200">
                <a:latin typeface="Times New Roman" panose="02020603050405020304" pitchFamily="18" charset="0"/>
              </a:rPr>
              <a:pPr/>
              <a:t>41</a:t>
            </a:fld>
            <a:endParaRPr lang="en-US" altLang="en-US" sz="1200">
              <a:latin typeface="Times New Roman" panose="02020603050405020304" pitchFamily="18" charset="0"/>
            </a:endParaRPr>
          </a:p>
        </p:txBody>
      </p:sp>
      <p:sp>
        <p:nvSpPr>
          <p:cNvPr id="116739" name="Rectangle 2">
            <a:extLst>
              <a:ext uri="{FF2B5EF4-FFF2-40B4-BE49-F238E27FC236}">
                <a16:creationId xmlns:a16="http://schemas.microsoft.com/office/drawing/2014/main" id="{89E63316-71FB-F305-0C5B-73803AEE08EC}"/>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866FDE41-30D5-F682-9514-1522D0DA8D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7F25FC69-25F1-D6FA-42C8-1BAD3191A4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defRPr sz="2400">
                <a:solidFill>
                  <a:schemeClr val="tx1"/>
                </a:solidFill>
                <a:latin typeface="Tahoma" panose="020B0604030504040204" pitchFamily="34" charset="0"/>
              </a:defRPr>
            </a:lvl1pPr>
            <a:lvl2pPr marL="742950" indent="-285750" defTabSz="922338" eaLnBrk="0" hangingPunct="0">
              <a:defRPr sz="2400">
                <a:solidFill>
                  <a:schemeClr val="tx1"/>
                </a:solidFill>
                <a:latin typeface="Tahoma" panose="020B0604030504040204" pitchFamily="34" charset="0"/>
              </a:defRPr>
            </a:lvl2pPr>
            <a:lvl3pPr marL="1143000" indent="-228600" defTabSz="922338" eaLnBrk="0" hangingPunct="0">
              <a:defRPr sz="2400">
                <a:solidFill>
                  <a:schemeClr val="tx1"/>
                </a:solidFill>
                <a:latin typeface="Tahoma" panose="020B0604030504040204" pitchFamily="34" charset="0"/>
              </a:defRPr>
            </a:lvl3pPr>
            <a:lvl4pPr marL="1600200" indent="-228600" defTabSz="922338" eaLnBrk="0" hangingPunct="0">
              <a:defRPr sz="2400">
                <a:solidFill>
                  <a:schemeClr val="tx1"/>
                </a:solidFill>
                <a:latin typeface="Tahoma" panose="020B0604030504040204" pitchFamily="34" charset="0"/>
              </a:defRPr>
            </a:lvl4pPr>
            <a:lvl5pPr marL="2057400" indent="-228600" defTabSz="922338" eaLnBrk="0" hangingPunct="0">
              <a:defRPr sz="2400">
                <a:solidFill>
                  <a:schemeClr val="tx1"/>
                </a:solidFill>
                <a:latin typeface="Tahoma" panose="020B0604030504040204" pitchFamily="34" charset="0"/>
              </a:defRPr>
            </a:lvl5pPr>
            <a:lvl6pPr marL="2514600" indent="-228600" defTabSz="92233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2233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2233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22338" eaLnBrk="0" fontAlgn="base" hangingPunct="0">
              <a:spcBef>
                <a:spcPct val="0"/>
              </a:spcBef>
              <a:spcAft>
                <a:spcPct val="0"/>
              </a:spcAft>
              <a:defRPr sz="2400">
                <a:solidFill>
                  <a:schemeClr val="tx1"/>
                </a:solidFill>
                <a:latin typeface="Tahoma" panose="020B0604030504040204" pitchFamily="34" charset="0"/>
              </a:defRPr>
            </a:lvl9pPr>
          </a:lstStyle>
          <a:p>
            <a:fld id="{66D5E197-B54F-4205-867B-89200D85347F}"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117763" name="Rectangle 2">
            <a:extLst>
              <a:ext uri="{FF2B5EF4-FFF2-40B4-BE49-F238E27FC236}">
                <a16:creationId xmlns:a16="http://schemas.microsoft.com/office/drawing/2014/main" id="{A680D2F1-32E8-3A9F-6145-251B71DC57A5}"/>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562CE3F5-0902-C0BE-DB05-F6BA14B5AB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77E622D-688E-4B32-BEB3-4970C061C57D}" type="datetimeFigureOut">
              <a:rPr lang="en-US" smtClean="0"/>
              <a:pPr/>
              <a:t>8/4/2026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7C821317-7AA6-422E-89DF-D41F562F285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77E622D-688E-4B32-BEB3-4970C061C57D}"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77E622D-688E-4B32-BEB3-4970C061C57D}" type="datetimeFigureOut">
              <a:rPr lang="en-US" smtClean="0"/>
              <a:pPr/>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77E622D-688E-4B32-BEB3-4970C061C57D}" type="datetimeFigureOut">
              <a:rPr lang="en-US" smtClean="0"/>
              <a:pPr/>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77E622D-688E-4B32-BEB3-4970C061C57D}" type="datetimeFigureOut">
              <a:rPr lang="en-US" smtClean="0"/>
              <a:pPr/>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821317-7AA6-422E-89DF-D41F562F2851}"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7E622D-688E-4B32-BEB3-4970C061C57D}" type="datetimeFigureOut">
              <a:rPr lang="en-US" smtClean="0"/>
              <a:pPr/>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077E622D-688E-4B32-BEB3-4970C061C57D}" type="datetimeFigureOut">
              <a:rPr lang="en-US" smtClean="0"/>
              <a:pPr/>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77E622D-688E-4B32-BEB3-4970C061C57D}" type="datetimeFigureOut">
              <a:rPr lang="en-US" smtClean="0"/>
              <a:pPr/>
              <a:t>8/4/2026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C821317-7AA6-422E-89DF-D41F562F2851}"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077E622D-688E-4B32-BEB3-4970C061C57D}" type="datetimeFigureOut">
              <a:rPr lang="en-US" smtClean="0"/>
              <a:pPr/>
              <a:t>8/4/2026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C821317-7AA6-422E-89DF-D41F562F285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1"/>
            <a:ext cx="7772400" cy="914399"/>
          </a:xfrm>
        </p:spPr>
        <p:txBody>
          <a:bodyPr>
            <a:normAutofit fontScale="90000"/>
          </a:bodyPr>
          <a:lstStyle/>
          <a:p>
            <a:r>
              <a:rPr lang="en-US" dirty="0">
                <a:solidFill>
                  <a:srgbClr val="002060"/>
                </a:solidFill>
                <a:latin typeface="Times New Roman" pitchFamily="18" charset="0"/>
                <a:cs typeface="Times New Roman" pitchFamily="18" charset="0"/>
              </a:rPr>
              <a:t>Data Mining</a:t>
            </a:r>
            <a:br>
              <a:rPr lang="en-US" dirty="0">
                <a:solidFill>
                  <a:srgbClr val="002060"/>
                </a:solidFill>
                <a:latin typeface="Times New Roman" pitchFamily="18" charset="0"/>
                <a:cs typeface="Times New Roman" pitchFamily="18" charset="0"/>
              </a:rPr>
            </a:br>
            <a:r>
              <a:rPr lang="en-US" sz="2200" dirty="0">
                <a:solidFill>
                  <a:srgbClr val="002060"/>
                </a:solidFill>
                <a:effectLst/>
                <a:latin typeface="Times New Roman" panose="02020603050405020304" pitchFamily="18" charset="0"/>
                <a:cs typeface="Times New Roman" panose="02020603050405020304" pitchFamily="18" charset="0"/>
              </a:rPr>
              <a:t>Unit-II: </a:t>
            </a:r>
            <a:r>
              <a:rPr lang="en-US" sz="2400" dirty="0">
                <a:solidFill>
                  <a:srgbClr val="002060"/>
                </a:solidFill>
                <a:latin typeface="Times New Roman" panose="02020603050405020304" pitchFamily="18" charset="0"/>
                <a:cs typeface="Times New Roman" panose="02020603050405020304" pitchFamily="18" charset="0"/>
              </a:rPr>
              <a:t>Association Analysis</a:t>
            </a:r>
            <a:endParaRPr lang="en-US" sz="2200" dirty="0">
              <a:solidFill>
                <a:srgbClr val="002060"/>
              </a:solidFill>
              <a:effectLst/>
            </a:endParaRPr>
          </a:p>
        </p:txBody>
      </p:sp>
      <p:sp>
        <p:nvSpPr>
          <p:cNvPr id="4" name="TextBox 3">
            <a:extLst>
              <a:ext uri="{FF2B5EF4-FFF2-40B4-BE49-F238E27FC236}">
                <a16:creationId xmlns:a16="http://schemas.microsoft.com/office/drawing/2014/main" id="{7F283DA4-7B6E-EABD-9B92-3DDB1E9DFE59}"/>
              </a:ext>
            </a:extLst>
          </p:cNvPr>
          <p:cNvSpPr txBox="1"/>
          <p:nvPr/>
        </p:nvSpPr>
        <p:spPr>
          <a:xfrm>
            <a:off x="5715000" y="3581400"/>
            <a:ext cx="2057400" cy="923330"/>
          </a:xfrm>
          <a:prstGeom prst="rect">
            <a:avLst/>
          </a:prstGeom>
          <a:noFill/>
        </p:spPr>
        <p:txBody>
          <a:bodyPr wrap="square">
            <a:spAutoFit/>
          </a:bodyPr>
          <a:lstStyle/>
          <a:p>
            <a:r>
              <a:rPr lang="en-US" dirty="0" err="1">
                <a:solidFill>
                  <a:srgbClr val="002060"/>
                </a:solidFill>
                <a:latin typeface="Times New Roman" pitchFamily="18" charset="0"/>
                <a:cs typeface="Times New Roman" pitchFamily="18" charset="0"/>
              </a:rPr>
              <a:t>Dr.G.Padmavathi</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Associate professor</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CRRAO AIMSCS</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782DFA-BB00-CAEC-DE94-CEA86293C426}"/>
              </a:ext>
            </a:extLst>
          </p:cNvPr>
          <p:cNvSpPr>
            <a:spLocks noGrp="1"/>
          </p:cNvSpPr>
          <p:nvPr>
            <p:ph idx="1"/>
          </p:nvPr>
        </p:nvSpPr>
        <p:spPr>
          <a:xfrm>
            <a:off x="457200" y="973394"/>
            <a:ext cx="8229600" cy="4525963"/>
          </a:xfrm>
        </p:spPr>
        <p:txBody>
          <a:bodyPr>
            <a:normAutofit/>
          </a:bodyPr>
          <a:lstStyle/>
          <a:p>
            <a:r>
              <a:rPr lang="en-IN" dirty="0">
                <a:latin typeface="Times New Roman" panose="02020603050405020304" pitchFamily="18" charset="0"/>
                <a:cs typeface="Times New Roman" panose="02020603050405020304" pitchFamily="18" charset="0"/>
              </a:rPr>
              <a:t>Credits: 3 (L-T-P: 3-0-0)</a:t>
            </a:r>
          </a:p>
          <a:p>
            <a:r>
              <a:rPr lang="en-IN" dirty="0">
                <a:latin typeface="Times New Roman" panose="02020603050405020304" pitchFamily="18" charset="0"/>
                <a:cs typeface="Times New Roman" panose="02020603050405020304" pitchFamily="18" charset="0"/>
              </a:rPr>
              <a:t>Pre-requisites: Database Management Systems</a:t>
            </a:r>
          </a:p>
          <a:p>
            <a:r>
              <a:rPr lang="en-IN" dirty="0">
                <a:latin typeface="Times New Roman" panose="02020603050405020304" pitchFamily="18" charset="0"/>
                <a:cs typeface="Times New Roman" panose="02020603050405020304" pitchFamily="18" charset="0"/>
              </a:rPr>
              <a:t>Probability and Statistics</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Goal: Introduce key data mining techniques &amp; their applications</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25DDA09-B579-C2F7-8169-01A2DCEE2F48}"/>
              </a:ext>
            </a:extLst>
          </p:cNvPr>
          <p:cNvSpPr>
            <a:spLocks noGrp="1"/>
          </p:cNvSpPr>
          <p:nvPr>
            <p:ph type="title"/>
          </p:nvPr>
        </p:nvSpPr>
        <p:spPr>
          <a:xfrm>
            <a:off x="457200" y="274638"/>
            <a:ext cx="8229600" cy="715962"/>
          </a:xfrm>
        </p:spPr>
        <p:txBody>
          <a:bodyPr>
            <a:normAutofit/>
          </a:bodyPr>
          <a:lstStyle/>
          <a:p>
            <a:pPr algn="ctr"/>
            <a:r>
              <a:rPr lang="en-IN" sz="3200" dirty="0">
                <a:latin typeface="Times New Roman" panose="02020603050405020304" pitchFamily="18" charset="0"/>
                <a:cs typeface="Times New Roman" panose="02020603050405020304" pitchFamily="18" charset="0"/>
              </a:rPr>
              <a:t>Course Overview</a:t>
            </a:r>
          </a:p>
        </p:txBody>
      </p:sp>
    </p:spTree>
    <p:extLst>
      <p:ext uri="{BB962C8B-B14F-4D97-AF65-F5344CB8AC3E}">
        <p14:creationId xmlns:p14="http://schemas.microsoft.com/office/powerpoint/2010/main" val="1644349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3C9514-1AFC-5B37-4DC9-4151E7197ABA}"/>
              </a:ext>
            </a:extLst>
          </p:cNvPr>
          <p:cNvSpPr>
            <a:spLocks noGrp="1"/>
          </p:cNvSpPr>
          <p:nvPr>
            <p:ph idx="1"/>
          </p:nvPr>
        </p:nvSpPr>
        <p:spPr>
          <a:xfrm>
            <a:off x="471948" y="507027"/>
            <a:ext cx="8229600" cy="6019800"/>
          </a:xfrm>
        </p:spPr>
        <p:txBody>
          <a:bodyPr>
            <a:noAutofit/>
          </a:bodyPr>
          <a:lstStyle/>
          <a:p>
            <a:pPr marL="109728" indent="0">
              <a:buNone/>
            </a:pPr>
            <a:r>
              <a:rPr lang="en-US" sz="1400" b="1" dirty="0">
                <a:latin typeface="Times New Roman" panose="02020603050405020304" pitchFamily="18" charset="0"/>
                <a:cs typeface="Times New Roman" panose="02020603050405020304" pitchFamily="18" charset="0"/>
              </a:rPr>
              <a:t>UNIT - 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Introduction to Data Mining:</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What Data mining? Kinds of Data, Knowledge Discovery process, Data Mining Functionalities, Kinds of Patterns, Major Issues in Data Mining. Data Objects and Attribute Types, Basic Statistical Descriptions of Data, Data Visualization, Measuring Data Similarity and Dissimilarity, Data Pre-processing</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Major Tasks in Data Pre-processing, Data Cleaning, Data Integration, Data Reduction, Data Transformation and Data Discretization.</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Association Analysis: </a:t>
            </a:r>
            <a:r>
              <a:rPr lang="en-US" sz="1400" dirty="0">
                <a:latin typeface="Times New Roman" panose="02020603050405020304" pitchFamily="18" charset="0"/>
                <a:cs typeface="Times New Roman" panose="02020603050405020304" pitchFamily="18" charset="0"/>
              </a:rPr>
              <a:t>Basic Concepts, Market Basket Analysis, </a:t>
            </a:r>
            <a:r>
              <a:rPr lang="en-US" sz="1400" dirty="0" err="1">
                <a:latin typeface="Times New Roman" panose="02020603050405020304" pitchFamily="18" charset="0"/>
                <a:cs typeface="Times New Roman" panose="02020603050405020304" pitchFamily="18" charset="0"/>
              </a:rPr>
              <a:t>Apriori</a:t>
            </a:r>
            <a:r>
              <a:rPr lang="en-US" sz="1400" dirty="0">
                <a:latin typeface="Times New Roman" panose="02020603050405020304" pitchFamily="18" charset="0"/>
                <a:cs typeface="Times New Roman" panose="02020603050405020304" pitchFamily="18" charset="0"/>
              </a:rPr>
              <a:t> Algorithm, FP-growth, From Association Analysis to Correlation Analysis, Pattern Mining in Multilevel Associations and Multidimensional Associations.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Classification: </a:t>
            </a:r>
            <a:r>
              <a:rPr lang="en-US" sz="1400" dirty="0">
                <a:latin typeface="Times New Roman" panose="02020603050405020304" pitchFamily="18" charset="0"/>
                <a:cs typeface="Times New Roman" panose="02020603050405020304" pitchFamily="18" charset="0"/>
              </a:rPr>
              <a:t>Basic Concepts, Decision Tree Induction, Bayes Classification Methods, Rule-Based Classification, Metrics for Evaluating Classifier Performance, Ensemble Methods, Multilayer Feed- Forward Neural Network, Support Vector Machines, k-Nearest-Neighbor Classifiers.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Cluster Analysis: </a:t>
            </a:r>
            <a:r>
              <a:rPr lang="en-US" sz="1400" dirty="0">
                <a:latin typeface="Times New Roman" panose="02020603050405020304" pitchFamily="18" charset="0"/>
                <a:cs typeface="Times New Roman" panose="02020603050405020304" pitchFamily="18" charset="0"/>
              </a:rPr>
              <a:t>Requirements for Cluster Analysis, Overview of Basic Clustering Methods, Partitioning Methods-k-Means, k-Medoids, Hierarchical Methods-AGENES, DIANA, BIRCH, Density- Based Method-DBSCAN, Outlier Analysis: Types of Outliers, Challenges of Outlier Detection, and Overview of Outlier Detection Methods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UNIT - 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Advanced Concepts: </a:t>
            </a:r>
            <a:r>
              <a:rPr lang="en-US" sz="1400" dirty="0">
                <a:latin typeface="Times New Roman" panose="02020603050405020304" pitchFamily="18" charset="0"/>
                <a:cs typeface="Times New Roman" panose="02020603050405020304" pitchFamily="18" charset="0"/>
              </a:rPr>
              <a:t>Web Mining- Web Content Mining, Web Structure Mining, Web Usage Mining, Spatial Mining- Spatial Data Overview, Spatial Data Mining Primitives, Spatial Rules, Spatial Classification Algorithm, Spatial Clustering Algorithms, Temporal Mining- Modeling Temporal Events, Time Series, Pattern Detection, Sequences, Temporal Association Rules.</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0559E7D3-4393-3786-9AB0-8A133DB04BFD}"/>
              </a:ext>
            </a:extLst>
          </p:cNvPr>
          <p:cNvSpPr>
            <a:spLocks noGrp="1"/>
          </p:cNvSpPr>
          <p:nvPr>
            <p:ph type="title"/>
          </p:nvPr>
        </p:nvSpPr>
        <p:spPr>
          <a:xfrm>
            <a:off x="457200" y="19665"/>
            <a:ext cx="8229600" cy="487362"/>
          </a:xfrm>
        </p:spPr>
        <p:txBody>
          <a:bodyPr>
            <a:normAutofit fontScale="90000"/>
          </a:bodyPr>
          <a:lstStyle/>
          <a:p>
            <a:pPr algn="ctr"/>
            <a:r>
              <a:rPr lang="en-IN" sz="3200" dirty="0">
                <a:solidFill>
                  <a:srgbClr val="002060"/>
                </a:solidFill>
                <a:latin typeface="Times New Roman" panose="02020603050405020304" pitchFamily="18" charset="0"/>
                <a:cs typeface="Times New Roman" panose="02020603050405020304" pitchFamily="18" charset="0"/>
              </a:rPr>
              <a:t>Data Mining Syllabus</a:t>
            </a:r>
          </a:p>
        </p:txBody>
      </p:sp>
    </p:spTree>
    <p:extLst>
      <p:ext uri="{BB962C8B-B14F-4D97-AF65-F5344CB8AC3E}">
        <p14:creationId xmlns:p14="http://schemas.microsoft.com/office/powerpoint/2010/main" val="3847474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D8B92D-28DA-CD2D-5048-336BEB13CBED}"/>
              </a:ext>
            </a:extLst>
          </p:cNvPr>
          <p:cNvSpPr>
            <a:spLocks noGrp="1"/>
          </p:cNvSpPr>
          <p:nvPr>
            <p:ph idx="1"/>
          </p:nvPr>
        </p:nvSpPr>
        <p:spPr>
          <a:xfrm>
            <a:off x="381000" y="457200"/>
            <a:ext cx="8229600" cy="4525963"/>
          </a:xfrm>
        </p:spPr>
        <p:txBody>
          <a:bodyPr>
            <a:normAutofit/>
          </a:bodyPr>
          <a:lstStyle/>
          <a:p>
            <a:r>
              <a:rPr lang="en-US" sz="2000" b="1" dirty="0">
                <a:latin typeface="Times New Roman" panose="02020603050405020304" pitchFamily="18" charset="0"/>
                <a:cs typeface="Times New Roman" panose="02020603050405020304" pitchFamily="18" charset="0"/>
              </a:rPr>
              <a:t>TEXT BOOKS:</a:t>
            </a:r>
          </a:p>
          <a:p>
            <a:endParaRPr lang="en-US" sz="2000" b="1"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Jiawei Han, Micheline Kamber, Jian Pei., Data Mining: Concepts and Techniques, 3rd Edition, Morgan Kaufmann/Elsevier, 2012.</a:t>
            </a:r>
            <a:endParaRPr lang="en-IN" sz="2000" b="1"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Margaret H Dunham, Data Mining Introductory and Advanced Topics, 2nd Edition, Pearson Education, India, 2006.</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REFERENCE BOOKS:</a:t>
            </a:r>
          </a:p>
          <a:p>
            <a:pPr marL="109728" indent="0">
              <a:buNone/>
            </a:pP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Data Mining Techniques, Arun K Pujari, 3rd Edition, Universities Press.</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Pang-Ning Tan, Michael Steinbach, Anuj </a:t>
            </a:r>
            <a:r>
              <a:rPr lang="en-US" sz="2000" dirty="0" err="1">
                <a:latin typeface="Times New Roman" panose="02020603050405020304" pitchFamily="18" charset="0"/>
                <a:cs typeface="Times New Roman" panose="02020603050405020304" pitchFamily="18" charset="0"/>
              </a:rPr>
              <a:t>Karpatne</a:t>
            </a:r>
            <a:r>
              <a:rPr lang="en-US" sz="2000" dirty="0">
                <a:latin typeface="Times New Roman" panose="02020603050405020304" pitchFamily="18" charset="0"/>
                <a:cs typeface="Times New Roman" panose="02020603050405020304" pitchFamily="18" charset="0"/>
              </a:rPr>
              <a:t> and Vipin Kumar, Introduction to Data Mining, 2nd Edition, Pearson Education India, 2021.</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Amitesh Sinha, Data Warehousing, Thomson Learning, India, 2007.</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566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56B06F-0944-6F71-AF05-3698C0B1CFD6}"/>
              </a:ext>
            </a:extLst>
          </p:cNvPr>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rPr>
              <a:t>Basic Concepts: </a:t>
            </a:r>
            <a:r>
              <a:rPr lang="en-US" sz="2400" dirty="0">
                <a:latin typeface="Times New Roman" panose="02020603050405020304" pitchFamily="18" charset="0"/>
                <a:cs typeface="Times New Roman" panose="02020603050405020304" pitchFamily="18" charset="0"/>
              </a:rPr>
              <a:t>Market Basket Analysis, </a:t>
            </a:r>
          </a:p>
          <a:p>
            <a:pPr lvl="1"/>
            <a:r>
              <a:rPr lang="en-US" sz="2400" dirty="0" err="1">
                <a:latin typeface="Times New Roman" panose="02020603050405020304" pitchFamily="18" charset="0"/>
                <a:cs typeface="Times New Roman" panose="02020603050405020304" pitchFamily="18" charset="0"/>
              </a:rPr>
              <a:t>Apriori</a:t>
            </a:r>
            <a:r>
              <a:rPr lang="en-US" sz="2400" dirty="0">
                <a:latin typeface="Times New Roman" panose="02020603050405020304" pitchFamily="18" charset="0"/>
                <a:cs typeface="Times New Roman" panose="02020603050405020304" pitchFamily="18" charset="0"/>
              </a:rPr>
              <a:t> Algorithm, </a:t>
            </a:r>
          </a:p>
          <a:p>
            <a:pPr lvl="1"/>
            <a:r>
              <a:rPr lang="en-US" sz="2400" dirty="0">
                <a:latin typeface="Times New Roman" panose="02020603050405020304" pitchFamily="18" charset="0"/>
                <a:cs typeface="Times New Roman" panose="02020603050405020304" pitchFamily="18" charset="0"/>
              </a:rPr>
              <a:t>FP-growth, </a:t>
            </a:r>
          </a:p>
          <a:p>
            <a:r>
              <a:rPr lang="en-US" sz="2800" dirty="0">
                <a:latin typeface="Times New Roman" panose="02020603050405020304" pitchFamily="18" charset="0"/>
                <a:cs typeface="Times New Roman" panose="02020603050405020304" pitchFamily="18" charset="0"/>
              </a:rPr>
              <a:t>From Association Analysis to Correlation Analysis, </a:t>
            </a:r>
          </a:p>
          <a:p>
            <a:r>
              <a:rPr lang="en-US" sz="2800" dirty="0">
                <a:latin typeface="Times New Roman" panose="02020603050405020304" pitchFamily="18" charset="0"/>
                <a:cs typeface="Times New Roman" panose="02020603050405020304" pitchFamily="18" charset="0"/>
              </a:rPr>
              <a:t>Pattern Mining in </a:t>
            </a:r>
          </a:p>
          <a:p>
            <a:pPr lvl="1"/>
            <a:r>
              <a:rPr lang="en-US" sz="2400" dirty="0">
                <a:latin typeface="Times New Roman" panose="02020603050405020304" pitchFamily="18" charset="0"/>
                <a:cs typeface="Times New Roman" panose="02020603050405020304" pitchFamily="18" charset="0"/>
              </a:rPr>
              <a:t>Multilevel Associations and</a:t>
            </a:r>
          </a:p>
          <a:p>
            <a:pPr lvl="1"/>
            <a:r>
              <a:rPr lang="en-US" sz="2400" dirty="0">
                <a:latin typeface="Times New Roman" panose="02020603050405020304" pitchFamily="18" charset="0"/>
                <a:cs typeface="Times New Roman" panose="02020603050405020304" pitchFamily="18" charset="0"/>
              </a:rPr>
              <a:t> Multidimensional Associations.</a:t>
            </a:r>
            <a:endParaRPr lang="en-IN" sz="2400" dirty="0">
              <a:latin typeface="Times New Roman" panose="02020603050405020304" pitchFamily="18" charset="0"/>
              <a:cs typeface="Times New Roman" panose="02020603050405020304" pitchFamily="18" charset="0"/>
            </a:endParaRPr>
          </a:p>
          <a:p>
            <a:endParaRPr lang="en-IN" dirty="0"/>
          </a:p>
        </p:txBody>
      </p:sp>
      <p:sp>
        <p:nvSpPr>
          <p:cNvPr id="3" name="Title 2">
            <a:extLst>
              <a:ext uri="{FF2B5EF4-FFF2-40B4-BE49-F238E27FC236}">
                <a16:creationId xmlns:a16="http://schemas.microsoft.com/office/drawing/2014/main" id="{58E87388-470C-7DEE-22B9-3D7515416BB0}"/>
              </a:ext>
            </a:extLst>
          </p:cNvPr>
          <p:cNvSpPr>
            <a:spLocks noGrp="1"/>
          </p:cNvSpPr>
          <p:nvPr>
            <p:ph type="title"/>
          </p:nvPr>
        </p:nvSpPr>
        <p:spPr>
          <a:xfrm>
            <a:off x="457200" y="274638"/>
            <a:ext cx="8229600" cy="576071"/>
          </a:xfrm>
        </p:spPr>
        <p:txBody>
          <a:bodyPr>
            <a:normAutofit fontScale="90000"/>
          </a:bodyPr>
          <a:lstStyle/>
          <a:p>
            <a:pPr algn="ctr"/>
            <a:r>
              <a:rPr lang="en-US" sz="3200" dirty="0">
                <a:solidFill>
                  <a:srgbClr val="002060"/>
                </a:solidFill>
                <a:effectLst/>
                <a:latin typeface="Times New Roman" panose="02020603050405020304" pitchFamily="18" charset="0"/>
                <a:cs typeface="Times New Roman" panose="02020603050405020304" pitchFamily="18" charset="0"/>
              </a:rPr>
              <a:t>UNIT – II: Association Analysis</a:t>
            </a:r>
            <a:endParaRPr lang="en-IN" sz="3200" dirty="0">
              <a:solidFill>
                <a:srgbClr val="002060"/>
              </a:solidFill>
              <a:effectLst/>
            </a:endParaRPr>
          </a:p>
        </p:txBody>
      </p:sp>
    </p:spTree>
    <p:extLst>
      <p:ext uri="{BB962C8B-B14F-4D97-AF65-F5344CB8AC3E}">
        <p14:creationId xmlns:p14="http://schemas.microsoft.com/office/powerpoint/2010/main" val="109076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25BD3E-1DFF-78F0-D059-2E64F64F44D6}"/>
              </a:ext>
            </a:extLst>
          </p:cNvPr>
          <p:cNvSpPr>
            <a:spLocks noGrp="1"/>
          </p:cNvSpPr>
          <p:nvPr>
            <p:ph idx="1"/>
          </p:nvPr>
        </p:nvSpPr>
        <p:spPr/>
        <p:txBody>
          <a:bodyPr>
            <a:normAutofit/>
          </a:bodyPr>
          <a:lstStyle/>
          <a:p>
            <a:pPr algn="just"/>
            <a:r>
              <a:rPr lang="en-US" sz="2000" b="1" dirty="0">
                <a:latin typeface="Times New Roman" panose="02020603050405020304" pitchFamily="18" charset="0"/>
                <a:cs typeface="Times New Roman" panose="02020603050405020304" pitchFamily="18" charset="0"/>
              </a:rPr>
              <a:t>Frequent itemset mining </a:t>
            </a:r>
            <a:r>
              <a:rPr lang="en-US" sz="2000" dirty="0">
                <a:latin typeface="Times New Roman" panose="02020603050405020304" pitchFamily="18" charset="0"/>
                <a:cs typeface="Times New Roman" panose="02020603050405020304" pitchFamily="18" charset="0"/>
              </a:rPr>
              <a:t>leads to the discovery of associations and correlations among items in large transactional or relational data sets.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With massive amounts of data continuously being collected and stored, many industries are becoming interested in mining such patterns from their databases. </a:t>
            </a:r>
          </a:p>
          <a:p>
            <a:pPr algn="just"/>
            <a:r>
              <a:rPr lang="en-US" sz="2000" dirty="0">
                <a:latin typeface="Times New Roman" panose="02020603050405020304" pitchFamily="18" charset="0"/>
                <a:cs typeface="Times New Roman" panose="02020603050405020304" pitchFamily="18" charset="0"/>
              </a:rPr>
              <a:t>The discovery of interesting correlation relationships among huge amounts of business transaction records can help in many business decision-making processes such as catalog design, cross-marketing, and customer </a:t>
            </a:r>
            <a:r>
              <a:rPr lang="en-IN" sz="2000" dirty="0">
                <a:latin typeface="Times New Roman" panose="02020603050405020304" pitchFamily="18" charset="0"/>
                <a:cs typeface="Times New Roman" panose="02020603050405020304" pitchFamily="18" charset="0"/>
              </a:rPr>
              <a:t>shopping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analysis.</a:t>
            </a:r>
          </a:p>
        </p:txBody>
      </p:sp>
      <p:sp>
        <p:nvSpPr>
          <p:cNvPr id="3" name="Title 2">
            <a:extLst>
              <a:ext uri="{FF2B5EF4-FFF2-40B4-BE49-F238E27FC236}">
                <a16:creationId xmlns:a16="http://schemas.microsoft.com/office/drawing/2014/main" id="{7C43B004-E59E-C6C2-9B3E-945D3CB89E5F}"/>
              </a:ext>
            </a:extLst>
          </p:cNvPr>
          <p:cNvSpPr>
            <a:spLocks noGrp="1"/>
          </p:cNvSpPr>
          <p:nvPr>
            <p:ph type="title"/>
          </p:nvPr>
        </p:nvSpPr>
        <p:spPr>
          <a:xfrm>
            <a:off x="457200" y="274638"/>
            <a:ext cx="8229600" cy="639762"/>
          </a:xfrm>
        </p:spPr>
        <p:txBody>
          <a:bodyPr>
            <a:normAutofit/>
          </a:bodyPr>
          <a:lstStyle/>
          <a:p>
            <a:pPr algn="ctr"/>
            <a:r>
              <a:rPr lang="en-US" sz="3200" dirty="0">
                <a:latin typeface="Times New Roman" panose="02020603050405020304" pitchFamily="18" charset="0"/>
                <a:cs typeface="Times New Roman" panose="02020603050405020304" pitchFamily="18" charset="0"/>
              </a:rPr>
              <a:t>Frequent itemset mining</a:t>
            </a:r>
            <a:endParaRPr lang="en-IN" sz="3200" dirty="0"/>
          </a:p>
        </p:txBody>
      </p:sp>
    </p:spTree>
    <p:extLst>
      <p:ext uri="{BB962C8B-B14F-4D97-AF65-F5344CB8AC3E}">
        <p14:creationId xmlns:p14="http://schemas.microsoft.com/office/powerpoint/2010/main" val="1793047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C76DA-470A-223F-8E48-EF9387F178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D25202-8292-CFBB-A44F-367E510D45CD}"/>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A typical example of </a:t>
            </a:r>
            <a:r>
              <a:rPr lang="en-US" sz="2000" b="1" dirty="0">
                <a:latin typeface="Times New Roman" panose="02020603050405020304" pitchFamily="18" charset="0"/>
                <a:cs typeface="Times New Roman" panose="02020603050405020304" pitchFamily="18" charset="0"/>
              </a:rPr>
              <a:t>frequent itemset mining </a:t>
            </a:r>
            <a:r>
              <a:rPr lang="en-US" sz="2000" dirty="0">
                <a:latin typeface="Times New Roman" panose="02020603050405020304" pitchFamily="18" charset="0"/>
                <a:cs typeface="Times New Roman" panose="02020603050405020304" pitchFamily="18" charset="0"/>
              </a:rPr>
              <a:t>is </a:t>
            </a:r>
            <a:r>
              <a:rPr lang="en-US" sz="2000" b="1" dirty="0">
                <a:latin typeface="Times New Roman" panose="02020603050405020304" pitchFamily="18" charset="0"/>
                <a:cs typeface="Times New Roman" panose="02020603050405020304" pitchFamily="18" charset="0"/>
              </a:rPr>
              <a:t>market basket analysis</a:t>
            </a:r>
            <a:r>
              <a:rPr lang="en-US" sz="2000" dirty="0">
                <a:latin typeface="Times New Roman" panose="02020603050405020304" pitchFamily="18" charset="0"/>
                <a:cs typeface="Times New Roman" panose="02020603050405020304" pitchFamily="18" charset="0"/>
              </a:rPr>
              <a:t>. This process analyzes customer buying habits by finding associations between the different items that customers place in their “shopping baskets” .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discovery of these associations can help retailers develop marketing strategies by gaining insight into which items are frequently purchased together by customers.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For instance, if customers are buying milk, how likely are they to also buy bread (and what kind of bread) on the same trip to the supermarket? This information can lead to increased sales by helping retailers do selective marketing and plan their shelf space.</a:t>
            </a: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60948042-94C2-8E8A-B669-E28BE8B1D53B}"/>
              </a:ext>
            </a:extLst>
          </p:cNvPr>
          <p:cNvSpPr>
            <a:spLocks noGrp="1"/>
          </p:cNvSpPr>
          <p:nvPr>
            <p:ph type="title"/>
          </p:nvPr>
        </p:nvSpPr>
        <p:spPr>
          <a:xfrm>
            <a:off x="457200" y="274638"/>
            <a:ext cx="8229600" cy="639762"/>
          </a:xfrm>
        </p:spPr>
        <p:txBody>
          <a:bodyPr>
            <a:normAutofit/>
          </a:bodyPr>
          <a:lstStyle/>
          <a:p>
            <a:pPr algn="ctr"/>
            <a:r>
              <a:rPr lang="en-US" sz="3200" dirty="0">
                <a:latin typeface="Times New Roman" panose="02020603050405020304" pitchFamily="18" charset="0"/>
                <a:cs typeface="Times New Roman" panose="02020603050405020304" pitchFamily="18" charset="0"/>
              </a:rPr>
              <a:t>Market Basket Analysis</a:t>
            </a:r>
            <a:endParaRPr lang="en-IN" sz="3200" dirty="0"/>
          </a:p>
        </p:txBody>
      </p:sp>
    </p:spTree>
    <p:extLst>
      <p:ext uri="{BB962C8B-B14F-4D97-AF65-F5344CB8AC3E}">
        <p14:creationId xmlns:p14="http://schemas.microsoft.com/office/powerpoint/2010/main" val="1432734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3D8383-1744-E80A-DE4B-D5C58066F11D}"/>
              </a:ext>
            </a:extLst>
          </p:cNvPr>
          <p:cNvSpPr>
            <a:spLocks noGrp="1"/>
          </p:cNvSpPr>
          <p:nvPr>
            <p:ph type="title"/>
          </p:nvPr>
        </p:nvSpPr>
        <p:spPr>
          <a:xfrm>
            <a:off x="457200" y="274638"/>
            <a:ext cx="8229600" cy="563562"/>
          </a:xfrm>
        </p:spPr>
        <p:txBody>
          <a:bodyPr>
            <a:normAutofit fontScale="90000"/>
          </a:bodyPr>
          <a:lstStyle/>
          <a:p>
            <a:pPr algn="ctr"/>
            <a:r>
              <a:rPr lang="en-US" sz="4400" dirty="0">
                <a:latin typeface="Times New Roman" panose="02020603050405020304" pitchFamily="18" charset="0"/>
                <a:cs typeface="Times New Roman" panose="02020603050405020304" pitchFamily="18" charset="0"/>
              </a:rPr>
              <a:t>Market Basket Analysis</a:t>
            </a:r>
            <a:endParaRPr lang="en-IN" dirty="0"/>
          </a:p>
        </p:txBody>
      </p:sp>
      <p:pic>
        <p:nvPicPr>
          <p:cNvPr id="5" name="Picture 4">
            <a:extLst>
              <a:ext uri="{FF2B5EF4-FFF2-40B4-BE49-F238E27FC236}">
                <a16:creationId xmlns:a16="http://schemas.microsoft.com/office/drawing/2014/main" id="{079EE988-5035-AD2D-CDBA-D7DBA1A038FF}"/>
              </a:ext>
            </a:extLst>
          </p:cNvPr>
          <p:cNvPicPr>
            <a:picLocks noChangeAspect="1"/>
          </p:cNvPicPr>
          <p:nvPr/>
        </p:nvPicPr>
        <p:blipFill>
          <a:blip r:embed="rId2"/>
          <a:stretch>
            <a:fillRect/>
          </a:stretch>
        </p:blipFill>
        <p:spPr>
          <a:xfrm>
            <a:off x="838200" y="813619"/>
            <a:ext cx="6591793" cy="3962400"/>
          </a:xfrm>
          <a:prstGeom prst="rect">
            <a:avLst/>
          </a:prstGeom>
        </p:spPr>
      </p:pic>
      <p:sp>
        <p:nvSpPr>
          <p:cNvPr id="7" name="TextBox 6">
            <a:extLst>
              <a:ext uri="{FF2B5EF4-FFF2-40B4-BE49-F238E27FC236}">
                <a16:creationId xmlns:a16="http://schemas.microsoft.com/office/drawing/2014/main" id="{17D961A2-746D-6EB1-8A78-BA7D7FF6E769}"/>
              </a:ext>
            </a:extLst>
          </p:cNvPr>
          <p:cNvSpPr txBox="1"/>
          <p:nvPr/>
        </p:nvSpPr>
        <p:spPr>
          <a:xfrm>
            <a:off x="685800" y="4838929"/>
            <a:ext cx="8077200" cy="132343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For instance, if customers are buying milk, how likely are they to also buy bread (and what kind of bread) on the same trip to the supermarket? This information can lead to increased sales by helping retailers do selective marketing and plan their shelf space.</a:t>
            </a:r>
            <a:endParaRPr lang="en-IN" dirty="0"/>
          </a:p>
        </p:txBody>
      </p:sp>
    </p:spTree>
    <p:extLst>
      <p:ext uri="{BB962C8B-B14F-4D97-AF65-F5344CB8AC3E}">
        <p14:creationId xmlns:p14="http://schemas.microsoft.com/office/powerpoint/2010/main" val="3390295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92D7C-BE10-63F6-B911-A5383E797FD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3BF7B0-66B7-39F0-C66C-66382CDE247A}"/>
              </a:ext>
            </a:extLst>
          </p:cNvPr>
          <p:cNvSpPr>
            <a:spLocks noGrp="1"/>
          </p:cNvSpPr>
          <p:nvPr>
            <p:ph idx="1"/>
          </p:nvPr>
        </p:nvSpPr>
        <p:spPr>
          <a:xfrm>
            <a:off x="447368" y="850709"/>
            <a:ext cx="8229600" cy="5638800"/>
          </a:xfrm>
        </p:spPr>
        <p:txBody>
          <a:bodyPr>
            <a:noAutofit/>
          </a:bodyPr>
          <a:lstStyle/>
          <a:p>
            <a:r>
              <a:rPr lang="en-US" sz="1800" dirty="0">
                <a:latin typeface="Times New Roman" panose="02020603050405020304" pitchFamily="18" charset="0"/>
                <a:cs typeface="Times New Roman" panose="02020603050405020304" pitchFamily="18" charset="0"/>
              </a:rPr>
              <a:t>Suppose, as manager of an </a:t>
            </a:r>
            <a:r>
              <a:rPr lang="en-US" sz="1800" i="1" dirty="0" err="1">
                <a:latin typeface="Times New Roman" panose="02020603050405020304" pitchFamily="18" charset="0"/>
                <a:cs typeface="Times New Roman" panose="02020603050405020304" pitchFamily="18" charset="0"/>
              </a:rPr>
              <a:t>AllElectronics</a:t>
            </a:r>
            <a:r>
              <a:rPr lang="en-IN" sz="1800" dirty="0">
                <a:latin typeface="Times New Roman" panose="02020603050405020304" pitchFamily="18" charset="0"/>
                <a:cs typeface="Times New Roman" panose="02020603050405020304" pitchFamily="18" charset="0"/>
              </a:rPr>
              <a:t>(the famous US-based surplus electronic components retailer)</a:t>
            </a:r>
            <a:r>
              <a:rPr lang="en-US" sz="1800" i="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branch, you would like to learn more about the buying habits of your customers. </a:t>
            </a:r>
          </a:p>
          <a:p>
            <a:r>
              <a:rPr lang="en-US" sz="1800" dirty="0">
                <a:latin typeface="Times New Roman" panose="02020603050405020304" pitchFamily="18" charset="0"/>
                <a:cs typeface="Times New Roman" panose="02020603050405020304" pitchFamily="18" charset="0"/>
              </a:rPr>
              <a:t>Specifically, you </a:t>
            </a:r>
            <a:r>
              <a:rPr lang="en-US" sz="1800" dirty="0" err="1">
                <a:latin typeface="Times New Roman" panose="02020603050405020304" pitchFamily="18" charset="0"/>
                <a:cs typeface="Times New Roman" panose="02020603050405020304" pitchFamily="18" charset="0"/>
              </a:rPr>
              <a:t>wonder,</a:t>
            </a:r>
            <a:r>
              <a:rPr lang="en-US" sz="1800" i="1" dirty="0" err="1">
                <a:latin typeface="Times New Roman" panose="02020603050405020304" pitchFamily="18" charset="0"/>
                <a:cs typeface="Times New Roman" panose="02020603050405020304" pitchFamily="18" charset="0"/>
              </a:rPr>
              <a:t>“Which</a:t>
            </a:r>
            <a:r>
              <a:rPr lang="en-US" sz="1800" i="1" dirty="0">
                <a:latin typeface="Times New Roman" panose="02020603050405020304" pitchFamily="18" charset="0"/>
                <a:cs typeface="Times New Roman" panose="02020603050405020304" pitchFamily="18" charset="0"/>
              </a:rPr>
              <a:t> groups or sets of items are customers likely to purchase on a given trip to the store?”</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To answer your question, market basket analysis may be performed on the retail data of customer transactions at your store.</a:t>
            </a:r>
          </a:p>
          <a:p>
            <a:r>
              <a:rPr lang="en-US" sz="1800" dirty="0">
                <a:latin typeface="Times New Roman" panose="02020603050405020304" pitchFamily="18" charset="0"/>
                <a:cs typeface="Times New Roman" panose="02020603050405020304" pitchFamily="18" charset="0"/>
              </a:rPr>
              <a:t> You can then use the results to plan marketing or advertising strategies, or in the design of a new catalog.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For instance, market basket analysis may help you design different store layouts.</a:t>
            </a:r>
          </a:p>
          <a:p>
            <a:r>
              <a:rPr lang="en-US" sz="1800" dirty="0">
                <a:latin typeface="Times New Roman" panose="02020603050405020304" pitchFamily="18" charset="0"/>
                <a:cs typeface="Times New Roman" panose="02020603050405020304" pitchFamily="18" charset="0"/>
              </a:rPr>
              <a:t> In one strategy, items that are frequently purchased together can be placed in proximity to further encourage the combined sale of such items.</a:t>
            </a:r>
          </a:p>
          <a:p>
            <a:r>
              <a:rPr lang="en-US" sz="1800" dirty="0">
                <a:latin typeface="Times New Roman" panose="02020603050405020304" pitchFamily="18" charset="0"/>
                <a:cs typeface="Times New Roman" panose="02020603050405020304" pitchFamily="18" charset="0"/>
              </a:rPr>
              <a:t> If customers who purchase computers also tend to buy antivirus software at the same time, then placing the hardware display close to the software display may help increase the sales of both items.</a:t>
            </a:r>
          </a:p>
        </p:txBody>
      </p:sp>
      <p:sp>
        <p:nvSpPr>
          <p:cNvPr id="3" name="Title 2">
            <a:extLst>
              <a:ext uri="{FF2B5EF4-FFF2-40B4-BE49-F238E27FC236}">
                <a16:creationId xmlns:a16="http://schemas.microsoft.com/office/drawing/2014/main" id="{E722294C-8DF1-1809-9D7E-3D833833F869}"/>
              </a:ext>
            </a:extLst>
          </p:cNvPr>
          <p:cNvSpPr>
            <a:spLocks noGrp="1"/>
          </p:cNvSpPr>
          <p:nvPr>
            <p:ph type="title"/>
          </p:nvPr>
        </p:nvSpPr>
        <p:spPr>
          <a:xfrm>
            <a:off x="457200" y="274638"/>
            <a:ext cx="8229600" cy="576071"/>
          </a:xfrm>
        </p:spPr>
        <p:txBody>
          <a:bodyPr>
            <a:normAutofit fontScale="90000"/>
          </a:bodyPr>
          <a:lstStyle/>
          <a:p>
            <a:r>
              <a:rPr lang="en-US" sz="4000" dirty="0">
                <a:latin typeface="Times New Roman" panose="02020603050405020304" pitchFamily="18" charset="0"/>
                <a:cs typeface="Times New Roman" panose="02020603050405020304" pitchFamily="18" charset="0"/>
              </a:rPr>
              <a:t>Market Basket Analysis Contd..</a:t>
            </a:r>
            <a:endParaRPr lang="en-IN" dirty="0"/>
          </a:p>
        </p:txBody>
      </p:sp>
    </p:spTree>
    <p:extLst>
      <p:ext uri="{BB962C8B-B14F-4D97-AF65-F5344CB8AC3E}">
        <p14:creationId xmlns:p14="http://schemas.microsoft.com/office/powerpoint/2010/main" val="2532675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577F0E-B7E8-5269-21C7-BC704DF17AF8}"/>
              </a:ext>
            </a:extLst>
          </p:cNvPr>
          <p:cNvSpPr>
            <a:spLocks noGrp="1"/>
          </p:cNvSpPr>
          <p:nvPr>
            <p:ph idx="1"/>
          </p:nvPr>
        </p:nvSpPr>
        <p:spPr>
          <a:xfrm>
            <a:off x="457200" y="914400"/>
            <a:ext cx="8229600" cy="4525963"/>
          </a:xfrm>
        </p:spPr>
        <p:txBody>
          <a:bodyPr>
            <a:normAutofit/>
          </a:bodyPr>
          <a:lstStyle/>
          <a:p>
            <a:r>
              <a:rPr lang="en-US" sz="2000" dirty="0">
                <a:latin typeface="Times New Roman" panose="02020603050405020304" pitchFamily="18" charset="0"/>
                <a:cs typeface="Times New Roman" panose="02020603050405020304" pitchFamily="18" charset="0"/>
              </a:rPr>
              <a:t>In an alternative strategy, placing hardware and software at opposite ends of the store may entice customers who purchase such items to pick up other items along the way.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For instance, after deciding on an expensive computer, a customer may observe security systems for sale while heading toward the software display to purchase antivirus software, and may decide to purchase a home security system as well.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Market basket analysis can also help retailers plan which items to put on sale at reduced prices. </a:t>
            </a:r>
          </a:p>
          <a:p>
            <a:r>
              <a:rPr lang="en-US" sz="2000" dirty="0">
                <a:latin typeface="Times New Roman" panose="02020603050405020304" pitchFamily="18" charset="0"/>
                <a:cs typeface="Times New Roman" panose="02020603050405020304" pitchFamily="18" charset="0"/>
              </a:rPr>
              <a:t>If customers tend to purchase computers and printers together, then having a sale on printers may encourage the sale of printers </a:t>
            </a:r>
            <a:r>
              <a:rPr lang="en-US" sz="2000" i="1" dirty="0">
                <a:latin typeface="Times New Roman" panose="02020603050405020304" pitchFamily="18" charset="0"/>
                <a:cs typeface="Times New Roman" panose="02020603050405020304" pitchFamily="18" charset="0"/>
              </a:rPr>
              <a:t>as well as </a:t>
            </a:r>
            <a:r>
              <a:rPr lang="en-US" sz="2000" dirty="0">
                <a:latin typeface="Times New Roman" panose="02020603050405020304" pitchFamily="18" charset="0"/>
                <a:cs typeface="Times New Roman" panose="02020603050405020304" pitchFamily="18" charset="0"/>
              </a:rPr>
              <a:t>computers.</a:t>
            </a:r>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A2AAFD05-6C20-E981-14AA-54D2D36AB322}"/>
              </a:ext>
            </a:extLst>
          </p:cNvPr>
          <p:cNvSpPr>
            <a:spLocks noGrp="1"/>
          </p:cNvSpPr>
          <p:nvPr>
            <p:ph type="title"/>
          </p:nvPr>
        </p:nvSpPr>
        <p:spPr>
          <a:xfrm>
            <a:off x="457200" y="274638"/>
            <a:ext cx="8229600" cy="576071"/>
          </a:xfrm>
        </p:spPr>
        <p:txBody>
          <a:bodyPr>
            <a:normAutofit fontScale="90000"/>
          </a:bodyPr>
          <a:lstStyle/>
          <a:p>
            <a:r>
              <a:rPr lang="en-US" sz="4400" dirty="0">
                <a:latin typeface="Times New Roman" panose="02020603050405020304" pitchFamily="18" charset="0"/>
                <a:cs typeface="Times New Roman" panose="02020603050405020304" pitchFamily="18" charset="0"/>
              </a:rPr>
              <a:t>Market Basket Analysis Contd..</a:t>
            </a:r>
            <a:endParaRPr lang="en-IN" dirty="0"/>
          </a:p>
        </p:txBody>
      </p:sp>
    </p:spTree>
    <p:extLst>
      <p:ext uri="{BB962C8B-B14F-4D97-AF65-F5344CB8AC3E}">
        <p14:creationId xmlns:p14="http://schemas.microsoft.com/office/powerpoint/2010/main" val="294938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0DD72370-6BE7-84DF-9481-07058D15CB8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DE4394F3-6829-4B86-A34B-C1C3DBE12CE2}" type="slidenum">
              <a:rPr lang="en-US" altLang="en-US" sz="1200"/>
              <a:pPr eaLnBrk="1" hangingPunct="1"/>
              <a:t>11</a:t>
            </a:fld>
            <a:endParaRPr lang="en-US" altLang="en-US" sz="1200"/>
          </a:p>
        </p:txBody>
      </p:sp>
      <p:sp>
        <p:nvSpPr>
          <p:cNvPr id="16387" name="Rectangle 2">
            <a:extLst>
              <a:ext uri="{FF2B5EF4-FFF2-40B4-BE49-F238E27FC236}">
                <a16:creationId xmlns:a16="http://schemas.microsoft.com/office/drawing/2014/main" id="{E214DED4-FF7D-F4BA-058F-8D900AB828E8}"/>
              </a:ext>
            </a:extLst>
          </p:cNvPr>
          <p:cNvSpPr>
            <a:spLocks noGrp="1" noChangeArrowheads="1"/>
          </p:cNvSpPr>
          <p:nvPr>
            <p:ph type="title"/>
          </p:nvPr>
        </p:nvSpPr>
        <p:spPr>
          <a:xfrm>
            <a:off x="914400" y="228600"/>
            <a:ext cx="7620000" cy="762000"/>
          </a:xfrm>
        </p:spPr>
        <p:txBody>
          <a:bodyPr>
            <a:normAutofit/>
          </a:bodyPr>
          <a:lstStyle/>
          <a:p>
            <a:pP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What Is Frequent Pattern Analysis?</a:t>
            </a:r>
          </a:p>
        </p:txBody>
      </p:sp>
      <p:sp>
        <p:nvSpPr>
          <p:cNvPr id="16388" name="Rectangle 3">
            <a:extLst>
              <a:ext uri="{FF2B5EF4-FFF2-40B4-BE49-F238E27FC236}">
                <a16:creationId xmlns:a16="http://schemas.microsoft.com/office/drawing/2014/main" id="{F34556CA-281B-E7CA-7391-DE3CF5D2930A}"/>
              </a:ext>
            </a:extLst>
          </p:cNvPr>
          <p:cNvSpPr>
            <a:spLocks noGrp="1" noChangeArrowheads="1"/>
          </p:cNvSpPr>
          <p:nvPr>
            <p:ph type="body" idx="1"/>
          </p:nvPr>
        </p:nvSpPr>
        <p:spPr>
          <a:xfrm>
            <a:off x="152400" y="1219200"/>
            <a:ext cx="8839200" cy="5181600"/>
          </a:xfrm>
        </p:spPr>
        <p:txBody>
          <a:bodyPr>
            <a:normAutofit/>
          </a:bodyPr>
          <a:lstStyle/>
          <a:p>
            <a:pPr eaLnBrk="1" hangingPunct="1">
              <a:lnSpc>
                <a:spcPct val="130000"/>
              </a:lnSpc>
            </a:pPr>
            <a:r>
              <a:rPr lang="en-US" altLang="en-US" sz="2000" dirty="0">
                <a:solidFill>
                  <a:schemeClr val="hlink"/>
                </a:solidFill>
                <a:latin typeface="Times New Roman" panose="02020603050405020304" pitchFamily="18" charset="0"/>
                <a:cs typeface="Times New Roman" panose="02020603050405020304" pitchFamily="18" charset="0"/>
              </a:rPr>
              <a:t>Frequent pattern</a:t>
            </a:r>
            <a:r>
              <a:rPr lang="en-US" altLang="en-US" sz="2000" dirty="0">
                <a:latin typeface="Times New Roman" panose="02020603050405020304" pitchFamily="18" charset="0"/>
                <a:cs typeface="Times New Roman" panose="02020603050405020304" pitchFamily="18" charset="0"/>
              </a:rPr>
              <a:t>: a pattern (a set of items, subsequences, substructures, etc.) that occurs frequently in a data set</a:t>
            </a:r>
          </a:p>
          <a:p>
            <a:pPr eaLnBrk="1" hangingPunct="1">
              <a:lnSpc>
                <a:spcPct val="130000"/>
              </a:lnSpc>
            </a:pPr>
            <a:endParaRPr lang="en-US" altLang="en-US" sz="2000" dirty="0">
              <a:latin typeface="Times New Roman" panose="02020603050405020304" pitchFamily="18" charset="0"/>
              <a:cs typeface="Times New Roman" panose="02020603050405020304" pitchFamily="18" charset="0"/>
            </a:endParaRPr>
          </a:p>
          <a:p>
            <a:pPr algn="just">
              <a:lnSpc>
                <a:spcPct val="130000"/>
              </a:lnSpc>
              <a:buSzPct val="80000"/>
            </a:pPr>
            <a:r>
              <a:rPr lang="en-IN" sz="2000" dirty="0">
                <a:latin typeface="Times New Roman" panose="02020603050405020304" pitchFamily="18" charset="0"/>
                <a:cs typeface="Times New Roman" panose="02020603050405020304" pitchFamily="18" charset="0"/>
              </a:rPr>
              <a:t>Rakesh Agrawal, Tomasz </a:t>
            </a:r>
            <a:r>
              <a:rPr lang="en-IN" sz="2000" dirty="0" err="1">
                <a:latin typeface="Times New Roman" panose="02020603050405020304" pitchFamily="18" charset="0"/>
                <a:cs typeface="Times New Roman" panose="02020603050405020304" pitchFamily="18" charset="0"/>
              </a:rPr>
              <a:t>Imielinski</a:t>
            </a:r>
            <a:r>
              <a:rPr lang="en-IN" sz="2000" dirty="0">
                <a:latin typeface="Times New Roman" panose="02020603050405020304" pitchFamily="18" charset="0"/>
                <a:cs typeface="Times New Roman" panose="02020603050405020304" pitchFamily="18" charset="0"/>
              </a:rPr>
              <a:t>, and Arun Swami first introduced </a:t>
            </a:r>
            <a:r>
              <a:rPr lang="en-IN" sz="2000" b="1" dirty="0">
                <a:latin typeface="Times New Roman" panose="02020603050405020304" pitchFamily="18" charset="0"/>
                <a:cs typeface="Times New Roman" panose="02020603050405020304" pitchFamily="18" charset="0"/>
              </a:rPr>
              <a:t>frequent </a:t>
            </a:r>
            <a:r>
              <a:rPr lang="en-IN" sz="2000" b="1" dirty="0" err="1">
                <a:latin typeface="Times New Roman" panose="02020603050405020304" pitchFamily="18" charset="0"/>
                <a:cs typeface="Times New Roman" panose="02020603050405020304" pitchFamily="18" charset="0"/>
              </a:rPr>
              <a:t>itemsets</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association rule mining</a:t>
            </a:r>
            <a:r>
              <a:rPr lang="en-IN" sz="2000" dirty="0">
                <a:latin typeface="Times New Roman" panose="02020603050405020304" pitchFamily="18" charset="0"/>
                <a:cs typeface="Times New Roman" panose="02020603050405020304" pitchFamily="18" charset="0"/>
              </a:rPr>
              <a:t> in their seminal 1993 paper. </a:t>
            </a:r>
            <a:r>
              <a:rPr lang="en-US" altLang="en-US" sz="2000" dirty="0">
                <a:latin typeface="Times New Roman" panose="02020603050405020304" pitchFamily="18" charset="0"/>
                <a:cs typeface="Times New Roman" panose="02020603050405020304" pitchFamily="18" charset="0"/>
              </a:rPr>
              <a:t>[AIS93]</a:t>
            </a:r>
          </a:p>
          <a:p>
            <a:pPr algn="just">
              <a:lnSpc>
                <a:spcPct val="130000"/>
              </a:lnSpc>
              <a:buSzPct val="80000"/>
            </a:pPr>
            <a:endParaRPr lang="en-IN" sz="2000" dirty="0">
              <a:latin typeface="Times New Roman" panose="02020603050405020304" pitchFamily="18" charset="0"/>
              <a:cs typeface="Times New Roman" panose="02020603050405020304" pitchFamily="18" charset="0"/>
            </a:endParaRPr>
          </a:p>
          <a:p>
            <a:pPr algn="just">
              <a:lnSpc>
                <a:spcPct val="130000"/>
              </a:lnSpc>
              <a:buSzPct val="80000"/>
            </a:pPr>
            <a:r>
              <a:rPr lang="en-IN" sz="2000" dirty="0">
                <a:latin typeface="Times New Roman" panose="02020603050405020304" pitchFamily="18" charset="0"/>
                <a:cs typeface="Times New Roman" panose="02020603050405020304" pitchFamily="18" charset="0"/>
              </a:rPr>
              <a:t>This foundational concept revolutionized machine learning and data science by enabling market basket analysis, uncovering purchasing correlations, and identifying inherent regularities in transactional databases</a:t>
            </a:r>
            <a:endParaRPr lang="en-US" altLang="en-US" sz="2000" dirty="0">
              <a:solidFill>
                <a:schemeClr val="hlink"/>
              </a:solidFill>
              <a:latin typeface="Times New Roman" panose="02020603050405020304" pitchFamily="18" charset="0"/>
              <a:cs typeface="Times New Roman" panose="02020603050405020304" pitchFamily="18" charset="0"/>
            </a:endParaRPr>
          </a:p>
          <a:p>
            <a:pPr eaLnBrk="1" hangingPunct="1">
              <a:lnSpc>
                <a:spcPct val="130000"/>
              </a:lnSpc>
            </a:pPr>
            <a:r>
              <a:rPr lang="en-US" altLang="en-US" sz="20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D4ECD-677B-61B4-6FEE-DDBC96FC8DCB}"/>
            </a:ext>
          </a:extLst>
        </p:cNvPr>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D09AA5E5-EB19-2E06-A853-C114FF1D1F0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DE4394F3-6829-4B86-A34B-C1C3DBE12CE2}" type="slidenum">
              <a:rPr lang="en-US" altLang="en-US" sz="1200"/>
              <a:pPr eaLnBrk="1" hangingPunct="1"/>
              <a:t>12</a:t>
            </a:fld>
            <a:endParaRPr lang="en-US" altLang="en-US" sz="1200"/>
          </a:p>
        </p:txBody>
      </p:sp>
      <p:sp>
        <p:nvSpPr>
          <p:cNvPr id="16387" name="Rectangle 2">
            <a:extLst>
              <a:ext uri="{FF2B5EF4-FFF2-40B4-BE49-F238E27FC236}">
                <a16:creationId xmlns:a16="http://schemas.microsoft.com/office/drawing/2014/main" id="{0497B440-7751-C8E8-BB1C-2DE7DFC47392}"/>
              </a:ext>
            </a:extLst>
          </p:cNvPr>
          <p:cNvSpPr>
            <a:spLocks noGrp="1" noChangeArrowheads="1"/>
          </p:cNvSpPr>
          <p:nvPr>
            <p:ph type="title"/>
          </p:nvPr>
        </p:nvSpPr>
        <p:spPr>
          <a:xfrm>
            <a:off x="1027272" y="86754"/>
            <a:ext cx="7620000" cy="762000"/>
          </a:xfrm>
        </p:spPr>
        <p:txBody>
          <a:bodyPr>
            <a:normAutofit/>
          </a:bodyPr>
          <a:lstStyle/>
          <a:p>
            <a:pP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What Is Frequent Pattern Analysis?</a:t>
            </a:r>
          </a:p>
        </p:txBody>
      </p:sp>
      <p:sp>
        <p:nvSpPr>
          <p:cNvPr id="16388" name="Rectangle 3">
            <a:extLst>
              <a:ext uri="{FF2B5EF4-FFF2-40B4-BE49-F238E27FC236}">
                <a16:creationId xmlns:a16="http://schemas.microsoft.com/office/drawing/2014/main" id="{732F17B9-71CE-DEA1-0221-AFABB7F23620}"/>
              </a:ext>
            </a:extLst>
          </p:cNvPr>
          <p:cNvSpPr>
            <a:spLocks noGrp="1" noChangeArrowheads="1"/>
          </p:cNvSpPr>
          <p:nvPr>
            <p:ph type="body" idx="1"/>
          </p:nvPr>
        </p:nvSpPr>
        <p:spPr>
          <a:xfrm>
            <a:off x="228600" y="1203960"/>
            <a:ext cx="8418672" cy="4724400"/>
          </a:xfrm>
        </p:spPr>
        <p:txBody>
          <a:bodyPr>
            <a:noAutofit/>
          </a:bodyPr>
          <a:lstStyle/>
          <a:p>
            <a:pPr algn="just" eaLnBrk="1" hangingPunct="1">
              <a:lnSpc>
                <a:spcPct val="130000"/>
              </a:lnSpc>
            </a:pPr>
            <a:r>
              <a:rPr lang="en-US" altLang="en-US" sz="2000" b="1" dirty="0">
                <a:latin typeface="Times New Roman" panose="02020603050405020304" pitchFamily="18" charset="0"/>
                <a:cs typeface="Times New Roman" panose="02020603050405020304" pitchFamily="18" charset="0"/>
              </a:rPr>
              <a:t>Motivation</a:t>
            </a:r>
            <a:r>
              <a:rPr lang="en-US" altLang="en-US" sz="2000" dirty="0">
                <a:latin typeface="Times New Roman" panose="02020603050405020304" pitchFamily="18" charset="0"/>
                <a:cs typeface="Times New Roman" panose="02020603050405020304" pitchFamily="18" charset="0"/>
              </a:rPr>
              <a:t>: Finding inherent regularities in data</a:t>
            </a:r>
          </a:p>
          <a:p>
            <a:pPr lvl="1" algn="just" eaLnBrk="1" hangingPunct="1">
              <a:lnSpc>
                <a:spcPct val="130000"/>
              </a:lnSpc>
            </a:pPr>
            <a:r>
              <a:rPr lang="en-US" altLang="en-US" sz="2000" dirty="0">
                <a:latin typeface="Times New Roman" panose="02020603050405020304" pitchFamily="18" charset="0"/>
                <a:cs typeface="Times New Roman" panose="02020603050405020304" pitchFamily="18" charset="0"/>
              </a:rPr>
              <a:t>What products were often purchased together?— Beer and diapers?!</a:t>
            </a:r>
          </a:p>
          <a:p>
            <a:pPr lvl="1" algn="just" eaLnBrk="1" hangingPunct="1">
              <a:lnSpc>
                <a:spcPct val="130000"/>
              </a:lnSpc>
            </a:pPr>
            <a:r>
              <a:rPr lang="en-US" altLang="en-US" sz="2000" dirty="0">
                <a:latin typeface="Times New Roman" panose="02020603050405020304" pitchFamily="18" charset="0"/>
                <a:cs typeface="Times New Roman" panose="02020603050405020304" pitchFamily="18" charset="0"/>
              </a:rPr>
              <a:t>What are the subsequent purchases after buying a PC?</a:t>
            </a:r>
          </a:p>
          <a:p>
            <a:pPr lvl="1" algn="just" eaLnBrk="1" hangingPunct="1">
              <a:lnSpc>
                <a:spcPct val="130000"/>
              </a:lnSpc>
            </a:pPr>
            <a:r>
              <a:rPr lang="en-US" altLang="en-US" sz="2000" dirty="0">
                <a:latin typeface="Times New Roman" panose="02020603050405020304" pitchFamily="18" charset="0"/>
                <a:cs typeface="Times New Roman" panose="02020603050405020304" pitchFamily="18" charset="0"/>
              </a:rPr>
              <a:t>What kinds of DNA are sensitive to this new drug?</a:t>
            </a:r>
          </a:p>
          <a:p>
            <a:pPr lvl="1" algn="just" eaLnBrk="1" hangingPunct="1">
              <a:lnSpc>
                <a:spcPct val="130000"/>
              </a:lnSpc>
            </a:pPr>
            <a:r>
              <a:rPr lang="en-US" altLang="en-US" sz="2000" dirty="0">
                <a:latin typeface="Times New Roman" panose="02020603050405020304" pitchFamily="18" charset="0"/>
                <a:cs typeface="Times New Roman" panose="02020603050405020304" pitchFamily="18" charset="0"/>
              </a:rPr>
              <a:t>Can we automatically classify web documents?</a:t>
            </a:r>
          </a:p>
          <a:p>
            <a:pPr lvl="1" algn="just" eaLnBrk="1" hangingPunct="1">
              <a:lnSpc>
                <a:spcPct val="130000"/>
              </a:lnSpc>
            </a:pPr>
            <a:endParaRPr lang="en-US" altLang="en-US" sz="2000" dirty="0">
              <a:latin typeface="Times New Roman" panose="02020603050405020304" pitchFamily="18" charset="0"/>
              <a:cs typeface="Times New Roman" panose="02020603050405020304" pitchFamily="18" charset="0"/>
            </a:endParaRPr>
          </a:p>
          <a:p>
            <a:pPr algn="just" eaLnBrk="1" hangingPunct="1">
              <a:lnSpc>
                <a:spcPct val="130000"/>
              </a:lnSpc>
              <a:buSzPct val="80000"/>
            </a:pPr>
            <a:r>
              <a:rPr lang="en-US" altLang="en-US" sz="2000" b="1" dirty="0">
                <a:latin typeface="Times New Roman" panose="02020603050405020304" pitchFamily="18" charset="0"/>
                <a:cs typeface="Times New Roman" panose="02020603050405020304" pitchFamily="18" charset="0"/>
              </a:rPr>
              <a:t>Applications</a:t>
            </a:r>
            <a:r>
              <a:rPr lang="en-US" altLang="en-US" sz="2000" dirty="0">
                <a:latin typeface="Times New Roman" panose="02020603050405020304" pitchFamily="18" charset="0"/>
                <a:cs typeface="Times New Roman" panose="02020603050405020304" pitchFamily="18" charset="0"/>
              </a:rPr>
              <a:t>: Basket data analysis, cross-marketing, catalog design, sale campaign analysis, Web log (click stream) analysis, and DNA sequence analysis.</a:t>
            </a:r>
          </a:p>
        </p:txBody>
      </p:sp>
    </p:spTree>
    <p:extLst>
      <p:ext uri="{BB962C8B-B14F-4D97-AF65-F5344CB8AC3E}">
        <p14:creationId xmlns:p14="http://schemas.microsoft.com/office/powerpoint/2010/main" val="1042754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BC905987-D63B-095E-A2E6-0D0A0FC8799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DB540E52-A42F-4BB2-B6DA-3572528CF08B}" type="slidenum">
              <a:rPr lang="en-US" altLang="en-US" sz="1200"/>
              <a:pPr eaLnBrk="1" hangingPunct="1"/>
              <a:t>13</a:t>
            </a:fld>
            <a:endParaRPr lang="en-US" altLang="en-US" sz="1200"/>
          </a:p>
        </p:txBody>
      </p:sp>
      <p:sp>
        <p:nvSpPr>
          <p:cNvPr id="17411" name="Rectangle 2">
            <a:extLst>
              <a:ext uri="{FF2B5EF4-FFF2-40B4-BE49-F238E27FC236}">
                <a16:creationId xmlns:a16="http://schemas.microsoft.com/office/drawing/2014/main" id="{A6C80F31-F760-DA99-3A69-ABC75C5BE01B}"/>
              </a:ext>
            </a:extLst>
          </p:cNvPr>
          <p:cNvSpPr>
            <a:spLocks noGrp="1" noChangeArrowheads="1"/>
          </p:cNvSpPr>
          <p:nvPr>
            <p:ph type="title"/>
          </p:nvPr>
        </p:nvSpPr>
        <p:spPr>
          <a:xfrm>
            <a:off x="914400" y="304800"/>
            <a:ext cx="7620000" cy="685800"/>
          </a:xfrm>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Why Is Freq. Pattern Mining Important?</a:t>
            </a:r>
          </a:p>
        </p:txBody>
      </p:sp>
      <p:sp>
        <p:nvSpPr>
          <p:cNvPr id="17412" name="Rectangle 3">
            <a:extLst>
              <a:ext uri="{FF2B5EF4-FFF2-40B4-BE49-F238E27FC236}">
                <a16:creationId xmlns:a16="http://schemas.microsoft.com/office/drawing/2014/main" id="{42ECEC55-B923-8B24-516C-B5ADCBF832D8}"/>
              </a:ext>
            </a:extLst>
          </p:cNvPr>
          <p:cNvSpPr>
            <a:spLocks noGrp="1" noChangeArrowheads="1"/>
          </p:cNvSpPr>
          <p:nvPr>
            <p:ph type="body" idx="1"/>
          </p:nvPr>
        </p:nvSpPr>
        <p:spPr>
          <a:xfrm>
            <a:off x="304800" y="1371600"/>
            <a:ext cx="8534400" cy="5105400"/>
          </a:xfrm>
        </p:spPr>
        <p:txBody>
          <a:bodyPr>
            <a:normAutofit/>
          </a:bodyPr>
          <a:lstStyle/>
          <a:p>
            <a:pPr eaLnBrk="1" hangingPunct="1"/>
            <a:r>
              <a:rPr lang="en-US" altLang="en-US" sz="2000" dirty="0">
                <a:latin typeface="Times New Roman" panose="02020603050405020304" pitchFamily="18" charset="0"/>
                <a:cs typeface="Times New Roman" panose="02020603050405020304" pitchFamily="18" charset="0"/>
              </a:rPr>
              <a:t>Freq. pattern: An intrinsic and important property of datasets </a:t>
            </a:r>
          </a:p>
          <a:p>
            <a:pPr eaLnBrk="1" hangingPunct="1"/>
            <a:endParaRPr lang="en-US" altLang="en-US" sz="2000" dirty="0">
              <a:latin typeface="Times New Roman" panose="02020603050405020304" pitchFamily="18" charset="0"/>
              <a:cs typeface="Times New Roman" panose="02020603050405020304" pitchFamily="18" charset="0"/>
            </a:endParaRPr>
          </a:p>
          <a:p>
            <a:pPr eaLnBrk="1" hangingPunct="1"/>
            <a:r>
              <a:rPr lang="en-US" altLang="en-US" sz="2000" dirty="0">
                <a:latin typeface="Times New Roman" panose="02020603050405020304" pitchFamily="18" charset="0"/>
                <a:cs typeface="Times New Roman" panose="02020603050405020304" pitchFamily="18" charset="0"/>
              </a:rPr>
              <a:t>Foundation for many essential data mining tasks</a:t>
            </a:r>
          </a:p>
          <a:p>
            <a:pPr lvl="1" eaLnBrk="1" hangingPunct="1"/>
            <a:r>
              <a:rPr lang="en-US" altLang="en-US" sz="2000" dirty="0">
                <a:latin typeface="Times New Roman" panose="02020603050405020304" pitchFamily="18" charset="0"/>
                <a:cs typeface="Times New Roman" panose="02020603050405020304" pitchFamily="18" charset="0"/>
              </a:rPr>
              <a:t>Association, correlation, and causality analysis</a:t>
            </a:r>
          </a:p>
          <a:p>
            <a:pPr lvl="1" eaLnBrk="1" hangingPunct="1"/>
            <a:r>
              <a:rPr lang="en-US" altLang="en-US" sz="2000" dirty="0">
                <a:latin typeface="Times New Roman" panose="02020603050405020304" pitchFamily="18" charset="0"/>
                <a:cs typeface="Times New Roman" panose="02020603050405020304" pitchFamily="18" charset="0"/>
              </a:rPr>
              <a:t>Sequential, structural (e.g., sub-graph) patterns</a:t>
            </a:r>
          </a:p>
          <a:p>
            <a:pPr lvl="1" eaLnBrk="1" hangingPunct="1"/>
            <a:r>
              <a:rPr lang="en-US" altLang="en-US" sz="2000" dirty="0">
                <a:latin typeface="Times New Roman" panose="02020603050405020304" pitchFamily="18" charset="0"/>
                <a:cs typeface="Times New Roman" panose="02020603050405020304" pitchFamily="18" charset="0"/>
              </a:rPr>
              <a:t>Pattern analysis in spatiotemporal, multimedia, time-series, and stream data </a:t>
            </a:r>
          </a:p>
          <a:p>
            <a:pPr lvl="1" eaLnBrk="1" hangingPunct="1"/>
            <a:r>
              <a:rPr lang="en-US" altLang="en-US" sz="2000" dirty="0">
                <a:latin typeface="Times New Roman" panose="02020603050405020304" pitchFamily="18" charset="0"/>
                <a:cs typeface="Times New Roman" panose="02020603050405020304" pitchFamily="18" charset="0"/>
              </a:rPr>
              <a:t>Classification: discriminative, frequent pattern analysis</a:t>
            </a:r>
          </a:p>
          <a:p>
            <a:pPr lvl="1" eaLnBrk="1" hangingPunct="1"/>
            <a:r>
              <a:rPr lang="en-US" altLang="en-US" sz="2000" dirty="0">
                <a:latin typeface="Times New Roman" panose="02020603050405020304" pitchFamily="18" charset="0"/>
                <a:cs typeface="Times New Roman" panose="02020603050405020304" pitchFamily="18" charset="0"/>
              </a:rPr>
              <a:t>Cluster analysis: frequent pattern-based clustering</a:t>
            </a:r>
          </a:p>
          <a:p>
            <a:pPr lvl="1" eaLnBrk="1" hangingPunct="1"/>
            <a:r>
              <a:rPr lang="en-US" altLang="en-US" sz="2000" dirty="0">
                <a:latin typeface="Times New Roman" panose="02020603050405020304" pitchFamily="18" charset="0"/>
                <a:cs typeface="Times New Roman" panose="02020603050405020304" pitchFamily="18" charset="0"/>
              </a:rPr>
              <a:t>Data warehousing: iceberg cube and cube-gradient </a:t>
            </a:r>
          </a:p>
          <a:p>
            <a:pPr lvl="1" eaLnBrk="1" hangingPunct="1"/>
            <a:r>
              <a:rPr lang="en-US" altLang="en-US" sz="2000" dirty="0">
                <a:latin typeface="Times New Roman" panose="02020603050405020304" pitchFamily="18" charset="0"/>
                <a:cs typeface="Times New Roman" panose="02020603050405020304" pitchFamily="18" charset="0"/>
              </a:rPr>
              <a:t>Semantic data compression: fascicles</a:t>
            </a:r>
          </a:p>
          <a:p>
            <a:pPr lvl="1" eaLnBrk="1" hangingPunct="1"/>
            <a:r>
              <a:rPr lang="en-US" altLang="en-US" sz="2000" dirty="0">
                <a:latin typeface="Times New Roman" panose="02020603050405020304" pitchFamily="18" charset="0"/>
                <a:cs typeface="Times New Roman" panose="02020603050405020304" pitchFamily="18" charset="0"/>
              </a:rPr>
              <a:t>Broad applications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7CC22C76-E0FF-6E64-6829-2FE29C878AD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D457575-28E4-4330-9E8C-BC946F562BDF}" type="slidenum">
              <a:rPr lang="en-US" altLang="en-US" sz="1200"/>
              <a:pPr eaLnBrk="1" hangingPunct="1"/>
              <a:t>14</a:t>
            </a:fld>
            <a:endParaRPr lang="en-US" altLang="en-US" sz="1200"/>
          </a:p>
        </p:txBody>
      </p:sp>
      <p:sp>
        <p:nvSpPr>
          <p:cNvPr id="18435" name="Rectangle 2">
            <a:extLst>
              <a:ext uri="{FF2B5EF4-FFF2-40B4-BE49-F238E27FC236}">
                <a16:creationId xmlns:a16="http://schemas.microsoft.com/office/drawing/2014/main" id="{34AF48FF-ACBE-89B1-5424-FECD7085EF90}"/>
              </a:ext>
            </a:extLst>
          </p:cNvPr>
          <p:cNvSpPr>
            <a:spLocks noGrp="1" noChangeArrowheads="1"/>
          </p:cNvSpPr>
          <p:nvPr>
            <p:ph type="title"/>
          </p:nvPr>
        </p:nvSpPr>
        <p:spPr>
          <a:xfrm>
            <a:off x="685800" y="228600"/>
            <a:ext cx="8001000" cy="523823"/>
          </a:xfrm>
        </p:spPr>
        <p:txBody>
          <a:bodyPr>
            <a:normAutofit fontScale="90000"/>
          </a:bodyPr>
          <a:lstStyle/>
          <a:p>
            <a:pPr algn="ctr" eaLnBrk="1" hangingPunct="1"/>
            <a:r>
              <a:rPr lang="en-US" altLang="en-US" sz="3200" dirty="0">
                <a:solidFill>
                  <a:srgbClr val="002060"/>
                </a:solidFill>
                <a:latin typeface="Times New Roman" panose="02020603050405020304" pitchFamily="18" charset="0"/>
                <a:cs typeface="Times New Roman" panose="02020603050405020304" pitchFamily="18" charset="0"/>
              </a:rPr>
              <a:t>Basic Concepts: Frequent Patterns</a:t>
            </a:r>
          </a:p>
        </p:txBody>
      </p:sp>
      <p:sp>
        <p:nvSpPr>
          <p:cNvPr id="18436" name="Rectangle 3">
            <a:extLst>
              <a:ext uri="{FF2B5EF4-FFF2-40B4-BE49-F238E27FC236}">
                <a16:creationId xmlns:a16="http://schemas.microsoft.com/office/drawing/2014/main" id="{55866FFE-C1D7-59B7-CE9B-0E037E56EB59}"/>
              </a:ext>
            </a:extLst>
          </p:cNvPr>
          <p:cNvSpPr>
            <a:spLocks noGrp="1" noChangeArrowheads="1"/>
          </p:cNvSpPr>
          <p:nvPr>
            <p:ph type="body" idx="1"/>
          </p:nvPr>
        </p:nvSpPr>
        <p:spPr>
          <a:xfrm>
            <a:off x="4066522" y="904823"/>
            <a:ext cx="4953000" cy="2846439"/>
          </a:xfrm>
        </p:spPr>
        <p:txBody>
          <a:bodyPr>
            <a:normAutofit/>
          </a:bodyPr>
          <a:lstStyle/>
          <a:p>
            <a:pPr eaLnBrk="1" hangingPunct="1">
              <a:lnSpc>
                <a:spcPct val="90000"/>
              </a:lnSpc>
            </a:pPr>
            <a:r>
              <a:rPr lang="en-US" altLang="en-US" sz="2000" dirty="0">
                <a:solidFill>
                  <a:schemeClr val="hlink"/>
                </a:solidFill>
                <a:latin typeface="Times New Roman" panose="02020603050405020304" pitchFamily="18" charset="0"/>
                <a:cs typeface="Times New Roman" panose="02020603050405020304" pitchFamily="18" charset="0"/>
              </a:rPr>
              <a:t>itemset</a:t>
            </a:r>
            <a:r>
              <a:rPr lang="en-US" altLang="en-US" sz="2000" dirty="0">
                <a:latin typeface="Times New Roman" panose="02020603050405020304" pitchFamily="18" charset="0"/>
                <a:cs typeface="Times New Roman" panose="02020603050405020304" pitchFamily="18" charset="0"/>
              </a:rPr>
              <a:t>: A set of one or more items</a:t>
            </a:r>
          </a:p>
          <a:p>
            <a:pPr eaLnBrk="1" hangingPunct="1">
              <a:lnSpc>
                <a:spcPct val="90000"/>
              </a:lnSpc>
            </a:pPr>
            <a:r>
              <a:rPr lang="en-US" altLang="en-US" sz="2000" dirty="0">
                <a:solidFill>
                  <a:schemeClr val="hlink"/>
                </a:solidFill>
                <a:latin typeface="Times New Roman" panose="02020603050405020304" pitchFamily="18" charset="0"/>
                <a:cs typeface="Times New Roman" panose="02020603050405020304" pitchFamily="18" charset="0"/>
              </a:rPr>
              <a:t>k-itemset</a:t>
            </a:r>
            <a:r>
              <a:rPr lang="en-US" altLang="en-US" sz="2000" dirty="0">
                <a:latin typeface="Times New Roman" panose="02020603050405020304" pitchFamily="18" charset="0"/>
                <a:cs typeface="Times New Roman" panose="02020603050405020304" pitchFamily="18" charset="0"/>
              </a:rPr>
              <a:t> X = {x</a:t>
            </a:r>
            <a:r>
              <a:rPr lang="en-US" altLang="en-US" sz="2000" baseline="-25000"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 …, </a:t>
            </a:r>
            <a:r>
              <a:rPr lang="en-US" altLang="en-US" sz="2000" dirty="0" err="1">
                <a:latin typeface="Times New Roman" panose="02020603050405020304" pitchFamily="18" charset="0"/>
                <a:cs typeface="Times New Roman" panose="02020603050405020304" pitchFamily="18" charset="0"/>
              </a:rPr>
              <a:t>x</a:t>
            </a:r>
            <a:r>
              <a:rPr lang="en-US" altLang="en-US" sz="2000" baseline="-25000" dirty="0" err="1">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a:t>
            </a:r>
          </a:p>
          <a:p>
            <a:pPr eaLnBrk="1" hangingPunct="1">
              <a:lnSpc>
                <a:spcPct val="90000"/>
              </a:lnSpc>
            </a:pPr>
            <a:r>
              <a:rPr lang="en-US" altLang="en-US" sz="2000" i="1" dirty="0">
                <a:solidFill>
                  <a:schemeClr val="hlink"/>
                </a:solidFill>
                <a:latin typeface="Times New Roman" panose="02020603050405020304" pitchFamily="18" charset="0"/>
                <a:cs typeface="Times New Roman" panose="02020603050405020304" pitchFamily="18" charset="0"/>
              </a:rPr>
              <a:t>(absolute) support</a:t>
            </a:r>
            <a:r>
              <a:rPr lang="en-US" altLang="en-US" sz="2000" dirty="0">
                <a:latin typeface="Times New Roman" panose="02020603050405020304" pitchFamily="18" charset="0"/>
                <a:cs typeface="Times New Roman" panose="02020603050405020304" pitchFamily="18" charset="0"/>
              </a:rPr>
              <a:t>, or, </a:t>
            </a:r>
            <a:r>
              <a:rPr lang="en-US" altLang="en-US" sz="2000" i="1" dirty="0">
                <a:solidFill>
                  <a:schemeClr val="hlink"/>
                </a:solidFill>
                <a:latin typeface="Times New Roman" panose="02020603050405020304" pitchFamily="18" charset="0"/>
                <a:cs typeface="Times New Roman" panose="02020603050405020304" pitchFamily="18" charset="0"/>
              </a:rPr>
              <a:t>support count</a:t>
            </a:r>
            <a:r>
              <a:rPr lang="en-US" altLang="en-US" sz="2000" dirty="0">
                <a:latin typeface="Times New Roman" panose="02020603050405020304" pitchFamily="18" charset="0"/>
                <a:cs typeface="Times New Roman" panose="02020603050405020304" pitchFamily="18" charset="0"/>
              </a:rPr>
              <a:t> of X: Frequency or occurrence of an itemset X</a:t>
            </a:r>
          </a:p>
          <a:p>
            <a:pPr eaLnBrk="1" hangingPunct="1">
              <a:lnSpc>
                <a:spcPct val="90000"/>
              </a:lnSpc>
            </a:pPr>
            <a:r>
              <a:rPr lang="en-US" altLang="en-US" sz="2000" i="1" dirty="0">
                <a:solidFill>
                  <a:schemeClr val="hlink"/>
                </a:solidFill>
                <a:latin typeface="Times New Roman" panose="02020603050405020304" pitchFamily="18" charset="0"/>
                <a:cs typeface="Times New Roman" panose="02020603050405020304" pitchFamily="18" charset="0"/>
              </a:rPr>
              <a:t>(relative)</a:t>
            </a:r>
            <a:r>
              <a:rPr lang="en-US" altLang="en-US" sz="2000" dirty="0">
                <a:latin typeface="Times New Roman" panose="02020603050405020304" pitchFamily="18" charset="0"/>
                <a:cs typeface="Times New Roman" panose="02020603050405020304" pitchFamily="18" charset="0"/>
              </a:rPr>
              <a:t> </a:t>
            </a:r>
            <a:r>
              <a:rPr lang="en-US" altLang="en-US" sz="2000" i="1"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support</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000" i="1" dirty="0">
                <a:latin typeface="Times New Roman" panose="02020603050405020304" pitchFamily="18" charset="0"/>
                <a:cs typeface="Times New Roman" panose="02020603050405020304" pitchFamily="18" charset="0"/>
                <a:sym typeface="Symbol" panose="05050102010706020507" pitchFamily="18" charset="2"/>
              </a:rPr>
              <a:t>s</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 is the fraction of transactions that contains X (i.e., the </a:t>
            </a:r>
            <a:r>
              <a:rPr lang="en-US" altLang="en-US" sz="20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probability</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 that a transaction contains X)</a:t>
            </a:r>
          </a:p>
          <a:p>
            <a:pPr eaLnBrk="1" hangingPunct="1">
              <a:lnSpc>
                <a:spcPct val="90000"/>
              </a:lnSpc>
            </a:pP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An itemset X is </a:t>
            </a:r>
            <a:r>
              <a:rPr lang="en-US" altLang="en-US" sz="2000" i="1"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frequent</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 if X’s support is no less than a </a:t>
            </a:r>
            <a:r>
              <a:rPr lang="en-US" altLang="en-US" sz="2000" i="1" dirty="0" err="1">
                <a:latin typeface="Times New Roman" panose="02020603050405020304" pitchFamily="18" charset="0"/>
                <a:cs typeface="Times New Roman" panose="02020603050405020304" pitchFamily="18" charset="0"/>
                <a:sym typeface="Symbol" panose="05050102010706020507" pitchFamily="18" charset="2"/>
              </a:rPr>
              <a:t>minsup</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 threshold</a:t>
            </a:r>
          </a:p>
        </p:txBody>
      </p:sp>
      <p:grpSp>
        <p:nvGrpSpPr>
          <p:cNvPr id="18437" name="Group 5">
            <a:extLst>
              <a:ext uri="{FF2B5EF4-FFF2-40B4-BE49-F238E27FC236}">
                <a16:creationId xmlns:a16="http://schemas.microsoft.com/office/drawing/2014/main" id="{EA9E4278-7114-C822-5E39-8F306A67B444}"/>
              </a:ext>
            </a:extLst>
          </p:cNvPr>
          <p:cNvGrpSpPr>
            <a:grpSpLocks/>
          </p:cNvGrpSpPr>
          <p:nvPr/>
        </p:nvGrpSpPr>
        <p:grpSpPr bwMode="auto">
          <a:xfrm>
            <a:off x="4761072" y="3886200"/>
            <a:ext cx="3886200" cy="2630488"/>
            <a:chOff x="192" y="2400"/>
            <a:chExt cx="2448" cy="1657"/>
          </a:xfrm>
        </p:grpSpPr>
        <p:sp>
          <p:nvSpPr>
            <p:cNvPr id="18461" name="Oval 6">
              <a:extLst>
                <a:ext uri="{FF2B5EF4-FFF2-40B4-BE49-F238E27FC236}">
                  <a16:creationId xmlns:a16="http://schemas.microsoft.com/office/drawing/2014/main" id="{E1531B4E-BD44-65B2-E39F-39FC51D74904}"/>
                </a:ext>
              </a:extLst>
            </p:cNvPr>
            <p:cNvSpPr>
              <a:spLocks noChangeArrowheads="1"/>
            </p:cNvSpPr>
            <p:nvPr/>
          </p:nvSpPr>
          <p:spPr bwMode="auto">
            <a:xfrm>
              <a:off x="384" y="2736"/>
              <a:ext cx="1200" cy="864"/>
            </a:xfrm>
            <a:prstGeom prst="ellipse">
              <a:avLst/>
            </a:prstGeom>
            <a:solidFill>
              <a:srgbClr val="FFFF00"/>
            </a:solidFill>
            <a:ln w="25400">
              <a:solidFill>
                <a:schemeClr val="tx2"/>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8462" name="Oval 7">
              <a:extLst>
                <a:ext uri="{FF2B5EF4-FFF2-40B4-BE49-F238E27FC236}">
                  <a16:creationId xmlns:a16="http://schemas.microsoft.com/office/drawing/2014/main" id="{D348BBEF-851F-547E-7302-2A74DFA73415}"/>
                </a:ext>
              </a:extLst>
            </p:cNvPr>
            <p:cNvSpPr>
              <a:spLocks noChangeArrowheads="1"/>
            </p:cNvSpPr>
            <p:nvPr/>
          </p:nvSpPr>
          <p:spPr bwMode="auto">
            <a:xfrm>
              <a:off x="1008" y="2736"/>
              <a:ext cx="1200" cy="960"/>
            </a:xfrm>
            <a:prstGeom prst="ellipse">
              <a:avLst/>
            </a:prstGeom>
            <a:solidFill>
              <a:srgbClr val="99CCFF">
                <a:alpha val="50195"/>
              </a:srgbClr>
            </a:solidFill>
            <a:ln w="25400">
              <a:solidFill>
                <a:schemeClr val="hlink"/>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8463" name="Line 8">
              <a:extLst>
                <a:ext uri="{FF2B5EF4-FFF2-40B4-BE49-F238E27FC236}">
                  <a16:creationId xmlns:a16="http://schemas.microsoft.com/office/drawing/2014/main" id="{1C7EB453-A5B0-CD41-5200-F52DFC4077FF}"/>
                </a:ext>
              </a:extLst>
            </p:cNvPr>
            <p:cNvSpPr>
              <a:spLocks noChangeShapeType="1"/>
            </p:cNvSpPr>
            <p:nvPr/>
          </p:nvSpPr>
          <p:spPr bwMode="auto">
            <a:xfrm flipH="1">
              <a:off x="576" y="3168"/>
              <a:ext cx="144" cy="48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64" name="Line 9">
              <a:extLst>
                <a:ext uri="{FF2B5EF4-FFF2-40B4-BE49-F238E27FC236}">
                  <a16:creationId xmlns:a16="http://schemas.microsoft.com/office/drawing/2014/main" id="{2ED3BB07-6233-571C-A649-0B0DA6249109}"/>
                </a:ext>
              </a:extLst>
            </p:cNvPr>
            <p:cNvSpPr>
              <a:spLocks noChangeShapeType="1"/>
            </p:cNvSpPr>
            <p:nvPr/>
          </p:nvSpPr>
          <p:spPr bwMode="auto">
            <a:xfrm flipV="1">
              <a:off x="2016" y="2832"/>
              <a:ext cx="144" cy="43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65" name="Line 10">
              <a:extLst>
                <a:ext uri="{FF2B5EF4-FFF2-40B4-BE49-F238E27FC236}">
                  <a16:creationId xmlns:a16="http://schemas.microsoft.com/office/drawing/2014/main" id="{4B81446F-F6F3-EA76-5B52-0666E4D76122}"/>
                </a:ext>
              </a:extLst>
            </p:cNvPr>
            <p:cNvSpPr>
              <a:spLocks noChangeShapeType="1"/>
            </p:cNvSpPr>
            <p:nvPr/>
          </p:nvSpPr>
          <p:spPr bwMode="auto">
            <a:xfrm flipH="1" flipV="1">
              <a:off x="1440" y="2592"/>
              <a:ext cx="0" cy="576"/>
            </a:xfrm>
            <a:prstGeom prst="line">
              <a:avLst/>
            </a:prstGeom>
            <a:noFill/>
            <a:ln w="952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8466" name="Text Box 11">
              <a:extLst>
                <a:ext uri="{FF2B5EF4-FFF2-40B4-BE49-F238E27FC236}">
                  <a16:creationId xmlns:a16="http://schemas.microsoft.com/office/drawing/2014/main" id="{416F6D7F-F45C-7B31-B196-536C38D53534}"/>
                </a:ext>
              </a:extLst>
            </p:cNvPr>
            <p:cNvSpPr txBox="1">
              <a:spLocks noChangeArrowheads="1"/>
            </p:cNvSpPr>
            <p:nvPr/>
          </p:nvSpPr>
          <p:spPr bwMode="auto">
            <a:xfrm>
              <a:off x="1824" y="2448"/>
              <a:ext cx="768"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110000"/>
                </a:lnSpc>
              </a:pPr>
              <a:r>
                <a:rPr lang="en-US" altLang="en-US" sz="1600" b="1">
                  <a:solidFill>
                    <a:schemeClr val="hlink"/>
                  </a:solidFill>
                  <a:latin typeface="Times New Roman" panose="02020603050405020304" pitchFamily="18" charset="0"/>
                </a:rPr>
                <a:t>Customer</a:t>
              </a:r>
            </a:p>
            <a:p>
              <a:pPr>
                <a:lnSpc>
                  <a:spcPct val="110000"/>
                </a:lnSpc>
              </a:pPr>
              <a:r>
                <a:rPr lang="en-US" altLang="en-US" sz="1600" b="1">
                  <a:solidFill>
                    <a:schemeClr val="hlink"/>
                  </a:solidFill>
                  <a:latin typeface="Times New Roman" panose="02020603050405020304" pitchFamily="18" charset="0"/>
                </a:rPr>
                <a:t>buys diaper</a:t>
              </a:r>
              <a:endParaRPr lang="en-US" altLang="en-US" sz="1800" b="1" u="sng">
                <a:latin typeface="Times New Roman" panose="02020603050405020304" pitchFamily="18" charset="0"/>
              </a:endParaRPr>
            </a:p>
          </p:txBody>
        </p:sp>
        <p:sp>
          <p:nvSpPr>
            <p:cNvPr id="18467" name="Text Box 12">
              <a:extLst>
                <a:ext uri="{FF2B5EF4-FFF2-40B4-BE49-F238E27FC236}">
                  <a16:creationId xmlns:a16="http://schemas.microsoft.com/office/drawing/2014/main" id="{C9C2EB7E-0C54-FF2B-7408-F52D9B3E9DE5}"/>
                </a:ext>
              </a:extLst>
            </p:cNvPr>
            <p:cNvSpPr txBox="1">
              <a:spLocks noChangeArrowheads="1"/>
            </p:cNvSpPr>
            <p:nvPr/>
          </p:nvSpPr>
          <p:spPr bwMode="auto">
            <a:xfrm>
              <a:off x="960" y="2400"/>
              <a:ext cx="65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110000"/>
                </a:lnSpc>
              </a:pPr>
              <a:r>
                <a:rPr lang="en-US" altLang="en-US" sz="1600" b="1">
                  <a:solidFill>
                    <a:srgbClr val="5FA180"/>
                  </a:solidFill>
                  <a:latin typeface="Times New Roman" panose="02020603050405020304" pitchFamily="18" charset="0"/>
                </a:rPr>
                <a:t>Customer</a:t>
              </a:r>
            </a:p>
            <a:p>
              <a:pPr>
                <a:lnSpc>
                  <a:spcPct val="110000"/>
                </a:lnSpc>
              </a:pPr>
              <a:r>
                <a:rPr lang="en-US" altLang="en-US" sz="1600" b="1">
                  <a:solidFill>
                    <a:srgbClr val="5FA180"/>
                  </a:solidFill>
                  <a:latin typeface="Times New Roman" panose="02020603050405020304" pitchFamily="18" charset="0"/>
                </a:rPr>
                <a:t>buys both</a:t>
              </a:r>
              <a:endParaRPr lang="en-US" altLang="en-US" sz="1800" b="1" u="sng">
                <a:solidFill>
                  <a:srgbClr val="5FA180"/>
                </a:solidFill>
                <a:latin typeface="Times New Roman" panose="02020603050405020304" pitchFamily="18" charset="0"/>
              </a:endParaRPr>
            </a:p>
          </p:txBody>
        </p:sp>
        <p:sp>
          <p:nvSpPr>
            <p:cNvPr id="18468" name="Text Box 13">
              <a:extLst>
                <a:ext uri="{FF2B5EF4-FFF2-40B4-BE49-F238E27FC236}">
                  <a16:creationId xmlns:a16="http://schemas.microsoft.com/office/drawing/2014/main" id="{65C86839-5380-1C27-5105-513D87749E8A}"/>
                </a:ext>
              </a:extLst>
            </p:cNvPr>
            <p:cNvSpPr txBox="1">
              <a:spLocks noChangeArrowheads="1"/>
            </p:cNvSpPr>
            <p:nvPr/>
          </p:nvSpPr>
          <p:spPr bwMode="auto">
            <a:xfrm>
              <a:off x="384" y="3600"/>
              <a:ext cx="65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110000"/>
                </a:lnSpc>
              </a:pPr>
              <a:r>
                <a:rPr lang="en-US" altLang="en-US" sz="1600" b="1">
                  <a:solidFill>
                    <a:schemeClr val="tx2"/>
                  </a:solidFill>
                  <a:latin typeface="Times New Roman" panose="02020603050405020304" pitchFamily="18" charset="0"/>
                </a:rPr>
                <a:t>Customer</a:t>
              </a:r>
            </a:p>
            <a:p>
              <a:pPr>
                <a:lnSpc>
                  <a:spcPct val="110000"/>
                </a:lnSpc>
              </a:pPr>
              <a:r>
                <a:rPr lang="en-US" altLang="en-US" sz="1600" b="1">
                  <a:solidFill>
                    <a:schemeClr val="tx2"/>
                  </a:solidFill>
                  <a:latin typeface="Times New Roman" panose="02020603050405020304" pitchFamily="18" charset="0"/>
                </a:rPr>
                <a:t>buys beer</a:t>
              </a:r>
              <a:endParaRPr lang="en-US" altLang="en-US" sz="1800" b="1" u="sng">
                <a:latin typeface="Times New Roman" panose="02020603050405020304" pitchFamily="18" charset="0"/>
              </a:endParaRPr>
            </a:p>
          </p:txBody>
        </p:sp>
        <p:sp>
          <p:nvSpPr>
            <p:cNvPr id="18469" name="Rectangle 14">
              <a:extLst>
                <a:ext uri="{FF2B5EF4-FFF2-40B4-BE49-F238E27FC236}">
                  <a16:creationId xmlns:a16="http://schemas.microsoft.com/office/drawing/2014/main" id="{0172C999-453D-69F4-E836-BC1D8DC563A1}"/>
                </a:ext>
              </a:extLst>
            </p:cNvPr>
            <p:cNvSpPr>
              <a:spLocks noChangeArrowheads="1"/>
            </p:cNvSpPr>
            <p:nvPr/>
          </p:nvSpPr>
          <p:spPr bwMode="auto">
            <a:xfrm>
              <a:off x="192" y="2400"/>
              <a:ext cx="2448" cy="165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graphicFrame>
        <p:nvGraphicFramePr>
          <p:cNvPr id="1767468" name="Group 44">
            <a:extLst>
              <a:ext uri="{FF2B5EF4-FFF2-40B4-BE49-F238E27FC236}">
                <a16:creationId xmlns:a16="http://schemas.microsoft.com/office/drawing/2014/main" id="{FF0975EA-1D83-096D-F5EF-9E4963F93060}"/>
              </a:ext>
            </a:extLst>
          </p:cNvPr>
          <p:cNvGraphicFramePr>
            <a:graphicFrameLocks noGrp="1"/>
          </p:cNvGraphicFramePr>
          <p:nvPr>
            <p:extLst>
              <p:ext uri="{D42A27DB-BD31-4B8C-83A1-F6EECF244321}">
                <p14:modId xmlns:p14="http://schemas.microsoft.com/office/powerpoint/2010/main" val="1871081452"/>
              </p:ext>
            </p:extLst>
          </p:nvPr>
        </p:nvGraphicFramePr>
        <p:xfrm>
          <a:off x="152400" y="1524000"/>
          <a:ext cx="3886200" cy="2682024"/>
        </p:xfrm>
        <a:graphic>
          <a:graphicData uri="http://schemas.openxmlformats.org/drawingml/2006/table">
            <a:tbl>
              <a:tblPr>
                <a:tableStyleId>{616DA210-FB5B-4158-B5E0-FEB733F419BA}</a:tableStyleId>
              </a:tblPr>
              <a:tblGrid>
                <a:gridCol w="762000">
                  <a:extLst>
                    <a:ext uri="{9D8B030D-6E8A-4147-A177-3AD203B41FA5}">
                      <a16:colId xmlns:a16="http://schemas.microsoft.com/office/drawing/2014/main" val="20000"/>
                    </a:ext>
                  </a:extLst>
                </a:gridCol>
                <a:gridCol w="3124200">
                  <a:extLst>
                    <a:ext uri="{9D8B030D-6E8A-4147-A177-3AD203B41FA5}">
                      <a16:colId xmlns:a16="http://schemas.microsoft.com/office/drawing/2014/main" val="20001"/>
                    </a:ext>
                  </a:extLst>
                </a:gridCol>
              </a:tblGrid>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u="none" strike="noStrike" cap="none" normalizeH="0" baseline="0">
                          <a:ln>
                            <a:noFill/>
                          </a:ln>
                          <a:solidFill>
                            <a:schemeClr val="hlink"/>
                          </a:solidFill>
                          <a:effectLst/>
                          <a:latin typeface="Times New Roman" panose="02020603050405020304" pitchFamily="18" charset="0"/>
                          <a:cs typeface="Times New Roman" panose="02020603050405020304" pitchFamily="18" charset="0"/>
                        </a:rPr>
                        <a:t>Tid</a:t>
                      </a:r>
                      <a:endParaRPr kumimoji="0" lang="en-US" sz="2000" b="1" i="0" u="none" strike="noStrike" cap="none" normalizeH="0" baseline="0">
                        <a:ln>
                          <a:noFill/>
                        </a:ln>
                        <a:solidFill>
                          <a:schemeClr val="hlink"/>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u="none" strike="noStrike" cap="none" normalizeH="0" baseline="0" dirty="0">
                          <a:ln>
                            <a:noFill/>
                          </a:ln>
                          <a:solidFill>
                            <a:schemeClr val="hlink"/>
                          </a:solidFill>
                          <a:effectLst/>
                          <a:latin typeface="Times New Roman" panose="02020603050405020304" pitchFamily="18" charset="0"/>
                          <a:cs typeface="Times New Roman" panose="02020603050405020304" pitchFamily="18" charset="0"/>
                        </a:rPr>
                        <a:t>Items bought</a:t>
                      </a:r>
                      <a:endParaRPr kumimoji="0" lang="en-US" sz="2000" b="1" i="0" u="none" strike="noStrike" cap="none" normalizeH="0" baseline="0" dirty="0">
                        <a:ln>
                          <a:noFill/>
                        </a:ln>
                        <a:solidFill>
                          <a:schemeClr val="hlink"/>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0"/>
                  </a:ext>
                </a:extLst>
              </a:tr>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Beer, Nuts, Diaper</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1"/>
                  </a:ext>
                </a:extLst>
              </a:tr>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Beer, Coffee, Diaper</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2"/>
                  </a:ext>
                </a:extLst>
              </a:tr>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Beer, Diaper, Eggs</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3"/>
                  </a:ext>
                </a:extLst>
              </a:tr>
              <a:tr h="33524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Nuts, Eggs, Milk</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4"/>
                  </a:ext>
                </a:extLst>
              </a:tr>
              <a:tr h="33524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Nuts, Coffee, Diaper, Eggs, Milk</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CFCDED4F-BBAE-C7EE-3C68-0CA44F05E86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2B94535-18F1-4FDB-8F6E-40CC3428C6E2}" type="slidenum">
              <a:rPr lang="en-US" altLang="en-US" sz="1200"/>
              <a:pPr eaLnBrk="1" hangingPunct="1"/>
              <a:t>15</a:t>
            </a:fld>
            <a:endParaRPr lang="en-US" altLang="en-US" sz="1200"/>
          </a:p>
        </p:txBody>
      </p:sp>
      <p:sp>
        <p:nvSpPr>
          <p:cNvPr id="19459" name="Rectangle 2">
            <a:extLst>
              <a:ext uri="{FF2B5EF4-FFF2-40B4-BE49-F238E27FC236}">
                <a16:creationId xmlns:a16="http://schemas.microsoft.com/office/drawing/2014/main" id="{6533A689-5F4D-EF0F-31FA-0488C7735671}"/>
              </a:ext>
            </a:extLst>
          </p:cNvPr>
          <p:cNvSpPr>
            <a:spLocks noGrp="1" noChangeArrowheads="1"/>
          </p:cNvSpPr>
          <p:nvPr>
            <p:ph type="title"/>
          </p:nvPr>
        </p:nvSpPr>
        <p:spPr>
          <a:xfrm>
            <a:off x="685800" y="228600"/>
            <a:ext cx="8001000" cy="419489"/>
          </a:xfrm>
        </p:spPr>
        <p:txBody>
          <a:bodyPr>
            <a:normAutofit fontScale="90000"/>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Basic Concepts: Association Rules</a:t>
            </a:r>
          </a:p>
        </p:txBody>
      </p:sp>
      <p:sp>
        <p:nvSpPr>
          <p:cNvPr id="19460" name="Rectangle 3">
            <a:extLst>
              <a:ext uri="{FF2B5EF4-FFF2-40B4-BE49-F238E27FC236}">
                <a16:creationId xmlns:a16="http://schemas.microsoft.com/office/drawing/2014/main" id="{F346689F-5F72-0655-7C1A-7904B5A297CC}"/>
              </a:ext>
            </a:extLst>
          </p:cNvPr>
          <p:cNvSpPr>
            <a:spLocks noGrp="1" noChangeArrowheads="1"/>
          </p:cNvSpPr>
          <p:nvPr>
            <p:ph type="body" idx="1"/>
          </p:nvPr>
        </p:nvSpPr>
        <p:spPr>
          <a:xfrm>
            <a:off x="4364755" y="918295"/>
            <a:ext cx="4495798" cy="2987672"/>
          </a:xfrm>
        </p:spPr>
        <p:txBody>
          <a:bodyPr>
            <a:noAutofit/>
          </a:bodyPr>
          <a:lstStyle/>
          <a:p>
            <a:pPr marL="457200" indent="-457200" eaLnBrk="1" hangingPunct="1"/>
            <a:r>
              <a:rPr lang="en-US" altLang="en-US" sz="1800" dirty="0">
                <a:latin typeface="Times New Roman" panose="02020603050405020304" pitchFamily="18" charset="0"/>
                <a:cs typeface="Times New Roman" panose="02020603050405020304" pitchFamily="18" charset="0"/>
              </a:rPr>
              <a:t>Find all the rules </a:t>
            </a:r>
            <a:r>
              <a:rPr lang="en-US" altLang="en-US" sz="1800" i="1" dirty="0">
                <a:latin typeface="Times New Roman" panose="02020603050405020304" pitchFamily="18" charset="0"/>
                <a:cs typeface="Times New Roman" panose="02020603050405020304" pitchFamily="18" charset="0"/>
              </a:rPr>
              <a:t>X </a:t>
            </a:r>
            <a:r>
              <a:rPr lang="en-US" altLang="en-US" sz="18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1800" i="1" dirty="0">
                <a:latin typeface="Times New Roman" panose="02020603050405020304" pitchFamily="18" charset="0"/>
                <a:cs typeface="Times New Roman" panose="02020603050405020304" pitchFamily="18" charset="0"/>
                <a:sym typeface="Wingdings" panose="05000000000000000000" pitchFamily="2" charset="2"/>
              </a:rPr>
              <a:t>Y</a:t>
            </a:r>
            <a:r>
              <a:rPr lang="en-US" altLang="en-US" sz="18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1800" dirty="0">
                <a:latin typeface="Times New Roman" panose="02020603050405020304" pitchFamily="18" charset="0"/>
                <a:cs typeface="Times New Roman" panose="02020603050405020304" pitchFamily="18" charset="0"/>
              </a:rPr>
              <a:t>with minimum support and confidence</a:t>
            </a:r>
            <a:endParaRPr lang="en-US" altLang="en-US" sz="1800" dirty="0">
              <a:latin typeface="Times New Roman" panose="02020603050405020304" pitchFamily="18" charset="0"/>
              <a:cs typeface="Times New Roman" panose="02020603050405020304" pitchFamily="18" charset="0"/>
              <a:sym typeface="Symbol" panose="05050102010706020507" pitchFamily="18" charset="2"/>
            </a:endParaRPr>
          </a:p>
          <a:p>
            <a:pPr marL="914400" lvl="1" indent="-457200" eaLnBrk="1" hangingPunct="1"/>
            <a:r>
              <a:rPr lang="en-US" altLang="en-US" sz="1800"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support</a:t>
            </a:r>
            <a:r>
              <a:rPr lang="en-US" altLang="en-US" sz="18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1800" i="1" dirty="0">
                <a:latin typeface="Times New Roman" panose="02020603050405020304" pitchFamily="18" charset="0"/>
                <a:cs typeface="Times New Roman" panose="02020603050405020304" pitchFamily="18" charset="0"/>
                <a:sym typeface="Symbol" panose="05050102010706020507" pitchFamily="18" charset="2"/>
              </a:rPr>
              <a:t>s</a:t>
            </a:r>
            <a:r>
              <a:rPr lang="en-US" altLang="en-US" sz="18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18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probability</a:t>
            </a:r>
            <a:r>
              <a:rPr lang="en-US" altLang="en-US" sz="1800" dirty="0">
                <a:latin typeface="Times New Roman" panose="02020603050405020304" pitchFamily="18" charset="0"/>
                <a:cs typeface="Times New Roman" panose="02020603050405020304" pitchFamily="18" charset="0"/>
                <a:sym typeface="Symbol" panose="05050102010706020507" pitchFamily="18" charset="2"/>
              </a:rPr>
              <a:t> that a transaction contains X and Y</a:t>
            </a:r>
          </a:p>
          <a:p>
            <a:pPr marL="914400" lvl="1" indent="-457200" eaLnBrk="1" hangingPunct="1"/>
            <a:r>
              <a:rPr lang="en-US" altLang="en-US" sz="1800"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confidence</a:t>
            </a:r>
            <a:r>
              <a:rPr lang="en-US" altLang="en-US" sz="18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1800" i="1" dirty="0">
                <a:latin typeface="Times New Roman" panose="02020603050405020304" pitchFamily="18" charset="0"/>
                <a:cs typeface="Times New Roman" panose="02020603050405020304" pitchFamily="18" charset="0"/>
                <a:sym typeface="Symbol" panose="05050102010706020507" pitchFamily="18" charset="2"/>
              </a:rPr>
              <a:t>c,</a:t>
            </a:r>
            <a:r>
              <a:rPr lang="en-US" altLang="en-US" sz="18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1800"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conditional probability</a:t>
            </a:r>
            <a:r>
              <a:rPr lang="en-US" altLang="en-US" sz="1800" dirty="0">
                <a:latin typeface="Times New Roman" panose="02020603050405020304" pitchFamily="18" charset="0"/>
                <a:cs typeface="Times New Roman" panose="02020603050405020304" pitchFamily="18" charset="0"/>
                <a:sym typeface="Symbol" panose="05050102010706020507" pitchFamily="18" charset="2"/>
              </a:rPr>
              <a:t> that a transaction having X also contains </a:t>
            </a:r>
            <a:r>
              <a:rPr lang="en-US" altLang="en-US" sz="1800" i="1" dirty="0">
                <a:latin typeface="Times New Roman" panose="02020603050405020304" pitchFamily="18" charset="0"/>
                <a:cs typeface="Times New Roman" panose="02020603050405020304" pitchFamily="18" charset="0"/>
                <a:sym typeface="Symbol" panose="05050102010706020507" pitchFamily="18" charset="2"/>
              </a:rPr>
              <a:t>Y</a:t>
            </a:r>
          </a:p>
          <a:p>
            <a:pPr marL="457200" indent="-457200" eaLnBrk="1" hangingPunct="1">
              <a:buFont typeface="Wingdings" panose="05000000000000000000" pitchFamily="2" charset="2"/>
              <a:buNone/>
            </a:pPr>
            <a:r>
              <a:rPr lang="en-US" altLang="en-US" sz="1800" i="1" dirty="0">
                <a:latin typeface="Times New Roman" panose="02020603050405020304" pitchFamily="18" charset="0"/>
                <a:cs typeface="Times New Roman" panose="02020603050405020304" pitchFamily="18" charset="0"/>
              </a:rPr>
              <a:t>Let  </a:t>
            </a:r>
            <a:r>
              <a:rPr lang="en-US" altLang="en-US" sz="1800" i="1" dirty="0" err="1">
                <a:latin typeface="Times New Roman" panose="02020603050405020304" pitchFamily="18" charset="0"/>
                <a:cs typeface="Times New Roman" panose="02020603050405020304" pitchFamily="18" charset="0"/>
              </a:rPr>
              <a:t>minsup</a:t>
            </a:r>
            <a:r>
              <a:rPr lang="en-US" altLang="en-US" sz="1800" i="1" dirty="0">
                <a:latin typeface="Times New Roman" panose="02020603050405020304" pitchFamily="18" charset="0"/>
                <a:cs typeface="Times New Roman" panose="02020603050405020304" pitchFamily="18" charset="0"/>
              </a:rPr>
              <a:t> = 50%, </a:t>
            </a:r>
            <a:r>
              <a:rPr lang="en-US" altLang="en-US" sz="1800" i="1" dirty="0" err="1">
                <a:latin typeface="Times New Roman" panose="02020603050405020304" pitchFamily="18" charset="0"/>
                <a:cs typeface="Times New Roman" panose="02020603050405020304" pitchFamily="18" charset="0"/>
              </a:rPr>
              <a:t>minconf</a:t>
            </a:r>
            <a:r>
              <a:rPr lang="en-US" altLang="en-US" sz="1800" i="1" dirty="0">
                <a:latin typeface="Times New Roman" panose="02020603050405020304" pitchFamily="18" charset="0"/>
                <a:cs typeface="Times New Roman" panose="02020603050405020304" pitchFamily="18" charset="0"/>
              </a:rPr>
              <a:t> = 50%</a:t>
            </a:r>
          </a:p>
          <a:p>
            <a:pPr marL="457200" indent="-457200" eaLnBrk="1" hangingPunct="1">
              <a:buFont typeface="Wingdings" panose="05000000000000000000" pitchFamily="2" charset="2"/>
              <a:buNone/>
            </a:pPr>
            <a:r>
              <a:rPr lang="en-US" altLang="en-US" sz="1800" i="1" dirty="0">
                <a:latin typeface="Times New Roman" panose="02020603050405020304" pitchFamily="18" charset="0"/>
                <a:cs typeface="Times New Roman" panose="02020603050405020304" pitchFamily="18" charset="0"/>
              </a:rPr>
              <a:t>Freq. Pat.: </a:t>
            </a:r>
            <a:r>
              <a:rPr lang="en-US" altLang="en-US" sz="1800" dirty="0">
                <a:latin typeface="Times New Roman" panose="02020603050405020304" pitchFamily="18" charset="0"/>
                <a:cs typeface="Times New Roman" panose="02020603050405020304" pitchFamily="18" charset="0"/>
              </a:rPr>
              <a:t>Beer:3, Nuts:3, Diaper:4, Eggs:3, {Beer, Diaper}:3</a:t>
            </a:r>
          </a:p>
        </p:txBody>
      </p:sp>
      <p:sp>
        <p:nvSpPr>
          <p:cNvPr id="19492" name="Rectangle 38">
            <a:extLst>
              <a:ext uri="{FF2B5EF4-FFF2-40B4-BE49-F238E27FC236}">
                <a16:creationId xmlns:a16="http://schemas.microsoft.com/office/drawing/2014/main" id="{896A8889-7461-33E0-2E1C-33F22E59B2E8}"/>
              </a:ext>
            </a:extLst>
          </p:cNvPr>
          <p:cNvSpPr>
            <a:spLocks noChangeArrowheads="1"/>
          </p:cNvSpPr>
          <p:nvPr/>
        </p:nvSpPr>
        <p:spPr bwMode="auto">
          <a:xfrm>
            <a:off x="4190999" y="4724400"/>
            <a:ext cx="4343401" cy="1683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sz="2400">
                <a:solidFill>
                  <a:schemeClr val="tx1"/>
                </a:solidFill>
                <a:latin typeface="Tahoma" panose="020B0604030504040204" pitchFamily="34" charset="0"/>
              </a:defRPr>
            </a:lvl1pPr>
            <a:lvl2pPr marL="914400" indent="-45720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80000"/>
              </a:lnSpc>
              <a:spcBef>
                <a:spcPct val="20000"/>
              </a:spcBef>
              <a:buClr>
                <a:schemeClr val="folHlink"/>
              </a:buClr>
              <a:buSzPct val="60000"/>
              <a:buFont typeface="Wingdings" panose="05000000000000000000" pitchFamily="2" charset="2"/>
              <a:buChar char="n"/>
            </a:pPr>
            <a:r>
              <a:rPr lang="en-US" altLang="en-US" sz="2000" dirty="0">
                <a:latin typeface="Times New Roman" panose="02020603050405020304" pitchFamily="18" charset="0"/>
                <a:cs typeface="Times New Roman" panose="02020603050405020304" pitchFamily="18" charset="0"/>
              </a:rPr>
              <a:t>Association rules: (many more!)</a:t>
            </a:r>
          </a:p>
          <a:p>
            <a:pPr lvl="1" eaLnBrk="1" hangingPunct="1">
              <a:lnSpc>
                <a:spcPct val="80000"/>
              </a:lnSpc>
              <a:spcBef>
                <a:spcPct val="20000"/>
              </a:spcBef>
              <a:buClr>
                <a:schemeClr val="hlink"/>
              </a:buClr>
              <a:buSzPct val="55000"/>
              <a:buFont typeface="Wingdings" panose="05000000000000000000" pitchFamily="2" charset="2"/>
              <a:buChar char="n"/>
            </a:pPr>
            <a:r>
              <a:rPr lang="en-US" altLang="en-US" sz="2000" i="1" dirty="0">
                <a:latin typeface="Times New Roman" panose="02020603050405020304" pitchFamily="18" charset="0"/>
                <a:cs typeface="Times New Roman" panose="02020603050405020304" pitchFamily="18" charset="0"/>
              </a:rPr>
              <a:t>Beer </a:t>
            </a:r>
            <a:r>
              <a:rPr lang="en-US" altLang="en-US" sz="2000"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sz="2000" i="1" dirty="0">
                <a:latin typeface="Times New Roman" panose="02020603050405020304" pitchFamily="18" charset="0"/>
                <a:cs typeface="Times New Roman" panose="02020603050405020304" pitchFamily="18" charset="0"/>
                <a:sym typeface="Symbol" panose="05050102010706020507" pitchFamily="18" charset="2"/>
              </a:rPr>
              <a:t> Diaper  </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(60%, 100%)</a:t>
            </a:r>
          </a:p>
          <a:p>
            <a:pPr lvl="1" eaLnBrk="1" hangingPunct="1">
              <a:lnSpc>
                <a:spcPct val="80000"/>
              </a:lnSpc>
              <a:spcBef>
                <a:spcPct val="20000"/>
              </a:spcBef>
              <a:buClr>
                <a:schemeClr val="hlink"/>
              </a:buClr>
              <a:buSzPct val="55000"/>
              <a:buFont typeface="Wingdings" panose="05000000000000000000" pitchFamily="2" charset="2"/>
              <a:buChar char="n"/>
            </a:pP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P(B)=3/5=0.6 and P(D/B)=(3/5)/(3/5)</a:t>
            </a:r>
          </a:p>
          <a:p>
            <a:pPr lvl="1" eaLnBrk="1" hangingPunct="1">
              <a:lnSpc>
                <a:spcPct val="80000"/>
              </a:lnSpc>
              <a:spcBef>
                <a:spcPct val="20000"/>
              </a:spcBef>
              <a:buClr>
                <a:schemeClr val="hlink"/>
              </a:buClr>
              <a:buSzPct val="55000"/>
              <a:buFont typeface="Wingdings" panose="05000000000000000000" pitchFamily="2" charset="2"/>
              <a:buChar char="n"/>
            </a:pPr>
            <a:r>
              <a:rPr lang="en-US" altLang="en-US" sz="2000" i="1" dirty="0">
                <a:latin typeface="Times New Roman" panose="02020603050405020304" pitchFamily="18" charset="0"/>
                <a:cs typeface="Times New Roman" panose="02020603050405020304" pitchFamily="18" charset="0"/>
              </a:rPr>
              <a:t>Diaper </a:t>
            </a:r>
            <a:r>
              <a:rPr lang="en-US" altLang="en-US" sz="2000"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sz="2000" i="1" dirty="0">
                <a:latin typeface="Times New Roman" panose="02020603050405020304" pitchFamily="18" charset="0"/>
                <a:cs typeface="Times New Roman" panose="02020603050405020304" pitchFamily="18" charset="0"/>
                <a:sym typeface="Symbol" panose="05050102010706020507" pitchFamily="18" charset="2"/>
              </a:rPr>
              <a:t> Beer  </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(60%, 75%)</a:t>
            </a:r>
          </a:p>
          <a:p>
            <a:pPr lvl="1" eaLnBrk="1" hangingPunct="1">
              <a:lnSpc>
                <a:spcPct val="80000"/>
              </a:lnSpc>
              <a:spcBef>
                <a:spcPct val="20000"/>
              </a:spcBef>
              <a:buClr>
                <a:schemeClr val="hlink"/>
              </a:buClr>
              <a:buSzPct val="55000"/>
              <a:buFont typeface="Wingdings" panose="05000000000000000000" pitchFamily="2" charset="2"/>
              <a:buChar char="n"/>
            </a:pP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3/5=0.6 and P(B/D)=(3/5)/(4/5)</a:t>
            </a:r>
          </a:p>
          <a:p>
            <a:pPr lvl="1" eaLnBrk="1" hangingPunct="1">
              <a:lnSpc>
                <a:spcPct val="80000"/>
              </a:lnSpc>
              <a:spcBef>
                <a:spcPct val="20000"/>
              </a:spcBef>
              <a:buClr>
                <a:schemeClr val="hlink"/>
              </a:buClr>
              <a:buSzPct val="55000"/>
              <a:buFont typeface="Wingdings" panose="05000000000000000000" pitchFamily="2" charset="2"/>
              <a:buChar char="n"/>
            </a:pPr>
            <a:endParaRPr lang="en-US" altLang="en-US" sz="2000" dirty="0">
              <a:latin typeface="Times New Roman" panose="02020603050405020304" pitchFamily="18" charset="0"/>
              <a:cs typeface="Times New Roman" panose="02020603050405020304" pitchFamily="18" charset="0"/>
              <a:sym typeface="Symbol" panose="05050102010706020507" pitchFamily="18" charset="2"/>
            </a:endParaRPr>
          </a:p>
        </p:txBody>
      </p:sp>
      <p:grpSp>
        <p:nvGrpSpPr>
          <p:cNvPr id="2" name="Group 5">
            <a:extLst>
              <a:ext uri="{FF2B5EF4-FFF2-40B4-BE49-F238E27FC236}">
                <a16:creationId xmlns:a16="http://schemas.microsoft.com/office/drawing/2014/main" id="{02843E2F-2235-9659-E96C-E1274368F728}"/>
              </a:ext>
            </a:extLst>
          </p:cNvPr>
          <p:cNvGrpSpPr>
            <a:grpSpLocks/>
          </p:cNvGrpSpPr>
          <p:nvPr/>
        </p:nvGrpSpPr>
        <p:grpSpPr bwMode="auto">
          <a:xfrm>
            <a:off x="159776" y="4018756"/>
            <a:ext cx="3886200" cy="2630488"/>
            <a:chOff x="192" y="2400"/>
            <a:chExt cx="2448" cy="1657"/>
          </a:xfrm>
        </p:grpSpPr>
        <p:sp>
          <p:nvSpPr>
            <p:cNvPr id="3" name="Oval 6">
              <a:extLst>
                <a:ext uri="{FF2B5EF4-FFF2-40B4-BE49-F238E27FC236}">
                  <a16:creationId xmlns:a16="http://schemas.microsoft.com/office/drawing/2014/main" id="{08EFC22A-80C9-E3AB-0AF5-38DDD9750766}"/>
                </a:ext>
              </a:extLst>
            </p:cNvPr>
            <p:cNvSpPr>
              <a:spLocks noChangeArrowheads="1"/>
            </p:cNvSpPr>
            <p:nvPr/>
          </p:nvSpPr>
          <p:spPr bwMode="auto">
            <a:xfrm>
              <a:off x="384" y="2736"/>
              <a:ext cx="1200" cy="864"/>
            </a:xfrm>
            <a:prstGeom prst="ellipse">
              <a:avLst/>
            </a:prstGeom>
            <a:solidFill>
              <a:srgbClr val="FFFF00"/>
            </a:solidFill>
            <a:ln w="25400">
              <a:solidFill>
                <a:schemeClr val="tx2"/>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 name="Oval 7">
              <a:extLst>
                <a:ext uri="{FF2B5EF4-FFF2-40B4-BE49-F238E27FC236}">
                  <a16:creationId xmlns:a16="http://schemas.microsoft.com/office/drawing/2014/main" id="{7E8622FB-A379-FBD6-110A-A1F73F2B97C8}"/>
                </a:ext>
              </a:extLst>
            </p:cNvPr>
            <p:cNvSpPr>
              <a:spLocks noChangeArrowheads="1"/>
            </p:cNvSpPr>
            <p:nvPr/>
          </p:nvSpPr>
          <p:spPr bwMode="auto">
            <a:xfrm>
              <a:off x="1008" y="2736"/>
              <a:ext cx="1200" cy="960"/>
            </a:xfrm>
            <a:prstGeom prst="ellipse">
              <a:avLst/>
            </a:prstGeom>
            <a:solidFill>
              <a:srgbClr val="99CCFF">
                <a:alpha val="50195"/>
              </a:srgbClr>
            </a:solidFill>
            <a:ln w="25400">
              <a:solidFill>
                <a:schemeClr val="hlink"/>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 name="Line 8">
              <a:extLst>
                <a:ext uri="{FF2B5EF4-FFF2-40B4-BE49-F238E27FC236}">
                  <a16:creationId xmlns:a16="http://schemas.microsoft.com/office/drawing/2014/main" id="{36894315-3059-E2A6-0BA4-19B994FCDD99}"/>
                </a:ext>
              </a:extLst>
            </p:cNvPr>
            <p:cNvSpPr>
              <a:spLocks noChangeShapeType="1"/>
            </p:cNvSpPr>
            <p:nvPr/>
          </p:nvSpPr>
          <p:spPr bwMode="auto">
            <a:xfrm flipH="1">
              <a:off x="576" y="3168"/>
              <a:ext cx="144" cy="48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6" name="Line 9">
              <a:extLst>
                <a:ext uri="{FF2B5EF4-FFF2-40B4-BE49-F238E27FC236}">
                  <a16:creationId xmlns:a16="http://schemas.microsoft.com/office/drawing/2014/main" id="{3C6950F6-9C9C-5202-53E9-B6E970504543}"/>
                </a:ext>
              </a:extLst>
            </p:cNvPr>
            <p:cNvSpPr>
              <a:spLocks noChangeShapeType="1"/>
            </p:cNvSpPr>
            <p:nvPr/>
          </p:nvSpPr>
          <p:spPr bwMode="auto">
            <a:xfrm flipV="1">
              <a:off x="2016" y="2832"/>
              <a:ext cx="144" cy="43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7" name="Line 10">
              <a:extLst>
                <a:ext uri="{FF2B5EF4-FFF2-40B4-BE49-F238E27FC236}">
                  <a16:creationId xmlns:a16="http://schemas.microsoft.com/office/drawing/2014/main" id="{29F26E6C-AD96-E85F-38D6-CC25CF73C7EE}"/>
                </a:ext>
              </a:extLst>
            </p:cNvPr>
            <p:cNvSpPr>
              <a:spLocks noChangeShapeType="1"/>
            </p:cNvSpPr>
            <p:nvPr/>
          </p:nvSpPr>
          <p:spPr bwMode="auto">
            <a:xfrm flipH="1" flipV="1">
              <a:off x="1440" y="2592"/>
              <a:ext cx="0" cy="576"/>
            </a:xfrm>
            <a:prstGeom prst="line">
              <a:avLst/>
            </a:prstGeom>
            <a:noFill/>
            <a:ln w="9525">
              <a:solidFill>
                <a:srgbClr val="008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 name="Text Box 11">
              <a:extLst>
                <a:ext uri="{FF2B5EF4-FFF2-40B4-BE49-F238E27FC236}">
                  <a16:creationId xmlns:a16="http://schemas.microsoft.com/office/drawing/2014/main" id="{A938537E-A2F2-4EFD-9311-101C17D02D9F}"/>
                </a:ext>
              </a:extLst>
            </p:cNvPr>
            <p:cNvSpPr txBox="1">
              <a:spLocks noChangeArrowheads="1"/>
            </p:cNvSpPr>
            <p:nvPr/>
          </p:nvSpPr>
          <p:spPr bwMode="auto">
            <a:xfrm>
              <a:off x="1824" y="2448"/>
              <a:ext cx="768"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110000"/>
                </a:lnSpc>
              </a:pPr>
              <a:r>
                <a:rPr lang="en-US" altLang="en-US" sz="1600" b="1">
                  <a:solidFill>
                    <a:schemeClr val="hlink"/>
                  </a:solidFill>
                  <a:latin typeface="Times New Roman" panose="02020603050405020304" pitchFamily="18" charset="0"/>
                </a:rPr>
                <a:t>Customer</a:t>
              </a:r>
            </a:p>
            <a:p>
              <a:pPr>
                <a:lnSpc>
                  <a:spcPct val="110000"/>
                </a:lnSpc>
              </a:pPr>
              <a:r>
                <a:rPr lang="en-US" altLang="en-US" sz="1600" b="1">
                  <a:solidFill>
                    <a:schemeClr val="hlink"/>
                  </a:solidFill>
                  <a:latin typeface="Times New Roman" panose="02020603050405020304" pitchFamily="18" charset="0"/>
                </a:rPr>
                <a:t>buys diaper</a:t>
              </a:r>
              <a:endParaRPr lang="en-US" altLang="en-US" sz="1800" b="1" u="sng">
                <a:latin typeface="Times New Roman" panose="02020603050405020304" pitchFamily="18" charset="0"/>
              </a:endParaRPr>
            </a:p>
          </p:txBody>
        </p:sp>
        <p:sp>
          <p:nvSpPr>
            <p:cNvPr id="9" name="Text Box 12">
              <a:extLst>
                <a:ext uri="{FF2B5EF4-FFF2-40B4-BE49-F238E27FC236}">
                  <a16:creationId xmlns:a16="http://schemas.microsoft.com/office/drawing/2014/main" id="{DF5C51DE-979D-356C-A25D-A8A0F7D8B24A}"/>
                </a:ext>
              </a:extLst>
            </p:cNvPr>
            <p:cNvSpPr txBox="1">
              <a:spLocks noChangeArrowheads="1"/>
            </p:cNvSpPr>
            <p:nvPr/>
          </p:nvSpPr>
          <p:spPr bwMode="auto">
            <a:xfrm>
              <a:off x="960" y="2400"/>
              <a:ext cx="65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110000"/>
                </a:lnSpc>
              </a:pPr>
              <a:r>
                <a:rPr lang="en-US" altLang="en-US" sz="1600" b="1">
                  <a:solidFill>
                    <a:srgbClr val="5FA180"/>
                  </a:solidFill>
                  <a:latin typeface="Times New Roman" panose="02020603050405020304" pitchFamily="18" charset="0"/>
                </a:rPr>
                <a:t>Customer</a:t>
              </a:r>
            </a:p>
            <a:p>
              <a:pPr>
                <a:lnSpc>
                  <a:spcPct val="110000"/>
                </a:lnSpc>
              </a:pPr>
              <a:r>
                <a:rPr lang="en-US" altLang="en-US" sz="1600" b="1">
                  <a:solidFill>
                    <a:srgbClr val="5FA180"/>
                  </a:solidFill>
                  <a:latin typeface="Times New Roman" panose="02020603050405020304" pitchFamily="18" charset="0"/>
                </a:rPr>
                <a:t>buys both</a:t>
              </a:r>
              <a:endParaRPr lang="en-US" altLang="en-US" sz="1800" b="1" u="sng">
                <a:solidFill>
                  <a:srgbClr val="5FA180"/>
                </a:solidFill>
                <a:latin typeface="Times New Roman" panose="02020603050405020304" pitchFamily="18" charset="0"/>
              </a:endParaRPr>
            </a:p>
          </p:txBody>
        </p:sp>
        <p:sp>
          <p:nvSpPr>
            <p:cNvPr id="10" name="Text Box 13">
              <a:extLst>
                <a:ext uri="{FF2B5EF4-FFF2-40B4-BE49-F238E27FC236}">
                  <a16:creationId xmlns:a16="http://schemas.microsoft.com/office/drawing/2014/main" id="{18B08AA9-7153-EF4B-F764-53733851662E}"/>
                </a:ext>
              </a:extLst>
            </p:cNvPr>
            <p:cNvSpPr txBox="1">
              <a:spLocks noChangeArrowheads="1"/>
            </p:cNvSpPr>
            <p:nvPr/>
          </p:nvSpPr>
          <p:spPr bwMode="auto">
            <a:xfrm>
              <a:off x="384" y="3600"/>
              <a:ext cx="657"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110000"/>
                </a:lnSpc>
              </a:pPr>
              <a:r>
                <a:rPr lang="en-US" altLang="en-US" sz="1600" b="1">
                  <a:solidFill>
                    <a:schemeClr val="tx2"/>
                  </a:solidFill>
                  <a:latin typeface="Times New Roman" panose="02020603050405020304" pitchFamily="18" charset="0"/>
                </a:rPr>
                <a:t>Customer</a:t>
              </a:r>
            </a:p>
            <a:p>
              <a:pPr>
                <a:lnSpc>
                  <a:spcPct val="110000"/>
                </a:lnSpc>
              </a:pPr>
              <a:r>
                <a:rPr lang="en-US" altLang="en-US" sz="1600" b="1">
                  <a:solidFill>
                    <a:schemeClr val="tx2"/>
                  </a:solidFill>
                  <a:latin typeface="Times New Roman" panose="02020603050405020304" pitchFamily="18" charset="0"/>
                </a:rPr>
                <a:t>buys beer</a:t>
              </a:r>
              <a:endParaRPr lang="en-US" altLang="en-US" sz="1800" b="1" u="sng">
                <a:latin typeface="Times New Roman" panose="02020603050405020304" pitchFamily="18" charset="0"/>
              </a:endParaRPr>
            </a:p>
          </p:txBody>
        </p:sp>
        <p:sp>
          <p:nvSpPr>
            <p:cNvPr id="11" name="Rectangle 14">
              <a:extLst>
                <a:ext uri="{FF2B5EF4-FFF2-40B4-BE49-F238E27FC236}">
                  <a16:creationId xmlns:a16="http://schemas.microsoft.com/office/drawing/2014/main" id="{73B053F4-AE80-DEE1-C3DA-14AA1D5B21C7}"/>
                </a:ext>
              </a:extLst>
            </p:cNvPr>
            <p:cNvSpPr>
              <a:spLocks noChangeArrowheads="1"/>
            </p:cNvSpPr>
            <p:nvPr/>
          </p:nvSpPr>
          <p:spPr bwMode="auto">
            <a:xfrm>
              <a:off x="192" y="2400"/>
              <a:ext cx="2448" cy="165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graphicFrame>
        <p:nvGraphicFramePr>
          <p:cNvPr id="13" name="Group 44">
            <a:extLst>
              <a:ext uri="{FF2B5EF4-FFF2-40B4-BE49-F238E27FC236}">
                <a16:creationId xmlns:a16="http://schemas.microsoft.com/office/drawing/2014/main" id="{4760A0F6-6742-8A81-1585-EBE746CB92B5}"/>
              </a:ext>
            </a:extLst>
          </p:cNvPr>
          <p:cNvGraphicFramePr>
            <a:graphicFrameLocks noGrp="1"/>
          </p:cNvGraphicFramePr>
          <p:nvPr>
            <p:extLst>
              <p:ext uri="{D42A27DB-BD31-4B8C-83A1-F6EECF244321}">
                <p14:modId xmlns:p14="http://schemas.microsoft.com/office/powerpoint/2010/main" val="1031071115"/>
              </p:ext>
            </p:extLst>
          </p:nvPr>
        </p:nvGraphicFramePr>
        <p:xfrm>
          <a:off x="152401" y="800489"/>
          <a:ext cx="3886200" cy="2682024"/>
        </p:xfrm>
        <a:graphic>
          <a:graphicData uri="http://schemas.openxmlformats.org/drawingml/2006/table">
            <a:tbl>
              <a:tblPr>
                <a:tableStyleId>{616DA210-FB5B-4158-B5E0-FEB733F419BA}</a:tableStyleId>
              </a:tblPr>
              <a:tblGrid>
                <a:gridCol w="762000">
                  <a:extLst>
                    <a:ext uri="{9D8B030D-6E8A-4147-A177-3AD203B41FA5}">
                      <a16:colId xmlns:a16="http://schemas.microsoft.com/office/drawing/2014/main" val="20000"/>
                    </a:ext>
                  </a:extLst>
                </a:gridCol>
                <a:gridCol w="3124200">
                  <a:extLst>
                    <a:ext uri="{9D8B030D-6E8A-4147-A177-3AD203B41FA5}">
                      <a16:colId xmlns:a16="http://schemas.microsoft.com/office/drawing/2014/main" val="20001"/>
                    </a:ext>
                  </a:extLst>
                </a:gridCol>
              </a:tblGrid>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u="none" strike="noStrike" cap="none" normalizeH="0" baseline="0">
                          <a:ln>
                            <a:noFill/>
                          </a:ln>
                          <a:solidFill>
                            <a:schemeClr val="hlink"/>
                          </a:solidFill>
                          <a:effectLst/>
                          <a:latin typeface="Times New Roman" panose="02020603050405020304" pitchFamily="18" charset="0"/>
                          <a:cs typeface="Times New Roman" panose="02020603050405020304" pitchFamily="18" charset="0"/>
                        </a:rPr>
                        <a:t>Tid</a:t>
                      </a:r>
                      <a:endParaRPr kumimoji="0" lang="en-US" sz="2000" b="1" i="0" u="none" strike="noStrike" cap="none" normalizeH="0" baseline="0">
                        <a:ln>
                          <a:noFill/>
                        </a:ln>
                        <a:solidFill>
                          <a:schemeClr val="hlink"/>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u="none" strike="noStrike" cap="none" normalizeH="0" baseline="0" dirty="0">
                          <a:ln>
                            <a:noFill/>
                          </a:ln>
                          <a:solidFill>
                            <a:schemeClr val="hlink"/>
                          </a:solidFill>
                          <a:effectLst/>
                          <a:latin typeface="Times New Roman" panose="02020603050405020304" pitchFamily="18" charset="0"/>
                          <a:cs typeface="Times New Roman" panose="02020603050405020304" pitchFamily="18" charset="0"/>
                        </a:rPr>
                        <a:t>Items bought</a:t>
                      </a:r>
                      <a:endParaRPr kumimoji="0" lang="en-US" sz="2000" b="1" i="0" u="none" strike="noStrike" cap="none" normalizeH="0" baseline="0" dirty="0">
                        <a:ln>
                          <a:noFill/>
                        </a:ln>
                        <a:solidFill>
                          <a:schemeClr val="hlink"/>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0"/>
                  </a:ext>
                </a:extLst>
              </a:tr>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Beer, Nuts, Diaper</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1"/>
                  </a:ext>
                </a:extLst>
              </a:tr>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Beer, Coffee, Diaper</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2"/>
                  </a:ext>
                </a:extLst>
              </a:tr>
              <a:tr h="36498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Beer, Diaper, Eggs</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3"/>
                  </a:ext>
                </a:extLst>
              </a:tr>
              <a:tr h="33524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Nuts, Eggs, Milk</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4"/>
                  </a:ext>
                </a:extLst>
              </a:tr>
              <a:tr h="33524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50</a:t>
                      </a:r>
                      <a:endParaRPr kumimoji="0" 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Nuts, Coffee, Diaper, Eggs, Milk</a:t>
                      </a: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02" marB="45702" horzOverflow="overflow"/>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E935E669-0718-907E-91A2-562993F3D13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37CCF2B9-D440-48B3-9257-54B3335BD431}" type="slidenum">
              <a:rPr lang="en-US" altLang="en-US" sz="1200"/>
              <a:pPr eaLnBrk="1" hangingPunct="1"/>
              <a:t>16</a:t>
            </a:fld>
            <a:endParaRPr lang="en-US" altLang="en-US" sz="1200"/>
          </a:p>
        </p:txBody>
      </p:sp>
      <p:sp>
        <p:nvSpPr>
          <p:cNvPr id="24579" name="Rectangle 2">
            <a:extLst>
              <a:ext uri="{FF2B5EF4-FFF2-40B4-BE49-F238E27FC236}">
                <a16:creationId xmlns:a16="http://schemas.microsoft.com/office/drawing/2014/main" id="{62E9896D-AD8F-77D2-EF6A-96B22B99264A}"/>
              </a:ext>
            </a:extLst>
          </p:cNvPr>
          <p:cNvSpPr>
            <a:spLocks noGrp="1" noChangeArrowheads="1"/>
          </p:cNvSpPr>
          <p:nvPr>
            <p:ph type="title"/>
          </p:nvPr>
        </p:nvSpPr>
        <p:spPr>
          <a:xfrm>
            <a:off x="0" y="381000"/>
            <a:ext cx="9144000" cy="762000"/>
          </a:xfrm>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Scalable Frequent Itemset Mining Methods</a:t>
            </a:r>
          </a:p>
        </p:txBody>
      </p:sp>
      <p:sp>
        <p:nvSpPr>
          <p:cNvPr id="24580" name="Rectangle 3">
            <a:extLst>
              <a:ext uri="{FF2B5EF4-FFF2-40B4-BE49-F238E27FC236}">
                <a16:creationId xmlns:a16="http://schemas.microsoft.com/office/drawing/2014/main" id="{FCA3E997-C679-ECE7-65D5-55C9111E0CE8}"/>
              </a:ext>
            </a:extLst>
          </p:cNvPr>
          <p:cNvSpPr>
            <a:spLocks noGrp="1" noChangeArrowheads="1"/>
          </p:cNvSpPr>
          <p:nvPr>
            <p:ph type="body" idx="1"/>
          </p:nvPr>
        </p:nvSpPr>
        <p:spPr>
          <a:xfrm>
            <a:off x="457200" y="1481329"/>
            <a:ext cx="6934200" cy="3547872"/>
          </a:xfrm>
        </p:spPr>
        <p:txBody>
          <a:bodyPr>
            <a:normAutofit/>
          </a:bodyPr>
          <a:lstStyle/>
          <a:p>
            <a:pPr eaLnBrk="1" hangingPunct="1">
              <a:lnSpc>
                <a:spcPct val="180000"/>
              </a:lnSpc>
            </a:pPr>
            <a:r>
              <a:rPr lang="en-US" altLang="en-US" sz="2000" b="1" dirty="0" err="1">
                <a:latin typeface="Times New Roman" panose="02020603050405020304" pitchFamily="18" charset="0"/>
                <a:cs typeface="Times New Roman" panose="02020603050405020304" pitchFamily="18" charset="0"/>
              </a:rPr>
              <a:t>Apriori</a:t>
            </a:r>
            <a:r>
              <a:rPr lang="en-US" altLang="en-US" sz="2000" b="1" dirty="0">
                <a:latin typeface="Times New Roman" panose="02020603050405020304" pitchFamily="18" charset="0"/>
                <a:cs typeface="Times New Roman" panose="02020603050405020304" pitchFamily="18" charset="0"/>
              </a:rPr>
              <a:t>: A Candidate Generation-and-Test Approach</a:t>
            </a:r>
          </a:p>
          <a:p>
            <a:pPr eaLnBrk="1" hangingPunct="1">
              <a:lnSpc>
                <a:spcPct val="180000"/>
              </a:lnSpc>
            </a:pPr>
            <a:r>
              <a:rPr lang="en-US" altLang="en-US" sz="2000" dirty="0">
                <a:latin typeface="Times New Roman" panose="02020603050405020304" pitchFamily="18" charset="0"/>
                <a:cs typeface="Times New Roman" panose="02020603050405020304" pitchFamily="18" charset="0"/>
              </a:rPr>
              <a:t>Improving the Efficiency of </a:t>
            </a:r>
            <a:r>
              <a:rPr lang="en-US" altLang="en-US" sz="2000" dirty="0" err="1">
                <a:latin typeface="Times New Roman" panose="02020603050405020304" pitchFamily="18" charset="0"/>
                <a:cs typeface="Times New Roman" panose="02020603050405020304" pitchFamily="18" charset="0"/>
              </a:rPr>
              <a:t>Apriori</a:t>
            </a:r>
            <a:endParaRPr lang="en-US" altLang="en-US" sz="2000" dirty="0">
              <a:latin typeface="Times New Roman" panose="02020603050405020304" pitchFamily="18" charset="0"/>
              <a:cs typeface="Times New Roman" panose="02020603050405020304" pitchFamily="18" charset="0"/>
            </a:endParaRPr>
          </a:p>
          <a:p>
            <a:pPr eaLnBrk="1" hangingPunct="1">
              <a:lnSpc>
                <a:spcPct val="180000"/>
              </a:lnSpc>
            </a:pPr>
            <a:r>
              <a:rPr lang="en-US" altLang="en-US" sz="2000" b="1" dirty="0" err="1">
                <a:latin typeface="Times New Roman" panose="02020603050405020304" pitchFamily="18" charset="0"/>
                <a:cs typeface="Times New Roman" panose="02020603050405020304" pitchFamily="18" charset="0"/>
              </a:rPr>
              <a:t>FPGrowth</a:t>
            </a:r>
            <a:r>
              <a:rPr lang="en-US" altLang="en-US" sz="2000" b="1" dirty="0">
                <a:latin typeface="Times New Roman" panose="02020603050405020304" pitchFamily="18" charset="0"/>
                <a:cs typeface="Times New Roman" panose="02020603050405020304" pitchFamily="18" charset="0"/>
              </a:rPr>
              <a:t>:  A Frequent Pattern-Growth Approach</a:t>
            </a:r>
          </a:p>
          <a:p>
            <a:pPr eaLnBrk="1" hangingPunct="1">
              <a:lnSpc>
                <a:spcPct val="180000"/>
              </a:lnSpc>
            </a:pPr>
            <a:r>
              <a:rPr lang="en-US" altLang="en-US" sz="2000" dirty="0">
                <a:latin typeface="Times New Roman" panose="02020603050405020304" pitchFamily="18" charset="0"/>
                <a:cs typeface="Times New Roman" panose="02020603050405020304" pitchFamily="18" charset="0"/>
              </a:rPr>
              <a:t>ECLAT: Frequent Pattern Mining with Vertical Data Format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9A645080-E5B8-DC7D-519F-39A70E0C357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34F2E4A-2979-4920-81DB-CC15C6E653FC}" type="slidenum">
              <a:rPr lang="en-US" altLang="en-US" sz="1200"/>
              <a:pPr eaLnBrk="1" hangingPunct="1"/>
              <a:t>17</a:t>
            </a:fld>
            <a:endParaRPr lang="en-US" altLang="en-US" sz="1200"/>
          </a:p>
        </p:txBody>
      </p:sp>
      <p:sp>
        <p:nvSpPr>
          <p:cNvPr id="26627" name="Rectangle 2">
            <a:extLst>
              <a:ext uri="{FF2B5EF4-FFF2-40B4-BE49-F238E27FC236}">
                <a16:creationId xmlns:a16="http://schemas.microsoft.com/office/drawing/2014/main" id="{3D7A23CC-7638-1749-3494-FFE13C47F7C2}"/>
              </a:ext>
            </a:extLst>
          </p:cNvPr>
          <p:cNvSpPr>
            <a:spLocks noGrp="1" noChangeArrowheads="1"/>
          </p:cNvSpPr>
          <p:nvPr>
            <p:ph type="title"/>
          </p:nvPr>
        </p:nvSpPr>
        <p:spPr>
          <a:xfrm>
            <a:off x="-152400" y="228600"/>
            <a:ext cx="9448800" cy="762000"/>
          </a:xfrm>
        </p:spPr>
        <p:txBody>
          <a:bodyPr>
            <a:noAutofit/>
          </a:bodyPr>
          <a:lstStyle/>
          <a:p>
            <a:pPr algn="ctr" eaLnBrk="1" hangingPunct="1">
              <a:tabLst>
                <a:tab pos="2570163" algn="l"/>
              </a:tabLst>
            </a:pPr>
            <a:r>
              <a:rPr lang="en-US" altLang="en-US" sz="3200" dirty="0" err="1">
                <a:solidFill>
                  <a:srgbClr val="002060"/>
                </a:solidFill>
                <a:effectLst/>
                <a:latin typeface="Times New Roman" panose="02020603050405020304" pitchFamily="18" charset="0"/>
                <a:cs typeface="Times New Roman" panose="02020603050405020304" pitchFamily="18" charset="0"/>
              </a:rPr>
              <a:t>Apriori</a:t>
            </a:r>
            <a:r>
              <a:rPr lang="en-US" altLang="en-US" sz="3200" dirty="0">
                <a:solidFill>
                  <a:srgbClr val="002060"/>
                </a:solidFill>
                <a:effectLst/>
                <a:latin typeface="Times New Roman" panose="02020603050405020304" pitchFamily="18" charset="0"/>
                <a:cs typeface="Times New Roman" panose="02020603050405020304" pitchFamily="18" charset="0"/>
              </a:rPr>
              <a:t>: A Candidate Generation &amp; Test Approach</a:t>
            </a:r>
          </a:p>
        </p:txBody>
      </p:sp>
      <p:sp>
        <p:nvSpPr>
          <p:cNvPr id="26628" name="Rectangle 3">
            <a:extLst>
              <a:ext uri="{FF2B5EF4-FFF2-40B4-BE49-F238E27FC236}">
                <a16:creationId xmlns:a16="http://schemas.microsoft.com/office/drawing/2014/main" id="{D5615C9E-F593-CDC4-4959-E9F1754F52B7}"/>
              </a:ext>
            </a:extLst>
          </p:cNvPr>
          <p:cNvSpPr>
            <a:spLocks noGrp="1" noChangeArrowheads="1"/>
          </p:cNvSpPr>
          <p:nvPr>
            <p:ph type="body" idx="1"/>
          </p:nvPr>
        </p:nvSpPr>
        <p:spPr>
          <a:xfrm>
            <a:off x="381000" y="1447800"/>
            <a:ext cx="7924800" cy="4343400"/>
          </a:xfrm>
        </p:spPr>
        <p:txBody>
          <a:bodyPr>
            <a:normAutofit/>
          </a:bodyPr>
          <a:lstStyle/>
          <a:p>
            <a:pPr eaLnBrk="1" hangingPunct="1">
              <a:lnSpc>
                <a:spcPct val="120000"/>
              </a:lnSpc>
            </a:pPr>
            <a:r>
              <a:rPr lang="en-US" altLang="en-US" sz="2000" u="sng" dirty="0" err="1">
                <a:latin typeface="Times New Roman" panose="02020603050405020304" pitchFamily="18" charset="0"/>
                <a:cs typeface="Times New Roman" panose="02020603050405020304" pitchFamily="18" charset="0"/>
              </a:rPr>
              <a:t>Apriori</a:t>
            </a:r>
            <a:r>
              <a:rPr lang="en-US" altLang="en-US" sz="2000" u="sng" dirty="0">
                <a:latin typeface="Times New Roman" panose="02020603050405020304" pitchFamily="18" charset="0"/>
                <a:cs typeface="Times New Roman" panose="02020603050405020304" pitchFamily="18" charset="0"/>
              </a:rPr>
              <a:t> pruning principle</a:t>
            </a:r>
            <a:r>
              <a:rPr lang="en-US" altLang="en-US" sz="2000" dirty="0">
                <a:latin typeface="Times New Roman" panose="02020603050405020304" pitchFamily="18" charset="0"/>
                <a:cs typeface="Times New Roman" panose="02020603050405020304" pitchFamily="18" charset="0"/>
              </a:rPr>
              <a:t>: If there is any itemset which is infrequent, its superset should not be generated/tested! (Agrawal &amp; Srikant @VLDB’94, Mannila, et al. @ KDD’ 94)</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Method: </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Initially, scan DB once to get frequent 1-itemset</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Generate length (k+1) candidate </a:t>
            </a:r>
            <a:r>
              <a:rPr lang="en-US" altLang="en-US" sz="2000" dirty="0" err="1">
                <a:latin typeface="Times New Roman" panose="02020603050405020304" pitchFamily="18" charset="0"/>
                <a:cs typeface="Times New Roman" panose="02020603050405020304" pitchFamily="18" charset="0"/>
              </a:rPr>
              <a:t>itemsets</a:t>
            </a:r>
            <a:r>
              <a:rPr lang="en-US" altLang="en-US" sz="2000" dirty="0">
                <a:latin typeface="Times New Roman" panose="02020603050405020304" pitchFamily="18" charset="0"/>
                <a:cs typeface="Times New Roman" panose="02020603050405020304" pitchFamily="18" charset="0"/>
              </a:rPr>
              <a:t> from length k frequent </a:t>
            </a:r>
            <a:r>
              <a:rPr lang="en-US" altLang="en-US" sz="2000" dirty="0" err="1">
                <a:latin typeface="Times New Roman" panose="02020603050405020304" pitchFamily="18" charset="0"/>
                <a:cs typeface="Times New Roman" panose="02020603050405020304" pitchFamily="18" charset="0"/>
              </a:rPr>
              <a:t>itemsets</a:t>
            </a: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Test the candidates against DB</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Terminate when no frequent or candidate set can be generated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D114A751-D5EC-BA42-2941-6C2A815908D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AE048D13-E1CD-4AB1-B2A5-32CF459BEEAD}" type="slidenum">
              <a:rPr lang="en-US" altLang="en-US" sz="1200">
                <a:latin typeface="Times New Roman" panose="02020603050405020304" pitchFamily="18" charset="0"/>
                <a:cs typeface="Times New Roman" panose="02020603050405020304" pitchFamily="18" charset="0"/>
              </a:rPr>
              <a:pPr eaLnBrk="1" hangingPunct="1"/>
              <a:t>18</a:t>
            </a:fld>
            <a:endParaRPr lang="en-US" altLang="en-US" sz="1200">
              <a:latin typeface="Times New Roman" panose="02020603050405020304" pitchFamily="18" charset="0"/>
              <a:cs typeface="Times New Roman" panose="02020603050405020304" pitchFamily="18" charset="0"/>
            </a:endParaRPr>
          </a:p>
        </p:txBody>
      </p:sp>
      <p:sp>
        <p:nvSpPr>
          <p:cNvPr id="27651" name="Rectangle 2">
            <a:extLst>
              <a:ext uri="{FF2B5EF4-FFF2-40B4-BE49-F238E27FC236}">
                <a16:creationId xmlns:a16="http://schemas.microsoft.com/office/drawing/2014/main" id="{6781F87B-E0CB-9B31-7A24-5DC8EE0B79E9}"/>
              </a:ext>
            </a:extLst>
          </p:cNvPr>
          <p:cNvSpPr>
            <a:spLocks noGrp="1" noChangeArrowheads="1"/>
          </p:cNvSpPr>
          <p:nvPr>
            <p:ph type="title"/>
          </p:nvPr>
        </p:nvSpPr>
        <p:spPr>
          <a:xfrm>
            <a:off x="838200" y="304800"/>
            <a:ext cx="7793038" cy="609600"/>
          </a:xfrm>
        </p:spPr>
        <p:txBody>
          <a:bodyPr/>
          <a:lstStyle/>
          <a:p>
            <a:pP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The </a:t>
            </a:r>
            <a:r>
              <a:rPr lang="en-US" altLang="en-US" sz="3200" dirty="0" err="1">
                <a:solidFill>
                  <a:srgbClr val="002060"/>
                </a:solidFill>
                <a:effectLst/>
                <a:latin typeface="Times New Roman" panose="02020603050405020304" pitchFamily="18" charset="0"/>
                <a:cs typeface="Times New Roman" panose="02020603050405020304" pitchFamily="18" charset="0"/>
              </a:rPr>
              <a:t>Apriori</a:t>
            </a:r>
            <a:r>
              <a:rPr lang="en-US" altLang="en-US" sz="3200" dirty="0">
                <a:solidFill>
                  <a:srgbClr val="002060"/>
                </a:solidFill>
                <a:effectLst/>
                <a:latin typeface="Times New Roman" panose="02020603050405020304" pitchFamily="18" charset="0"/>
                <a:cs typeface="Times New Roman" panose="02020603050405020304" pitchFamily="18" charset="0"/>
              </a:rPr>
              <a:t> Algorithm—An Example </a:t>
            </a:r>
          </a:p>
        </p:txBody>
      </p:sp>
      <p:sp>
        <p:nvSpPr>
          <p:cNvPr id="27652" name="Text Box 3">
            <a:extLst>
              <a:ext uri="{FF2B5EF4-FFF2-40B4-BE49-F238E27FC236}">
                <a16:creationId xmlns:a16="http://schemas.microsoft.com/office/drawing/2014/main" id="{6992D8C9-5D37-CD97-662B-671256A598FF}"/>
              </a:ext>
            </a:extLst>
          </p:cNvPr>
          <p:cNvSpPr txBox="1">
            <a:spLocks noChangeArrowheads="1"/>
          </p:cNvSpPr>
          <p:nvPr/>
        </p:nvSpPr>
        <p:spPr bwMode="auto">
          <a:xfrm>
            <a:off x="0" y="1371600"/>
            <a:ext cx="1985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latin typeface="Times New Roman" panose="02020603050405020304" pitchFamily="18" charset="0"/>
                <a:cs typeface="Times New Roman" panose="02020603050405020304" pitchFamily="18" charset="0"/>
              </a:rPr>
              <a:t>Database TDB</a:t>
            </a:r>
          </a:p>
        </p:txBody>
      </p:sp>
      <p:sp>
        <p:nvSpPr>
          <p:cNvPr id="27653" name="Text Box 4">
            <a:extLst>
              <a:ext uri="{FF2B5EF4-FFF2-40B4-BE49-F238E27FC236}">
                <a16:creationId xmlns:a16="http://schemas.microsoft.com/office/drawing/2014/main" id="{9B159609-B03E-26AC-DED9-2A5164AD0791}"/>
              </a:ext>
            </a:extLst>
          </p:cNvPr>
          <p:cNvSpPr txBox="1">
            <a:spLocks noChangeArrowheads="1"/>
          </p:cNvSpPr>
          <p:nvPr/>
        </p:nvSpPr>
        <p:spPr bwMode="auto">
          <a:xfrm>
            <a:off x="2176463" y="2273300"/>
            <a:ext cx="1090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Times New Roman" panose="02020603050405020304" pitchFamily="18" charset="0"/>
                <a:cs typeface="Times New Roman" panose="02020603050405020304" pitchFamily="18" charset="0"/>
              </a:rPr>
              <a:t>1</a:t>
            </a:r>
            <a:r>
              <a:rPr lang="en-US" altLang="en-US" baseline="30000">
                <a:latin typeface="Times New Roman" panose="02020603050405020304" pitchFamily="18" charset="0"/>
                <a:cs typeface="Times New Roman" panose="02020603050405020304" pitchFamily="18" charset="0"/>
              </a:rPr>
              <a:t>st</a:t>
            </a:r>
            <a:r>
              <a:rPr lang="en-US" altLang="en-US">
                <a:latin typeface="Times New Roman" panose="02020603050405020304" pitchFamily="18" charset="0"/>
                <a:cs typeface="Times New Roman" panose="02020603050405020304" pitchFamily="18" charset="0"/>
              </a:rPr>
              <a:t> scan</a:t>
            </a:r>
          </a:p>
        </p:txBody>
      </p:sp>
      <p:sp>
        <p:nvSpPr>
          <p:cNvPr id="27654" name="Line 5">
            <a:extLst>
              <a:ext uri="{FF2B5EF4-FFF2-40B4-BE49-F238E27FC236}">
                <a16:creationId xmlns:a16="http://schemas.microsoft.com/office/drawing/2014/main" id="{23F8C87C-2CA0-B3F5-5958-77A2FD7E3646}"/>
              </a:ext>
            </a:extLst>
          </p:cNvPr>
          <p:cNvSpPr>
            <a:spLocks noChangeShapeType="1"/>
          </p:cNvSpPr>
          <p:nvPr/>
        </p:nvSpPr>
        <p:spPr bwMode="auto">
          <a:xfrm>
            <a:off x="2297113" y="2719388"/>
            <a:ext cx="8318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IN">
              <a:latin typeface="Times New Roman" panose="02020603050405020304" pitchFamily="18" charset="0"/>
              <a:cs typeface="Times New Roman" panose="02020603050405020304" pitchFamily="18" charset="0"/>
            </a:endParaRPr>
          </a:p>
        </p:txBody>
      </p:sp>
      <p:sp>
        <p:nvSpPr>
          <p:cNvPr id="27655" name="Text Box 6">
            <a:extLst>
              <a:ext uri="{FF2B5EF4-FFF2-40B4-BE49-F238E27FC236}">
                <a16:creationId xmlns:a16="http://schemas.microsoft.com/office/drawing/2014/main" id="{66FA6378-AB0B-B7B4-475A-33BE2B118F39}"/>
              </a:ext>
            </a:extLst>
          </p:cNvPr>
          <p:cNvSpPr txBox="1">
            <a:spLocks noChangeArrowheads="1"/>
          </p:cNvSpPr>
          <p:nvPr/>
        </p:nvSpPr>
        <p:spPr bwMode="auto">
          <a:xfrm>
            <a:off x="2759075" y="17208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Times New Roman" panose="02020603050405020304" pitchFamily="18" charset="0"/>
                <a:cs typeface="Times New Roman" panose="02020603050405020304" pitchFamily="18" charset="0"/>
              </a:rPr>
              <a:t>C</a:t>
            </a:r>
            <a:r>
              <a:rPr lang="en-US" altLang="en-US" i="1" baseline="-25000">
                <a:latin typeface="Times New Roman" panose="02020603050405020304" pitchFamily="18" charset="0"/>
                <a:cs typeface="Times New Roman" panose="02020603050405020304" pitchFamily="18" charset="0"/>
              </a:rPr>
              <a:t>1</a:t>
            </a:r>
          </a:p>
        </p:txBody>
      </p:sp>
      <p:sp>
        <p:nvSpPr>
          <p:cNvPr id="27656" name="Text Box 7">
            <a:extLst>
              <a:ext uri="{FF2B5EF4-FFF2-40B4-BE49-F238E27FC236}">
                <a16:creationId xmlns:a16="http://schemas.microsoft.com/office/drawing/2014/main" id="{68C8AF81-0E9F-9BDC-A83F-2024B139030B}"/>
              </a:ext>
            </a:extLst>
          </p:cNvPr>
          <p:cNvSpPr txBox="1">
            <a:spLocks noChangeArrowheads="1"/>
          </p:cNvSpPr>
          <p:nvPr/>
        </p:nvSpPr>
        <p:spPr bwMode="auto">
          <a:xfrm>
            <a:off x="5346700" y="1563688"/>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Times New Roman" panose="02020603050405020304" pitchFamily="18" charset="0"/>
                <a:cs typeface="Times New Roman" panose="02020603050405020304" pitchFamily="18" charset="0"/>
              </a:rPr>
              <a:t>L</a:t>
            </a:r>
            <a:r>
              <a:rPr lang="en-US" altLang="en-US" i="1" baseline="-25000">
                <a:latin typeface="Times New Roman" panose="02020603050405020304" pitchFamily="18" charset="0"/>
                <a:cs typeface="Times New Roman" panose="02020603050405020304" pitchFamily="18" charset="0"/>
              </a:rPr>
              <a:t>1</a:t>
            </a:r>
          </a:p>
        </p:txBody>
      </p:sp>
      <p:sp>
        <p:nvSpPr>
          <p:cNvPr id="27657" name="Text Box 8">
            <a:extLst>
              <a:ext uri="{FF2B5EF4-FFF2-40B4-BE49-F238E27FC236}">
                <a16:creationId xmlns:a16="http://schemas.microsoft.com/office/drawing/2014/main" id="{891AA403-76F1-9298-C8D1-03F157035B3F}"/>
              </a:ext>
            </a:extLst>
          </p:cNvPr>
          <p:cNvSpPr txBox="1">
            <a:spLocks noChangeArrowheads="1"/>
          </p:cNvSpPr>
          <p:nvPr/>
        </p:nvSpPr>
        <p:spPr bwMode="auto">
          <a:xfrm>
            <a:off x="301625" y="3729038"/>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Times New Roman" panose="02020603050405020304" pitchFamily="18" charset="0"/>
                <a:cs typeface="Times New Roman" panose="02020603050405020304" pitchFamily="18" charset="0"/>
              </a:rPr>
              <a:t>L</a:t>
            </a:r>
            <a:r>
              <a:rPr lang="en-US" altLang="en-US" i="1" baseline="-25000">
                <a:latin typeface="Times New Roman" panose="02020603050405020304" pitchFamily="18" charset="0"/>
                <a:cs typeface="Times New Roman" panose="02020603050405020304" pitchFamily="18" charset="0"/>
              </a:rPr>
              <a:t>2</a:t>
            </a:r>
          </a:p>
        </p:txBody>
      </p:sp>
      <p:sp>
        <p:nvSpPr>
          <p:cNvPr id="27658" name="Text Box 9">
            <a:extLst>
              <a:ext uri="{FF2B5EF4-FFF2-40B4-BE49-F238E27FC236}">
                <a16:creationId xmlns:a16="http://schemas.microsoft.com/office/drawing/2014/main" id="{40F4FA2B-9AA2-DEA5-E80D-7BB3E0B69A04}"/>
              </a:ext>
            </a:extLst>
          </p:cNvPr>
          <p:cNvSpPr txBox="1">
            <a:spLocks noChangeArrowheads="1"/>
          </p:cNvSpPr>
          <p:nvPr/>
        </p:nvSpPr>
        <p:spPr bwMode="auto">
          <a:xfrm>
            <a:off x="2728913" y="333216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Times New Roman" panose="02020603050405020304" pitchFamily="18" charset="0"/>
                <a:cs typeface="Times New Roman" panose="02020603050405020304" pitchFamily="18" charset="0"/>
              </a:rPr>
              <a:t>C</a:t>
            </a:r>
            <a:r>
              <a:rPr lang="en-US" altLang="en-US" i="1" baseline="-25000">
                <a:latin typeface="Times New Roman" panose="02020603050405020304" pitchFamily="18" charset="0"/>
                <a:cs typeface="Times New Roman" panose="02020603050405020304" pitchFamily="18" charset="0"/>
              </a:rPr>
              <a:t>2</a:t>
            </a:r>
          </a:p>
        </p:txBody>
      </p:sp>
      <p:sp>
        <p:nvSpPr>
          <p:cNvPr id="27659" name="Text Box 10">
            <a:extLst>
              <a:ext uri="{FF2B5EF4-FFF2-40B4-BE49-F238E27FC236}">
                <a16:creationId xmlns:a16="http://schemas.microsoft.com/office/drawing/2014/main" id="{A1DD4A57-071E-B69B-0B2C-061F2D8923F3}"/>
              </a:ext>
            </a:extLst>
          </p:cNvPr>
          <p:cNvSpPr txBox="1">
            <a:spLocks noChangeArrowheads="1"/>
          </p:cNvSpPr>
          <p:nvPr/>
        </p:nvSpPr>
        <p:spPr bwMode="auto">
          <a:xfrm>
            <a:off x="6016625" y="338296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Times New Roman" panose="02020603050405020304" pitchFamily="18" charset="0"/>
                <a:cs typeface="Times New Roman" panose="02020603050405020304" pitchFamily="18" charset="0"/>
              </a:rPr>
              <a:t>C</a:t>
            </a:r>
            <a:r>
              <a:rPr lang="en-US" altLang="en-US" i="1" baseline="-25000">
                <a:latin typeface="Times New Roman" panose="02020603050405020304" pitchFamily="18" charset="0"/>
                <a:cs typeface="Times New Roman" panose="02020603050405020304" pitchFamily="18" charset="0"/>
              </a:rPr>
              <a:t>2</a:t>
            </a:r>
          </a:p>
        </p:txBody>
      </p:sp>
      <p:sp>
        <p:nvSpPr>
          <p:cNvPr id="27660" name="Line 11">
            <a:extLst>
              <a:ext uri="{FF2B5EF4-FFF2-40B4-BE49-F238E27FC236}">
                <a16:creationId xmlns:a16="http://schemas.microsoft.com/office/drawing/2014/main" id="{12A3090C-F8D7-6C38-2B34-8D73E8E4303C}"/>
              </a:ext>
            </a:extLst>
          </p:cNvPr>
          <p:cNvSpPr>
            <a:spLocks noChangeShapeType="1"/>
          </p:cNvSpPr>
          <p:nvPr/>
        </p:nvSpPr>
        <p:spPr bwMode="auto">
          <a:xfrm flipH="1">
            <a:off x="5127625" y="4252913"/>
            <a:ext cx="112077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IN">
              <a:latin typeface="Times New Roman" panose="02020603050405020304" pitchFamily="18" charset="0"/>
              <a:cs typeface="Times New Roman" panose="02020603050405020304" pitchFamily="18" charset="0"/>
            </a:endParaRPr>
          </a:p>
        </p:txBody>
      </p:sp>
      <p:sp>
        <p:nvSpPr>
          <p:cNvPr id="27661" name="Text Box 12">
            <a:extLst>
              <a:ext uri="{FF2B5EF4-FFF2-40B4-BE49-F238E27FC236}">
                <a16:creationId xmlns:a16="http://schemas.microsoft.com/office/drawing/2014/main" id="{E5BE4F4E-1714-F207-4797-961F6CB1A05C}"/>
              </a:ext>
            </a:extLst>
          </p:cNvPr>
          <p:cNvSpPr txBox="1">
            <a:spLocks noChangeArrowheads="1"/>
          </p:cNvSpPr>
          <p:nvPr/>
        </p:nvSpPr>
        <p:spPr bwMode="auto">
          <a:xfrm>
            <a:off x="5108575" y="3751263"/>
            <a:ext cx="1157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Times New Roman" panose="02020603050405020304" pitchFamily="18" charset="0"/>
                <a:cs typeface="Times New Roman" panose="02020603050405020304" pitchFamily="18" charset="0"/>
              </a:rPr>
              <a:t>2</a:t>
            </a:r>
            <a:r>
              <a:rPr lang="en-US" altLang="en-US" baseline="30000">
                <a:latin typeface="Times New Roman" panose="02020603050405020304" pitchFamily="18" charset="0"/>
                <a:cs typeface="Times New Roman" panose="02020603050405020304" pitchFamily="18" charset="0"/>
              </a:rPr>
              <a:t>nd</a:t>
            </a:r>
            <a:r>
              <a:rPr lang="en-US" altLang="en-US">
                <a:latin typeface="Times New Roman" panose="02020603050405020304" pitchFamily="18" charset="0"/>
                <a:cs typeface="Times New Roman" panose="02020603050405020304" pitchFamily="18" charset="0"/>
              </a:rPr>
              <a:t> scan</a:t>
            </a:r>
          </a:p>
        </p:txBody>
      </p:sp>
      <p:sp>
        <p:nvSpPr>
          <p:cNvPr id="27662" name="AutoShape 13">
            <a:extLst>
              <a:ext uri="{FF2B5EF4-FFF2-40B4-BE49-F238E27FC236}">
                <a16:creationId xmlns:a16="http://schemas.microsoft.com/office/drawing/2014/main" id="{9EF1E8C3-85B8-1469-48B2-A5588BE455EB}"/>
              </a:ext>
            </a:extLst>
          </p:cNvPr>
          <p:cNvSpPr>
            <a:spLocks noChangeArrowheads="1"/>
          </p:cNvSpPr>
          <p:nvPr/>
        </p:nvSpPr>
        <p:spPr bwMode="auto">
          <a:xfrm>
            <a:off x="7861300" y="3267224"/>
            <a:ext cx="627063" cy="461665"/>
          </a:xfrm>
          <a:prstGeom prst="curvedLeftArrow">
            <a:avLst>
              <a:gd name="adj1" fmla="val 27291"/>
              <a:gd name="adj2" fmla="val 54582"/>
              <a:gd name="adj3" fmla="val 33333"/>
            </a:avLst>
          </a:prstGeom>
          <a:solidFill>
            <a:srgbClr val="FFFFFF"/>
          </a:solidFill>
          <a:ln w="9525">
            <a:solidFill>
              <a:srgbClr val="000000"/>
            </a:solidFill>
            <a:miter lim="800000"/>
            <a:headEnd/>
            <a:tailEnd/>
          </a:ln>
        </p:spPr>
        <p:txBody>
          <a:bodyPr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27663" name="Line 14">
            <a:extLst>
              <a:ext uri="{FF2B5EF4-FFF2-40B4-BE49-F238E27FC236}">
                <a16:creationId xmlns:a16="http://schemas.microsoft.com/office/drawing/2014/main" id="{8232F782-C74B-622B-0754-0975A84BF824}"/>
              </a:ext>
            </a:extLst>
          </p:cNvPr>
          <p:cNvSpPr>
            <a:spLocks noChangeShapeType="1"/>
          </p:cNvSpPr>
          <p:nvPr/>
        </p:nvSpPr>
        <p:spPr bwMode="auto">
          <a:xfrm>
            <a:off x="2535238" y="6299200"/>
            <a:ext cx="169227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IN">
              <a:latin typeface="Times New Roman" panose="02020603050405020304" pitchFamily="18" charset="0"/>
              <a:cs typeface="Times New Roman" panose="02020603050405020304" pitchFamily="18" charset="0"/>
            </a:endParaRPr>
          </a:p>
        </p:txBody>
      </p:sp>
      <p:sp>
        <p:nvSpPr>
          <p:cNvPr id="27664" name="Text Box 15">
            <a:extLst>
              <a:ext uri="{FF2B5EF4-FFF2-40B4-BE49-F238E27FC236}">
                <a16:creationId xmlns:a16="http://schemas.microsoft.com/office/drawing/2014/main" id="{5D5FCA44-2228-DFAC-9372-690AF6B1946E}"/>
              </a:ext>
            </a:extLst>
          </p:cNvPr>
          <p:cNvSpPr txBox="1">
            <a:spLocks noChangeArrowheads="1"/>
          </p:cNvSpPr>
          <p:nvPr/>
        </p:nvSpPr>
        <p:spPr bwMode="auto">
          <a:xfrm>
            <a:off x="698500" y="58023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Times New Roman" panose="02020603050405020304" pitchFamily="18" charset="0"/>
                <a:cs typeface="Times New Roman" panose="02020603050405020304" pitchFamily="18" charset="0"/>
              </a:rPr>
              <a:t>C</a:t>
            </a:r>
            <a:r>
              <a:rPr lang="en-US" altLang="en-US" i="1" baseline="-25000">
                <a:latin typeface="Times New Roman" panose="02020603050405020304" pitchFamily="18" charset="0"/>
                <a:cs typeface="Times New Roman" panose="02020603050405020304" pitchFamily="18" charset="0"/>
              </a:rPr>
              <a:t>3</a:t>
            </a:r>
          </a:p>
        </p:txBody>
      </p:sp>
      <p:sp>
        <p:nvSpPr>
          <p:cNvPr id="27665" name="Text Box 16">
            <a:extLst>
              <a:ext uri="{FF2B5EF4-FFF2-40B4-BE49-F238E27FC236}">
                <a16:creationId xmlns:a16="http://schemas.microsoft.com/office/drawing/2014/main" id="{F96CD94F-D215-A127-BC8D-F51DDA3417D6}"/>
              </a:ext>
            </a:extLst>
          </p:cNvPr>
          <p:cNvSpPr txBox="1">
            <a:spLocks noChangeArrowheads="1"/>
          </p:cNvSpPr>
          <p:nvPr/>
        </p:nvSpPr>
        <p:spPr bwMode="auto">
          <a:xfrm>
            <a:off x="4114800" y="5791200"/>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Times New Roman" panose="02020603050405020304" pitchFamily="18" charset="0"/>
                <a:cs typeface="Times New Roman" panose="02020603050405020304" pitchFamily="18" charset="0"/>
              </a:rPr>
              <a:t>L</a:t>
            </a:r>
            <a:r>
              <a:rPr lang="en-US" altLang="en-US" i="1" baseline="-25000">
                <a:latin typeface="Times New Roman" panose="02020603050405020304" pitchFamily="18" charset="0"/>
                <a:cs typeface="Times New Roman" panose="02020603050405020304" pitchFamily="18" charset="0"/>
              </a:rPr>
              <a:t>3</a:t>
            </a:r>
          </a:p>
        </p:txBody>
      </p:sp>
      <p:sp>
        <p:nvSpPr>
          <p:cNvPr id="27666" name="Text Box 17">
            <a:extLst>
              <a:ext uri="{FF2B5EF4-FFF2-40B4-BE49-F238E27FC236}">
                <a16:creationId xmlns:a16="http://schemas.microsoft.com/office/drawing/2014/main" id="{32178C04-0EFF-5AD6-6FA0-24B20067BDA1}"/>
              </a:ext>
            </a:extLst>
          </p:cNvPr>
          <p:cNvSpPr txBox="1">
            <a:spLocks noChangeArrowheads="1"/>
          </p:cNvSpPr>
          <p:nvPr/>
        </p:nvSpPr>
        <p:spPr bwMode="auto">
          <a:xfrm>
            <a:off x="2708275" y="5881688"/>
            <a:ext cx="1123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Times New Roman" panose="02020603050405020304" pitchFamily="18" charset="0"/>
                <a:cs typeface="Times New Roman" panose="02020603050405020304" pitchFamily="18" charset="0"/>
              </a:rPr>
              <a:t>3</a:t>
            </a:r>
            <a:r>
              <a:rPr lang="en-US" altLang="en-US" baseline="30000">
                <a:latin typeface="Times New Roman" panose="02020603050405020304" pitchFamily="18" charset="0"/>
                <a:cs typeface="Times New Roman" panose="02020603050405020304" pitchFamily="18" charset="0"/>
              </a:rPr>
              <a:t>rd</a:t>
            </a:r>
            <a:r>
              <a:rPr lang="en-US" altLang="en-US">
                <a:latin typeface="Times New Roman" panose="02020603050405020304" pitchFamily="18" charset="0"/>
                <a:cs typeface="Times New Roman" panose="02020603050405020304" pitchFamily="18" charset="0"/>
              </a:rPr>
              <a:t> scan</a:t>
            </a:r>
          </a:p>
        </p:txBody>
      </p:sp>
      <p:sp>
        <p:nvSpPr>
          <p:cNvPr id="27667" name="AutoShape 18">
            <a:extLst>
              <a:ext uri="{FF2B5EF4-FFF2-40B4-BE49-F238E27FC236}">
                <a16:creationId xmlns:a16="http://schemas.microsoft.com/office/drawing/2014/main" id="{0CE41271-E0B9-208D-3DBF-9E53C9DB9398}"/>
              </a:ext>
            </a:extLst>
          </p:cNvPr>
          <p:cNvSpPr>
            <a:spLocks noChangeArrowheads="1"/>
          </p:cNvSpPr>
          <p:nvPr/>
        </p:nvSpPr>
        <p:spPr bwMode="auto">
          <a:xfrm>
            <a:off x="201613" y="5240486"/>
            <a:ext cx="184731" cy="461665"/>
          </a:xfrm>
          <a:prstGeom prst="curvedRightArrow">
            <a:avLst>
              <a:gd name="adj1" fmla="val 56619"/>
              <a:gd name="adj2" fmla="val 113237"/>
              <a:gd name="adj3" fmla="val 33333"/>
            </a:avLst>
          </a:prstGeom>
          <a:solidFill>
            <a:srgbClr val="FFFFFF"/>
          </a:solidFill>
          <a:ln w="9525">
            <a:solidFill>
              <a:srgbClr val="000000"/>
            </a:solidFill>
            <a:miter lim="800000"/>
            <a:headEnd/>
            <a:tailEnd/>
          </a:ln>
        </p:spPr>
        <p:txBody>
          <a:bodyPr wrap="none" anchor="ct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latin typeface="Times New Roman" panose="02020603050405020304" pitchFamily="18" charset="0"/>
              <a:cs typeface="Times New Roman" panose="02020603050405020304" pitchFamily="18" charset="0"/>
            </a:endParaRPr>
          </a:p>
        </p:txBody>
      </p:sp>
      <p:sp>
        <p:nvSpPr>
          <p:cNvPr id="27668" name="Line 19">
            <a:extLst>
              <a:ext uri="{FF2B5EF4-FFF2-40B4-BE49-F238E27FC236}">
                <a16:creationId xmlns:a16="http://schemas.microsoft.com/office/drawing/2014/main" id="{80DFD54F-75D7-2983-EADA-58BE3E11EBC7}"/>
              </a:ext>
            </a:extLst>
          </p:cNvPr>
          <p:cNvSpPr>
            <a:spLocks noChangeShapeType="1"/>
          </p:cNvSpPr>
          <p:nvPr/>
        </p:nvSpPr>
        <p:spPr bwMode="auto">
          <a:xfrm>
            <a:off x="5334000" y="2438400"/>
            <a:ext cx="5270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IN">
              <a:latin typeface="Times New Roman" panose="02020603050405020304" pitchFamily="18" charset="0"/>
              <a:cs typeface="Times New Roman" panose="02020603050405020304" pitchFamily="18" charset="0"/>
            </a:endParaRPr>
          </a:p>
        </p:txBody>
      </p:sp>
      <p:sp>
        <p:nvSpPr>
          <p:cNvPr id="27669" name="Line 20">
            <a:extLst>
              <a:ext uri="{FF2B5EF4-FFF2-40B4-BE49-F238E27FC236}">
                <a16:creationId xmlns:a16="http://schemas.microsoft.com/office/drawing/2014/main" id="{9859F5DD-A0C8-BB98-7CB5-CC51AABC1A01}"/>
              </a:ext>
            </a:extLst>
          </p:cNvPr>
          <p:cNvSpPr>
            <a:spLocks noChangeShapeType="1"/>
          </p:cNvSpPr>
          <p:nvPr/>
        </p:nvSpPr>
        <p:spPr bwMode="auto">
          <a:xfrm flipH="1">
            <a:off x="2667000" y="4648200"/>
            <a:ext cx="3810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IN">
              <a:latin typeface="Times New Roman" panose="02020603050405020304" pitchFamily="18" charset="0"/>
              <a:cs typeface="Times New Roman" panose="02020603050405020304" pitchFamily="18" charset="0"/>
            </a:endParaRPr>
          </a:p>
        </p:txBody>
      </p:sp>
      <p:graphicFrame>
        <p:nvGraphicFramePr>
          <p:cNvPr id="1532949" name="Group 21">
            <a:extLst>
              <a:ext uri="{FF2B5EF4-FFF2-40B4-BE49-F238E27FC236}">
                <a16:creationId xmlns:a16="http://schemas.microsoft.com/office/drawing/2014/main" id="{6C4DAAE5-EC8E-393B-3FDB-70750EF30AB2}"/>
              </a:ext>
            </a:extLst>
          </p:cNvPr>
          <p:cNvGraphicFramePr>
            <a:graphicFrameLocks noGrp="1"/>
          </p:cNvGraphicFramePr>
          <p:nvPr>
            <p:extLst>
              <p:ext uri="{D42A27DB-BD31-4B8C-83A1-F6EECF244321}">
                <p14:modId xmlns:p14="http://schemas.microsoft.com/office/powerpoint/2010/main" val="2628408579"/>
              </p:ext>
            </p:extLst>
          </p:nvPr>
        </p:nvGraphicFramePr>
        <p:xfrm>
          <a:off x="152400" y="1828800"/>
          <a:ext cx="1905000" cy="1554270"/>
        </p:xfrm>
        <a:graphic>
          <a:graphicData uri="http://schemas.openxmlformats.org/drawingml/2006/table">
            <a:tbl>
              <a:tblPr/>
              <a:tblGrid>
                <a:gridCol w="6858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tblGrid>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Tid</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 D</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20</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 E</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B, C, E</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40</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B, E</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32969" name="Group 41">
            <a:extLst>
              <a:ext uri="{FF2B5EF4-FFF2-40B4-BE49-F238E27FC236}">
                <a16:creationId xmlns:a16="http://schemas.microsoft.com/office/drawing/2014/main" id="{0A4992F3-0EBA-041B-C279-7C8403E38AB9}"/>
              </a:ext>
            </a:extLst>
          </p:cNvPr>
          <p:cNvGraphicFramePr>
            <a:graphicFrameLocks noGrp="1"/>
          </p:cNvGraphicFramePr>
          <p:nvPr>
            <p:extLst>
              <p:ext uri="{D42A27DB-BD31-4B8C-83A1-F6EECF244321}">
                <p14:modId xmlns:p14="http://schemas.microsoft.com/office/powerpoint/2010/main" val="1116405142"/>
              </p:ext>
            </p:extLst>
          </p:nvPr>
        </p:nvGraphicFramePr>
        <p:xfrm>
          <a:off x="3429000" y="1219200"/>
          <a:ext cx="1752600" cy="1865328"/>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{D}</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4"/>
                  </a:ext>
                </a:extLst>
              </a:tr>
              <a:tr h="31088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{E}</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716" marB="45716"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532992" name="Group 64">
            <a:extLst>
              <a:ext uri="{FF2B5EF4-FFF2-40B4-BE49-F238E27FC236}">
                <a16:creationId xmlns:a16="http://schemas.microsoft.com/office/drawing/2014/main" id="{A10DBF23-89E9-CE99-34BA-65CFAC434700}"/>
              </a:ext>
            </a:extLst>
          </p:cNvPr>
          <p:cNvGraphicFramePr>
            <a:graphicFrameLocks noGrp="1"/>
          </p:cNvGraphicFramePr>
          <p:nvPr>
            <p:extLst>
              <p:ext uri="{D42A27DB-BD31-4B8C-83A1-F6EECF244321}">
                <p14:modId xmlns:p14="http://schemas.microsoft.com/office/powerpoint/2010/main" val="533534854"/>
              </p:ext>
            </p:extLst>
          </p:nvPr>
        </p:nvGraphicFramePr>
        <p:xfrm>
          <a:off x="5943600" y="1371600"/>
          <a:ext cx="1752600" cy="1554270"/>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83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{E}</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699" marB="45699"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33012" name="Group 84">
            <a:extLst>
              <a:ext uri="{FF2B5EF4-FFF2-40B4-BE49-F238E27FC236}">
                <a16:creationId xmlns:a16="http://schemas.microsoft.com/office/drawing/2014/main" id="{25028DCD-C9F3-4691-EF4A-535F627F64F7}"/>
              </a:ext>
            </a:extLst>
          </p:cNvPr>
          <p:cNvGraphicFramePr>
            <a:graphicFrameLocks noGrp="1"/>
          </p:cNvGraphicFramePr>
          <p:nvPr>
            <p:extLst>
              <p:ext uri="{D42A27DB-BD31-4B8C-83A1-F6EECF244321}">
                <p14:modId xmlns:p14="http://schemas.microsoft.com/office/powerpoint/2010/main" val="2463673612"/>
              </p:ext>
            </p:extLst>
          </p:nvPr>
        </p:nvGraphicFramePr>
        <p:xfrm>
          <a:off x="6553200" y="3581400"/>
          <a:ext cx="1143000" cy="2176461"/>
        </p:xfrm>
        <a:graphic>
          <a:graphicData uri="http://schemas.openxmlformats.org/drawingml/2006/table">
            <a:tbl>
              <a:tblPr/>
              <a:tblGrid>
                <a:gridCol w="1143000">
                  <a:extLst>
                    <a:ext uri="{9D8B030D-6E8A-4147-A177-3AD203B41FA5}">
                      <a16:colId xmlns:a16="http://schemas.microsoft.com/office/drawing/2014/main" val="20000"/>
                    </a:ext>
                  </a:extLst>
                </a:gridCol>
              </a:tblGrid>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B}</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E}</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E}</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0923">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 E}</a:t>
                      </a:r>
                    </a:p>
                  </a:txBody>
                  <a:tcPr marT="45724" marB="4572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1533030" name="Group 102">
            <a:extLst>
              <a:ext uri="{FF2B5EF4-FFF2-40B4-BE49-F238E27FC236}">
                <a16:creationId xmlns:a16="http://schemas.microsoft.com/office/drawing/2014/main" id="{8BE4B78C-A2F2-48F1-AAEA-04E08592B0A7}"/>
              </a:ext>
            </a:extLst>
          </p:cNvPr>
          <p:cNvGraphicFramePr>
            <a:graphicFrameLocks noGrp="1"/>
          </p:cNvGraphicFramePr>
          <p:nvPr>
            <p:extLst>
              <p:ext uri="{D42A27DB-BD31-4B8C-83A1-F6EECF244321}">
                <p14:modId xmlns:p14="http://schemas.microsoft.com/office/powerpoint/2010/main" val="3191956719"/>
              </p:ext>
            </p:extLst>
          </p:nvPr>
        </p:nvGraphicFramePr>
        <p:xfrm>
          <a:off x="3200400" y="3429000"/>
          <a:ext cx="1752600" cy="2005192"/>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B}</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E}</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3"/>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E}</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6430">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 E}</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92" marB="4569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1533056" name="Group 128">
            <a:extLst>
              <a:ext uri="{FF2B5EF4-FFF2-40B4-BE49-F238E27FC236}">
                <a16:creationId xmlns:a16="http://schemas.microsoft.com/office/drawing/2014/main" id="{8787D792-02A8-5914-ACC3-07B81B1B6CA7}"/>
              </a:ext>
            </a:extLst>
          </p:cNvPr>
          <p:cNvGraphicFramePr>
            <a:graphicFrameLocks noGrp="1"/>
          </p:cNvGraphicFramePr>
          <p:nvPr>
            <p:extLst>
              <p:ext uri="{D42A27DB-BD31-4B8C-83A1-F6EECF244321}">
                <p14:modId xmlns:p14="http://schemas.microsoft.com/office/powerpoint/2010/main" val="898072992"/>
              </p:ext>
            </p:extLst>
          </p:nvPr>
        </p:nvGraphicFramePr>
        <p:xfrm>
          <a:off x="762000" y="3862388"/>
          <a:ext cx="1752600" cy="1432130"/>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{A, C}</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E}</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6385">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{C, E}</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marT="45677" marB="456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533076" name="Group 148">
            <a:extLst>
              <a:ext uri="{FF2B5EF4-FFF2-40B4-BE49-F238E27FC236}">
                <a16:creationId xmlns:a16="http://schemas.microsoft.com/office/drawing/2014/main" id="{17033C63-F27A-5910-2A89-C16DB5082EEC}"/>
              </a:ext>
            </a:extLst>
          </p:cNvPr>
          <p:cNvGraphicFramePr>
            <a:graphicFrameLocks noGrp="1"/>
          </p:cNvGraphicFramePr>
          <p:nvPr>
            <p:extLst>
              <p:ext uri="{D42A27DB-BD31-4B8C-83A1-F6EECF244321}">
                <p14:modId xmlns:p14="http://schemas.microsoft.com/office/powerpoint/2010/main" val="3253974482"/>
              </p:ext>
            </p:extLst>
          </p:nvPr>
        </p:nvGraphicFramePr>
        <p:xfrm>
          <a:off x="1143000" y="5867400"/>
          <a:ext cx="1143000" cy="658813"/>
        </p:xfrm>
        <a:graphic>
          <a:graphicData uri="http://schemas.openxmlformats.org/drawingml/2006/table">
            <a:tbl>
              <a:tblPr/>
              <a:tblGrid>
                <a:gridCol w="1143000">
                  <a:extLst>
                    <a:ext uri="{9D8B030D-6E8A-4147-A177-3AD203B41FA5}">
                      <a16:colId xmlns:a16="http://schemas.microsoft.com/office/drawing/2014/main" val="20000"/>
                    </a:ext>
                  </a:extLst>
                </a:gridCol>
              </a:tblGrid>
              <a:tr h="311016">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marT="45738" marB="4573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47797">
                <a:tc>
                  <a:txBody>
                    <a:bodyPr/>
                    <a:lstStyle/>
                    <a:p>
                      <a:pPr marL="0" marR="0" lvl="0" indent="0" algn="ctr"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 E}</a:t>
                      </a:r>
                    </a:p>
                  </a:txBody>
                  <a:tcPr marT="45738" marB="4573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533084" name="Group 156">
            <a:extLst>
              <a:ext uri="{FF2B5EF4-FFF2-40B4-BE49-F238E27FC236}">
                <a16:creationId xmlns:a16="http://schemas.microsoft.com/office/drawing/2014/main" id="{FFF9CBE8-C1F0-EEE9-FC54-86DA02E742C3}"/>
              </a:ext>
            </a:extLst>
          </p:cNvPr>
          <p:cNvGraphicFramePr>
            <a:graphicFrameLocks noGrp="1"/>
          </p:cNvGraphicFramePr>
          <p:nvPr>
            <p:extLst>
              <p:ext uri="{D42A27DB-BD31-4B8C-83A1-F6EECF244321}">
                <p14:modId xmlns:p14="http://schemas.microsoft.com/office/powerpoint/2010/main" val="77701412"/>
              </p:ext>
            </p:extLst>
          </p:nvPr>
        </p:nvGraphicFramePr>
        <p:xfrm>
          <a:off x="4572000" y="5867400"/>
          <a:ext cx="1752600" cy="619126"/>
        </p:xfrm>
        <a:graphic>
          <a:graphicData uri="http://schemas.openxmlformats.org/drawingml/2006/table">
            <a:tbl>
              <a:tblPr/>
              <a:tblGrid>
                <a:gridCol w="11430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09563">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Itemset</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1" i="0" u="none" strike="noStrike" cap="none" normalizeH="0" baseline="0">
                          <a:ln>
                            <a:noFill/>
                          </a:ln>
                          <a:solidFill>
                            <a:schemeClr val="hlink"/>
                          </a:solidFill>
                          <a:effectLst/>
                          <a:latin typeface="Tahoma" pitchFamily="34" charset="0"/>
                        </a:rPr>
                        <a:t>sup</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09563">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{B, C, E}</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2</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7816" name="Text Box 167">
            <a:extLst>
              <a:ext uri="{FF2B5EF4-FFF2-40B4-BE49-F238E27FC236}">
                <a16:creationId xmlns:a16="http://schemas.microsoft.com/office/drawing/2014/main" id="{54ECA23A-5B0B-C50F-8B93-6F45FCB4D64C}"/>
              </a:ext>
            </a:extLst>
          </p:cNvPr>
          <p:cNvSpPr txBox="1">
            <a:spLocks noChangeArrowheads="1"/>
          </p:cNvSpPr>
          <p:nvPr/>
        </p:nvSpPr>
        <p:spPr bwMode="auto">
          <a:xfrm>
            <a:off x="1828800" y="11430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a:latin typeface="Times New Roman" panose="02020603050405020304" pitchFamily="18" charset="0"/>
                <a:cs typeface="Times New Roman" panose="02020603050405020304" pitchFamily="18" charset="0"/>
              </a:rPr>
              <a:t>Sup</a:t>
            </a:r>
            <a:r>
              <a:rPr lang="en-US" altLang="en-US" baseline="-25000">
                <a:latin typeface="Times New Roman" panose="02020603050405020304" pitchFamily="18" charset="0"/>
                <a:cs typeface="Times New Roman" panose="02020603050405020304" pitchFamily="18" charset="0"/>
              </a:rPr>
              <a:t>min</a:t>
            </a:r>
            <a:r>
              <a:rPr lang="en-US" altLang="en-US">
                <a:latin typeface="Times New Roman" panose="02020603050405020304" pitchFamily="18" charset="0"/>
                <a:cs typeface="Times New Roman" panose="02020603050405020304" pitchFamily="18" charset="0"/>
              </a:rPr>
              <a:t> = 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96FBED1F-59C5-7131-1C7E-EDD2D848548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908C3A9-07B4-433F-9A44-1F60B900EB07}" type="slidenum">
              <a:rPr lang="en-US" altLang="en-US" sz="1200"/>
              <a:pPr eaLnBrk="1" hangingPunct="1"/>
              <a:t>19</a:t>
            </a:fld>
            <a:endParaRPr lang="en-US" altLang="en-US" sz="1200"/>
          </a:p>
        </p:txBody>
      </p:sp>
      <p:sp>
        <p:nvSpPr>
          <p:cNvPr id="28675" name="Rectangle 2">
            <a:extLst>
              <a:ext uri="{FF2B5EF4-FFF2-40B4-BE49-F238E27FC236}">
                <a16:creationId xmlns:a16="http://schemas.microsoft.com/office/drawing/2014/main" id="{771EB3D5-ECD0-FE7F-7401-01AD81E01F46}"/>
              </a:ext>
            </a:extLst>
          </p:cNvPr>
          <p:cNvSpPr>
            <a:spLocks noGrp="1" noChangeArrowheads="1"/>
          </p:cNvSpPr>
          <p:nvPr>
            <p:ph type="title"/>
          </p:nvPr>
        </p:nvSpPr>
        <p:spPr>
          <a:xfrm>
            <a:off x="762000" y="304800"/>
            <a:ext cx="7543800" cy="762000"/>
          </a:xfrm>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The </a:t>
            </a:r>
            <a:r>
              <a:rPr lang="en-US" altLang="en-US" sz="3200" dirty="0" err="1">
                <a:solidFill>
                  <a:srgbClr val="002060"/>
                </a:solidFill>
                <a:effectLst/>
                <a:latin typeface="Times New Roman" panose="02020603050405020304" pitchFamily="18" charset="0"/>
                <a:cs typeface="Times New Roman" panose="02020603050405020304" pitchFamily="18" charset="0"/>
              </a:rPr>
              <a:t>Apriori</a:t>
            </a:r>
            <a:r>
              <a:rPr lang="en-US" altLang="en-US" sz="3200" dirty="0">
                <a:solidFill>
                  <a:srgbClr val="002060"/>
                </a:solidFill>
                <a:effectLst/>
                <a:latin typeface="Times New Roman" panose="02020603050405020304" pitchFamily="18" charset="0"/>
                <a:cs typeface="Times New Roman" panose="02020603050405020304" pitchFamily="18" charset="0"/>
              </a:rPr>
              <a:t> Algorithm (Pseudo-Code</a:t>
            </a:r>
            <a:r>
              <a:rPr lang="en-US" altLang="en-US" sz="3200" u="sng" dirty="0">
                <a:solidFill>
                  <a:srgbClr val="002060"/>
                </a:solidFill>
                <a:effectLst/>
                <a:latin typeface="Times New Roman" panose="02020603050405020304" pitchFamily="18" charset="0"/>
                <a:cs typeface="Times New Roman" panose="02020603050405020304" pitchFamily="18" charset="0"/>
              </a:rPr>
              <a:t>)</a:t>
            </a:r>
          </a:p>
        </p:txBody>
      </p:sp>
      <p:sp>
        <p:nvSpPr>
          <p:cNvPr id="28676" name="Rectangle 3">
            <a:extLst>
              <a:ext uri="{FF2B5EF4-FFF2-40B4-BE49-F238E27FC236}">
                <a16:creationId xmlns:a16="http://schemas.microsoft.com/office/drawing/2014/main" id="{FD4EAFC6-6DD7-BC15-6DF3-250A753A29DB}"/>
              </a:ext>
            </a:extLst>
          </p:cNvPr>
          <p:cNvSpPr>
            <a:spLocks noGrp="1" noChangeArrowheads="1"/>
          </p:cNvSpPr>
          <p:nvPr>
            <p:ph type="body" idx="1"/>
          </p:nvPr>
        </p:nvSpPr>
        <p:spPr>
          <a:xfrm>
            <a:off x="685800" y="1447800"/>
            <a:ext cx="7620000" cy="4114800"/>
          </a:xfrm>
        </p:spPr>
        <p:txBody>
          <a:bodyPr>
            <a:normAutofit/>
          </a:bodyPr>
          <a:lstStyle/>
          <a:p>
            <a:pPr eaLnBrk="1" hangingPunct="1">
              <a:lnSpc>
                <a:spcPct val="110000"/>
              </a:lnSpc>
              <a:buFont typeface="Wingdings" panose="05000000000000000000" pitchFamily="2" charset="2"/>
              <a:buNone/>
            </a:pPr>
            <a:r>
              <a:rPr lang="en-US" altLang="en-US" sz="2000" i="1" dirty="0">
                <a:latin typeface="Times New Roman" panose="02020603050405020304" pitchFamily="18" charset="0"/>
                <a:cs typeface="Times New Roman" panose="02020603050405020304" pitchFamily="18" charset="0"/>
              </a:rPr>
              <a:t>C</a:t>
            </a:r>
            <a:r>
              <a:rPr lang="en-US" altLang="en-US" sz="2000" i="1" baseline="-25000"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 Candidate itemset of size k</a:t>
            </a:r>
          </a:p>
          <a:p>
            <a:pPr eaLnBrk="1" hangingPunct="1">
              <a:lnSpc>
                <a:spcPct val="110000"/>
              </a:lnSpc>
              <a:spcBef>
                <a:spcPct val="0"/>
              </a:spcBef>
              <a:buFont typeface="Wingdings" panose="05000000000000000000" pitchFamily="2" charset="2"/>
              <a:buNone/>
            </a:pP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 : frequent itemset of size k</a:t>
            </a:r>
          </a:p>
          <a:p>
            <a:pPr eaLnBrk="1" hangingPunct="1">
              <a:lnSpc>
                <a:spcPct val="110000"/>
              </a:lnSpc>
              <a:spcBef>
                <a:spcPct val="0"/>
              </a:spcBef>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eaLnBrk="1" hangingPunct="1">
              <a:lnSpc>
                <a:spcPct val="110000"/>
              </a:lnSpc>
              <a:spcBef>
                <a:spcPct val="0"/>
              </a:spcBef>
              <a:buFont typeface="Wingdings" panose="05000000000000000000" pitchFamily="2" charset="2"/>
              <a:buNone/>
            </a:pP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 = {frequent items};</a:t>
            </a:r>
          </a:p>
          <a:p>
            <a:pPr eaLnBrk="1" hangingPunct="1">
              <a:lnSpc>
                <a:spcPct val="110000"/>
              </a:lnSpc>
              <a:spcBef>
                <a:spcPct val="0"/>
              </a:spcBef>
              <a:buFont typeface="Wingdings" panose="05000000000000000000" pitchFamily="2" charset="2"/>
              <a:buNone/>
            </a:pPr>
            <a:r>
              <a:rPr lang="en-US" altLang="en-US" sz="2000" b="1" dirty="0">
                <a:solidFill>
                  <a:srgbClr val="F83F24"/>
                </a:solidFill>
                <a:latin typeface="Times New Roman" panose="02020603050405020304" pitchFamily="18" charset="0"/>
                <a:cs typeface="Times New Roman" panose="02020603050405020304" pitchFamily="18" charset="0"/>
              </a:rPr>
              <a:t>for</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a:t>
            </a:r>
            <a:r>
              <a:rPr lang="en-US" altLang="en-US" sz="2000" i="1"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 = 1; </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000" dirty="0">
                <a:latin typeface="Times New Roman" panose="02020603050405020304" pitchFamily="18" charset="0"/>
                <a:cs typeface="Times New Roman" panose="02020603050405020304" pitchFamily="18" charset="0"/>
              </a:rPr>
              <a:t>; </a:t>
            </a:r>
            <a:r>
              <a:rPr lang="en-US" altLang="en-US" sz="2000" i="1"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83F24"/>
                </a:solidFill>
                <a:latin typeface="Times New Roman" panose="02020603050405020304" pitchFamily="18" charset="0"/>
                <a:cs typeface="Times New Roman" panose="02020603050405020304" pitchFamily="18" charset="0"/>
              </a:rPr>
              <a:t>do begin</a:t>
            </a:r>
            <a:endParaRPr lang="en-US" altLang="en-US" sz="2000" dirty="0">
              <a:latin typeface="Times New Roman" panose="02020603050405020304" pitchFamily="18" charset="0"/>
              <a:cs typeface="Times New Roman" panose="02020603050405020304" pitchFamily="18" charset="0"/>
            </a:endParaRPr>
          </a:p>
          <a:p>
            <a:pPr eaLnBrk="1" hangingPunct="1">
              <a:lnSpc>
                <a:spcPct val="110000"/>
              </a:lnSpc>
              <a:spcBef>
                <a:spcPct val="0"/>
              </a:spcBef>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a:t>
            </a:r>
            <a:r>
              <a:rPr lang="en-US" altLang="en-US" sz="2000" i="1" dirty="0">
                <a:latin typeface="Times New Roman" panose="02020603050405020304" pitchFamily="18" charset="0"/>
                <a:cs typeface="Times New Roman" panose="02020603050405020304" pitchFamily="18" charset="0"/>
              </a:rPr>
              <a:t>C</a:t>
            </a:r>
            <a:r>
              <a:rPr lang="en-US" altLang="en-US" sz="2000" i="1" baseline="-25000" dirty="0">
                <a:latin typeface="Times New Roman" panose="02020603050405020304" pitchFamily="18" charset="0"/>
                <a:cs typeface="Times New Roman" panose="02020603050405020304" pitchFamily="18" charset="0"/>
              </a:rPr>
              <a:t>k+1</a:t>
            </a:r>
            <a:r>
              <a:rPr lang="en-US" altLang="en-US" sz="2000" dirty="0">
                <a:latin typeface="Times New Roman" panose="02020603050405020304" pitchFamily="18" charset="0"/>
                <a:cs typeface="Times New Roman" panose="02020603050405020304" pitchFamily="18" charset="0"/>
              </a:rPr>
              <a:t> = candidates generated from </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a:t>
            </a:r>
          </a:p>
          <a:p>
            <a:pPr eaLnBrk="1" hangingPunct="1">
              <a:lnSpc>
                <a:spcPct val="110000"/>
              </a:lnSpc>
              <a:spcBef>
                <a:spcPct val="0"/>
              </a:spcBef>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83F24"/>
                </a:solidFill>
                <a:latin typeface="Times New Roman" panose="02020603050405020304" pitchFamily="18" charset="0"/>
                <a:cs typeface="Times New Roman" panose="02020603050405020304" pitchFamily="18" charset="0"/>
              </a:rPr>
              <a:t>for each</a:t>
            </a:r>
            <a:r>
              <a:rPr lang="en-US" altLang="en-US" sz="2000" dirty="0">
                <a:latin typeface="Times New Roman" panose="02020603050405020304" pitchFamily="18" charset="0"/>
                <a:cs typeface="Times New Roman" panose="02020603050405020304" pitchFamily="18" charset="0"/>
              </a:rPr>
              <a:t> transaction </a:t>
            </a:r>
            <a:r>
              <a:rPr lang="en-US" altLang="en-US" sz="2000" i="1" dirty="0">
                <a:latin typeface="Times New Roman" panose="02020603050405020304" pitchFamily="18" charset="0"/>
                <a:cs typeface="Times New Roman" panose="02020603050405020304" pitchFamily="18" charset="0"/>
              </a:rPr>
              <a:t>t</a:t>
            </a:r>
            <a:r>
              <a:rPr lang="en-US" altLang="en-US" sz="2000" dirty="0">
                <a:latin typeface="Times New Roman" panose="02020603050405020304" pitchFamily="18" charset="0"/>
                <a:cs typeface="Times New Roman" panose="02020603050405020304" pitchFamily="18" charset="0"/>
              </a:rPr>
              <a:t> in database do</a:t>
            </a:r>
          </a:p>
          <a:p>
            <a:pPr lvl="1" eaLnBrk="1" hangingPunct="1">
              <a:lnSpc>
                <a:spcPct val="110000"/>
              </a:lnSpc>
              <a:spcBef>
                <a:spcPct val="0"/>
              </a:spcBef>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increment the count of all candidates in </a:t>
            </a:r>
            <a:r>
              <a:rPr lang="en-US" altLang="en-US" sz="2000" i="1" dirty="0">
                <a:latin typeface="Times New Roman" panose="02020603050405020304" pitchFamily="18" charset="0"/>
                <a:cs typeface="Times New Roman" panose="02020603050405020304" pitchFamily="18" charset="0"/>
              </a:rPr>
              <a:t>C</a:t>
            </a:r>
            <a:r>
              <a:rPr lang="en-US" altLang="en-US" sz="2000" i="1" baseline="-25000" dirty="0">
                <a:latin typeface="Times New Roman" panose="02020603050405020304" pitchFamily="18" charset="0"/>
                <a:cs typeface="Times New Roman" panose="02020603050405020304" pitchFamily="18" charset="0"/>
              </a:rPr>
              <a:t>k+1</a:t>
            </a:r>
            <a:r>
              <a:rPr lang="en-US" altLang="en-US" sz="2000" dirty="0">
                <a:latin typeface="Times New Roman" panose="02020603050405020304" pitchFamily="18" charset="0"/>
                <a:cs typeface="Times New Roman" panose="02020603050405020304" pitchFamily="18" charset="0"/>
              </a:rPr>
              <a:t> that are contained in </a:t>
            </a:r>
            <a:r>
              <a:rPr lang="en-US" altLang="en-US" sz="2000" i="1" dirty="0">
                <a:latin typeface="Times New Roman" panose="02020603050405020304" pitchFamily="18" charset="0"/>
                <a:cs typeface="Times New Roman" panose="02020603050405020304" pitchFamily="18" charset="0"/>
              </a:rPr>
              <a:t>t</a:t>
            </a:r>
            <a:endParaRPr lang="en-US" altLang="en-US" sz="2000" dirty="0">
              <a:latin typeface="Times New Roman" panose="02020603050405020304" pitchFamily="18" charset="0"/>
              <a:cs typeface="Times New Roman" panose="02020603050405020304" pitchFamily="18" charset="0"/>
            </a:endParaRPr>
          </a:p>
          <a:p>
            <a:pPr eaLnBrk="1" hangingPunct="1">
              <a:lnSpc>
                <a:spcPct val="110000"/>
              </a:lnSpc>
              <a:spcBef>
                <a:spcPct val="0"/>
              </a:spcBef>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k+1</a:t>
            </a:r>
            <a:r>
              <a:rPr lang="en-US" altLang="en-US" sz="2000" dirty="0">
                <a:latin typeface="Times New Roman" panose="02020603050405020304" pitchFamily="18" charset="0"/>
                <a:cs typeface="Times New Roman" panose="02020603050405020304" pitchFamily="18" charset="0"/>
              </a:rPr>
              <a:t>  = candidates in </a:t>
            </a:r>
            <a:r>
              <a:rPr lang="en-US" altLang="en-US" sz="2000" i="1" dirty="0">
                <a:latin typeface="Times New Roman" panose="02020603050405020304" pitchFamily="18" charset="0"/>
                <a:cs typeface="Times New Roman" panose="02020603050405020304" pitchFamily="18" charset="0"/>
              </a:rPr>
              <a:t>C</a:t>
            </a:r>
            <a:r>
              <a:rPr lang="en-US" altLang="en-US" sz="2000" i="1" baseline="-25000" dirty="0">
                <a:latin typeface="Times New Roman" panose="02020603050405020304" pitchFamily="18" charset="0"/>
                <a:cs typeface="Times New Roman" panose="02020603050405020304" pitchFamily="18" charset="0"/>
              </a:rPr>
              <a:t>k+1</a:t>
            </a:r>
            <a:r>
              <a:rPr lang="en-US" altLang="en-US" sz="2000" dirty="0">
                <a:latin typeface="Times New Roman" panose="02020603050405020304" pitchFamily="18" charset="0"/>
                <a:cs typeface="Times New Roman" panose="02020603050405020304" pitchFamily="18" charset="0"/>
              </a:rPr>
              <a:t> with </a:t>
            </a:r>
            <a:r>
              <a:rPr lang="en-US" altLang="en-US" sz="2000" dirty="0" err="1">
                <a:latin typeface="Times New Roman" panose="02020603050405020304" pitchFamily="18" charset="0"/>
                <a:cs typeface="Times New Roman" panose="02020603050405020304" pitchFamily="18" charset="0"/>
              </a:rPr>
              <a:t>min_support</a:t>
            </a:r>
            <a:endParaRPr lang="en-US" altLang="en-US" sz="2000" dirty="0">
              <a:latin typeface="Times New Roman" panose="02020603050405020304" pitchFamily="18" charset="0"/>
              <a:cs typeface="Times New Roman" panose="02020603050405020304" pitchFamily="18" charset="0"/>
            </a:endParaRPr>
          </a:p>
          <a:p>
            <a:pPr eaLnBrk="1" hangingPunct="1">
              <a:lnSpc>
                <a:spcPct val="110000"/>
              </a:lnSpc>
              <a:spcBef>
                <a:spcPct val="0"/>
              </a:spcBef>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a:t>
            </a:r>
            <a:r>
              <a:rPr lang="en-US" altLang="en-US" sz="2000" b="1" dirty="0">
                <a:solidFill>
                  <a:srgbClr val="F83F24"/>
                </a:solidFill>
                <a:latin typeface="Times New Roman" panose="02020603050405020304" pitchFamily="18" charset="0"/>
                <a:cs typeface="Times New Roman" panose="02020603050405020304" pitchFamily="18" charset="0"/>
              </a:rPr>
              <a:t> end</a:t>
            </a:r>
            <a:endParaRPr lang="en-US" altLang="en-US" sz="2000" dirty="0">
              <a:latin typeface="Times New Roman" panose="02020603050405020304" pitchFamily="18" charset="0"/>
              <a:cs typeface="Times New Roman" panose="02020603050405020304" pitchFamily="18" charset="0"/>
            </a:endParaRPr>
          </a:p>
          <a:p>
            <a:pPr eaLnBrk="1" hangingPunct="1">
              <a:lnSpc>
                <a:spcPct val="110000"/>
              </a:lnSpc>
              <a:spcBef>
                <a:spcPct val="0"/>
              </a:spcBef>
              <a:buFont typeface="Wingdings" panose="05000000000000000000" pitchFamily="2" charset="2"/>
              <a:buNone/>
            </a:pPr>
            <a:r>
              <a:rPr lang="en-US" altLang="en-US" sz="2000" b="1" dirty="0">
                <a:solidFill>
                  <a:srgbClr val="F83F24"/>
                </a:solidFill>
                <a:latin typeface="Times New Roman" panose="02020603050405020304" pitchFamily="18" charset="0"/>
                <a:cs typeface="Times New Roman" panose="02020603050405020304" pitchFamily="18" charset="0"/>
              </a:rPr>
              <a:t>return</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000" i="1" baseline="-25000"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 </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k</a:t>
            </a:r>
            <a:r>
              <a:rPr lang="en-US" altLang="en-US" sz="20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65D4EC39-BF62-694A-EE46-3C80EAEFF29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4BA5A4CD-EED8-48A4-8072-3C680D3A8969}" type="slidenum">
              <a:rPr lang="en-US" altLang="en-US" sz="1200"/>
              <a:pPr eaLnBrk="1" hangingPunct="1"/>
              <a:t>20</a:t>
            </a:fld>
            <a:endParaRPr lang="en-US" altLang="en-US" sz="1200"/>
          </a:p>
        </p:txBody>
      </p:sp>
      <p:sp>
        <p:nvSpPr>
          <p:cNvPr id="29699" name="Rectangle 2">
            <a:extLst>
              <a:ext uri="{FF2B5EF4-FFF2-40B4-BE49-F238E27FC236}">
                <a16:creationId xmlns:a16="http://schemas.microsoft.com/office/drawing/2014/main" id="{5A0A92B9-A067-5655-52D8-2EE4CCAAA8EF}"/>
              </a:ext>
            </a:extLst>
          </p:cNvPr>
          <p:cNvSpPr>
            <a:spLocks noGrp="1" noChangeArrowheads="1"/>
          </p:cNvSpPr>
          <p:nvPr>
            <p:ph type="title"/>
          </p:nvPr>
        </p:nvSpPr>
        <p:spPr>
          <a:xfrm>
            <a:off x="457200" y="274638"/>
            <a:ext cx="8229600" cy="639762"/>
          </a:xfrm>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Implementation of </a:t>
            </a:r>
            <a:r>
              <a:rPr lang="en-US" altLang="en-US" sz="3200" dirty="0" err="1">
                <a:solidFill>
                  <a:srgbClr val="002060"/>
                </a:solidFill>
                <a:effectLst/>
                <a:latin typeface="Times New Roman" panose="02020603050405020304" pitchFamily="18" charset="0"/>
                <a:cs typeface="Times New Roman" panose="02020603050405020304" pitchFamily="18" charset="0"/>
              </a:rPr>
              <a:t>Apriori</a:t>
            </a:r>
            <a:endParaRPr lang="en-US" altLang="en-US" sz="3200" dirty="0">
              <a:solidFill>
                <a:srgbClr val="002060"/>
              </a:solidFill>
              <a:effectLst/>
              <a:latin typeface="Times New Roman" panose="02020603050405020304" pitchFamily="18" charset="0"/>
              <a:cs typeface="Times New Roman" panose="02020603050405020304" pitchFamily="18" charset="0"/>
            </a:endParaRPr>
          </a:p>
        </p:txBody>
      </p:sp>
      <p:sp>
        <p:nvSpPr>
          <p:cNvPr id="29700" name="Rectangle 3">
            <a:extLst>
              <a:ext uri="{FF2B5EF4-FFF2-40B4-BE49-F238E27FC236}">
                <a16:creationId xmlns:a16="http://schemas.microsoft.com/office/drawing/2014/main" id="{A503E84C-B267-A8E8-AD3E-E67B821C4576}"/>
              </a:ext>
            </a:extLst>
          </p:cNvPr>
          <p:cNvSpPr>
            <a:spLocks noGrp="1" noChangeArrowheads="1"/>
          </p:cNvSpPr>
          <p:nvPr>
            <p:ph type="body" idx="1"/>
          </p:nvPr>
        </p:nvSpPr>
        <p:spPr>
          <a:xfrm>
            <a:off x="381000" y="1447800"/>
            <a:ext cx="8382000" cy="5029200"/>
          </a:xfrm>
        </p:spPr>
        <p:txBody>
          <a:bodyPr>
            <a:normAutofit/>
          </a:bodyPr>
          <a:lstStyle/>
          <a:p>
            <a:pPr eaLnBrk="1" hangingPunct="1">
              <a:lnSpc>
                <a:spcPct val="110000"/>
              </a:lnSpc>
            </a:pPr>
            <a:r>
              <a:rPr lang="en-US" altLang="en-US" sz="2000" dirty="0">
                <a:latin typeface="Times New Roman" panose="02020603050405020304" pitchFamily="18" charset="0"/>
                <a:cs typeface="Times New Roman" panose="02020603050405020304" pitchFamily="18" charset="0"/>
              </a:rPr>
              <a:t>How to generate candidates?</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Step 1: self-joining </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k</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Step 2: pruning</a:t>
            </a:r>
          </a:p>
          <a:p>
            <a:pPr eaLnBrk="1" hangingPunct="1">
              <a:lnSpc>
                <a:spcPct val="110000"/>
              </a:lnSpc>
            </a:pPr>
            <a:r>
              <a:rPr lang="en-US" altLang="en-US" sz="2000" dirty="0">
                <a:latin typeface="Times New Roman" panose="02020603050405020304" pitchFamily="18" charset="0"/>
                <a:cs typeface="Times New Roman" panose="02020603050405020304" pitchFamily="18" charset="0"/>
              </a:rPr>
              <a:t>Example of Candidate-generation</a:t>
            </a:r>
          </a:p>
          <a:p>
            <a:pPr lvl="1" eaLnBrk="1" hangingPunct="1">
              <a:lnSpc>
                <a:spcPct val="110000"/>
              </a:lnSpc>
            </a:pP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3</a:t>
            </a:r>
            <a:r>
              <a:rPr lang="en-US" altLang="en-US" sz="2000" i="1"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a:t>
            </a:r>
            <a:r>
              <a:rPr lang="en-US" altLang="en-US" sz="2000" i="1" dirty="0" err="1">
                <a:latin typeface="Times New Roman" panose="02020603050405020304" pitchFamily="18" charset="0"/>
                <a:cs typeface="Times New Roman" panose="02020603050405020304" pitchFamily="18" charset="0"/>
              </a:rPr>
              <a:t>abc</a:t>
            </a:r>
            <a:r>
              <a:rPr lang="en-US" altLang="en-US" sz="2000" i="1" dirty="0">
                <a:latin typeface="Times New Roman" panose="02020603050405020304" pitchFamily="18" charset="0"/>
                <a:cs typeface="Times New Roman" panose="02020603050405020304" pitchFamily="18" charset="0"/>
              </a:rPr>
              <a:t>, </a:t>
            </a:r>
            <a:r>
              <a:rPr lang="en-US" altLang="en-US" sz="2000" i="1" dirty="0" err="1">
                <a:latin typeface="Times New Roman" panose="02020603050405020304" pitchFamily="18" charset="0"/>
                <a:cs typeface="Times New Roman" panose="02020603050405020304" pitchFamily="18" charset="0"/>
              </a:rPr>
              <a:t>abd</a:t>
            </a:r>
            <a:r>
              <a:rPr lang="en-US" altLang="en-US" sz="2000" i="1" dirty="0">
                <a:latin typeface="Times New Roman" panose="02020603050405020304" pitchFamily="18" charset="0"/>
                <a:cs typeface="Times New Roman" panose="02020603050405020304" pitchFamily="18" charset="0"/>
              </a:rPr>
              <a:t>, </a:t>
            </a:r>
            <a:r>
              <a:rPr lang="en-US" altLang="en-US" sz="2000" i="1" dirty="0" err="1">
                <a:latin typeface="Times New Roman" panose="02020603050405020304" pitchFamily="18" charset="0"/>
                <a:cs typeface="Times New Roman" panose="02020603050405020304" pitchFamily="18" charset="0"/>
              </a:rPr>
              <a:t>acd</a:t>
            </a:r>
            <a:r>
              <a:rPr lang="en-US" altLang="en-US" sz="2000" i="1" dirty="0">
                <a:latin typeface="Times New Roman" panose="02020603050405020304" pitchFamily="18" charset="0"/>
                <a:cs typeface="Times New Roman" panose="02020603050405020304" pitchFamily="18" charset="0"/>
              </a:rPr>
              <a:t>, ace, </a:t>
            </a:r>
            <a:r>
              <a:rPr lang="en-US" altLang="en-US" sz="2000" i="1" dirty="0" err="1">
                <a:latin typeface="Times New Roman" panose="02020603050405020304" pitchFamily="18" charset="0"/>
                <a:cs typeface="Times New Roman" panose="02020603050405020304" pitchFamily="18" charset="0"/>
              </a:rPr>
              <a:t>bcd</a:t>
            </a:r>
            <a:r>
              <a:rPr lang="en-US" altLang="en-US" sz="2000" dirty="0">
                <a:latin typeface="Times New Roman" panose="02020603050405020304" pitchFamily="18" charset="0"/>
                <a:cs typeface="Times New Roman" panose="02020603050405020304" pitchFamily="18" charset="0"/>
              </a:rPr>
              <a:t>}</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Self-joining: </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3</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3</a:t>
            </a:r>
            <a:endParaRPr lang="en-US" altLang="en-US" sz="2000" i="1" dirty="0">
              <a:latin typeface="Times New Roman" panose="02020603050405020304" pitchFamily="18" charset="0"/>
              <a:cs typeface="Times New Roman" panose="02020603050405020304" pitchFamily="18" charset="0"/>
            </a:endParaRPr>
          </a:p>
          <a:p>
            <a:pPr lvl="2" eaLnBrk="1" hangingPunct="1">
              <a:lnSpc>
                <a:spcPct val="110000"/>
              </a:lnSpc>
            </a:pPr>
            <a:r>
              <a:rPr lang="en-US" altLang="en-US" sz="2000" i="1" dirty="0" err="1">
                <a:latin typeface="Times New Roman" panose="02020603050405020304" pitchFamily="18" charset="0"/>
                <a:cs typeface="Times New Roman" panose="02020603050405020304" pitchFamily="18" charset="0"/>
              </a:rPr>
              <a:t>abcd</a:t>
            </a:r>
            <a:r>
              <a:rPr lang="en-US" altLang="en-US" sz="2000" i="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from </a:t>
            </a:r>
            <a:r>
              <a:rPr lang="en-US" altLang="en-US" sz="2000" i="1" dirty="0" err="1">
                <a:latin typeface="Times New Roman" panose="02020603050405020304" pitchFamily="18" charset="0"/>
                <a:cs typeface="Times New Roman" panose="02020603050405020304" pitchFamily="18" charset="0"/>
              </a:rPr>
              <a:t>abc</a:t>
            </a:r>
            <a:r>
              <a:rPr lang="en-US" altLang="en-US" sz="2000" dirty="0">
                <a:latin typeface="Times New Roman" panose="02020603050405020304" pitchFamily="18" charset="0"/>
                <a:cs typeface="Times New Roman" panose="02020603050405020304" pitchFamily="18" charset="0"/>
              </a:rPr>
              <a:t> and </a:t>
            </a:r>
            <a:r>
              <a:rPr lang="en-US" altLang="en-US" sz="2000" i="1" dirty="0" err="1">
                <a:latin typeface="Times New Roman" panose="02020603050405020304" pitchFamily="18" charset="0"/>
                <a:cs typeface="Times New Roman" panose="02020603050405020304" pitchFamily="18" charset="0"/>
              </a:rPr>
              <a:t>abd</a:t>
            </a:r>
            <a:endParaRPr lang="en-US" altLang="en-US" sz="2000" i="1" dirty="0">
              <a:latin typeface="Times New Roman" panose="02020603050405020304" pitchFamily="18" charset="0"/>
              <a:cs typeface="Times New Roman" panose="02020603050405020304" pitchFamily="18" charset="0"/>
            </a:endParaRPr>
          </a:p>
          <a:p>
            <a:pPr lvl="2" eaLnBrk="1" hangingPunct="1">
              <a:lnSpc>
                <a:spcPct val="110000"/>
              </a:lnSpc>
            </a:pPr>
            <a:r>
              <a:rPr lang="en-US" altLang="en-US" sz="2000" i="1" dirty="0" err="1">
                <a:latin typeface="Times New Roman" panose="02020603050405020304" pitchFamily="18" charset="0"/>
                <a:cs typeface="Times New Roman" panose="02020603050405020304" pitchFamily="18" charset="0"/>
              </a:rPr>
              <a:t>acde</a:t>
            </a:r>
            <a:r>
              <a:rPr lang="en-US" altLang="en-US" sz="2000" dirty="0">
                <a:latin typeface="Times New Roman" panose="02020603050405020304" pitchFamily="18" charset="0"/>
                <a:cs typeface="Times New Roman" panose="02020603050405020304" pitchFamily="18" charset="0"/>
              </a:rPr>
              <a:t> from </a:t>
            </a:r>
            <a:r>
              <a:rPr lang="en-US" altLang="en-US" sz="2000" i="1" dirty="0" err="1">
                <a:latin typeface="Times New Roman" panose="02020603050405020304" pitchFamily="18" charset="0"/>
                <a:cs typeface="Times New Roman" panose="02020603050405020304" pitchFamily="18" charset="0"/>
              </a:rPr>
              <a:t>acd</a:t>
            </a:r>
            <a:r>
              <a:rPr lang="en-US" altLang="en-US" sz="2000" dirty="0">
                <a:latin typeface="Times New Roman" panose="02020603050405020304" pitchFamily="18" charset="0"/>
                <a:cs typeface="Times New Roman" panose="02020603050405020304" pitchFamily="18" charset="0"/>
              </a:rPr>
              <a:t> and </a:t>
            </a:r>
            <a:r>
              <a:rPr lang="en-US" altLang="en-US" sz="2000" i="1" dirty="0">
                <a:latin typeface="Times New Roman" panose="02020603050405020304" pitchFamily="18" charset="0"/>
                <a:cs typeface="Times New Roman" panose="02020603050405020304" pitchFamily="18" charset="0"/>
              </a:rPr>
              <a:t>ace</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Pruning:</a:t>
            </a:r>
          </a:p>
          <a:p>
            <a:pPr lvl="2" eaLnBrk="1" hangingPunct="1">
              <a:lnSpc>
                <a:spcPct val="110000"/>
              </a:lnSpc>
            </a:pPr>
            <a:r>
              <a:rPr lang="en-US" altLang="en-US" sz="2000" i="1" dirty="0" err="1">
                <a:latin typeface="Times New Roman" panose="02020603050405020304" pitchFamily="18" charset="0"/>
                <a:cs typeface="Times New Roman" panose="02020603050405020304" pitchFamily="18" charset="0"/>
              </a:rPr>
              <a:t>acde</a:t>
            </a:r>
            <a:r>
              <a:rPr lang="en-US" altLang="en-US" sz="2000" dirty="0">
                <a:latin typeface="Times New Roman" panose="02020603050405020304" pitchFamily="18" charset="0"/>
                <a:cs typeface="Times New Roman" panose="02020603050405020304" pitchFamily="18" charset="0"/>
              </a:rPr>
              <a:t> is removed because </a:t>
            </a:r>
            <a:r>
              <a:rPr lang="en-US" altLang="en-US" sz="2000" i="1" dirty="0" err="1">
                <a:latin typeface="Times New Roman" panose="02020603050405020304" pitchFamily="18" charset="0"/>
                <a:cs typeface="Times New Roman" panose="02020603050405020304" pitchFamily="18" charset="0"/>
              </a:rPr>
              <a:t>ade</a:t>
            </a:r>
            <a:r>
              <a:rPr lang="en-US" altLang="en-US" sz="2000" dirty="0">
                <a:latin typeface="Times New Roman" panose="02020603050405020304" pitchFamily="18" charset="0"/>
                <a:cs typeface="Times New Roman" panose="02020603050405020304" pitchFamily="18" charset="0"/>
              </a:rPr>
              <a:t> is not in </a:t>
            </a:r>
            <a:r>
              <a:rPr lang="en-US" altLang="en-US" sz="2000" i="1" dirty="0">
                <a:latin typeface="Times New Roman" panose="02020603050405020304" pitchFamily="18" charset="0"/>
                <a:cs typeface="Times New Roman" panose="02020603050405020304" pitchFamily="18" charset="0"/>
              </a:rPr>
              <a:t>L</a:t>
            </a:r>
            <a:r>
              <a:rPr lang="en-US" altLang="en-US" sz="2000" i="1" baseline="-25000" dirty="0">
                <a:latin typeface="Times New Roman" panose="02020603050405020304" pitchFamily="18" charset="0"/>
                <a:cs typeface="Times New Roman" panose="02020603050405020304" pitchFamily="18" charset="0"/>
              </a:rPr>
              <a:t>3</a:t>
            </a:r>
          </a:p>
          <a:p>
            <a:pPr lvl="1" eaLnBrk="1" hangingPunct="1">
              <a:lnSpc>
                <a:spcPct val="110000"/>
              </a:lnSpc>
            </a:pPr>
            <a:r>
              <a:rPr lang="en-US" altLang="en-US" sz="2000" i="1" dirty="0">
                <a:latin typeface="Times New Roman" panose="02020603050405020304" pitchFamily="18" charset="0"/>
                <a:cs typeface="Times New Roman" panose="02020603050405020304" pitchFamily="18" charset="0"/>
              </a:rPr>
              <a:t>C</a:t>
            </a:r>
            <a:r>
              <a:rPr lang="en-US" altLang="en-US" sz="2000" i="1" baseline="-25000" dirty="0">
                <a:latin typeface="Times New Roman" panose="02020603050405020304" pitchFamily="18" charset="0"/>
                <a:cs typeface="Times New Roman" panose="02020603050405020304" pitchFamily="18" charset="0"/>
              </a:rPr>
              <a:t>4 </a:t>
            </a:r>
            <a:r>
              <a:rPr lang="en-US" altLang="en-US" sz="2000" dirty="0">
                <a:latin typeface="Times New Roman" panose="02020603050405020304" pitchFamily="18" charset="0"/>
                <a:cs typeface="Times New Roman" panose="02020603050405020304" pitchFamily="18" charset="0"/>
              </a:rPr>
              <a:t>= {</a:t>
            </a:r>
            <a:r>
              <a:rPr lang="en-US" altLang="en-US" sz="2000" i="1" dirty="0" err="1">
                <a:latin typeface="Times New Roman" panose="02020603050405020304" pitchFamily="18" charset="0"/>
                <a:cs typeface="Times New Roman" panose="02020603050405020304" pitchFamily="18" charset="0"/>
              </a:rPr>
              <a:t>abcd</a:t>
            </a:r>
            <a:r>
              <a:rPr lang="en-US" altLang="en-US" sz="2000" dirty="0">
                <a:latin typeface="Times New Roman" panose="02020603050405020304" pitchFamily="18" charset="0"/>
                <a:cs typeface="Times New Roman" panose="02020603050405020304" pitchFamily="18" charset="0"/>
              </a:rPr>
              <a:t>}</a:t>
            </a:r>
          </a:p>
          <a:p>
            <a:pPr eaLnBrk="1" hangingPunct="1">
              <a:lnSpc>
                <a:spcPct val="110000"/>
              </a:lnSpc>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5738" y="258624"/>
            <a:ext cx="8252524" cy="735235"/>
          </a:xfrm>
          <a:prstGeom prst="rect">
            <a:avLst/>
          </a:prstGeom>
        </p:spPr>
        <p:txBody>
          <a:bodyPr vert="horz" wrap="square" lIns="0" tIns="240444" rIns="0" bIns="0" rtlCol="0" anchor="ctr">
            <a:spAutoFit/>
            <a:scene3d>
              <a:camera prst="orthographicFront"/>
              <a:lightRig rig="soft" dir="t"/>
            </a:scene3d>
            <a:sp3d prstMaterial="softEdge">
              <a:bevelT w="25400" h="25400"/>
            </a:sp3d>
          </a:bodyPr>
          <a:lstStyle/>
          <a:p>
            <a:pPr marL="1065966">
              <a:spcBef>
                <a:spcPts val="100"/>
              </a:spcBef>
            </a:pPr>
            <a:r>
              <a:rPr sz="3200" dirty="0">
                <a:solidFill>
                  <a:srgbClr val="002060"/>
                </a:solidFill>
                <a:effectLst/>
                <a:latin typeface="Times New Roman" panose="02020603050405020304" pitchFamily="18" charset="0"/>
                <a:cs typeface="Times New Roman" panose="02020603050405020304" pitchFamily="18" charset="0"/>
              </a:rPr>
              <a:t>The</a:t>
            </a:r>
            <a:r>
              <a:rPr sz="3200" spc="-35"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Apriori</a:t>
            </a:r>
            <a:r>
              <a:rPr sz="3200" spc="-35"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Algorithm:</a:t>
            </a:r>
            <a:r>
              <a:rPr sz="3200" spc="-25" dirty="0">
                <a:solidFill>
                  <a:srgbClr val="002060"/>
                </a:solidFill>
                <a:effectLst/>
                <a:latin typeface="Times New Roman" panose="02020603050405020304" pitchFamily="18" charset="0"/>
                <a:cs typeface="Times New Roman" panose="02020603050405020304" pitchFamily="18" charset="0"/>
              </a:rPr>
              <a:t> </a:t>
            </a:r>
            <a:r>
              <a:rPr sz="3200" spc="-10" dirty="0">
                <a:solidFill>
                  <a:srgbClr val="002060"/>
                </a:solidFill>
                <a:effectLst/>
                <a:latin typeface="Times New Roman" panose="02020603050405020304" pitchFamily="18" charset="0"/>
                <a:cs typeface="Times New Roman" panose="02020603050405020304" pitchFamily="18" charset="0"/>
              </a:rPr>
              <a:t>Example</a:t>
            </a:r>
          </a:p>
        </p:txBody>
      </p:sp>
      <p:sp>
        <p:nvSpPr>
          <p:cNvPr id="3" name="object 3"/>
          <p:cNvSpPr txBox="1"/>
          <p:nvPr/>
        </p:nvSpPr>
        <p:spPr>
          <a:xfrm>
            <a:off x="4269663" y="1622105"/>
            <a:ext cx="4156826" cy="3954322"/>
          </a:xfrm>
          <a:prstGeom prst="rect">
            <a:avLst/>
          </a:prstGeom>
        </p:spPr>
        <p:txBody>
          <a:bodyPr vert="horz" wrap="square" lIns="0" tIns="12099" rIns="0" bIns="0" rtlCol="0">
            <a:spAutoFit/>
          </a:bodyPr>
          <a:lstStyle/>
          <a:p>
            <a:pPr marL="355959" marR="652061" indent="-343860" algn="just">
              <a:spcBef>
                <a:spcPts val="95"/>
              </a:spcBef>
              <a:buChar char="•"/>
              <a:tabLst>
                <a:tab pos="355959" algn="l"/>
              </a:tabLst>
            </a:pPr>
            <a:r>
              <a:rPr sz="2000" dirty="0">
                <a:latin typeface="Times New Roman" panose="02020603050405020304" pitchFamily="18" charset="0"/>
                <a:cs typeface="Times New Roman" panose="02020603050405020304" pitchFamily="18" charset="0"/>
              </a:rPr>
              <a:t>Consider</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database,</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a:t>
            </a:r>
            <a:r>
              <a:rPr sz="2000" spc="-50" dirty="0">
                <a:latin typeface="Times New Roman" panose="02020603050405020304" pitchFamily="18" charset="0"/>
                <a:cs typeface="Times New Roman" panose="02020603050405020304" pitchFamily="18" charset="0"/>
              </a:rPr>
              <a:t> , </a:t>
            </a:r>
            <a:r>
              <a:rPr sz="2000" dirty="0">
                <a:latin typeface="Times New Roman" panose="02020603050405020304" pitchFamily="18" charset="0"/>
                <a:cs typeface="Times New Roman" panose="02020603050405020304" pitchFamily="18" charset="0"/>
              </a:rPr>
              <a:t>consisting</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9</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transactions.</a:t>
            </a:r>
            <a:endParaRPr sz="2000" dirty="0">
              <a:latin typeface="Times New Roman" panose="02020603050405020304" pitchFamily="18" charset="0"/>
              <a:cs typeface="Times New Roman" panose="02020603050405020304" pitchFamily="18" charset="0"/>
            </a:endParaRPr>
          </a:p>
          <a:p>
            <a:pPr marL="355959" marR="5094" indent="-343860" algn="just">
              <a:spcBef>
                <a:spcPts val="481"/>
              </a:spcBef>
              <a:buChar char="•"/>
              <a:tabLst>
                <a:tab pos="355959" algn="l"/>
              </a:tabLst>
            </a:pPr>
            <a:r>
              <a:rPr sz="2000" dirty="0">
                <a:latin typeface="Times New Roman" panose="02020603050405020304" pitchFamily="18" charset="0"/>
                <a:cs typeface="Times New Roman" panose="02020603050405020304" pitchFamily="18" charset="0"/>
              </a:rPr>
              <a:t>Suppose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min.</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support</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count </a:t>
            </a:r>
            <a:r>
              <a:rPr sz="2000" dirty="0">
                <a:latin typeface="Times New Roman" panose="02020603050405020304" pitchFamily="18" charset="0"/>
                <a:cs typeface="Times New Roman" panose="02020603050405020304" pitchFamily="18" charset="0"/>
              </a:rPr>
              <a:t>required</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2</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(i.e.</a:t>
            </a:r>
            <a:r>
              <a:rPr sz="2000" spc="-35" dirty="0">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min_sup</a:t>
            </a:r>
            <a:r>
              <a:rPr sz="2000" spc="-3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a:t>
            </a:r>
            <a:r>
              <a:rPr sz="2000" spc="-5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2/9</a:t>
            </a:r>
            <a:r>
              <a:rPr sz="2000" spc="-45" dirty="0">
                <a:solidFill>
                  <a:srgbClr val="009A9A"/>
                </a:solidFill>
                <a:latin typeface="Times New Roman" panose="02020603050405020304" pitchFamily="18" charset="0"/>
                <a:cs typeface="Times New Roman" panose="02020603050405020304" pitchFamily="18" charset="0"/>
              </a:rPr>
              <a:t> </a:t>
            </a:r>
            <a:r>
              <a:rPr sz="2000" spc="-5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22</a:t>
            </a:r>
            <a:r>
              <a:rPr sz="2000" spc="-2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a:t>
            </a:r>
            <a:r>
              <a:rPr sz="2000" spc="-20" dirty="0">
                <a:solidFill>
                  <a:srgbClr val="009A9A"/>
                </a:solidFill>
                <a:latin typeface="Times New Roman" panose="02020603050405020304" pitchFamily="18" charset="0"/>
                <a:cs typeface="Times New Roman" panose="02020603050405020304" pitchFamily="18" charset="0"/>
              </a:rPr>
              <a:t> </a:t>
            </a:r>
            <a:r>
              <a:rPr sz="2000" spc="-5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355959" marR="29291" indent="-343860" algn="just">
              <a:spcBef>
                <a:spcPts val="476"/>
              </a:spcBef>
              <a:buChar char="•"/>
              <a:tabLst>
                <a:tab pos="355959" algn="l"/>
              </a:tabLst>
            </a:pPr>
            <a:r>
              <a:rPr sz="2000" dirty="0">
                <a:latin typeface="Times New Roman" panose="02020603050405020304" pitchFamily="18" charset="0"/>
                <a:cs typeface="Times New Roman" panose="02020603050405020304" pitchFamily="18" charset="0"/>
              </a:rPr>
              <a:t>Let</a:t>
            </a:r>
            <a:r>
              <a:rPr sz="2000" spc="-65" dirty="0">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minimum</a:t>
            </a:r>
            <a:r>
              <a:rPr sz="2000" spc="-6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confidence</a:t>
            </a:r>
            <a:r>
              <a:rPr sz="2000" spc="-65" dirty="0">
                <a:solidFill>
                  <a:srgbClr val="009A9A"/>
                </a:solidFill>
                <a:latin typeface="Times New Roman" panose="02020603050405020304" pitchFamily="18" charset="0"/>
                <a:cs typeface="Times New Roman" panose="02020603050405020304" pitchFamily="18" charset="0"/>
              </a:rPr>
              <a:t> </a:t>
            </a:r>
            <a:r>
              <a:rPr sz="2000" spc="-10" dirty="0">
                <a:solidFill>
                  <a:srgbClr val="009A9A"/>
                </a:solidFill>
                <a:latin typeface="Times New Roman" panose="02020603050405020304" pitchFamily="18" charset="0"/>
                <a:cs typeface="Times New Roman" panose="02020603050405020304" pitchFamily="18" charset="0"/>
              </a:rPr>
              <a:t>required </a:t>
            </a:r>
            <a:r>
              <a:rPr sz="2000" dirty="0">
                <a:solidFill>
                  <a:srgbClr val="009A9A"/>
                </a:solidFill>
                <a:latin typeface="Times New Roman" panose="02020603050405020304" pitchFamily="18" charset="0"/>
                <a:cs typeface="Times New Roman" panose="02020603050405020304" pitchFamily="18" charset="0"/>
              </a:rPr>
              <a:t>is</a:t>
            </a:r>
            <a:r>
              <a:rPr sz="2000" spc="-15" dirty="0">
                <a:solidFill>
                  <a:srgbClr val="009A9A"/>
                </a:solidFill>
                <a:latin typeface="Times New Roman" panose="02020603050405020304" pitchFamily="18" charset="0"/>
                <a:cs typeface="Times New Roman" panose="02020603050405020304" pitchFamily="18" charset="0"/>
              </a:rPr>
              <a:t> </a:t>
            </a:r>
            <a:r>
              <a:rPr sz="2000" spc="-20" dirty="0">
                <a:solidFill>
                  <a:srgbClr val="009A9A"/>
                </a:solidFill>
                <a:latin typeface="Times New Roman" panose="02020603050405020304" pitchFamily="18" charset="0"/>
                <a:cs typeface="Times New Roman" panose="02020603050405020304" pitchFamily="18" charset="0"/>
              </a:rPr>
              <a:t>70%.</a:t>
            </a:r>
            <a:endParaRPr sz="2000" dirty="0">
              <a:latin typeface="Times New Roman" panose="02020603050405020304" pitchFamily="18" charset="0"/>
              <a:cs typeface="Times New Roman" panose="02020603050405020304" pitchFamily="18" charset="0"/>
            </a:endParaRPr>
          </a:p>
          <a:p>
            <a:pPr marL="355959" marR="482678" indent="-343860" algn="just">
              <a:spcBef>
                <a:spcPts val="476"/>
              </a:spcBef>
              <a:buChar char="•"/>
              <a:tabLst>
                <a:tab pos="355959" algn="l"/>
              </a:tabLst>
            </a:pPr>
            <a:r>
              <a:rPr sz="2000" dirty="0">
                <a:latin typeface="Times New Roman" panose="02020603050405020304" pitchFamily="18" charset="0"/>
                <a:cs typeface="Times New Roman" panose="02020603050405020304" pitchFamily="18" charset="0"/>
              </a:rPr>
              <a:t>We</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have</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first</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find</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out</a:t>
            </a:r>
            <a:r>
              <a:rPr sz="2000" spc="-3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frequent</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itemset</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using</a:t>
            </a:r>
            <a:r>
              <a:rPr sz="2000" spc="-4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Apriori algorithm.</a:t>
            </a:r>
            <a:endParaRPr sz="2000" dirty="0">
              <a:latin typeface="Times New Roman" panose="02020603050405020304" pitchFamily="18" charset="0"/>
              <a:cs typeface="Times New Roman" panose="02020603050405020304" pitchFamily="18" charset="0"/>
            </a:endParaRPr>
          </a:p>
          <a:p>
            <a:pPr marL="355959" marR="258532" indent="-343860" algn="just">
              <a:lnSpc>
                <a:spcPct val="98100"/>
              </a:lnSpc>
              <a:spcBef>
                <a:spcPts val="521"/>
              </a:spcBef>
              <a:buChar char="•"/>
              <a:tabLst>
                <a:tab pos="355959" algn="l"/>
              </a:tabLst>
            </a:pPr>
            <a:r>
              <a:rPr sz="2000" dirty="0">
                <a:latin typeface="Times New Roman" panose="02020603050405020304" pitchFamily="18" charset="0"/>
                <a:cs typeface="Times New Roman" panose="02020603050405020304" pitchFamily="18" charset="0"/>
              </a:rPr>
              <a:t>Then,</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Association</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rules</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will</a:t>
            </a:r>
            <a:r>
              <a:rPr sz="2000" spc="-5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be </a:t>
            </a:r>
            <a:r>
              <a:rPr sz="2000" dirty="0">
                <a:latin typeface="Times New Roman" panose="02020603050405020304" pitchFamily="18" charset="0"/>
                <a:cs typeface="Times New Roman" panose="02020603050405020304" pitchFamily="18" charset="0"/>
              </a:rPr>
              <a:t>generated</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using</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min.</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support</a:t>
            </a:r>
            <a:r>
              <a:rPr sz="2000" spc="-70" dirty="0">
                <a:latin typeface="Times New Roman" panose="02020603050405020304" pitchFamily="18" charset="0"/>
                <a:cs typeface="Times New Roman" panose="02020603050405020304" pitchFamily="18" charset="0"/>
              </a:rPr>
              <a:t> </a:t>
            </a:r>
            <a:r>
              <a:rPr sz="2000" spc="-50" dirty="0">
                <a:latin typeface="Times New Roman" panose="02020603050405020304" pitchFamily="18" charset="0"/>
                <a:cs typeface="Times New Roman" panose="02020603050405020304" pitchFamily="18" charset="0"/>
              </a:rPr>
              <a:t>&amp; </a:t>
            </a:r>
            <a:r>
              <a:rPr sz="2000" dirty="0">
                <a:latin typeface="Times New Roman" panose="02020603050405020304" pitchFamily="18" charset="0"/>
                <a:cs typeface="Times New Roman" panose="02020603050405020304" pitchFamily="18" charset="0"/>
              </a:rPr>
              <a:t>min.</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confidence.</a:t>
            </a:r>
            <a:endParaRPr sz="2000" dirty="0">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extLst>
              <p:ext uri="{D42A27DB-BD31-4B8C-83A1-F6EECF244321}">
                <p14:modId xmlns:p14="http://schemas.microsoft.com/office/powerpoint/2010/main" val="2585360360"/>
              </p:ext>
            </p:extLst>
          </p:nvPr>
        </p:nvGraphicFramePr>
        <p:xfrm>
          <a:off x="889884" y="1733603"/>
          <a:ext cx="2903666" cy="4125622"/>
        </p:xfrm>
        <a:graphic>
          <a:graphicData uri="http://schemas.openxmlformats.org/drawingml/2006/table">
            <a:tbl>
              <a:tblPr firstRow="1" bandRow="1">
                <a:tableStyleId>{2D5ABB26-0587-4C30-8999-92F81FD0307C}</a:tableStyleId>
              </a:tblPr>
              <a:tblGrid>
                <a:gridCol w="1451833">
                  <a:extLst>
                    <a:ext uri="{9D8B030D-6E8A-4147-A177-3AD203B41FA5}">
                      <a16:colId xmlns:a16="http://schemas.microsoft.com/office/drawing/2014/main" val="20000"/>
                    </a:ext>
                  </a:extLst>
                </a:gridCol>
                <a:gridCol w="1451833">
                  <a:extLst>
                    <a:ext uri="{9D8B030D-6E8A-4147-A177-3AD203B41FA5}">
                      <a16:colId xmlns:a16="http://schemas.microsoft.com/office/drawing/2014/main" val="20001"/>
                    </a:ext>
                  </a:extLst>
                </a:gridCol>
              </a:tblGrid>
              <a:tr h="335577">
                <a:tc>
                  <a:txBody>
                    <a:bodyPr/>
                    <a:lstStyle/>
                    <a:p>
                      <a:pPr marL="635" algn="ctr">
                        <a:lnSpc>
                          <a:spcPct val="100000"/>
                        </a:lnSpc>
                        <a:spcBef>
                          <a:spcPts val="325"/>
                        </a:spcBef>
                      </a:pPr>
                      <a:r>
                        <a:rPr sz="1600" b="1" spc="-25" dirty="0">
                          <a:latin typeface="Times New Roman" panose="02020603050405020304" pitchFamily="18" charset="0"/>
                          <a:cs typeface="Times New Roman" panose="02020603050405020304" pitchFamily="18" charset="0"/>
                        </a:rPr>
                        <a:t>TID</a:t>
                      </a:r>
                      <a:endParaRPr sz="160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600" b="1" dirty="0">
                          <a:latin typeface="Times New Roman" panose="02020603050405020304" pitchFamily="18" charset="0"/>
                          <a:cs typeface="Times New Roman" panose="02020603050405020304" pitchFamily="18" charset="0"/>
                        </a:rPr>
                        <a:t>List</a:t>
                      </a:r>
                      <a:r>
                        <a:rPr sz="1600" b="1" spc="-20" dirty="0">
                          <a:latin typeface="Times New Roman" panose="02020603050405020304" pitchFamily="18" charset="0"/>
                          <a:cs typeface="Times New Roman" panose="02020603050405020304" pitchFamily="18" charset="0"/>
                        </a:rPr>
                        <a:t> </a:t>
                      </a:r>
                      <a:r>
                        <a:rPr sz="1600" b="1" dirty="0">
                          <a:latin typeface="Times New Roman" panose="02020603050405020304" pitchFamily="18" charset="0"/>
                          <a:cs typeface="Times New Roman" panose="02020603050405020304" pitchFamily="18" charset="0"/>
                        </a:rPr>
                        <a:t>of</a:t>
                      </a:r>
                      <a:r>
                        <a:rPr sz="1600" b="1" spc="-20" dirty="0">
                          <a:latin typeface="Times New Roman" panose="02020603050405020304" pitchFamily="18" charset="0"/>
                          <a:cs typeface="Times New Roman" panose="02020603050405020304" pitchFamily="18" charset="0"/>
                        </a:rPr>
                        <a:t> </a:t>
                      </a:r>
                      <a:r>
                        <a:rPr sz="1600" b="1" spc="-10" dirty="0">
                          <a:latin typeface="Times New Roman" panose="02020603050405020304" pitchFamily="18" charset="0"/>
                          <a:cs typeface="Times New Roman" panose="02020603050405020304" pitchFamily="18" charset="0"/>
                        </a:rPr>
                        <a:t>Items</a:t>
                      </a:r>
                      <a:endParaRPr sz="16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27909">
                <a:tc>
                  <a:txBody>
                    <a:bodyPr/>
                    <a:lstStyle/>
                    <a:p>
                      <a:pPr marL="635" algn="ctr">
                        <a:lnSpc>
                          <a:spcPct val="100000"/>
                        </a:lnSpc>
                        <a:spcBef>
                          <a:spcPts val="325"/>
                        </a:spcBef>
                      </a:pPr>
                      <a:r>
                        <a:rPr sz="1600" spc="-20" dirty="0">
                          <a:latin typeface="Times New Roman" panose="02020603050405020304" pitchFamily="18" charset="0"/>
                          <a:cs typeface="Times New Roman" panose="02020603050405020304" pitchFamily="18" charset="0"/>
                        </a:rPr>
                        <a:t>T10</a:t>
                      </a:r>
                      <a:r>
                        <a:rPr lang="en-IN" sz="1600" spc="-20" dirty="0">
                          <a:latin typeface="Times New Roman" panose="02020603050405020304" pitchFamily="18" charset="0"/>
                          <a:cs typeface="Times New Roman" panose="02020603050405020304" pitchFamily="18" charset="0"/>
                        </a:rPr>
                        <a:t>1</a:t>
                      </a:r>
                      <a:endParaRPr sz="16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600" dirty="0">
                          <a:latin typeface="Times New Roman" panose="02020603050405020304" pitchFamily="18" charset="0"/>
                          <a:cs typeface="Times New Roman" panose="02020603050405020304" pitchFamily="18" charset="0"/>
                        </a:rPr>
                        <a:t>I1,</a:t>
                      </a:r>
                      <a:r>
                        <a:rPr sz="1600" spc="-15"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I2,</a:t>
                      </a:r>
                      <a:r>
                        <a:rPr sz="1600" spc="-15" dirty="0">
                          <a:latin typeface="Times New Roman" panose="02020603050405020304" pitchFamily="18" charset="0"/>
                          <a:cs typeface="Times New Roman" panose="02020603050405020304" pitchFamily="18" charset="0"/>
                        </a:rPr>
                        <a:t> </a:t>
                      </a:r>
                      <a:r>
                        <a:rPr sz="1600" spc="-25" dirty="0">
                          <a:latin typeface="Times New Roman" panose="02020603050405020304" pitchFamily="18" charset="0"/>
                          <a:cs typeface="Times New Roman" panose="02020603050405020304" pitchFamily="18" charset="0"/>
                        </a:rPr>
                        <a:t>I5</a:t>
                      </a:r>
                      <a:endParaRPr sz="16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20267">
                <a:tc>
                  <a:txBody>
                    <a:bodyPr/>
                    <a:lstStyle/>
                    <a:p>
                      <a:pPr algn="ctr">
                        <a:lnSpc>
                          <a:spcPct val="100000"/>
                        </a:lnSpc>
                        <a:spcBef>
                          <a:spcPts val="325"/>
                        </a:spcBef>
                      </a:pPr>
                      <a:r>
                        <a:rPr sz="1600" spc="-20" dirty="0">
                          <a:latin typeface="Times New Roman" panose="02020603050405020304" pitchFamily="18" charset="0"/>
                          <a:cs typeface="Times New Roman" panose="02020603050405020304" pitchFamily="18" charset="0"/>
                        </a:rPr>
                        <a:t>T10</a:t>
                      </a:r>
                      <a:r>
                        <a:rPr lang="en-IN" sz="1600" spc="-20" dirty="0">
                          <a:latin typeface="Times New Roman" panose="02020603050405020304" pitchFamily="18" charset="0"/>
                          <a:cs typeface="Times New Roman" panose="02020603050405020304" pitchFamily="18" charset="0"/>
                        </a:rPr>
                        <a:t>2</a:t>
                      </a:r>
                      <a:endParaRPr sz="16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600" dirty="0">
                          <a:latin typeface="Times New Roman" panose="02020603050405020304" pitchFamily="18" charset="0"/>
                          <a:cs typeface="Times New Roman" panose="02020603050405020304" pitchFamily="18" charset="0"/>
                        </a:rPr>
                        <a:t>I2,</a:t>
                      </a:r>
                      <a:r>
                        <a:rPr sz="1600" spc="-15" dirty="0">
                          <a:latin typeface="Times New Roman" panose="02020603050405020304" pitchFamily="18" charset="0"/>
                          <a:cs typeface="Times New Roman" panose="02020603050405020304" pitchFamily="18" charset="0"/>
                        </a:rPr>
                        <a:t> </a:t>
                      </a:r>
                      <a:r>
                        <a:rPr sz="1600" spc="-25" dirty="0">
                          <a:latin typeface="Times New Roman" panose="02020603050405020304" pitchFamily="18" charset="0"/>
                          <a:cs typeface="Times New Roman" panose="02020603050405020304" pitchFamily="18" charset="0"/>
                        </a:rPr>
                        <a:t>I4</a:t>
                      </a:r>
                      <a:endParaRPr sz="16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20267">
                <a:tc>
                  <a:txBody>
                    <a:bodyPr/>
                    <a:lstStyle/>
                    <a:p>
                      <a:pPr algn="ctr">
                        <a:lnSpc>
                          <a:spcPct val="100000"/>
                        </a:lnSpc>
                        <a:spcBef>
                          <a:spcPts val="325"/>
                        </a:spcBef>
                      </a:pPr>
                      <a:r>
                        <a:rPr sz="1600" spc="-20" dirty="0">
                          <a:latin typeface="Times New Roman" panose="02020603050405020304" pitchFamily="18" charset="0"/>
                          <a:cs typeface="Times New Roman" panose="02020603050405020304" pitchFamily="18" charset="0"/>
                        </a:rPr>
                        <a:t>T10</a:t>
                      </a:r>
                      <a:r>
                        <a:rPr lang="en-IN" sz="1600" spc="-20" dirty="0">
                          <a:latin typeface="Times New Roman" panose="02020603050405020304" pitchFamily="18" charset="0"/>
                          <a:cs typeface="Times New Roman" panose="02020603050405020304" pitchFamily="18" charset="0"/>
                        </a:rPr>
                        <a:t>3</a:t>
                      </a:r>
                      <a:endParaRPr sz="16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600" dirty="0">
                          <a:latin typeface="Times New Roman" panose="02020603050405020304" pitchFamily="18" charset="0"/>
                          <a:cs typeface="Times New Roman" panose="02020603050405020304" pitchFamily="18" charset="0"/>
                        </a:rPr>
                        <a:t>I2,</a:t>
                      </a:r>
                      <a:r>
                        <a:rPr sz="1600" spc="-15" dirty="0">
                          <a:latin typeface="Times New Roman" panose="02020603050405020304" pitchFamily="18" charset="0"/>
                          <a:cs typeface="Times New Roman" panose="02020603050405020304" pitchFamily="18" charset="0"/>
                        </a:rPr>
                        <a:t> </a:t>
                      </a:r>
                      <a:r>
                        <a:rPr sz="1600" spc="-25" dirty="0">
                          <a:latin typeface="Times New Roman" panose="02020603050405020304" pitchFamily="18" charset="0"/>
                          <a:cs typeface="Times New Roman" panose="02020603050405020304" pitchFamily="18" charset="0"/>
                        </a:rPr>
                        <a:t>I3</a:t>
                      </a:r>
                      <a:endParaRPr sz="1600" dirty="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20267">
                <a:tc>
                  <a:txBody>
                    <a:bodyPr/>
                    <a:lstStyle/>
                    <a:p>
                      <a:pPr marL="635" algn="ctr">
                        <a:lnSpc>
                          <a:spcPct val="100000"/>
                        </a:lnSpc>
                        <a:spcBef>
                          <a:spcPts val="325"/>
                        </a:spcBef>
                      </a:pPr>
                      <a:r>
                        <a:rPr sz="1600" spc="-20" dirty="0">
                          <a:latin typeface="Times New Roman" panose="02020603050405020304" pitchFamily="18" charset="0"/>
                          <a:cs typeface="Times New Roman" panose="02020603050405020304" pitchFamily="18" charset="0"/>
                        </a:rPr>
                        <a:t>T10</a:t>
                      </a:r>
                      <a:r>
                        <a:rPr lang="en-IN" sz="1600" spc="-20" dirty="0">
                          <a:latin typeface="Times New Roman" panose="02020603050405020304" pitchFamily="18" charset="0"/>
                          <a:cs typeface="Times New Roman" panose="02020603050405020304" pitchFamily="18" charset="0"/>
                        </a:rPr>
                        <a:t>4</a:t>
                      </a:r>
                      <a:endParaRPr sz="16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600" dirty="0">
                          <a:latin typeface="Times New Roman" panose="02020603050405020304" pitchFamily="18" charset="0"/>
                          <a:cs typeface="Times New Roman" panose="02020603050405020304" pitchFamily="18" charset="0"/>
                        </a:rPr>
                        <a:t>I1,</a:t>
                      </a:r>
                      <a:r>
                        <a:rPr sz="1600" spc="-15"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I2,</a:t>
                      </a:r>
                      <a:r>
                        <a:rPr sz="1600" spc="-15" dirty="0">
                          <a:latin typeface="Times New Roman" panose="02020603050405020304" pitchFamily="18" charset="0"/>
                          <a:cs typeface="Times New Roman" panose="02020603050405020304" pitchFamily="18" charset="0"/>
                        </a:rPr>
                        <a:t> </a:t>
                      </a:r>
                      <a:r>
                        <a:rPr sz="1600" spc="-25" dirty="0">
                          <a:latin typeface="Times New Roman" panose="02020603050405020304" pitchFamily="18" charset="0"/>
                          <a:cs typeface="Times New Roman" panose="02020603050405020304" pitchFamily="18" charset="0"/>
                        </a:rPr>
                        <a:t>I4</a:t>
                      </a:r>
                      <a:endParaRPr sz="16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20267">
                <a:tc>
                  <a:txBody>
                    <a:bodyPr/>
                    <a:lstStyle/>
                    <a:p>
                      <a:pPr algn="ctr">
                        <a:lnSpc>
                          <a:spcPct val="100000"/>
                        </a:lnSpc>
                        <a:spcBef>
                          <a:spcPts val="325"/>
                        </a:spcBef>
                      </a:pPr>
                      <a:r>
                        <a:rPr sz="1600" spc="-20" dirty="0">
                          <a:latin typeface="Times New Roman" panose="02020603050405020304" pitchFamily="18" charset="0"/>
                          <a:cs typeface="Times New Roman" panose="02020603050405020304" pitchFamily="18" charset="0"/>
                        </a:rPr>
                        <a:t>T10</a:t>
                      </a:r>
                      <a:r>
                        <a:rPr lang="en-IN" sz="1600" spc="-20" dirty="0">
                          <a:latin typeface="Times New Roman" panose="02020603050405020304" pitchFamily="18" charset="0"/>
                          <a:cs typeface="Times New Roman" panose="02020603050405020304" pitchFamily="18" charset="0"/>
                        </a:rPr>
                        <a:t>5</a:t>
                      </a:r>
                      <a:endParaRPr sz="16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600" dirty="0">
                          <a:latin typeface="Times New Roman" panose="02020603050405020304" pitchFamily="18" charset="0"/>
                          <a:cs typeface="Times New Roman" panose="02020603050405020304" pitchFamily="18" charset="0"/>
                        </a:rPr>
                        <a:t>I1,</a:t>
                      </a:r>
                      <a:r>
                        <a:rPr sz="1600" spc="-15" dirty="0">
                          <a:latin typeface="Times New Roman" panose="02020603050405020304" pitchFamily="18" charset="0"/>
                          <a:cs typeface="Times New Roman" panose="02020603050405020304" pitchFamily="18" charset="0"/>
                        </a:rPr>
                        <a:t> </a:t>
                      </a:r>
                      <a:r>
                        <a:rPr sz="1600" spc="-25" dirty="0">
                          <a:latin typeface="Times New Roman" panose="02020603050405020304" pitchFamily="18" charset="0"/>
                          <a:cs typeface="Times New Roman" panose="02020603050405020304" pitchFamily="18" charset="0"/>
                        </a:rPr>
                        <a:t>I3</a:t>
                      </a:r>
                      <a:endParaRPr sz="16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420267">
                <a:tc>
                  <a:txBody>
                    <a:bodyPr/>
                    <a:lstStyle/>
                    <a:p>
                      <a:pPr algn="ctr">
                        <a:lnSpc>
                          <a:spcPct val="100000"/>
                        </a:lnSpc>
                        <a:spcBef>
                          <a:spcPts val="325"/>
                        </a:spcBef>
                      </a:pPr>
                      <a:r>
                        <a:rPr sz="1600" spc="-20" dirty="0">
                          <a:latin typeface="Times New Roman" panose="02020603050405020304" pitchFamily="18" charset="0"/>
                          <a:cs typeface="Times New Roman" panose="02020603050405020304" pitchFamily="18" charset="0"/>
                        </a:rPr>
                        <a:t>T10</a:t>
                      </a:r>
                      <a:r>
                        <a:rPr lang="en-IN" sz="1600" spc="-20" dirty="0">
                          <a:latin typeface="Times New Roman" panose="02020603050405020304" pitchFamily="18" charset="0"/>
                          <a:cs typeface="Times New Roman" panose="02020603050405020304" pitchFamily="18" charset="0"/>
                        </a:rPr>
                        <a:t>6</a:t>
                      </a:r>
                      <a:endParaRPr sz="16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600" dirty="0">
                          <a:latin typeface="Times New Roman" panose="02020603050405020304" pitchFamily="18" charset="0"/>
                          <a:cs typeface="Times New Roman" panose="02020603050405020304" pitchFamily="18" charset="0"/>
                        </a:rPr>
                        <a:t>I2,</a:t>
                      </a:r>
                      <a:r>
                        <a:rPr sz="1600" spc="-15" dirty="0">
                          <a:latin typeface="Times New Roman" panose="02020603050405020304" pitchFamily="18" charset="0"/>
                          <a:cs typeface="Times New Roman" panose="02020603050405020304" pitchFamily="18" charset="0"/>
                        </a:rPr>
                        <a:t> </a:t>
                      </a:r>
                      <a:r>
                        <a:rPr sz="1600" spc="-25" dirty="0">
                          <a:latin typeface="Times New Roman" panose="02020603050405020304" pitchFamily="18" charset="0"/>
                          <a:cs typeface="Times New Roman" panose="02020603050405020304" pitchFamily="18" charset="0"/>
                        </a:rPr>
                        <a:t>I3</a:t>
                      </a:r>
                      <a:endParaRPr sz="16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420267">
                <a:tc>
                  <a:txBody>
                    <a:bodyPr/>
                    <a:lstStyle/>
                    <a:p>
                      <a:pPr algn="ctr">
                        <a:lnSpc>
                          <a:spcPct val="100000"/>
                        </a:lnSpc>
                        <a:spcBef>
                          <a:spcPts val="325"/>
                        </a:spcBef>
                      </a:pPr>
                      <a:r>
                        <a:rPr sz="1600" spc="-20" dirty="0">
                          <a:latin typeface="Times New Roman" panose="02020603050405020304" pitchFamily="18" charset="0"/>
                          <a:cs typeface="Times New Roman" panose="02020603050405020304" pitchFamily="18" charset="0"/>
                        </a:rPr>
                        <a:t>T10</a:t>
                      </a:r>
                      <a:r>
                        <a:rPr lang="en-IN" sz="1600" spc="-20" dirty="0">
                          <a:latin typeface="Times New Roman" panose="02020603050405020304" pitchFamily="18" charset="0"/>
                          <a:cs typeface="Times New Roman" panose="02020603050405020304" pitchFamily="18" charset="0"/>
                        </a:rPr>
                        <a:t>7</a:t>
                      </a:r>
                      <a:endParaRPr sz="16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600" dirty="0">
                          <a:latin typeface="Times New Roman" panose="02020603050405020304" pitchFamily="18" charset="0"/>
                          <a:cs typeface="Times New Roman" panose="02020603050405020304" pitchFamily="18" charset="0"/>
                        </a:rPr>
                        <a:t>I1,</a:t>
                      </a:r>
                      <a:r>
                        <a:rPr sz="1600" spc="-15" dirty="0">
                          <a:latin typeface="Times New Roman" panose="02020603050405020304" pitchFamily="18" charset="0"/>
                          <a:cs typeface="Times New Roman" panose="02020603050405020304" pitchFamily="18" charset="0"/>
                        </a:rPr>
                        <a:t> </a:t>
                      </a:r>
                      <a:r>
                        <a:rPr sz="1600" spc="-25" dirty="0">
                          <a:latin typeface="Times New Roman" panose="02020603050405020304" pitchFamily="18" charset="0"/>
                          <a:cs typeface="Times New Roman" panose="02020603050405020304" pitchFamily="18" charset="0"/>
                        </a:rPr>
                        <a:t>I3</a:t>
                      </a:r>
                      <a:endParaRPr sz="16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420267">
                <a:tc>
                  <a:txBody>
                    <a:bodyPr/>
                    <a:lstStyle/>
                    <a:p>
                      <a:pPr marL="635" algn="ctr">
                        <a:lnSpc>
                          <a:spcPct val="100000"/>
                        </a:lnSpc>
                        <a:spcBef>
                          <a:spcPts val="325"/>
                        </a:spcBef>
                      </a:pPr>
                      <a:r>
                        <a:rPr sz="1600" spc="-20" dirty="0">
                          <a:latin typeface="Times New Roman" panose="02020603050405020304" pitchFamily="18" charset="0"/>
                          <a:cs typeface="Times New Roman" panose="02020603050405020304" pitchFamily="18" charset="0"/>
                        </a:rPr>
                        <a:t>T10</a:t>
                      </a:r>
                      <a:r>
                        <a:rPr lang="en-IN" sz="1600" spc="-20" dirty="0">
                          <a:latin typeface="Times New Roman" panose="02020603050405020304" pitchFamily="18" charset="0"/>
                          <a:cs typeface="Times New Roman" panose="02020603050405020304" pitchFamily="18" charset="0"/>
                        </a:rPr>
                        <a:t>8</a:t>
                      </a:r>
                      <a:endParaRPr sz="16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a:lnSpc>
                          <a:spcPct val="100000"/>
                        </a:lnSpc>
                        <a:spcBef>
                          <a:spcPts val="325"/>
                        </a:spcBef>
                      </a:pPr>
                      <a:r>
                        <a:rPr sz="1600" dirty="0">
                          <a:latin typeface="Times New Roman" panose="02020603050405020304" pitchFamily="18" charset="0"/>
                          <a:cs typeface="Times New Roman" panose="02020603050405020304" pitchFamily="18" charset="0"/>
                        </a:rPr>
                        <a:t>I1,</a:t>
                      </a:r>
                      <a:r>
                        <a:rPr sz="1600" spc="-15"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I2</a:t>
                      </a:r>
                      <a:r>
                        <a:rPr sz="1600" spc="-15"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,I3,</a:t>
                      </a:r>
                      <a:r>
                        <a:rPr sz="1600" spc="-10" dirty="0">
                          <a:latin typeface="Times New Roman" panose="02020603050405020304" pitchFamily="18" charset="0"/>
                          <a:cs typeface="Times New Roman" panose="02020603050405020304" pitchFamily="18" charset="0"/>
                        </a:rPr>
                        <a:t> </a:t>
                      </a:r>
                      <a:r>
                        <a:rPr sz="1600" spc="-25" dirty="0">
                          <a:latin typeface="Times New Roman" panose="02020603050405020304" pitchFamily="18" charset="0"/>
                          <a:cs typeface="Times New Roman" panose="02020603050405020304" pitchFamily="18" charset="0"/>
                        </a:rPr>
                        <a:t>I5</a:t>
                      </a:r>
                      <a:endParaRPr sz="16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420267">
                <a:tc>
                  <a:txBody>
                    <a:bodyPr/>
                    <a:lstStyle/>
                    <a:p>
                      <a:pPr marL="635" algn="ctr">
                        <a:lnSpc>
                          <a:spcPct val="100000"/>
                        </a:lnSpc>
                        <a:spcBef>
                          <a:spcPts val="325"/>
                        </a:spcBef>
                      </a:pPr>
                      <a:r>
                        <a:rPr sz="1600" spc="-20" dirty="0">
                          <a:latin typeface="Times New Roman" panose="02020603050405020304" pitchFamily="18" charset="0"/>
                          <a:cs typeface="Times New Roman" panose="02020603050405020304" pitchFamily="18" charset="0"/>
                        </a:rPr>
                        <a:t>T10</a:t>
                      </a:r>
                      <a:r>
                        <a:rPr lang="en-IN" sz="1600" spc="-20" dirty="0">
                          <a:latin typeface="Times New Roman" panose="02020603050405020304" pitchFamily="18" charset="0"/>
                          <a:cs typeface="Times New Roman" panose="02020603050405020304" pitchFamily="18" charset="0"/>
                        </a:rPr>
                        <a:t>9</a:t>
                      </a:r>
                      <a:endParaRPr sz="16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2710">
                        <a:lnSpc>
                          <a:spcPct val="100000"/>
                        </a:lnSpc>
                        <a:spcBef>
                          <a:spcPts val="325"/>
                        </a:spcBef>
                      </a:pPr>
                      <a:r>
                        <a:rPr sz="1600" dirty="0">
                          <a:latin typeface="Times New Roman" panose="02020603050405020304" pitchFamily="18" charset="0"/>
                          <a:cs typeface="Times New Roman" panose="02020603050405020304" pitchFamily="18" charset="0"/>
                        </a:rPr>
                        <a:t>I1,</a:t>
                      </a:r>
                      <a:r>
                        <a:rPr sz="1600" spc="-15"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I2,</a:t>
                      </a:r>
                      <a:r>
                        <a:rPr sz="1600" spc="-15" dirty="0">
                          <a:latin typeface="Times New Roman" panose="02020603050405020304" pitchFamily="18" charset="0"/>
                          <a:cs typeface="Times New Roman" panose="02020603050405020304" pitchFamily="18" charset="0"/>
                        </a:rPr>
                        <a:t> </a:t>
                      </a:r>
                      <a:r>
                        <a:rPr sz="1600" spc="-25" dirty="0">
                          <a:latin typeface="Times New Roman" panose="02020603050405020304" pitchFamily="18" charset="0"/>
                          <a:cs typeface="Times New Roman" panose="02020603050405020304" pitchFamily="18" charset="0"/>
                        </a:rPr>
                        <a:t>I3</a:t>
                      </a:r>
                      <a:endParaRPr sz="1600" dirty="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8473" y="253316"/>
            <a:ext cx="8252524" cy="1196727"/>
          </a:xfrm>
          <a:prstGeom prst="rect">
            <a:avLst/>
          </a:prstGeom>
        </p:spPr>
        <p:txBody>
          <a:bodyPr vert="horz" wrap="square" lIns="0" tIns="296351" rIns="0" bIns="0" rtlCol="0" anchor="ctr">
            <a:spAutoFit/>
            <a:scene3d>
              <a:camera prst="orthographicFront"/>
              <a:lightRig rig="soft" dir="t"/>
            </a:scene3d>
            <a:sp3d prstMaterial="softEdge">
              <a:bevelT w="25400" h="25400"/>
            </a:sp3d>
          </a:bodyPr>
          <a:lstStyle/>
          <a:p>
            <a:pPr marL="422821">
              <a:spcBef>
                <a:spcPts val="95"/>
              </a:spcBef>
            </a:pPr>
            <a:r>
              <a:rPr sz="2908" dirty="0">
                <a:latin typeface="Arial"/>
                <a:cs typeface="Arial"/>
              </a:rPr>
              <a:t>Step</a:t>
            </a:r>
            <a:r>
              <a:rPr sz="2908" spc="-30" dirty="0">
                <a:latin typeface="Arial"/>
                <a:cs typeface="Arial"/>
              </a:rPr>
              <a:t> </a:t>
            </a:r>
            <a:r>
              <a:rPr sz="2908" dirty="0">
                <a:latin typeface="Arial"/>
                <a:cs typeface="Arial"/>
              </a:rPr>
              <a:t>1</a:t>
            </a:r>
            <a:r>
              <a:rPr sz="2908" dirty="0"/>
              <a:t>:</a:t>
            </a:r>
            <a:r>
              <a:rPr sz="2908" spc="-30" dirty="0"/>
              <a:t> </a:t>
            </a:r>
            <a:r>
              <a:rPr sz="2908" dirty="0"/>
              <a:t>Generating</a:t>
            </a:r>
            <a:r>
              <a:rPr sz="2908" spc="-30" dirty="0"/>
              <a:t> </a:t>
            </a:r>
            <a:r>
              <a:rPr sz="2908" dirty="0"/>
              <a:t>1-itemset</a:t>
            </a:r>
            <a:r>
              <a:rPr sz="2908" spc="-30" dirty="0"/>
              <a:t> </a:t>
            </a:r>
            <a:r>
              <a:rPr sz="2908" dirty="0"/>
              <a:t>Frequent</a:t>
            </a:r>
            <a:r>
              <a:rPr sz="2908" spc="-30" dirty="0"/>
              <a:t> </a:t>
            </a:r>
            <a:r>
              <a:rPr sz="2908" spc="-10" dirty="0"/>
              <a:t>Pattern</a:t>
            </a:r>
            <a:endParaRPr sz="2908">
              <a:latin typeface="Arial"/>
              <a:cs typeface="Arial"/>
            </a:endParaRPr>
          </a:p>
        </p:txBody>
      </p:sp>
      <p:graphicFrame>
        <p:nvGraphicFramePr>
          <p:cNvPr id="3" name="object 3"/>
          <p:cNvGraphicFramePr>
            <a:graphicFrameLocks noGrp="1"/>
          </p:cNvGraphicFramePr>
          <p:nvPr/>
        </p:nvGraphicFramePr>
        <p:xfrm>
          <a:off x="2112480" y="1580778"/>
          <a:ext cx="1986719" cy="2138272"/>
        </p:xfrm>
        <a:graphic>
          <a:graphicData uri="http://schemas.openxmlformats.org/drawingml/2006/table">
            <a:tbl>
              <a:tblPr firstRow="1" bandRow="1">
                <a:tableStyleId>{2D5ABB26-0587-4C30-8999-92F81FD0307C}</a:tableStyleId>
              </a:tblPr>
              <a:tblGrid>
                <a:gridCol w="840535">
                  <a:extLst>
                    <a:ext uri="{9D8B030D-6E8A-4147-A177-3AD203B41FA5}">
                      <a16:colId xmlns:a16="http://schemas.microsoft.com/office/drawing/2014/main" val="20000"/>
                    </a:ext>
                  </a:extLst>
                </a:gridCol>
                <a:gridCol w="1146184">
                  <a:extLst>
                    <a:ext uri="{9D8B030D-6E8A-4147-A177-3AD203B41FA5}">
                      <a16:colId xmlns:a16="http://schemas.microsoft.com/office/drawing/2014/main" val="20001"/>
                    </a:ext>
                  </a:extLst>
                </a:gridCol>
              </a:tblGrid>
              <a:tr h="356591">
                <a:tc>
                  <a:txBody>
                    <a:bodyPr/>
                    <a:lstStyle/>
                    <a:p>
                      <a:pPr algn="ctr">
                        <a:lnSpc>
                          <a:spcPct val="100000"/>
                        </a:lnSpc>
                        <a:spcBef>
                          <a:spcPts val="315"/>
                        </a:spcBef>
                      </a:pPr>
                      <a:r>
                        <a:rPr sz="1400" spc="-10" dirty="0">
                          <a:latin typeface="Arial MT"/>
                          <a:cs typeface="Arial MT"/>
                        </a:rPr>
                        <a:t>Itemset</a:t>
                      </a:r>
                      <a:endParaRPr sz="1400">
                        <a:latin typeface="Arial MT"/>
                        <a:cs typeface="Arial MT"/>
                      </a:endParaRPr>
                    </a:p>
                  </a:txBody>
                  <a:tcPr marL="0" marR="0" marT="40116"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635" algn="ctr">
                        <a:lnSpc>
                          <a:spcPct val="100000"/>
                        </a:lnSpc>
                        <a:spcBef>
                          <a:spcPts val="315"/>
                        </a:spcBef>
                      </a:pPr>
                      <a:r>
                        <a:rPr sz="1400" spc="-10" dirty="0">
                          <a:latin typeface="Arial MT"/>
                          <a:cs typeface="Arial MT"/>
                        </a:rPr>
                        <a:t>Sup.Count</a:t>
                      </a:r>
                      <a:endParaRPr sz="1400">
                        <a:latin typeface="Arial MT"/>
                        <a:cs typeface="Arial MT"/>
                      </a:endParaRPr>
                    </a:p>
                  </a:txBody>
                  <a:tcPr marL="0" marR="0" marT="40116"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55954">
                <a:tc>
                  <a:txBody>
                    <a:bodyPr/>
                    <a:lstStyle/>
                    <a:p>
                      <a:pPr algn="ctr">
                        <a:lnSpc>
                          <a:spcPct val="100000"/>
                        </a:lnSpc>
                        <a:spcBef>
                          <a:spcPts val="325"/>
                        </a:spcBef>
                      </a:pPr>
                      <a:r>
                        <a:rPr sz="1600" spc="-20" dirty="0">
                          <a:latin typeface="Arial MT"/>
                          <a:cs typeface="Arial MT"/>
                        </a:rPr>
                        <a:t>{I1}</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0" dirty="0">
                          <a:latin typeface="Arial MT"/>
                          <a:cs typeface="Arial MT"/>
                        </a:rPr>
                        <a:t>6</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56591">
                <a:tc>
                  <a:txBody>
                    <a:bodyPr/>
                    <a:lstStyle/>
                    <a:p>
                      <a:pPr algn="ctr">
                        <a:lnSpc>
                          <a:spcPct val="100000"/>
                        </a:lnSpc>
                        <a:spcBef>
                          <a:spcPts val="330"/>
                        </a:spcBef>
                      </a:pPr>
                      <a:r>
                        <a:rPr sz="1600" spc="-20" dirty="0">
                          <a:latin typeface="Arial MT"/>
                          <a:cs typeface="Arial MT"/>
                        </a:rPr>
                        <a:t>{I2}</a:t>
                      </a:r>
                      <a:endParaRPr sz="1600">
                        <a:latin typeface="Arial MT"/>
                        <a:cs typeface="Arial MT"/>
                      </a:endParaRPr>
                    </a:p>
                  </a:txBody>
                  <a:tcPr marL="0" marR="0" marT="42027"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30"/>
                        </a:spcBef>
                      </a:pPr>
                      <a:r>
                        <a:rPr sz="1600" spc="-50" dirty="0">
                          <a:latin typeface="Arial MT"/>
                          <a:cs typeface="Arial MT"/>
                        </a:rPr>
                        <a:t>7</a:t>
                      </a:r>
                      <a:endParaRPr sz="1600">
                        <a:latin typeface="Arial MT"/>
                        <a:cs typeface="Arial MT"/>
                      </a:endParaRPr>
                    </a:p>
                  </a:txBody>
                  <a:tcPr marL="0" marR="0" marT="42027"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56591">
                <a:tc>
                  <a:txBody>
                    <a:bodyPr/>
                    <a:lstStyle/>
                    <a:p>
                      <a:pPr algn="ctr">
                        <a:lnSpc>
                          <a:spcPct val="100000"/>
                        </a:lnSpc>
                        <a:spcBef>
                          <a:spcPts val="325"/>
                        </a:spcBef>
                      </a:pPr>
                      <a:r>
                        <a:rPr sz="1600" spc="-20" dirty="0">
                          <a:latin typeface="Arial MT"/>
                          <a:cs typeface="Arial MT"/>
                        </a:rPr>
                        <a:t>{I3}</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0" dirty="0">
                          <a:latin typeface="Arial MT"/>
                          <a:cs typeface="Arial MT"/>
                        </a:rPr>
                        <a:t>6</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55954">
                <a:tc>
                  <a:txBody>
                    <a:bodyPr/>
                    <a:lstStyle/>
                    <a:p>
                      <a:pPr algn="ctr">
                        <a:lnSpc>
                          <a:spcPct val="100000"/>
                        </a:lnSpc>
                        <a:spcBef>
                          <a:spcPts val="325"/>
                        </a:spcBef>
                      </a:pPr>
                      <a:r>
                        <a:rPr sz="1600" spc="-20" dirty="0">
                          <a:latin typeface="Arial MT"/>
                          <a:cs typeface="Arial MT"/>
                        </a:rPr>
                        <a:t>{I4}</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0" dirty="0">
                          <a:latin typeface="Arial MT"/>
                          <a:cs typeface="Arial MT"/>
                        </a:rPr>
                        <a:t>2</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56591">
                <a:tc>
                  <a:txBody>
                    <a:bodyPr/>
                    <a:lstStyle/>
                    <a:p>
                      <a:pPr algn="ctr">
                        <a:lnSpc>
                          <a:spcPct val="100000"/>
                        </a:lnSpc>
                        <a:spcBef>
                          <a:spcPts val="330"/>
                        </a:spcBef>
                      </a:pPr>
                      <a:r>
                        <a:rPr sz="1600" spc="-20" dirty="0">
                          <a:latin typeface="Arial MT"/>
                          <a:cs typeface="Arial MT"/>
                        </a:rPr>
                        <a:t>{I5}</a:t>
                      </a:r>
                      <a:endParaRPr sz="1600">
                        <a:latin typeface="Arial MT"/>
                        <a:cs typeface="Arial MT"/>
                      </a:endParaRPr>
                    </a:p>
                  </a:txBody>
                  <a:tcPr marL="0" marR="0" marT="42027"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330"/>
                        </a:spcBef>
                      </a:pPr>
                      <a:r>
                        <a:rPr sz="1600" spc="-50" dirty="0">
                          <a:latin typeface="Arial MT"/>
                          <a:cs typeface="Arial MT"/>
                        </a:rPr>
                        <a:t>2</a:t>
                      </a:r>
                      <a:endParaRPr sz="1600">
                        <a:latin typeface="Arial MT"/>
                        <a:cs typeface="Arial MT"/>
                      </a:endParaRPr>
                    </a:p>
                  </a:txBody>
                  <a:tcPr marL="0" marR="0" marT="42027"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bl>
          </a:graphicData>
        </a:graphic>
      </p:graphicFrame>
      <p:graphicFrame>
        <p:nvGraphicFramePr>
          <p:cNvPr id="4" name="object 4"/>
          <p:cNvGraphicFramePr>
            <a:graphicFrameLocks noGrp="1"/>
          </p:cNvGraphicFramePr>
          <p:nvPr/>
        </p:nvGraphicFramePr>
        <p:xfrm>
          <a:off x="6697216" y="1580778"/>
          <a:ext cx="1986719" cy="2157372"/>
        </p:xfrm>
        <a:graphic>
          <a:graphicData uri="http://schemas.openxmlformats.org/drawingml/2006/table">
            <a:tbl>
              <a:tblPr firstRow="1" bandRow="1">
                <a:tableStyleId>{2D5ABB26-0587-4C30-8999-92F81FD0307C}</a:tableStyleId>
              </a:tblPr>
              <a:tblGrid>
                <a:gridCol w="840535">
                  <a:extLst>
                    <a:ext uri="{9D8B030D-6E8A-4147-A177-3AD203B41FA5}">
                      <a16:colId xmlns:a16="http://schemas.microsoft.com/office/drawing/2014/main" val="20000"/>
                    </a:ext>
                  </a:extLst>
                </a:gridCol>
                <a:gridCol w="1146184">
                  <a:extLst>
                    <a:ext uri="{9D8B030D-6E8A-4147-A177-3AD203B41FA5}">
                      <a16:colId xmlns:a16="http://schemas.microsoft.com/office/drawing/2014/main" val="20001"/>
                    </a:ext>
                  </a:extLst>
                </a:gridCol>
              </a:tblGrid>
              <a:tr h="368689">
                <a:tc>
                  <a:txBody>
                    <a:bodyPr/>
                    <a:lstStyle/>
                    <a:p>
                      <a:pPr marR="63500" algn="ctr">
                        <a:lnSpc>
                          <a:spcPct val="100000"/>
                        </a:lnSpc>
                        <a:spcBef>
                          <a:spcPts val="315"/>
                        </a:spcBef>
                      </a:pPr>
                      <a:r>
                        <a:rPr sz="1400" spc="-10" dirty="0">
                          <a:latin typeface="Arial MT"/>
                          <a:cs typeface="Arial MT"/>
                        </a:rPr>
                        <a:t>Itemset</a:t>
                      </a:r>
                      <a:endParaRPr sz="1400">
                        <a:latin typeface="Arial MT"/>
                        <a:cs typeface="Arial MT"/>
                      </a:endParaRPr>
                    </a:p>
                  </a:txBody>
                  <a:tcPr marL="0" marR="0" marT="40116"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2075">
                        <a:lnSpc>
                          <a:spcPct val="100000"/>
                        </a:lnSpc>
                        <a:spcBef>
                          <a:spcPts val="315"/>
                        </a:spcBef>
                      </a:pPr>
                      <a:r>
                        <a:rPr sz="1400" spc="-10" dirty="0">
                          <a:latin typeface="Arial MT"/>
                          <a:cs typeface="Arial MT"/>
                        </a:rPr>
                        <a:t>Sup.Count</a:t>
                      </a:r>
                      <a:endParaRPr sz="1400">
                        <a:latin typeface="Arial MT"/>
                        <a:cs typeface="Arial MT"/>
                      </a:endParaRPr>
                    </a:p>
                  </a:txBody>
                  <a:tcPr marL="0" marR="0" marT="40116"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57864">
                <a:tc>
                  <a:txBody>
                    <a:bodyPr/>
                    <a:lstStyle/>
                    <a:p>
                      <a:pPr algn="ctr">
                        <a:lnSpc>
                          <a:spcPct val="100000"/>
                        </a:lnSpc>
                        <a:spcBef>
                          <a:spcPts val="330"/>
                        </a:spcBef>
                      </a:pPr>
                      <a:r>
                        <a:rPr sz="1600" spc="-20" dirty="0">
                          <a:latin typeface="Arial MT"/>
                          <a:cs typeface="Arial MT"/>
                        </a:rPr>
                        <a:t>{I1}</a:t>
                      </a:r>
                      <a:endParaRPr sz="1600">
                        <a:latin typeface="Arial MT"/>
                        <a:cs typeface="Arial MT"/>
                      </a:endParaRPr>
                    </a:p>
                  </a:txBody>
                  <a:tcPr marL="0" marR="0" marT="42027"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30"/>
                        </a:spcBef>
                      </a:pPr>
                      <a:r>
                        <a:rPr sz="1600" spc="-50" dirty="0">
                          <a:latin typeface="Arial MT"/>
                          <a:cs typeface="Arial MT"/>
                        </a:rPr>
                        <a:t>6</a:t>
                      </a:r>
                      <a:endParaRPr sz="1600">
                        <a:latin typeface="Arial MT"/>
                        <a:cs typeface="Arial MT"/>
                      </a:endParaRPr>
                    </a:p>
                  </a:txBody>
                  <a:tcPr marL="0" marR="0" marT="42027"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57864">
                <a:tc>
                  <a:txBody>
                    <a:bodyPr/>
                    <a:lstStyle/>
                    <a:p>
                      <a:pPr algn="ctr">
                        <a:lnSpc>
                          <a:spcPct val="100000"/>
                        </a:lnSpc>
                        <a:spcBef>
                          <a:spcPts val="325"/>
                        </a:spcBef>
                      </a:pPr>
                      <a:r>
                        <a:rPr sz="1600" spc="-20" dirty="0">
                          <a:latin typeface="Arial MT"/>
                          <a:cs typeface="Arial MT"/>
                        </a:rPr>
                        <a:t>{I2}</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sz="1600" spc="-50" dirty="0">
                          <a:latin typeface="Arial MT"/>
                          <a:cs typeface="Arial MT"/>
                        </a:rPr>
                        <a:t>7</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57864">
                <a:tc>
                  <a:txBody>
                    <a:bodyPr/>
                    <a:lstStyle/>
                    <a:p>
                      <a:pPr algn="ctr">
                        <a:lnSpc>
                          <a:spcPct val="100000"/>
                        </a:lnSpc>
                        <a:spcBef>
                          <a:spcPts val="325"/>
                        </a:spcBef>
                      </a:pPr>
                      <a:r>
                        <a:rPr sz="1600" spc="-20" dirty="0">
                          <a:latin typeface="Arial MT"/>
                          <a:cs typeface="Arial MT"/>
                        </a:rPr>
                        <a:t>{I3}</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sz="1600" spc="-50" dirty="0">
                          <a:latin typeface="Arial MT"/>
                          <a:cs typeface="Arial MT"/>
                        </a:rPr>
                        <a:t>6</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57227">
                <a:tc>
                  <a:txBody>
                    <a:bodyPr/>
                    <a:lstStyle/>
                    <a:p>
                      <a:pPr algn="ctr">
                        <a:lnSpc>
                          <a:spcPct val="100000"/>
                        </a:lnSpc>
                        <a:spcBef>
                          <a:spcPts val="325"/>
                        </a:spcBef>
                      </a:pPr>
                      <a:r>
                        <a:rPr sz="1600" spc="-20" dirty="0">
                          <a:latin typeface="Arial MT"/>
                          <a:cs typeface="Arial MT"/>
                        </a:rPr>
                        <a:t>{I4}</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5"/>
                        </a:spcBef>
                      </a:pPr>
                      <a:r>
                        <a:rPr sz="1600" spc="-50" dirty="0">
                          <a:latin typeface="Arial MT"/>
                          <a:cs typeface="Arial MT"/>
                        </a:rPr>
                        <a:t>2</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57864">
                <a:tc>
                  <a:txBody>
                    <a:bodyPr/>
                    <a:lstStyle/>
                    <a:p>
                      <a:pPr algn="ctr">
                        <a:lnSpc>
                          <a:spcPct val="100000"/>
                        </a:lnSpc>
                        <a:spcBef>
                          <a:spcPts val="330"/>
                        </a:spcBef>
                      </a:pPr>
                      <a:r>
                        <a:rPr sz="1600" spc="-20" dirty="0">
                          <a:latin typeface="Arial MT"/>
                          <a:cs typeface="Arial MT"/>
                        </a:rPr>
                        <a:t>{I5}</a:t>
                      </a:r>
                      <a:endParaRPr sz="1600">
                        <a:latin typeface="Arial MT"/>
                        <a:cs typeface="Arial MT"/>
                      </a:endParaRPr>
                    </a:p>
                  </a:txBody>
                  <a:tcPr marL="0" marR="0" marT="42027"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1440">
                        <a:lnSpc>
                          <a:spcPct val="100000"/>
                        </a:lnSpc>
                        <a:spcBef>
                          <a:spcPts val="330"/>
                        </a:spcBef>
                      </a:pPr>
                      <a:r>
                        <a:rPr sz="1600" spc="-50" dirty="0">
                          <a:latin typeface="Arial MT"/>
                          <a:cs typeface="Arial MT"/>
                        </a:rPr>
                        <a:t>2</a:t>
                      </a:r>
                      <a:endParaRPr sz="1600">
                        <a:latin typeface="Arial MT"/>
                        <a:cs typeface="Arial MT"/>
                      </a:endParaRPr>
                    </a:p>
                  </a:txBody>
                  <a:tcPr marL="0" marR="0" marT="42027"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bl>
          </a:graphicData>
        </a:graphic>
      </p:graphicFrame>
      <p:sp>
        <p:nvSpPr>
          <p:cNvPr id="5" name="object 5"/>
          <p:cNvSpPr txBox="1"/>
          <p:nvPr/>
        </p:nvSpPr>
        <p:spPr>
          <a:xfrm>
            <a:off x="563555" y="3838060"/>
            <a:ext cx="7985717" cy="1951337"/>
          </a:xfrm>
          <a:prstGeom prst="rect">
            <a:avLst/>
          </a:prstGeom>
        </p:spPr>
        <p:txBody>
          <a:bodyPr vert="horz" wrap="square" lIns="0" tIns="12099" rIns="0" bIns="0" rtlCol="0">
            <a:spAutoFit/>
          </a:bodyPr>
          <a:lstStyle/>
          <a:p>
            <a:pPr marL="2343343">
              <a:spcBef>
                <a:spcPts val="95"/>
              </a:spcBef>
              <a:tabLst>
                <a:tab pos="6851731" algn="l"/>
              </a:tabLst>
            </a:pPr>
            <a:r>
              <a:rPr sz="2006" b="1" spc="-25" dirty="0">
                <a:latin typeface="Times New Roman" panose="02020603050405020304" pitchFamily="18" charset="0"/>
                <a:cs typeface="Times New Roman" panose="02020603050405020304" pitchFamily="18" charset="0"/>
              </a:rPr>
              <a:t>C</a:t>
            </a:r>
            <a:r>
              <a:rPr sz="1955" b="1" spc="-37" baseline="-21367" dirty="0">
                <a:latin typeface="Times New Roman" panose="02020603050405020304" pitchFamily="18" charset="0"/>
                <a:cs typeface="Times New Roman" panose="02020603050405020304" pitchFamily="18" charset="0"/>
              </a:rPr>
              <a:t>1</a:t>
            </a:r>
            <a:r>
              <a:rPr sz="1955" b="1" baseline="-21367" dirty="0">
                <a:latin typeface="Times New Roman" panose="02020603050405020304" pitchFamily="18" charset="0"/>
                <a:cs typeface="Times New Roman" panose="02020603050405020304" pitchFamily="18" charset="0"/>
              </a:rPr>
              <a:t>	</a:t>
            </a:r>
            <a:r>
              <a:rPr sz="2006" b="1" spc="-25" dirty="0">
                <a:latin typeface="Times New Roman" panose="02020603050405020304" pitchFamily="18" charset="0"/>
                <a:cs typeface="Times New Roman" panose="02020603050405020304" pitchFamily="18" charset="0"/>
              </a:rPr>
              <a:t>L</a:t>
            </a:r>
            <a:r>
              <a:rPr sz="1955" b="1" spc="-37" baseline="-21367" dirty="0">
                <a:latin typeface="Times New Roman" panose="02020603050405020304" pitchFamily="18" charset="0"/>
                <a:cs typeface="Times New Roman" panose="02020603050405020304" pitchFamily="18" charset="0"/>
              </a:rPr>
              <a:t>1</a:t>
            </a:r>
            <a:endParaRPr sz="1955" baseline="-21367" dirty="0">
              <a:latin typeface="Times New Roman" panose="02020603050405020304" pitchFamily="18" charset="0"/>
              <a:cs typeface="Times New Roman" panose="02020603050405020304" pitchFamily="18" charset="0"/>
            </a:endParaRPr>
          </a:p>
          <a:p>
            <a:pPr>
              <a:spcBef>
                <a:spcPts val="125"/>
              </a:spcBef>
            </a:pPr>
            <a:endParaRPr sz="1304" dirty="0">
              <a:latin typeface="Times New Roman" panose="02020603050405020304" pitchFamily="18" charset="0"/>
              <a:cs typeface="Times New Roman" panose="02020603050405020304" pitchFamily="18" charset="0"/>
            </a:endParaRPr>
          </a:p>
          <a:p>
            <a:pPr marL="50942" marR="674985" indent="218414">
              <a:lnSpc>
                <a:spcPct val="103699"/>
              </a:lnSpc>
              <a:spcBef>
                <a:spcPts val="5"/>
              </a:spcBef>
              <a:buClr>
                <a:srgbClr val="BBE0E3"/>
              </a:buClr>
              <a:buFont typeface="Times New Roman"/>
              <a:buChar char="•"/>
              <a:tabLst>
                <a:tab pos="269357" algn="l"/>
              </a:tabLst>
            </a:pPr>
            <a:r>
              <a:rPr sz="2006" dirty="0">
                <a:solidFill>
                  <a:srgbClr val="009A9A"/>
                </a:solidFill>
                <a:latin typeface="Times New Roman" panose="02020603050405020304" pitchFamily="18" charset="0"/>
                <a:cs typeface="Times New Roman" panose="02020603050405020304" pitchFamily="18" charset="0"/>
              </a:rPr>
              <a:t>The</a:t>
            </a:r>
            <a:r>
              <a:rPr sz="2006" spc="-45"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set</a:t>
            </a:r>
            <a:r>
              <a:rPr sz="2006" spc="-4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of</a:t>
            </a:r>
            <a:r>
              <a:rPr sz="2006" spc="-4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frequent</a:t>
            </a:r>
            <a:r>
              <a:rPr sz="2006" spc="-40" dirty="0">
                <a:solidFill>
                  <a:srgbClr val="009A9A"/>
                </a:solidFill>
                <a:latin typeface="Times New Roman" panose="02020603050405020304" pitchFamily="18" charset="0"/>
                <a:cs typeface="Times New Roman" panose="02020603050405020304" pitchFamily="18" charset="0"/>
              </a:rPr>
              <a:t> </a:t>
            </a:r>
            <a:r>
              <a:rPr sz="2006" spc="-10" dirty="0">
                <a:solidFill>
                  <a:srgbClr val="009A9A"/>
                </a:solidFill>
                <a:latin typeface="Times New Roman" panose="02020603050405020304" pitchFamily="18" charset="0"/>
                <a:cs typeface="Times New Roman" panose="02020603050405020304" pitchFamily="18" charset="0"/>
              </a:rPr>
              <a:t>1-</a:t>
            </a:r>
            <a:r>
              <a:rPr sz="2006" dirty="0">
                <a:solidFill>
                  <a:srgbClr val="009A9A"/>
                </a:solidFill>
                <a:latin typeface="Times New Roman" panose="02020603050405020304" pitchFamily="18" charset="0"/>
                <a:cs typeface="Times New Roman" panose="02020603050405020304" pitchFamily="18" charset="0"/>
              </a:rPr>
              <a:t>itemsets,</a:t>
            </a:r>
            <a:r>
              <a:rPr sz="2006" spc="-4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L</a:t>
            </a:r>
            <a:r>
              <a:rPr sz="1955" baseline="-21367" dirty="0">
                <a:solidFill>
                  <a:srgbClr val="009A9A"/>
                </a:solidFill>
                <a:latin typeface="Times New Roman" panose="02020603050405020304" pitchFamily="18" charset="0"/>
                <a:cs typeface="Times New Roman" panose="02020603050405020304" pitchFamily="18" charset="0"/>
              </a:rPr>
              <a:t>1</a:t>
            </a:r>
            <a:r>
              <a:rPr sz="1955" spc="-44" baseline="-21367" dirty="0">
                <a:solidFill>
                  <a:srgbClr val="009A9A"/>
                </a:solidFill>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consists</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of</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the</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candidate</a:t>
            </a:r>
            <a:r>
              <a:rPr sz="2006" spc="-45" dirty="0">
                <a:latin typeface="Times New Roman" panose="02020603050405020304" pitchFamily="18" charset="0"/>
                <a:cs typeface="Times New Roman" panose="02020603050405020304" pitchFamily="18" charset="0"/>
              </a:rPr>
              <a:t> </a:t>
            </a:r>
            <a:r>
              <a:rPr sz="2006" spc="-25" dirty="0">
                <a:latin typeface="Times New Roman" panose="02020603050405020304" pitchFamily="18" charset="0"/>
                <a:cs typeface="Times New Roman" panose="02020603050405020304" pitchFamily="18" charset="0"/>
              </a:rPr>
              <a:t>1-</a:t>
            </a:r>
            <a:r>
              <a:rPr sz="2006" dirty="0">
                <a:latin typeface="Times New Roman" panose="02020603050405020304" pitchFamily="18" charset="0"/>
                <a:cs typeface="Times New Roman" panose="02020603050405020304" pitchFamily="18" charset="0"/>
              </a:rPr>
              <a:t>itemsets</a:t>
            </a:r>
            <a:r>
              <a:rPr sz="2006" spc="-9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satisfying</a:t>
            </a:r>
            <a:r>
              <a:rPr sz="2006" spc="-9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minimum</a:t>
            </a:r>
            <a:r>
              <a:rPr sz="2006" spc="-90"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support.</a:t>
            </a:r>
            <a:endParaRPr sz="2006" dirty="0">
              <a:latin typeface="Times New Roman" panose="02020603050405020304" pitchFamily="18" charset="0"/>
              <a:cs typeface="Times New Roman" panose="02020603050405020304" pitchFamily="18" charset="0"/>
            </a:endParaRPr>
          </a:p>
          <a:p>
            <a:pPr marL="50942" marR="43301" indent="142638">
              <a:lnSpc>
                <a:spcPts val="2316"/>
              </a:lnSpc>
              <a:spcBef>
                <a:spcPts val="1354"/>
              </a:spcBef>
              <a:buClr>
                <a:srgbClr val="BBE0E3"/>
              </a:buClr>
              <a:buSzPct val="90000"/>
              <a:buChar char="•"/>
              <a:tabLst>
                <a:tab pos="193581" algn="l"/>
              </a:tabLst>
            </a:pPr>
            <a:r>
              <a:rPr sz="2006" dirty="0">
                <a:latin typeface="Times New Roman" panose="02020603050405020304" pitchFamily="18" charset="0"/>
                <a:cs typeface="Times New Roman" panose="02020603050405020304" pitchFamily="18" charset="0"/>
              </a:rPr>
              <a:t>In</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the</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first</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iteration</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of</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the</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algorithm,</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each</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item</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is</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member</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of</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the</a:t>
            </a:r>
            <a:r>
              <a:rPr sz="2006" spc="-40" dirty="0">
                <a:latin typeface="Times New Roman" panose="02020603050405020304" pitchFamily="18" charset="0"/>
                <a:cs typeface="Times New Roman" panose="02020603050405020304" pitchFamily="18" charset="0"/>
              </a:rPr>
              <a:t> </a:t>
            </a:r>
            <a:r>
              <a:rPr sz="2006" spc="-25" dirty="0">
                <a:latin typeface="Times New Roman" panose="02020603050405020304" pitchFamily="18" charset="0"/>
                <a:cs typeface="Times New Roman" panose="02020603050405020304" pitchFamily="18" charset="0"/>
              </a:rPr>
              <a:t>set </a:t>
            </a:r>
            <a:r>
              <a:rPr sz="2006" dirty="0">
                <a:latin typeface="Times New Roman" panose="02020603050405020304" pitchFamily="18" charset="0"/>
                <a:cs typeface="Times New Roman" panose="02020603050405020304" pitchFamily="18" charset="0"/>
              </a:rPr>
              <a:t>of</a:t>
            </a:r>
            <a:r>
              <a:rPr sz="2006" spc="-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candidate.</a:t>
            </a:r>
            <a:endParaRPr sz="2006" dirty="0">
              <a:latin typeface="Times New Roman" panose="02020603050405020304" pitchFamily="18" charset="0"/>
              <a:cs typeface="Times New Roman" panose="02020603050405020304" pitchFamily="18" charset="0"/>
            </a:endParaRPr>
          </a:p>
        </p:txBody>
      </p:sp>
      <p:sp>
        <p:nvSpPr>
          <p:cNvPr id="6" name="object 6"/>
          <p:cNvSpPr/>
          <p:nvPr/>
        </p:nvSpPr>
        <p:spPr>
          <a:xfrm>
            <a:off x="441152" y="2626671"/>
            <a:ext cx="1686164" cy="76412"/>
          </a:xfrm>
          <a:custGeom>
            <a:avLst/>
            <a:gdLst/>
            <a:ahLst/>
            <a:cxnLst/>
            <a:rect l="l" t="t" r="r" b="b"/>
            <a:pathLst>
              <a:path w="1681480" h="76200">
                <a:moveTo>
                  <a:pt x="1622298" y="38100"/>
                </a:moveTo>
                <a:lnTo>
                  <a:pt x="1620774" y="35051"/>
                </a:lnTo>
                <a:lnTo>
                  <a:pt x="1617726" y="33527"/>
                </a:lnTo>
                <a:lnTo>
                  <a:pt x="4571" y="33527"/>
                </a:lnTo>
                <a:lnTo>
                  <a:pt x="1524" y="35051"/>
                </a:lnTo>
                <a:lnTo>
                  <a:pt x="0" y="38100"/>
                </a:lnTo>
                <a:lnTo>
                  <a:pt x="1524" y="41148"/>
                </a:lnTo>
                <a:lnTo>
                  <a:pt x="4571" y="42672"/>
                </a:lnTo>
                <a:lnTo>
                  <a:pt x="1617726" y="42672"/>
                </a:lnTo>
                <a:lnTo>
                  <a:pt x="1620774" y="41148"/>
                </a:lnTo>
                <a:lnTo>
                  <a:pt x="1622298" y="38100"/>
                </a:lnTo>
                <a:close/>
              </a:path>
              <a:path w="1681480" h="76200">
                <a:moveTo>
                  <a:pt x="1680972" y="38100"/>
                </a:moveTo>
                <a:lnTo>
                  <a:pt x="1604772" y="0"/>
                </a:lnTo>
                <a:lnTo>
                  <a:pt x="1604772" y="33527"/>
                </a:lnTo>
                <a:lnTo>
                  <a:pt x="1617726" y="33527"/>
                </a:lnTo>
                <a:lnTo>
                  <a:pt x="1620774" y="35051"/>
                </a:lnTo>
                <a:lnTo>
                  <a:pt x="1622298" y="38100"/>
                </a:lnTo>
                <a:lnTo>
                  <a:pt x="1622298" y="67437"/>
                </a:lnTo>
                <a:lnTo>
                  <a:pt x="1680972" y="38100"/>
                </a:lnTo>
                <a:close/>
              </a:path>
              <a:path w="1681480" h="76200">
                <a:moveTo>
                  <a:pt x="1622298" y="67437"/>
                </a:moveTo>
                <a:lnTo>
                  <a:pt x="1622298" y="38100"/>
                </a:lnTo>
                <a:lnTo>
                  <a:pt x="1620774" y="41148"/>
                </a:lnTo>
                <a:lnTo>
                  <a:pt x="1617726" y="42672"/>
                </a:lnTo>
                <a:lnTo>
                  <a:pt x="1604772" y="42672"/>
                </a:lnTo>
                <a:lnTo>
                  <a:pt x="1604772" y="76200"/>
                </a:lnTo>
                <a:lnTo>
                  <a:pt x="1622298" y="67437"/>
                </a:lnTo>
                <a:close/>
              </a:path>
            </a:pathLst>
          </a:custGeom>
          <a:solidFill>
            <a:srgbClr val="000000"/>
          </a:solidFill>
        </p:spPr>
        <p:txBody>
          <a:bodyPr wrap="square" lIns="0" tIns="0" rIns="0" bIns="0" rtlCol="0"/>
          <a:lstStyle/>
          <a:p>
            <a:endParaRPr sz="1805"/>
          </a:p>
        </p:txBody>
      </p:sp>
      <p:sp>
        <p:nvSpPr>
          <p:cNvPr id="7" name="object 7"/>
          <p:cNvSpPr/>
          <p:nvPr/>
        </p:nvSpPr>
        <p:spPr>
          <a:xfrm>
            <a:off x="4108942" y="2626671"/>
            <a:ext cx="2603111" cy="76412"/>
          </a:xfrm>
          <a:custGeom>
            <a:avLst/>
            <a:gdLst/>
            <a:ahLst/>
            <a:cxnLst/>
            <a:rect l="l" t="t" r="r" b="b"/>
            <a:pathLst>
              <a:path w="2595879" h="76200">
                <a:moveTo>
                  <a:pt x="2536698" y="38099"/>
                </a:moveTo>
                <a:lnTo>
                  <a:pt x="2535174" y="35051"/>
                </a:lnTo>
                <a:lnTo>
                  <a:pt x="2532126" y="33527"/>
                </a:lnTo>
                <a:lnTo>
                  <a:pt x="4572" y="33527"/>
                </a:lnTo>
                <a:lnTo>
                  <a:pt x="1524" y="35051"/>
                </a:lnTo>
                <a:lnTo>
                  <a:pt x="0" y="38099"/>
                </a:lnTo>
                <a:lnTo>
                  <a:pt x="1524" y="41147"/>
                </a:lnTo>
                <a:lnTo>
                  <a:pt x="4572" y="42671"/>
                </a:lnTo>
                <a:lnTo>
                  <a:pt x="2532126" y="42671"/>
                </a:lnTo>
                <a:lnTo>
                  <a:pt x="2535174" y="41147"/>
                </a:lnTo>
                <a:lnTo>
                  <a:pt x="2536698" y="38099"/>
                </a:lnTo>
                <a:close/>
              </a:path>
              <a:path w="2595879" h="76200">
                <a:moveTo>
                  <a:pt x="2595372" y="38099"/>
                </a:moveTo>
                <a:lnTo>
                  <a:pt x="2519172" y="0"/>
                </a:lnTo>
                <a:lnTo>
                  <a:pt x="2519172" y="33527"/>
                </a:lnTo>
                <a:lnTo>
                  <a:pt x="2532126" y="33527"/>
                </a:lnTo>
                <a:lnTo>
                  <a:pt x="2535174" y="35051"/>
                </a:lnTo>
                <a:lnTo>
                  <a:pt x="2536698" y="38099"/>
                </a:lnTo>
                <a:lnTo>
                  <a:pt x="2536698" y="67436"/>
                </a:lnTo>
                <a:lnTo>
                  <a:pt x="2595372" y="38099"/>
                </a:lnTo>
                <a:close/>
              </a:path>
              <a:path w="2595879" h="76200">
                <a:moveTo>
                  <a:pt x="2536698" y="67436"/>
                </a:moveTo>
                <a:lnTo>
                  <a:pt x="2536698" y="38099"/>
                </a:lnTo>
                <a:lnTo>
                  <a:pt x="2535174" y="41147"/>
                </a:lnTo>
                <a:lnTo>
                  <a:pt x="2532126" y="42671"/>
                </a:lnTo>
                <a:lnTo>
                  <a:pt x="2519172" y="42671"/>
                </a:lnTo>
                <a:lnTo>
                  <a:pt x="2519172" y="76199"/>
                </a:lnTo>
                <a:lnTo>
                  <a:pt x="2536698" y="67436"/>
                </a:lnTo>
                <a:close/>
              </a:path>
            </a:pathLst>
          </a:custGeom>
          <a:solidFill>
            <a:srgbClr val="000000"/>
          </a:solidFill>
        </p:spPr>
        <p:txBody>
          <a:bodyPr wrap="square" lIns="0" tIns="0" rIns="0" bIns="0" rtlCol="0"/>
          <a:lstStyle/>
          <a:p>
            <a:endParaRPr sz="1805"/>
          </a:p>
        </p:txBody>
      </p:sp>
      <p:sp>
        <p:nvSpPr>
          <p:cNvPr id="8" name="object 8"/>
          <p:cNvSpPr txBox="1"/>
          <p:nvPr/>
        </p:nvSpPr>
        <p:spPr>
          <a:xfrm>
            <a:off x="601873" y="1852106"/>
            <a:ext cx="1178659" cy="665423"/>
          </a:xfrm>
          <a:prstGeom prst="rect">
            <a:avLst/>
          </a:prstGeom>
        </p:spPr>
        <p:txBody>
          <a:bodyPr vert="horz" wrap="square" lIns="0" tIns="12099" rIns="0" bIns="0" rtlCol="0">
            <a:spAutoFit/>
          </a:bodyPr>
          <a:lstStyle/>
          <a:p>
            <a:pPr marL="12736" marR="5094">
              <a:spcBef>
                <a:spcPts val="95"/>
              </a:spcBef>
            </a:pPr>
            <a:r>
              <a:rPr sz="1404" b="1" dirty="0">
                <a:latin typeface="Arial"/>
                <a:cs typeface="Arial"/>
              </a:rPr>
              <a:t>Scan</a:t>
            </a:r>
            <a:r>
              <a:rPr sz="1404" b="1" spc="-20" dirty="0">
                <a:latin typeface="Arial"/>
                <a:cs typeface="Arial"/>
              </a:rPr>
              <a:t> </a:t>
            </a:r>
            <a:r>
              <a:rPr sz="1404" b="1" dirty="0">
                <a:latin typeface="Arial"/>
                <a:cs typeface="Arial"/>
              </a:rPr>
              <a:t>D</a:t>
            </a:r>
            <a:r>
              <a:rPr sz="1404" b="1" spc="-20" dirty="0">
                <a:latin typeface="Arial"/>
                <a:cs typeface="Arial"/>
              </a:rPr>
              <a:t> </a:t>
            </a:r>
            <a:r>
              <a:rPr sz="1404" b="1" spc="-25" dirty="0">
                <a:latin typeface="Arial"/>
                <a:cs typeface="Arial"/>
              </a:rPr>
              <a:t>for </a:t>
            </a:r>
            <a:r>
              <a:rPr sz="1404" b="1" dirty="0">
                <a:latin typeface="Arial"/>
                <a:cs typeface="Arial"/>
              </a:rPr>
              <a:t>count</a:t>
            </a:r>
            <a:r>
              <a:rPr sz="1404" b="1" spc="-30" dirty="0">
                <a:latin typeface="Arial"/>
                <a:cs typeface="Arial"/>
              </a:rPr>
              <a:t> </a:t>
            </a:r>
            <a:r>
              <a:rPr sz="1404" b="1" dirty="0">
                <a:latin typeface="Arial"/>
                <a:cs typeface="Arial"/>
              </a:rPr>
              <a:t>of</a:t>
            </a:r>
            <a:r>
              <a:rPr sz="1404" b="1" spc="-25" dirty="0">
                <a:latin typeface="Arial"/>
                <a:cs typeface="Arial"/>
              </a:rPr>
              <a:t> </a:t>
            </a:r>
            <a:r>
              <a:rPr sz="1404" b="1" spc="-20" dirty="0">
                <a:latin typeface="Arial"/>
                <a:cs typeface="Arial"/>
              </a:rPr>
              <a:t>each </a:t>
            </a:r>
            <a:r>
              <a:rPr sz="1404" b="1" spc="-10" dirty="0">
                <a:latin typeface="Arial"/>
                <a:cs typeface="Arial"/>
              </a:rPr>
              <a:t>candidate</a:t>
            </a:r>
            <a:endParaRPr sz="1404">
              <a:latin typeface="Arial"/>
              <a:cs typeface="Arial"/>
            </a:endParaRPr>
          </a:p>
        </p:txBody>
      </p:sp>
      <p:sp>
        <p:nvSpPr>
          <p:cNvPr id="9" name="object 9"/>
          <p:cNvSpPr txBox="1"/>
          <p:nvPr/>
        </p:nvSpPr>
        <p:spPr>
          <a:xfrm>
            <a:off x="4422482" y="1699276"/>
            <a:ext cx="1674702" cy="878741"/>
          </a:xfrm>
          <a:prstGeom prst="rect">
            <a:avLst/>
          </a:prstGeom>
        </p:spPr>
        <p:txBody>
          <a:bodyPr vert="horz" wrap="square" lIns="0" tIns="12099" rIns="0" bIns="0" rtlCol="0">
            <a:spAutoFit/>
          </a:bodyPr>
          <a:lstStyle/>
          <a:p>
            <a:pPr marL="12736" marR="5094">
              <a:spcBef>
                <a:spcPts val="95"/>
              </a:spcBef>
            </a:pPr>
            <a:r>
              <a:rPr sz="1404" b="1" dirty="0">
                <a:latin typeface="Arial"/>
                <a:cs typeface="Arial"/>
              </a:rPr>
              <a:t>Compare</a:t>
            </a:r>
            <a:r>
              <a:rPr sz="1404" b="1" spc="-75" dirty="0">
                <a:latin typeface="Arial"/>
                <a:cs typeface="Arial"/>
              </a:rPr>
              <a:t> </a:t>
            </a:r>
            <a:r>
              <a:rPr sz="1404" b="1" spc="-10" dirty="0">
                <a:latin typeface="Arial"/>
                <a:cs typeface="Arial"/>
              </a:rPr>
              <a:t>candidate </a:t>
            </a:r>
            <a:r>
              <a:rPr sz="1404" b="1" dirty="0">
                <a:latin typeface="Arial"/>
                <a:cs typeface="Arial"/>
              </a:rPr>
              <a:t>support</a:t>
            </a:r>
            <a:r>
              <a:rPr sz="1404" b="1" spc="-40" dirty="0">
                <a:latin typeface="Arial"/>
                <a:cs typeface="Arial"/>
              </a:rPr>
              <a:t> </a:t>
            </a:r>
            <a:r>
              <a:rPr sz="1404" b="1" dirty="0">
                <a:latin typeface="Arial"/>
                <a:cs typeface="Arial"/>
              </a:rPr>
              <a:t>count</a:t>
            </a:r>
            <a:r>
              <a:rPr sz="1404" b="1" spc="-30" dirty="0">
                <a:latin typeface="Arial"/>
                <a:cs typeface="Arial"/>
              </a:rPr>
              <a:t> </a:t>
            </a:r>
            <a:r>
              <a:rPr sz="1404" b="1" spc="-20" dirty="0">
                <a:latin typeface="Arial"/>
                <a:cs typeface="Arial"/>
              </a:rPr>
              <a:t>with </a:t>
            </a:r>
            <a:r>
              <a:rPr sz="1404" b="1" dirty="0">
                <a:latin typeface="Arial"/>
                <a:cs typeface="Arial"/>
              </a:rPr>
              <a:t>minimum</a:t>
            </a:r>
            <a:r>
              <a:rPr sz="1404" b="1" spc="-85" dirty="0">
                <a:latin typeface="Arial"/>
                <a:cs typeface="Arial"/>
              </a:rPr>
              <a:t> </a:t>
            </a:r>
            <a:r>
              <a:rPr sz="1404" b="1" spc="-10" dirty="0">
                <a:latin typeface="Arial"/>
                <a:cs typeface="Arial"/>
              </a:rPr>
              <a:t>support count</a:t>
            </a:r>
            <a:endParaRPr sz="1404">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50169" y="134360"/>
            <a:ext cx="8533127" cy="791688"/>
          </a:xfrm>
          <a:prstGeom prst="rect">
            <a:avLst/>
          </a:prstGeom>
        </p:spPr>
        <p:txBody>
          <a:bodyPr vert="horz" wrap="square" lIns="0" tIns="296351" rIns="0" bIns="0" rtlCol="0" anchor="ctr">
            <a:spAutoFit/>
            <a:scene3d>
              <a:camera prst="orthographicFront"/>
              <a:lightRig rig="soft" dir="t"/>
            </a:scene3d>
            <a:sp3d prstMaterial="softEdge">
              <a:bevelT w="25400" h="25400"/>
            </a:sp3d>
          </a:bodyPr>
          <a:lstStyle/>
          <a:p>
            <a:pPr marL="422821">
              <a:spcBef>
                <a:spcPts val="95"/>
              </a:spcBef>
            </a:pPr>
            <a:r>
              <a:rPr sz="3200" dirty="0">
                <a:solidFill>
                  <a:srgbClr val="002060"/>
                </a:solidFill>
                <a:effectLst/>
                <a:latin typeface="Times New Roman" panose="02020603050405020304" pitchFamily="18" charset="0"/>
                <a:cs typeface="Times New Roman" panose="02020603050405020304" pitchFamily="18" charset="0"/>
              </a:rPr>
              <a:t>Step</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2:</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Generating</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2-itemset</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Frequent</a:t>
            </a:r>
            <a:r>
              <a:rPr sz="3200" spc="-30" dirty="0">
                <a:solidFill>
                  <a:srgbClr val="002060"/>
                </a:solidFill>
                <a:effectLst/>
                <a:latin typeface="Times New Roman" panose="02020603050405020304" pitchFamily="18" charset="0"/>
                <a:cs typeface="Times New Roman" panose="02020603050405020304" pitchFamily="18" charset="0"/>
              </a:rPr>
              <a:t> </a:t>
            </a:r>
            <a:r>
              <a:rPr sz="3200" spc="-10" dirty="0">
                <a:solidFill>
                  <a:srgbClr val="002060"/>
                </a:solidFill>
                <a:effectLst/>
                <a:latin typeface="Times New Roman" panose="02020603050405020304" pitchFamily="18" charset="0"/>
                <a:cs typeface="Times New Roman" panose="02020603050405020304" pitchFamily="18" charset="0"/>
              </a:rPr>
              <a:t>Pattern</a:t>
            </a:r>
            <a:endParaRPr sz="3200" dirty="0">
              <a:solidFill>
                <a:srgbClr val="002060"/>
              </a:solidFill>
              <a:effectLst/>
              <a:latin typeface="Times New Roman" panose="02020603050405020304" pitchFamily="18" charset="0"/>
              <a:cs typeface="Times New Roman" panose="02020603050405020304" pitchFamily="18" charset="0"/>
            </a:endParaRPr>
          </a:p>
        </p:txBody>
      </p:sp>
      <p:graphicFrame>
        <p:nvGraphicFramePr>
          <p:cNvPr id="3" name="object 3"/>
          <p:cNvGraphicFramePr>
            <a:graphicFrameLocks noGrp="1"/>
          </p:cNvGraphicFramePr>
          <p:nvPr/>
        </p:nvGraphicFramePr>
        <p:xfrm>
          <a:off x="1119121" y="1580778"/>
          <a:ext cx="1299008" cy="3735283"/>
        </p:xfrm>
        <a:graphic>
          <a:graphicData uri="http://schemas.openxmlformats.org/drawingml/2006/table">
            <a:tbl>
              <a:tblPr firstRow="1" bandRow="1">
                <a:tableStyleId>{2D5ABB26-0587-4C30-8999-92F81FD0307C}</a:tableStyleId>
              </a:tblPr>
              <a:tblGrid>
                <a:gridCol w="1299008">
                  <a:extLst>
                    <a:ext uri="{9D8B030D-6E8A-4147-A177-3AD203B41FA5}">
                      <a16:colId xmlns:a16="http://schemas.microsoft.com/office/drawing/2014/main" val="20000"/>
                    </a:ext>
                  </a:extLst>
                </a:gridCol>
              </a:tblGrid>
              <a:tr h="382061">
                <a:tc>
                  <a:txBody>
                    <a:bodyPr/>
                    <a:lstStyle/>
                    <a:p>
                      <a:pPr algn="ctr">
                        <a:lnSpc>
                          <a:spcPct val="100000"/>
                        </a:lnSpc>
                        <a:spcBef>
                          <a:spcPts val="325"/>
                        </a:spcBef>
                      </a:pPr>
                      <a:r>
                        <a:rPr sz="1600" spc="-10" dirty="0">
                          <a:latin typeface="Arial MT"/>
                          <a:cs typeface="Arial MT"/>
                        </a:rPr>
                        <a:t>Itemset</a:t>
                      </a:r>
                      <a:endParaRPr sz="1600" dirty="0">
                        <a:latin typeface="Arial MT"/>
                        <a:cs typeface="Arial MT"/>
                      </a:endParaRPr>
                    </a:p>
                  </a:txBody>
                  <a:tcPr marL="0" marR="0" marT="41390" marB="0">
                    <a:lnL w="28575">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35577">
                <a:tc>
                  <a:txBody>
                    <a:bodyPr/>
                    <a:lstStyle/>
                    <a:p>
                      <a:pPr algn="ctr">
                        <a:lnSpc>
                          <a:spcPct val="100000"/>
                        </a:lnSpc>
                        <a:spcBef>
                          <a:spcPts val="325"/>
                        </a:spcBef>
                      </a:pPr>
                      <a:r>
                        <a:rPr sz="1600" dirty="0">
                          <a:latin typeface="Arial MT"/>
                          <a:cs typeface="Arial MT"/>
                        </a:rPr>
                        <a:t>{I1,</a:t>
                      </a:r>
                      <a:r>
                        <a:rPr sz="1600" spc="-20" dirty="0">
                          <a:latin typeface="Arial MT"/>
                          <a:cs typeface="Arial MT"/>
                        </a:rPr>
                        <a:t> </a:t>
                      </a:r>
                      <a:r>
                        <a:rPr sz="1600" spc="-25" dirty="0">
                          <a:latin typeface="Arial MT"/>
                          <a:cs typeface="Arial MT"/>
                        </a:rPr>
                        <a:t>I2}</a:t>
                      </a:r>
                      <a:endParaRPr sz="1600">
                        <a:latin typeface="Arial MT"/>
                        <a:cs typeface="Arial MT"/>
                      </a:endParaRPr>
                    </a:p>
                  </a:txBody>
                  <a:tcPr marL="0" marR="0" marT="41390" marB="0">
                    <a:lnL w="28575">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34940">
                <a:tc>
                  <a:txBody>
                    <a:bodyPr/>
                    <a:lstStyle/>
                    <a:p>
                      <a:pPr algn="ctr">
                        <a:lnSpc>
                          <a:spcPct val="100000"/>
                        </a:lnSpc>
                        <a:spcBef>
                          <a:spcPts val="325"/>
                        </a:spcBef>
                      </a:pPr>
                      <a:r>
                        <a:rPr sz="1600" dirty="0">
                          <a:latin typeface="Arial MT"/>
                          <a:cs typeface="Arial MT"/>
                        </a:rPr>
                        <a:t>{I1,</a:t>
                      </a:r>
                      <a:r>
                        <a:rPr sz="1600" spc="-20" dirty="0">
                          <a:latin typeface="Arial MT"/>
                          <a:cs typeface="Arial MT"/>
                        </a:rPr>
                        <a:t> </a:t>
                      </a:r>
                      <a:r>
                        <a:rPr sz="1600" spc="-25" dirty="0">
                          <a:latin typeface="Arial MT"/>
                          <a:cs typeface="Arial MT"/>
                        </a:rPr>
                        <a:t>I3}</a:t>
                      </a:r>
                      <a:endParaRPr sz="1600">
                        <a:latin typeface="Arial MT"/>
                        <a:cs typeface="Arial MT"/>
                      </a:endParaRPr>
                    </a:p>
                  </a:txBody>
                  <a:tcPr marL="0" marR="0" marT="41390" marB="0">
                    <a:lnL w="28575">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35577">
                <a:tc>
                  <a:txBody>
                    <a:bodyPr/>
                    <a:lstStyle/>
                    <a:p>
                      <a:pPr algn="ctr">
                        <a:lnSpc>
                          <a:spcPct val="100000"/>
                        </a:lnSpc>
                        <a:spcBef>
                          <a:spcPts val="325"/>
                        </a:spcBef>
                      </a:pPr>
                      <a:r>
                        <a:rPr sz="1600" dirty="0">
                          <a:latin typeface="Arial MT"/>
                          <a:cs typeface="Arial MT"/>
                        </a:rPr>
                        <a:t>{I1,</a:t>
                      </a:r>
                      <a:r>
                        <a:rPr sz="1600" spc="-20" dirty="0">
                          <a:latin typeface="Arial MT"/>
                          <a:cs typeface="Arial MT"/>
                        </a:rPr>
                        <a:t> </a:t>
                      </a:r>
                      <a:r>
                        <a:rPr sz="1600" spc="-25" dirty="0">
                          <a:latin typeface="Arial MT"/>
                          <a:cs typeface="Arial MT"/>
                        </a:rPr>
                        <a:t>I4}</a:t>
                      </a:r>
                      <a:endParaRPr sz="1600">
                        <a:latin typeface="Arial MT"/>
                        <a:cs typeface="Arial MT"/>
                      </a:endParaRPr>
                    </a:p>
                  </a:txBody>
                  <a:tcPr marL="0" marR="0" marT="41390" marB="0">
                    <a:lnL w="28575">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34940">
                <a:tc>
                  <a:txBody>
                    <a:bodyPr/>
                    <a:lstStyle/>
                    <a:p>
                      <a:pPr algn="ctr">
                        <a:lnSpc>
                          <a:spcPct val="100000"/>
                        </a:lnSpc>
                        <a:spcBef>
                          <a:spcPts val="325"/>
                        </a:spcBef>
                      </a:pPr>
                      <a:r>
                        <a:rPr sz="1600" dirty="0">
                          <a:latin typeface="Arial MT"/>
                          <a:cs typeface="Arial MT"/>
                        </a:rPr>
                        <a:t>{I1,</a:t>
                      </a:r>
                      <a:r>
                        <a:rPr sz="1600" spc="-20" dirty="0">
                          <a:latin typeface="Arial MT"/>
                          <a:cs typeface="Arial MT"/>
                        </a:rPr>
                        <a:t> </a:t>
                      </a:r>
                      <a:r>
                        <a:rPr sz="1600" spc="-25" dirty="0">
                          <a:latin typeface="Arial MT"/>
                          <a:cs typeface="Arial MT"/>
                        </a:rPr>
                        <a:t>I5}</a:t>
                      </a:r>
                      <a:endParaRPr sz="1600">
                        <a:latin typeface="Arial MT"/>
                        <a:cs typeface="Arial MT"/>
                      </a:endParaRPr>
                    </a:p>
                  </a:txBody>
                  <a:tcPr marL="0" marR="0" marT="41390" marB="0">
                    <a:lnL w="28575">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35577">
                <a:tc>
                  <a:txBody>
                    <a:bodyPr/>
                    <a:lstStyle/>
                    <a:p>
                      <a:pPr algn="ctr">
                        <a:lnSpc>
                          <a:spcPct val="100000"/>
                        </a:lnSpc>
                        <a:spcBef>
                          <a:spcPts val="330"/>
                        </a:spcBef>
                      </a:pPr>
                      <a:r>
                        <a:rPr sz="1600" dirty="0">
                          <a:latin typeface="Arial MT"/>
                          <a:cs typeface="Arial MT"/>
                        </a:rPr>
                        <a:t>{I2,</a:t>
                      </a:r>
                      <a:r>
                        <a:rPr sz="1600" spc="-20" dirty="0">
                          <a:latin typeface="Arial MT"/>
                          <a:cs typeface="Arial MT"/>
                        </a:rPr>
                        <a:t> </a:t>
                      </a:r>
                      <a:r>
                        <a:rPr sz="1600" spc="-25" dirty="0">
                          <a:latin typeface="Arial MT"/>
                          <a:cs typeface="Arial MT"/>
                        </a:rPr>
                        <a:t>I3}</a:t>
                      </a:r>
                      <a:endParaRPr sz="1600">
                        <a:latin typeface="Arial MT"/>
                        <a:cs typeface="Arial MT"/>
                      </a:endParaRPr>
                    </a:p>
                  </a:txBody>
                  <a:tcPr marL="0" marR="0" marT="42027" marB="0">
                    <a:lnL w="28575">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34940">
                <a:tc>
                  <a:txBody>
                    <a:bodyPr/>
                    <a:lstStyle/>
                    <a:p>
                      <a:pPr algn="ctr">
                        <a:lnSpc>
                          <a:spcPct val="100000"/>
                        </a:lnSpc>
                        <a:spcBef>
                          <a:spcPts val="325"/>
                        </a:spcBef>
                      </a:pPr>
                      <a:r>
                        <a:rPr sz="1600" dirty="0">
                          <a:latin typeface="Arial MT"/>
                          <a:cs typeface="Arial MT"/>
                        </a:rPr>
                        <a:t>{I2,</a:t>
                      </a:r>
                      <a:r>
                        <a:rPr sz="1600" spc="-20" dirty="0">
                          <a:latin typeface="Arial MT"/>
                          <a:cs typeface="Arial MT"/>
                        </a:rPr>
                        <a:t> </a:t>
                      </a:r>
                      <a:r>
                        <a:rPr sz="1600" spc="-25" dirty="0">
                          <a:latin typeface="Arial MT"/>
                          <a:cs typeface="Arial MT"/>
                        </a:rPr>
                        <a:t>I4}</a:t>
                      </a:r>
                      <a:endParaRPr sz="1600">
                        <a:latin typeface="Arial MT"/>
                        <a:cs typeface="Arial MT"/>
                      </a:endParaRPr>
                    </a:p>
                  </a:txBody>
                  <a:tcPr marL="0" marR="0" marT="41390" marB="0">
                    <a:lnL w="28575">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35577">
                <a:tc>
                  <a:txBody>
                    <a:bodyPr/>
                    <a:lstStyle/>
                    <a:p>
                      <a:pPr algn="ctr">
                        <a:lnSpc>
                          <a:spcPct val="100000"/>
                        </a:lnSpc>
                        <a:spcBef>
                          <a:spcPts val="330"/>
                        </a:spcBef>
                      </a:pPr>
                      <a:r>
                        <a:rPr sz="1600" dirty="0">
                          <a:latin typeface="Arial MT"/>
                          <a:cs typeface="Arial MT"/>
                        </a:rPr>
                        <a:t>{I2,</a:t>
                      </a:r>
                      <a:r>
                        <a:rPr sz="1600" spc="-20" dirty="0">
                          <a:latin typeface="Arial MT"/>
                          <a:cs typeface="Arial MT"/>
                        </a:rPr>
                        <a:t> </a:t>
                      </a:r>
                      <a:r>
                        <a:rPr sz="1600" spc="-25" dirty="0">
                          <a:latin typeface="Arial MT"/>
                          <a:cs typeface="Arial MT"/>
                        </a:rPr>
                        <a:t>I5}</a:t>
                      </a:r>
                      <a:endParaRPr sz="1600">
                        <a:latin typeface="Arial MT"/>
                        <a:cs typeface="Arial MT"/>
                      </a:endParaRPr>
                    </a:p>
                  </a:txBody>
                  <a:tcPr marL="0" marR="0" marT="42027" marB="0">
                    <a:lnL w="28575">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335577">
                <a:tc>
                  <a:txBody>
                    <a:bodyPr/>
                    <a:lstStyle/>
                    <a:p>
                      <a:pPr algn="ctr">
                        <a:lnSpc>
                          <a:spcPct val="100000"/>
                        </a:lnSpc>
                        <a:spcBef>
                          <a:spcPts val="325"/>
                        </a:spcBef>
                      </a:pPr>
                      <a:r>
                        <a:rPr sz="1600" dirty="0">
                          <a:latin typeface="Arial MT"/>
                          <a:cs typeface="Arial MT"/>
                        </a:rPr>
                        <a:t>{I3,</a:t>
                      </a:r>
                      <a:r>
                        <a:rPr sz="1600" spc="-20" dirty="0">
                          <a:latin typeface="Arial MT"/>
                          <a:cs typeface="Arial MT"/>
                        </a:rPr>
                        <a:t> </a:t>
                      </a:r>
                      <a:r>
                        <a:rPr sz="1600" spc="-25" dirty="0">
                          <a:latin typeface="Arial MT"/>
                          <a:cs typeface="Arial MT"/>
                        </a:rPr>
                        <a:t>I4}</a:t>
                      </a:r>
                      <a:endParaRPr sz="1600">
                        <a:latin typeface="Arial MT"/>
                        <a:cs typeface="Arial MT"/>
                      </a:endParaRPr>
                    </a:p>
                  </a:txBody>
                  <a:tcPr marL="0" marR="0" marT="41390" marB="0">
                    <a:lnL w="28575">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334940">
                <a:tc>
                  <a:txBody>
                    <a:bodyPr/>
                    <a:lstStyle/>
                    <a:p>
                      <a:pPr algn="ctr">
                        <a:lnSpc>
                          <a:spcPct val="100000"/>
                        </a:lnSpc>
                        <a:spcBef>
                          <a:spcPts val="325"/>
                        </a:spcBef>
                      </a:pPr>
                      <a:r>
                        <a:rPr sz="1600" dirty="0">
                          <a:latin typeface="Arial MT"/>
                          <a:cs typeface="Arial MT"/>
                        </a:rPr>
                        <a:t>{I3,</a:t>
                      </a:r>
                      <a:r>
                        <a:rPr sz="1600" spc="-20" dirty="0">
                          <a:latin typeface="Arial MT"/>
                          <a:cs typeface="Arial MT"/>
                        </a:rPr>
                        <a:t> </a:t>
                      </a:r>
                      <a:r>
                        <a:rPr sz="1600" spc="-25" dirty="0">
                          <a:latin typeface="Arial MT"/>
                          <a:cs typeface="Arial MT"/>
                        </a:rPr>
                        <a:t>I5}</a:t>
                      </a:r>
                      <a:endParaRPr sz="1600">
                        <a:latin typeface="Arial MT"/>
                        <a:cs typeface="Arial MT"/>
                      </a:endParaRPr>
                    </a:p>
                  </a:txBody>
                  <a:tcPr marL="0" marR="0" marT="41390" marB="0">
                    <a:lnL w="28575">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335577">
                <a:tc>
                  <a:txBody>
                    <a:bodyPr/>
                    <a:lstStyle/>
                    <a:p>
                      <a:pPr algn="ctr">
                        <a:lnSpc>
                          <a:spcPct val="100000"/>
                        </a:lnSpc>
                        <a:spcBef>
                          <a:spcPts val="330"/>
                        </a:spcBef>
                      </a:pPr>
                      <a:r>
                        <a:rPr sz="1600" dirty="0">
                          <a:latin typeface="Arial MT"/>
                          <a:cs typeface="Arial MT"/>
                        </a:rPr>
                        <a:t>{I4,</a:t>
                      </a:r>
                      <a:r>
                        <a:rPr sz="1600" spc="-20" dirty="0">
                          <a:latin typeface="Arial MT"/>
                          <a:cs typeface="Arial MT"/>
                        </a:rPr>
                        <a:t> </a:t>
                      </a:r>
                      <a:r>
                        <a:rPr sz="1600" spc="-25" dirty="0">
                          <a:latin typeface="Arial MT"/>
                          <a:cs typeface="Arial MT"/>
                        </a:rPr>
                        <a:t>I5}</a:t>
                      </a:r>
                      <a:endParaRPr sz="1600" dirty="0">
                        <a:latin typeface="Arial MT"/>
                        <a:cs typeface="Arial MT"/>
                      </a:endParaRPr>
                    </a:p>
                  </a:txBody>
                  <a:tcPr marL="0" marR="0" marT="42027" marB="0">
                    <a:lnL w="28575">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10"/>
                  </a:ext>
                </a:extLst>
              </a:tr>
            </a:tbl>
          </a:graphicData>
        </a:graphic>
      </p:graphicFrame>
      <p:graphicFrame>
        <p:nvGraphicFramePr>
          <p:cNvPr id="4" name="object 4"/>
          <p:cNvGraphicFramePr>
            <a:graphicFrameLocks noGrp="1"/>
          </p:cNvGraphicFramePr>
          <p:nvPr/>
        </p:nvGraphicFramePr>
        <p:xfrm>
          <a:off x="3640726" y="1580778"/>
          <a:ext cx="1757482" cy="4272084"/>
        </p:xfrm>
        <a:graphic>
          <a:graphicData uri="http://schemas.openxmlformats.org/drawingml/2006/table">
            <a:tbl>
              <a:tblPr firstRow="1" bandRow="1">
                <a:tableStyleId>{2D5ABB26-0587-4C30-8999-92F81FD0307C}</a:tableStyleId>
              </a:tblPr>
              <a:tblGrid>
                <a:gridCol w="916947">
                  <a:extLst>
                    <a:ext uri="{9D8B030D-6E8A-4147-A177-3AD203B41FA5}">
                      <a16:colId xmlns:a16="http://schemas.microsoft.com/office/drawing/2014/main" val="20000"/>
                    </a:ext>
                  </a:extLst>
                </a:gridCol>
                <a:gridCol w="840535">
                  <a:extLst>
                    <a:ext uri="{9D8B030D-6E8A-4147-A177-3AD203B41FA5}">
                      <a16:colId xmlns:a16="http://schemas.microsoft.com/office/drawing/2014/main" val="20001"/>
                    </a:ext>
                  </a:extLst>
                </a:gridCol>
              </a:tblGrid>
              <a:tr h="630401">
                <a:tc>
                  <a:txBody>
                    <a:bodyPr/>
                    <a:lstStyle/>
                    <a:p>
                      <a:pPr algn="ctr">
                        <a:lnSpc>
                          <a:spcPct val="100000"/>
                        </a:lnSpc>
                        <a:spcBef>
                          <a:spcPts val="325"/>
                        </a:spcBef>
                      </a:pPr>
                      <a:r>
                        <a:rPr sz="1600" spc="-10" dirty="0">
                          <a:latin typeface="Arial MT"/>
                          <a:cs typeface="Arial MT"/>
                        </a:rPr>
                        <a:t>Itemset</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148590" marR="140335" indent="60960">
                        <a:lnSpc>
                          <a:spcPts val="2320"/>
                        </a:lnSpc>
                        <a:spcBef>
                          <a:spcPts val="70"/>
                        </a:spcBef>
                      </a:pPr>
                      <a:r>
                        <a:rPr sz="1600" spc="-20" dirty="0">
                          <a:latin typeface="Arial MT"/>
                          <a:cs typeface="Arial MT"/>
                        </a:rPr>
                        <a:t>Sup. </a:t>
                      </a:r>
                      <a:r>
                        <a:rPr sz="1600" spc="-10" dirty="0">
                          <a:latin typeface="Arial MT"/>
                          <a:cs typeface="Arial MT"/>
                        </a:rPr>
                        <a:t>Count</a:t>
                      </a:r>
                      <a:endParaRPr sz="1600">
                        <a:latin typeface="Arial MT"/>
                        <a:cs typeface="Arial MT"/>
                      </a:endParaRPr>
                    </a:p>
                  </a:txBody>
                  <a:tcPr marL="0" marR="0" marT="8915"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4232">
                <a:tc>
                  <a:txBody>
                    <a:bodyPr/>
                    <a:lstStyle/>
                    <a:p>
                      <a:pPr algn="ctr">
                        <a:lnSpc>
                          <a:spcPct val="100000"/>
                        </a:lnSpc>
                        <a:spcBef>
                          <a:spcPts val="325"/>
                        </a:spcBef>
                      </a:pPr>
                      <a:r>
                        <a:rPr sz="1600" dirty="0">
                          <a:latin typeface="Arial MT"/>
                          <a:cs typeface="Arial MT"/>
                        </a:rPr>
                        <a:t>{I1,</a:t>
                      </a:r>
                      <a:r>
                        <a:rPr sz="1600" spc="-20" dirty="0">
                          <a:latin typeface="Arial MT"/>
                          <a:cs typeface="Arial MT"/>
                        </a:rPr>
                        <a:t> </a:t>
                      </a:r>
                      <a:r>
                        <a:rPr sz="1600" spc="-25" dirty="0">
                          <a:latin typeface="Arial MT"/>
                          <a:cs typeface="Arial MT"/>
                        </a:rPr>
                        <a:t>I2}</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spc="-50" dirty="0">
                          <a:latin typeface="Arial MT"/>
                          <a:cs typeface="Arial MT"/>
                        </a:rPr>
                        <a:t>4</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4232">
                <a:tc>
                  <a:txBody>
                    <a:bodyPr/>
                    <a:lstStyle/>
                    <a:p>
                      <a:pPr algn="ctr">
                        <a:lnSpc>
                          <a:spcPct val="100000"/>
                        </a:lnSpc>
                        <a:spcBef>
                          <a:spcPts val="325"/>
                        </a:spcBef>
                      </a:pPr>
                      <a:r>
                        <a:rPr sz="1600" dirty="0">
                          <a:latin typeface="Arial MT"/>
                          <a:cs typeface="Arial MT"/>
                        </a:rPr>
                        <a:t>{I1,</a:t>
                      </a:r>
                      <a:r>
                        <a:rPr sz="1600" spc="-20" dirty="0">
                          <a:latin typeface="Arial MT"/>
                          <a:cs typeface="Arial MT"/>
                        </a:rPr>
                        <a:t> </a:t>
                      </a:r>
                      <a:r>
                        <a:rPr sz="1600" spc="-25" dirty="0">
                          <a:latin typeface="Arial MT"/>
                          <a:cs typeface="Arial MT"/>
                        </a:rPr>
                        <a:t>I3}</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spc="-50" dirty="0">
                          <a:latin typeface="Arial MT"/>
                          <a:cs typeface="Arial MT"/>
                        </a:rPr>
                        <a:t>4</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64232">
                <a:tc>
                  <a:txBody>
                    <a:bodyPr/>
                    <a:lstStyle/>
                    <a:p>
                      <a:pPr algn="ctr">
                        <a:lnSpc>
                          <a:spcPct val="100000"/>
                        </a:lnSpc>
                        <a:spcBef>
                          <a:spcPts val="325"/>
                        </a:spcBef>
                      </a:pPr>
                      <a:r>
                        <a:rPr sz="1600" dirty="0">
                          <a:latin typeface="Arial MT"/>
                          <a:cs typeface="Arial MT"/>
                        </a:rPr>
                        <a:t>{I1,</a:t>
                      </a:r>
                      <a:r>
                        <a:rPr sz="1600" spc="-20" dirty="0">
                          <a:latin typeface="Arial MT"/>
                          <a:cs typeface="Arial MT"/>
                        </a:rPr>
                        <a:t> </a:t>
                      </a:r>
                      <a:r>
                        <a:rPr sz="1600" spc="-25" dirty="0">
                          <a:latin typeface="Arial MT"/>
                          <a:cs typeface="Arial MT"/>
                        </a:rPr>
                        <a:t>I4}</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spc="-50" dirty="0">
                          <a:latin typeface="Arial MT"/>
                          <a:cs typeface="Arial MT"/>
                        </a:rPr>
                        <a:t>1</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62958">
                <a:tc>
                  <a:txBody>
                    <a:bodyPr/>
                    <a:lstStyle/>
                    <a:p>
                      <a:pPr algn="ctr">
                        <a:lnSpc>
                          <a:spcPct val="100000"/>
                        </a:lnSpc>
                        <a:spcBef>
                          <a:spcPts val="330"/>
                        </a:spcBef>
                      </a:pPr>
                      <a:r>
                        <a:rPr sz="1600" dirty="0">
                          <a:latin typeface="Arial MT"/>
                          <a:cs typeface="Arial MT"/>
                        </a:rPr>
                        <a:t>{I1,</a:t>
                      </a:r>
                      <a:r>
                        <a:rPr sz="1600" spc="-20" dirty="0">
                          <a:latin typeface="Arial MT"/>
                          <a:cs typeface="Arial MT"/>
                        </a:rPr>
                        <a:t> </a:t>
                      </a:r>
                      <a:r>
                        <a:rPr sz="1600" spc="-25" dirty="0">
                          <a:latin typeface="Arial MT"/>
                          <a:cs typeface="Arial MT"/>
                        </a:rPr>
                        <a:t>I5}</a:t>
                      </a:r>
                      <a:endParaRPr sz="1600">
                        <a:latin typeface="Arial MT"/>
                        <a:cs typeface="Arial MT"/>
                      </a:endParaRPr>
                    </a:p>
                  </a:txBody>
                  <a:tcPr marL="0" marR="0" marT="42027"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30"/>
                        </a:spcBef>
                      </a:pPr>
                      <a:r>
                        <a:rPr sz="1600" spc="-50" dirty="0">
                          <a:latin typeface="Arial MT"/>
                          <a:cs typeface="Arial MT"/>
                        </a:rPr>
                        <a:t>2</a:t>
                      </a:r>
                      <a:endParaRPr sz="1600">
                        <a:latin typeface="Arial MT"/>
                        <a:cs typeface="Arial MT"/>
                      </a:endParaRPr>
                    </a:p>
                  </a:txBody>
                  <a:tcPr marL="0" marR="0" marT="42027"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64232">
                <a:tc>
                  <a:txBody>
                    <a:bodyPr/>
                    <a:lstStyle/>
                    <a:p>
                      <a:pPr algn="ctr">
                        <a:lnSpc>
                          <a:spcPct val="100000"/>
                        </a:lnSpc>
                        <a:spcBef>
                          <a:spcPts val="330"/>
                        </a:spcBef>
                      </a:pPr>
                      <a:r>
                        <a:rPr sz="1600" dirty="0">
                          <a:latin typeface="Arial MT"/>
                          <a:cs typeface="Arial MT"/>
                        </a:rPr>
                        <a:t>{I2,</a:t>
                      </a:r>
                      <a:r>
                        <a:rPr sz="1600" spc="-20" dirty="0">
                          <a:latin typeface="Arial MT"/>
                          <a:cs typeface="Arial MT"/>
                        </a:rPr>
                        <a:t> </a:t>
                      </a:r>
                      <a:r>
                        <a:rPr sz="1600" spc="-25" dirty="0">
                          <a:latin typeface="Arial MT"/>
                          <a:cs typeface="Arial MT"/>
                        </a:rPr>
                        <a:t>I3}</a:t>
                      </a:r>
                      <a:endParaRPr sz="1600">
                        <a:latin typeface="Arial MT"/>
                        <a:cs typeface="Arial MT"/>
                      </a:endParaRPr>
                    </a:p>
                  </a:txBody>
                  <a:tcPr marL="0" marR="0" marT="42027"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30"/>
                        </a:spcBef>
                      </a:pPr>
                      <a:r>
                        <a:rPr sz="1600" spc="-50" dirty="0">
                          <a:latin typeface="Arial MT"/>
                          <a:cs typeface="Arial MT"/>
                        </a:rPr>
                        <a:t>4</a:t>
                      </a:r>
                      <a:endParaRPr sz="1600">
                        <a:latin typeface="Arial MT"/>
                        <a:cs typeface="Arial MT"/>
                      </a:endParaRPr>
                    </a:p>
                  </a:txBody>
                  <a:tcPr marL="0" marR="0" marT="42027"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64232">
                <a:tc>
                  <a:txBody>
                    <a:bodyPr/>
                    <a:lstStyle/>
                    <a:p>
                      <a:pPr algn="ctr">
                        <a:lnSpc>
                          <a:spcPct val="100000"/>
                        </a:lnSpc>
                        <a:spcBef>
                          <a:spcPts val="330"/>
                        </a:spcBef>
                      </a:pPr>
                      <a:r>
                        <a:rPr sz="1600" dirty="0">
                          <a:latin typeface="Arial MT"/>
                          <a:cs typeface="Arial MT"/>
                        </a:rPr>
                        <a:t>{I2,</a:t>
                      </a:r>
                      <a:r>
                        <a:rPr sz="1600" spc="-20" dirty="0">
                          <a:latin typeface="Arial MT"/>
                          <a:cs typeface="Arial MT"/>
                        </a:rPr>
                        <a:t> </a:t>
                      </a:r>
                      <a:r>
                        <a:rPr sz="1600" spc="-25" dirty="0">
                          <a:latin typeface="Arial MT"/>
                          <a:cs typeface="Arial MT"/>
                        </a:rPr>
                        <a:t>I4}</a:t>
                      </a:r>
                      <a:endParaRPr sz="1600">
                        <a:latin typeface="Arial MT"/>
                        <a:cs typeface="Arial MT"/>
                      </a:endParaRPr>
                    </a:p>
                  </a:txBody>
                  <a:tcPr marL="0" marR="0" marT="42027"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30"/>
                        </a:spcBef>
                      </a:pPr>
                      <a:r>
                        <a:rPr sz="1600" spc="-50" dirty="0">
                          <a:latin typeface="Arial MT"/>
                          <a:cs typeface="Arial MT"/>
                        </a:rPr>
                        <a:t>2</a:t>
                      </a:r>
                      <a:endParaRPr sz="1600">
                        <a:latin typeface="Arial MT"/>
                        <a:cs typeface="Arial MT"/>
                      </a:endParaRPr>
                    </a:p>
                  </a:txBody>
                  <a:tcPr marL="0" marR="0" marT="42027"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64232">
                <a:tc>
                  <a:txBody>
                    <a:bodyPr/>
                    <a:lstStyle/>
                    <a:p>
                      <a:pPr algn="ctr">
                        <a:lnSpc>
                          <a:spcPct val="100000"/>
                        </a:lnSpc>
                        <a:spcBef>
                          <a:spcPts val="325"/>
                        </a:spcBef>
                      </a:pPr>
                      <a:r>
                        <a:rPr sz="1600" dirty="0">
                          <a:latin typeface="Arial MT"/>
                          <a:cs typeface="Arial MT"/>
                        </a:rPr>
                        <a:t>{I2,</a:t>
                      </a:r>
                      <a:r>
                        <a:rPr sz="1600" spc="-20" dirty="0">
                          <a:latin typeface="Arial MT"/>
                          <a:cs typeface="Arial MT"/>
                        </a:rPr>
                        <a:t> </a:t>
                      </a:r>
                      <a:r>
                        <a:rPr sz="1600" spc="-25" dirty="0">
                          <a:latin typeface="Arial MT"/>
                          <a:cs typeface="Arial MT"/>
                        </a:rPr>
                        <a:t>I5}</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spc="-50" dirty="0">
                          <a:latin typeface="Arial MT"/>
                          <a:cs typeface="Arial MT"/>
                        </a:rPr>
                        <a:t>2</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364869">
                <a:tc>
                  <a:txBody>
                    <a:bodyPr/>
                    <a:lstStyle/>
                    <a:p>
                      <a:pPr algn="ctr">
                        <a:lnSpc>
                          <a:spcPct val="100000"/>
                        </a:lnSpc>
                        <a:spcBef>
                          <a:spcPts val="325"/>
                        </a:spcBef>
                      </a:pPr>
                      <a:r>
                        <a:rPr sz="1600" dirty="0">
                          <a:latin typeface="Arial MT"/>
                          <a:cs typeface="Arial MT"/>
                        </a:rPr>
                        <a:t>{I3,</a:t>
                      </a:r>
                      <a:r>
                        <a:rPr sz="1600" spc="-20" dirty="0">
                          <a:latin typeface="Arial MT"/>
                          <a:cs typeface="Arial MT"/>
                        </a:rPr>
                        <a:t> </a:t>
                      </a:r>
                      <a:r>
                        <a:rPr sz="1600" spc="-25" dirty="0">
                          <a:latin typeface="Arial MT"/>
                          <a:cs typeface="Arial MT"/>
                        </a:rPr>
                        <a:t>I4}</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5"/>
                        </a:spcBef>
                      </a:pPr>
                      <a:r>
                        <a:rPr sz="1600" spc="-50" dirty="0">
                          <a:latin typeface="Arial MT"/>
                          <a:cs typeface="Arial MT"/>
                        </a:rPr>
                        <a:t>0</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364232">
                <a:tc>
                  <a:txBody>
                    <a:bodyPr/>
                    <a:lstStyle/>
                    <a:p>
                      <a:pPr algn="ctr">
                        <a:lnSpc>
                          <a:spcPct val="100000"/>
                        </a:lnSpc>
                        <a:spcBef>
                          <a:spcPts val="320"/>
                        </a:spcBef>
                      </a:pPr>
                      <a:r>
                        <a:rPr sz="1600" dirty="0">
                          <a:latin typeface="Arial MT"/>
                          <a:cs typeface="Arial MT"/>
                        </a:rPr>
                        <a:t>{I3,</a:t>
                      </a:r>
                      <a:r>
                        <a:rPr sz="1600" spc="-20" dirty="0">
                          <a:latin typeface="Arial MT"/>
                          <a:cs typeface="Arial MT"/>
                        </a:rPr>
                        <a:t> </a:t>
                      </a:r>
                      <a:r>
                        <a:rPr sz="1600" spc="-25" dirty="0">
                          <a:latin typeface="Arial MT"/>
                          <a:cs typeface="Arial MT"/>
                        </a:rPr>
                        <a:t>I5}</a:t>
                      </a:r>
                      <a:endParaRPr sz="1600">
                        <a:latin typeface="Arial MT"/>
                        <a:cs typeface="Arial MT"/>
                      </a:endParaRPr>
                    </a:p>
                  </a:txBody>
                  <a:tcPr marL="0" marR="0" marT="40753"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20"/>
                        </a:spcBef>
                      </a:pPr>
                      <a:r>
                        <a:rPr sz="1600" spc="-50" dirty="0">
                          <a:latin typeface="Arial MT"/>
                          <a:cs typeface="Arial MT"/>
                        </a:rPr>
                        <a:t>1</a:t>
                      </a:r>
                      <a:endParaRPr sz="1600">
                        <a:latin typeface="Arial MT"/>
                        <a:cs typeface="Arial MT"/>
                      </a:endParaRPr>
                    </a:p>
                  </a:txBody>
                  <a:tcPr marL="0" marR="0" marT="40753"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364232">
                <a:tc>
                  <a:txBody>
                    <a:bodyPr/>
                    <a:lstStyle/>
                    <a:p>
                      <a:pPr algn="ctr">
                        <a:lnSpc>
                          <a:spcPct val="100000"/>
                        </a:lnSpc>
                        <a:spcBef>
                          <a:spcPts val="320"/>
                        </a:spcBef>
                      </a:pPr>
                      <a:r>
                        <a:rPr sz="1600" dirty="0">
                          <a:latin typeface="Arial MT"/>
                          <a:cs typeface="Arial MT"/>
                        </a:rPr>
                        <a:t>{I4,</a:t>
                      </a:r>
                      <a:r>
                        <a:rPr sz="1600" spc="-20" dirty="0">
                          <a:latin typeface="Arial MT"/>
                          <a:cs typeface="Arial MT"/>
                        </a:rPr>
                        <a:t> </a:t>
                      </a:r>
                      <a:r>
                        <a:rPr sz="1600" spc="-25" dirty="0">
                          <a:latin typeface="Arial MT"/>
                          <a:cs typeface="Arial MT"/>
                        </a:rPr>
                        <a:t>I5}</a:t>
                      </a:r>
                      <a:endParaRPr sz="1600">
                        <a:latin typeface="Arial MT"/>
                        <a:cs typeface="Arial MT"/>
                      </a:endParaRPr>
                    </a:p>
                  </a:txBody>
                  <a:tcPr marL="0" marR="0" marT="40753"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635" algn="ctr">
                        <a:lnSpc>
                          <a:spcPct val="100000"/>
                        </a:lnSpc>
                        <a:spcBef>
                          <a:spcPts val="320"/>
                        </a:spcBef>
                      </a:pPr>
                      <a:r>
                        <a:rPr sz="1600" spc="-50" dirty="0">
                          <a:latin typeface="Arial MT"/>
                          <a:cs typeface="Arial MT"/>
                        </a:rPr>
                        <a:t>0</a:t>
                      </a:r>
                      <a:endParaRPr sz="1600">
                        <a:latin typeface="Arial MT"/>
                        <a:cs typeface="Arial MT"/>
                      </a:endParaRPr>
                    </a:p>
                  </a:txBody>
                  <a:tcPr marL="0" marR="0" marT="40753"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10"/>
                  </a:ext>
                </a:extLst>
              </a:tr>
            </a:tbl>
          </a:graphicData>
        </a:graphic>
      </p:graphicFrame>
      <p:graphicFrame>
        <p:nvGraphicFramePr>
          <p:cNvPr id="5" name="object 5"/>
          <p:cNvGraphicFramePr>
            <a:graphicFrameLocks noGrp="1"/>
          </p:cNvGraphicFramePr>
          <p:nvPr/>
        </p:nvGraphicFramePr>
        <p:xfrm>
          <a:off x="6926453" y="1580778"/>
          <a:ext cx="1756843" cy="2641952"/>
        </p:xfrm>
        <a:graphic>
          <a:graphicData uri="http://schemas.openxmlformats.org/drawingml/2006/table">
            <a:tbl>
              <a:tblPr firstRow="1" bandRow="1">
                <a:tableStyleId>{2D5ABB26-0587-4C30-8999-92F81FD0307C}</a:tableStyleId>
              </a:tblPr>
              <a:tblGrid>
                <a:gridCol w="860910">
                  <a:extLst>
                    <a:ext uri="{9D8B030D-6E8A-4147-A177-3AD203B41FA5}">
                      <a16:colId xmlns:a16="http://schemas.microsoft.com/office/drawing/2014/main" val="20000"/>
                    </a:ext>
                  </a:extLst>
                </a:gridCol>
                <a:gridCol w="895933">
                  <a:extLst>
                    <a:ext uri="{9D8B030D-6E8A-4147-A177-3AD203B41FA5}">
                      <a16:colId xmlns:a16="http://schemas.microsoft.com/office/drawing/2014/main" val="20001"/>
                    </a:ext>
                  </a:extLst>
                </a:gridCol>
              </a:tblGrid>
              <a:tr h="630401">
                <a:tc>
                  <a:txBody>
                    <a:bodyPr/>
                    <a:lstStyle/>
                    <a:p>
                      <a:pPr algn="ctr">
                        <a:lnSpc>
                          <a:spcPct val="100000"/>
                        </a:lnSpc>
                        <a:spcBef>
                          <a:spcPts val="325"/>
                        </a:spcBef>
                      </a:pPr>
                      <a:r>
                        <a:rPr sz="1600" spc="-10" dirty="0">
                          <a:latin typeface="Arial MT"/>
                          <a:cs typeface="Arial MT"/>
                        </a:rPr>
                        <a:t>Itemset</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175895" marR="168910" indent="88900">
                        <a:lnSpc>
                          <a:spcPts val="2320"/>
                        </a:lnSpc>
                        <a:spcBef>
                          <a:spcPts val="70"/>
                        </a:spcBef>
                      </a:pPr>
                      <a:r>
                        <a:rPr sz="1600" spc="-25" dirty="0">
                          <a:latin typeface="Arial MT"/>
                          <a:cs typeface="Arial MT"/>
                        </a:rPr>
                        <a:t>Sup </a:t>
                      </a:r>
                      <a:r>
                        <a:rPr sz="1600" spc="-10" dirty="0">
                          <a:latin typeface="Arial MT"/>
                          <a:cs typeface="Arial MT"/>
                        </a:rPr>
                        <a:t>Count</a:t>
                      </a:r>
                      <a:endParaRPr sz="1600">
                        <a:latin typeface="Arial MT"/>
                        <a:cs typeface="Arial MT"/>
                      </a:endParaRPr>
                    </a:p>
                  </a:txBody>
                  <a:tcPr marL="0" marR="0" marT="8915"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35577">
                <a:tc>
                  <a:txBody>
                    <a:bodyPr/>
                    <a:lstStyle/>
                    <a:p>
                      <a:pPr algn="ctr">
                        <a:lnSpc>
                          <a:spcPct val="100000"/>
                        </a:lnSpc>
                        <a:spcBef>
                          <a:spcPts val="325"/>
                        </a:spcBef>
                      </a:pPr>
                      <a:r>
                        <a:rPr sz="1600" dirty="0">
                          <a:latin typeface="Arial MT"/>
                          <a:cs typeface="Arial MT"/>
                        </a:rPr>
                        <a:t>{I1,</a:t>
                      </a:r>
                      <a:r>
                        <a:rPr sz="1600" spc="-20" dirty="0">
                          <a:latin typeface="Arial MT"/>
                          <a:cs typeface="Arial MT"/>
                        </a:rPr>
                        <a:t> </a:t>
                      </a:r>
                      <a:r>
                        <a:rPr sz="1600" spc="-25" dirty="0">
                          <a:latin typeface="Arial MT"/>
                          <a:cs typeface="Arial MT"/>
                        </a:rPr>
                        <a:t>I2}</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0" dirty="0">
                          <a:latin typeface="Arial MT"/>
                          <a:cs typeface="Arial MT"/>
                        </a:rPr>
                        <a:t>4</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34940">
                <a:tc>
                  <a:txBody>
                    <a:bodyPr/>
                    <a:lstStyle/>
                    <a:p>
                      <a:pPr algn="ctr">
                        <a:lnSpc>
                          <a:spcPct val="100000"/>
                        </a:lnSpc>
                        <a:spcBef>
                          <a:spcPts val="325"/>
                        </a:spcBef>
                      </a:pPr>
                      <a:r>
                        <a:rPr sz="1600" dirty="0">
                          <a:latin typeface="Arial MT"/>
                          <a:cs typeface="Arial MT"/>
                        </a:rPr>
                        <a:t>{I1,</a:t>
                      </a:r>
                      <a:r>
                        <a:rPr sz="1600" spc="-20" dirty="0">
                          <a:latin typeface="Arial MT"/>
                          <a:cs typeface="Arial MT"/>
                        </a:rPr>
                        <a:t> </a:t>
                      </a:r>
                      <a:r>
                        <a:rPr sz="1600" spc="-25" dirty="0">
                          <a:latin typeface="Arial MT"/>
                          <a:cs typeface="Arial MT"/>
                        </a:rPr>
                        <a:t>I3}</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0" dirty="0">
                          <a:latin typeface="Arial MT"/>
                          <a:cs typeface="Arial MT"/>
                        </a:rPr>
                        <a:t>4</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35577">
                <a:tc>
                  <a:txBody>
                    <a:bodyPr/>
                    <a:lstStyle/>
                    <a:p>
                      <a:pPr algn="ctr">
                        <a:lnSpc>
                          <a:spcPct val="100000"/>
                        </a:lnSpc>
                        <a:spcBef>
                          <a:spcPts val="325"/>
                        </a:spcBef>
                      </a:pPr>
                      <a:r>
                        <a:rPr sz="1600" dirty="0">
                          <a:latin typeface="Arial MT"/>
                          <a:cs typeface="Arial MT"/>
                        </a:rPr>
                        <a:t>{I1,</a:t>
                      </a:r>
                      <a:r>
                        <a:rPr sz="1600" spc="-20" dirty="0">
                          <a:latin typeface="Arial MT"/>
                          <a:cs typeface="Arial MT"/>
                        </a:rPr>
                        <a:t> </a:t>
                      </a:r>
                      <a:r>
                        <a:rPr sz="1600" spc="-25" dirty="0">
                          <a:latin typeface="Arial MT"/>
                          <a:cs typeface="Arial MT"/>
                        </a:rPr>
                        <a:t>I5}</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0" dirty="0">
                          <a:latin typeface="Arial MT"/>
                          <a:cs typeface="Arial MT"/>
                        </a:rPr>
                        <a:t>2</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34940">
                <a:tc>
                  <a:txBody>
                    <a:bodyPr/>
                    <a:lstStyle/>
                    <a:p>
                      <a:pPr algn="ctr">
                        <a:lnSpc>
                          <a:spcPct val="100000"/>
                        </a:lnSpc>
                        <a:spcBef>
                          <a:spcPts val="325"/>
                        </a:spcBef>
                      </a:pPr>
                      <a:r>
                        <a:rPr sz="1600" dirty="0">
                          <a:latin typeface="Arial MT"/>
                          <a:cs typeface="Arial MT"/>
                        </a:rPr>
                        <a:t>{I2,</a:t>
                      </a:r>
                      <a:r>
                        <a:rPr sz="1600" spc="-20" dirty="0">
                          <a:latin typeface="Arial MT"/>
                          <a:cs typeface="Arial MT"/>
                        </a:rPr>
                        <a:t> </a:t>
                      </a:r>
                      <a:r>
                        <a:rPr sz="1600" spc="-25" dirty="0">
                          <a:latin typeface="Arial MT"/>
                          <a:cs typeface="Arial MT"/>
                        </a:rPr>
                        <a:t>I3}</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5"/>
                        </a:spcBef>
                      </a:pPr>
                      <a:r>
                        <a:rPr sz="1600" spc="-50" dirty="0">
                          <a:latin typeface="Arial MT"/>
                          <a:cs typeface="Arial MT"/>
                        </a:rPr>
                        <a:t>4</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35577">
                <a:tc>
                  <a:txBody>
                    <a:bodyPr/>
                    <a:lstStyle/>
                    <a:p>
                      <a:pPr algn="ctr">
                        <a:lnSpc>
                          <a:spcPct val="100000"/>
                        </a:lnSpc>
                        <a:spcBef>
                          <a:spcPts val="330"/>
                        </a:spcBef>
                      </a:pPr>
                      <a:r>
                        <a:rPr sz="1600" dirty="0">
                          <a:latin typeface="Arial MT"/>
                          <a:cs typeface="Arial MT"/>
                        </a:rPr>
                        <a:t>{I2,</a:t>
                      </a:r>
                      <a:r>
                        <a:rPr sz="1600" spc="-20" dirty="0">
                          <a:latin typeface="Arial MT"/>
                          <a:cs typeface="Arial MT"/>
                        </a:rPr>
                        <a:t> </a:t>
                      </a:r>
                      <a:r>
                        <a:rPr sz="1600" spc="-25" dirty="0">
                          <a:latin typeface="Arial MT"/>
                          <a:cs typeface="Arial MT"/>
                        </a:rPr>
                        <a:t>I4}</a:t>
                      </a:r>
                      <a:endParaRPr sz="1600">
                        <a:latin typeface="Arial MT"/>
                        <a:cs typeface="Arial MT"/>
                      </a:endParaRPr>
                    </a:p>
                  </a:txBody>
                  <a:tcPr marL="0" marR="0" marT="42027"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30"/>
                        </a:spcBef>
                      </a:pPr>
                      <a:r>
                        <a:rPr sz="1600" spc="-50" dirty="0">
                          <a:latin typeface="Arial MT"/>
                          <a:cs typeface="Arial MT"/>
                        </a:rPr>
                        <a:t>2</a:t>
                      </a:r>
                      <a:endParaRPr sz="1600">
                        <a:latin typeface="Arial MT"/>
                        <a:cs typeface="Arial MT"/>
                      </a:endParaRPr>
                    </a:p>
                  </a:txBody>
                  <a:tcPr marL="0" marR="0" marT="42027"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34940">
                <a:tc>
                  <a:txBody>
                    <a:bodyPr/>
                    <a:lstStyle/>
                    <a:p>
                      <a:pPr algn="ctr">
                        <a:lnSpc>
                          <a:spcPct val="100000"/>
                        </a:lnSpc>
                        <a:spcBef>
                          <a:spcPts val="325"/>
                        </a:spcBef>
                      </a:pPr>
                      <a:r>
                        <a:rPr sz="1600" dirty="0">
                          <a:latin typeface="Arial MT"/>
                          <a:cs typeface="Arial MT"/>
                        </a:rPr>
                        <a:t>{I2,</a:t>
                      </a:r>
                      <a:r>
                        <a:rPr sz="1600" spc="-20" dirty="0">
                          <a:latin typeface="Arial MT"/>
                          <a:cs typeface="Arial MT"/>
                        </a:rPr>
                        <a:t> </a:t>
                      </a:r>
                      <a:r>
                        <a:rPr sz="1600" spc="-25" dirty="0">
                          <a:latin typeface="Arial MT"/>
                          <a:cs typeface="Arial MT"/>
                        </a:rPr>
                        <a:t>I5}</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325"/>
                        </a:spcBef>
                      </a:pPr>
                      <a:r>
                        <a:rPr sz="1600" spc="-50" dirty="0">
                          <a:latin typeface="Arial MT"/>
                          <a:cs typeface="Arial MT"/>
                        </a:rPr>
                        <a:t>2</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6"/>
                  </a:ext>
                </a:extLst>
              </a:tr>
            </a:tbl>
          </a:graphicData>
        </a:graphic>
      </p:graphicFrame>
      <p:sp>
        <p:nvSpPr>
          <p:cNvPr id="6" name="object 6"/>
          <p:cNvSpPr/>
          <p:nvPr/>
        </p:nvSpPr>
        <p:spPr>
          <a:xfrm>
            <a:off x="135505" y="3085145"/>
            <a:ext cx="998453" cy="76412"/>
          </a:xfrm>
          <a:custGeom>
            <a:avLst/>
            <a:gdLst/>
            <a:ahLst/>
            <a:cxnLst/>
            <a:rect l="l" t="t" r="r" b="b"/>
            <a:pathLst>
              <a:path w="995680" h="76200">
                <a:moveTo>
                  <a:pt x="936497" y="38100"/>
                </a:moveTo>
                <a:lnTo>
                  <a:pt x="934974" y="35051"/>
                </a:lnTo>
                <a:lnTo>
                  <a:pt x="931926" y="33527"/>
                </a:lnTo>
                <a:lnTo>
                  <a:pt x="4571" y="33527"/>
                </a:lnTo>
                <a:lnTo>
                  <a:pt x="1523" y="35051"/>
                </a:lnTo>
                <a:lnTo>
                  <a:pt x="0" y="38100"/>
                </a:lnTo>
                <a:lnTo>
                  <a:pt x="1523" y="41148"/>
                </a:lnTo>
                <a:lnTo>
                  <a:pt x="4571" y="42672"/>
                </a:lnTo>
                <a:lnTo>
                  <a:pt x="931926" y="42672"/>
                </a:lnTo>
                <a:lnTo>
                  <a:pt x="934974" y="41148"/>
                </a:lnTo>
                <a:lnTo>
                  <a:pt x="936497" y="38100"/>
                </a:lnTo>
                <a:close/>
              </a:path>
              <a:path w="995680" h="76200">
                <a:moveTo>
                  <a:pt x="995172" y="38100"/>
                </a:moveTo>
                <a:lnTo>
                  <a:pt x="918972" y="0"/>
                </a:lnTo>
                <a:lnTo>
                  <a:pt x="918972" y="33527"/>
                </a:lnTo>
                <a:lnTo>
                  <a:pt x="931926" y="33527"/>
                </a:lnTo>
                <a:lnTo>
                  <a:pt x="934974" y="35051"/>
                </a:lnTo>
                <a:lnTo>
                  <a:pt x="936497" y="38100"/>
                </a:lnTo>
                <a:lnTo>
                  <a:pt x="936497" y="67437"/>
                </a:lnTo>
                <a:lnTo>
                  <a:pt x="995172" y="38100"/>
                </a:lnTo>
                <a:close/>
              </a:path>
              <a:path w="995680" h="76200">
                <a:moveTo>
                  <a:pt x="936497" y="67437"/>
                </a:moveTo>
                <a:lnTo>
                  <a:pt x="936497" y="38100"/>
                </a:lnTo>
                <a:lnTo>
                  <a:pt x="934974" y="41148"/>
                </a:lnTo>
                <a:lnTo>
                  <a:pt x="931926" y="42672"/>
                </a:lnTo>
                <a:lnTo>
                  <a:pt x="918972" y="42672"/>
                </a:lnTo>
                <a:lnTo>
                  <a:pt x="918972" y="76200"/>
                </a:lnTo>
                <a:lnTo>
                  <a:pt x="936497" y="67437"/>
                </a:lnTo>
                <a:close/>
              </a:path>
            </a:pathLst>
          </a:custGeom>
          <a:solidFill>
            <a:srgbClr val="000000"/>
          </a:solidFill>
        </p:spPr>
        <p:txBody>
          <a:bodyPr wrap="square" lIns="0" tIns="0" rIns="0" bIns="0" rtlCol="0"/>
          <a:lstStyle/>
          <a:p>
            <a:endParaRPr sz="1805"/>
          </a:p>
        </p:txBody>
      </p:sp>
      <p:sp>
        <p:nvSpPr>
          <p:cNvPr id="7" name="object 7"/>
          <p:cNvSpPr/>
          <p:nvPr/>
        </p:nvSpPr>
        <p:spPr>
          <a:xfrm>
            <a:off x="2427871" y="3085145"/>
            <a:ext cx="1227690" cy="76412"/>
          </a:xfrm>
          <a:custGeom>
            <a:avLst/>
            <a:gdLst/>
            <a:ahLst/>
            <a:cxnLst/>
            <a:rect l="l" t="t" r="r" b="b"/>
            <a:pathLst>
              <a:path w="1224279" h="76200">
                <a:moveTo>
                  <a:pt x="1165097" y="38100"/>
                </a:moveTo>
                <a:lnTo>
                  <a:pt x="1163573" y="35051"/>
                </a:lnTo>
                <a:lnTo>
                  <a:pt x="1160525" y="33527"/>
                </a:lnTo>
                <a:lnTo>
                  <a:pt x="4572" y="33527"/>
                </a:lnTo>
                <a:lnTo>
                  <a:pt x="1524" y="35051"/>
                </a:lnTo>
                <a:lnTo>
                  <a:pt x="0" y="38100"/>
                </a:lnTo>
                <a:lnTo>
                  <a:pt x="1524" y="41148"/>
                </a:lnTo>
                <a:lnTo>
                  <a:pt x="4572" y="42672"/>
                </a:lnTo>
                <a:lnTo>
                  <a:pt x="1160525" y="42672"/>
                </a:lnTo>
                <a:lnTo>
                  <a:pt x="1163573" y="41148"/>
                </a:lnTo>
                <a:lnTo>
                  <a:pt x="1165097" y="38100"/>
                </a:lnTo>
                <a:close/>
              </a:path>
              <a:path w="1224279" h="76200">
                <a:moveTo>
                  <a:pt x="1223771" y="38100"/>
                </a:moveTo>
                <a:lnTo>
                  <a:pt x="1147571" y="0"/>
                </a:lnTo>
                <a:lnTo>
                  <a:pt x="1147571" y="33527"/>
                </a:lnTo>
                <a:lnTo>
                  <a:pt x="1160525" y="33527"/>
                </a:lnTo>
                <a:lnTo>
                  <a:pt x="1163573" y="35051"/>
                </a:lnTo>
                <a:lnTo>
                  <a:pt x="1165097" y="38100"/>
                </a:lnTo>
                <a:lnTo>
                  <a:pt x="1165097" y="67437"/>
                </a:lnTo>
                <a:lnTo>
                  <a:pt x="1223771" y="38100"/>
                </a:lnTo>
                <a:close/>
              </a:path>
              <a:path w="1224279" h="76200">
                <a:moveTo>
                  <a:pt x="1165097" y="67437"/>
                </a:moveTo>
                <a:lnTo>
                  <a:pt x="1165097" y="38100"/>
                </a:lnTo>
                <a:lnTo>
                  <a:pt x="1163573" y="41148"/>
                </a:lnTo>
                <a:lnTo>
                  <a:pt x="1160525" y="42672"/>
                </a:lnTo>
                <a:lnTo>
                  <a:pt x="1147571" y="42672"/>
                </a:lnTo>
                <a:lnTo>
                  <a:pt x="1147571" y="76200"/>
                </a:lnTo>
                <a:lnTo>
                  <a:pt x="1165097" y="67437"/>
                </a:lnTo>
                <a:close/>
              </a:path>
            </a:pathLst>
          </a:custGeom>
          <a:solidFill>
            <a:srgbClr val="000000"/>
          </a:solidFill>
        </p:spPr>
        <p:txBody>
          <a:bodyPr wrap="square" lIns="0" tIns="0" rIns="0" bIns="0" rtlCol="0"/>
          <a:lstStyle/>
          <a:p>
            <a:endParaRPr sz="1805"/>
          </a:p>
        </p:txBody>
      </p:sp>
      <p:sp>
        <p:nvSpPr>
          <p:cNvPr id="8" name="object 8"/>
          <p:cNvSpPr/>
          <p:nvPr/>
        </p:nvSpPr>
        <p:spPr>
          <a:xfrm>
            <a:off x="5407950" y="3085145"/>
            <a:ext cx="1533339" cy="76412"/>
          </a:xfrm>
          <a:custGeom>
            <a:avLst/>
            <a:gdLst/>
            <a:ahLst/>
            <a:cxnLst/>
            <a:rect l="l" t="t" r="r" b="b"/>
            <a:pathLst>
              <a:path w="1529079" h="76200">
                <a:moveTo>
                  <a:pt x="1469898" y="38100"/>
                </a:moveTo>
                <a:lnTo>
                  <a:pt x="1468374" y="35051"/>
                </a:lnTo>
                <a:lnTo>
                  <a:pt x="1465326" y="33527"/>
                </a:lnTo>
                <a:lnTo>
                  <a:pt x="4572" y="33528"/>
                </a:lnTo>
                <a:lnTo>
                  <a:pt x="1524" y="35052"/>
                </a:lnTo>
                <a:lnTo>
                  <a:pt x="0" y="38100"/>
                </a:lnTo>
                <a:lnTo>
                  <a:pt x="1524" y="41148"/>
                </a:lnTo>
                <a:lnTo>
                  <a:pt x="4572" y="42672"/>
                </a:lnTo>
                <a:lnTo>
                  <a:pt x="1465326" y="42672"/>
                </a:lnTo>
                <a:lnTo>
                  <a:pt x="1468374" y="41148"/>
                </a:lnTo>
                <a:lnTo>
                  <a:pt x="1469898" y="38100"/>
                </a:lnTo>
                <a:close/>
              </a:path>
              <a:path w="1529079" h="76200">
                <a:moveTo>
                  <a:pt x="1528572" y="38100"/>
                </a:moveTo>
                <a:lnTo>
                  <a:pt x="1452372" y="0"/>
                </a:lnTo>
                <a:lnTo>
                  <a:pt x="1452372" y="33527"/>
                </a:lnTo>
                <a:lnTo>
                  <a:pt x="1465326" y="33527"/>
                </a:lnTo>
                <a:lnTo>
                  <a:pt x="1468374" y="35051"/>
                </a:lnTo>
                <a:lnTo>
                  <a:pt x="1469898" y="38100"/>
                </a:lnTo>
                <a:lnTo>
                  <a:pt x="1469898" y="67437"/>
                </a:lnTo>
                <a:lnTo>
                  <a:pt x="1528572" y="38100"/>
                </a:lnTo>
                <a:close/>
              </a:path>
              <a:path w="1529079" h="76200">
                <a:moveTo>
                  <a:pt x="1469898" y="67437"/>
                </a:moveTo>
                <a:lnTo>
                  <a:pt x="1469898" y="38100"/>
                </a:lnTo>
                <a:lnTo>
                  <a:pt x="1468374" y="41148"/>
                </a:lnTo>
                <a:lnTo>
                  <a:pt x="1465326" y="42672"/>
                </a:lnTo>
                <a:lnTo>
                  <a:pt x="1452372" y="42672"/>
                </a:lnTo>
                <a:lnTo>
                  <a:pt x="1452372" y="76200"/>
                </a:lnTo>
                <a:lnTo>
                  <a:pt x="1469898" y="67437"/>
                </a:lnTo>
                <a:close/>
              </a:path>
            </a:pathLst>
          </a:custGeom>
          <a:solidFill>
            <a:srgbClr val="000000"/>
          </a:solidFill>
        </p:spPr>
        <p:txBody>
          <a:bodyPr wrap="square" lIns="0" tIns="0" rIns="0" bIns="0" rtlCol="0"/>
          <a:lstStyle/>
          <a:p>
            <a:endParaRPr sz="1805"/>
          </a:p>
        </p:txBody>
      </p:sp>
      <p:sp>
        <p:nvSpPr>
          <p:cNvPr id="9" name="object 9"/>
          <p:cNvSpPr txBox="1"/>
          <p:nvPr/>
        </p:nvSpPr>
        <p:spPr>
          <a:xfrm>
            <a:off x="41516" y="1775693"/>
            <a:ext cx="1003548" cy="878741"/>
          </a:xfrm>
          <a:prstGeom prst="rect">
            <a:avLst/>
          </a:prstGeom>
        </p:spPr>
        <p:txBody>
          <a:bodyPr vert="horz" wrap="square" lIns="0" tIns="12099" rIns="0" bIns="0" rtlCol="0">
            <a:spAutoFit/>
          </a:bodyPr>
          <a:lstStyle/>
          <a:p>
            <a:pPr marL="38207" marR="187213">
              <a:spcBef>
                <a:spcPts val="95"/>
              </a:spcBef>
            </a:pPr>
            <a:r>
              <a:rPr sz="1404" b="1" spc="-10" dirty="0">
                <a:latin typeface="Arial"/>
                <a:cs typeface="Arial"/>
              </a:rPr>
              <a:t>Generate </a:t>
            </a:r>
            <a:r>
              <a:rPr sz="1404" b="1" spc="-25" dirty="0">
                <a:latin typeface="Arial"/>
                <a:cs typeface="Arial"/>
              </a:rPr>
              <a:t>C</a:t>
            </a:r>
            <a:r>
              <a:rPr sz="1354" b="1" spc="-37" baseline="-24691" dirty="0">
                <a:latin typeface="Arial"/>
                <a:cs typeface="Arial"/>
              </a:rPr>
              <a:t>2</a:t>
            </a:r>
            <a:endParaRPr sz="1354" baseline="-24691">
              <a:latin typeface="Arial"/>
              <a:cs typeface="Arial"/>
            </a:endParaRPr>
          </a:p>
          <a:p>
            <a:pPr marL="38207" marR="30565">
              <a:lnSpc>
                <a:spcPts val="1675"/>
              </a:lnSpc>
              <a:spcBef>
                <a:spcPts val="55"/>
              </a:spcBef>
            </a:pPr>
            <a:r>
              <a:rPr sz="1404" b="1" spc="-10" dirty="0">
                <a:latin typeface="Arial"/>
                <a:cs typeface="Arial"/>
              </a:rPr>
              <a:t>candidates </a:t>
            </a:r>
            <a:r>
              <a:rPr sz="1404" b="1" dirty="0">
                <a:latin typeface="Arial"/>
                <a:cs typeface="Arial"/>
              </a:rPr>
              <a:t>from</a:t>
            </a:r>
            <a:r>
              <a:rPr sz="1404" b="1" spc="-35" dirty="0">
                <a:latin typeface="Arial"/>
                <a:cs typeface="Arial"/>
              </a:rPr>
              <a:t> </a:t>
            </a:r>
            <a:r>
              <a:rPr sz="1404" b="1" spc="-25" dirty="0">
                <a:latin typeface="Arial"/>
                <a:cs typeface="Arial"/>
              </a:rPr>
              <a:t>L</a:t>
            </a:r>
            <a:r>
              <a:rPr sz="1354" b="1" spc="-37" baseline="-24691" dirty="0">
                <a:latin typeface="Arial"/>
                <a:cs typeface="Arial"/>
              </a:rPr>
              <a:t>1</a:t>
            </a:r>
            <a:endParaRPr sz="1354" baseline="-24691">
              <a:latin typeface="Arial"/>
              <a:cs typeface="Arial"/>
            </a:endParaRPr>
          </a:p>
        </p:txBody>
      </p:sp>
      <p:sp>
        <p:nvSpPr>
          <p:cNvPr id="10" name="object 10"/>
          <p:cNvSpPr txBox="1"/>
          <p:nvPr/>
        </p:nvSpPr>
        <p:spPr>
          <a:xfrm>
            <a:off x="1416938" y="5519129"/>
            <a:ext cx="352770" cy="331120"/>
          </a:xfrm>
          <a:prstGeom prst="rect">
            <a:avLst/>
          </a:prstGeom>
        </p:spPr>
        <p:txBody>
          <a:bodyPr vert="horz" wrap="square" lIns="0" tIns="12099" rIns="0" bIns="0" rtlCol="0">
            <a:spAutoFit/>
          </a:bodyPr>
          <a:lstStyle/>
          <a:p>
            <a:pPr marL="38207">
              <a:spcBef>
                <a:spcPts val="95"/>
              </a:spcBef>
            </a:pPr>
            <a:r>
              <a:rPr sz="2006" b="1" spc="-25" dirty="0">
                <a:latin typeface="Arial"/>
                <a:cs typeface="Arial"/>
              </a:rPr>
              <a:t>C</a:t>
            </a:r>
            <a:r>
              <a:rPr sz="1955" b="1" spc="-37" baseline="-21367" dirty="0">
                <a:latin typeface="Arial"/>
                <a:cs typeface="Arial"/>
              </a:rPr>
              <a:t>2</a:t>
            </a:r>
            <a:endParaRPr sz="1955" baseline="-21367">
              <a:latin typeface="Arial"/>
              <a:cs typeface="Arial"/>
            </a:endParaRPr>
          </a:p>
        </p:txBody>
      </p:sp>
      <p:sp>
        <p:nvSpPr>
          <p:cNvPr id="11" name="object 11"/>
          <p:cNvSpPr txBox="1"/>
          <p:nvPr/>
        </p:nvSpPr>
        <p:spPr>
          <a:xfrm>
            <a:off x="4473428" y="6130427"/>
            <a:ext cx="352770" cy="331120"/>
          </a:xfrm>
          <a:prstGeom prst="rect">
            <a:avLst/>
          </a:prstGeom>
        </p:spPr>
        <p:txBody>
          <a:bodyPr vert="horz" wrap="square" lIns="0" tIns="12099" rIns="0" bIns="0" rtlCol="0">
            <a:spAutoFit/>
          </a:bodyPr>
          <a:lstStyle/>
          <a:p>
            <a:pPr marL="38207">
              <a:spcBef>
                <a:spcPts val="95"/>
              </a:spcBef>
            </a:pPr>
            <a:r>
              <a:rPr sz="2006" b="1" spc="-25" dirty="0">
                <a:latin typeface="Arial"/>
                <a:cs typeface="Arial"/>
              </a:rPr>
              <a:t>C</a:t>
            </a:r>
            <a:r>
              <a:rPr sz="1955" b="1" spc="-37" baseline="-21367" dirty="0">
                <a:latin typeface="Arial"/>
                <a:cs typeface="Arial"/>
              </a:rPr>
              <a:t>2</a:t>
            </a:r>
            <a:endParaRPr sz="1955" baseline="-21367">
              <a:latin typeface="Arial"/>
              <a:cs typeface="Arial"/>
            </a:endParaRPr>
          </a:p>
        </p:txBody>
      </p:sp>
      <p:sp>
        <p:nvSpPr>
          <p:cNvPr id="12" name="object 12"/>
          <p:cNvSpPr txBox="1"/>
          <p:nvPr/>
        </p:nvSpPr>
        <p:spPr>
          <a:xfrm>
            <a:off x="7606331" y="4372945"/>
            <a:ext cx="324115" cy="331120"/>
          </a:xfrm>
          <a:prstGeom prst="rect">
            <a:avLst/>
          </a:prstGeom>
        </p:spPr>
        <p:txBody>
          <a:bodyPr vert="horz" wrap="square" lIns="0" tIns="12099" rIns="0" bIns="0" rtlCol="0">
            <a:spAutoFit/>
          </a:bodyPr>
          <a:lstStyle/>
          <a:p>
            <a:pPr marL="38207">
              <a:spcBef>
                <a:spcPts val="95"/>
              </a:spcBef>
            </a:pPr>
            <a:r>
              <a:rPr sz="2006" b="1" spc="-25" dirty="0">
                <a:latin typeface="Arial"/>
                <a:cs typeface="Arial"/>
              </a:rPr>
              <a:t>L</a:t>
            </a:r>
            <a:r>
              <a:rPr sz="1955" b="1" spc="-37" baseline="-21367" dirty="0">
                <a:latin typeface="Arial"/>
                <a:cs typeface="Arial"/>
              </a:rPr>
              <a:t>2</a:t>
            </a:r>
            <a:endParaRPr sz="1955" baseline="-21367">
              <a:latin typeface="Arial"/>
              <a:cs typeface="Arial"/>
            </a:endParaRPr>
          </a:p>
        </p:txBody>
      </p:sp>
      <p:sp>
        <p:nvSpPr>
          <p:cNvPr id="13" name="object 13"/>
          <p:cNvSpPr txBox="1"/>
          <p:nvPr/>
        </p:nvSpPr>
        <p:spPr>
          <a:xfrm>
            <a:off x="2588591" y="2004930"/>
            <a:ext cx="915674" cy="878741"/>
          </a:xfrm>
          <a:prstGeom prst="rect">
            <a:avLst/>
          </a:prstGeom>
        </p:spPr>
        <p:txBody>
          <a:bodyPr vert="horz" wrap="square" lIns="0" tIns="12099" rIns="0" bIns="0" rtlCol="0">
            <a:spAutoFit/>
          </a:bodyPr>
          <a:lstStyle/>
          <a:p>
            <a:pPr marL="12736" marR="5094">
              <a:spcBef>
                <a:spcPts val="95"/>
              </a:spcBef>
            </a:pPr>
            <a:r>
              <a:rPr sz="1404" b="1" dirty="0">
                <a:latin typeface="Arial"/>
                <a:cs typeface="Arial"/>
              </a:rPr>
              <a:t>Scan</a:t>
            </a:r>
            <a:r>
              <a:rPr sz="1404" b="1" spc="-20" dirty="0">
                <a:latin typeface="Arial"/>
                <a:cs typeface="Arial"/>
              </a:rPr>
              <a:t> </a:t>
            </a:r>
            <a:r>
              <a:rPr sz="1404" b="1" dirty="0">
                <a:latin typeface="Arial"/>
                <a:cs typeface="Arial"/>
              </a:rPr>
              <a:t>D</a:t>
            </a:r>
            <a:r>
              <a:rPr sz="1404" b="1" spc="-20" dirty="0">
                <a:latin typeface="Arial"/>
                <a:cs typeface="Arial"/>
              </a:rPr>
              <a:t> </a:t>
            </a:r>
            <a:r>
              <a:rPr sz="1404" b="1" spc="-25" dirty="0">
                <a:latin typeface="Arial"/>
                <a:cs typeface="Arial"/>
              </a:rPr>
              <a:t>for </a:t>
            </a:r>
            <a:r>
              <a:rPr sz="1404" b="1" dirty="0">
                <a:latin typeface="Arial"/>
                <a:cs typeface="Arial"/>
              </a:rPr>
              <a:t>count</a:t>
            </a:r>
            <a:r>
              <a:rPr sz="1404" b="1" spc="-25" dirty="0">
                <a:latin typeface="Arial"/>
                <a:cs typeface="Arial"/>
              </a:rPr>
              <a:t> of </a:t>
            </a:r>
            <a:r>
              <a:rPr sz="1404" b="1" spc="-20" dirty="0">
                <a:latin typeface="Arial"/>
                <a:cs typeface="Arial"/>
              </a:rPr>
              <a:t>each </a:t>
            </a:r>
            <a:r>
              <a:rPr sz="1404" b="1" spc="-10" dirty="0">
                <a:latin typeface="Arial"/>
                <a:cs typeface="Arial"/>
              </a:rPr>
              <a:t>candidate</a:t>
            </a:r>
            <a:endParaRPr sz="1404">
              <a:latin typeface="Arial"/>
              <a:cs typeface="Arial"/>
            </a:endParaRPr>
          </a:p>
        </p:txBody>
      </p:sp>
      <p:sp>
        <p:nvSpPr>
          <p:cNvPr id="14" name="object 14"/>
          <p:cNvSpPr txBox="1"/>
          <p:nvPr/>
        </p:nvSpPr>
        <p:spPr>
          <a:xfrm>
            <a:off x="5568671" y="1775685"/>
            <a:ext cx="912490" cy="1518694"/>
          </a:xfrm>
          <a:prstGeom prst="rect">
            <a:avLst/>
          </a:prstGeom>
        </p:spPr>
        <p:txBody>
          <a:bodyPr vert="horz" wrap="square" lIns="0" tIns="12099" rIns="0" bIns="0" rtlCol="0">
            <a:spAutoFit/>
          </a:bodyPr>
          <a:lstStyle/>
          <a:p>
            <a:pPr marL="12736" marR="5094">
              <a:spcBef>
                <a:spcPts val="95"/>
              </a:spcBef>
            </a:pPr>
            <a:r>
              <a:rPr sz="1404" b="1" spc="-10" dirty="0">
                <a:latin typeface="Arial"/>
                <a:cs typeface="Arial"/>
              </a:rPr>
              <a:t>Compare candidate support </a:t>
            </a:r>
            <a:r>
              <a:rPr sz="1404" b="1" dirty="0">
                <a:latin typeface="Arial"/>
                <a:cs typeface="Arial"/>
              </a:rPr>
              <a:t>count</a:t>
            </a:r>
            <a:r>
              <a:rPr sz="1404" b="1" spc="-25" dirty="0">
                <a:latin typeface="Arial"/>
                <a:cs typeface="Arial"/>
              </a:rPr>
              <a:t> </a:t>
            </a:r>
            <a:r>
              <a:rPr sz="1404" b="1" spc="-20" dirty="0">
                <a:latin typeface="Arial"/>
                <a:cs typeface="Arial"/>
              </a:rPr>
              <a:t>with </a:t>
            </a:r>
            <a:r>
              <a:rPr sz="1404" b="1" spc="-10" dirty="0">
                <a:latin typeface="Arial"/>
                <a:cs typeface="Arial"/>
              </a:rPr>
              <a:t>minimum support count</a:t>
            </a:r>
            <a:endParaRPr sz="1404">
              <a:latin typeface="Arial"/>
              <a:cs typeface="Arial"/>
            </a:endParaRPr>
          </a:p>
        </p:txBody>
      </p:sp>
      <p:graphicFrame>
        <p:nvGraphicFramePr>
          <p:cNvPr id="16" name="object 4">
            <a:extLst>
              <a:ext uri="{FF2B5EF4-FFF2-40B4-BE49-F238E27FC236}">
                <a16:creationId xmlns:a16="http://schemas.microsoft.com/office/drawing/2014/main" id="{2F748D7A-A4C5-95B4-8968-AF8E7C8FE13C}"/>
              </a:ext>
            </a:extLst>
          </p:cNvPr>
          <p:cNvGraphicFramePr>
            <a:graphicFrameLocks noGrp="1"/>
          </p:cNvGraphicFramePr>
          <p:nvPr>
            <p:extLst>
              <p:ext uri="{D42A27DB-BD31-4B8C-83A1-F6EECF244321}">
                <p14:modId xmlns:p14="http://schemas.microsoft.com/office/powerpoint/2010/main" val="1155801528"/>
              </p:ext>
            </p:extLst>
          </p:nvPr>
        </p:nvGraphicFramePr>
        <p:xfrm>
          <a:off x="5585877" y="4211843"/>
          <a:ext cx="1243004" cy="2536378"/>
        </p:xfrm>
        <a:graphic>
          <a:graphicData uri="http://schemas.openxmlformats.org/drawingml/2006/table">
            <a:tbl>
              <a:tblPr firstRow="1" bandRow="1">
                <a:tableStyleId>{2D5ABB26-0587-4C30-8999-92F81FD0307C}</a:tableStyleId>
              </a:tblPr>
              <a:tblGrid>
                <a:gridCol w="621502">
                  <a:extLst>
                    <a:ext uri="{9D8B030D-6E8A-4147-A177-3AD203B41FA5}">
                      <a16:colId xmlns:a16="http://schemas.microsoft.com/office/drawing/2014/main" val="20000"/>
                    </a:ext>
                  </a:extLst>
                </a:gridCol>
                <a:gridCol w="621502">
                  <a:extLst>
                    <a:ext uri="{9D8B030D-6E8A-4147-A177-3AD203B41FA5}">
                      <a16:colId xmlns:a16="http://schemas.microsoft.com/office/drawing/2014/main" val="20001"/>
                    </a:ext>
                  </a:extLst>
                </a:gridCol>
              </a:tblGrid>
              <a:tr h="320714">
                <a:tc>
                  <a:txBody>
                    <a:bodyPr/>
                    <a:lstStyle/>
                    <a:p>
                      <a:pPr marL="635" algn="ctr">
                        <a:lnSpc>
                          <a:spcPct val="100000"/>
                        </a:lnSpc>
                        <a:spcBef>
                          <a:spcPts val="325"/>
                        </a:spcBef>
                      </a:pPr>
                      <a:r>
                        <a:rPr sz="1000" b="1" spc="-25" dirty="0">
                          <a:latin typeface="Times New Roman" panose="02020603050405020304" pitchFamily="18" charset="0"/>
                          <a:cs typeface="Times New Roman" panose="02020603050405020304" pitchFamily="18" charset="0"/>
                        </a:rPr>
                        <a:t>TID</a:t>
                      </a:r>
                      <a:endParaRPr sz="100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000" b="1" dirty="0">
                          <a:latin typeface="Times New Roman" panose="02020603050405020304" pitchFamily="18" charset="0"/>
                          <a:cs typeface="Times New Roman" panose="02020603050405020304" pitchFamily="18" charset="0"/>
                        </a:rPr>
                        <a:t>List</a:t>
                      </a:r>
                      <a:r>
                        <a:rPr sz="1000" b="1" spc="-20" dirty="0">
                          <a:latin typeface="Times New Roman" panose="02020603050405020304" pitchFamily="18" charset="0"/>
                          <a:cs typeface="Times New Roman" panose="02020603050405020304" pitchFamily="18" charset="0"/>
                        </a:rPr>
                        <a:t> </a:t>
                      </a:r>
                      <a:r>
                        <a:rPr sz="1000" b="1" dirty="0">
                          <a:latin typeface="Times New Roman" panose="02020603050405020304" pitchFamily="18" charset="0"/>
                          <a:cs typeface="Times New Roman" panose="02020603050405020304" pitchFamily="18" charset="0"/>
                        </a:rPr>
                        <a:t>of</a:t>
                      </a:r>
                      <a:r>
                        <a:rPr sz="1000" b="1" spc="-20" dirty="0">
                          <a:latin typeface="Times New Roman" panose="02020603050405020304" pitchFamily="18" charset="0"/>
                          <a:cs typeface="Times New Roman" panose="02020603050405020304" pitchFamily="18" charset="0"/>
                        </a:rPr>
                        <a:t> </a:t>
                      </a:r>
                      <a:r>
                        <a:rPr sz="1000" b="1" spc="-10" dirty="0">
                          <a:latin typeface="Times New Roman" panose="02020603050405020304" pitchFamily="18" charset="0"/>
                          <a:cs typeface="Times New Roman" panose="02020603050405020304" pitchFamily="18" charset="0"/>
                        </a:rPr>
                        <a:t>Items</a:t>
                      </a:r>
                      <a:endParaRPr sz="10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34159">
                <a:tc>
                  <a:txBody>
                    <a:bodyPr/>
                    <a:lstStyle/>
                    <a:p>
                      <a:pPr marL="635" algn="ctr">
                        <a:lnSpc>
                          <a:spcPct val="100000"/>
                        </a:lnSpc>
                        <a:spcBef>
                          <a:spcPts val="325"/>
                        </a:spcBef>
                      </a:pPr>
                      <a:r>
                        <a:rPr sz="1000" spc="-20" dirty="0">
                          <a:latin typeface="Times New Roman" panose="02020603050405020304" pitchFamily="18" charset="0"/>
                          <a:cs typeface="Times New Roman" panose="02020603050405020304" pitchFamily="18" charset="0"/>
                        </a:rPr>
                        <a:t>T10</a:t>
                      </a:r>
                      <a:r>
                        <a:rPr lang="en-IN" sz="1000" spc="-20" dirty="0">
                          <a:latin typeface="Times New Roman" panose="02020603050405020304" pitchFamily="18" charset="0"/>
                          <a:cs typeface="Times New Roman" panose="02020603050405020304" pitchFamily="18" charset="0"/>
                        </a:rPr>
                        <a:t>1</a:t>
                      </a:r>
                      <a:endParaRPr sz="10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000" dirty="0">
                          <a:latin typeface="Times New Roman" panose="02020603050405020304" pitchFamily="18" charset="0"/>
                          <a:cs typeface="Times New Roman" panose="02020603050405020304" pitchFamily="18" charset="0"/>
                        </a:rPr>
                        <a:t>I1,</a:t>
                      </a:r>
                      <a:r>
                        <a:rPr sz="1000" spc="-15" dirty="0">
                          <a:latin typeface="Times New Roman" panose="02020603050405020304" pitchFamily="18" charset="0"/>
                          <a:cs typeface="Times New Roman" panose="02020603050405020304" pitchFamily="18" charset="0"/>
                        </a:rPr>
                        <a:t> </a:t>
                      </a:r>
                      <a:r>
                        <a:rPr sz="1000" dirty="0">
                          <a:latin typeface="Times New Roman" panose="02020603050405020304" pitchFamily="18" charset="0"/>
                          <a:cs typeface="Times New Roman" panose="02020603050405020304" pitchFamily="18" charset="0"/>
                        </a:rPr>
                        <a:t>I2,</a:t>
                      </a:r>
                      <a:r>
                        <a:rPr sz="1000" spc="-15" dirty="0">
                          <a:latin typeface="Times New Roman" panose="02020603050405020304" pitchFamily="18" charset="0"/>
                          <a:cs typeface="Times New Roman" panose="02020603050405020304" pitchFamily="18" charset="0"/>
                        </a:rPr>
                        <a:t> </a:t>
                      </a:r>
                      <a:r>
                        <a:rPr sz="1000" spc="-25" dirty="0">
                          <a:latin typeface="Times New Roman" panose="02020603050405020304" pitchFamily="18" charset="0"/>
                          <a:cs typeface="Times New Roman" panose="02020603050405020304" pitchFamily="18" charset="0"/>
                        </a:rPr>
                        <a:t>I5</a:t>
                      </a:r>
                      <a:endParaRPr sz="10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29977">
                <a:tc>
                  <a:txBody>
                    <a:bodyPr/>
                    <a:lstStyle/>
                    <a:p>
                      <a:pPr algn="ctr">
                        <a:lnSpc>
                          <a:spcPct val="100000"/>
                        </a:lnSpc>
                        <a:spcBef>
                          <a:spcPts val="325"/>
                        </a:spcBef>
                      </a:pPr>
                      <a:r>
                        <a:rPr sz="1000" spc="-20" dirty="0">
                          <a:latin typeface="Times New Roman" panose="02020603050405020304" pitchFamily="18" charset="0"/>
                          <a:cs typeface="Times New Roman" panose="02020603050405020304" pitchFamily="18" charset="0"/>
                        </a:rPr>
                        <a:t>T10</a:t>
                      </a:r>
                      <a:r>
                        <a:rPr lang="en-IN" sz="1000" spc="-20" dirty="0">
                          <a:latin typeface="Times New Roman" panose="02020603050405020304" pitchFamily="18" charset="0"/>
                          <a:cs typeface="Times New Roman" panose="02020603050405020304" pitchFamily="18" charset="0"/>
                        </a:rPr>
                        <a:t>2</a:t>
                      </a:r>
                      <a:endParaRPr sz="10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000" dirty="0">
                          <a:latin typeface="Times New Roman" panose="02020603050405020304" pitchFamily="18" charset="0"/>
                          <a:cs typeface="Times New Roman" panose="02020603050405020304" pitchFamily="18" charset="0"/>
                        </a:rPr>
                        <a:t>I2,</a:t>
                      </a:r>
                      <a:r>
                        <a:rPr sz="1000" spc="-15" dirty="0">
                          <a:latin typeface="Times New Roman" panose="02020603050405020304" pitchFamily="18" charset="0"/>
                          <a:cs typeface="Times New Roman" panose="02020603050405020304" pitchFamily="18" charset="0"/>
                        </a:rPr>
                        <a:t> </a:t>
                      </a:r>
                      <a:r>
                        <a:rPr sz="1000" spc="-25" dirty="0">
                          <a:latin typeface="Times New Roman" panose="02020603050405020304" pitchFamily="18" charset="0"/>
                          <a:cs typeface="Times New Roman" panose="02020603050405020304" pitchFamily="18" charset="0"/>
                        </a:rPr>
                        <a:t>I4</a:t>
                      </a:r>
                      <a:endParaRPr sz="1000" dirty="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29977">
                <a:tc>
                  <a:txBody>
                    <a:bodyPr/>
                    <a:lstStyle/>
                    <a:p>
                      <a:pPr algn="ctr">
                        <a:lnSpc>
                          <a:spcPct val="100000"/>
                        </a:lnSpc>
                        <a:spcBef>
                          <a:spcPts val="325"/>
                        </a:spcBef>
                      </a:pPr>
                      <a:r>
                        <a:rPr sz="1000" spc="-20" dirty="0">
                          <a:latin typeface="Times New Roman" panose="02020603050405020304" pitchFamily="18" charset="0"/>
                          <a:cs typeface="Times New Roman" panose="02020603050405020304" pitchFamily="18" charset="0"/>
                        </a:rPr>
                        <a:t>T10</a:t>
                      </a:r>
                      <a:r>
                        <a:rPr lang="en-IN" sz="1000" spc="-20" dirty="0">
                          <a:latin typeface="Times New Roman" panose="02020603050405020304" pitchFamily="18" charset="0"/>
                          <a:cs typeface="Times New Roman" panose="02020603050405020304" pitchFamily="18" charset="0"/>
                        </a:rPr>
                        <a:t>3</a:t>
                      </a:r>
                      <a:endParaRPr sz="10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000" dirty="0">
                          <a:latin typeface="Times New Roman" panose="02020603050405020304" pitchFamily="18" charset="0"/>
                          <a:cs typeface="Times New Roman" panose="02020603050405020304" pitchFamily="18" charset="0"/>
                        </a:rPr>
                        <a:t>I2,</a:t>
                      </a:r>
                      <a:r>
                        <a:rPr sz="1000" spc="-15" dirty="0">
                          <a:latin typeface="Times New Roman" panose="02020603050405020304" pitchFamily="18" charset="0"/>
                          <a:cs typeface="Times New Roman" panose="02020603050405020304" pitchFamily="18" charset="0"/>
                        </a:rPr>
                        <a:t> </a:t>
                      </a:r>
                      <a:r>
                        <a:rPr sz="1000" spc="-25" dirty="0">
                          <a:latin typeface="Times New Roman" panose="02020603050405020304" pitchFamily="18" charset="0"/>
                          <a:cs typeface="Times New Roman" panose="02020603050405020304" pitchFamily="18" charset="0"/>
                        </a:rPr>
                        <a:t>I3</a:t>
                      </a:r>
                      <a:endParaRPr sz="1000" dirty="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229977">
                <a:tc>
                  <a:txBody>
                    <a:bodyPr/>
                    <a:lstStyle/>
                    <a:p>
                      <a:pPr marL="635" algn="ctr">
                        <a:lnSpc>
                          <a:spcPct val="100000"/>
                        </a:lnSpc>
                        <a:spcBef>
                          <a:spcPts val="325"/>
                        </a:spcBef>
                      </a:pPr>
                      <a:r>
                        <a:rPr sz="1000" spc="-20" dirty="0">
                          <a:latin typeface="Times New Roman" panose="02020603050405020304" pitchFamily="18" charset="0"/>
                          <a:cs typeface="Times New Roman" panose="02020603050405020304" pitchFamily="18" charset="0"/>
                        </a:rPr>
                        <a:t>T10</a:t>
                      </a:r>
                      <a:r>
                        <a:rPr lang="en-IN" sz="1000" spc="-20" dirty="0">
                          <a:latin typeface="Times New Roman" panose="02020603050405020304" pitchFamily="18" charset="0"/>
                          <a:cs typeface="Times New Roman" panose="02020603050405020304" pitchFamily="18" charset="0"/>
                        </a:rPr>
                        <a:t>4</a:t>
                      </a:r>
                      <a:endParaRPr sz="10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000" dirty="0">
                          <a:latin typeface="Times New Roman" panose="02020603050405020304" pitchFamily="18" charset="0"/>
                          <a:cs typeface="Times New Roman" panose="02020603050405020304" pitchFamily="18" charset="0"/>
                        </a:rPr>
                        <a:t>I1,</a:t>
                      </a:r>
                      <a:r>
                        <a:rPr sz="1000" spc="-15" dirty="0">
                          <a:latin typeface="Times New Roman" panose="02020603050405020304" pitchFamily="18" charset="0"/>
                          <a:cs typeface="Times New Roman" panose="02020603050405020304" pitchFamily="18" charset="0"/>
                        </a:rPr>
                        <a:t> </a:t>
                      </a:r>
                      <a:r>
                        <a:rPr sz="1000" dirty="0">
                          <a:latin typeface="Times New Roman" panose="02020603050405020304" pitchFamily="18" charset="0"/>
                          <a:cs typeface="Times New Roman" panose="02020603050405020304" pitchFamily="18" charset="0"/>
                        </a:rPr>
                        <a:t>I2,</a:t>
                      </a:r>
                      <a:r>
                        <a:rPr sz="1000" spc="-15" dirty="0">
                          <a:latin typeface="Times New Roman" panose="02020603050405020304" pitchFamily="18" charset="0"/>
                          <a:cs typeface="Times New Roman" panose="02020603050405020304" pitchFamily="18" charset="0"/>
                        </a:rPr>
                        <a:t> </a:t>
                      </a:r>
                      <a:r>
                        <a:rPr sz="1000" spc="-25" dirty="0">
                          <a:latin typeface="Times New Roman" panose="02020603050405020304" pitchFamily="18" charset="0"/>
                          <a:cs typeface="Times New Roman" panose="02020603050405020304" pitchFamily="18" charset="0"/>
                        </a:rPr>
                        <a:t>I4</a:t>
                      </a:r>
                      <a:endParaRPr sz="10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9977">
                <a:tc>
                  <a:txBody>
                    <a:bodyPr/>
                    <a:lstStyle/>
                    <a:p>
                      <a:pPr algn="ctr">
                        <a:lnSpc>
                          <a:spcPct val="100000"/>
                        </a:lnSpc>
                        <a:spcBef>
                          <a:spcPts val="325"/>
                        </a:spcBef>
                      </a:pPr>
                      <a:r>
                        <a:rPr sz="1000" spc="-20" dirty="0">
                          <a:latin typeface="Times New Roman" panose="02020603050405020304" pitchFamily="18" charset="0"/>
                          <a:cs typeface="Times New Roman" panose="02020603050405020304" pitchFamily="18" charset="0"/>
                        </a:rPr>
                        <a:t>T10</a:t>
                      </a:r>
                      <a:r>
                        <a:rPr lang="en-IN" sz="1000" spc="-20" dirty="0">
                          <a:latin typeface="Times New Roman" panose="02020603050405020304" pitchFamily="18" charset="0"/>
                          <a:cs typeface="Times New Roman" panose="02020603050405020304" pitchFamily="18" charset="0"/>
                        </a:rPr>
                        <a:t>5</a:t>
                      </a:r>
                      <a:endParaRPr sz="10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000" dirty="0">
                          <a:latin typeface="Times New Roman" panose="02020603050405020304" pitchFamily="18" charset="0"/>
                          <a:cs typeface="Times New Roman" panose="02020603050405020304" pitchFamily="18" charset="0"/>
                        </a:rPr>
                        <a:t>I1,</a:t>
                      </a:r>
                      <a:r>
                        <a:rPr sz="1000" spc="-15" dirty="0">
                          <a:latin typeface="Times New Roman" panose="02020603050405020304" pitchFamily="18" charset="0"/>
                          <a:cs typeface="Times New Roman" panose="02020603050405020304" pitchFamily="18" charset="0"/>
                        </a:rPr>
                        <a:t> </a:t>
                      </a:r>
                      <a:r>
                        <a:rPr sz="1000" spc="-25" dirty="0">
                          <a:latin typeface="Times New Roman" panose="02020603050405020304" pitchFamily="18" charset="0"/>
                          <a:cs typeface="Times New Roman" panose="02020603050405020304" pitchFamily="18" charset="0"/>
                        </a:rPr>
                        <a:t>I3</a:t>
                      </a:r>
                      <a:endParaRPr sz="10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229977">
                <a:tc>
                  <a:txBody>
                    <a:bodyPr/>
                    <a:lstStyle/>
                    <a:p>
                      <a:pPr algn="ctr">
                        <a:lnSpc>
                          <a:spcPct val="100000"/>
                        </a:lnSpc>
                        <a:spcBef>
                          <a:spcPts val="325"/>
                        </a:spcBef>
                      </a:pPr>
                      <a:r>
                        <a:rPr sz="1000" spc="-20" dirty="0">
                          <a:latin typeface="Times New Roman" panose="02020603050405020304" pitchFamily="18" charset="0"/>
                          <a:cs typeface="Times New Roman" panose="02020603050405020304" pitchFamily="18" charset="0"/>
                        </a:rPr>
                        <a:t>T10</a:t>
                      </a:r>
                      <a:r>
                        <a:rPr lang="en-IN" sz="1000" spc="-20" dirty="0">
                          <a:latin typeface="Times New Roman" panose="02020603050405020304" pitchFamily="18" charset="0"/>
                          <a:cs typeface="Times New Roman" panose="02020603050405020304" pitchFamily="18" charset="0"/>
                        </a:rPr>
                        <a:t>6</a:t>
                      </a:r>
                      <a:endParaRPr sz="10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000" dirty="0">
                          <a:latin typeface="Times New Roman" panose="02020603050405020304" pitchFamily="18" charset="0"/>
                          <a:cs typeface="Times New Roman" panose="02020603050405020304" pitchFamily="18" charset="0"/>
                        </a:rPr>
                        <a:t>I2,</a:t>
                      </a:r>
                      <a:r>
                        <a:rPr sz="1000" spc="-15" dirty="0">
                          <a:latin typeface="Times New Roman" panose="02020603050405020304" pitchFamily="18" charset="0"/>
                          <a:cs typeface="Times New Roman" panose="02020603050405020304" pitchFamily="18" charset="0"/>
                        </a:rPr>
                        <a:t> </a:t>
                      </a:r>
                      <a:r>
                        <a:rPr sz="1000" spc="-25" dirty="0">
                          <a:latin typeface="Times New Roman" panose="02020603050405020304" pitchFamily="18" charset="0"/>
                          <a:cs typeface="Times New Roman" panose="02020603050405020304" pitchFamily="18" charset="0"/>
                        </a:rPr>
                        <a:t>I3</a:t>
                      </a:r>
                      <a:endParaRPr sz="10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29977">
                <a:tc>
                  <a:txBody>
                    <a:bodyPr/>
                    <a:lstStyle/>
                    <a:p>
                      <a:pPr algn="ctr">
                        <a:lnSpc>
                          <a:spcPct val="100000"/>
                        </a:lnSpc>
                        <a:spcBef>
                          <a:spcPts val="325"/>
                        </a:spcBef>
                      </a:pPr>
                      <a:r>
                        <a:rPr sz="1000" spc="-20" dirty="0">
                          <a:latin typeface="Times New Roman" panose="02020603050405020304" pitchFamily="18" charset="0"/>
                          <a:cs typeface="Times New Roman" panose="02020603050405020304" pitchFamily="18" charset="0"/>
                        </a:rPr>
                        <a:t>T10</a:t>
                      </a:r>
                      <a:r>
                        <a:rPr lang="en-IN" sz="1000" spc="-20" dirty="0">
                          <a:latin typeface="Times New Roman" panose="02020603050405020304" pitchFamily="18" charset="0"/>
                          <a:cs typeface="Times New Roman" panose="02020603050405020304" pitchFamily="18" charset="0"/>
                        </a:rPr>
                        <a:t>7</a:t>
                      </a:r>
                      <a:endParaRPr sz="10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000" dirty="0">
                          <a:latin typeface="Times New Roman" panose="02020603050405020304" pitchFamily="18" charset="0"/>
                          <a:cs typeface="Times New Roman" panose="02020603050405020304" pitchFamily="18" charset="0"/>
                        </a:rPr>
                        <a:t>I1,</a:t>
                      </a:r>
                      <a:r>
                        <a:rPr sz="1000" spc="-15" dirty="0">
                          <a:latin typeface="Times New Roman" panose="02020603050405020304" pitchFamily="18" charset="0"/>
                          <a:cs typeface="Times New Roman" panose="02020603050405020304" pitchFamily="18" charset="0"/>
                        </a:rPr>
                        <a:t> </a:t>
                      </a:r>
                      <a:r>
                        <a:rPr sz="1000" spc="-25" dirty="0">
                          <a:latin typeface="Times New Roman" panose="02020603050405020304" pitchFamily="18" charset="0"/>
                          <a:cs typeface="Times New Roman" panose="02020603050405020304" pitchFamily="18" charset="0"/>
                        </a:rPr>
                        <a:t>I3</a:t>
                      </a:r>
                      <a:endParaRPr sz="10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320714">
                <a:tc>
                  <a:txBody>
                    <a:bodyPr/>
                    <a:lstStyle/>
                    <a:p>
                      <a:pPr marL="635" algn="ctr">
                        <a:lnSpc>
                          <a:spcPct val="100000"/>
                        </a:lnSpc>
                        <a:spcBef>
                          <a:spcPts val="325"/>
                        </a:spcBef>
                      </a:pPr>
                      <a:r>
                        <a:rPr sz="1000" spc="-20" dirty="0">
                          <a:latin typeface="Times New Roman" panose="02020603050405020304" pitchFamily="18" charset="0"/>
                          <a:cs typeface="Times New Roman" panose="02020603050405020304" pitchFamily="18" charset="0"/>
                        </a:rPr>
                        <a:t>T10</a:t>
                      </a:r>
                      <a:r>
                        <a:rPr lang="en-IN" sz="1000" spc="-20" dirty="0">
                          <a:latin typeface="Times New Roman" panose="02020603050405020304" pitchFamily="18" charset="0"/>
                          <a:cs typeface="Times New Roman" panose="02020603050405020304" pitchFamily="18" charset="0"/>
                        </a:rPr>
                        <a:t>8</a:t>
                      </a:r>
                      <a:endParaRPr sz="10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a:lnSpc>
                          <a:spcPct val="100000"/>
                        </a:lnSpc>
                        <a:spcBef>
                          <a:spcPts val="325"/>
                        </a:spcBef>
                      </a:pPr>
                      <a:r>
                        <a:rPr sz="1000" dirty="0">
                          <a:latin typeface="Times New Roman" panose="02020603050405020304" pitchFamily="18" charset="0"/>
                          <a:cs typeface="Times New Roman" panose="02020603050405020304" pitchFamily="18" charset="0"/>
                        </a:rPr>
                        <a:t>I1,</a:t>
                      </a:r>
                      <a:r>
                        <a:rPr sz="1000" spc="-15" dirty="0">
                          <a:latin typeface="Times New Roman" panose="02020603050405020304" pitchFamily="18" charset="0"/>
                          <a:cs typeface="Times New Roman" panose="02020603050405020304" pitchFamily="18" charset="0"/>
                        </a:rPr>
                        <a:t> </a:t>
                      </a:r>
                      <a:r>
                        <a:rPr sz="1000" dirty="0">
                          <a:latin typeface="Times New Roman" panose="02020603050405020304" pitchFamily="18" charset="0"/>
                          <a:cs typeface="Times New Roman" panose="02020603050405020304" pitchFamily="18" charset="0"/>
                        </a:rPr>
                        <a:t>I2</a:t>
                      </a:r>
                      <a:r>
                        <a:rPr sz="1000" spc="-15" dirty="0">
                          <a:latin typeface="Times New Roman" panose="02020603050405020304" pitchFamily="18" charset="0"/>
                          <a:cs typeface="Times New Roman" panose="02020603050405020304" pitchFamily="18" charset="0"/>
                        </a:rPr>
                        <a:t> </a:t>
                      </a:r>
                      <a:r>
                        <a:rPr sz="1000" dirty="0">
                          <a:latin typeface="Times New Roman" panose="02020603050405020304" pitchFamily="18" charset="0"/>
                          <a:cs typeface="Times New Roman" panose="02020603050405020304" pitchFamily="18" charset="0"/>
                        </a:rPr>
                        <a:t>,I3,</a:t>
                      </a:r>
                      <a:r>
                        <a:rPr sz="1000" spc="-10" dirty="0">
                          <a:latin typeface="Times New Roman" panose="02020603050405020304" pitchFamily="18" charset="0"/>
                          <a:cs typeface="Times New Roman" panose="02020603050405020304" pitchFamily="18" charset="0"/>
                        </a:rPr>
                        <a:t> </a:t>
                      </a:r>
                      <a:r>
                        <a:rPr sz="1000" spc="-25" dirty="0">
                          <a:latin typeface="Times New Roman" panose="02020603050405020304" pitchFamily="18" charset="0"/>
                          <a:cs typeface="Times New Roman" panose="02020603050405020304" pitchFamily="18" charset="0"/>
                        </a:rPr>
                        <a:t>I5</a:t>
                      </a:r>
                      <a:endParaRPr sz="100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29977">
                <a:tc>
                  <a:txBody>
                    <a:bodyPr/>
                    <a:lstStyle/>
                    <a:p>
                      <a:pPr marL="635" algn="ctr">
                        <a:lnSpc>
                          <a:spcPct val="100000"/>
                        </a:lnSpc>
                        <a:spcBef>
                          <a:spcPts val="325"/>
                        </a:spcBef>
                      </a:pPr>
                      <a:r>
                        <a:rPr sz="1000" spc="-20" dirty="0">
                          <a:latin typeface="Times New Roman" panose="02020603050405020304" pitchFamily="18" charset="0"/>
                          <a:cs typeface="Times New Roman" panose="02020603050405020304" pitchFamily="18" charset="0"/>
                        </a:rPr>
                        <a:t>T10</a:t>
                      </a:r>
                      <a:r>
                        <a:rPr lang="en-IN" sz="1000" spc="-20" dirty="0">
                          <a:latin typeface="Times New Roman" panose="02020603050405020304" pitchFamily="18" charset="0"/>
                          <a:cs typeface="Times New Roman" panose="02020603050405020304" pitchFamily="18" charset="0"/>
                        </a:rPr>
                        <a:t>9</a:t>
                      </a:r>
                      <a:endParaRPr sz="1000" dirty="0">
                        <a:latin typeface="Times New Roman" panose="02020603050405020304" pitchFamily="18" charset="0"/>
                        <a:cs typeface="Times New Roman" panose="02020603050405020304" pitchFamily="18" charset="0"/>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2710">
                        <a:lnSpc>
                          <a:spcPct val="100000"/>
                        </a:lnSpc>
                        <a:spcBef>
                          <a:spcPts val="325"/>
                        </a:spcBef>
                      </a:pPr>
                      <a:r>
                        <a:rPr sz="1000" dirty="0">
                          <a:latin typeface="Times New Roman" panose="02020603050405020304" pitchFamily="18" charset="0"/>
                          <a:cs typeface="Times New Roman" panose="02020603050405020304" pitchFamily="18" charset="0"/>
                        </a:rPr>
                        <a:t>I1,</a:t>
                      </a:r>
                      <a:r>
                        <a:rPr sz="1000" spc="-15" dirty="0">
                          <a:latin typeface="Times New Roman" panose="02020603050405020304" pitchFamily="18" charset="0"/>
                          <a:cs typeface="Times New Roman" panose="02020603050405020304" pitchFamily="18" charset="0"/>
                        </a:rPr>
                        <a:t> </a:t>
                      </a:r>
                      <a:r>
                        <a:rPr sz="1000" dirty="0">
                          <a:latin typeface="Times New Roman" panose="02020603050405020304" pitchFamily="18" charset="0"/>
                          <a:cs typeface="Times New Roman" panose="02020603050405020304" pitchFamily="18" charset="0"/>
                        </a:rPr>
                        <a:t>I2,</a:t>
                      </a:r>
                      <a:r>
                        <a:rPr sz="1000" spc="-15" dirty="0">
                          <a:latin typeface="Times New Roman" panose="02020603050405020304" pitchFamily="18" charset="0"/>
                          <a:cs typeface="Times New Roman" panose="02020603050405020304" pitchFamily="18" charset="0"/>
                        </a:rPr>
                        <a:t> </a:t>
                      </a:r>
                      <a:r>
                        <a:rPr sz="1000" spc="-25" dirty="0">
                          <a:latin typeface="Times New Roman" panose="02020603050405020304" pitchFamily="18" charset="0"/>
                          <a:cs typeface="Times New Roman" panose="02020603050405020304" pitchFamily="18" charset="0"/>
                        </a:rPr>
                        <a:t>I3</a:t>
                      </a:r>
                      <a:endParaRPr sz="1000" dirty="0">
                        <a:latin typeface="Times New Roman" panose="02020603050405020304" pitchFamily="18" charset="0"/>
                        <a:cs typeface="Times New Roman" panose="02020603050405020304" pitchFamily="18" charset="0"/>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2960" y="14748"/>
            <a:ext cx="8609327" cy="791688"/>
          </a:xfrm>
          <a:prstGeom prst="rect">
            <a:avLst/>
          </a:prstGeom>
        </p:spPr>
        <p:txBody>
          <a:bodyPr vert="horz" wrap="square" lIns="0" tIns="296351" rIns="0" bIns="0" rtlCol="0" anchor="ctr">
            <a:spAutoFit/>
            <a:scene3d>
              <a:camera prst="orthographicFront"/>
              <a:lightRig rig="soft" dir="t"/>
            </a:scene3d>
            <a:sp3d prstMaterial="softEdge">
              <a:bevelT w="25400" h="25400"/>
            </a:sp3d>
          </a:bodyPr>
          <a:lstStyle/>
          <a:p>
            <a:pPr marL="308201">
              <a:spcBef>
                <a:spcPts val="95"/>
              </a:spcBef>
            </a:pPr>
            <a:r>
              <a:rPr sz="3200" dirty="0">
                <a:solidFill>
                  <a:srgbClr val="002060"/>
                </a:solidFill>
                <a:effectLst/>
                <a:latin typeface="Times New Roman" panose="02020603050405020304" pitchFamily="18" charset="0"/>
                <a:cs typeface="Times New Roman" panose="02020603050405020304" pitchFamily="18" charset="0"/>
              </a:rPr>
              <a:t>Step</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2:</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Generating</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2-itemset</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Frequent</a:t>
            </a:r>
            <a:r>
              <a:rPr sz="3200" spc="-30" dirty="0">
                <a:solidFill>
                  <a:srgbClr val="002060"/>
                </a:solidFill>
                <a:effectLst/>
                <a:latin typeface="Times New Roman" panose="02020603050405020304" pitchFamily="18" charset="0"/>
                <a:cs typeface="Times New Roman" panose="02020603050405020304" pitchFamily="18" charset="0"/>
              </a:rPr>
              <a:t> </a:t>
            </a:r>
            <a:r>
              <a:rPr sz="3200" spc="-10" dirty="0">
                <a:solidFill>
                  <a:srgbClr val="002060"/>
                </a:solidFill>
                <a:effectLst/>
                <a:latin typeface="Times New Roman" panose="02020603050405020304" pitchFamily="18" charset="0"/>
                <a:cs typeface="Times New Roman" panose="02020603050405020304" pitchFamily="18" charset="0"/>
              </a:rPr>
              <a:t>Pattern</a:t>
            </a:r>
            <a:endParaRPr sz="3200" dirty="0">
              <a:solidFill>
                <a:srgbClr val="002060"/>
              </a:solidFill>
              <a:effectLst/>
              <a:latin typeface="Times New Roman" panose="02020603050405020304" pitchFamily="18" charset="0"/>
              <a:cs typeface="Times New Roman" panose="02020603050405020304" pitchFamily="18" charset="0"/>
            </a:endParaRPr>
          </a:p>
        </p:txBody>
      </p:sp>
      <p:sp>
        <p:nvSpPr>
          <p:cNvPr id="3" name="object 3"/>
          <p:cNvSpPr txBox="1"/>
          <p:nvPr/>
        </p:nvSpPr>
        <p:spPr>
          <a:xfrm>
            <a:off x="461784" y="1619048"/>
            <a:ext cx="8071680" cy="3488170"/>
          </a:xfrm>
          <a:prstGeom prst="rect">
            <a:avLst/>
          </a:prstGeom>
        </p:spPr>
        <p:txBody>
          <a:bodyPr vert="horz" wrap="square" lIns="0" tIns="12735" rIns="0" bIns="0" rtlCol="0">
            <a:spAutoFit/>
          </a:bodyPr>
          <a:lstStyle/>
          <a:p>
            <a:pPr marL="419637" marR="171293" indent="-343860">
              <a:spcBef>
                <a:spcPts val="100"/>
              </a:spcBef>
              <a:buChar char="•"/>
              <a:tabLst>
                <a:tab pos="419637" algn="l"/>
              </a:tabLst>
            </a:pPr>
            <a:r>
              <a:rPr sz="2000" dirty="0">
                <a:latin typeface="Times New Roman" panose="02020603050405020304" pitchFamily="18" charset="0"/>
                <a:cs typeface="Times New Roman" panose="02020603050405020304" pitchFamily="18" charset="0"/>
              </a:rPr>
              <a:t>To</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discover</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set</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frequent</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2-itemsets,</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a:t>
            </a:r>
            <a:r>
              <a:rPr sz="2000" baseline="-20833" dirty="0">
                <a:latin typeface="Times New Roman" panose="02020603050405020304" pitchFamily="18" charset="0"/>
                <a:cs typeface="Times New Roman" panose="02020603050405020304" pitchFamily="18" charset="0"/>
              </a:rPr>
              <a:t>2</a:t>
            </a:r>
            <a:r>
              <a:rPr sz="2000" spc="285" baseline="-20833"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3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algorithm</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uses</a:t>
            </a:r>
            <a:r>
              <a:rPr sz="2000" spc="-55" dirty="0">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L</a:t>
            </a:r>
            <a:r>
              <a:rPr sz="2000" baseline="-20833" dirty="0">
                <a:solidFill>
                  <a:srgbClr val="009A9A"/>
                </a:solidFill>
                <a:latin typeface="Times New Roman" panose="02020603050405020304" pitchFamily="18" charset="0"/>
                <a:cs typeface="Times New Roman" panose="02020603050405020304" pitchFamily="18" charset="0"/>
              </a:rPr>
              <a:t>1</a:t>
            </a:r>
            <a:r>
              <a:rPr sz="2000" spc="-60" baseline="-20833" dirty="0">
                <a:solidFill>
                  <a:srgbClr val="009A9A"/>
                </a:solidFill>
                <a:latin typeface="Times New Roman" panose="02020603050405020304" pitchFamily="18" charset="0"/>
                <a:cs typeface="Times New Roman" panose="02020603050405020304" pitchFamily="18" charset="0"/>
              </a:rPr>
              <a:t> </a:t>
            </a:r>
            <a:r>
              <a:rPr sz="2000" i="1" dirty="0">
                <a:solidFill>
                  <a:srgbClr val="009A9A"/>
                </a:solidFill>
                <a:latin typeface="Times New Roman" panose="02020603050405020304" pitchFamily="18" charset="0"/>
                <a:cs typeface="Times New Roman" panose="02020603050405020304" pitchFamily="18" charset="0"/>
              </a:rPr>
              <a:t>Join</a:t>
            </a:r>
            <a:r>
              <a:rPr sz="2000" i="1" spc="-5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L</a:t>
            </a:r>
            <a:r>
              <a:rPr sz="2000" baseline="-20833" dirty="0">
                <a:solidFill>
                  <a:srgbClr val="009A9A"/>
                </a:solidFill>
                <a:latin typeface="Times New Roman" panose="02020603050405020304" pitchFamily="18" charset="0"/>
                <a:cs typeface="Times New Roman" panose="02020603050405020304" pitchFamily="18" charset="0"/>
              </a:rPr>
              <a:t>1</a:t>
            </a:r>
            <a:r>
              <a:rPr sz="2000" spc="241" baseline="-20833" dirty="0">
                <a:solidFill>
                  <a:srgbClr val="009A9A"/>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generate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candidate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set</a:t>
            </a:r>
            <a:r>
              <a:rPr sz="2000" spc="-5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of </a:t>
            </a:r>
            <a:r>
              <a:rPr sz="2000" spc="-20" dirty="0">
                <a:latin typeface="Times New Roman" panose="02020603050405020304" pitchFamily="18" charset="0"/>
                <a:cs typeface="Times New Roman" panose="02020603050405020304" pitchFamily="18" charset="0"/>
              </a:rPr>
              <a:t>2-</a:t>
            </a:r>
            <a:r>
              <a:rPr sz="2000" dirty="0">
                <a:latin typeface="Times New Roman" panose="02020603050405020304" pitchFamily="18" charset="0"/>
                <a:cs typeface="Times New Roman" panose="02020603050405020304" pitchFamily="18" charset="0"/>
              </a:rPr>
              <a:t>itemsets,</a:t>
            </a:r>
            <a:r>
              <a:rPr sz="2000" spc="-8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C</a:t>
            </a:r>
            <a:r>
              <a:rPr sz="2000" spc="-37" baseline="-20833" dirty="0">
                <a:latin typeface="Times New Roman" panose="02020603050405020304" pitchFamily="18" charset="0"/>
                <a:cs typeface="Times New Roman" panose="02020603050405020304" pitchFamily="18" charset="0"/>
              </a:rPr>
              <a:t>2</a:t>
            </a:r>
            <a:r>
              <a:rPr sz="2000" spc="-25" dirty="0">
                <a:latin typeface="Times New Roman" panose="02020603050405020304" pitchFamily="18" charset="0"/>
                <a:cs typeface="Times New Roman" panose="02020603050405020304" pitchFamily="18" charset="0"/>
              </a:rPr>
              <a:t>.</a:t>
            </a:r>
            <a:endParaRPr lang="en-IN" sz="2000" spc="-25" dirty="0">
              <a:latin typeface="Times New Roman" panose="02020603050405020304" pitchFamily="18" charset="0"/>
              <a:cs typeface="Times New Roman" panose="02020603050405020304" pitchFamily="18" charset="0"/>
            </a:endParaRPr>
          </a:p>
          <a:p>
            <a:pPr marL="419637" marR="171293" indent="-343860">
              <a:spcBef>
                <a:spcPts val="100"/>
              </a:spcBef>
              <a:buChar char="•"/>
              <a:tabLst>
                <a:tab pos="419637" algn="l"/>
              </a:tabLst>
            </a:pPr>
            <a:endParaRPr sz="2000" dirty="0">
              <a:latin typeface="Times New Roman" panose="02020603050405020304" pitchFamily="18" charset="0"/>
              <a:cs typeface="Times New Roman" panose="02020603050405020304" pitchFamily="18" charset="0"/>
            </a:endParaRPr>
          </a:p>
          <a:p>
            <a:pPr marL="419637" marR="81508" indent="-343860">
              <a:spcBef>
                <a:spcPts val="557"/>
              </a:spcBef>
              <a:buChar char="•"/>
              <a:tabLst>
                <a:tab pos="419637" algn="l"/>
              </a:tabLst>
            </a:pPr>
            <a:r>
              <a:rPr sz="2000" dirty="0">
                <a:latin typeface="Times New Roman" panose="02020603050405020304" pitchFamily="18" charset="0"/>
                <a:cs typeface="Times New Roman" panose="02020603050405020304" pitchFamily="18" charset="0"/>
              </a:rPr>
              <a:t>Next,</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transactions</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scanned</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support </a:t>
            </a:r>
            <a:r>
              <a:rPr sz="2000" dirty="0">
                <a:latin typeface="Times New Roman" panose="02020603050405020304" pitchFamily="18" charset="0"/>
                <a:cs typeface="Times New Roman" panose="02020603050405020304" pitchFamily="18" charset="0"/>
              </a:rPr>
              <a:t>count</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each</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candidate</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itemset</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t>
            </a:r>
            <a:r>
              <a:rPr sz="2000" baseline="-20833" dirty="0">
                <a:latin typeface="Times New Roman" panose="02020603050405020304" pitchFamily="18" charset="0"/>
                <a:cs typeface="Times New Roman" panose="02020603050405020304" pitchFamily="18" charset="0"/>
              </a:rPr>
              <a:t>2</a:t>
            </a:r>
            <a:r>
              <a:rPr sz="2000" spc="248" baseline="-20833"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accumulated </a:t>
            </a:r>
            <a:r>
              <a:rPr sz="2000" dirty="0">
                <a:latin typeface="Times New Roman" panose="02020603050405020304" pitchFamily="18" charset="0"/>
                <a:cs typeface="Times New Roman" panose="02020603050405020304" pitchFamily="18" charset="0"/>
              </a:rPr>
              <a:t>(as</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shown</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middle</a:t>
            </a:r>
            <a:r>
              <a:rPr sz="2000" spc="-4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table).</a:t>
            </a:r>
            <a:endParaRPr lang="en-IN" sz="2000" spc="-10" dirty="0">
              <a:latin typeface="Times New Roman" panose="02020603050405020304" pitchFamily="18" charset="0"/>
              <a:cs typeface="Times New Roman" panose="02020603050405020304" pitchFamily="18" charset="0"/>
            </a:endParaRPr>
          </a:p>
          <a:p>
            <a:pPr marL="419637" marR="81508" indent="-343860">
              <a:spcBef>
                <a:spcPts val="557"/>
              </a:spcBef>
              <a:buChar char="•"/>
              <a:tabLst>
                <a:tab pos="419637" algn="l"/>
              </a:tabLst>
            </a:pPr>
            <a:endParaRPr sz="2000" dirty="0">
              <a:latin typeface="Times New Roman" panose="02020603050405020304" pitchFamily="18" charset="0"/>
              <a:cs typeface="Times New Roman" panose="02020603050405020304" pitchFamily="18" charset="0"/>
            </a:endParaRPr>
          </a:p>
          <a:p>
            <a:pPr marL="419637" marR="278909" indent="-343860">
              <a:spcBef>
                <a:spcPts val="562"/>
              </a:spcBef>
              <a:buChar char="•"/>
              <a:tabLst>
                <a:tab pos="419637" algn="l"/>
              </a:tabLst>
            </a:pPr>
            <a:r>
              <a:rPr sz="2000" dirty="0">
                <a:solidFill>
                  <a:srgbClr val="009A9A"/>
                </a:solidFill>
                <a:latin typeface="Times New Roman" panose="02020603050405020304" pitchFamily="18" charset="0"/>
                <a:cs typeface="Times New Roman" panose="02020603050405020304" pitchFamily="18" charset="0"/>
              </a:rPr>
              <a:t>The</a:t>
            </a:r>
            <a:r>
              <a:rPr sz="2000" spc="-3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set</a:t>
            </a:r>
            <a:r>
              <a:rPr sz="2000" spc="-3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of</a:t>
            </a:r>
            <a:r>
              <a:rPr sz="2000" spc="-3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frequent</a:t>
            </a:r>
            <a:r>
              <a:rPr sz="2000" spc="-3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2-itemsets,</a:t>
            </a:r>
            <a:r>
              <a:rPr sz="2000" spc="-3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L</a:t>
            </a:r>
            <a:r>
              <a:rPr sz="2000" baseline="-20833" dirty="0">
                <a:solidFill>
                  <a:srgbClr val="009A9A"/>
                </a:solidFill>
                <a:latin typeface="Times New Roman" panose="02020603050405020304" pitchFamily="18" charset="0"/>
                <a:cs typeface="Times New Roman" panose="02020603050405020304" pitchFamily="18" charset="0"/>
              </a:rPr>
              <a:t>2</a:t>
            </a:r>
            <a:r>
              <a:rPr sz="2000" spc="285" baseline="-20833" dirty="0">
                <a:solidFill>
                  <a:srgbClr val="009A9A"/>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then</a:t>
            </a:r>
            <a:r>
              <a:rPr sz="2000" spc="-3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determined, </a:t>
            </a:r>
            <a:r>
              <a:rPr sz="2000" dirty="0">
                <a:latin typeface="Times New Roman" panose="02020603050405020304" pitchFamily="18" charset="0"/>
                <a:cs typeface="Times New Roman" panose="02020603050405020304" pitchFamily="18" charset="0"/>
              </a:rPr>
              <a:t>consisting</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those</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candidate</a:t>
            </a:r>
            <a:r>
              <a:rPr sz="2000" spc="-7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2-</a:t>
            </a:r>
            <a:r>
              <a:rPr sz="2000" dirty="0">
                <a:latin typeface="Times New Roman" panose="02020603050405020304" pitchFamily="18" charset="0"/>
                <a:cs typeface="Times New Roman" panose="02020603050405020304" pitchFamily="18" charset="0"/>
              </a:rPr>
              <a:t>itemsets</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t>
            </a:r>
            <a:r>
              <a:rPr sz="2000" baseline="-20833" dirty="0">
                <a:latin typeface="Times New Roman" panose="02020603050405020304" pitchFamily="18" charset="0"/>
                <a:cs typeface="Times New Roman" panose="02020603050405020304" pitchFamily="18" charset="0"/>
              </a:rPr>
              <a:t>2</a:t>
            </a:r>
            <a:r>
              <a:rPr sz="2000" spc="218" baseline="-20833"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having </a:t>
            </a:r>
            <a:r>
              <a:rPr sz="2000" dirty="0">
                <a:latin typeface="Times New Roman" panose="02020603050405020304" pitchFamily="18" charset="0"/>
                <a:cs typeface="Times New Roman" panose="02020603050405020304" pitchFamily="18" charset="0"/>
              </a:rPr>
              <a:t>minimum</a:t>
            </a:r>
            <a:r>
              <a:rPr sz="2000" spc="-10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support.</a:t>
            </a:r>
            <a:endParaRPr lang="en-IN" sz="2000" spc="-10" dirty="0">
              <a:latin typeface="Times New Roman" panose="02020603050405020304" pitchFamily="18" charset="0"/>
              <a:cs typeface="Times New Roman" panose="02020603050405020304" pitchFamily="18" charset="0"/>
            </a:endParaRPr>
          </a:p>
          <a:p>
            <a:pPr marL="419637" marR="278909" indent="-343860">
              <a:spcBef>
                <a:spcPts val="562"/>
              </a:spcBef>
              <a:buChar char="•"/>
              <a:tabLst>
                <a:tab pos="419637" algn="l"/>
              </a:tabLst>
            </a:pPr>
            <a:endParaRPr sz="2000" dirty="0">
              <a:latin typeface="Times New Roman" panose="02020603050405020304" pitchFamily="18" charset="0"/>
              <a:cs typeface="Times New Roman" panose="02020603050405020304" pitchFamily="18" charset="0"/>
            </a:endParaRPr>
          </a:p>
          <a:p>
            <a:pPr marL="419637" indent="-343223">
              <a:spcBef>
                <a:spcPts val="567"/>
              </a:spcBef>
              <a:buChar char="•"/>
              <a:tabLst>
                <a:tab pos="419637" algn="l"/>
              </a:tabLst>
            </a:pPr>
            <a:r>
              <a:rPr sz="2000" dirty="0">
                <a:solidFill>
                  <a:srgbClr val="009A9A"/>
                </a:solidFill>
                <a:latin typeface="Times New Roman" panose="02020603050405020304" pitchFamily="18" charset="0"/>
                <a:cs typeface="Times New Roman" panose="02020603050405020304" pitchFamily="18" charset="0"/>
              </a:rPr>
              <a:t>Note:</a:t>
            </a:r>
            <a:r>
              <a:rPr sz="2000" spc="-70" dirty="0">
                <a:solidFill>
                  <a:srgbClr val="009A9A"/>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We</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haven’t</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used</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Apriori</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Property</a:t>
            </a:r>
            <a:r>
              <a:rPr sz="2000" spc="-6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yet.</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8473" y="253316"/>
            <a:ext cx="8252524" cy="1196727"/>
          </a:xfrm>
          <a:prstGeom prst="rect">
            <a:avLst/>
          </a:prstGeom>
        </p:spPr>
        <p:txBody>
          <a:bodyPr vert="horz" wrap="square" lIns="0" tIns="296351" rIns="0" bIns="0" rtlCol="0" anchor="ctr">
            <a:spAutoFit/>
            <a:scene3d>
              <a:camera prst="orthographicFront"/>
              <a:lightRig rig="soft" dir="t"/>
            </a:scene3d>
            <a:sp3d prstMaterial="softEdge">
              <a:bevelT w="25400" h="25400"/>
            </a:sp3d>
          </a:bodyPr>
          <a:lstStyle/>
          <a:p>
            <a:pPr marL="422821">
              <a:spcBef>
                <a:spcPts val="95"/>
              </a:spcBef>
            </a:pPr>
            <a:r>
              <a:rPr sz="2908" dirty="0">
                <a:latin typeface="Arial"/>
                <a:cs typeface="Arial"/>
              </a:rPr>
              <a:t>Step</a:t>
            </a:r>
            <a:r>
              <a:rPr sz="2908" spc="-30" dirty="0">
                <a:latin typeface="Arial"/>
                <a:cs typeface="Arial"/>
              </a:rPr>
              <a:t> </a:t>
            </a:r>
            <a:r>
              <a:rPr sz="2908" dirty="0">
                <a:latin typeface="Arial"/>
                <a:cs typeface="Arial"/>
              </a:rPr>
              <a:t>3</a:t>
            </a:r>
            <a:r>
              <a:rPr sz="2908" dirty="0"/>
              <a:t>:</a:t>
            </a:r>
            <a:r>
              <a:rPr sz="2908" spc="-30" dirty="0"/>
              <a:t> </a:t>
            </a:r>
            <a:r>
              <a:rPr sz="2908" dirty="0"/>
              <a:t>Generating</a:t>
            </a:r>
            <a:r>
              <a:rPr sz="2908" spc="-30" dirty="0"/>
              <a:t> </a:t>
            </a:r>
            <a:r>
              <a:rPr sz="2908" dirty="0"/>
              <a:t>3-itemset</a:t>
            </a:r>
            <a:r>
              <a:rPr sz="2908" spc="-30" dirty="0"/>
              <a:t> </a:t>
            </a:r>
            <a:r>
              <a:rPr sz="2908" dirty="0"/>
              <a:t>Frequent</a:t>
            </a:r>
            <a:r>
              <a:rPr sz="2908" spc="-30" dirty="0"/>
              <a:t> </a:t>
            </a:r>
            <a:r>
              <a:rPr sz="2908" spc="-10" dirty="0"/>
              <a:t>Pattern</a:t>
            </a:r>
            <a:endParaRPr sz="2908">
              <a:latin typeface="Arial"/>
              <a:cs typeface="Arial"/>
            </a:endParaRPr>
          </a:p>
        </p:txBody>
      </p:sp>
      <p:graphicFrame>
        <p:nvGraphicFramePr>
          <p:cNvPr id="3" name="object 3"/>
          <p:cNvGraphicFramePr>
            <a:graphicFrameLocks noGrp="1"/>
          </p:cNvGraphicFramePr>
          <p:nvPr/>
        </p:nvGraphicFramePr>
        <p:xfrm>
          <a:off x="1271946" y="1886427"/>
          <a:ext cx="1299008" cy="1052578"/>
        </p:xfrm>
        <a:graphic>
          <a:graphicData uri="http://schemas.openxmlformats.org/drawingml/2006/table">
            <a:tbl>
              <a:tblPr firstRow="1" bandRow="1">
                <a:tableStyleId>{2D5ABB26-0587-4C30-8999-92F81FD0307C}</a:tableStyleId>
              </a:tblPr>
              <a:tblGrid>
                <a:gridCol w="1299008">
                  <a:extLst>
                    <a:ext uri="{9D8B030D-6E8A-4147-A177-3AD203B41FA5}">
                      <a16:colId xmlns:a16="http://schemas.microsoft.com/office/drawing/2014/main" val="20000"/>
                    </a:ext>
                  </a:extLst>
                </a:gridCol>
              </a:tblGrid>
              <a:tr h="382061">
                <a:tc>
                  <a:txBody>
                    <a:bodyPr/>
                    <a:lstStyle/>
                    <a:p>
                      <a:pPr algn="ctr">
                        <a:lnSpc>
                          <a:spcPct val="100000"/>
                        </a:lnSpc>
                        <a:spcBef>
                          <a:spcPts val="325"/>
                        </a:spcBef>
                      </a:pPr>
                      <a:r>
                        <a:rPr sz="1600" spc="-10" dirty="0">
                          <a:latin typeface="Arial MT"/>
                          <a:cs typeface="Arial MT"/>
                        </a:rPr>
                        <a:t>Itemset</a:t>
                      </a:r>
                      <a:endParaRPr sz="1600">
                        <a:latin typeface="Arial MT"/>
                        <a:cs typeface="Arial MT"/>
                      </a:endParaRPr>
                    </a:p>
                  </a:txBody>
                  <a:tcPr marL="0" marR="0" marT="41390" marB="0">
                    <a:lnL w="28575">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35577">
                <a:tc>
                  <a:txBody>
                    <a:bodyPr/>
                    <a:lstStyle/>
                    <a:p>
                      <a:pPr marL="635" algn="ctr">
                        <a:lnSpc>
                          <a:spcPct val="100000"/>
                        </a:lnSpc>
                        <a:spcBef>
                          <a:spcPts val="325"/>
                        </a:spcBef>
                      </a:pPr>
                      <a:r>
                        <a:rPr sz="1600" dirty="0">
                          <a:latin typeface="Arial MT"/>
                          <a:cs typeface="Arial MT"/>
                        </a:rPr>
                        <a:t>{I1,</a:t>
                      </a:r>
                      <a:r>
                        <a:rPr sz="1600" spc="-20" dirty="0">
                          <a:latin typeface="Arial MT"/>
                          <a:cs typeface="Arial MT"/>
                        </a:rPr>
                        <a:t> </a:t>
                      </a:r>
                      <a:r>
                        <a:rPr sz="1600" dirty="0">
                          <a:latin typeface="Arial MT"/>
                          <a:cs typeface="Arial MT"/>
                        </a:rPr>
                        <a:t>I2,</a:t>
                      </a:r>
                      <a:r>
                        <a:rPr sz="1600" spc="-15" dirty="0">
                          <a:latin typeface="Arial MT"/>
                          <a:cs typeface="Arial MT"/>
                        </a:rPr>
                        <a:t> </a:t>
                      </a:r>
                      <a:r>
                        <a:rPr sz="1600" spc="-25" dirty="0">
                          <a:latin typeface="Arial MT"/>
                          <a:cs typeface="Arial MT"/>
                        </a:rPr>
                        <a:t>I3}</a:t>
                      </a:r>
                      <a:endParaRPr sz="1600">
                        <a:latin typeface="Arial MT"/>
                        <a:cs typeface="Arial MT"/>
                      </a:endParaRPr>
                    </a:p>
                  </a:txBody>
                  <a:tcPr marL="0" marR="0" marT="41390" marB="0">
                    <a:lnL w="28575">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34940">
                <a:tc>
                  <a:txBody>
                    <a:bodyPr/>
                    <a:lstStyle/>
                    <a:p>
                      <a:pPr marL="635" algn="ctr">
                        <a:lnSpc>
                          <a:spcPct val="100000"/>
                        </a:lnSpc>
                        <a:spcBef>
                          <a:spcPts val="325"/>
                        </a:spcBef>
                      </a:pPr>
                      <a:r>
                        <a:rPr sz="1600" dirty="0">
                          <a:latin typeface="Arial MT"/>
                          <a:cs typeface="Arial MT"/>
                        </a:rPr>
                        <a:t>{I1,</a:t>
                      </a:r>
                      <a:r>
                        <a:rPr sz="1600" spc="-20" dirty="0">
                          <a:latin typeface="Arial MT"/>
                          <a:cs typeface="Arial MT"/>
                        </a:rPr>
                        <a:t> </a:t>
                      </a:r>
                      <a:r>
                        <a:rPr sz="1600" dirty="0">
                          <a:latin typeface="Arial MT"/>
                          <a:cs typeface="Arial MT"/>
                        </a:rPr>
                        <a:t>I2,</a:t>
                      </a:r>
                      <a:r>
                        <a:rPr sz="1600" spc="-15" dirty="0">
                          <a:latin typeface="Arial MT"/>
                          <a:cs typeface="Arial MT"/>
                        </a:rPr>
                        <a:t> </a:t>
                      </a:r>
                      <a:r>
                        <a:rPr sz="1600" spc="-25" dirty="0">
                          <a:latin typeface="Arial MT"/>
                          <a:cs typeface="Arial MT"/>
                        </a:rPr>
                        <a:t>I5}</a:t>
                      </a:r>
                      <a:endParaRPr sz="1600">
                        <a:latin typeface="Arial MT"/>
                        <a:cs typeface="Arial MT"/>
                      </a:endParaRPr>
                    </a:p>
                  </a:txBody>
                  <a:tcPr marL="0" marR="0" marT="41390" marB="0">
                    <a:lnL w="28575">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4" name="object 4"/>
          <p:cNvGraphicFramePr>
            <a:graphicFrameLocks noGrp="1"/>
          </p:cNvGraphicFramePr>
          <p:nvPr/>
        </p:nvGraphicFramePr>
        <p:xfrm>
          <a:off x="3793550" y="1733603"/>
          <a:ext cx="1986719" cy="1358865"/>
        </p:xfrm>
        <a:graphic>
          <a:graphicData uri="http://schemas.openxmlformats.org/drawingml/2006/table">
            <a:tbl>
              <a:tblPr firstRow="1" bandRow="1">
                <a:tableStyleId>{2D5ABB26-0587-4C30-8999-92F81FD0307C}</a:tableStyleId>
              </a:tblPr>
              <a:tblGrid>
                <a:gridCol w="1069772">
                  <a:extLst>
                    <a:ext uri="{9D8B030D-6E8A-4147-A177-3AD203B41FA5}">
                      <a16:colId xmlns:a16="http://schemas.microsoft.com/office/drawing/2014/main" val="20000"/>
                    </a:ext>
                  </a:extLst>
                </a:gridCol>
                <a:gridCol w="916947">
                  <a:extLst>
                    <a:ext uri="{9D8B030D-6E8A-4147-A177-3AD203B41FA5}">
                      <a16:colId xmlns:a16="http://schemas.microsoft.com/office/drawing/2014/main" val="20001"/>
                    </a:ext>
                  </a:extLst>
                </a:gridCol>
              </a:tblGrid>
              <a:tr h="630401">
                <a:tc>
                  <a:txBody>
                    <a:bodyPr/>
                    <a:lstStyle/>
                    <a:p>
                      <a:pPr algn="ctr">
                        <a:lnSpc>
                          <a:spcPct val="100000"/>
                        </a:lnSpc>
                        <a:spcBef>
                          <a:spcPts val="325"/>
                        </a:spcBef>
                      </a:pPr>
                      <a:r>
                        <a:rPr sz="1600" spc="-10" dirty="0">
                          <a:latin typeface="Arial MT"/>
                          <a:cs typeface="Arial MT"/>
                        </a:rPr>
                        <a:t>Itemset</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186055" marR="178435" indent="60325">
                        <a:lnSpc>
                          <a:spcPts val="2320"/>
                        </a:lnSpc>
                        <a:spcBef>
                          <a:spcPts val="70"/>
                        </a:spcBef>
                      </a:pPr>
                      <a:r>
                        <a:rPr sz="1600" spc="-20" dirty="0">
                          <a:latin typeface="Arial MT"/>
                          <a:cs typeface="Arial MT"/>
                        </a:rPr>
                        <a:t>Sup. </a:t>
                      </a:r>
                      <a:r>
                        <a:rPr sz="1600" spc="-10" dirty="0">
                          <a:latin typeface="Arial MT"/>
                          <a:cs typeface="Arial MT"/>
                        </a:rPr>
                        <a:t>Count</a:t>
                      </a:r>
                      <a:endParaRPr sz="1600">
                        <a:latin typeface="Arial MT"/>
                        <a:cs typeface="Arial MT"/>
                      </a:endParaRPr>
                    </a:p>
                  </a:txBody>
                  <a:tcPr marL="0" marR="0" marT="8915"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4232">
                <a:tc>
                  <a:txBody>
                    <a:bodyPr/>
                    <a:lstStyle/>
                    <a:p>
                      <a:pPr marL="635" algn="ctr">
                        <a:lnSpc>
                          <a:spcPct val="100000"/>
                        </a:lnSpc>
                        <a:spcBef>
                          <a:spcPts val="325"/>
                        </a:spcBef>
                      </a:pPr>
                      <a:r>
                        <a:rPr sz="1600" dirty="0">
                          <a:latin typeface="Arial MT"/>
                          <a:cs typeface="Arial MT"/>
                        </a:rPr>
                        <a:t>{I1,</a:t>
                      </a:r>
                      <a:r>
                        <a:rPr sz="1600" spc="-20" dirty="0">
                          <a:latin typeface="Arial MT"/>
                          <a:cs typeface="Arial MT"/>
                        </a:rPr>
                        <a:t> </a:t>
                      </a:r>
                      <a:r>
                        <a:rPr sz="1600" dirty="0">
                          <a:latin typeface="Arial MT"/>
                          <a:cs typeface="Arial MT"/>
                        </a:rPr>
                        <a:t>I2,</a:t>
                      </a:r>
                      <a:r>
                        <a:rPr sz="1600" spc="-15" dirty="0">
                          <a:latin typeface="Arial MT"/>
                          <a:cs typeface="Arial MT"/>
                        </a:rPr>
                        <a:t> </a:t>
                      </a:r>
                      <a:r>
                        <a:rPr sz="1600" spc="-25" dirty="0">
                          <a:latin typeface="Arial MT"/>
                          <a:cs typeface="Arial MT"/>
                        </a:rPr>
                        <a:t>I3}</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spc="-50" dirty="0">
                          <a:latin typeface="Arial MT"/>
                          <a:cs typeface="Arial MT"/>
                        </a:rPr>
                        <a:t>2</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4232">
                <a:tc>
                  <a:txBody>
                    <a:bodyPr/>
                    <a:lstStyle/>
                    <a:p>
                      <a:pPr marL="635" algn="ctr">
                        <a:lnSpc>
                          <a:spcPct val="100000"/>
                        </a:lnSpc>
                        <a:spcBef>
                          <a:spcPts val="325"/>
                        </a:spcBef>
                      </a:pPr>
                      <a:r>
                        <a:rPr sz="1600" dirty="0">
                          <a:latin typeface="Arial MT"/>
                          <a:cs typeface="Arial MT"/>
                        </a:rPr>
                        <a:t>{I1,</a:t>
                      </a:r>
                      <a:r>
                        <a:rPr sz="1600" spc="-20" dirty="0">
                          <a:latin typeface="Arial MT"/>
                          <a:cs typeface="Arial MT"/>
                        </a:rPr>
                        <a:t> </a:t>
                      </a:r>
                      <a:r>
                        <a:rPr sz="1600" dirty="0">
                          <a:latin typeface="Arial MT"/>
                          <a:cs typeface="Arial MT"/>
                        </a:rPr>
                        <a:t>I2,</a:t>
                      </a:r>
                      <a:r>
                        <a:rPr sz="1600" spc="-15" dirty="0">
                          <a:latin typeface="Arial MT"/>
                          <a:cs typeface="Arial MT"/>
                        </a:rPr>
                        <a:t> </a:t>
                      </a:r>
                      <a:r>
                        <a:rPr sz="1600" spc="-25" dirty="0">
                          <a:latin typeface="Arial MT"/>
                          <a:cs typeface="Arial MT"/>
                        </a:rPr>
                        <a:t>I5}</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1905" algn="ctr">
                        <a:lnSpc>
                          <a:spcPct val="100000"/>
                        </a:lnSpc>
                        <a:spcBef>
                          <a:spcPts val="325"/>
                        </a:spcBef>
                      </a:pPr>
                      <a:r>
                        <a:rPr sz="1600" spc="-50" dirty="0">
                          <a:latin typeface="Arial MT"/>
                          <a:cs typeface="Arial MT"/>
                        </a:rPr>
                        <a:t>2</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5" name="object 5"/>
          <p:cNvGraphicFramePr>
            <a:graphicFrameLocks noGrp="1"/>
          </p:cNvGraphicFramePr>
          <p:nvPr/>
        </p:nvGraphicFramePr>
        <p:xfrm>
          <a:off x="7079277" y="1733603"/>
          <a:ext cx="1833895" cy="1300918"/>
        </p:xfrm>
        <a:graphic>
          <a:graphicData uri="http://schemas.openxmlformats.org/drawingml/2006/table">
            <a:tbl>
              <a:tblPr firstRow="1" bandRow="1">
                <a:tableStyleId>{2D5ABB26-0587-4C30-8999-92F81FD0307C}</a:tableStyleId>
              </a:tblPr>
              <a:tblGrid>
                <a:gridCol w="1069772">
                  <a:extLst>
                    <a:ext uri="{9D8B030D-6E8A-4147-A177-3AD203B41FA5}">
                      <a16:colId xmlns:a16="http://schemas.microsoft.com/office/drawing/2014/main" val="20000"/>
                    </a:ext>
                  </a:extLst>
                </a:gridCol>
                <a:gridCol w="764123">
                  <a:extLst>
                    <a:ext uri="{9D8B030D-6E8A-4147-A177-3AD203B41FA5}">
                      <a16:colId xmlns:a16="http://schemas.microsoft.com/office/drawing/2014/main" val="20001"/>
                    </a:ext>
                  </a:extLst>
                </a:gridCol>
              </a:tblGrid>
              <a:tr h="630401">
                <a:tc>
                  <a:txBody>
                    <a:bodyPr/>
                    <a:lstStyle/>
                    <a:p>
                      <a:pPr algn="ctr">
                        <a:lnSpc>
                          <a:spcPct val="100000"/>
                        </a:lnSpc>
                        <a:spcBef>
                          <a:spcPts val="325"/>
                        </a:spcBef>
                      </a:pPr>
                      <a:r>
                        <a:rPr sz="1600" spc="-10" dirty="0">
                          <a:latin typeface="Arial MT"/>
                          <a:cs typeface="Arial MT"/>
                        </a:rPr>
                        <a:t>Itemset</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110489" marR="102235" indent="88900">
                        <a:lnSpc>
                          <a:spcPts val="2320"/>
                        </a:lnSpc>
                        <a:spcBef>
                          <a:spcPts val="70"/>
                        </a:spcBef>
                      </a:pPr>
                      <a:r>
                        <a:rPr sz="1600" spc="-25" dirty="0">
                          <a:latin typeface="Arial MT"/>
                          <a:cs typeface="Arial MT"/>
                        </a:rPr>
                        <a:t>Sup </a:t>
                      </a:r>
                      <a:r>
                        <a:rPr sz="1600" spc="-10" dirty="0">
                          <a:latin typeface="Arial MT"/>
                          <a:cs typeface="Arial MT"/>
                        </a:rPr>
                        <a:t>Count</a:t>
                      </a:r>
                      <a:endParaRPr sz="1600">
                        <a:latin typeface="Arial MT"/>
                        <a:cs typeface="Arial MT"/>
                      </a:endParaRPr>
                    </a:p>
                  </a:txBody>
                  <a:tcPr marL="0" marR="0" marT="8915"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35577">
                <a:tc>
                  <a:txBody>
                    <a:bodyPr/>
                    <a:lstStyle/>
                    <a:p>
                      <a:pPr marL="635" algn="ctr">
                        <a:lnSpc>
                          <a:spcPct val="100000"/>
                        </a:lnSpc>
                        <a:spcBef>
                          <a:spcPts val="325"/>
                        </a:spcBef>
                      </a:pPr>
                      <a:r>
                        <a:rPr sz="1600" dirty="0">
                          <a:latin typeface="Arial MT"/>
                          <a:cs typeface="Arial MT"/>
                        </a:rPr>
                        <a:t>{I1,</a:t>
                      </a:r>
                      <a:r>
                        <a:rPr sz="1600" spc="-20" dirty="0">
                          <a:latin typeface="Arial MT"/>
                          <a:cs typeface="Arial MT"/>
                        </a:rPr>
                        <a:t> </a:t>
                      </a:r>
                      <a:r>
                        <a:rPr sz="1600" dirty="0">
                          <a:latin typeface="Arial MT"/>
                          <a:cs typeface="Arial MT"/>
                        </a:rPr>
                        <a:t>I2,</a:t>
                      </a:r>
                      <a:r>
                        <a:rPr sz="1600" spc="-15" dirty="0">
                          <a:latin typeface="Arial MT"/>
                          <a:cs typeface="Arial MT"/>
                        </a:rPr>
                        <a:t> </a:t>
                      </a:r>
                      <a:r>
                        <a:rPr sz="1600" spc="-25" dirty="0">
                          <a:latin typeface="Arial MT"/>
                          <a:cs typeface="Arial MT"/>
                        </a:rPr>
                        <a:t>I3}</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905" algn="ctr">
                        <a:lnSpc>
                          <a:spcPct val="100000"/>
                        </a:lnSpc>
                        <a:spcBef>
                          <a:spcPts val="325"/>
                        </a:spcBef>
                      </a:pPr>
                      <a:r>
                        <a:rPr sz="1600" spc="-50" dirty="0">
                          <a:latin typeface="Arial MT"/>
                          <a:cs typeface="Arial MT"/>
                        </a:rPr>
                        <a:t>2</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34940">
                <a:tc>
                  <a:txBody>
                    <a:bodyPr/>
                    <a:lstStyle/>
                    <a:p>
                      <a:pPr marL="635" algn="ctr">
                        <a:lnSpc>
                          <a:spcPct val="100000"/>
                        </a:lnSpc>
                        <a:spcBef>
                          <a:spcPts val="325"/>
                        </a:spcBef>
                      </a:pPr>
                      <a:r>
                        <a:rPr sz="1600" dirty="0">
                          <a:latin typeface="Arial MT"/>
                          <a:cs typeface="Arial MT"/>
                        </a:rPr>
                        <a:t>{I1,</a:t>
                      </a:r>
                      <a:r>
                        <a:rPr sz="1600" spc="-20" dirty="0">
                          <a:latin typeface="Arial MT"/>
                          <a:cs typeface="Arial MT"/>
                        </a:rPr>
                        <a:t> </a:t>
                      </a:r>
                      <a:r>
                        <a:rPr sz="1600" dirty="0">
                          <a:latin typeface="Arial MT"/>
                          <a:cs typeface="Arial MT"/>
                        </a:rPr>
                        <a:t>I2,</a:t>
                      </a:r>
                      <a:r>
                        <a:rPr sz="1600" spc="-15" dirty="0">
                          <a:latin typeface="Arial MT"/>
                          <a:cs typeface="Arial MT"/>
                        </a:rPr>
                        <a:t> </a:t>
                      </a:r>
                      <a:r>
                        <a:rPr sz="1600" spc="-25" dirty="0">
                          <a:latin typeface="Arial MT"/>
                          <a:cs typeface="Arial MT"/>
                        </a:rPr>
                        <a:t>I5}</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1905" algn="ctr">
                        <a:lnSpc>
                          <a:spcPct val="100000"/>
                        </a:lnSpc>
                        <a:spcBef>
                          <a:spcPts val="325"/>
                        </a:spcBef>
                      </a:pPr>
                      <a:r>
                        <a:rPr sz="1600" spc="-50" dirty="0">
                          <a:latin typeface="Arial MT"/>
                          <a:cs typeface="Arial MT"/>
                        </a:rPr>
                        <a:t>2</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sp>
        <p:nvSpPr>
          <p:cNvPr id="6" name="object 6"/>
          <p:cNvSpPr/>
          <p:nvPr/>
        </p:nvSpPr>
        <p:spPr>
          <a:xfrm>
            <a:off x="2580696" y="2703084"/>
            <a:ext cx="1227690" cy="76412"/>
          </a:xfrm>
          <a:custGeom>
            <a:avLst/>
            <a:gdLst/>
            <a:ahLst/>
            <a:cxnLst/>
            <a:rect l="l" t="t" r="r" b="b"/>
            <a:pathLst>
              <a:path w="1224279" h="76200">
                <a:moveTo>
                  <a:pt x="1165097" y="38099"/>
                </a:moveTo>
                <a:lnTo>
                  <a:pt x="1163573" y="35051"/>
                </a:lnTo>
                <a:lnTo>
                  <a:pt x="1160525" y="33527"/>
                </a:lnTo>
                <a:lnTo>
                  <a:pt x="4572" y="33527"/>
                </a:lnTo>
                <a:lnTo>
                  <a:pt x="1524" y="35051"/>
                </a:lnTo>
                <a:lnTo>
                  <a:pt x="0" y="38099"/>
                </a:lnTo>
                <a:lnTo>
                  <a:pt x="1524" y="41147"/>
                </a:lnTo>
                <a:lnTo>
                  <a:pt x="4572" y="42671"/>
                </a:lnTo>
                <a:lnTo>
                  <a:pt x="1160525" y="42671"/>
                </a:lnTo>
                <a:lnTo>
                  <a:pt x="1163573" y="41147"/>
                </a:lnTo>
                <a:lnTo>
                  <a:pt x="1165097" y="38099"/>
                </a:lnTo>
                <a:close/>
              </a:path>
              <a:path w="1224279" h="76200">
                <a:moveTo>
                  <a:pt x="1223771" y="38099"/>
                </a:moveTo>
                <a:lnTo>
                  <a:pt x="1147571" y="0"/>
                </a:lnTo>
                <a:lnTo>
                  <a:pt x="1147571" y="33527"/>
                </a:lnTo>
                <a:lnTo>
                  <a:pt x="1160525" y="33527"/>
                </a:lnTo>
                <a:lnTo>
                  <a:pt x="1163573" y="35051"/>
                </a:lnTo>
                <a:lnTo>
                  <a:pt x="1165097" y="38099"/>
                </a:lnTo>
                <a:lnTo>
                  <a:pt x="1165097" y="67436"/>
                </a:lnTo>
                <a:lnTo>
                  <a:pt x="1223771" y="38099"/>
                </a:lnTo>
                <a:close/>
              </a:path>
              <a:path w="1224279" h="76200">
                <a:moveTo>
                  <a:pt x="1165097" y="67436"/>
                </a:moveTo>
                <a:lnTo>
                  <a:pt x="1165097" y="38099"/>
                </a:lnTo>
                <a:lnTo>
                  <a:pt x="1163573" y="41147"/>
                </a:lnTo>
                <a:lnTo>
                  <a:pt x="1160525" y="42671"/>
                </a:lnTo>
                <a:lnTo>
                  <a:pt x="1147571" y="42671"/>
                </a:lnTo>
                <a:lnTo>
                  <a:pt x="1147571" y="76199"/>
                </a:lnTo>
                <a:lnTo>
                  <a:pt x="1165097" y="67436"/>
                </a:lnTo>
                <a:close/>
              </a:path>
            </a:pathLst>
          </a:custGeom>
          <a:solidFill>
            <a:srgbClr val="000000"/>
          </a:solidFill>
        </p:spPr>
        <p:txBody>
          <a:bodyPr wrap="square" lIns="0" tIns="0" rIns="0" bIns="0" rtlCol="0"/>
          <a:lstStyle/>
          <a:p>
            <a:endParaRPr sz="1805"/>
          </a:p>
        </p:txBody>
      </p:sp>
      <p:sp>
        <p:nvSpPr>
          <p:cNvPr id="7" name="object 7"/>
          <p:cNvSpPr/>
          <p:nvPr/>
        </p:nvSpPr>
        <p:spPr>
          <a:xfrm>
            <a:off x="5560775" y="2703084"/>
            <a:ext cx="1533339" cy="76412"/>
          </a:xfrm>
          <a:custGeom>
            <a:avLst/>
            <a:gdLst/>
            <a:ahLst/>
            <a:cxnLst/>
            <a:rect l="l" t="t" r="r" b="b"/>
            <a:pathLst>
              <a:path w="1529079" h="76200">
                <a:moveTo>
                  <a:pt x="1469898" y="38099"/>
                </a:moveTo>
                <a:lnTo>
                  <a:pt x="1468374" y="35051"/>
                </a:lnTo>
                <a:lnTo>
                  <a:pt x="1465326" y="33527"/>
                </a:lnTo>
                <a:lnTo>
                  <a:pt x="4572" y="33527"/>
                </a:lnTo>
                <a:lnTo>
                  <a:pt x="1524" y="35051"/>
                </a:lnTo>
                <a:lnTo>
                  <a:pt x="0" y="38099"/>
                </a:lnTo>
                <a:lnTo>
                  <a:pt x="1524" y="41147"/>
                </a:lnTo>
                <a:lnTo>
                  <a:pt x="4572" y="42671"/>
                </a:lnTo>
                <a:lnTo>
                  <a:pt x="1465326" y="42671"/>
                </a:lnTo>
                <a:lnTo>
                  <a:pt x="1468374" y="41147"/>
                </a:lnTo>
                <a:lnTo>
                  <a:pt x="1469898" y="38099"/>
                </a:lnTo>
                <a:close/>
              </a:path>
              <a:path w="1529079" h="76200">
                <a:moveTo>
                  <a:pt x="1528572" y="38099"/>
                </a:moveTo>
                <a:lnTo>
                  <a:pt x="1452372" y="0"/>
                </a:lnTo>
                <a:lnTo>
                  <a:pt x="1452372" y="33527"/>
                </a:lnTo>
                <a:lnTo>
                  <a:pt x="1465326" y="33527"/>
                </a:lnTo>
                <a:lnTo>
                  <a:pt x="1468374" y="35051"/>
                </a:lnTo>
                <a:lnTo>
                  <a:pt x="1469898" y="38099"/>
                </a:lnTo>
                <a:lnTo>
                  <a:pt x="1469898" y="67436"/>
                </a:lnTo>
                <a:lnTo>
                  <a:pt x="1528572" y="38099"/>
                </a:lnTo>
                <a:close/>
              </a:path>
              <a:path w="1529079" h="76200">
                <a:moveTo>
                  <a:pt x="1469898" y="67436"/>
                </a:moveTo>
                <a:lnTo>
                  <a:pt x="1469898" y="38099"/>
                </a:lnTo>
                <a:lnTo>
                  <a:pt x="1468374" y="41147"/>
                </a:lnTo>
                <a:lnTo>
                  <a:pt x="1465326" y="42671"/>
                </a:lnTo>
                <a:lnTo>
                  <a:pt x="1452372" y="42671"/>
                </a:lnTo>
                <a:lnTo>
                  <a:pt x="1452372" y="76199"/>
                </a:lnTo>
                <a:lnTo>
                  <a:pt x="1469898" y="67436"/>
                </a:lnTo>
                <a:close/>
              </a:path>
            </a:pathLst>
          </a:custGeom>
          <a:solidFill>
            <a:srgbClr val="000000"/>
          </a:solidFill>
        </p:spPr>
        <p:txBody>
          <a:bodyPr wrap="square" lIns="0" tIns="0" rIns="0" bIns="0" rtlCol="0"/>
          <a:lstStyle/>
          <a:p>
            <a:endParaRPr sz="1805"/>
          </a:p>
        </p:txBody>
      </p:sp>
      <p:sp>
        <p:nvSpPr>
          <p:cNvPr id="8" name="object 8"/>
          <p:cNvSpPr txBox="1"/>
          <p:nvPr/>
        </p:nvSpPr>
        <p:spPr>
          <a:xfrm>
            <a:off x="4549840" y="3150350"/>
            <a:ext cx="352770" cy="331120"/>
          </a:xfrm>
          <a:prstGeom prst="rect">
            <a:avLst/>
          </a:prstGeom>
        </p:spPr>
        <p:txBody>
          <a:bodyPr vert="horz" wrap="square" lIns="0" tIns="12099" rIns="0" bIns="0" rtlCol="0">
            <a:spAutoFit/>
          </a:bodyPr>
          <a:lstStyle/>
          <a:p>
            <a:pPr marL="38207">
              <a:spcBef>
                <a:spcPts val="95"/>
              </a:spcBef>
            </a:pPr>
            <a:r>
              <a:rPr sz="2006" b="1" spc="-25" dirty="0">
                <a:latin typeface="Arial"/>
                <a:cs typeface="Arial"/>
              </a:rPr>
              <a:t>C</a:t>
            </a:r>
            <a:r>
              <a:rPr sz="1955" b="1" spc="-37" baseline="-21367" dirty="0">
                <a:latin typeface="Arial"/>
                <a:cs typeface="Arial"/>
              </a:rPr>
              <a:t>3</a:t>
            </a:r>
            <a:endParaRPr sz="1955" baseline="-21367">
              <a:latin typeface="Arial"/>
              <a:cs typeface="Arial"/>
            </a:endParaRPr>
          </a:p>
        </p:txBody>
      </p:sp>
      <p:sp>
        <p:nvSpPr>
          <p:cNvPr id="9" name="object 9"/>
          <p:cNvSpPr txBox="1"/>
          <p:nvPr/>
        </p:nvSpPr>
        <p:spPr>
          <a:xfrm>
            <a:off x="1709851" y="3073938"/>
            <a:ext cx="6386154" cy="331120"/>
          </a:xfrm>
          <a:prstGeom prst="rect">
            <a:avLst/>
          </a:prstGeom>
        </p:spPr>
        <p:txBody>
          <a:bodyPr vert="horz" wrap="square" lIns="0" tIns="12099" rIns="0" bIns="0" rtlCol="0">
            <a:spAutoFit/>
          </a:bodyPr>
          <a:lstStyle/>
          <a:p>
            <a:pPr marL="50942">
              <a:spcBef>
                <a:spcPts val="95"/>
              </a:spcBef>
              <a:tabLst>
                <a:tab pos="6086961" algn="l"/>
              </a:tabLst>
            </a:pPr>
            <a:r>
              <a:rPr sz="2006" b="1" spc="-25" dirty="0">
                <a:latin typeface="Arial"/>
                <a:cs typeface="Arial"/>
              </a:rPr>
              <a:t>C</a:t>
            </a:r>
            <a:r>
              <a:rPr sz="1955" b="1" spc="-37" baseline="-21367" dirty="0">
                <a:latin typeface="Arial"/>
                <a:cs typeface="Arial"/>
              </a:rPr>
              <a:t>3</a:t>
            </a:r>
            <a:r>
              <a:rPr sz="1955" b="1" baseline="-21367" dirty="0">
                <a:latin typeface="Arial"/>
                <a:cs typeface="Arial"/>
              </a:rPr>
              <a:t>	</a:t>
            </a:r>
            <a:r>
              <a:rPr sz="2006" b="1" spc="-25" dirty="0">
                <a:latin typeface="Arial"/>
                <a:cs typeface="Arial"/>
              </a:rPr>
              <a:t>L</a:t>
            </a:r>
            <a:r>
              <a:rPr sz="1955" b="1" spc="-37" baseline="-21367" dirty="0">
                <a:latin typeface="Arial"/>
                <a:cs typeface="Arial"/>
              </a:rPr>
              <a:t>3</a:t>
            </a:r>
            <a:endParaRPr sz="1955" baseline="-21367">
              <a:latin typeface="Arial"/>
              <a:cs typeface="Arial"/>
            </a:endParaRPr>
          </a:p>
        </p:txBody>
      </p:sp>
      <p:sp>
        <p:nvSpPr>
          <p:cNvPr id="10" name="object 10"/>
          <p:cNvSpPr txBox="1"/>
          <p:nvPr/>
        </p:nvSpPr>
        <p:spPr>
          <a:xfrm>
            <a:off x="2741416" y="1775693"/>
            <a:ext cx="915674" cy="878741"/>
          </a:xfrm>
          <a:prstGeom prst="rect">
            <a:avLst/>
          </a:prstGeom>
        </p:spPr>
        <p:txBody>
          <a:bodyPr vert="horz" wrap="square" lIns="0" tIns="12099" rIns="0" bIns="0" rtlCol="0">
            <a:spAutoFit/>
          </a:bodyPr>
          <a:lstStyle/>
          <a:p>
            <a:pPr marL="12736" marR="5094">
              <a:spcBef>
                <a:spcPts val="95"/>
              </a:spcBef>
            </a:pPr>
            <a:r>
              <a:rPr sz="1404" b="1" dirty="0">
                <a:latin typeface="Arial"/>
                <a:cs typeface="Arial"/>
              </a:rPr>
              <a:t>Scan</a:t>
            </a:r>
            <a:r>
              <a:rPr sz="1404" b="1" spc="-20" dirty="0">
                <a:latin typeface="Arial"/>
                <a:cs typeface="Arial"/>
              </a:rPr>
              <a:t> </a:t>
            </a:r>
            <a:r>
              <a:rPr sz="1404" b="1" dirty="0">
                <a:latin typeface="Arial"/>
                <a:cs typeface="Arial"/>
              </a:rPr>
              <a:t>D</a:t>
            </a:r>
            <a:r>
              <a:rPr sz="1404" b="1" spc="-20" dirty="0">
                <a:latin typeface="Arial"/>
                <a:cs typeface="Arial"/>
              </a:rPr>
              <a:t> </a:t>
            </a:r>
            <a:r>
              <a:rPr sz="1404" b="1" spc="-25" dirty="0">
                <a:latin typeface="Arial"/>
                <a:cs typeface="Arial"/>
              </a:rPr>
              <a:t>for </a:t>
            </a:r>
            <a:r>
              <a:rPr sz="1404" b="1" dirty="0">
                <a:latin typeface="Arial"/>
                <a:cs typeface="Arial"/>
              </a:rPr>
              <a:t>count</a:t>
            </a:r>
            <a:r>
              <a:rPr sz="1404" b="1" spc="-25" dirty="0">
                <a:latin typeface="Arial"/>
                <a:cs typeface="Arial"/>
              </a:rPr>
              <a:t> of </a:t>
            </a:r>
            <a:r>
              <a:rPr sz="1404" b="1" spc="-20" dirty="0">
                <a:latin typeface="Arial"/>
                <a:cs typeface="Arial"/>
              </a:rPr>
              <a:t>each </a:t>
            </a:r>
            <a:r>
              <a:rPr sz="1404" b="1" spc="-10" dirty="0">
                <a:latin typeface="Arial"/>
                <a:cs typeface="Arial"/>
              </a:rPr>
              <a:t>candidate</a:t>
            </a:r>
            <a:endParaRPr sz="1404">
              <a:latin typeface="Arial"/>
              <a:cs typeface="Arial"/>
            </a:endParaRPr>
          </a:p>
        </p:txBody>
      </p:sp>
      <p:sp>
        <p:nvSpPr>
          <p:cNvPr id="11" name="object 11"/>
          <p:cNvSpPr txBox="1"/>
          <p:nvPr/>
        </p:nvSpPr>
        <p:spPr>
          <a:xfrm>
            <a:off x="5874326" y="1546448"/>
            <a:ext cx="1053852" cy="1304739"/>
          </a:xfrm>
          <a:prstGeom prst="rect">
            <a:avLst/>
          </a:prstGeom>
        </p:spPr>
        <p:txBody>
          <a:bodyPr vert="horz" wrap="square" lIns="0" tIns="12099" rIns="0" bIns="0" rtlCol="0">
            <a:spAutoFit/>
          </a:bodyPr>
          <a:lstStyle/>
          <a:p>
            <a:pPr marL="12736" marR="5094">
              <a:spcBef>
                <a:spcPts val="95"/>
              </a:spcBef>
            </a:pPr>
            <a:r>
              <a:rPr sz="1404" b="1" spc="-10" dirty="0">
                <a:latin typeface="Arial"/>
                <a:cs typeface="Arial"/>
              </a:rPr>
              <a:t>Compare candidate support </a:t>
            </a:r>
            <a:r>
              <a:rPr sz="1404" b="1" dirty="0">
                <a:latin typeface="Arial"/>
                <a:cs typeface="Arial"/>
              </a:rPr>
              <a:t>count</a:t>
            </a:r>
            <a:r>
              <a:rPr sz="1404" b="1" spc="-25" dirty="0">
                <a:latin typeface="Arial"/>
                <a:cs typeface="Arial"/>
              </a:rPr>
              <a:t> </a:t>
            </a:r>
            <a:r>
              <a:rPr sz="1404" b="1" spc="-20" dirty="0">
                <a:latin typeface="Arial"/>
                <a:cs typeface="Arial"/>
              </a:rPr>
              <a:t>with </a:t>
            </a:r>
            <a:r>
              <a:rPr sz="1404" b="1" dirty="0">
                <a:latin typeface="Arial"/>
                <a:cs typeface="Arial"/>
              </a:rPr>
              <a:t>min</a:t>
            </a:r>
            <a:r>
              <a:rPr sz="1404" b="1" spc="-35" dirty="0">
                <a:latin typeface="Arial"/>
                <a:cs typeface="Arial"/>
              </a:rPr>
              <a:t> </a:t>
            </a:r>
            <a:r>
              <a:rPr sz="1404" b="1" spc="-10" dirty="0">
                <a:latin typeface="Arial"/>
                <a:cs typeface="Arial"/>
              </a:rPr>
              <a:t>support count</a:t>
            </a:r>
            <a:endParaRPr sz="1404">
              <a:latin typeface="Arial"/>
              <a:cs typeface="Arial"/>
            </a:endParaRPr>
          </a:p>
        </p:txBody>
      </p:sp>
      <p:sp>
        <p:nvSpPr>
          <p:cNvPr id="12" name="object 12"/>
          <p:cNvSpPr txBox="1"/>
          <p:nvPr/>
        </p:nvSpPr>
        <p:spPr>
          <a:xfrm>
            <a:off x="219810" y="1775657"/>
            <a:ext cx="915674" cy="878741"/>
          </a:xfrm>
          <a:prstGeom prst="rect">
            <a:avLst/>
          </a:prstGeom>
        </p:spPr>
        <p:txBody>
          <a:bodyPr vert="horz" wrap="square" lIns="0" tIns="12099" rIns="0" bIns="0" rtlCol="0">
            <a:spAutoFit/>
          </a:bodyPr>
          <a:lstStyle/>
          <a:p>
            <a:pPr marL="12736" marR="5094">
              <a:spcBef>
                <a:spcPts val="95"/>
              </a:spcBef>
            </a:pPr>
            <a:r>
              <a:rPr sz="1404" b="1" dirty="0">
                <a:latin typeface="Arial"/>
                <a:cs typeface="Arial"/>
              </a:rPr>
              <a:t>Scan</a:t>
            </a:r>
            <a:r>
              <a:rPr sz="1404" b="1" spc="-20" dirty="0">
                <a:latin typeface="Arial"/>
                <a:cs typeface="Arial"/>
              </a:rPr>
              <a:t> </a:t>
            </a:r>
            <a:r>
              <a:rPr sz="1404" b="1" dirty="0">
                <a:latin typeface="Arial"/>
                <a:cs typeface="Arial"/>
              </a:rPr>
              <a:t>D</a:t>
            </a:r>
            <a:r>
              <a:rPr sz="1404" b="1" spc="-20" dirty="0">
                <a:latin typeface="Arial"/>
                <a:cs typeface="Arial"/>
              </a:rPr>
              <a:t> </a:t>
            </a:r>
            <a:r>
              <a:rPr sz="1404" b="1" spc="-25" dirty="0">
                <a:latin typeface="Arial"/>
                <a:cs typeface="Arial"/>
              </a:rPr>
              <a:t>for </a:t>
            </a:r>
            <a:r>
              <a:rPr sz="1404" b="1" dirty="0">
                <a:latin typeface="Arial"/>
                <a:cs typeface="Arial"/>
              </a:rPr>
              <a:t>count</a:t>
            </a:r>
            <a:r>
              <a:rPr sz="1404" b="1" spc="-25" dirty="0">
                <a:latin typeface="Arial"/>
                <a:cs typeface="Arial"/>
              </a:rPr>
              <a:t> of </a:t>
            </a:r>
            <a:r>
              <a:rPr sz="1404" b="1" spc="-20" dirty="0">
                <a:latin typeface="Arial"/>
                <a:cs typeface="Arial"/>
              </a:rPr>
              <a:t>each </a:t>
            </a:r>
            <a:r>
              <a:rPr sz="1404" b="1" spc="-10" dirty="0">
                <a:latin typeface="Arial"/>
                <a:cs typeface="Arial"/>
              </a:rPr>
              <a:t>candidate</a:t>
            </a:r>
            <a:endParaRPr sz="1404">
              <a:latin typeface="Arial"/>
              <a:cs typeface="Arial"/>
            </a:endParaRPr>
          </a:p>
        </p:txBody>
      </p:sp>
      <p:sp>
        <p:nvSpPr>
          <p:cNvPr id="13" name="object 13"/>
          <p:cNvSpPr/>
          <p:nvPr/>
        </p:nvSpPr>
        <p:spPr>
          <a:xfrm>
            <a:off x="211916" y="2703084"/>
            <a:ext cx="1074866" cy="76412"/>
          </a:xfrm>
          <a:custGeom>
            <a:avLst/>
            <a:gdLst/>
            <a:ahLst/>
            <a:cxnLst/>
            <a:rect l="l" t="t" r="r" b="b"/>
            <a:pathLst>
              <a:path w="1071880" h="76200">
                <a:moveTo>
                  <a:pt x="1012698" y="38100"/>
                </a:moveTo>
                <a:lnTo>
                  <a:pt x="1011174" y="35051"/>
                </a:lnTo>
                <a:lnTo>
                  <a:pt x="1008126" y="33527"/>
                </a:lnTo>
                <a:lnTo>
                  <a:pt x="4571" y="33527"/>
                </a:lnTo>
                <a:lnTo>
                  <a:pt x="1523" y="35051"/>
                </a:lnTo>
                <a:lnTo>
                  <a:pt x="0" y="38100"/>
                </a:lnTo>
                <a:lnTo>
                  <a:pt x="1523" y="41148"/>
                </a:lnTo>
                <a:lnTo>
                  <a:pt x="4571" y="42672"/>
                </a:lnTo>
                <a:lnTo>
                  <a:pt x="1008126" y="42672"/>
                </a:lnTo>
                <a:lnTo>
                  <a:pt x="1011174" y="41148"/>
                </a:lnTo>
                <a:lnTo>
                  <a:pt x="1012698" y="38100"/>
                </a:lnTo>
                <a:close/>
              </a:path>
              <a:path w="1071880" h="76200">
                <a:moveTo>
                  <a:pt x="1071372" y="38100"/>
                </a:moveTo>
                <a:lnTo>
                  <a:pt x="995172" y="0"/>
                </a:lnTo>
                <a:lnTo>
                  <a:pt x="995172" y="33527"/>
                </a:lnTo>
                <a:lnTo>
                  <a:pt x="1008126" y="33527"/>
                </a:lnTo>
                <a:lnTo>
                  <a:pt x="1011174" y="35051"/>
                </a:lnTo>
                <a:lnTo>
                  <a:pt x="1012698" y="38100"/>
                </a:lnTo>
                <a:lnTo>
                  <a:pt x="1012698" y="67437"/>
                </a:lnTo>
                <a:lnTo>
                  <a:pt x="1071372" y="38100"/>
                </a:lnTo>
                <a:close/>
              </a:path>
              <a:path w="1071880" h="76200">
                <a:moveTo>
                  <a:pt x="1012698" y="67437"/>
                </a:moveTo>
                <a:lnTo>
                  <a:pt x="1012698" y="38100"/>
                </a:lnTo>
                <a:lnTo>
                  <a:pt x="1011174" y="41148"/>
                </a:lnTo>
                <a:lnTo>
                  <a:pt x="1008126" y="42672"/>
                </a:lnTo>
                <a:lnTo>
                  <a:pt x="995172" y="42672"/>
                </a:lnTo>
                <a:lnTo>
                  <a:pt x="995172" y="76200"/>
                </a:lnTo>
                <a:lnTo>
                  <a:pt x="1012698" y="67437"/>
                </a:lnTo>
                <a:close/>
              </a:path>
            </a:pathLst>
          </a:custGeom>
          <a:solidFill>
            <a:srgbClr val="000000"/>
          </a:solidFill>
        </p:spPr>
        <p:txBody>
          <a:bodyPr wrap="square" lIns="0" tIns="0" rIns="0" bIns="0" rtlCol="0"/>
          <a:lstStyle/>
          <a:p>
            <a:endParaRPr sz="1805"/>
          </a:p>
        </p:txBody>
      </p:sp>
      <p:sp>
        <p:nvSpPr>
          <p:cNvPr id="14" name="object 14"/>
          <p:cNvSpPr txBox="1"/>
          <p:nvPr/>
        </p:nvSpPr>
        <p:spPr>
          <a:xfrm>
            <a:off x="219810" y="3452943"/>
            <a:ext cx="8693362" cy="2634949"/>
          </a:xfrm>
          <a:prstGeom prst="rect">
            <a:avLst/>
          </a:prstGeom>
        </p:spPr>
        <p:txBody>
          <a:bodyPr vert="horz" wrap="square" lIns="0" tIns="1274" rIns="0" bIns="0" rtlCol="0">
            <a:spAutoFit/>
          </a:bodyPr>
          <a:lstStyle/>
          <a:p>
            <a:pPr marL="38207" marR="96153" indent="218414">
              <a:lnSpc>
                <a:spcPct val="103699"/>
              </a:lnSpc>
              <a:spcBef>
                <a:spcPts val="10"/>
              </a:spcBef>
              <a:buClr>
                <a:srgbClr val="BBE0E3"/>
              </a:buClr>
              <a:buFont typeface="Times New Roman"/>
              <a:buChar char="•"/>
              <a:tabLst>
                <a:tab pos="256621" algn="l"/>
              </a:tabLst>
            </a:pPr>
            <a:r>
              <a:rPr sz="2000" dirty="0">
                <a:latin typeface="Times New Roman" panose="02020603050405020304" pitchFamily="18" charset="0"/>
                <a:cs typeface="Times New Roman" panose="02020603050405020304" pitchFamily="18" charset="0"/>
              </a:rPr>
              <a:t>The</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generation</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set</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candidate</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3-</a:t>
            </a:r>
            <a:r>
              <a:rPr sz="2000" dirty="0">
                <a:latin typeface="Times New Roman" panose="02020603050405020304" pitchFamily="18" charset="0"/>
                <a:cs typeface="Times New Roman" panose="02020603050405020304" pitchFamily="18" charset="0"/>
              </a:rPr>
              <a:t>itemsets,</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t>
            </a:r>
            <a:r>
              <a:rPr sz="2000" baseline="-21367" dirty="0">
                <a:latin typeface="Times New Roman" panose="02020603050405020304" pitchFamily="18" charset="0"/>
                <a:cs typeface="Times New Roman" panose="02020603050405020304" pitchFamily="18" charset="0"/>
              </a:rPr>
              <a:t>3</a:t>
            </a:r>
            <a:r>
              <a:rPr sz="2000" spc="233" baseline="-21367"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involves</a:t>
            </a:r>
            <a:r>
              <a:rPr sz="2000" spc="-30" dirty="0">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use</a:t>
            </a:r>
            <a:r>
              <a:rPr sz="2000" spc="-40" dirty="0">
                <a:solidFill>
                  <a:srgbClr val="009A9A"/>
                </a:solidFill>
                <a:latin typeface="Times New Roman" panose="02020603050405020304" pitchFamily="18" charset="0"/>
                <a:cs typeface="Times New Roman" panose="02020603050405020304" pitchFamily="18" charset="0"/>
              </a:rPr>
              <a:t> </a:t>
            </a:r>
            <a:r>
              <a:rPr sz="2000" spc="-25" dirty="0">
                <a:solidFill>
                  <a:srgbClr val="009A9A"/>
                </a:solidFill>
                <a:latin typeface="Times New Roman" panose="02020603050405020304" pitchFamily="18" charset="0"/>
                <a:cs typeface="Times New Roman" panose="02020603050405020304" pitchFamily="18" charset="0"/>
              </a:rPr>
              <a:t>of </a:t>
            </a:r>
            <a:r>
              <a:rPr sz="2000" dirty="0">
                <a:solidFill>
                  <a:srgbClr val="009A9A"/>
                </a:solidFill>
                <a:latin typeface="Times New Roman" panose="02020603050405020304" pitchFamily="18" charset="0"/>
                <a:cs typeface="Times New Roman" panose="02020603050405020304" pitchFamily="18" charset="0"/>
              </a:rPr>
              <a:t>the</a:t>
            </a:r>
            <a:r>
              <a:rPr sz="2000" spc="-5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Apriori</a:t>
            </a:r>
            <a:r>
              <a:rPr sz="2000" spc="-50" dirty="0">
                <a:solidFill>
                  <a:srgbClr val="009A9A"/>
                </a:solidFill>
                <a:latin typeface="Times New Roman" panose="02020603050405020304" pitchFamily="18" charset="0"/>
                <a:cs typeface="Times New Roman" panose="02020603050405020304" pitchFamily="18" charset="0"/>
              </a:rPr>
              <a:t> </a:t>
            </a:r>
            <a:r>
              <a:rPr sz="2000" spc="-10" dirty="0">
                <a:solidFill>
                  <a:srgbClr val="009A9A"/>
                </a:solidFill>
                <a:latin typeface="Times New Roman" panose="02020603050405020304" pitchFamily="18" charset="0"/>
                <a:cs typeface="Times New Roman" panose="02020603050405020304" pitchFamily="18" charset="0"/>
              </a:rPr>
              <a:t>Property.</a:t>
            </a:r>
            <a:endParaRPr sz="2000" dirty="0">
              <a:latin typeface="Times New Roman" panose="02020603050405020304" pitchFamily="18" charset="0"/>
              <a:cs typeface="Times New Roman" panose="02020603050405020304" pitchFamily="18" charset="0"/>
            </a:endParaRPr>
          </a:p>
          <a:p>
            <a:pPr marL="196128" indent="-157921">
              <a:spcBef>
                <a:spcPts val="1203"/>
              </a:spcBef>
              <a:buClr>
                <a:srgbClr val="BBE0E3"/>
              </a:buClr>
              <a:buChar char="•"/>
              <a:tabLst>
                <a:tab pos="196128" algn="l"/>
              </a:tabLst>
            </a:pPr>
            <a:r>
              <a:rPr sz="2000" dirty="0">
                <a:latin typeface="Times New Roman" panose="02020603050405020304" pitchFamily="18" charset="0"/>
                <a:cs typeface="Times New Roman" panose="02020603050405020304" pitchFamily="18" charset="0"/>
              </a:rPr>
              <a:t>In</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order</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find</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t>
            </a:r>
            <a:r>
              <a:rPr sz="2000" baseline="-21367" dirty="0">
                <a:latin typeface="Times New Roman" panose="02020603050405020304" pitchFamily="18" charset="0"/>
                <a:cs typeface="Times New Roman" panose="02020603050405020304" pitchFamily="18" charset="0"/>
              </a:rPr>
              <a:t>3</a:t>
            </a:r>
            <a:r>
              <a:rPr sz="2000" dirty="0">
                <a:latin typeface="Times New Roman" panose="02020603050405020304" pitchFamily="18" charset="0"/>
                <a:cs typeface="Times New Roman" panose="02020603050405020304" pitchFamily="18" charset="0"/>
              </a:rPr>
              <a:t>,</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we</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compute</a:t>
            </a:r>
            <a:r>
              <a:rPr sz="2000" spc="-30" dirty="0">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L</a:t>
            </a:r>
            <a:r>
              <a:rPr sz="2000" baseline="-21367" dirty="0">
                <a:solidFill>
                  <a:srgbClr val="009A9A"/>
                </a:solidFill>
                <a:latin typeface="Times New Roman" panose="02020603050405020304" pitchFamily="18" charset="0"/>
                <a:cs typeface="Times New Roman" panose="02020603050405020304" pitchFamily="18" charset="0"/>
              </a:rPr>
              <a:t>2</a:t>
            </a:r>
            <a:r>
              <a:rPr sz="2000" spc="255" baseline="-21367" dirty="0">
                <a:solidFill>
                  <a:srgbClr val="009A9A"/>
                </a:solidFill>
                <a:latin typeface="Times New Roman" panose="02020603050405020304" pitchFamily="18" charset="0"/>
                <a:cs typeface="Times New Roman" panose="02020603050405020304" pitchFamily="18" charset="0"/>
              </a:rPr>
              <a:t> </a:t>
            </a:r>
            <a:r>
              <a:rPr sz="2000" i="1" dirty="0">
                <a:solidFill>
                  <a:srgbClr val="009A9A"/>
                </a:solidFill>
                <a:latin typeface="Times New Roman" panose="02020603050405020304" pitchFamily="18" charset="0"/>
                <a:cs typeface="Times New Roman" panose="02020603050405020304" pitchFamily="18" charset="0"/>
              </a:rPr>
              <a:t>Join</a:t>
            </a:r>
            <a:r>
              <a:rPr sz="2000" i="1" spc="-25" dirty="0">
                <a:solidFill>
                  <a:srgbClr val="009A9A"/>
                </a:solidFill>
                <a:latin typeface="Times New Roman" panose="02020603050405020304" pitchFamily="18" charset="0"/>
                <a:cs typeface="Times New Roman" panose="02020603050405020304" pitchFamily="18" charset="0"/>
              </a:rPr>
              <a:t> </a:t>
            </a:r>
            <a:r>
              <a:rPr sz="2000" spc="-25" dirty="0">
                <a:solidFill>
                  <a:srgbClr val="009A9A"/>
                </a:solidFill>
                <a:latin typeface="Times New Roman" panose="02020603050405020304" pitchFamily="18" charset="0"/>
                <a:cs typeface="Times New Roman" panose="02020603050405020304" pitchFamily="18" charset="0"/>
              </a:rPr>
              <a:t>L</a:t>
            </a:r>
            <a:r>
              <a:rPr sz="2000" spc="-37" baseline="-21367" dirty="0">
                <a:solidFill>
                  <a:srgbClr val="009A9A"/>
                </a:solidFill>
                <a:latin typeface="Times New Roman" panose="02020603050405020304" pitchFamily="18" charset="0"/>
                <a:cs typeface="Times New Roman" panose="02020603050405020304" pitchFamily="18" charset="0"/>
              </a:rPr>
              <a:t>2</a:t>
            </a:r>
            <a:r>
              <a:rPr sz="2000" spc="-25"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38207" marR="287187" indent="159195">
              <a:spcBef>
                <a:spcPts val="1203"/>
              </a:spcBef>
              <a:buClr>
                <a:srgbClr val="BBE0E3"/>
              </a:buClr>
              <a:buChar char="•"/>
              <a:tabLst>
                <a:tab pos="197401" algn="l"/>
              </a:tabLst>
            </a:pPr>
            <a:r>
              <a:rPr sz="2000" dirty="0">
                <a:solidFill>
                  <a:srgbClr val="009A9A"/>
                </a:solidFill>
                <a:latin typeface="Times New Roman" panose="02020603050405020304" pitchFamily="18" charset="0"/>
                <a:cs typeface="Times New Roman" panose="02020603050405020304" pitchFamily="18" charset="0"/>
              </a:rPr>
              <a:t>C</a:t>
            </a:r>
            <a:r>
              <a:rPr sz="2000" baseline="-21367" dirty="0">
                <a:solidFill>
                  <a:srgbClr val="009A9A"/>
                </a:solidFill>
                <a:latin typeface="Times New Roman" panose="02020603050405020304" pitchFamily="18" charset="0"/>
                <a:cs typeface="Times New Roman" panose="02020603050405020304" pitchFamily="18" charset="0"/>
              </a:rPr>
              <a:t>3</a:t>
            </a:r>
            <a:r>
              <a:rPr sz="2000" spc="-22" baseline="-21367" dirty="0">
                <a:solidFill>
                  <a:srgbClr val="009A9A"/>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L2</a:t>
            </a:r>
            <a:r>
              <a:rPr sz="2000" spc="-20"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Join</a:t>
            </a:r>
            <a:r>
              <a:rPr sz="2000" i="1"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L2</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I3},</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I5},</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I3,</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I5},</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I3,</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I4},</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25" dirty="0">
                <a:latin typeface="Times New Roman" panose="02020603050405020304" pitchFamily="18" charset="0"/>
                <a:cs typeface="Times New Roman" panose="02020603050405020304" pitchFamily="18" charset="0"/>
              </a:rPr>
              <a:t> I3, </a:t>
            </a:r>
            <a:r>
              <a:rPr sz="2000" dirty="0">
                <a:latin typeface="Times New Roman" panose="02020603050405020304" pitchFamily="18" charset="0"/>
                <a:cs typeface="Times New Roman" panose="02020603050405020304" pitchFamily="18" charset="0"/>
              </a:rPr>
              <a:t>I5},</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I4,</a:t>
            </a:r>
            <a:r>
              <a:rPr sz="2000" spc="-2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I5}}.</a:t>
            </a:r>
            <a:endParaRPr sz="2000" dirty="0">
              <a:latin typeface="Times New Roman" panose="02020603050405020304" pitchFamily="18" charset="0"/>
              <a:cs typeface="Times New Roman" panose="02020603050405020304" pitchFamily="18" charset="0"/>
            </a:endParaRPr>
          </a:p>
          <a:p>
            <a:pPr marL="38207" marR="30565" indent="159195">
              <a:spcBef>
                <a:spcPts val="1203"/>
              </a:spcBef>
              <a:buClr>
                <a:srgbClr val="BBE0E3"/>
              </a:buClr>
              <a:buChar char="•"/>
              <a:tabLst>
                <a:tab pos="197401" algn="l"/>
              </a:tabLst>
            </a:pPr>
            <a:r>
              <a:rPr sz="2000" dirty="0">
                <a:latin typeface="Times New Roman" panose="02020603050405020304" pitchFamily="18" charset="0"/>
                <a:cs typeface="Times New Roman" panose="02020603050405020304" pitchFamily="18" charset="0"/>
              </a:rPr>
              <a:t>Now,</a:t>
            </a:r>
            <a:r>
              <a:rPr sz="2000" spc="-55" dirty="0">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Join</a:t>
            </a:r>
            <a:r>
              <a:rPr sz="2000" spc="-4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step</a:t>
            </a:r>
            <a:r>
              <a:rPr sz="2000" spc="-45" dirty="0">
                <a:solidFill>
                  <a:srgbClr val="009A9A"/>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complete</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55" dirty="0">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Prune</a:t>
            </a:r>
            <a:r>
              <a:rPr sz="2000" spc="-5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step</a:t>
            </a:r>
            <a:r>
              <a:rPr sz="2000" spc="-40" dirty="0">
                <a:solidFill>
                  <a:srgbClr val="009A9A"/>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will</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used</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reduce</a:t>
            </a:r>
            <a:r>
              <a:rPr sz="2000" spc="-5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size</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t>
            </a:r>
            <a:r>
              <a:rPr sz="2000" baseline="-21367" dirty="0">
                <a:latin typeface="Times New Roman" panose="02020603050405020304" pitchFamily="18" charset="0"/>
                <a:cs typeface="Times New Roman" panose="02020603050405020304" pitchFamily="18" charset="0"/>
              </a:rPr>
              <a:t>3</a:t>
            </a:r>
            <a:r>
              <a:rPr sz="2000" dirty="0">
                <a:latin typeface="Times New Roman" panose="02020603050405020304" pitchFamily="18" charset="0"/>
                <a:cs typeface="Times New Roman" panose="02020603050405020304" pitchFamily="18" charset="0"/>
              </a:rPr>
              <a:t>.</a:t>
            </a:r>
            <a:r>
              <a:rPr sz="2000" spc="-40" dirty="0">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Prune</a:t>
            </a:r>
            <a:r>
              <a:rPr sz="2000" spc="-4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step</a:t>
            </a:r>
            <a:r>
              <a:rPr sz="2000" spc="-4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helps</a:t>
            </a:r>
            <a:r>
              <a:rPr sz="2000" spc="-4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to</a:t>
            </a:r>
            <a:r>
              <a:rPr sz="2000" spc="-4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avoid</a:t>
            </a:r>
            <a:r>
              <a:rPr sz="2000" spc="-4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heavy</a:t>
            </a:r>
            <a:r>
              <a:rPr sz="2000" spc="-40" dirty="0">
                <a:solidFill>
                  <a:srgbClr val="009A9A"/>
                </a:solidFill>
                <a:latin typeface="Times New Roman" panose="02020603050405020304" pitchFamily="18" charset="0"/>
                <a:cs typeface="Times New Roman" panose="02020603050405020304" pitchFamily="18" charset="0"/>
              </a:rPr>
              <a:t> </a:t>
            </a:r>
            <a:r>
              <a:rPr sz="2000" spc="-10" dirty="0">
                <a:solidFill>
                  <a:srgbClr val="009A9A"/>
                </a:solidFill>
                <a:latin typeface="Times New Roman" panose="02020603050405020304" pitchFamily="18" charset="0"/>
                <a:cs typeface="Times New Roman" panose="02020603050405020304" pitchFamily="18" charset="0"/>
              </a:rPr>
              <a:t>computation</a:t>
            </a:r>
            <a:r>
              <a:rPr sz="2000" spc="-4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due</a:t>
            </a:r>
            <a:r>
              <a:rPr sz="2000" spc="-4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to</a:t>
            </a:r>
            <a:r>
              <a:rPr sz="2000" spc="-4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large</a:t>
            </a:r>
            <a:r>
              <a:rPr sz="2000" spc="-40" dirty="0">
                <a:solidFill>
                  <a:srgbClr val="009A9A"/>
                </a:solidFill>
                <a:latin typeface="Times New Roman" panose="02020603050405020304" pitchFamily="18" charset="0"/>
                <a:cs typeface="Times New Roman" panose="02020603050405020304" pitchFamily="18" charset="0"/>
              </a:rPr>
              <a:t> </a:t>
            </a:r>
            <a:r>
              <a:rPr sz="2000" spc="-25" dirty="0">
                <a:solidFill>
                  <a:srgbClr val="009A9A"/>
                </a:solidFill>
                <a:latin typeface="Times New Roman" panose="02020603050405020304" pitchFamily="18" charset="0"/>
                <a:cs typeface="Times New Roman" panose="02020603050405020304" pitchFamily="18" charset="0"/>
              </a:rPr>
              <a:t>C</a:t>
            </a:r>
            <a:r>
              <a:rPr sz="2000" spc="-37" baseline="-21367" dirty="0">
                <a:solidFill>
                  <a:srgbClr val="009A9A"/>
                </a:solidFill>
                <a:latin typeface="Times New Roman" panose="02020603050405020304" pitchFamily="18" charset="0"/>
                <a:cs typeface="Times New Roman" panose="02020603050405020304" pitchFamily="18" charset="0"/>
              </a:rPr>
              <a:t>k</a:t>
            </a:r>
            <a:r>
              <a:rPr sz="2000" spc="-25" dirty="0">
                <a:solidFill>
                  <a:srgbClr val="009A9A"/>
                </a:solidFill>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5436" y="152400"/>
            <a:ext cx="8533127" cy="791688"/>
          </a:xfrm>
          <a:prstGeom prst="rect">
            <a:avLst/>
          </a:prstGeom>
        </p:spPr>
        <p:txBody>
          <a:bodyPr vert="horz" wrap="square" lIns="0" tIns="296351" rIns="0" bIns="0" rtlCol="0" anchor="ctr">
            <a:spAutoFit/>
            <a:scene3d>
              <a:camera prst="orthographicFront"/>
              <a:lightRig rig="soft" dir="t"/>
            </a:scene3d>
            <a:sp3d prstMaterial="softEdge">
              <a:bevelT w="25400" h="25400"/>
            </a:sp3d>
          </a:bodyPr>
          <a:lstStyle/>
          <a:p>
            <a:pPr marL="422821">
              <a:spcBef>
                <a:spcPts val="95"/>
              </a:spcBef>
            </a:pPr>
            <a:r>
              <a:rPr sz="3200" dirty="0">
                <a:solidFill>
                  <a:srgbClr val="002060"/>
                </a:solidFill>
                <a:effectLst/>
                <a:latin typeface="Times New Roman" panose="02020603050405020304" pitchFamily="18" charset="0"/>
                <a:cs typeface="Times New Roman" panose="02020603050405020304" pitchFamily="18" charset="0"/>
              </a:rPr>
              <a:t>Step</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3:</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Generating</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3-itemset</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Frequent</a:t>
            </a:r>
            <a:r>
              <a:rPr sz="3200" spc="-30" dirty="0">
                <a:solidFill>
                  <a:srgbClr val="002060"/>
                </a:solidFill>
                <a:effectLst/>
                <a:latin typeface="Times New Roman" panose="02020603050405020304" pitchFamily="18" charset="0"/>
                <a:cs typeface="Times New Roman" panose="02020603050405020304" pitchFamily="18" charset="0"/>
              </a:rPr>
              <a:t> </a:t>
            </a:r>
            <a:r>
              <a:rPr sz="3200" spc="-10" dirty="0">
                <a:solidFill>
                  <a:srgbClr val="002060"/>
                </a:solidFill>
                <a:effectLst/>
                <a:latin typeface="Times New Roman" panose="02020603050405020304" pitchFamily="18" charset="0"/>
                <a:cs typeface="Times New Roman" panose="02020603050405020304" pitchFamily="18" charset="0"/>
              </a:rPr>
              <a:t>Pattern</a:t>
            </a:r>
            <a:endParaRPr sz="3200" dirty="0">
              <a:solidFill>
                <a:srgbClr val="002060"/>
              </a:solidFill>
              <a:effectLst/>
              <a:latin typeface="Times New Roman" panose="02020603050405020304" pitchFamily="18" charset="0"/>
              <a:cs typeface="Times New Roman" panose="02020603050405020304" pitchFamily="18" charset="0"/>
            </a:endParaRPr>
          </a:p>
        </p:txBody>
      </p:sp>
      <p:sp>
        <p:nvSpPr>
          <p:cNvPr id="3" name="object 3"/>
          <p:cNvSpPr txBox="1"/>
          <p:nvPr/>
        </p:nvSpPr>
        <p:spPr>
          <a:xfrm>
            <a:off x="381000" y="1143000"/>
            <a:ext cx="8533127" cy="5565662"/>
          </a:xfrm>
          <a:prstGeom prst="rect">
            <a:avLst/>
          </a:prstGeom>
        </p:spPr>
        <p:txBody>
          <a:bodyPr vert="horz" wrap="square" lIns="0" tIns="12735" rIns="0" bIns="0" rtlCol="0">
            <a:spAutoFit/>
          </a:bodyPr>
          <a:lstStyle/>
          <a:p>
            <a:pPr marL="445745" marR="420273" indent="-343860">
              <a:spcBef>
                <a:spcPts val="100"/>
              </a:spcBef>
              <a:buChar char="•"/>
              <a:tabLst>
                <a:tab pos="445745" algn="l"/>
              </a:tabLst>
            </a:pPr>
            <a:r>
              <a:rPr sz="2000" dirty="0">
                <a:latin typeface="Times New Roman" panose="02020603050405020304" pitchFamily="18" charset="0"/>
                <a:cs typeface="Times New Roman" panose="02020603050405020304" pitchFamily="18" charset="0"/>
              </a:rPr>
              <a:t>Based</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on</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0" dirty="0">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Apriori</a:t>
            </a:r>
            <a:r>
              <a:rPr sz="2000" spc="-2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property</a:t>
            </a:r>
            <a:r>
              <a:rPr sz="2000" spc="-5" dirty="0">
                <a:solidFill>
                  <a:srgbClr val="009A9A"/>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that</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all</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subsets</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frequent</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itemset</a:t>
            </a:r>
            <a:r>
              <a:rPr sz="2000" spc="-1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must </a:t>
            </a:r>
            <a:r>
              <a:rPr sz="2000" dirty="0">
                <a:latin typeface="Times New Roman" panose="02020603050405020304" pitchFamily="18" charset="0"/>
                <a:cs typeface="Times New Roman" panose="02020603050405020304" pitchFamily="18" charset="0"/>
              </a:rPr>
              <a:t>also</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frequent,</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we</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can</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determine</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that</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four</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latter</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candidates</a:t>
            </a:r>
            <a:r>
              <a:rPr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cannot </a:t>
            </a:r>
            <a:r>
              <a:rPr sz="2000" dirty="0">
                <a:latin typeface="Times New Roman" panose="02020603050405020304" pitchFamily="18" charset="0"/>
                <a:cs typeface="Times New Roman" panose="02020603050405020304" pitchFamily="18" charset="0"/>
              </a:rPr>
              <a:t>possibly</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frequent.</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How</a:t>
            </a:r>
            <a:r>
              <a:rPr sz="2000" spc="-5" dirty="0">
                <a:latin typeface="Times New Roman" panose="02020603050405020304" pitchFamily="18" charset="0"/>
                <a:cs typeface="Times New Roman" panose="02020603050405020304" pitchFamily="18" charset="0"/>
              </a:rPr>
              <a:t> </a:t>
            </a:r>
            <a:r>
              <a:rPr sz="2000" spc="-50" dirty="0">
                <a:latin typeface="Times New Roman" panose="02020603050405020304" pitchFamily="18" charset="0"/>
                <a:cs typeface="Times New Roman" panose="02020603050405020304" pitchFamily="18" charset="0"/>
              </a:rPr>
              <a:t>?</a:t>
            </a:r>
            <a:endParaRPr lang="en-IN" sz="2000" spc="-50" dirty="0">
              <a:latin typeface="Times New Roman" panose="02020603050405020304" pitchFamily="18" charset="0"/>
              <a:cs typeface="Times New Roman" panose="02020603050405020304" pitchFamily="18" charset="0"/>
            </a:endParaRPr>
          </a:p>
          <a:p>
            <a:pPr marL="445745" marR="420273" indent="-343860">
              <a:spcBef>
                <a:spcPts val="100"/>
              </a:spcBef>
              <a:buChar char="•"/>
              <a:tabLst>
                <a:tab pos="445745" algn="l"/>
              </a:tabLst>
            </a:pPr>
            <a:endParaRPr sz="2000" dirty="0">
              <a:latin typeface="Times New Roman" panose="02020603050405020304" pitchFamily="18" charset="0"/>
              <a:cs typeface="Times New Roman" panose="02020603050405020304" pitchFamily="18" charset="0"/>
            </a:endParaRPr>
          </a:p>
          <a:p>
            <a:pPr marL="445108" marR="234971" indent="-343860" algn="just">
              <a:spcBef>
                <a:spcPts val="441"/>
              </a:spcBef>
              <a:buChar char="•"/>
              <a:tabLst>
                <a:tab pos="445108" algn="l"/>
              </a:tabLst>
            </a:pPr>
            <a:r>
              <a:rPr sz="2000" dirty="0">
                <a:latin typeface="Times New Roman" panose="02020603050405020304" pitchFamily="18" charset="0"/>
                <a:cs typeface="Times New Roman" panose="02020603050405020304" pitchFamily="18" charset="0"/>
              </a:rPr>
              <a:t>For</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example</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lets</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take </a:t>
            </a:r>
            <a:r>
              <a:rPr sz="2000" dirty="0">
                <a:solidFill>
                  <a:srgbClr val="009A9A"/>
                </a:solidFill>
                <a:latin typeface="Times New Roman" panose="02020603050405020304" pitchFamily="18" charset="0"/>
                <a:cs typeface="Times New Roman" panose="02020603050405020304" pitchFamily="18" charset="0"/>
              </a:rPr>
              <a:t>{I1,</a:t>
            </a:r>
            <a:r>
              <a:rPr sz="2000" spc="-1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I2,</a:t>
            </a:r>
            <a:r>
              <a:rPr sz="2000" spc="-1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I3}.</a:t>
            </a:r>
            <a:r>
              <a:rPr sz="2000" spc="-10" dirty="0">
                <a:solidFill>
                  <a:srgbClr val="009A9A"/>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2-item</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subsets</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1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{I1, </a:t>
            </a:r>
            <a:r>
              <a:rPr sz="2000" dirty="0">
                <a:latin typeface="Times New Roman" panose="02020603050405020304" pitchFamily="18" charset="0"/>
                <a:cs typeface="Times New Roman" panose="02020603050405020304" pitchFamily="18" charset="0"/>
              </a:rPr>
              <a:t>I3}</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&amp;</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I3}.</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Since</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all</a:t>
            </a:r>
            <a:r>
              <a:rPr sz="2000" spc="-2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2-</a:t>
            </a:r>
            <a:r>
              <a:rPr sz="2000" dirty="0">
                <a:latin typeface="Times New Roman" panose="02020603050405020304" pitchFamily="18" charset="0"/>
                <a:cs typeface="Times New Roman" panose="02020603050405020304" pitchFamily="18" charset="0"/>
              </a:rPr>
              <a:t>item</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subsets</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I3}</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members</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a:t>
            </a:r>
            <a:r>
              <a:rPr sz="2000" baseline="-23148" dirty="0">
                <a:latin typeface="Times New Roman" panose="02020603050405020304" pitchFamily="18" charset="0"/>
                <a:cs typeface="Times New Roman" panose="02020603050405020304" pitchFamily="18" charset="0"/>
              </a:rPr>
              <a:t>2</a:t>
            </a:r>
            <a:r>
              <a:rPr sz="2000" dirty="0">
                <a:latin typeface="Times New Roman" panose="02020603050405020304" pitchFamily="18" charset="0"/>
                <a:cs typeface="Times New Roman" panose="02020603050405020304" pitchFamily="18" charset="0"/>
              </a:rPr>
              <a:t>,</a:t>
            </a:r>
            <a:r>
              <a:rPr sz="2000" spc="-1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We </a:t>
            </a:r>
            <a:r>
              <a:rPr sz="2000" dirty="0">
                <a:latin typeface="Times New Roman" panose="02020603050405020304" pitchFamily="18" charset="0"/>
                <a:cs typeface="Times New Roman" panose="02020603050405020304" pitchFamily="18" charset="0"/>
              </a:rPr>
              <a:t>will</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keep</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I3}</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1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C</a:t>
            </a:r>
            <a:r>
              <a:rPr sz="2000" spc="-37" baseline="-23148" dirty="0">
                <a:latin typeface="Times New Roman" panose="02020603050405020304" pitchFamily="18" charset="0"/>
                <a:cs typeface="Times New Roman" panose="02020603050405020304" pitchFamily="18" charset="0"/>
              </a:rPr>
              <a:t>3</a:t>
            </a:r>
            <a:r>
              <a:rPr sz="2000" spc="-25" dirty="0">
                <a:latin typeface="Times New Roman" panose="02020603050405020304" pitchFamily="18" charset="0"/>
                <a:cs typeface="Times New Roman" panose="02020603050405020304" pitchFamily="18" charset="0"/>
              </a:rPr>
              <a:t>.</a:t>
            </a:r>
            <a:endParaRPr lang="en-IN" sz="2000" spc="-25" dirty="0">
              <a:latin typeface="Times New Roman" panose="02020603050405020304" pitchFamily="18" charset="0"/>
              <a:cs typeface="Times New Roman" panose="02020603050405020304" pitchFamily="18" charset="0"/>
            </a:endParaRPr>
          </a:p>
          <a:p>
            <a:pPr marL="445108" marR="234971" indent="-343860" algn="just">
              <a:spcBef>
                <a:spcPts val="441"/>
              </a:spcBef>
              <a:buChar char="•"/>
              <a:tabLst>
                <a:tab pos="445108" algn="l"/>
              </a:tabLst>
            </a:pPr>
            <a:endParaRPr sz="2000" dirty="0">
              <a:latin typeface="Times New Roman" panose="02020603050405020304" pitchFamily="18" charset="0"/>
              <a:cs typeface="Times New Roman" panose="02020603050405020304" pitchFamily="18" charset="0"/>
            </a:endParaRPr>
          </a:p>
          <a:p>
            <a:pPr marL="445108" marR="420909" indent="-343860">
              <a:spcBef>
                <a:spcPts val="446"/>
              </a:spcBef>
              <a:buChar char="•"/>
              <a:tabLst>
                <a:tab pos="445108" algn="l"/>
              </a:tabLst>
            </a:pPr>
            <a:r>
              <a:rPr sz="2000" dirty="0">
                <a:latin typeface="Times New Roman" panose="02020603050405020304" pitchFamily="18" charset="0"/>
                <a:cs typeface="Times New Roman" panose="02020603050405020304" pitchFamily="18" charset="0"/>
              </a:rPr>
              <a:t>Lets</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take</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another</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example</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5" dirty="0">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{I2,</a:t>
            </a:r>
            <a:r>
              <a:rPr sz="2000" spc="-1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I3,</a:t>
            </a:r>
            <a:r>
              <a:rPr sz="2000" spc="-1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I5}</a:t>
            </a:r>
            <a:r>
              <a:rPr sz="2000" spc="-25" dirty="0">
                <a:solidFill>
                  <a:srgbClr val="009A9A"/>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which</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shows</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how</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pruning</a:t>
            </a:r>
            <a:r>
              <a:rPr sz="2000" spc="-1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is </a:t>
            </a:r>
            <a:r>
              <a:rPr sz="2000" dirty="0">
                <a:latin typeface="Times New Roman" panose="02020603050405020304" pitchFamily="18" charset="0"/>
                <a:cs typeface="Times New Roman" panose="02020603050405020304" pitchFamily="18" charset="0"/>
              </a:rPr>
              <a:t>performed.</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0" dirty="0">
                <a:latin typeface="Times New Roman" panose="02020603050405020304" pitchFamily="18" charset="0"/>
                <a:cs typeface="Times New Roman" panose="02020603050405020304" pitchFamily="18" charset="0"/>
              </a:rPr>
              <a:t> 2-</a:t>
            </a:r>
            <a:r>
              <a:rPr sz="2000" dirty="0">
                <a:latin typeface="Times New Roman" panose="02020603050405020304" pitchFamily="18" charset="0"/>
                <a:cs typeface="Times New Roman" panose="02020603050405020304" pitchFamily="18" charset="0"/>
              </a:rPr>
              <a:t>item</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subsets</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I3},</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I5}</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&amp;</a:t>
            </a:r>
            <a:r>
              <a:rPr sz="2000" spc="-10" dirty="0">
                <a:latin typeface="Times New Roman" panose="02020603050405020304" pitchFamily="18" charset="0"/>
                <a:cs typeface="Times New Roman" panose="02020603050405020304" pitchFamily="18" charset="0"/>
              </a:rPr>
              <a:t> {I3,I5}.</a:t>
            </a:r>
            <a:r>
              <a:rPr sz="2000" dirty="0">
                <a:latin typeface="Times New Roman" panose="02020603050405020304" pitchFamily="18" charset="0"/>
                <a:cs typeface="Times New Roman" panose="02020603050405020304" pitchFamily="18" charset="0"/>
              </a:rPr>
              <a:t>BUT,</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{I3,</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I5}</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not</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member</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a:t>
            </a:r>
            <a:r>
              <a:rPr sz="2000" baseline="-23148" dirty="0">
                <a:latin typeface="Times New Roman" panose="02020603050405020304" pitchFamily="18" charset="0"/>
                <a:cs typeface="Times New Roman" panose="02020603050405020304" pitchFamily="18" charset="0"/>
              </a:rPr>
              <a:t>2</a:t>
            </a:r>
            <a:r>
              <a:rPr sz="2000" spc="226" baseline="-23148"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hence</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not</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frequent</a:t>
            </a:r>
            <a:r>
              <a:rPr lang="en-IN" sz="2000" dirty="0">
                <a:latin typeface="Times New Roman" panose="02020603050405020304" pitchFamily="18" charset="0"/>
                <a:cs typeface="Times New Roman" panose="02020603050405020304" pitchFamily="18" charset="0"/>
              </a:rPr>
              <a:t> &amp;</a:t>
            </a:r>
            <a:r>
              <a:rPr sz="2000" spc="-10" dirty="0">
                <a:latin typeface="Times New Roman" panose="02020603050405020304" pitchFamily="18" charset="0"/>
                <a:cs typeface="Times New Roman" panose="02020603050405020304" pitchFamily="18" charset="0"/>
              </a:rPr>
              <a:t> </a:t>
            </a:r>
            <a:r>
              <a:rPr sz="2000" spc="-10" dirty="0">
                <a:solidFill>
                  <a:srgbClr val="009A9A"/>
                </a:solidFill>
                <a:latin typeface="Times New Roman" panose="02020603050405020304" pitchFamily="18" charset="0"/>
                <a:cs typeface="Times New Roman" panose="02020603050405020304" pitchFamily="18" charset="0"/>
              </a:rPr>
              <a:t>violating </a:t>
            </a:r>
            <a:r>
              <a:rPr sz="2000" dirty="0">
                <a:solidFill>
                  <a:srgbClr val="009A9A"/>
                </a:solidFill>
                <a:latin typeface="Times New Roman" panose="02020603050405020304" pitchFamily="18" charset="0"/>
                <a:cs typeface="Times New Roman" panose="02020603050405020304" pitchFamily="18" charset="0"/>
              </a:rPr>
              <a:t>Apriori</a:t>
            </a:r>
            <a:r>
              <a:rPr sz="2000" spc="-4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Property</a:t>
            </a:r>
            <a:r>
              <a:rPr sz="2000" dirty="0">
                <a:latin typeface="Times New Roman" panose="02020603050405020304" pitchFamily="18" charset="0"/>
                <a:cs typeface="Times New Roman" panose="02020603050405020304" pitchFamily="18" charset="0"/>
              </a:rPr>
              <a:t>.</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Thus</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We</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will</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have</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remove</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I3,</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I5}</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from</a:t>
            </a:r>
            <a:r>
              <a:rPr sz="2000" spc="-2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C</a:t>
            </a:r>
            <a:r>
              <a:rPr sz="2000" spc="-37" baseline="-23148" dirty="0">
                <a:latin typeface="Times New Roman" panose="02020603050405020304" pitchFamily="18" charset="0"/>
                <a:cs typeface="Times New Roman" panose="02020603050405020304" pitchFamily="18" charset="0"/>
              </a:rPr>
              <a:t>3</a:t>
            </a:r>
            <a:r>
              <a:rPr sz="2000" spc="-25" dirty="0">
                <a:latin typeface="Times New Roman" panose="02020603050405020304" pitchFamily="18" charset="0"/>
                <a:cs typeface="Times New Roman" panose="02020603050405020304" pitchFamily="18" charset="0"/>
              </a:rPr>
              <a:t>.</a:t>
            </a:r>
            <a:endParaRPr lang="en-IN" sz="2000" spc="-25" dirty="0">
              <a:latin typeface="Times New Roman" panose="02020603050405020304" pitchFamily="18" charset="0"/>
              <a:cs typeface="Times New Roman" panose="02020603050405020304" pitchFamily="18" charset="0"/>
            </a:endParaRPr>
          </a:p>
          <a:p>
            <a:pPr marL="445108" marR="420909" indent="-343860">
              <a:spcBef>
                <a:spcPts val="446"/>
              </a:spcBef>
              <a:buChar char="•"/>
              <a:tabLst>
                <a:tab pos="445108" algn="l"/>
              </a:tabLst>
            </a:pPr>
            <a:endParaRPr sz="2000" dirty="0">
              <a:latin typeface="Times New Roman" panose="02020603050405020304" pitchFamily="18" charset="0"/>
              <a:cs typeface="Times New Roman" panose="02020603050405020304" pitchFamily="18" charset="0"/>
            </a:endParaRPr>
          </a:p>
          <a:p>
            <a:pPr marL="445108" marR="380793" indent="-343860">
              <a:spcBef>
                <a:spcPts val="446"/>
              </a:spcBef>
              <a:buChar char="•"/>
              <a:tabLst>
                <a:tab pos="445108" algn="l"/>
              </a:tabLst>
            </a:pPr>
            <a:r>
              <a:rPr sz="2000" dirty="0">
                <a:latin typeface="Times New Roman" panose="02020603050405020304" pitchFamily="18" charset="0"/>
                <a:cs typeface="Times New Roman" panose="02020603050405020304" pitchFamily="18" charset="0"/>
              </a:rPr>
              <a:t>Therefore,</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a:t>
            </a:r>
            <a:r>
              <a:rPr sz="2000" baseline="-23148" dirty="0">
                <a:latin typeface="Times New Roman" panose="02020603050405020304" pitchFamily="18" charset="0"/>
                <a:cs typeface="Times New Roman" panose="02020603050405020304" pitchFamily="18" charset="0"/>
              </a:rPr>
              <a:t>3</a:t>
            </a:r>
            <a:r>
              <a:rPr sz="2000" spc="218" baseline="-23148"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I3},</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I5}}</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after</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checking</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all</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members</a:t>
            </a:r>
            <a:r>
              <a:rPr sz="2000" spc="476"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of </a:t>
            </a:r>
            <a:r>
              <a:rPr sz="2000" dirty="0">
                <a:solidFill>
                  <a:srgbClr val="009A9A"/>
                </a:solidFill>
                <a:latin typeface="Times New Roman" panose="02020603050405020304" pitchFamily="18" charset="0"/>
                <a:cs typeface="Times New Roman" panose="02020603050405020304" pitchFamily="18" charset="0"/>
              </a:rPr>
              <a:t>result</a:t>
            </a:r>
            <a:r>
              <a:rPr sz="2000" spc="-3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of</a:t>
            </a:r>
            <a:r>
              <a:rPr sz="2000" spc="-2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Join</a:t>
            </a:r>
            <a:r>
              <a:rPr sz="2000" spc="-2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operation</a:t>
            </a:r>
            <a:r>
              <a:rPr sz="2000" spc="-15" dirty="0">
                <a:solidFill>
                  <a:srgbClr val="009A9A"/>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for</a:t>
            </a:r>
            <a:r>
              <a:rPr sz="2000" spc="-20" dirty="0">
                <a:latin typeface="Times New Roman" panose="02020603050405020304" pitchFamily="18" charset="0"/>
                <a:cs typeface="Times New Roman" panose="02020603050405020304" pitchFamily="18" charset="0"/>
              </a:rPr>
              <a:t> </a:t>
            </a:r>
            <a:r>
              <a:rPr sz="2000" spc="-10" dirty="0">
                <a:solidFill>
                  <a:srgbClr val="009A9A"/>
                </a:solidFill>
                <a:latin typeface="Times New Roman" panose="02020603050405020304" pitchFamily="18" charset="0"/>
                <a:cs typeface="Times New Roman" panose="02020603050405020304" pitchFamily="18" charset="0"/>
              </a:rPr>
              <a:t>Pruning</a:t>
            </a:r>
            <a:r>
              <a:rPr sz="2000" spc="-1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445108" marR="106979" indent="-343860">
              <a:spcBef>
                <a:spcPts val="435"/>
              </a:spcBef>
              <a:buChar char="•"/>
              <a:tabLst>
                <a:tab pos="445108" algn="l"/>
              </a:tabLst>
            </a:pPr>
            <a:r>
              <a:rPr sz="2000" dirty="0">
                <a:latin typeface="Times New Roman" panose="02020603050405020304" pitchFamily="18" charset="0"/>
                <a:cs typeface="Times New Roman" panose="02020603050405020304" pitchFamily="18" charset="0"/>
              </a:rPr>
              <a:t>Now,</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transactions</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scanned</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order</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determine </a:t>
            </a:r>
            <a:r>
              <a:rPr sz="2000" dirty="0">
                <a:solidFill>
                  <a:srgbClr val="009A9A"/>
                </a:solidFill>
                <a:latin typeface="Times New Roman" panose="02020603050405020304" pitchFamily="18" charset="0"/>
                <a:cs typeface="Times New Roman" panose="02020603050405020304" pitchFamily="18" charset="0"/>
              </a:rPr>
              <a:t>L</a:t>
            </a:r>
            <a:r>
              <a:rPr sz="2000" baseline="-23148" dirty="0">
                <a:solidFill>
                  <a:srgbClr val="009A9A"/>
                </a:solidFill>
                <a:latin typeface="Times New Roman" panose="02020603050405020304" pitchFamily="18" charset="0"/>
                <a:cs typeface="Times New Roman" panose="02020603050405020304" pitchFamily="18" charset="0"/>
              </a:rPr>
              <a:t>3</a:t>
            </a:r>
            <a:r>
              <a:rPr sz="2000" dirty="0">
                <a:solidFill>
                  <a:srgbClr val="009A9A"/>
                </a:solidFill>
                <a:latin typeface="Times New Roman" panose="02020603050405020304" pitchFamily="18" charset="0"/>
                <a:cs typeface="Times New Roman" panose="02020603050405020304" pitchFamily="18" charset="0"/>
              </a:rPr>
              <a:t>,</a:t>
            </a:r>
            <a:r>
              <a:rPr sz="2000" spc="-15" dirty="0">
                <a:solidFill>
                  <a:srgbClr val="009A9A"/>
                </a:solidFill>
                <a:latin typeface="Times New Roman" panose="02020603050405020304" pitchFamily="18" charset="0"/>
                <a:cs typeface="Times New Roman" panose="02020603050405020304" pitchFamily="18" charset="0"/>
              </a:rPr>
              <a:t> </a:t>
            </a:r>
            <a:r>
              <a:rPr sz="2000" spc="-10" dirty="0">
                <a:solidFill>
                  <a:srgbClr val="009A9A"/>
                </a:solidFill>
                <a:latin typeface="Times New Roman" panose="02020603050405020304" pitchFamily="18" charset="0"/>
                <a:cs typeface="Times New Roman" panose="02020603050405020304" pitchFamily="18" charset="0"/>
              </a:rPr>
              <a:t>consisting </a:t>
            </a:r>
            <a:r>
              <a:rPr sz="2000" dirty="0">
                <a:solidFill>
                  <a:srgbClr val="009A9A"/>
                </a:solidFill>
                <a:latin typeface="Times New Roman" panose="02020603050405020304" pitchFamily="18" charset="0"/>
                <a:cs typeface="Times New Roman" panose="02020603050405020304" pitchFamily="18" charset="0"/>
              </a:rPr>
              <a:t>of</a:t>
            </a:r>
            <a:r>
              <a:rPr sz="2000" spc="-3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those</a:t>
            </a:r>
            <a:r>
              <a:rPr sz="2000" spc="-2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candidates</a:t>
            </a:r>
            <a:r>
              <a:rPr sz="2000" spc="-20" dirty="0">
                <a:solidFill>
                  <a:srgbClr val="009A9A"/>
                </a:solidFill>
                <a:latin typeface="Times New Roman" panose="02020603050405020304" pitchFamily="18" charset="0"/>
                <a:cs typeface="Times New Roman" panose="02020603050405020304" pitchFamily="18" charset="0"/>
              </a:rPr>
              <a:t> </a:t>
            </a:r>
            <a:r>
              <a:rPr sz="2000" spc="-10" dirty="0">
                <a:solidFill>
                  <a:srgbClr val="009A9A"/>
                </a:solidFill>
                <a:latin typeface="Times New Roman" panose="02020603050405020304" pitchFamily="18" charset="0"/>
                <a:cs typeface="Times New Roman" panose="02020603050405020304" pitchFamily="18" charset="0"/>
              </a:rPr>
              <a:t>3-</a:t>
            </a:r>
            <a:r>
              <a:rPr sz="2000" dirty="0">
                <a:solidFill>
                  <a:srgbClr val="009A9A"/>
                </a:solidFill>
                <a:latin typeface="Times New Roman" panose="02020603050405020304" pitchFamily="18" charset="0"/>
                <a:cs typeface="Times New Roman" panose="02020603050405020304" pitchFamily="18" charset="0"/>
              </a:rPr>
              <a:t>itemsets</a:t>
            </a:r>
            <a:r>
              <a:rPr sz="2000" spc="-2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in</a:t>
            </a:r>
            <a:r>
              <a:rPr sz="2000" spc="-2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C</a:t>
            </a:r>
            <a:r>
              <a:rPr sz="2000" baseline="-23148" dirty="0">
                <a:solidFill>
                  <a:srgbClr val="009A9A"/>
                </a:solidFill>
                <a:latin typeface="Times New Roman" panose="02020603050405020304" pitchFamily="18" charset="0"/>
                <a:cs typeface="Times New Roman" panose="02020603050405020304" pitchFamily="18" charset="0"/>
              </a:rPr>
              <a:t>3</a:t>
            </a:r>
            <a:r>
              <a:rPr sz="2000" spc="210" baseline="-23148"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having</a:t>
            </a:r>
            <a:r>
              <a:rPr sz="2000" spc="-2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minimum</a:t>
            </a:r>
            <a:r>
              <a:rPr sz="2000" spc="-20" dirty="0">
                <a:solidFill>
                  <a:srgbClr val="009A9A"/>
                </a:solidFill>
                <a:latin typeface="Times New Roman" panose="02020603050405020304" pitchFamily="18" charset="0"/>
                <a:cs typeface="Times New Roman" panose="02020603050405020304" pitchFamily="18" charset="0"/>
              </a:rPr>
              <a:t> </a:t>
            </a:r>
            <a:r>
              <a:rPr sz="2000" spc="-10" dirty="0">
                <a:solidFill>
                  <a:srgbClr val="009A9A"/>
                </a:solidFill>
                <a:latin typeface="Times New Roman" panose="02020603050405020304" pitchFamily="18" charset="0"/>
                <a:cs typeface="Times New Roman" panose="02020603050405020304" pitchFamily="18" charset="0"/>
              </a:rPr>
              <a:t>support.</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6200" y="460143"/>
            <a:ext cx="8991600" cy="783072"/>
          </a:xfrm>
          <a:prstGeom prst="rect">
            <a:avLst/>
          </a:prstGeom>
        </p:spPr>
        <p:txBody>
          <a:bodyPr vert="horz" wrap="square" lIns="0" tIns="287819" rIns="0" bIns="0" rtlCol="0" anchor="ctr">
            <a:spAutoFit/>
            <a:scene3d>
              <a:camera prst="orthographicFront"/>
              <a:lightRig rig="soft" dir="t"/>
            </a:scene3d>
            <a:sp3d prstMaterial="softEdge">
              <a:bevelT w="25400" h="25400"/>
            </a:sp3d>
          </a:bodyPr>
          <a:lstStyle/>
          <a:p>
            <a:pPr marL="289734" algn="ctr">
              <a:spcBef>
                <a:spcPts val="100"/>
              </a:spcBef>
            </a:pPr>
            <a:r>
              <a:rPr sz="3200" dirty="0">
                <a:solidFill>
                  <a:srgbClr val="002060"/>
                </a:solidFill>
                <a:effectLst/>
                <a:latin typeface="Times New Roman" panose="02020603050405020304" pitchFamily="18" charset="0"/>
                <a:cs typeface="Times New Roman" panose="02020603050405020304" pitchFamily="18" charset="0"/>
              </a:rPr>
              <a:t>Step</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4:</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Generating</a:t>
            </a:r>
            <a:r>
              <a:rPr sz="3200" spc="-30" dirty="0">
                <a:solidFill>
                  <a:srgbClr val="002060"/>
                </a:solidFill>
                <a:effectLst/>
                <a:latin typeface="Times New Roman" panose="02020603050405020304" pitchFamily="18" charset="0"/>
                <a:cs typeface="Times New Roman" panose="02020603050405020304" pitchFamily="18" charset="0"/>
              </a:rPr>
              <a:t> </a:t>
            </a:r>
            <a:r>
              <a:rPr sz="3200" spc="-10" dirty="0">
                <a:solidFill>
                  <a:srgbClr val="002060"/>
                </a:solidFill>
                <a:effectLst/>
                <a:latin typeface="Times New Roman" panose="02020603050405020304" pitchFamily="18" charset="0"/>
                <a:cs typeface="Times New Roman" panose="02020603050405020304" pitchFamily="18" charset="0"/>
              </a:rPr>
              <a:t>4-</a:t>
            </a:r>
            <a:r>
              <a:rPr sz="3200" dirty="0">
                <a:solidFill>
                  <a:srgbClr val="002060"/>
                </a:solidFill>
                <a:effectLst/>
                <a:latin typeface="Times New Roman" panose="02020603050405020304" pitchFamily="18" charset="0"/>
                <a:cs typeface="Times New Roman" panose="02020603050405020304" pitchFamily="18" charset="0"/>
              </a:rPr>
              <a:t>itemset</a:t>
            </a:r>
            <a:r>
              <a:rPr sz="3200" spc="-25"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Frequent</a:t>
            </a:r>
            <a:r>
              <a:rPr sz="3200" spc="-30" dirty="0">
                <a:solidFill>
                  <a:srgbClr val="002060"/>
                </a:solidFill>
                <a:effectLst/>
                <a:latin typeface="Times New Roman" panose="02020603050405020304" pitchFamily="18" charset="0"/>
                <a:cs typeface="Times New Roman" panose="02020603050405020304" pitchFamily="18" charset="0"/>
              </a:rPr>
              <a:t> </a:t>
            </a:r>
            <a:r>
              <a:rPr sz="3200" spc="-10" dirty="0">
                <a:solidFill>
                  <a:srgbClr val="002060"/>
                </a:solidFill>
                <a:effectLst/>
                <a:latin typeface="Times New Roman" panose="02020603050405020304" pitchFamily="18" charset="0"/>
                <a:cs typeface="Times New Roman" panose="02020603050405020304" pitchFamily="18" charset="0"/>
              </a:rPr>
              <a:t>Pattern</a:t>
            </a:r>
            <a:endParaRPr sz="3200" dirty="0">
              <a:solidFill>
                <a:srgbClr val="002060"/>
              </a:solidFill>
              <a:effectLst/>
              <a:latin typeface="Times New Roman" panose="02020603050405020304" pitchFamily="18" charset="0"/>
              <a:cs typeface="Times New Roman" panose="02020603050405020304" pitchFamily="18" charset="0"/>
            </a:endParaRPr>
          </a:p>
        </p:txBody>
      </p:sp>
      <p:sp>
        <p:nvSpPr>
          <p:cNvPr id="3" name="object 3"/>
          <p:cNvSpPr txBox="1"/>
          <p:nvPr/>
        </p:nvSpPr>
        <p:spPr>
          <a:xfrm>
            <a:off x="474519" y="1589248"/>
            <a:ext cx="8194578" cy="3337604"/>
          </a:xfrm>
          <a:prstGeom prst="rect">
            <a:avLst/>
          </a:prstGeom>
        </p:spPr>
        <p:txBody>
          <a:bodyPr vert="horz" wrap="square" lIns="0" tIns="54125" rIns="0" bIns="0" rtlCol="0">
            <a:spAutoFit/>
          </a:bodyPr>
          <a:lstStyle/>
          <a:p>
            <a:pPr marL="406901" marR="68772" indent="-343860">
              <a:lnSpc>
                <a:spcPts val="2597"/>
              </a:lnSpc>
              <a:spcBef>
                <a:spcPts val="426"/>
              </a:spcBef>
              <a:buChar char="•"/>
              <a:tabLst>
                <a:tab pos="406901" algn="l"/>
              </a:tabLst>
            </a:pPr>
            <a:r>
              <a:rPr sz="2000" dirty="0">
                <a:latin typeface="Times New Roman" panose="02020603050405020304" pitchFamily="18" charset="0"/>
                <a:cs typeface="Times New Roman" panose="02020603050405020304" pitchFamily="18" charset="0"/>
              </a:rPr>
              <a:t>The</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algorithm</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uses</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a:t>
            </a:r>
            <a:r>
              <a:rPr sz="2000" baseline="-20833" dirty="0">
                <a:latin typeface="Times New Roman" panose="02020603050405020304" pitchFamily="18" charset="0"/>
                <a:cs typeface="Times New Roman" panose="02020603050405020304" pitchFamily="18" charset="0"/>
              </a:rPr>
              <a:t>3</a:t>
            </a:r>
            <a:r>
              <a:rPr sz="2000" spc="-52" baseline="-20833" dirty="0">
                <a:latin typeface="Times New Roman" panose="02020603050405020304" pitchFamily="18" charset="0"/>
                <a:cs typeface="Times New Roman" panose="02020603050405020304" pitchFamily="18" charset="0"/>
              </a:rPr>
              <a:t> </a:t>
            </a:r>
            <a:r>
              <a:rPr sz="2000" i="1" dirty="0">
                <a:latin typeface="Times New Roman" panose="02020603050405020304" pitchFamily="18" charset="0"/>
                <a:cs typeface="Times New Roman" panose="02020603050405020304" pitchFamily="18" charset="0"/>
              </a:rPr>
              <a:t>Join</a:t>
            </a:r>
            <a:r>
              <a:rPr sz="2000" i="1"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a:t>
            </a:r>
            <a:r>
              <a:rPr sz="2000" baseline="-20833" dirty="0">
                <a:latin typeface="Times New Roman" panose="02020603050405020304" pitchFamily="18" charset="0"/>
                <a:cs typeface="Times New Roman" panose="02020603050405020304" pitchFamily="18" charset="0"/>
              </a:rPr>
              <a:t>3</a:t>
            </a:r>
            <a:r>
              <a:rPr sz="2000" spc="255" baseline="-20833"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generate</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candidate</a:t>
            </a:r>
            <a:r>
              <a:rPr sz="2000" spc="602"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set</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4-itemsets,</a:t>
            </a:r>
            <a:r>
              <a:rPr sz="2000" spc="-50" dirty="0">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C</a:t>
            </a:r>
            <a:r>
              <a:rPr sz="2000" baseline="-20833" dirty="0">
                <a:solidFill>
                  <a:srgbClr val="009A9A"/>
                </a:solidFill>
                <a:latin typeface="Times New Roman" panose="02020603050405020304" pitchFamily="18" charset="0"/>
                <a:cs typeface="Times New Roman" panose="02020603050405020304" pitchFamily="18" charset="0"/>
              </a:rPr>
              <a:t>4</a:t>
            </a:r>
            <a:r>
              <a:rPr sz="2000" dirty="0">
                <a:latin typeface="Times New Roman" panose="02020603050405020304" pitchFamily="18" charset="0"/>
                <a:cs typeface="Times New Roman" panose="02020603050405020304" pitchFamily="18" charset="0"/>
              </a:rPr>
              <a:t>.</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Although</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join</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results</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a:t>
            </a:r>
            <a:r>
              <a:rPr sz="2000" spc="-4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I2, </a:t>
            </a:r>
            <a:r>
              <a:rPr sz="2000" dirty="0">
                <a:latin typeface="Times New Roman" panose="02020603050405020304" pitchFamily="18" charset="0"/>
                <a:cs typeface="Times New Roman" panose="02020603050405020304" pitchFamily="18" charset="0"/>
              </a:rPr>
              <a:t>I3,</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I5}},</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this</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itemset</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pruned</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since</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its</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subset</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I3,</a:t>
            </a:r>
            <a:r>
              <a:rPr sz="2000" spc="-5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I5}} </a:t>
            </a:r>
            <a:r>
              <a:rPr sz="2000" dirty="0">
                <a:latin typeface="Times New Roman" panose="02020603050405020304" pitchFamily="18" charset="0"/>
                <a:cs typeface="Times New Roman" panose="02020603050405020304" pitchFamily="18" charset="0"/>
              </a:rPr>
              <a:t>is</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not</a:t>
            </a:r>
            <a:r>
              <a:rPr sz="2000" spc="-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frequent.</a:t>
            </a:r>
            <a:endParaRPr lang="en-IN" sz="2000" spc="-10" dirty="0">
              <a:latin typeface="Times New Roman" panose="02020603050405020304" pitchFamily="18" charset="0"/>
              <a:cs typeface="Times New Roman" panose="02020603050405020304" pitchFamily="18" charset="0"/>
            </a:endParaRPr>
          </a:p>
          <a:p>
            <a:pPr marL="406901" marR="68772" indent="-343860">
              <a:lnSpc>
                <a:spcPts val="2597"/>
              </a:lnSpc>
              <a:spcBef>
                <a:spcPts val="426"/>
              </a:spcBef>
              <a:buChar char="•"/>
              <a:tabLst>
                <a:tab pos="406901" algn="l"/>
              </a:tabLst>
            </a:pPr>
            <a:endParaRPr sz="2000" dirty="0">
              <a:latin typeface="Times New Roman" panose="02020603050405020304" pitchFamily="18" charset="0"/>
              <a:cs typeface="Times New Roman" panose="02020603050405020304" pitchFamily="18" charset="0"/>
            </a:endParaRPr>
          </a:p>
          <a:p>
            <a:pPr marL="407538" marR="443834" indent="-344497">
              <a:lnSpc>
                <a:spcPct val="89900"/>
              </a:lnSpc>
              <a:spcBef>
                <a:spcPts val="727"/>
              </a:spcBef>
              <a:buChar char="•"/>
              <a:tabLst>
                <a:tab pos="407538" algn="l"/>
              </a:tabLst>
            </a:pPr>
            <a:r>
              <a:rPr sz="2000" dirty="0">
                <a:latin typeface="Times New Roman" panose="02020603050405020304" pitchFamily="18" charset="0"/>
                <a:cs typeface="Times New Roman" panose="02020603050405020304" pitchFamily="18" charset="0"/>
              </a:rPr>
              <a:t>Thus,</a:t>
            </a:r>
            <a:r>
              <a:rPr sz="2000" spc="-80" dirty="0">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C</a:t>
            </a:r>
            <a:r>
              <a:rPr sz="2000" baseline="-20833" dirty="0">
                <a:solidFill>
                  <a:srgbClr val="009A9A"/>
                </a:solidFill>
                <a:latin typeface="Times New Roman" panose="02020603050405020304" pitchFamily="18" charset="0"/>
                <a:cs typeface="Times New Roman" panose="02020603050405020304" pitchFamily="18" charset="0"/>
              </a:rPr>
              <a:t>4</a:t>
            </a:r>
            <a:r>
              <a:rPr sz="2000" spc="241" baseline="-20833"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a:t>
            </a:r>
            <a:r>
              <a:rPr sz="2000" spc="-6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φ</a:t>
            </a:r>
            <a:r>
              <a:rPr sz="2000" spc="-211" dirty="0">
                <a:solidFill>
                  <a:srgbClr val="009A9A"/>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algorithm</a:t>
            </a:r>
            <a:r>
              <a:rPr sz="2000" spc="-6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terminates,</a:t>
            </a:r>
            <a:r>
              <a:rPr sz="2000" spc="-45" dirty="0">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having</a:t>
            </a:r>
            <a:r>
              <a:rPr sz="2000" spc="-55" dirty="0">
                <a:solidFill>
                  <a:srgbClr val="009A9A"/>
                </a:solidFill>
                <a:latin typeface="Times New Roman" panose="02020603050405020304" pitchFamily="18" charset="0"/>
                <a:cs typeface="Times New Roman" panose="02020603050405020304" pitchFamily="18" charset="0"/>
              </a:rPr>
              <a:t> </a:t>
            </a:r>
            <a:r>
              <a:rPr sz="2000" spc="-10" dirty="0">
                <a:solidFill>
                  <a:srgbClr val="009A9A"/>
                </a:solidFill>
                <a:latin typeface="Times New Roman" panose="02020603050405020304" pitchFamily="18" charset="0"/>
                <a:cs typeface="Times New Roman" panose="02020603050405020304" pitchFamily="18" charset="0"/>
              </a:rPr>
              <a:t>found </a:t>
            </a:r>
            <a:r>
              <a:rPr sz="2000" dirty="0">
                <a:solidFill>
                  <a:srgbClr val="009A9A"/>
                </a:solidFill>
                <a:latin typeface="Times New Roman" panose="02020603050405020304" pitchFamily="18" charset="0"/>
                <a:cs typeface="Times New Roman" panose="02020603050405020304" pitchFamily="18" charset="0"/>
              </a:rPr>
              <a:t>all</a:t>
            </a:r>
            <a:r>
              <a:rPr sz="2000" spc="-4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of</a:t>
            </a:r>
            <a:r>
              <a:rPr sz="2000" spc="-4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the</a:t>
            </a:r>
            <a:r>
              <a:rPr sz="2000" spc="-4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frequent</a:t>
            </a:r>
            <a:r>
              <a:rPr sz="2000" spc="-4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items.</a:t>
            </a:r>
            <a:r>
              <a:rPr sz="2000" spc="-4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This</a:t>
            </a:r>
            <a:r>
              <a:rPr sz="2000" spc="-4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completes</a:t>
            </a:r>
            <a:r>
              <a:rPr sz="2000" spc="-4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our</a:t>
            </a:r>
            <a:r>
              <a:rPr sz="2000" spc="-45" dirty="0">
                <a:solidFill>
                  <a:srgbClr val="009A9A"/>
                </a:solidFill>
                <a:latin typeface="Times New Roman" panose="02020603050405020304" pitchFamily="18" charset="0"/>
                <a:cs typeface="Times New Roman" panose="02020603050405020304" pitchFamily="18" charset="0"/>
              </a:rPr>
              <a:t> </a:t>
            </a:r>
            <a:r>
              <a:rPr sz="2000" spc="-10" dirty="0">
                <a:solidFill>
                  <a:srgbClr val="009A9A"/>
                </a:solidFill>
                <a:latin typeface="Times New Roman" panose="02020603050405020304" pitchFamily="18" charset="0"/>
                <a:cs typeface="Times New Roman" panose="02020603050405020304" pitchFamily="18" charset="0"/>
              </a:rPr>
              <a:t>Apriori Algorithm.</a:t>
            </a:r>
            <a:endParaRPr sz="2000" dirty="0">
              <a:latin typeface="Times New Roman" panose="02020603050405020304" pitchFamily="18" charset="0"/>
              <a:cs typeface="Times New Roman" panose="02020603050405020304" pitchFamily="18" charset="0"/>
            </a:endParaRPr>
          </a:p>
          <a:p>
            <a:pPr marL="406901" indent="-343223">
              <a:spcBef>
                <a:spcPts val="286"/>
              </a:spcBef>
              <a:buChar char="•"/>
              <a:tabLst>
                <a:tab pos="406901" algn="l"/>
              </a:tabLst>
            </a:pPr>
            <a:r>
              <a:rPr sz="2000" dirty="0">
                <a:solidFill>
                  <a:srgbClr val="009A9A"/>
                </a:solidFill>
                <a:latin typeface="Times New Roman" panose="02020603050405020304" pitchFamily="18" charset="0"/>
                <a:cs typeface="Times New Roman" panose="02020603050405020304" pitchFamily="18" charset="0"/>
              </a:rPr>
              <a:t>What’s</a:t>
            </a:r>
            <a:r>
              <a:rPr sz="2000" spc="-7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Next</a:t>
            </a:r>
            <a:r>
              <a:rPr sz="2000" spc="-65" dirty="0">
                <a:solidFill>
                  <a:srgbClr val="009A9A"/>
                </a:solidFill>
                <a:latin typeface="Times New Roman" panose="02020603050405020304" pitchFamily="18" charset="0"/>
                <a:cs typeface="Times New Roman" panose="02020603050405020304" pitchFamily="18" charset="0"/>
              </a:rPr>
              <a:t> </a:t>
            </a:r>
            <a:r>
              <a:rPr sz="2000" spc="-50" dirty="0">
                <a:solidFill>
                  <a:srgbClr val="009A9A"/>
                </a:solidFill>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406901" marR="147732">
              <a:lnSpc>
                <a:spcPct val="89900"/>
              </a:lnSpc>
              <a:spcBef>
                <a:spcPts val="577"/>
              </a:spcBef>
            </a:pPr>
            <a:r>
              <a:rPr sz="2000" dirty="0">
                <a:latin typeface="Times New Roman" panose="02020603050405020304" pitchFamily="18" charset="0"/>
                <a:cs typeface="Times New Roman" panose="02020603050405020304" pitchFamily="18" charset="0"/>
              </a:rPr>
              <a:t>These</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frequent</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itemsets</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will</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used</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generate</a:t>
            </a:r>
            <a:r>
              <a:rPr sz="2000" spc="-55" dirty="0">
                <a:latin typeface="Times New Roman" panose="02020603050405020304" pitchFamily="18" charset="0"/>
                <a:cs typeface="Times New Roman" panose="02020603050405020304" pitchFamily="18" charset="0"/>
              </a:rPr>
              <a:t> </a:t>
            </a:r>
            <a:r>
              <a:rPr sz="2000" spc="-10" dirty="0">
                <a:solidFill>
                  <a:srgbClr val="009A9A"/>
                </a:solidFill>
                <a:latin typeface="Times New Roman" panose="02020603050405020304" pitchFamily="18" charset="0"/>
                <a:cs typeface="Times New Roman" panose="02020603050405020304" pitchFamily="18" charset="0"/>
              </a:rPr>
              <a:t>strong </a:t>
            </a:r>
            <a:r>
              <a:rPr sz="2000" dirty="0">
                <a:solidFill>
                  <a:srgbClr val="009A9A"/>
                </a:solidFill>
                <a:latin typeface="Times New Roman" panose="02020603050405020304" pitchFamily="18" charset="0"/>
                <a:cs typeface="Times New Roman" panose="02020603050405020304" pitchFamily="18" charset="0"/>
              </a:rPr>
              <a:t>association</a:t>
            </a:r>
            <a:r>
              <a:rPr sz="2000" spc="-8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rules</a:t>
            </a:r>
            <a:r>
              <a:rPr sz="2000" spc="-60" dirty="0">
                <a:solidFill>
                  <a:srgbClr val="009A9A"/>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where</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strong</a:t>
            </a:r>
            <a:r>
              <a:rPr sz="2000" spc="-7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association</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rules</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satisfy </a:t>
            </a:r>
            <a:r>
              <a:rPr sz="2000" dirty="0">
                <a:latin typeface="Times New Roman" panose="02020603050405020304" pitchFamily="18" charset="0"/>
                <a:cs typeface="Times New Roman" panose="02020603050405020304" pitchFamily="18" charset="0"/>
              </a:rPr>
              <a:t>both</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minimum</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support</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&amp;</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minimum</a:t>
            </a:r>
            <a:r>
              <a:rPr sz="2000" spc="-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confidence).</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4800" y="289538"/>
            <a:ext cx="8406197" cy="1124283"/>
          </a:xfrm>
          <a:prstGeom prst="rect">
            <a:avLst/>
          </a:prstGeom>
        </p:spPr>
        <p:txBody>
          <a:bodyPr vert="horz" wrap="square" lIns="0" tIns="138050" rIns="0" bIns="0" rtlCol="0" anchor="ctr">
            <a:spAutoFit/>
            <a:scene3d>
              <a:camera prst="orthographicFront"/>
              <a:lightRig rig="soft" dir="t"/>
            </a:scene3d>
            <a:sp3d prstMaterial="softEdge">
              <a:bevelT w="25400" h="25400"/>
            </a:sp3d>
          </a:bodyPr>
          <a:lstStyle/>
          <a:p>
            <a:pPr marL="3634092" marR="5094" indent="-3113844">
              <a:spcBef>
                <a:spcPts val="100"/>
              </a:spcBef>
            </a:pPr>
            <a:r>
              <a:rPr sz="3200" dirty="0">
                <a:solidFill>
                  <a:srgbClr val="002060"/>
                </a:solidFill>
                <a:latin typeface="Times New Roman" panose="02020603050405020304" pitchFamily="18" charset="0"/>
                <a:cs typeface="Times New Roman" panose="02020603050405020304" pitchFamily="18" charset="0"/>
              </a:rPr>
              <a:t>Step</a:t>
            </a:r>
            <a:r>
              <a:rPr sz="3200" spc="-35" dirty="0">
                <a:solidFill>
                  <a:srgbClr val="002060"/>
                </a:solidFill>
                <a:latin typeface="Times New Roman" panose="02020603050405020304" pitchFamily="18" charset="0"/>
                <a:cs typeface="Times New Roman" panose="02020603050405020304" pitchFamily="18" charset="0"/>
              </a:rPr>
              <a:t> </a:t>
            </a:r>
            <a:r>
              <a:rPr sz="3200" dirty="0">
                <a:solidFill>
                  <a:srgbClr val="002060"/>
                </a:solidFill>
                <a:latin typeface="Times New Roman" panose="02020603050405020304" pitchFamily="18" charset="0"/>
                <a:cs typeface="Times New Roman" panose="02020603050405020304" pitchFamily="18" charset="0"/>
              </a:rPr>
              <a:t>5:</a:t>
            </a:r>
            <a:r>
              <a:rPr sz="3200" spc="-35" dirty="0">
                <a:solidFill>
                  <a:srgbClr val="002060"/>
                </a:solidFill>
                <a:latin typeface="Times New Roman" panose="02020603050405020304" pitchFamily="18" charset="0"/>
                <a:cs typeface="Times New Roman" panose="02020603050405020304" pitchFamily="18" charset="0"/>
              </a:rPr>
              <a:t> </a:t>
            </a:r>
            <a:r>
              <a:rPr sz="3200" dirty="0">
                <a:solidFill>
                  <a:srgbClr val="002060"/>
                </a:solidFill>
                <a:latin typeface="Times New Roman" panose="02020603050405020304" pitchFamily="18" charset="0"/>
                <a:cs typeface="Times New Roman" panose="02020603050405020304" pitchFamily="18" charset="0"/>
              </a:rPr>
              <a:t>Generating</a:t>
            </a:r>
            <a:r>
              <a:rPr sz="3200" spc="-35" dirty="0">
                <a:solidFill>
                  <a:srgbClr val="002060"/>
                </a:solidFill>
                <a:latin typeface="Times New Roman" panose="02020603050405020304" pitchFamily="18" charset="0"/>
                <a:cs typeface="Times New Roman" panose="02020603050405020304" pitchFamily="18" charset="0"/>
              </a:rPr>
              <a:t> </a:t>
            </a:r>
            <a:r>
              <a:rPr sz="3200" dirty="0">
                <a:solidFill>
                  <a:srgbClr val="002060"/>
                </a:solidFill>
                <a:latin typeface="Times New Roman" panose="02020603050405020304" pitchFamily="18" charset="0"/>
                <a:cs typeface="Times New Roman" panose="02020603050405020304" pitchFamily="18" charset="0"/>
              </a:rPr>
              <a:t>Association</a:t>
            </a:r>
            <a:r>
              <a:rPr sz="3200" spc="-35" dirty="0">
                <a:solidFill>
                  <a:srgbClr val="002060"/>
                </a:solidFill>
                <a:latin typeface="Times New Roman" panose="02020603050405020304" pitchFamily="18" charset="0"/>
                <a:cs typeface="Times New Roman" panose="02020603050405020304" pitchFamily="18" charset="0"/>
              </a:rPr>
              <a:t> </a:t>
            </a:r>
            <a:r>
              <a:rPr sz="3200" dirty="0">
                <a:solidFill>
                  <a:srgbClr val="002060"/>
                </a:solidFill>
                <a:latin typeface="Times New Roman" panose="02020603050405020304" pitchFamily="18" charset="0"/>
                <a:cs typeface="Times New Roman" panose="02020603050405020304" pitchFamily="18" charset="0"/>
              </a:rPr>
              <a:t>Rules</a:t>
            </a:r>
            <a:r>
              <a:rPr sz="3200" spc="-35" dirty="0">
                <a:solidFill>
                  <a:srgbClr val="002060"/>
                </a:solidFill>
                <a:latin typeface="Times New Roman" panose="02020603050405020304" pitchFamily="18" charset="0"/>
                <a:cs typeface="Times New Roman" panose="02020603050405020304" pitchFamily="18" charset="0"/>
              </a:rPr>
              <a:t> </a:t>
            </a:r>
            <a:r>
              <a:rPr sz="3200" dirty="0">
                <a:solidFill>
                  <a:srgbClr val="002060"/>
                </a:solidFill>
                <a:latin typeface="Times New Roman" panose="02020603050405020304" pitchFamily="18" charset="0"/>
                <a:cs typeface="Times New Roman" panose="02020603050405020304" pitchFamily="18" charset="0"/>
              </a:rPr>
              <a:t>from</a:t>
            </a:r>
            <a:r>
              <a:rPr sz="3200" spc="-35" dirty="0">
                <a:solidFill>
                  <a:srgbClr val="002060"/>
                </a:solidFill>
                <a:latin typeface="Times New Roman" panose="02020603050405020304" pitchFamily="18" charset="0"/>
                <a:cs typeface="Times New Roman" panose="02020603050405020304" pitchFamily="18" charset="0"/>
              </a:rPr>
              <a:t> </a:t>
            </a:r>
            <a:r>
              <a:rPr sz="3200" spc="-10" dirty="0">
                <a:solidFill>
                  <a:srgbClr val="002060"/>
                </a:solidFill>
                <a:latin typeface="Times New Roman" panose="02020603050405020304" pitchFamily="18" charset="0"/>
                <a:cs typeface="Times New Roman" panose="02020603050405020304" pitchFamily="18" charset="0"/>
              </a:rPr>
              <a:t>Frequent Itemsets</a:t>
            </a:r>
            <a:endParaRPr sz="3200" dirty="0">
              <a:solidFill>
                <a:srgbClr val="00206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449049" y="1621231"/>
            <a:ext cx="8135357" cy="4141826"/>
          </a:xfrm>
          <a:prstGeom prst="rect">
            <a:avLst/>
          </a:prstGeom>
        </p:spPr>
        <p:txBody>
          <a:bodyPr vert="horz" wrap="square" lIns="0" tIns="86601" rIns="0" bIns="0" rtlCol="0">
            <a:spAutoFit/>
          </a:bodyPr>
          <a:lstStyle/>
          <a:p>
            <a:pPr marL="355959" indent="-343223">
              <a:spcBef>
                <a:spcPts val="682"/>
              </a:spcBef>
              <a:buChar char="•"/>
              <a:tabLst>
                <a:tab pos="355959" algn="l"/>
              </a:tabLst>
            </a:pPr>
            <a:r>
              <a:rPr sz="2000" spc="-10" dirty="0">
                <a:solidFill>
                  <a:srgbClr val="009A9A"/>
                </a:solidFill>
                <a:latin typeface="Times New Roman" panose="02020603050405020304" pitchFamily="18" charset="0"/>
                <a:cs typeface="Times New Roman" panose="02020603050405020304" pitchFamily="18" charset="0"/>
              </a:rPr>
              <a:t>Procedure:</a:t>
            </a:r>
            <a:endParaRPr sz="2000" dirty="0">
              <a:latin typeface="Times New Roman" panose="02020603050405020304" pitchFamily="18" charset="0"/>
              <a:cs typeface="Times New Roman" panose="02020603050405020304" pitchFamily="18" charset="0"/>
            </a:endParaRPr>
          </a:p>
          <a:p>
            <a:pPr marL="757766" marR="124808" lvl="1" indent="-287187">
              <a:spcBef>
                <a:spcPts val="510"/>
              </a:spcBef>
              <a:buChar char="•"/>
              <a:tabLst>
                <a:tab pos="757766" algn="l"/>
              </a:tabLst>
            </a:pPr>
            <a:r>
              <a:rPr sz="2000" dirty="0">
                <a:latin typeface="Times New Roman" panose="02020603050405020304" pitchFamily="18" charset="0"/>
                <a:cs typeface="Times New Roman" panose="02020603050405020304" pitchFamily="18" charset="0"/>
              </a:rPr>
              <a:t>For</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each</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frequent</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itemset</a:t>
            </a:r>
            <a:r>
              <a:rPr sz="2000" spc="-35" dirty="0">
                <a:latin typeface="Times New Roman" panose="02020603050405020304" pitchFamily="18" charset="0"/>
                <a:cs typeface="Times New Roman" panose="02020603050405020304" pitchFamily="18" charset="0"/>
              </a:rPr>
              <a:t> </a:t>
            </a:r>
            <a:r>
              <a:rPr sz="2000" b="1" i="1" dirty="0">
                <a:latin typeface="Times New Roman" panose="02020603050405020304" pitchFamily="18" charset="0"/>
                <a:cs typeface="Times New Roman" panose="02020603050405020304" pitchFamily="18" charset="0"/>
              </a:rPr>
              <a:t>“l”,</a:t>
            </a:r>
            <a:r>
              <a:rPr sz="2000" b="1" i="1"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generate</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all</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nonempty</a:t>
            </a:r>
            <a:r>
              <a:rPr sz="2000" spc="-3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subsets </a:t>
            </a:r>
            <a:r>
              <a:rPr sz="2000" dirty="0">
                <a:latin typeface="Times New Roman" panose="02020603050405020304" pitchFamily="18" charset="0"/>
                <a:cs typeface="Times New Roman" panose="02020603050405020304" pitchFamily="18" charset="0"/>
              </a:rPr>
              <a:t>of </a:t>
            </a:r>
            <a:r>
              <a:rPr sz="2000" b="1" i="1" spc="-25" dirty="0">
                <a:latin typeface="Times New Roman" panose="02020603050405020304" pitchFamily="18" charset="0"/>
                <a:cs typeface="Times New Roman" panose="02020603050405020304" pitchFamily="18" charset="0"/>
              </a:rPr>
              <a:t>l.</a:t>
            </a:r>
            <a:endParaRPr sz="2000" dirty="0">
              <a:latin typeface="Times New Roman" panose="02020603050405020304" pitchFamily="18" charset="0"/>
              <a:cs typeface="Times New Roman" panose="02020603050405020304" pitchFamily="18" charset="0"/>
            </a:endParaRPr>
          </a:p>
          <a:p>
            <a:pPr marL="757766" marR="5094" lvl="1" indent="-287187">
              <a:lnSpc>
                <a:spcPct val="110100"/>
              </a:lnSpc>
              <a:spcBef>
                <a:spcPts val="255"/>
              </a:spcBef>
              <a:buChar char="•"/>
              <a:tabLst>
                <a:tab pos="757766" algn="l"/>
              </a:tabLst>
            </a:pPr>
            <a:r>
              <a:rPr sz="2000" dirty="0">
                <a:latin typeface="Times New Roman" panose="02020603050405020304" pitchFamily="18" charset="0"/>
                <a:cs typeface="Times New Roman" panose="02020603050405020304" pitchFamily="18" charset="0"/>
              </a:rPr>
              <a:t>For</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every</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nonempty</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subset</a:t>
            </a:r>
            <a:r>
              <a:rPr sz="2000" spc="-15" dirty="0">
                <a:latin typeface="Times New Roman" panose="02020603050405020304" pitchFamily="18" charset="0"/>
                <a:cs typeface="Times New Roman" panose="02020603050405020304" pitchFamily="18" charset="0"/>
              </a:rPr>
              <a:t> </a:t>
            </a:r>
            <a:r>
              <a:rPr sz="2000" b="1" i="1" dirty="0">
                <a:latin typeface="Times New Roman" panose="02020603050405020304" pitchFamily="18" charset="0"/>
                <a:cs typeface="Times New Roman" panose="02020603050405020304" pitchFamily="18" charset="0"/>
              </a:rPr>
              <a:t>s</a:t>
            </a:r>
            <a:r>
              <a:rPr sz="2000" b="1" i="1"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5" dirty="0">
                <a:latin typeface="Times New Roman" panose="02020603050405020304" pitchFamily="18" charset="0"/>
                <a:cs typeface="Times New Roman" panose="02020603050405020304" pitchFamily="18" charset="0"/>
              </a:rPr>
              <a:t> </a:t>
            </a:r>
            <a:r>
              <a:rPr sz="2000" b="1" i="1" dirty="0">
                <a:latin typeface="Times New Roman" panose="02020603050405020304" pitchFamily="18" charset="0"/>
                <a:cs typeface="Times New Roman" panose="02020603050405020304" pitchFamily="18" charset="0"/>
              </a:rPr>
              <a:t>l</a:t>
            </a:r>
            <a:r>
              <a:rPr sz="2000" dirty="0">
                <a:latin typeface="Times New Roman" panose="02020603050405020304" pitchFamily="18" charset="0"/>
                <a:cs typeface="Times New Roman" panose="02020603050405020304" pitchFamily="18" charset="0"/>
              </a:rPr>
              <a:t>,</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output</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rule</a:t>
            </a:r>
            <a:r>
              <a:rPr sz="2000" spc="-2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“s</a:t>
            </a:r>
            <a:r>
              <a:rPr sz="2000" b="1" spc="-20" dirty="0">
                <a:latin typeface="Times New Roman" panose="02020603050405020304" pitchFamily="18" charset="0"/>
                <a:cs typeface="Times New Roman" panose="02020603050405020304" pitchFamily="18" charset="0"/>
              </a:rPr>
              <a:t> </a:t>
            </a:r>
            <a:r>
              <a:rPr lang="en-IN" sz="2000" b="1" spc="-20" dirty="0">
                <a:latin typeface="Times New Roman" panose="02020603050405020304" pitchFamily="18" charset="0"/>
                <a:cs typeface="Times New Roman" panose="02020603050405020304" pitchFamily="18" charset="0"/>
                <a:sym typeface="Wingdings" panose="05000000000000000000" pitchFamily="2" charset="2"/>
              </a:rPr>
              <a:t></a:t>
            </a:r>
            <a:r>
              <a:rPr sz="2000" spc="45"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(l-</a:t>
            </a:r>
            <a:r>
              <a:rPr sz="2000" b="1" dirty="0">
                <a:latin typeface="Times New Roman" panose="02020603050405020304" pitchFamily="18" charset="0"/>
                <a:cs typeface="Times New Roman" panose="02020603050405020304" pitchFamily="18" charset="0"/>
              </a:rPr>
              <a:t>s)”</a:t>
            </a:r>
            <a:r>
              <a:rPr sz="2000" b="1" spc="-1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if </a:t>
            </a:r>
            <a:r>
              <a:rPr sz="2000" b="1" spc="-10" dirty="0">
                <a:latin typeface="Times New Roman" panose="02020603050405020304" pitchFamily="18" charset="0"/>
                <a:cs typeface="Times New Roman" panose="02020603050405020304" pitchFamily="18" charset="0"/>
              </a:rPr>
              <a:t>support_count(l)</a:t>
            </a:r>
            <a:r>
              <a:rPr sz="2000" b="1" spc="-2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a:t>
            </a:r>
            <a:r>
              <a:rPr sz="2000" b="1" spc="-25"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support_count(s)</a:t>
            </a:r>
            <a:r>
              <a:rPr sz="2000" b="1" spc="-2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&gt;=</a:t>
            </a:r>
            <a:r>
              <a:rPr sz="2000" b="1" spc="-2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min_conf</a:t>
            </a:r>
            <a:r>
              <a:rPr sz="2000" b="1" spc="-2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where </a:t>
            </a:r>
            <a:r>
              <a:rPr sz="2000" dirty="0">
                <a:latin typeface="Times New Roman" panose="02020603050405020304" pitchFamily="18" charset="0"/>
                <a:cs typeface="Times New Roman" panose="02020603050405020304" pitchFamily="18" charset="0"/>
              </a:rPr>
              <a:t>min_conf</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minimum</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confidence</a:t>
            </a:r>
            <a:r>
              <a:rPr sz="2000" spc="-3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threshold.</a:t>
            </a:r>
            <a:endParaRPr sz="2000" dirty="0">
              <a:latin typeface="Times New Roman" panose="02020603050405020304" pitchFamily="18" charset="0"/>
              <a:cs typeface="Times New Roman" panose="02020603050405020304" pitchFamily="18" charset="0"/>
            </a:endParaRPr>
          </a:p>
          <a:p>
            <a:pPr lvl="1">
              <a:spcBef>
                <a:spcPts val="1178"/>
              </a:spcBef>
              <a:buFont typeface="Arial MT"/>
              <a:buChar char="•"/>
            </a:pPr>
            <a:endParaRPr sz="2000" dirty="0">
              <a:latin typeface="Times New Roman" panose="02020603050405020304" pitchFamily="18" charset="0"/>
              <a:cs typeface="Times New Roman" panose="02020603050405020304" pitchFamily="18" charset="0"/>
            </a:endParaRPr>
          </a:p>
          <a:p>
            <a:pPr marL="355959" indent="-343223">
              <a:buChar char="•"/>
              <a:tabLst>
                <a:tab pos="355959" algn="l"/>
              </a:tabLst>
            </a:pPr>
            <a:r>
              <a:rPr sz="2000" dirty="0">
                <a:solidFill>
                  <a:srgbClr val="009A9A"/>
                </a:solidFill>
                <a:latin typeface="Times New Roman" panose="02020603050405020304" pitchFamily="18" charset="0"/>
                <a:cs typeface="Times New Roman" panose="02020603050405020304" pitchFamily="18" charset="0"/>
              </a:rPr>
              <a:t>Back</a:t>
            </a:r>
            <a:r>
              <a:rPr sz="2000" spc="-3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To</a:t>
            </a:r>
            <a:r>
              <a:rPr sz="2000" spc="-35" dirty="0">
                <a:solidFill>
                  <a:srgbClr val="009A9A"/>
                </a:solidFill>
                <a:latin typeface="Times New Roman" panose="02020603050405020304" pitchFamily="18" charset="0"/>
                <a:cs typeface="Times New Roman" panose="02020603050405020304" pitchFamily="18" charset="0"/>
              </a:rPr>
              <a:t> </a:t>
            </a:r>
            <a:r>
              <a:rPr sz="2000" spc="-10" dirty="0">
                <a:solidFill>
                  <a:srgbClr val="009A9A"/>
                </a:solidFill>
                <a:latin typeface="Times New Roman" panose="02020603050405020304" pitchFamily="18" charset="0"/>
                <a:cs typeface="Times New Roman" panose="02020603050405020304" pitchFamily="18" charset="0"/>
              </a:rPr>
              <a:t>Example:</a:t>
            </a:r>
            <a:endParaRPr sz="2000" dirty="0">
              <a:latin typeface="Times New Roman" panose="02020603050405020304" pitchFamily="18" charset="0"/>
              <a:cs typeface="Times New Roman" panose="02020603050405020304" pitchFamily="18" charset="0"/>
            </a:endParaRPr>
          </a:p>
          <a:p>
            <a:pPr marL="356596">
              <a:spcBef>
                <a:spcPts val="496"/>
              </a:spcBef>
            </a:pPr>
            <a:r>
              <a:rPr sz="2000" dirty="0">
                <a:latin typeface="Times New Roman" panose="02020603050405020304" pitchFamily="18" charset="0"/>
                <a:cs typeface="Times New Roman" panose="02020603050405020304" pitchFamily="18" charset="0"/>
              </a:rPr>
              <a:t>We</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had</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{I3},</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{I4},</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{I5},</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{I1,I2},</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{I1,I3},</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{I1,I5},</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{I2,I3},</a:t>
            </a:r>
            <a:endParaRPr sz="2000" dirty="0">
              <a:latin typeface="Times New Roman" panose="02020603050405020304" pitchFamily="18" charset="0"/>
              <a:cs typeface="Times New Roman" panose="02020603050405020304" pitchFamily="18" charset="0"/>
            </a:endParaRPr>
          </a:p>
          <a:p>
            <a:pPr marL="356596"/>
            <a:r>
              <a:rPr sz="2000" dirty="0">
                <a:latin typeface="Times New Roman" panose="02020603050405020304" pitchFamily="18" charset="0"/>
                <a:cs typeface="Times New Roman" panose="02020603050405020304" pitchFamily="18" charset="0"/>
              </a:rPr>
              <a:t>{I2,I4},</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{I2,I5},</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{I1,I2,I3},</a:t>
            </a:r>
            <a:r>
              <a:rPr sz="2000" spc="-7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{I1,I2,I5}}.</a:t>
            </a:r>
            <a:endParaRPr sz="2000" dirty="0">
              <a:latin typeface="Times New Roman" panose="02020603050405020304" pitchFamily="18" charset="0"/>
              <a:cs typeface="Times New Roman" panose="02020603050405020304" pitchFamily="18" charset="0"/>
            </a:endParaRPr>
          </a:p>
          <a:p>
            <a:pPr marL="757129" indent="-285913">
              <a:spcBef>
                <a:spcPts val="435"/>
              </a:spcBef>
              <a:buChar char="–"/>
              <a:tabLst>
                <a:tab pos="757129" algn="l"/>
              </a:tabLst>
            </a:pPr>
            <a:r>
              <a:rPr sz="2000" dirty="0">
                <a:latin typeface="Times New Roman" panose="02020603050405020304" pitchFamily="18" charset="0"/>
                <a:cs typeface="Times New Roman" panose="02020603050405020304" pitchFamily="18" charset="0"/>
              </a:rPr>
              <a:t>Lets</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take</a:t>
            </a:r>
            <a:r>
              <a:rPr sz="2000" spc="-10" dirty="0">
                <a:latin typeface="Times New Roman" panose="02020603050405020304" pitchFamily="18" charset="0"/>
                <a:cs typeface="Times New Roman" panose="02020603050405020304" pitchFamily="18" charset="0"/>
              </a:rPr>
              <a:t> </a:t>
            </a:r>
            <a:r>
              <a:rPr sz="2000" b="1" i="1" dirty="0">
                <a:latin typeface="Times New Roman" panose="02020603050405020304" pitchFamily="18" charset="0"/>
                <a:cs typeface="Times New Roman" panose="02020603050405020304" pitchFamily="18" charset="0"/>
              </a:rPr>
              <a:t>l</a:t>
            </a:r>
            <a:r>
              <a:rPr sz="2000" b="1" i="1"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{I1,I2,I5}.</a:t>
            </a:r>
            <a:endParaRPr sz="2000" dirty="0">
              <a:latin typeface="Times New Roman" panose="02020603050405020304" pitchFamily="18" charset="0"/>
              <a:cs typeface="Times New Roman" panose="02020603050405020304" pitchFamily="18" charset="0"/>
            </a:endParaRPr>
          </a:p>
          <a:p>
            <a:pPr marL="756492" indent="-285913">
              <a:spcBef>
                <a:spcPts val="446"/>
              </a:spcBef>
              <a:buChar char="–"/>
              <a:tabLst>
                <a:tab pos="756492" algn="l"/>
              </a:tabLst>
            </a:pPr>
            <a:r>
              <a:rPr sz="2000" dirty="0">
                <a:latin typeface="Times New Roman" panose="02020603050405020304" pitchFamily="18" charset="0"/>
                <a:cs typeface="Times New Roman" panose="02020603050405020304" pitchFamily="18" charset="0"/>
              </a:rPr>
              <a:t>Its</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all</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nonempty</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subsets</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{I1,I2},</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{I1,I5},</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{I2,I5},</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2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{I5}.</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8473" y="321494"/>
            <a:ext cx="8252524" cy="1060371"/>
          </a:xfrm>
          <a:prstGeom prst="rect">
            <a:avLst/>
          </a:prstGeom>
        </p:spPr>
        <p:txBody>
          <a:bodyPr vert="horz" wrap="square" lIns="0" tIns="74756" rIns="0" bIns="0" rtlCol="0" anchor="ctr">
            <a:spAutoFit/>
            <a:scene3d>
              <a:camera prst="orthographicFront"/>
              <a:lightRig rig="soft" dir="t"/>
            </a:scene3d>
            <a:sp3d prstMaterial="softEdge">
              <a:bevelT w="25400" h="25400"/>
            </a:sp3d>
          </a:bodyPr>
          <a:lstStyle/>
          <a:p>
            <a:pPr marL="2750244" marR="5094" indent="-2033232">
              <a:spcBef>
                <a:spcPts val="95"/>
              </a:spcBef>
            </a:pPr>
            <a:r>
              <a:rPr sz="3200" dirty="0">
                <a:latin typeface="Times New Roman" panose="02020603050405020304" pitchFamily="18" charset="0"/>
                <a:cs typeface="Times New Roman" panose="02020603050405020304" pitchFamily="18" charset="0"/>
              </a:rPr>
              <a:t>Step</a:t>
            </a:r>
            <a:r>
              <a:rPr sz="3200" spc="-6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5:</a:t>
            </a:r>
            <a:r>
              <a:rPr sz="3200" spc="-6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Generating</a:t>
            </a:r>
            <a:r>
              <a:rPr sz="3200" spc="-6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Association</a:t>
            </a:r>
            <a:r>
              <a:rPr sz="3200" spc="-6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Rules</a:t>
            </a:r>
            <a:r>
              <a:rPr sz="3200" spc="-65" dirty="0">
                <a:latin typeface="Times New Roman" panose="02020603050405020304" pitchFamily="18" charset="0"/>
                <a:cs typeface="Times New Roman" panose="02020603050405020304" pitchFamily="18" charset="0"/>
              </a:rPr>
              <a:t> </a:t>
            </a:r>
            <a:r>
              <a:rPr sz="3200" spc="-20" dirty="0">
                <a:latin typeface="Times New Roman" panose="02020603050405020304" pitchFamily="18" charset="0"/>
                <a:cs typeface="Times New Roman" panose="02020603050405020304" pitchFamily="18" charset="0"/>
              </a:rPr>
              <a:t>from </a:t>
            </a:r>
            <a:r>
              <a:rPr sz="3200" dirty="0">
                <a:latin typeface="Times New Roman" panose="02020603050405020304" pitchFamily="18" charset="0"/>
                <a:cs typeface="Times New Roman" panose="02020603050405020304" pitchFamily="18" charset="0"/>
              </a:rPr>
              <a:t>Frequent</a:t>
            </a:r>
            <a:r>
              <a:rPr sz="3200" spc="-165" dirty="0">
                <a:latin typeface="Times New Roman" panose="02020603050405020304" pitchFamily="18" charset="0"/>
                <a:cs typeface="Times New Roman" panose="02020603050405020304" pitchFamily="18" charset="0"/>
              </a:rPr>
              <a:t> </a:t>
            </a:r>
            <a:r>
              <a:rPr sz="3200" spc="-10" dirty="0">
                <a:latin typeface="Times New Roman" panose="02020603050405020304" pitchFamily="18" charset="0"/>
                <a:cs typeface="Times New Roman" panose="02020603050405020304" pitchFamily="18" charset="0"/>
              </a:rPr>
              <a:t>Itemsets</a:t>
            </a:r>
            <a:endParaRPr sz="32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525461" y="1548749"/>
            <a:ext cx="8075502" cy="4096028"/>
          </a:xfrm>
          <a:prstGeom prst="rect">
            <a:avLst/>
          </a:prstGeom>
        </p:spPr>
        <p:txBody>
          <a:bodyPr vert="horz" wrap="square" lIns="0" tIns="12735" rIns="0" bIns="0" rtlCol="0">
            <a:spAutoFit/>
          </a:bodyPr>
          <a:lstStyle/>
          <a:p>
            <a:pPr marL="355322" indent="-342587">
              <a:spcBef>
                <a:spcPts val="100"/>
              </a:spcBef>
              <a:buChar char="•"/>
              <a:tabLst>
                <a:tab pos="355322" algn="l"/>
              </a:tabLst>
            </a:pPr>
            <a:r>
              <a:rPr sz="2000" dirty="0">
                <a:latin typeface="Times New Roman" panose="02020603050405020304" pitchFamily="18" charset="0"/>
                <a:cs typeface="Times New Roman" panose="02020603050405020304" pitchFamily="18" charset="0"/>
              </a:rPr>
              <a:t>Let</a:t>
            </a:r>
            <a:r>
              <a:rPr sz="2000" spc="-75" dirty="0">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minimum</a:t>
            </a:r>
            <a:r>
              <a:rPr sz="2000" spc="-7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confidence</a:t>
            </a:r>
            <a:r>
              <a:rPr sz="2000" spc="-70"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threshold</a:t>
            </a:r>
            <a:r>
              <a:rPr sz="2000" spc="-45" dirty="0">
                <a:solidFill>
                  <a:srgbClr val="009A9A"/>
                </a:solidFill>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7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7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say</a:t>
            </a:r>
            <a:r>
              <a:rPr sz="2000" spc="-7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70%.</a:t>
            </a:r>
            <a:endParaRPr sz="2000" dirty="0">
              <a:latin typeface="Times New Roman" panose="02020603050405020304" pitchFamily="18" charset="0"/>
              <a:cs typeface="Times New Roman" panose="02020603050405020304" pitchFamily="18" charset="0"/>
            </a:endParaRPr>
          </a:p>
          <a:p>
            <a:pPr marL="354685" marR="5094" indent="-342587">
              <a:lnSpc>
                <a:spcPct val="80000"/>
              </a:lnSpc>
              <a:spcBef>
                <a:spcPts val="682"/>
              </a:spcBef>
              <a:buChar char="•"/>
              <a:tabLst>
                <a:tab pos="356596" algn="l"/>
              </a:tabLst>
            </a:pPr>
            <a:r>
              <a:rPr sz="2000" dirty="0">
                <a:latin typeface="Times New Roman" panose="02020603050405020304" pitchFamily="18" charset="0"/>
                <a:cs typeface="Times New Roman" panose="02020603050405020304" pitchFamily="18" charset="0"/>
              </a:rPr>
              <a:t>The</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resulting</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association</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rules</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are</a:t>
            </a:r>
            <a:r>
              <a:rPr sz="2000" spc="-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shown</a:t>
            </a:r>
            <a:r>
              <a:rPr sz="2000" spc="-8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below, 	</a:t>
            </a:r>
            <a:r>
              <a:rPr sz="2000" dirty="0">
                <a:latin typeface="Times New Roman" panose="02020603050405020304" pitchFamily="18" charset="0"/>
                <a:cs typeface="Times New Roman" panose="02020603050405020304" pitchFamily="18" charset="0"/>
              </a:rPr>
              <a:t>each</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listed</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its</a:t>
            </a:r>
            <a:r>
              <a:rPr sz="2000" spc="-4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confidence.</a:t>
            </a:r>
            <a:endParaRPr sz="2000" dirty="0">
              <a:latin typeface="Times New Roman" panose="02020603050405020304" pitchFamily="18" charset="0"/>
              <a:cs typeface="Times New Roman" panose="02020603050405020304" pitchFamily="18" charset="0"/>
            </a:endParaRPr>
          </a:p>
          <a:p>
            <a:pPr marL="471216">
              <a:lnSpc>
                <a:spcPts val="3124"/>
              </a:lnSpc>
            </a:pPr>
            <a:r>
              <a:rPr sz="2000" dirty="0">
                <a:latin typeface="Times New Roman" panose="02020603050405020304" pitchFamily="18" charset="0"/>
                <a:cs typeface="Times New Roman" panose="02020603050405020304" pitchFamily="18" charset="0"/>
              </a:rPr>
              <a:t>–</a:t>
            </a:r>
            <a:r>
              <a:rPr sz="2000" spc="1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R1:</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10" dirty="0">
                <a:latin typeface="Times New Roman" panose="02020603050405020304" pitchFamily="18" charset="0"/>
                <a:cs typeface="Times New Roman" panose="02020603050405020304" pitchFamily="18" charset="0"/>
              </a:rPr>
              <a:t> </a:t>
            </a:r>
            <a:r>
              <a:rPr lang="en-IN" sz="2000" spc="-10" dirty="0">
                <a:latin typeface="Times New Roman" panose="02020603050405020304" pitchFamily="18" charset="0"/>
                <a:cs typeface="Times New Roman" panose="02020603050405020304" pitchFamily="18" charset="0"/>
                <a:sym typeface="Wingdings" panose="05000000000000000000" pitchFamily="2" charset="2"/>
              </a:rPr>
              <a:t></a:t>
            </a:r>
            <a:r>
              <a:rPr sz="2000" spc="6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I5</a:t>
            </a:r>
            <a:endParaRPr sz="2000" dirty="0">
              <a:latin typeface="Times New Roman" panose="02020603050405020304" pitchFamily="18" charset="0"/>
              <a:cs typeface="Times New Roman" panose="02020603050405020304" pitchFamily="18" charset="0"/>
            </a:endParaRPr>
          </a:p>
          <a:p>
            <a:pPr marL="1130281" lvl="1" indent="-257895">
              <a:lnSpc>
                <a:spcPts val="2763"/>
              </a:lnSpc>
              <a:buChar char="•"/>
              <a:tabLst>
                <a:tab pos="1130281" algn="l"/>
              </a:tabLst>
            </a:pPr>
            <a:r>
              <a:rPr sz="2000" dirty="0">
                <a:latin typeface="Times New Roman" panose="02020603050405020304" pitchFamily="18" charset="0"/>
                <a:cs typeface="Times New Roman" panose="02020603050405020304" pitchFamily="18" charset="0"/>
              </a:rPr>
              <a:t>Confidence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sc{I1,I2,I5}/sc{I1,I2}</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2/4</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4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50%</a:t>
            </a:r>
            <a:endParaRPr sz="2000" dirty="0">
              <a:latin typeface="Times New Roman" panose="02020603050405020304" pitchFamily="18" charset="0"/>
              <a:cs typeface="Times New Roman" panose="02020603050405020304" pitchFamily="18" charset="0"/>
            </a:endParaRPr>
          </a:p>
          <a:p>
            <a:pPr marL="1130281" lvl="1" indent="-257895">
              <a:buChar char="•"/>
              <a:tabLst>
                <a:tab pos="1130281" algn="l"/>
              </a:tabLst>
            </a:pPr>
            <a:r>
              <a:rPr sz="2000" dirty="0">
                <a:latin typeface="Times New Roman" panose="02020603050405020304" pitchFamily="18" charset="0"/>
                <a:cs typeface="Times New Roman" panose="02020603050405020304" pitchFamily="18" charset="0"/>
              </a:rPr>
              <a:t>R1</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2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Rejected.</a:t>
            </a:r>
            <a:endParaRPr sz="2000" dirty="0">
              <a:latin typeface="Times New Roman" panose="02020603050405020304" pitchFamily="18" charset="0"/>
              <a:cs typeface="Times New Roman" panose="02020603050405020304" pitchFamily="18" charset="0"/>
            </a:endParaRPr>
          </a:p>
          <a:p>
            <a:pPr marL="471216">
              <a:lnSpc>
                <a:spcPts val="3124"/>
              </a:lnSpc>
              <a:spcBef>
                <a:spcPts val="20"/>
              </a:spcBef>
            </a:pPr>
            <a:r>
              <a:rPr sz="2000" dirty="0">
                <a:latin typeface="Times New Roman" panose="02020603050405020304" pitchFamily="18" charset="0"/>
                <a:cs typeface="Times New Roman" panose="02020603050405020304" pitchFamily="18" charset="0"/>
              </a:rPr>
              <a:t>–</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R2:</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I1</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I5</a:t>
            </a:r>
            <a:r>
              <a:rPr sz="2000" spc="-10" dirty="0">
                <a:latin typeface="Times New Roman" panose="02020603050405020304" pitchFamily="18" charset="0"/>
                <a:cs typeface="Times New Roman" panose="02020603050405020304" pitchFamily="18" charset="0"/>
              </a:rPr>
              <a:t> </a:t>
            </a:r>
            <a:r>
              <a:rPr lang="en-IN" sz="2000" spc="-10" dirty="0">
                <a:latin typeface="Times New Roman" panose="02020603050405020304" pitchFamily="18" charset="0"/>
                <a:cs typeface="Times New Roman" panose="02020603050405020304" pitchFamily="18" charset="0"/>
                <a:sym typeface="Wingdings" panose="05000000000000000000" pitchFamily="2" charset="2"/>
              </a:rPr>
              <a:t></a:t>
            </a:r>
            <a:r>
              <a:rPr sz="2000" spc="5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I2</a:t>
            </a:r>
            <a:endParaRPr sz="2000" dirty="0">
              <a:latin typeface="Times New Roman" panose="02020603050405020304" pitchFamily="18" charset="0"/>
              <a:cs typeface="Times New Roman" panose="02020603050405020304" pitchFamily="18" charset="0"/>
            </a:endParaRPr>
          </a:p>
          <a:p>
            <a:pPr marL="1130281" lvl="1" indent="-257895">
              <a:lnSpc>
                <a:spcPts val="2763"/>
              </a:lnSpc>
              <a:buChar char="•"/>
              <a:tabLst>
                <a:tab pos="1130281" algn="l"/>
              </a:tabLst>
            </a:pPr>
            <a:r>
              <a:rPr sz="2000" dirty="0">
                <a:latin typeface="Times New Roman" panose="02020603050405020304" pitchFamily="18" charset="0"/>
                <a:cs typeface="Times New Roman" panose="02020603050405020304" pitchFamily="18" charset="0"/>
              </a:rPr>
              <a:t>Confidence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sc{I1,I2,I5}/sc{I1,I5}</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2/2</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4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100%</a:t>
            </a:r>
            <a:endParaRPr sz="2000" dirty="0">
              <a:latin typeface="Times New Roman" panose="02020603050405020304" pitchFamily="18" charset="0"/>
              <a:cs typeface="Times New Roman" panose="02020603050405020304" pitchFamily="18" charset="0"/>
            </a:endParaRPr>
          </a:p>
          <a:p>
            <a:pPr marL="1130281" lvl="1" indent="-257895">
              <a:buClr>
                <a:srgbClr val="000000"/>
              </a:buClr>
              <a:buChar char="•"/>
              <a:tabLst>
                <a:tab pos="1130281" algn="l"/>
              </a:tabLst>
            </a:pPr>
            <a:r>
              <a:rPr sz="2000" dirty="0">
                <a:solidFill>
                  <a:srgbClr val="009A9A"/>
                </a:solidFill>
                <a:latin typeface="Times New Roman" panose="02020603050405020304" pitchFamily="18" charset="0"/>
                <a:cs typeface="Times New Roman" panose="02020603050405020304" pitchFamily="18" charset="0"/>
              </a:rPr>
              <a:t>R2</a:t>
            </a:r>
            <a:r>
              <a:rPr sz="2000" spc="-1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is</a:t>
            </a:r>
            <a:r>
              <a:rPr sz="2000" spc="-10" dirty="0">
                <a:solidFill>
                  <a:srgbClr val="009A9A"/>
                </a:solidFill>
                <a:latin typeface="Times New Roman" panose="02020603050405020304" pitchFamily="18" charset="0"/>
                <a:cs typeface="Times New Roman" panose="02020603050405020304" pitchFamily="18" charset="0"/>
              </a:rPr>
              <a:t> Selected.</a:t>
            </a:r>
            <a:endParaRPr sz="2000" dirty="0">
              <a:latin typeface="Times New Roman" panose="02020603050405020304" pitchFamily="18" charset="0"/>
              <a:cs typeface="Times New Roman" panose="02020603050405020304" pitchFamily="18" charset="0"/>
            </a:endParaRPr>
          </a:p>
          <a:p>
            <a:pPr marL="471216">
              <a:lnSpc>
                <a:spcPts val="3124"/>
              </a:lnSpc>
              <a:spcBef>
                <a:spcPts val="15"/>
              </a:spcBef>
            </a:pPr>
            <a:r>
              <a:rPr sz="2000" dirty="0">
                <a:latin typeface="Times New Roman" panose="02020603050405020304" pitchFamily="18" charset="0"/>
                <a:cs typeface="Times New Roman" panose="02020603050405020304" pitchFamily="18" charset="0"/>
              </a:rPr>
              <a:t>–</a:t>
            </a:r>
            <a:r>
              <a:rPr sz="2000" spc="1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R3:</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I2</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I5</a:t>
            </a:r>
            <a:r>
              <a:rPr sz="2000" spc="-10" dirty="0">
                <a:latin typeface="Times New Roman" panose="02020603050405020304" pitchFamily="18" charset="0"/>
                <a:cs typeface="Times New Roman" panose="02020603050405020304" pitchFamily="18" charset="0"/>
              </a:rPr>
              <a:t> </a:t>
            </a:r>
            <a:r>
              <a:rPr lang="en-IN" sz="2000" spc="-10" dirty="0">
                <a:latin typeface="Times New Roman" panose="02020603050405020304" pitchFamily="18" charset="0"/>
                <a:cs typeface="Times New Roman" panose="02020603050405020304" pitchFamily="18" charset="0"/>
                <a:sym typeface="Wingdings" panose="05000000000000000000" pitchFamily="2" charset="2"/>
              </a:rPr>
              <a:t></a:t>
            </a:r>
            <a:r>
              <a:rPr sz="2000" spc="6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I1</a:t>
            </a:r>
            <a:endParaRPr sz="2000" dirty="0">
              <a:latin typeface="Times New Roman" panose="02020603050405020304" pitchFamily="18" charset="0"/>
              <a:cs typeface="Times New Roman" panose="02020603050405020304" pitchFamily="18" charset="0"/>
            </a:endParaRPr>
          </a:p>
          <a:p>
            <a:pPr marL="1130281" lvl="1" indent="-257895">
              <a:lnSpc>
                <a:spcPts val="2763"/>
              </a:lnSpc>
              <a:buChar char="•"/>
              <a:tabLst>
                <a:tab pos="1130281" algn="l"/>
              </a:tabLst>
            </a:pPr>
            <a:r>
              <a:rPr sz="2000" dirty="0">
                <a:latin typeface="Times New Roman" panose="02020603050405020304" pitchFamily="18" charset="0"/>
                <a:cs typeface="Times New Roman" panose="02020603050405020304" pitchFamily="18" charset="0"/>
              </a:rPr>
              <a:t>Confidence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sc{I1,I2,I5}/sc{I2,I5}</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2/2</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40"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100%</a:t>
            </a:r>
            <a:endParaRPr sz="2000" dirty="0">
              <a:latin typeface="Times New Roman" panose="02020603050405020304" pitchFamily="18" charset="0"/>
              <a:cs typeface="Times New Roman" panose="02020603050405020304" pitchFamily="18" charset="0"/>
            </a:endParaRPr>
          </a:p>
          <a:p>
            <a:pPr marL="1130281" lvl="1" indent="-257895">
              <a:spcBef>
                <a:spcPts val="10"/>
              </a:spcBef>
              <a:buClr>
                <a:srgbClr val="000000"/>
              </a:buClr>
              <a:buChar char="•"/>
              <a:tabLst>
                <a:tab pos="1130281" algn="l"/>
              </a:tabLst>
            </a:pPr>
            <a:r>
              <a:rPr sz="2000" dirty="0">
                <a:solidFill>
                  <a:srgbClr val="009A9A"/>
                </a:solidFill>
                <a:latin typeface="Times New Roman" panose="02020603050405020304" pitchFamily="18" charset="0"/>
                <a:cs typeface="Times New Roman" panose="02020603050405020304" pitchFamily="18" charset="0"/>
              </a:rPr>
              <a:t>R3</a:t>
            </a:r>
            <a:r>
              <a:rPr sz="2000" spc="-15" dirty="0">
                <a:solidFill>
                  <a:srgbClr val="009A9A"/>
                </a:solidFill>
                <a:latin typeface="Times New Roman" panose="02020603050405020304" pitchFamily="18" charset="0"/>
                <a:cs typeface="Times New Roman" panose="02020603050405020304" pitchFamily="18" charset="0"/>
              </a:rPr>
              <a:t> </a:t>
            </a:r>
            <a:r>
              <a:rPr sz="2000" dirty="0">
                <a:solidFill>
                  <a:srgbClr val="009A9A"/>
                </a:solidFill>
                <a:latin typeface="Times New Roman" panose="02020603050405020304" pitchFamily="18" charset="0"/>
                <a:cs typeface="Times New Roman" panose="02020603050405020304" pitchFamily="18" charset="0"/>
              </a:rPr>
              <a:t>is</a:t>
            </a:r>
            <a:r>
              <a:rPr sz="2000" spc="-10" dirty="0">
                <a:solidFill>
                  <a:srgbClr val="009A9A"/>
                </a:solidFill>
                <a:latin typeface="Times New Roman" panose="02020603050405020304" pitchFamily="18" charset="0"/>
                <a:cs typeface="Times New Roman" panose="02020603050405020304" pitchFamily="18" charset="0"/>
              </a:rPr>
              <a:t> Selected.</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8473" y="334588"/>
            <a:ext cx="8252524" cy="1034181"/>
          </a:xfrm>
          <a:prstGeom prst="rect">
            <a:avLst/>
          </a:prstGeom>
        </p:spPr>
        <p:txBody>
          <a:bodyPr vert="horz" wrap="square" lIns="0" tIns="12735" rIns="0" bIns="0" rtlCol="0" anchor="ctr">
            <a:spAutoFit/>
            <a:scene3d>
              <a:camera prst="orthographicFront"/>
              <a:lightRig rig="soft" dir="t"/>
            </a:scene3d>
            <a:sp3d prstMaterial="softEdge">
              <a:bevelT w="25400" h="25400"/>
            </a:sp3d>
          </a:bodyPr>
          <a:lstStyle/>
          <a:p>
            <a:pPr marL="2543928" marR="5094" indent="-2314051">
              <a:spcBef>
                <a:spcPts val="100"/>
              </a:spcBef>
            </a:pPr>
            <a:r>
              <a:rPr sz="3309" dirty="0">
                <a:latin typeface="Arial"/>
                <a:cs typeface="Arial"/>
              </a:rPr>
              <a:t>Step</a:t>
            </a:r>
            <a:r>
              <a:rPr sz="3309" spc="-90" dirty="0">
                <a:latin typeface="Arial"/>
                <a:cs typeface="Arial"/>
              </a:rPr>
              <a:t> </a:t>
            </a:r>
            <a:r>
              <a:rPr sz="3309" dirty="0">
                <a:latin typeface="Arial"/>
                <a:cs typeface="Arial"/>
              </a:rPr>
              <a:t>5:</a:t>
            </a:r>
            <a:r>
              <a:rPr sz="3309" spc="-105" dirty="0">
                <a:latin typeface="Arial"/>
                <a:cs typeface="Arial"/>
              </a:rPr>
              <a:t> </a:t>
            </a:r>
            <a:r>
              <a:rPr sz="3309" dirty="0"/>
              <a:t>Generating</a:t>
            </a:r>
            <a:r>
              <a:rPr sz="3309" spc="-95" dirty="0"/>
              <a:t> </a:t>
            </a:r>
            <a:r>
              <a:rPr sz="3309" dirty="0"/>
              <a:t>Association</a:t>
            </a:r>
            <a:r>
              <a:rPr sz="3309" spc="-95" dirty="0"/>
              <a:t> </a:t>
            </a:r>
            <a:r>
              <a:rPr sz="3309" dirty="0"/>
              <a:t>Rules</a:t>
            </a:r>
            <a:r>
              <a:rPr sz="3309" spc="-90" dirty="0"/>
              <a:t> </a:t>
            </a:r>
            <a:r>
              <a:rPr sz="3309" spc="-20" dirty="0"/>
              <a:t>from </a:t>
            </a:r>
            <a:r>
              <a:rPr sz="3309" dirty="0"/>
              <a:t>Frequent</a:t>
            </a:r>
            <a:r>
              <a:rPr sz="3309" spc="-135" dirty="0"/>
              <a:t> </a:t>
            </a:r>
            <a:r>
              <a:rPr sz="3309" spc="-10" dirty="0"/>
              <a:t>Itemsets</a:t>
            </a:r>
            <a:endParaRPr sz="3309">
              <a:latin typeface="Arial"/>
              <a:cs typeface="Arial"/>
            </a:endParaRPr>
          </a:p>
        </p:txBody>
      </p:sp>
      <p:sp>
        <p:nvSpPr>
          <p:cNvPr id="3" name="object 3"/>
          <p:cNvSpPr txBox="1"/>
          <p:nvPr/>
        </p:nvSpPr>
        <p:spPr>
          <a:xfrm>
            <a:off x="458473" y="1524830"/>
            <a:ext cx="8252524" cy="4310461"/>
          </a:xfrm>
          <a:prstGeom prst="rect">
            <a:avLst/>
          </a:prstGeom>
        </p:spPr>
        <p:txBody>
          <a:bodyPr vert="horz" wrap="square" lIns="0" tIns="63677" rIns="0" bIns="0" rtlCol="0">
            <a:spAutoFit/>
          </a:bodyPr>
          <a:lstStyle/>
          <a:p>
            <a:pPr marL="12736">
              <a:spcBef>
                <a:spcPts val="501"/>
              </a:spcBef>
              <a:tabLst>
                <a:tab pos="378246" algn="l"/>
              </a:tabLst>
            </a:pPr>
            <a:r>
              <a:rPr sz="2507" dirty="0">
                <a:latin typeface="Times New Roman" panose="02020603050405020304" pitchFamily="18" charset="0"/>
                <a:cs typeface="Times New Roman" panose="02020603050405020304" pitchFamily="18" charset="0"/>
              </a:rPr>
              <a:t>–	R4:</a:t>
            </a:r>
            <a:r>
              <a:rPr sz="2507" spc="-10" dirty="0">
                <a:latin typeface="Times New Roman" panose="02020603050405020304" pitchFamily="18" charset="0"/>
                <a:cs typeface="Times New Roman" panose="02020603050405020304" pitchFamily="18" charset="0"/>
              </a:rPr>
              <a:t> </a:t>
            </a:r>
            <a:r>
              <a:rPr sz="2507" dirty="0">
                <a:latin typeface="Times New Roman" panose="02020603050405020304" pitchFamily="18" charset="0"/>
                <a:cs typeface="Times New Roman" panose="02020603050405020304" pitchFamily="18" charset="0"/>
              </a:rPr>
              <a:t>I1</a:t>
            </a:r>
            <a:r>
              <a:rPr sz="2507" spc="-15" dirty="0">
                <a:latin typeface="Times New Roman" panose="02020603050405020304" pitchFamily="18" charset="0"/>
                <a:cs typeface="Times New Roman" panose="02020603050405020304" pitchFamily="18" charset="0"/>
              </a:rPr>
              <a:t> </a:t>
            </a:r>
            <a:r>
              <a:rPr lang="en-IN" sz="2800" spc="-10" dirty="0">
                <a:latin typeface="Times New Roman" panose="02020603050405020304" pitchFamily="18" charset="0"/>
                <a:cs typeface="Times New Roman" panose="02020603050405020304" pitchFamily="18" charset="0"/>
                <a:sym typeface="Wingdings" panose="05000000000000000000" pitchFamily="2" charset="2"/>
              </a:rPr>
              <a:t></a:t>
            </a:r>
            <a:r>
              <a:rPr sz="2507" spc="60" dirty="0">
                <a:latin typeface="Times New Roman" panose="02020603050405020304" pitchFamily="18" charset="0"/>
                <a:cs typeface="Times New Roman" panose="02020603050405020304" pitchFamily="18" charset="0"/>
              </a:rPr>
              <a:t> </a:t>
            </a:r>
            <a:r>
              <a:rPr sz="2507" dirty="0">
                <a:latin typeface="Times New Roman" panose="02020603050405020304" pitchFamily="18" charset="0"/>
                <a:cs typeface="Times New Roman" panose="02020603050405020304" pitchFamily="18" charset="0"/>
              </a:rPr>
              <a:t>I2</a:t>
            </a:r>
            <a:r>
              <a:rPr sz="2507" spc="-10" dirty="0">
                <a:latin typeface="Times New Roman" panose="02020603050405020304" pitchFamily="18" charset="0"/>
                <a:cs typeface="Times New Roman" panose="02020603050405020304" pitchFamily="18" charset="0"/>
              </a:rPr>
              <a:t> </a:t>
            </a:r>
            <a:r>
              <a:rPr sz="2507" dirty="0">
                <a:latin typeface="Times New Roman" panose="02020603050405020304" pitchFamily="18" charset="0"/>
                <a:cs typeface="Times New Roman" panose="02020603050405020304" pitchFamily="18" charset="0"/>
              </a:rPr>
              <a:t>^</a:t>
            </a:r>
            <a:r>
              <a:rPr sz="2507" spc="-5" dirty="0">
                <a:latin typeface="Times New Roman" panose="02020603050405020304" pitchFamily="18" charset="0"/>
                <a:cs typeface="Times New Roman" panose="02020603050405020304" pitchFamily="18" charset="0"/>
              </a:rPr>
              <a:t> </a:t>
            </a:r>
            <a:r>
              <a:rPr sz="2507" spc="-25" dirty="0">
                <a:latin typeface="Times New Roman" panose="02020603050405020304" pitchFamily="18" charset="0"/>
                <a:cs typeface="Times New Roman" panose="02020603050405020304" pitchFamily="18" charset="0"/>
              </a:rPr>
              <a:t>I5</a:t>
            </a:r>
            <a:endParaRPr sz="2507" dirty="0">
              <a:latin typeface="Times New Roman" panose="02020603050405020304" pitchFamily="18" charset="0"/>
              <a:cs typeface="Times New Roman" panose="02020603050405020304" pitchFamily="18" charset="0"/>
            </a:endParaRPr>
          </a:p>
          <a:p>
            <a:pPr marL="698545" indent="-285277">
              <a:spcBef>
                <a:spcPts val="381"/>
              </a:spcBef>
              <a:buChar char="•"/>
              <a:tabLst>
                <a:tab pos="698545" algn="l"/>
              </a:tabLst>
            </a:pPr>
            <a:r>
              <a:rPr sz="2407" dirty="0">
                <a:latin typeface="Times New Roman" panose="02020603050405020304" pitchFamily="18" charset="0"/>
                <a:cs typeface="Times New Roman" panose="02020603050405020304" pitchFamily="18" charset="0"/>
              </a:rPr>
              <a:t>Confidence</a:t>
            </a:r>
            <a:r>
              <a:rPr sz="2407" spc="-65"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a:t>
            </a:r>
            <a:r>
              <a:rPr sz="2407" spc="-55"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sc{I1,I2,I5}/sc{I1}</a:t>
            </a:r>
            <a:r>
              <a:rPr sz="2407" spc="-50"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a:t>
            </a:r>
            <a:r>
              <a:rPr sz="2407" spc="-55"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2/6</a:t>
            </a:r>
            <a:r>
              <a:rPr sz="2407" spc="-55"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a:t>
            </a:r>
            <a:r>
              <a:rPr sz="2407" spc="-50" dirty="0">
                <a:latin typeface="Times New Roman" panose="02020603050405020304" pitchFamily="18" charset="0"/>
                <a:cs typeface="Times New Roman" panose="02020603050405020304" pitchFamily="18" charset="0"/>
              </a:rPr>
              <a:t> </a:t>
            </a:r>
            <a:r>
              <a:rPr sz="2407" spc="-25" dirty="0">
                <a:latin typeface="Times New Roman" panose="02020603050405020304" pitchFamily="18" charset="0"/>
                <a:cs typeface="Times New Roman" panose="02020603050405020304" pitchFamily="18" charset="0"/>
              </a:rPr>
              <a:t>33%</a:t>
            </a:r>
            <a:endParaRPr sz="2407" dirty="0">
              <a:latin typeface="Times New Roman" panose="02020603050405020304" pitchFamily="18" charset="0"/>
              <a:cs typeface="Times New Roman" panose="02020603050405020304" pitchFamily="18" charset="0"/>
            </a:endParaRPr>
          </a:p>
          <a:p>
            <a:pPr marL="699182" indent="-285277">
              <a:spcBef>
                <a:spcPts val="281"/>
              </a:spcBef>
              <a:buChar char="•"/>
              <a:tabLst>
                <a:tab pos="699182" algn="l"/>
              </a:tabLst>
            </a:pPr>
            <a:r>
              <a:rPr sz="2407" dirty="0">
                <a:latin typeface="Times New Roman" panose="02020603050405020304" pitchFamily="18" charset="0"/>
                <a:cs typeface="Times New Roman" panose="02020603050405020304" pitchFamily="18" charset="0"/>
              </a:rPr>
              <a:t>R4</a:t>
            </a:r>
            <a:r>
              <a:rPr sz="2407" spc="-30"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is</a:t>
            </a:r>
            <a:r>
              <a:rPr sz="2407" spc="-25" dirty="0">
                <a:latin typeface="Times New Roman" panose="02020603050405020304" pitchFamily="18" charset="0"/>
                <a:cs typeface="Times New Roman" panose="02020603050405020304" pitchFamily="18" charset="0"/>
              </a:rPr>
              <a:t> </a:t>
            </a:r>
            <a:r>
              <a:rPr sz="2407" spc="-10" dirty="0">
                <a:latin typeface="Times New Roman" panose="02020603050405020304" pitchFamily="18" charset="0"/>
                <a:cs typeface="Times New Roman" panose="02020603050405020304" pitchFamily="18" charset="0"/>
              </a:rPr>
              <a:t>Rejected.</a:t>
            </a:r>
            <a:endParaRPr sz="2407" dirty="0">
              <a:latin typeface="Times New Roman" panose="02020603050405020304" pitchFamily="18" charset="0"/>
              <a:cs typeface="Times New Roman" panose="02020603050405020304" pitchFamily="18" charset="0"/>
            </a:endParaRPr>
          </a:p>
          <a:p>
            <a:pPr marL="12736">
              <a:spcBef>
                <a:spcPts val="321"/>
              </a:spcBef>
            </a:pPr>
            <a:r>
              <a:rPr sz="2507" dirty="0">
                <a:latin typeface="Times New Roman" panose="02020603050405020304" pitchFamily="18" charset="0"/>
                <a:cs typeface="Times New Roman" panose="02020603050405020304" pitchFamily="18" charset="0"/>
              </a:rPr>
              <a:t>–</a:t>
            </a:r>
            <a:r>
              <a:rPr sz="2507" spc="75" dirty="0">
                <a:latin typeface="Times New Roman" panose="02020603050405020304" pitchFamily="18" charset="0"/>
                <a:cs typeface="Times New Roman" panose="02020603050405020304" pitchFamily="18" charset="0"/>
              </a:rPr>
              <a:t>  </a:t>
            </a:r>
            <a:r>
              <a:rPr sz="2507" dirty="0">
                <a:latin typeface="Times New Roman" panose="02020603050405020304" pitchFamily="18" charset="0"/>
                <a:cs typeface="Times New Roman" panose="02020603050405020304" pitchFamily="18" charset="0"/>
              </a:rPr>
              <a:t>R5:</a:t>
            </a:r>
            <a:r>
              <a:rPr sz="2507" spc="-10" dirty="0">
                <a:latin typeface="Times New Roman" panose="02020603050405020304" pitchFamily="18" charset="0"/>
                <a:cs typeface="Times New Roman" panose="02020603050405020304" pitchFamily="18" charset="0"/>
              </a:rPr>
              <a:t> </a:t>
            </a:r>
            <a:r>
              <a:rPr sz="2507" dirty="0">
                <a:latin typeface="Times New Roman" panose="02020603050405020304" pitchFamily="18" charset="0"/>
                <a:cs typeface="Times New Roman" panose="02020603050405020304" pitchFamily="18" charset="0"/>
              </a:rPr>
              <a:t>I2</a:t>
            </a:r>
            <a:r>
              <a:rPr sz="2507" spc="-5" dirty="0">
                <a:latin typeface="Times New Roman" panose="02020603050405020304" pitchFamily="18" charset="0"/>
                <a:cs typeface="Times New Roman" panose="02020603050405020304" pitchFamily="18" charset="0"/>
              </a:rPr>
              <a:t> </a:t>
            </a:r>
            <a:r>
              <a:rPr lang="en-IN" sz="2800" spc="-10" dirty="0">
                <a:latin typeface="Times New Roman" panose="02020603050405020304" pitchFamily="18" charset="0"/>
                <a:cs typeface="Times New Roman" panose="02020603050405020304" pitchFamily="18" charset="0"/>
                <a:sym typeface="Wingdings" panose="05000000000000000000" pitchFamily="2" charset="2"/>
              </a:rPr>
              <a:t></a:t>
            </a:r>
            <a:r>
              <a:rPr sz="2507" spc="70" dirty="0">
                <a:latin typeface="Times New Roman" panose="02020603050405020304" pitchFamily="18" charset="0"/>
                <a:cs typeface="Times New Roman" panose="02020603050405020304" pitchFamily="18" charset="0"/>
              </a:rPr>
              <a:t> </a:t>
            </a:r>
            <a:r>
              <a:rPr sz="2507" dirty="0">
                <a:latin typeface="Times New Roman" panose="02020603050405020304" pitchFamily="18" charset="0"/>
                <a:cs typeface="Times New Roman" panose="02020603050405020304" pitchFamily="18" charset="0"/>
              </a:rPr>
              <a:t>I1</a:t>
            </a:r>
            <a:r>
              <a:rPr sz="2507" spc="-10" dirty="0">
                <a:latin typeface="Times New Roman" panose="02020603050405020304" pitchFamily="18" charset="0"/>
                <a:cs typeface="Times New Roman" panose="02020603050405020304" pitchFamily="18" charset="0"/>
              </a:rPr>
              <a:t> </a:t>
            </a:r>
            <a:r>
              <a:rPr sz="2507" dirty="0">
                <a:latin typeface="Times New Roman" panose="02020603050405020304" pitchFamily="18" charset="0"/>
                <a:cs typeface="Times New Roman" panose="02020603050405020304" pitchFamily="18" charset="0"/>
              </a:rPr>
              <a:t>^</a:t>
            </a:r>
            <a:r>
              <a:rPr sz="2507" spc="-5" dirty="0">
                <a:latin typeface="Times New Roman" panose="02020603050405020304" pitchFamily="18" charset="0"/>
                <a:cs typeface="Times New Roman" panose="02020603050405020304" pitchFamily="18" charset="0"/>
              </a:rPr>
              <a:t> </a:t>
            </a:r>
            <a:r>
              <a:rPr sz="2507" spc="-25" dirty="0">
                <a:latin typeface="Times New Roman" panose="02020603050405020304" pitchFamily="18" charset="0"/>
                <a:cs typeface="Times New Roman" panose="02020603050405020304" pitchFamily="18" charset="0"/>
              </a:rPr>
              <a:t>I5</a:t>
            </a:r>
            <a:endParaRPr sz="2507" dirty="0">
              <a:latin typeface="Times New Roman" panose="02020603050405020304" pitchFamily="18" charset="0"/>
              <a:cs typeface="Times New Roman" panose="02020603050405020304" pitchFamily="18" charset="0"/>
            </a:endParaRPr>
          </a:p>
          <a:p>
            <a:pPr marL="699182" indent="-285277">
              <a:spcBef>
                <a:spcPts val="266"/>
              </a:spcBef>
              <a:buChar char="•"/>
              <a:tabLst>
                <a:tab pos="699182" algn="l"/>
              </a:tabLst>
            </a:pPr>
            <a:r>
              <a:rPr sz="2407" dirty="0">
                <a:latin typeface="Times New Roman" panose="02020603050405020304" pitchFamily="18" charset="0"/>
                <a:cs typeface="Times New Roman" panose="02020603050405020304" pitchFamily="18" charset="0"/>
              </a:rPr>
              <a:t>Confidence</a:t>
            </a:r>
            <a:r>
              <a:rPr sz="2407" spc="-55"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a:t>
            </a:r>
            <a:r>
              <a:rPr sz="2407" spc="-50"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sc{I1,I2,I5}/{I2}</a:t>
            </a:r>
            <a:r>
              <a:rPr sz="2407" spc="-50"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a:t>
            </a:r>
            <a:r>
              <a:rPr sz="2407" spc="-55"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2/7</a:t>
            </a:r>
            <a:r>
              <a:rPr sz="2407" spc="-50"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a:t>
            </a:r>
            <a:r>
              <a:rPr sz="2407" spc="-50" dirty="0">
                <a:latin typeface="Times New Roman" panose="02020603050405020304" pitchFamily="18" charset="0"/>
                <a:cs typeface="Times New Roman" panose="02020603050405020304" pitchFamily="18" charset="0"/>
              </a:rPr>
              <a:t> </a:t>
            </a:r>
            <a:r>
              <a:rPr sz="2407" spc="-25" dirty="0">
                <a:latin typeface="Times New Roman" panose="02020603050405020304" pitchFamily="18" charset="0"/>
                <a:cs typeface="Times New Roman" panose="02020603050405020304" pitchFamily="18" charset="0"/>
              </a:rPr>
              <a:t>29%</a:t>
            </a:r>
            <a:endParaRPr sz="2407" dirty="0">
              <a:latin typeface="Times New Roman" panose="02020603050405020304" pitchFamily="18" charset="0"/>
              <a:cs typeface="Times New Roman" panose="02020603050405020304" pitchFamily="18" charset="0"/>
            </a:endParaRPr>
          </a:p>
          <a:p>
            <a:pPr marL="699182" indent="-285277">
              <a:spcBef>
                <a:spcPts val="281"/>
              </a:spcBef>
              <a:buChar char="•"/>
              <a:tabLst>
                <a:tab pos="699182" algn="l"/>
              </a:tabLst>
            </a:pPr>
            <a:r>
              <a:rPr sz="2407" dirty="0">
                <a:latin typeface="Times New Roman" panose="02020603050405020304" pitchFamily="18" charset="0"/>
                <a:cs typeface="Times New Roman" panose="02020603050405020304" pitchFamily="18" charset="0"/>
              </a:rPr>
              <a:t>R5</a:t>
            </a:r>
            <a:r>
              <a:rPr sz="2407" spc="-30"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is</a:t>
            </a:r>
            <a:r>
              <a:rPr sz="2407" spc="-25" dirty="0">
                <a:latin typeface="Times New Roman" panose="02020603050405020304" pitchFamily="18" charset="0"/>
                <a:cs typeface="Times New Roman" panose="02020603050405020304" pitchFamily="18" charset="0"/>
              </a:rPr>
              <a:t> </a:t>
            </a:r>
            <a:r>
              <a:rPr sz="2407" spc="-10" dirty="0">
                <a:latin typeface="Times New Roman" panose="02020603050405020304" pitchFamily="18" charset="0"/>
                <a:cs typeface="Times New Roman" panose="02020603050405020304" pitchFamily="18" charset="0"/>
              </a:rPr>
              <a:t>Rejected.</a:t>
            </a:r>
            <a:endParaRPr sz="2407" dirty="0">
              <a:latin typeface="Times New Roman" panose="02020603050405020304" pitchFamily="18" charset="0"/>
              <a:cs typeface="Times New Roman" panose="02020603050405020304" pitchFamily="18" charset="0"/>
            </a:endParaRPr>
          </a:p>
          <a:p>
            <a:pPr marL="12736">
              <a:spcBef>
                <a:spcPts val="321"/>
              </a:spcBef>
            </a:pPr>
            <a:r>
              <a:rPr sz="2507" dirty="0">
                <a:solidFill>
                  <a:srgbClr val="009A9A"/>
                </a:solidFill>
                <a:latin typeface="Times New Roman" panose="02020603050405020304" pitchFamily="18" charset="0"/>
                <a:cs typeface="Times New Roman" panose="02020603050405020304" pitchFamily="18" charset="0"/>
              </a:rPr>
              <a:t>–</a:t>
            </a:r>
            <a:r>
              <a:rPr sz="2507" spc="70" dirty="0">
                <a:solidFill>
                  <a:srgbClr val="009A9A"/>
                </a:solidFill>
                <a:latin typeface="Times New Roman" panose="02020603050405020304" pitchFamily="18" charset="0"/>
                <a:cs typeface="Times New Roman" panose="02020603050405020304" pitchFamily="18" charset="0"/>
              </a:rPr>
              <a:t>  </a:t>
            </a:r>
            <a:r>
              <a:rPr sz="2507" dirty="0">
                <a:latin typeface="Times New Roman" panose="02020603050405020304" pitchFamily="18" charset="0"/>
                <a:cs typeface="Times New Roman" panose="02020603050405020304" pitchFamily="18" charset="0"/>
              </a:rPr>
              <a:t>R6:</a:t>
            </a:r>
            <a:r>
              <a:rPr sz="2507" spc="-5" dirty="0">
                <a:latin typeface="Times New Roman" panose="02020603050405020304" pitchFamily="18" charset="0"/>
                <a:cs typeface="Times New Roman" panose="02020603050405020304" pitchFamily="18" charset="0"/>
              </a:rPr>
              <a:t> </a:t>
            </a:r>
            <a:r>
              <a:rPr sz="2507" dirty="0">
                <a:latin typeface="Times New Roman" panose="02020603050405020304" pitchFamily="18" charset="0"/>
                <a:cs typeface="Times New Roman" panose="02020603050405020304" pitchFamily="18" charset="0"/>
              </a:rPr>
              <a:t>I5</a:t>
            </a:r>
            <a:r>
              <a:rPr sz="2507" spc="-10" dirty="0">
                <a:latin typeface="Times New Roman" panose="02020603050405020304" pitchFamily="18" charset="0"/>
                <a:cs typeface="Times New Roman" panose="02020603050405020304" pitchFamily="18" charset="0"/>
              </a:rPr>
              <a:t> </a:t>
            </a:r>
            <a:r>
              <a:rPr lang="en-IN" sz="2800" spc="-10" dirty="0">
                <a:latin typeface="Times New Roman" panose="02020603050405020304" pitchFamily="18" charset="0"/>
                <a:cs typeface="Times New Roman" panose="02020603050405020304" pitchFamily="18" charset="0"/>
                <a:sym typeface="Wingdings" panose="05000000000000000000" pitchFamily="2" charset="2"/>
              </a:rPr>
              <a:t></a:t>
            </a:r>
            <a:r>
              <a:rPr sz="2507" spc="65" dirty="0">
                <a:latin typeface="Times New Roman" panose="02020603050405020304" pitchFamily="18" charset="0"/>
                <a:cs typeface="Times New Roman" panose="02020603050405020304" pitchFamily="18" charset="0"/>
              </a:rPr>
              <a:t> </a:t>
            </a:r>
            <a:r>
              <a:rPr sz="2507" dirty="0">
                <a:latin typeface="Times New Roman" panose="02020603050405020304" pitchFamily="18" charset="0"/>
                <a:cs typeface="Times New Roman" panose="02020603050405020304" pitchFamily="18" charset="0"/>
              </a:rPr>
              <a:t>I1</a:t>
            </a:r>
            <a:r>
              <a:rPr sz="2507" spc="-10" dirty="0">
                <a:latin typeface="Times New Roman" panose="02020603050405020304" pitchFamily="18" charset="0"/>
                <a:cs typeface="Times New Roman" panose="02020603050405020304" pitchFamily="18" charset="0"/>
              </a:rPr>
              <a:t> </a:t>
            </a:r>
            <a:r>
              <a:rPr sz="2507" dirty="0">
                <a:latin typeface="Times New Roman" panose="02020603050405020304" pitchFamily="18" charset="0"/>
                <a:cs typeface="Times New Roman" panose="02020603050405020304" pitchFamily="18" charset="0"/>
              </a:rPr>
              <a:t>^</a:t>
            </a:r>
            <a:r>
              <a:rPr sz="2507" spc="-5" dirty="0">
                <a:latin typeface="Times New Roman" panose="02020603050405020304" pitchFamily="18" charset="0"/>
                <a:cs typeface="Times New Roman" panose="02020603050405020304" pitchFamily="18" charset="0"/>
              </a:rPr>
              <a:t> </a:t>
            </a:r>
            <a:r>
              <a:rPr sz="2507" spc="-25" dirty="0">
                <a:latin typeface="Times New Roman" panose="02020603050405020304" pitchFamily="18" charset="0"/>
                <a:cs typeface="Times New Roman" panose="02020603050405020304" pitchFamily="18" charset="0"/>
              </a:rPr>
              <a:t>I2</a:t>
            </a:r>
            <a:endParaRPr sz="2507" dirty="0">
              <a:latin typeface="Times New Roman" panose="02020603050405020304" pitchFamily="18" charset="0"/>
              <a:cs typeface="Times New Roman" panose="02020603050405020304" pitchFamily="18" charset="0"/>
            </a:endParaRPr>
          </a:p>
          <a:p>
            <a:pPr marL="699182" indent="-285277">
              <a:spcBef>
                <a:spcPts val="266"/>
              </a:spcBef>
              <a:buChar char="•"/>
              <a:tabLst>
                <a:tab pos="699182" algn="l"/>
              </a:tabLst>
            </a:pPr>
            <a:r>
              <a:rPr sz="2407" dirty="0">
                <a:latin typeface="Times New Roman" panose="02020603050405020304" pitchFamily="18" charset="0"/>
                <a:cs typeface="Times New Roman" panose="02020603050405020304" pitchFamily="18" charset="0"/>
              </a:rPr>
              <a:t>Confidence</a:t>
            </a:r>
            <a:r>
              <a:rPr sz="2407" spc="-55"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a:t>
            </a:r>
            <a:r>
              <a:rPr sz="2407" spc="-45"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sc{I1,I2,I5}/</a:t>
            </a:r>
            <a:r>
              <a:rPr sz="2407" spc="-45"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{I5}</a:t>
            </a:r>
            <a:r>
              <a:rPr sz="2407" spc="-45"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a:t>
            </a:r>
            <a:r>
              <a:rPr sz="2407" spc="-45"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2/2</a:t>
            </a:r>
            <a:r>
              <a:rPr sz="2407" spc="-45" dirty="0">
                <a:latin typeface="Times New Roman" panose="02020603050405020304" pitchFamily="18" charset="0"/>
                <a:cs typeface="Times New Roman" panose="02020603050405020304" pitchFamily="18" charset="0"/>
              </a:rPr>
              <a:t> </a:t>
            </a:r>
            <a:r>
              <a:rPr sz="2407" dirty="0">
                <a:latin typeface="Times New Roman" panose="02020603050405020304" pitchFamily="18" charset="0"/>
                <a:cs typeface="Times New Roman" panose="02020603050405020304" pitchFamily="18" charset="0"/>
              </a:rPr>
              <a:t>=</a:t>
            </a:r>
            <a:r>
              <a:rPr sz="2407" spc="-40" dirty="0">
                <a:latin typeface="Times New Roman" panose="02020603050405020304" pitchFamily="18" charset="0"/>
                <a:cs typeface="Times New Roman" panose="02020603050405020304" pitchFamily="18" charset="0"/>
              </a:rPr>
              <a:t> </a:t>
            </a:r>
            <a:r>
              <a:rPr sz="2407" spc="-20" dirty="0">
                <a:latin typeface="Times New Roman" panose="02020603050405020304" pitchFamily="18" charset="0"/>
                <a:cs typeface="Times New Roman" panose="02020603050405020304" pitchFamily="18" charset="0"/>
              </a:rPr>
              <a:t>100%</a:t>
            </a:r>
            <a:endParaRPr sz="2407" dirty="0">
              <a:latin typeface="Times New Roman" panose="02020603050405020304" pitchFamily="18" charset="0"/>
              <a:cs typeface="Times New Roman" panose="02020603050405020304" pitchFamily="18" charset="0"/>
            </a:endParaRPr>
          </a:p>
          <a:p>
            <a:pPr marL="699182" indent="-285277">
              <a:spcBef>
                <a:spcPts val="281"/>
              </a:spcBef>
              <a:buChar char="•"/>
              <a:tabLst>
                <a:tab pos="699182" algn="l"/>
              </a:tabLst>
            </a:pPr>
            <a:r>
              <a:rPr sz="2407" dirty="0">
                <a:solidFill>
                  <a:srgbClr val="009A9A"/>
                </a:solidFill>
                <a:latin typeface="Times New Roman" panose="02020603050405020304" pitchFamily="18" charset="0"/>
                <a:cs typeface="Times New Roman" panose="02020603050405020304" pitchFamily="18" charset="0"/>
              </a:rPr>
              <a:t>R6</a:t>
            </a:r>
            <a:r>
              <a:rPr sz="2407" spc="-30" dirty="0">
                <a:solidFill>
                  <a:srgbClr val="009A9A"/>
                </a:solidFill>
                <a:latin typeface="Times New Roman" panose="02020603050405020304" pitchFamily="18" charset="0"/>
                <a:cs typeface="Times New Roman" panose="02020603050405020304" pitchFamily="18" charset="0"/>
              </a:rPr>
              <a:t> </a:t>
            </a:r>
            <a:r>
              <a:rPr sz="2407" dirty="0">
                <a:solidFill>
                  <a:srgbClr val="009A9A"/>
                </a:solidFill>
                <a:latin typeface="Times New Roman" panose="02020603050405020304" pitchFamily="18" charset="0"/>
                <a:cs typeface="Times New Roman" panose="02020603050405020304" pitchFamily="18" charset="0"/>
              </a:rPr>
              <a:t>is</a:t>
            </a:r>
            <a:r>
              <a:rPr sz="2407" spc="-30" dirty="0">
                <a:solidFill>
                  <a:srgbClr val="009A9A"/>
                </a:solidFill>
                <a:latin typeface="Times New Roman" panose="02020603050405020304" pitchFamily="18" charset="0"/>
                <a:cs typeface="Times New Roman" panose="02020603050405020304" pitchFamily="18" charset="0"/>
              </a:rPr>
              <a:t> </a:t>
            </a:r>
            <a:r>
              <a:rPr sz="2407" spc="-10" dirty="0">
                <a:solidFill>
                  <a:srgbClr val="009A9A"/>
                </a:solidFill>
                <a:latin typeface="Times New Roman" panose="02020603050405020304" pitchFamily="18" charset="0"/>
                <a:cs typeface="Times New Roman" panose="02020603050405020304" pitchFamily="18" charset="0"/>
              </a:rPr>
              <a:t>Selected.</a:t>
            </a:r>
            <a:endParaRPr sz="2407" dirty="0">
              <a:latin typeface="Times New Roman" panose="02020603050405020304" pitchFamily="18" charset="0"/>
              <a:cs typeface="Times New Roman" panose="02020603050405020304" pitchFamily="18" charset="0"/>
            </a:endParaRPr>
          </a:p>
          <a:p>
            <a:pPr marL="699819" marR="485225" indent="50942">
              <a:lnSpc>
                <a:spcPts val="2587"/>
              </a:lnSpc>
              <a:spcBef>
                <a:spcPts val="622"/>
              </a:spcBef>
            </a:pPr>
            <a:r>
              <a:rPr sz="2407" dirty="0">
                <a:solidFill>
                  <a:srgbClr val="009A9A"/>
                </a:solidFill>
                <a:latin typeface="Times New Roman" panose="02020603050405020304" pitchFamily="18" charset="0"/>
                <a:cs typeface="Times New Roman" panose="02020603050405020304" pitchFamily="18" charset="0"/>
              </a:rPr>
              <a:t>In</a:t>
            </a:r>
            <a:r>
              <a:rPr sz="2407" spc="-55" dirty="0">
                <a:solidFill>
                  <a:srgbClr val="009A9A"/>
                </a:solidFill>
                <a:latin typeface="Times New Roman" panose="02020603050405020304" pitchFamily="18" charset="0"/>
                <a:cs typeface="Times New Roman" panose="02020603050405020304" pitchFamily="18" charset="0"/>
              </a:rPr>
              <a:t> </a:t>
            </a:r>
            <a:r>
              <a:rPr sz="2407" dirty="0">
                <a:solidFill>
                  <a:srgbClr val="009A9A"/>
                </a:solidFill>
                <a:latin typeface="Times New Roman" panose="02020603050405020304" pitchFamily="18" charset="0"/>
                <a:cs typeface="Times New Roman" panose="02020603050405020304" pitchFamily="18" charset="0"/>
              </a:rPr>
              <a:t>this</a:t>
            </a:r>
            <a:r>
              <a:rPr sz="2407" spc="-50" dirty="0">
                <a:solidFill>
                  <a:srgbClr val="009A9A"/>
                </a:solidFill>
                <a:latin typeface="Times New Roman" panose="02020603050405020304" pitchFamily="18" charset="0"/>
                <a:cs typeface="Times New Roman" panose="02020603050405020304" pitchFamily="18" charset="0"/>
              </a:rPr>
              <a:t> </a:t>
            </a:r>
            <a:r>
              <a:rPr sz="2407" dirty="0">
                <a:solidFill>
                  <a:srgbClr val="009A9A"/>
                </a:solidFill>
                <a:latin typeface="Times New Roman" panose="02020603050405020304" pitchFamily="18" charset="0"/>
                <a:cs typeface="Times New Roman" panose="02020603050405020304" pitchFamily="18" charset="0"/>
              </a:rPr>
              <a:t>way,</a:t>
            </a:r>
            <a:r>
              <a:rPr sz="2407" spc="-45" dirty="0">
                <a:solidFill>
                  <a:srgbClr val="009A9A"/>
                </a:solidFill>
                <a:latin typeface="Times New Roman" panose="02020603050405020304" pitchFamily="18" charset="0"/>
                <a:cs typeface="Times New Roman" panose="02020603050405020304" pitchFamily="18" charset="0"/>
              </a:rPr>
              <a:t> </a:t>
            </a:r>
            <a:r>
              <a:rPr sz="2407" dirty="0">
                <a:solidFill>
                  <a:srgbClr val="009A9A"/>
                </a:solidFill>
                <a:latin typeface="Times New Roman" panose="02020603050405020304" pitchFamily="18" charset="0"/>
                <a:cs typeface="Times New Roman" panose="02020603050405020304" pitchFamily="18" charset="0"/>
              </a:rPr>
              <a:t>We</a:t>
            </a:r>
            <a:r>
              <a:rPr sz="2407" spc="-50" dirty="0">
                <a:solidFill>
                  <a:srgbClr val="009A9A"/>
                </a:solidFill>
                <a:latin typeface="Times New Roman" panose="02020603050405020304" pitchFamily="18" charset="0"/>
                <a:cs typeface="Times New Roman" panose="02020603050405020304" pitchFamily="18" charset="0"/>
              </a:rPr>
              <a:t> </a:t>
            </a:r>
            <a:r>
              <a:rPr sz="2407" dirty="0">
                <a:solidFill>
                  <a:srgbClr val="009A9A"/>
                </a:solidFill>
                <a:latin typeface="Times New Roman" panose="02020603050405020304" pitchFamily="18" charset="0"/>
                <a:cs typeface="Times New Roman" panose="02020603050405020304" pitchFamily="18" charset="0"/>
              </a:rPr>
              <a:t>have</a:t>
            </a:r>
            <a:r>
              <a:rPr sz="2407" spc="-50" dirty="0">
                <a:solidFill>
                  <a:srgbClr val="009A9A"/>
                </a:solidFill>
                <a:latin typeface="Times New Roman" panose="02020603050405020304" pitchFamily="18" charset="0"/>
                <a:cs typeface="Times New Roman" panose="02020603050405020304" pitchFamily="18" charset="0"/>
              </a:rPr>
              <a:t> </a:t>
            </a:r>
            <a:r>
              <a:rPr sz="2407" dirty="0">
                <a:solidFill>
                  <a:srgbClr val="009A9A"/>
                </a:solidFill>
                <a:latin typeface="Times New Roman" panose="02020603050405020304" pitchFamily="18" charset="0"/>
                <a:cs typeface="Times New Roman" panose="02020603050405020304" pitchFamily="18" charset="0"/>
              </a:rPr>
              <a:t>found</a:t>
            </a:r>
            <a:r>
              <a:rPr sz="2407" spc="-50" dirty="0">
                <a:solidFill>
                  <a:srgbClr val="009A9A"/>
                </a:solidFill>
                <a:latin typeface="Times New Roman" panose="02020603050405020304" pitchFamily="18" charset="0"/>
                <a:cs typeface="Times New Roman" panose="02020603050405020304" pitchFamily="18" charset="0"/>
              </a:rPr>
              <a:t> </a:t>
            </a:r>
            <a:r>
              <a:rPr sz="2407" dirty="0">
                <a:solidFill>
                  <a:srgbClr val="009A9A"/>
                </a:solidFill>
                <a:latin typeface="Times New Roman" panose="02020603050405020304" pitchFamily="18" charset="0"/>
                <a:cs typeface="Times New Roman" panose="02020603050405020304" pitchFamily="18" charset="0"/>
              </a:rPr>
              <a:t>three</a:t>
            </a:r>
            <a:r>
              <a:rPr sz="2407" spc="-50" dirty="0">
                <a:solidFill>
                  <a:srgbClr val="009A9A"/>
                </a:solidFill>
                <a:latin typeface="Times New Roman" panose="02020603050405020304" pitchFamily="18" charset="0"/>
                <a:cs typeface="Times New Roman" panose="02020603050405020304" pitchFamily="18" charset="0"/>
              </a:rPr>
              <a:t> </a:t>
            </a:r>
            <a:r>
              <a:rPr sz="2407" spc="-10" dirty="0">
                <a:solidFill>
                  <a:srgbClr val="009A9A"/>
                </a:solidFill>
                <a:latin typeface="Times New Roman" panose="02020603050405020304" pitchFamily="18" charset="0"/>
                <a:cs typeface="Times New Roman" panose="02020603050405020304" pitchFamily="18" charset="0"/>
              </a:rPr>
              <a:t>strong </a:t>
            </a:r>
            <a:r>
              <a:rPr sz="2407" dirty="0">
                <a:solidFill>
                  <a:srgbClr val="009A9A"/>
                </a:solidFill>
                <a:latin typeface="Times New Roman" panose="02020603050405020304" pitchFamily="18" charset="0"/>
                <a:cs typeface="Times New Roman" panose="02020603050405020304" pitchFamily="18" charset="0"/>
              </a:rPr>
              <a:t>association</a:t>
            </a:r>
            <a:r>
              <a:rPr sz="2407" spc="-125" dirty="0">
                <a:solidFill>
                  <a:srgbClr val="009A9A"/>
                </a:solidFill>
                <a:latin typeface="Times New Roman" panose="02020603050405020304" pitchFamily="18" charset="0"/>
                <a:cs typeface="Times New Roman" panose="02020603050405020304" pitchFamily="18" charset="0"/>
              </a:rPr>
              <a:t> </a:t>
            </a:r>
            <a:r>
              <a:rPr sz="2407" spc="-10" dirty="0">
                <a:solidFill>
                  <a:srgbClr val="009A9A"/>
                </a:solidFill>
                <a:latin typeface="Times New Roman" panose="02020603050405020304" pitchFamily="18" charset="0"/>
                <a:cs typeface="Times New Roman" panose="02020603050405020304" pitchFamily="18" charset="0"/>
              </a:rPr>
              <a:t>rules.</a:t>
            </a:r>
            <a:endParaRPr sz="2407"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45738" y="152400"/>
            <a:ext cx="8252524" cy="735235"/>
          </a:xfrm>
          <a:prstGeom prst="rect">
            <a:avLst/>
          </a:prstGeom>
        </p:spPr>
        <p:txBody>
          <a:bodyPr vert="horz" wrap="square" lIns="0" tIns="240444" rIns="0" bIns="0" rtlCol="0" anchor="ctr">
            <a:spAutoFit/>
            <a:scene3d>
              <a:camera prst="orthographicFront"/>
              <a:lightRig rig="soft" dir="t"/>
            </a:scene3d>
            <a:sp3d prstMaterial="softEdge">
              <a:bevelT w="25400" h="25400"/>
            </a:sp3d>
          </a:bodyPr>
          <a:lstStyle/>
          <a:p>
            <a:pPr marL="275725" algn="ctr">
              <a:spcBef>
                <a:spcPts val="100"/>
              </a:spcBef>
            </a:pPr>
            <a:r>
              <a:rPr sz="3200" dirty="0">
                <a:solidFill>
                  <a:srgbClr val="002060"/>
                </a:solidFill>
                <a:effectLst/>
                <a:latin typeface="Times New Roman" panose="02020603050405020304" pitchFamily="18" charset="0"/>
                <a:cs typeface="Times New Roman" panose="02020603050405020304" pitchFamily="18" charset="0"/>
              </a:rPr>
              <a:t>Methods</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to</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Improve</a:t>
            </a:r>
            <a:r>
              <a:rPr sz="3200" spc="-30" dirty="0">
                <a:solidFill>
                  <a:srgbClr val="002060"/>
                </a:solidFill>
                <a:effectLst/>
                <a:latin typeface="Times New Roman" panose="02020603050405020304" pitchFamily="18" charset="0"/>
                <a:cs typeface="Times New Roman" panose="02020603050405020304" pitchFamily="18" charset="0"/>
              </a:rPr>
              <a:t> </a:t>
            </a:r>
            <a:r>
              <a:rPr sz="3200" dirty="0">
                <a:solidFill>
                  <a:srgbClr val="002060"/>
                </a:solidFill>
                <a:effectLst/>
                <a:latin typeface="Times New Roman" panose="02020603050405020304" pitchFamily="18" charset="0"/>
                <a:cs typeface="Times New Roman" panose="02020603050405020304" pitchFamily="18" charset="0"/>
              </a:rPr>
              <a:t>Apriori’s</a:t>
            </a:r>
            <a:r>
              <a:rPr sz="3200" spc="-25" dirty="0">
                <a:solidFill>
                  <a:srgbClr val="002060"/>
                </a:solidFill>
                <a:effectLst/>
                <a:latin typeface="Times New Roman" panose="02020603050405020304" pitchFamily="18" charset="0"/>
                <a:cs typeface="Times New Roman" panose="02020603050405020304" pitchFamily="18" charset="0"/>
              </a:rPr>
              <a:t> </a:t>
            </a:r>
            <a:r>
              <a:rPr sz="3200" spc="-10" dirty="0">
                <a:solidFill>
                  <a:srgbClr val="002060"/>
                </a:solidFill>
                <a:effectLst/>
                <a:latin typeface="Times New Roman" panose="02020603050405020304" pitchFamily="18" charset="0"/>
                <a:cs typeface="Times New Roman" panose="02020603050405020304" pitchFamily="18" charset="0"/>
              </a:rPr>
              <a:t>Efficiency</a:t>
            </a:r>
          </a:p>
        </p:txBody>
      </p:sp>
      <p:sp>
        <p:nvSpPr>
          <p:cNvPr id="3" name="object 3"/>
          <p:cNvSpPr txBox="1">
            <a:spLocks noGrp="1"/>
          </p:cNvSpPr>
          <p:nvPr>
            <p:ph type="body" idx="1"/>
          </p:nvPr>
        </p:nvSpPr>
        <p:spPr>
          <a:xfrm>
            <a:off x="458473" y="1488638"/>
            <a:ext cx="8252524" cy="4130269"/>
          </a:xfrm>
          <a:prstGeom prst="rect">
            <a:avLst/>
          </a:prstGeom>
        </p:spPr>
        <p:txBody>
          <a:bodyPr vert="horz" wrap="square" lIns="0" tIns="12735" rIns="0" bIns="0" rtlCol="0">
            <a:spAutoFit/>
          </a:bodyPr>
          <a:lstStyle/>
          <a:p>
            <a:pPr marL="297212" marR="456570" indent="-285750">
              <a:lnSpc>
                <a:spcPct val="140000"/>
              </a:lnSpc>
              <a:spcBef>
                <a:spcPts val="100"/>
              </a:spcBef>
              <a:buFont typeface="Wingdings" panose="05000000000000000000" pitchFamily="2" charset="2"/>
              <a:buChar char="Ø"/>
              <a:tabLst>
                <a:tab pos="355959" algn="l"/>
              </a:tabLst>
            </a:pPr>
            <a:r>
              <a:rPr sz="1800" spc="-20" dirty="0">
                <a:solidFill>
                  <a:srgbClr val="009A9A"/>
                </a:solidFill>
                <a:latin typeface="Times New Roman" panose="02020603050405020304" pitchFamily="18" charset="0"/>
                <a:cs typeface="Times New Roman" panose="02020603050405020304" pitchFamily="18" charset="0"/>
              </a:rPr>
              <a:t>Hash-</a:t>
            </a:r>
            <a:r>
              <a:rPr sz="1800" dirty="0">
                <a:solidFill>
                  <a:srgbClr val="009A9A"/>
                </a:solidFill>
                <a:latin typeface="Times New Roman" panose="02020603050405020304" pitchFamily="18" charset="0"/>
                <a:cs typeface="Times New Roman" panose="02020603050405020304" pitchFamily="18" charset="0"/>
              </a:rPr>
              <a:t>based</a:t>
            </a:r>
            <a:r>
              <a:rPr sz="1800" spc="-45" dirty="0">
                <a:solidFill>
                  <a:srgbClr val="009A9A"/>
                </a:solidFill>
                <a:latin typeface="Times New Roman" panose="02020603050405020304" pitchFamily="18" charset="0"/>
                <a:cs typeface="Times New Roman" panose="02020603050405020304" pitchFamily="18" charset="0"/>
              </a:rPr>
              <a:t> </a:t>
            </a:r>
            <a:r>
              <a:rPr sz="1800" dirty="0">
                <a:solidFill>
                  <a:srgbClr val="009A9A"/>
                </a:solidFill>
                <a:latin typeface="Times New Roman" panose="02020603050405020304" pitchFamily="18" charset="0"/>
                <a:cs typeface="Times New Roman" panose="02020603050405020304" pitchFamily="18" charset="0"/>
              </a:rPr>
              <a:t>itemset</a:t>
            </a:r>
            <a:r>
              <a:rPr sz="1800" spc="-45" dirty="0">
                <a:solidFill>
                  <a:srgbClr val="009A9A"/>
                </a:solidFill>
                <a:latin typeface="Times New Roman" panose="02020603050405020304" pitchFamily="18" charset="0"/>
                <a:cs typeface="Times New Roman" panose="02020603050405020304" pitchFamily="18" charset="0"/>
              </a:rPr>
              <a:t> </a:t>
            </a:r>
            <a:r>
              <a:rPr sz="1800" dirty="0">
                <a:solidFill>
                  <a:srgbClr val="009A9A"/>
                </a:solidFill>
                <a:latin typeface="Times New Roman" panose="02020603050405020304" pitchFamily="18" charset="0"/>
                <a:cs typeface="Times New Roman" panose="02020603050405020304" pitchFamily="18" charset="0"/>
              </a:rPr>
              <a:t>counting</a:t>
            </a:r>
            <a:r>
              <a:rPr sz="1800" dirty="0">
                <a:latin typeface="Times New Roman" panose="02020603050405020304" pitchFamily="18" charset="0"/>
                <a:cs typeface="Times New Roman" panose="02020603050405020304" pitchFamily="18" charset="0"/>
              </a:rPr>
              <a:t>:</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50" dirty="0">
                <a:latin typeface="Times New Roman" panose="02020603050405020304" pitchFamily="18" charset="0"/>
                <a:cs typeface="Times New Roman" panose="02020603050405020304" pitchFamily="18" charset="0"/>
              </a:rPr>
              <a:t> </a:t>
            </a:r>
            <a:r>
              <a:rPr sz="1800" i="1" spc="-10" dirty="0">
                <a:latin typeface="Times New Roman" panose="02020603050405020304" pitchFamily="18" charset="0"/>
                <a:cs typeface="Times New Roman" panose="02020603050405020304" pitchFamily="18" charset="0"/>
              </a:rPr>
              <a:t>k</a:t>
            </a:r>
            <a:r>
              <a:rPr sz="1800" spc="-10" dirty="0">
                <a:latin typeface="Times New Roman" panose="02020603050405020304" pitchFamily="18" charset="0"/>
                <a:cs typeface="Times New Roman" panose="02020603050405020304" pitchFamily="18" charset="0"/>
              </a:rPr>
              <a:t>-</a:t>
            </a:r>
            <a:r>
              <a:rPr sz="1800" dirty="0">
                <a:latin typeface="Times New Roman" panose="02020603050405020304" pitchFamily="18" charset="0"/>
                <a:cs typeface="Times New Roman" panose="02020603050405020304" pitchFamily="18" charset="0"/>
              </a:rPr>
              <a:t>itemset</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whose</a:t>
            </a:r>
            <a:r>
              <a:rPr sz="1800" spc="-3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corresponding </a:t>
            </a:r>
            <a:r>
              <a:rPr sz="1800" dirty="0">
                <a:latin typeface="Times New Roman" panose="02020603050405020304" pitchFamily="18" charset="0"/>
                <a:cs typeface="Times New Roman" panose="02020603050405020304" pitchFamily="18" charset="0"/>
              </a:rPr>
              <a:t>hashing</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bucket</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count</a:t>
            </a:r>
            <a:r>
              <a:rPr sz="1800"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is</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below</a:t>
            </a:r>
            <a:r>
              <a:rPr sz="1800"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threshold</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cannot</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be</a:t>
            </a:r>
            <a:r>
              <a:rPr sz="1800" spc="-6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frequent.</a:t>
            </a:r>
          </a:p>
          <a:p>
            <a:pPr marL="297212" marR="672438" indent="-285750">
              <a:lnSpc>
                <a:spcPct val="140000"/>
              </a:lnSpc>
              <a:spcBef>
                <a:spcPts val="481"/>
              </a:spcBef>
              <a:buFont typeface="Wingdings" panose="05000000000000000000" pitchFamily="2" charset="2"/>
              <a:buChar char="Ø"/>
              <a:tabLst>
                <a:tab pos="355959" algn="l"/>
              </a:tabLst>
            </a:pPr>
            <a:r>
              <a:rPr sz="1800" dirty="0">
                <a:solidFill>
                  <a:srgbClr val="009A9A"/>
                </a:solidFill>
                <a:latin typeface="Times New Roman" panose="02020603050405020304" pitchFamily="18" charset="0"/>
                <a:cs typeface="Times New Roman" panose="02020603050405020304" pitchFamily="18" charset="0"/>
              </a:rPr>
              <a:t>Transaction</a:t>
            </a:r>
            <a:r>
              <a:rPr sz="1800" spc="-65" dirty="0">
                <a:solidFill>
                  <a:srgbClr val="009A9A"/>
                </a:solidFill>
                <a:latin typeface="Times New Roman" panose="02020603050405020304" pitchFamily="18" charset="0"/>
                <a:cs typeface="Times New Roman" panose="02020603050405020304" pitchFamily="18" charset="0"/>
              </a:rPr>
              <a:t> </a:t>
            </a:r>
            <a:r>
              <a:rPr sz="1800" dirty="0">
                <a:solidFill>
                  <a:srgbClr val="009A9A"/>
                </a:solidFill>
                <a:latin typeface="Times New Roman" panose="02020603050405020304" pitchFamily="18" charset="0"/>
                <a:cs typeface="Times New Roman" panose="02020603050405020304" pitchFamily="18" charset="0"/>
              </a:rPr>
              <a:t>reduction</a:t>
            </a:r>
            <a:r>
              <a:rPr sz="1800" dirty="0">
                <a:latin typeface="Times New Roman" panose="02020603050405020304" pitchFamily="18" charset="0"/>
                <a:cs typeface="Times New Roman" panose="02020603050405020304" pitchFamily="18" charset="0"/>
              </a:rPr>
              <a:t>:</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6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transaction</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that</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does</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not</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contain</a:t>
            </a:r>
            <a:r>
              <a:rPr sz="1800" spc="-6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any </a:t>
            </a:r>
            <a:r>
              <a:rPr sz="1800" dirty="0">
                <a:latin typeface="Times New Roman" panose="02020603050405020304" pitchFamily="18" charset="0"/>
                <a:cs typeface="Times New Roman" panose="02020603050405020304" pitchFamily="18" charset="0"/>
              </a:rPr>
              <a:t>frequent</a:t>
            </a:r>
            <a:r>
              <a:rPr sz="1800" spc="-5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k-</a:t>
            </a:r>
            <a:r>
              <a:rPr sz="1800" dirty="0">
                <a:latin typeface="Times New Roman" panose="02020603050405020304" pitchFamily="18" charset="0"/>
                <a:cs typeface="Times New Roman" panose="02020603050405020304" pitchFamily="18" charset="0"/>
              </a:rPr>
              <a:t>itemset</a:t>
            </a:r>
            <a:r>
              <a:rPr sz="1800"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is</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useless</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in</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subsequent</a:t>
            </a:r>
            <a:r>
              <a:rPr sz="1800" spc="-5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scans.</a:t>
            </a:r>
          </a:p>
          <a:p>
            <a:pPr marL="297212" marR="273178" indent="-285750">
              <a:lnSpc>
                <a:spcPct val="140000"/>
              </a:lnSpc>
              <a:spcBef>
                <a:spcPts val="481"/>
              </a:spcBef>
              <a:buFont typeface="Wingdings" panose="05000000000000000000" pitchFamily="2" charset="2"/>
              <a:buChar char="Ø"/>
              <a:tabLst>
                <a:tab pos="355959" algn="l"/>
              </a:tabLst>
            </a:pPr>
            <a:r>
              <a:rPr sz="1800" dirty="0">
                <a:solidFill>
                  <a:srgbClr val="009A9A"/>
                </a:solidFill>
                <a:latin typeface="Times New Roman" panose="02020603050405020304" pitchFamily="18" charset="0"/>
                <a:cs typeface="Times New Roman" panose="02020603050405020304" pitchFamily="18" charset="0"/>
              </a:rPr>
              <a:t>Partitioning:</a:t>
            </a:r>
            <a:r>
              <a:rPr sz="1800" spc="-35" dirty="0">
                <a:solidFill>
                  <a:srgbClr val="009A9A"/>
                </a:solidFill>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Any</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itemset</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that</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is</a:t>
            </a:r>
            <a:r>
              <a:rPr sz="1800" spc="-3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potentially</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frequent</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in</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DB</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must</a:t>
            </a:r>
            <a:r>
              <a:rPr sz="1800" spc="-25" dirty="0">
                <a:latin typeface="Times New Roman" panose="02020603050405020304" pitchFamily="18" charset="0"/>
                <a:cs typeface="Times New Roman" panose="02020603050405020304" pitchFamily="18" charset="0"/>
              </a:rPr>
              <a:t> be </a:t>
            </a:r>
            <a:r>
              <a:rPr sz="1800" dirty="0">
                <a:latin typeface="Times New Roman" panose="02020603050405020304" pitchFamily="18" charset="0"/>
                <a:cs typeface="Times New Roman" panose="02020603050405020304" pitchFamily="18" charset="0"/>
              </a:rPr>
              <a:t>frequent</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in</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least</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one</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partitions</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3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DB.</a:t>
            </a:r>
          </a:p>
          <a:p>
            <a:pPr marL="297849" indent="-285750">
              <a:spcBef>
                <a:spcPts val="1444"/>
              </a:spcBef>
              <a:buFont typeface="Wingdings" panose="05000000000000000000" pitchFamily="2" charset="2"/>
              <a:buChar char="Ø"/>
              <a:tabLst>
                <a:tab pos="356596" algn="l"/>
              </a:tabLst>
            </a:pPr>
            <a:r>
              <a:rPr sz="1800" dirty="0">
                <a:solidFill>
                  <a:srgbClr val="009A9A"/>
                </a:solidFill>
                <a:latin typeface="Times New Roman" panose="02020603050405020304" pitchFamily="18" charset="0"/>
                <a:cs typeface="Times New Roman" panose="02020603050405020304" pitchFamily="18" charset="0"/>
              </a:rPr>
              <a:t>Sampling</a:t>
            </a:r>
            <a:r>
              <a:rPr sz="1800" dirty="0">
                <a:latin typeface="Times New Roman" panose="02020603050405020304" pitchFamily="18" charset="0"/>
                <a:cs typeface="Times New Roman" panose="02020603050405020304" pitchFamily="18" charset="0"/>
              </a:rPr>
              <a:t>:</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mining</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on</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subset</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given</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data,</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lower</a:t>
            </a:r>
            <a:r>
              <a:rPr sz="1800" spc="-5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support</a:t>
            </a:r>
            <a:r>
              <a:rPr sz="1800" spc="-5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threshold</a:t>
            </a:r>
            <a:r>
              <a:rPr sz="1800" dirty="0">
                <a:latin typeface="Times New Roman" panose="02020603050405020304" pitchFamily="18" charset="0"/>
                <a:cs typeface="Times New Roman" panose="02020603050405020304" pitchFamily="18" charset="0"/>
              </a:rPr>
              <a:t>+</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method</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determine</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3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completeness.</a:t>
            </a:r>
          </a:p>
          <a:p>
            <a:pPr marL="297212" marR="229240" indent="-285750">
              <a:lnSpc>
                <a:spcPct val="135300"/>
              </a:lnSpc>
              <a:spcBef>
                <a:spcPts val="592"/>
              </a:spcBef>
              <a:buFont typeface="Wingdings" panose="05000000000000000000" pitchFamily="2" charset="2"/>
              <a:buChar char="Ø"/>
              <a:tabLst>
                <a:tab pos="355959" algn="l"/>
              </a:tabLst>
            </a:pPr>
            <a:r>
              <a:rPr sz="1800" dirty="0">
                <a:solidFill>
                  <a:srgbClr val="009A9A"/>
                </a:solidFill>
                <a:latin typeface="Times New Roman" panose="02020603050405020304" pitchFamily="18" charset="0"/>
                <a:cs typeface="Times New Roman" panose="02020603050405020304" pitchFamily="18" charset="0"/>
              </a:rPr>
              <a:t>Dynamic</a:t>
            </a:r>
            <a:r>
              <a:rPr sz="1800" spc="-70" dirty="0">
                <a:solidFill>
                  <a:srgbClr val="009A9A"/>
                </a:solidFill>
                <a:latin typeface="Times New Roman" panose="02020603050405020304" pitchFamily="18" charset="0"/>
                <a:cs typeface="Times New Roman" panose="02020603050405020304" pitchFamily="18" charset="0"/>
              </a:rPr>
              <a:t> </a:t>
            </a:r>
            <a:r>
              <a:rPr sz="1800" dirty="0">
                <a:solidFill>
                  <a:srgbClr val="009A9A"/>
                </a:solidFill>
                <a:latin typeface="Times New Roman" panose="02020603050405020304" pitchFamily="18" charset="0"/>
                <a:cs typeface="Times New Roman" panose="02020603050405020304" pitchFamily="18" charset="0"/>
              </a:rPr>
              <a:t>itemset</a:t>
            </a:r>
            <a:r>
              <a:rPr sz="1800" spc="-60" dirty="0">
                <a:solidFill>
                  <a:srgbClr val="009A9A"/>
                </a:solidFill>
                <a:latin typeface="Times New Roman" panose="02020603050405020304" pitchFamily="18" charset="0"/>
                <a:cs typeface="Times New Roman" panose="02020603050405020304" pitchFamily="18" charset="0"/>
              </a:rPr>
              <a:t> </a:t>
            </a:r>
            <a:r>
              <a:rPr sz="1800" dirty="0">
                <a:solidFill>
                  <a:srgbClr val="009A9A"/>
                </a:solidFill>
                <a:latin typeface="Times New Roman" panose="02020603050405020304" pitchFamily="18" charset="0"/>
                <a:cs typeface="Times New Roman" panose="02020603050405020304" pitchFamily="18" charset="0"/>
              </a:rPr>
              <a:t>counting</a:t>
            </a:r>
            <a:r>
              <a:rPr sz="1800" dirty="0">
                <a:latin typeface="Times New Roman" panose="02020603050405020304" pitchFamily="18" charset="0"/>
                <a:cs typeface="Times New Roman" panose="02020603050405020304" pitchFamily="18" charset="0"/>
              </a:rPr>
              <a:t>:</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add</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new</a:t>
            </a:r>
            <a:r>
              <a:rPr sz="1800" spc="-6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candidate</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itemsets</a:t>
            </a:r>
            <a:r>
              <a:rPr sz="1800" spc="-6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only</a:t>
            </a:r>
            <a:r>
              <a:rPr sz="1800" spc="-65"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when </a:t>
            </a:r>
            <a:r>
              <a:rPr sz="1800" dirty="0">
                <a:latin typeface="Times New Roman" panose="02020603050405020304" pitchFamily="18" charset="0"/>
                <a:cs typeface="Times New Roman" panose="02020603050405020304" pitchFamily="18" charset="0"/>
              </a:rPr>
              <a:t>all</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their</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subsets</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are</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estimated</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be</a:t>
            </a:r>
            <a:r>
              <a:rPr sz="1800" spc="-4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frequent.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DA65AAF8-934E-5E44-F554-ECDB31E977C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F4AB149-B38C-4C79-AF0B-4350EF8B475B}" type="slidenum">
              <a:rPr lang="en-US" altLang="en-US" sz="1200"/>
              <a:pPr eaLnBrk="1" hangingPunct="1"/>
              <a:t>32</a:t>
            </a:fld>
            <a:endParaRPr lang="en-US" altLang="en-US" sz="1200"/>
          </a:p>
        </p:txBody>
      </p:sp>
      <p:sp>
        <p:nvSpPr>
          <p:cNvPr id="30723" name="Rectangle 2">
            <a:extLst>
              <a:ext uri="{FF2B5EF4-FFF2-40B4-BE49-F238E27FC236}">
                <a16:creationId xmlns:a16="http://schemas.microsoft.com/office/drawing/2014/main" id="{159E0CCF-C6B6-2AB2-DE8C-2B4401D8EA9F}"/>
              </a:ext>
            </a:extLst>
          </p:cNvPr>
          <p:cNvSpPr>
            <a:spLocks noGrp="1" noChangeArrowheads="1"/>
          </p:cNvSpPr>
          <p:nvPr>
            <p:ph type="title"/>
          </p:nvPr>
        </p:nvSpPr>
        <p:spPr>
          <a:xfrm>
            <a:off x="457200" y="381000"/>
            <a:ext cx="8153400" cy="685800"/>
          </a:xfrm>
        </p:spPr>
        <p:txBody>
          <a:bodyPr/>
          <a:lstStyle/>
          <a:p>
            <a:pPr algn="ctr" eaLnBrk="1" hangingPunct="1"/>
            <a:r>
              <a:rPr lang="en-US" altLang="en-US" sz="3200" dirty="0">
                <a:latin typeface="Times New Roman" panose="02020603050405020304" pitchFamily="18" charset="0"/>
                <a:cs typeface="Times New Roman" panose="02020603050405020304" pitchFamily="18" charset="0"/>
              </a:rPr>
              <a:t>How to Count Supports of Candidates?</a:t>
            </a:r>
          </a:p>
        </p:txBody>
      </p:sp>
      <p:sp>
        <p:nvSpPr>
          <p:cNvPr id="30724" name="Rectangle 3">
            <a:extLst>
              <a:ext uri="{FF2B5EF4-FFF2-40B4-BE49-F238E27FC236}">
                <a16:creationId xmlns:a16="http://schemas.microsoft.com/office/drawing/2014/main" id="{44E356DC-1129-AC8A-01F1-3E6DA9FEB02E}"/>
              </a:ext>
            </a:extLst>
          </p:cNvPr>
          <p:cNvSpPr>
            <a:spLocks noGrp="1" noChangeArrowheads="1"/>
          </p:cNvSpPr>
          <p:nvPr>
            <p:ph type="body" idx="1"/>
          </p:nvPr>
        </p:nvSpPr>
        <p:spPr>
          <a:xfrm>
            <a:off x="457200" y="1676400"/>
            <a:ext cx="8229600" cy="4724400"/>
          </a:xfrm>
        </p:spPr>
        <p:txBody>
          <a:bodyPr>
            <a:normAutofit/>
          </a:bodyPr>
          <a:lstStyle/>
          <a:p>
            <a:pPr eaLnBrk="1" hangingPunct="1">
              <a:lnSpc>
                <a:spcPct val="110000"/>
              </a:lnSpc>
            </a:pPr>
            <a:r>
              <a:rPr lang="en-US" altLang="en-US" sz="2000" dirty="0">
                <a:latin typeface="Times New Roman" panose="02020603050405020304" pitchFamily="18" charset="0"/>
                <a:cs typeface="Times New Roman" panose="02020603050405020304" pitchFamily="18" charset="0"/>
              </a:rPr>
              <a:t>Why counting supports of candidates a problem?</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The total number of candidates can be very huge</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 One transaction may contain many candidates</a:t>
            </a:r>
          </a:p>
          <a:p>
            <a:pPr eaLnBrk="1" hangingPunct="1">
              <a:lnSpc>
                <a:spcPct val="110000"/>
              </a:lnSpc>
            </a:pPr>
            <a:r>
              <a:rPr lang="en-US" altLang="en-US" sz="2000" dirty="0">
                <a:latin typeface="Times New Roman" panose="02020603050405020304" pitchFamily="18" charset="0"/>
                <a:cs typeface="Times New Roman" panose="02020603050405020304" pitchFamily="18" charset="0"/>
              </a:rPr>
              <a:t>Method:</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Candidate </a:t>
            </a:r>
            <a:r>
              <a:rPr lang="en-US" altLang="en-US" sz="2000" dirty="0" err="1">
                <a:latin typeface="Times New Roman" panose="02020603050405020304" pitchFamily="18" charset="0"/>
                <a:cs typeface="Times New Roman" panose="02020603050405020304" pitchFamily="18" charset="0"/>
              </a:rPr>
              <a:t>itemsets</a:t>
            </a:r>
            <a:r>
              <a:rPr lang="en-US" altLang="en-US" sz="2000" dirty="0">
                <a:latin typeface="Times New Roman" panose="02020603050405020304" pitchFamily="18" charset="0"/>
                <a:cs typeface="Times New Roman" panose="02020603050405020304" pitchFamily="18" charset="0"/>
              </a:rPr>
              <a:t> are stored in a </a:t>
            </a:r>
            <a:r>
              <a:rPr lang="en-US" altLang="en-US" sz="2000" i="1" dirty="0">
                <a:solidFill>
                  <a:schemeClr val="hlink"/>
                </a:solidFill>
                <a:latin typeface="Times New Roman" panose="02020603050405020304" pitchFamily="18" charset="0"/>
                <a:cs typeface="Times New Roman" panose="02020603050405020304" pitchFamily="18" charset="0"/>
              </a:rPr>
              <a:t>hash-tree</a:t>
            </a:r>
          </a:p>
          <a:p>
            <a:pPr lvl="1" eaLnBrk="1" hangingPunct="1">
              <a:lnSpc>
                <a:spcPct val="110000"/>
              </a:lnSpc>
            </a:pPr>
            <a:r>
              <a:rPr lang="en-US" altLang="en-US" sz="2000" i="1" dirty="0">
                <a:solidFill>
                  <a:schemeClr val="hlink"/>
                </a:solidFill>
                <a:latin typeface="Times New Roman" panose="02020603050405020304" pitchFamily="18" charset="0"/>
                <a:cs typeface="Times New Roman" panose="02020603050405020304" pitchFamily="18" charset="0"/>
              </a:rPr>
              <a:t>Leaf </a:t>
            </a:r>
            <a:r>
              <a:rPr lang="en-US" altLang="en-US" sz="2000" dirty="0">
                <a:solidFill>
                  <a:schemeClr val="hlink"/>
                </a:solidFill>
                <a:latin typeface="Times New Roman" panose="02020603050405020304" pitchFamily="18" charset="0"/>
                <a:cs typeface="Times New Roman" panose="02020603050405020304" pitchFamily="18" charset="0"/>
              </a:rPr>
              <a:t>node </a:t>
            </a:r>
            <a:r>
              <a:rPr lang="en-US" altLang="en-US" sz="2000" dirty="0">
                <a:latin typeface="Times New Roman" panose="02020603050405020304" pitchFamily="18" charset="0"/>
                <a:cs typeface="Times New Roman" panose="02020603050405020304" pitchFamily="18" charset="0"/>
              </a:rPr>
              <a:t>of hash-tree contains a list of </a:t>
            </a:r>
            <a:r>
              <a:rPr lang="en-US" altLang="en-US" sz="2000" dirty="0" err="1">
                <a:latin typeface="Times New Roman" panose="02020603050405020304" pitchFamily="18" charset="0"/>
                <a:cs typeface="Times New Roman" panose="02020603050405020304" pitchFamily="18" charset="0"/>
              </a:rPr>
              <a:t>itemsets</a:t>
            </a:r>
            <a:r>
              <a:rPr lang="en-US" altLang="en-US" sz="2000" dirty="0">
                <a:latin typeface="Times New Roman" panose="02020603050405020304" pitchFamily="18" charset="0"/>
                <a:cs typeface="Times New Roman" panose="02020603050405020304" pitchFamily="18" charset="0"/>
              </a:rPr>
              <a:t> and counts</a:t>
            </a:r>
          </a:p>
          <a:p>
            <a:pPr lvl="1" eaLnBrk="1" hangingPunct="1">
              <a:lnSpc>
                <a:spcPct val="110000"/>
              </a:lnSpc>
            </a:pPr>
            <a:r>
              <a:rPr lang="en-US" altLang="en-US" sz="2000" i="1" dirty="0">
                <a:solidFill>
                  <a:schemeClr val="hlink"/>
                </a:solidFill>
                <a:latin typeface="Times New Roman" panose="02020603050405020304" pitchFamily="18" charset="0"/>
                <a:cs typeface="Times New Roman" panose="02020603050405020304" pitchFamily="18" charset="0"/>
              </a:rPr>
              <a:t>Interior </a:t>
            </a:r>
            <a:r>
              <a:rPr lang="en-US" altLang="en-US" sz="2000" dirty="0">
                <a:solidFill>
                  <a:schemeClr val="hlink"/>
                </a:solidFill>
                <a:latin typeface="Times New Roman" panose="02020603050405020304" pitchFamily="18" charset="0"/>
                <a:cs typeface="Times New Roman" panose="02020603050405020304" pitchFamily="18" charset="0"/>
              </a:rPr>
              <a:t>node</a:t>
            </a:r>
            <a:r>
              <a:rPr lang="en-US" altLang="en-US" sz="2000" dirty="0">
                <a:latin typeface="Times New Roman" panose="02020603050405020304" pitchFamily="18" charset="0"/>
                <a:cs typeface="Times New Roman" panose="02020603050405020304" pitchFamily="18" charset="0"/>
              </a:rPr>
              <a:t> contains a hash table</a:t>
            </a:r>
          </a:p>
          <a:p>
            <a:pPr lvl="1" eaLnBrk="1" hangingPunct="1">
              <a:lnSpc>
                <a:spcPct val="110000"/>
              </a:lnSpc>
            </a:pPr>
            <a:r>
              <a:rPr lang="en-US" altLang="en-US" sz="2000" i="1" dirty="0">
                <a:solidFill>
                  <a:schemeClr val="hlink"/>
                </a:solidFill>
                <a:latin typeface="Times New Roman" panose="02020603050405020304" pitchFamily="18" charset="0"/>
                <a:cs typeface="Times New Roman" panose="02020603050405020304" pitchFamily="18" charset="0"/>
              </a:rPr>
              <a:t>Subset function</a:t>
            </a:r>
            <a:r>
              <a:rPr lang="en-US" altLang="en-US" sz="2000" dirty="0">
                <a:latin typeface="Times New Roman" panose="02020603050405020304" pitchFamily="18" charset="0"/>
                <a:cs typeface="Times New Roman" panose="02020603050405020304" pitchFamily="18" charset="0"/>
              </a:rPr>
              <a:t>: finds all the candidates contained in a transaction</a:t>
            </a:r>
            <a:endParaRPr lang="en-US" altLang="en-US" sz="2000"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FE7233B9-9888-9DF3-D923-630464E2A89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34307C2-4861-4BA6-BC1D-E5B4352CA741}" type="slidenum">
              <a:rPr lang="en-US" altLang="en-US" sz="1200"/>
              <a:pPr eaLnBrk="1" hangingPunct="1"/>
              <a:t>33</a:t>
            </a:fld>
            <a:endParaRPr lang="en-US" altLang="en-US" sz="1200"/>
          </a:p>
        </p:txBody>
      </p:sp>
      <p:sp>
        <p:nvSpPr>
          <p:cNvPr id="40963" name="Rectangle 2">
            <a:extLst>
              <a:ext uri="{FF2B5EF4-FFF2-40B4-BE49-F238E27FC236}">
                <a16:creationId xmlns:a16="http://schemas.microsoft.com/office/drawing/2014/main" id="{A0B7B57C-CEDC-018F-C1CC-21A0EB5A7DC2}"/>
              </a:ext>
            </a:extLst>
          </p:cNvPr>
          <p:cNvSpPr>
            <a:spLocks noGrp="1" noChangeArrowheads="1"/>
          </p:cNvSpPr>
          <p:nvPr>
            <p:ph type="title"/>
          </p:nvPr>
        </p:nvSpPr>
        <p:spPr>
          <a:xfrm>
            <a:off x="0" y="228600"/>
            <a:ext cx="9144000" cy="914400"/>
          </a:xfrm>
        </p:spPr>
        <p:txBody>
          <a:bodyPr>
            <a:noAutofit/>
          </a:bodyPr>
          <a:lstStyle/>
          <a:p>
            <a:pPr algn="ctr" eaLnBrk="1" hangingPunct="1"/>
            <a:r>
              <a:rPr lang="en-US" altLang="en-US" sz="3200" dirty="0">
                <a:latin typeface="Times New Roman" panose="02020603050405020304" pitchFamily="18" charset="0"/>
                <a:cs typeface="Times New Roman" panose="02020603050405020304" pitchFamily="18" charset="0"/>
              </a:rPr>
              <a:t>Pattern-Growth Approach: Mining Frequent Patterns Without Candidate Generation</a:t>
            </a:r>
          </a:p>
        </p:txBody>
      </p:sp>
      <p:sp>
        <p:nvSpPr>
          <p:cNvPr id="40964" name="Rectangle 3">
            <a:extLst>
              <a:ext uri="{FF2B5EF4-FFF2-40B4-BE49-F238E27FC236}">
                <a16:creationId xmlns:a16="http://schemas.microsoft.com/office/drawing/2014/main" id="{EDAB5696-9F26-D23A-B369-96DA682C545B}"/>
              </a:ext>
            </a:extLst>
          </p:cNvPr>
          <p:cNvSpPr>
            <a:spLocks noGrp="1" noChangeArrowheads="1"/>
          </p:cNvSpPr>
          <p:nvPr>
            <p:ph type="body" idx="1"/>
          </p:nvPr>
        </p:nvSpPr>
        <p:spPr>
          <a:xfrm>
            <a:off x="304800" y="1447800"/>
            <a:ext cx="8597900" cy="5054600"/>
          </a:xfrm>
        </p:spPr>
        <p:txBody>
          <a:bodyPr>
            <a:normAutofit/>
          </a:bodyPr>
          <a:lstStyle/>
          <a:p>
            <a:pPr eaLnBrk="1" hangingPunct="1">
              <a:lnSpc>
                <a:spcPct val="120000"/>
              </a:lnSpc>
            </a:pPr>
            <a:r>
              <a:rPr lang="en-US" altLang="en-US" sz="2000" dirty="0">
                <a:latin typeface="Times New Roman" panose="02020603050405020304" pitchFamily="18" charset="0"/>
                <a:cs typeface="Times New Roman" panose="02020603050405020304" pitchFamily="18" charset="0"/>
              </a:rPr>
              <a:t>Bottlenecks of the </a:t>
            </a:r>
            <a:r>
              <a:rPr lang="en-US" altLang="en-US" sz="2000" dirty="0" err="1">
                <a:latin typeface="Times New Roman" panose="02020603050405020304" pitchFamily="18" charset="0"/>
                <a:cs typeface="Times New Roman" panose="02020603050405020304" pitchFamily="18" charset="0"/>
              </a:rPr>
              <a:t>Apriori</a:t>
            </a:r>
            <a:r>
              <a:rPr lang="en-US" altLang="en-US" sz="2000" dirty="0">
                <a:latin typeface="Times New Roman" panose="02020603050405020304" pitchFamily="18" charset="0"/>
                <a:cs typeface="Times New Roman" panose="02020603050405020304" pitchFamily="18" charset="0"/>
              </a:rPr>
              <a:t> approach</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Breadth-first (i.e., level-wise) search</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Candidate generation and test</a:t>
            </a:r>
          </a:p>
          <a:p>
            <a:pPr lvl="2" eaLnBrk="1" hangingPunct="1">
              <a:lnSpc>
                <a:spcPct val="120000"/>
              </a:lnSpc>
            </a:pPr>
            <a:r>
              <a:rPr lang="en-US" altLang="en-US" sz="2000" dirty="0">
                <a:latin typeface="Times New Roman" panose="02020603050405020304" pitchFamily="18" charset="0"/>
                <a:cs typeface="Times New Roman" panose="02020603050405020304" pitchFamily="18" charset="0"/>
              </a:rPr>
              <a:t>Often generates a huge number of candidates</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The </a:t>
            </a:r>
            <a:r>
              <a:rPr lang="en-US" altLang="en-US" sz="2000" dirty="0" err="1">
                <a:latin typeface="Times New Roman" panose="02020603050405020304" pitchFamily="18" charset="0"/>
                <a:cs typeface="Times New Roman" panose="02020603050405020304" pitchFamily="18" charset="0"/>
              </a:rPr>
              <a:t>FPGrowth</a:t>
            </a:r>
            <a:r>
              <a:rPr lang="en-US" altLang="en-US" sz="2000" dirty="0">
                <a:latin typeface="Times New Roman" panose="02020603050405020304" pitchFamily="18" charset="0"/>
                <a:cs typeface="Times New Roman" panose="02020603050405020304" pitchFamily="18" charset="0"/>
              </a:rPr>
              <a:t> Approach (J. Han, J. Pei, and Y. Yin, SIGMOD’ 00)</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Depth-first search</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Avoid explicit candidate generation</a:t>
            </a:r>
            <a:endParaRPr lang="en-US" altLang="en-US" sz="2000" dirty="0">
              <a:solidFill>
                <a:schemeClr val="hlink"/>
              </a:solidFill>
              <a:latin typeface="Times New Roman" panose="02020603050405020304" pitchFamily="18" charset="0"/>
              <a:cs typeface="Times New Roman" panose="02020603050405020304" pitchFamily="18" charset="0"/>
            </a:endParaRP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Major philosophy: Grow long patterns from short ones using local frequent items only</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abc</a:t>
            </a:r>
            <a:r>
              <a:rPr lang="en-US" altLang="en-US" sz="2000" dirty="0">
                <a:latin typeface="Times New Roman" panose="02020603050405020304" pitchFamily="18" charset="0"/>
                <a:cs typeface="Times New Roman" panose="02020603050405020304" pitchFamily="18" charset="0"/>
              </a:rPr>
              <a:t>” is a frequent pattern</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Get all transactions having “</a:t>
            </a:r>
            <a:r>
              <a:rPr lang="en-US" altLang="en-US" sz="2000" dirty="0" err="1">
                <a:latin typeface="Times New Roman" panose="02020603050405020304" pitchFamily="18" charset="0"/>
                <a:cs typeface="Times New Roman" panose="02020603050405020304" pitchFamily="18" charset="0"/>
              </a:rPr>
              <a:t>abc</a:t>
            </a:r>
            <a:r>
              <a:rPr lang="en-US" altLang="en-US" sz="2000" dirty="0">
                <a:latin typeface="Times New Roman" panose="02020603050405020304" pitchFamily="18" charset="0"/>
                <a:cs typeface="Times New Roman" panose="02020603050405020304" pitchFamily="18" charset="0"/>
              </a:rPr>
              <a:t>”, i.e., project DB on </a:t>
            </a:r>
            <a:r>
              <a:rPr lang="en-US" altLang="en-US" sz="2000" dirty="0" err="1">
                <a:latin typeface="Times New Roman" panose="02020603050405020304" pitchFamily="18" charset="0"/>
                <a:cs typeface="Times New Roman" panose="02020603050405020304" pitchFamily="18" charset="0"/>
              </a:rPr>
              <a:t>abc</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DB|abc</a:t>
            </a: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“d” is a local frequent item in </a:t>
            </a:r>
            <a:r>
              <a:rPr lang="en-US" altLang="en-US" sz="2000" dirty="0" err="1">
                <a:latin typeface="Times New Roman" panose="02020603050405020304" pitchFamily="18" charset="0"/>
                <a:cs typeface="Times New Roman" panose="02020603050405020304" pitchFamily="18" charset="0"/>
              </a:rPr>
              <a:t>DB|abc</a:t>
            </a:r>
            <a:r>
              <a:rPr lang="en-US"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000" dirty="0" err="1">
                <a:latin typeface="Times New Roman" panose="02020603050405020304" pitchFamily="18" charset="0"/>
                <a:cs typeface="Times New Roman" panose="02020603050405020304" pitchFamily="18" charset="0"/>
                <a:sym typeface="Wingdings" panose="05000000000000000000" pitchFamily="2" charset="2"/>
              </a:rPr>
              <a:t>abcd</a:t>
            </a:r>
            <a:r>
              <a:rPr lang="en-US" altLang="en-US" sz="2000" dirty="0">
                <a:latin typeface="Times New Roman" panose="02020603050405020304" pitchFamily="18" charset="0"/>
                <a:cs typeface="Times New Roman" panose="02020603050405020304" pitchFamily="18" charset="0"/>
                <a:sym typeface="Wingdings" panose="05000000000000000000" pitchFamily="2" charset="2"/>
              </a:rPr>
              <a:t> is a frequent pattern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C29E7-93E7-44BD-90DD-B65D0E629441}"/>
            </a:ext>
          </a:extLst>
        </p:cNvPr>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76D755C1-2F60-0783-BE77-8C0B8FF7EE5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EC702B7-B7FA-4869-A0CC-F83193D8AA8A}" type="slidenum">
              <a:rPr lang="en-US" altLang="en-US" sz="1200"/>
              <a:pPr eaLnBrk="1" hangingPunct="1"/>
              <a:t>34</a:t>
            </a:fld>
            <a:endParaRPr lang="en-US" altLang="en-US" sz="1200"/>
          </a:p>
        </p:txBody>
      </p:sp>
      <p:sp>
        <p:nvSpPr>
          <p:cNvPr id="41987" name="Rectangle 2">
            <a:extLst>
              <a:ext uri="{FF2B5EF4-FFF2-40B4-BE49-F238E27FC236}">
                <a16:creationId xmlns:a16="http://schemas.microsoft.com/office/drawing/2014/main" id="{73B2C618-B4A3-3D9D-94E4-BC9B7FF59558}"/>
              </a:ext>
            </a:extLst>
          </p:cNvPr>
          <p:cNvSpPr>
            <a:spLocks noGrp="1" noChangeArrowheads="1"/>
          </p:cNvSpPr>
          <p:nvPr>
            <p:ph type="title"/>
          </p:nvPr>
        </p:nvSpPr>
        <p:spPr>
          <a:xfrm>
            <a:off x="152400" y="304800"/>
            <a:ext cx="8763000" cy="685800"/>
          </a:xfrm>
        </p:spPr>
        <p:txBody>
          <a:bodyPr>
            <a:normAutofit fontScale="90000"/>
          </a:bodyPr>
          <a:lstStyle/>
          <a:p>
            <a:pPr eaLnBrk="1" hangingPunct="1"/>
            <a:r>
              <a:rPr lang="en-US" altLang="en-US" sz="3200"/>
              <a:t>Construct FP-tree from a Transaction Database</a:t>
            </a:r>
          </a:p>
        </p:txBody>
      </p:sp>
      <p:sp>
        <p:nvSpPr>
          <p:cNvPr id="41989" name="Text Box 39">
            <a:extLst>
              <a:ext uri="{FF2B5EF4-FFF2-40B4-BE49-F238E27FC236}">
                <a16:creationId xmlns:a16="http://schemas.microsoft.com/office/drawing/2014/main" id="{A49AEFC7-BC92-2B22-6391-722CF10CEAF1}"/>
              </a:ext>
            </a:extLst>
          </p:cNvPr>
          <p:cNvSpPr txBox="1">
            <a:spLocks noChangeArrowheads="1"/>
          </p:cNvSpPr>
          <p:nvPr/>
        </p:nvSpPr>
        <p:spPr bwMode="auto">
          <a:xfrm>
            <a:off x="6705600" y="2362200"/>
            <a:ext cx="20970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60000"/>
              </a:lnSpc>
              <a:spcBef>
                <a:spcPct val="50000"/>
              </a:spcBef>
            </a:pPr>
            <a:r>
              <a:rPr lang="en-US" altLang="en-US" sz="2000" b="1" i="1">
                <a:latin typeface="Times New Roman" panose="02020603050405020304" pitchFamily="18" charset="0"/>
              </a:rPr>
              <a:t>min_support = 3</a:t>
            </a:r>
            <a:endParaRPr lang="en-US" altLang="en-US" b="1" u="sng">
              <a:latin typeface="Times New Roman" panose="02020603050405020304" pitchFamily="18" charset="0"/>
            </a:endParaRPr>
          </a:p>
        </p:txBody>
      </p:sp>
      <p:sp>
        <p:nvSpPr>
          <p:cNvPr id="41990" name="Rectangle 40">
            <a:extLst>
              <a:ext uri="{FF2B5EF4-FFF2-40B4-BE49-F238E27FC236}">
                <a16:creationId xmlns:a16="http://schemas.microsoft.com/office/drawing/2014/main" id="{B8DEC91E-C95A-B669-3E42-0AED5E544B1F}"/>
              </a:ext>
            </a:extLst>
          </p:cNvPr>
          <p:cNvSpPr>
            <a:spLocks noChangeArrowheads="1"/>
          </p:cNvSpPr>
          <p:nvPr/>
        </p:nvSpPr>
        <p:spPr bwMode="auto">
          <a:xfrm>
            <a:off x="914400" y="1676400"/>
            <a:ext cx="5956300"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40000"/>
              </a:lnSpc>
              <a:spcBef>
                <a:spcPct val="50000"/>
              </a:spcBef>
            </a:pPr>
            <a:r>
              <a:rPr lang="en-US" altLang="en-US" sz="2000" b="1" i="1" u="sng">
                <a:latin typeface="Times New Roman" panose="02020603050405020304" pitchFamily="18" charset="0"/>
              </a:rPr>
              <a:t>TID		Items bought	  (ordered) frequent items</a:t>
            </a:r>
          </a:p>
          <a:p>
            <a:pPr>
              <a:lnSpc>
                <a:spcPct val="40000"/>
              </a:lnSpc>
              <a:spcBef>
                <a:spcPct val="50000"/>
              </a:spcBef>
            </a:pPr>
            <a:r>
              <a:rPr lang="en-US" altLang="en-US" sz="2000" b="1">
                <a:latin typeface="Times New Roman" panose="02020603050405020304" pitchFamily="18" charset="0"/>
              </a:rPr>
              <a:t>100		{</a:t>
            </a:r>
            <a:r>
              <a:rPr lang="en-US" altLang="en-US" sz="2000" b="1" i="1">
                <a:latin typeface="Times New Roman" panose="02020603050405020304" pitchFamily="18" charset="0"/>
              </a:rPr>
              <a:t>f, a, c, d, g, i, m, p</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f, c, a, m, p</a:t>
            </a:r>
            <a:r>
              <a:rPr lang="en-US" altLang="en-US" sz="2000" b="1">
                <a:latin typeface="Times New Roman" panose="02020603050405020304" pitchFamily="18" charset="0"/>
              </a:rPr>
              <a:t>}</a:t>
            </a:r>
          </a:p>
          <a:p>
            <a:pPr>
              <a:lnSpc>
                <a:spcPct val="40000"/>
              </a:lnSpc>
              <a:spcBef>
                <a:spcPct val="50000"/>
              </a:spcBef>
            </a:pPr>
            <a:r>
              <a:rPr lang="en-US" altLang="en-US" sz="2000" b="1">
                <a:latin typeface="Times New Roman" panose="02020603050405020304" pitchFamily="18" charset="0"/>
              </a:rPr>
              <a:t>200		{</a:t>
            </a:r>
            <a:r>
              <a:rPr lang="en-US" altLang="en-US" sz="2000" b="1" i="1">
                <a:latin typeface="Times New Roman" panose="02020603050405020304" pitchFamily="18" charset="0"/>
              </a:rPr>
              <a:t>a, b, c, f, l, m, o</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f, c, a, b, m</a:t>
            </a:r>
            <a:r>
              <a:rPr lang="en-US" altLang="en-US" sz="2000" b="1">
                <a:latin typeface="Times New Roman" panose="02020603050405020304" pitchFamily="18" charset="0"/>
              </a:rPr>
              <a:t>}</a:t>
            </a:r>
          </a:p>
          <a:p>
            <a:pPr>
              <a:lnSpc>
                <a:spcPct val="40000"/>
              </a:lnSpc>
              <a:spcBef>
                <a:spcPct val="50000"/>
              </a:spcBef>
            </a:pPr>
            <a:r>
              <a:rPr lang="en-US" altLang="en-US" sz="2000" b="1">
                <a:latin typeface="Times New Roman" panose="02020603050405020304" pitchFamily="18" charset="0"/>
              </a:rPr>
              <a:t>300	</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b, f, h, j, o, w</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f, b</a:t>
            </a:r>
            <a:r>
              <a:rPr lang="en-US" altLang="en-US" sz="2000" b="1">
                <a:latin typeface="Times New Roman" panose="02020603050405020304" pitchFamily="18" charset="0"/>
              </a:rPr>
              <a:t>}</a:t>
            </a:r>
          </a:p>
          <a:p>
            <a:pPr>
              <a:lnSpc>
                <a:spcPct val="40000"/>
              </a:lnSpc>
              <a:spcBef>
                <a:spcPct val="50000"/>
              </a:spcBef>
            </a:pPr>
            <a:r>
              <a:rPr lang="en-US" altLang="en-US" sz="2000" b="1">
                <a:latin typeface="Times New Roman" panose="02020603050405020304" pitchFamily="18" charset="0"/>
              </a:rPr>
              <a:t>400	</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b, c, k, s, p</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c, b, p</a:t>
            </a:r>
            <a:r>
              <a:rPr lang="en-US" altLang="en-US" sz="2000" b="1">
                <a:latin typeface="Times New Roman" panose="02020603050405020304" pitchFamily="18" charset="0"/>
              </a:rPr>
              <a:t>}</a:t>
            </a:r>
          </a:p>
          <a:p>
            <a:pPr>
              <a:lnSpc>
                <a:spcPct val="40000"/>
              </a:lnSpc>
              <a:spcBef>
                <a:spcPct val="50000"/>
              </a:spcBef>
            </a:pPr>
            <a:r>
              <a:rPr lang="en-US" altLang="en-US" sz="2000" b="1">
                <a:latin typeface="Times New Roman" panose="02020603050405020304" pitchFamily="18" charset="0"/>
              </a:rPr>
              <a:t>500</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a, f, c, e, l, p, m, n</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f, c, a, m, p</a:t>
            </a:r>
            <a:r>
              <a:rPr lang="en-US" altLang="en-US" sz="2000" b="1">
                <a:latin typeface="Times New Roman" panose="02020603050405020304" pitchFamily="18" charset="0"/>
              </a:rPr>
              <a:t>}</a:t>
            </a:r>
          </a:p>
        </p:txBody>
      </p:sp>
      <p:sp>
        <p:nvSpPr>
          <p:cNvPr id="41991" name="Text Box 41">
            <a:extLst>
              <a:ext uri="{FF2B5EF4-FFF2-40B4-BE49-F238E27FC236}">
                <a16:creationId xmlns:a16="http://schemas.microsoft.com/office/drawing/2014/main" id="{899F3966-4FF2-C8AB-FA1C-0F60A10F300C}"/>
              </a:ext>
            </a:extLst>
          </p:cNvPr>
          <p:cNvSpPr txBox="1">
            <a:spLocks noChangeArrowheads="1"/>
          </p:cNvSpPr>
          <p:nvPr/>
        </p:nvSpPr>
        <p:spPr bwMode="auto">
          <a:xfrm>
            <a:off x="304800" y="3489325"/>
            <a:ext cx="3581400"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buFontTx/>
              <a:buAutoNum type="arabicPeriod"/>
            </a:pPr>
            <a:r>
              <a:rPr lang="en-US" altLang="en-US" sz="2000"/>
              <a:t>Scan DB once, find frequent 1-itemset (single item pattern)</a:t>
            </a:r>
          </a:p>
          <a:p>
            <a:pPr eaLnBrk="1" hangingPunct="1">
              <a:spcBef>
                <a:spcPct val="50000"/>
              </a:spcBef>
              <a:buFontTx/>
              <a:buAutoNum type="arabicPeriod"/>
            </a:pPr>
            <a:r>
              <a:rPr lang="en-US" altLang="en-US" sz="2000"/>
              <a:t>Sort frequent items in frequency descending order, f-list</a:t>
            </a:r>
          </a:p>
          <a:p>
            <a:pPr eaLnBrk="1" hangingPunct="1">
              <a:spcBef>
                <a:spcPct val="50000"/>
              </a:spcBef>
              <a:buFontTx/>
              <a:buAutoNum type="arabicPeriod"/>
            </a:pPr>
            <a:r>
              <a:rPr lang="en-US" altLang="en-US" sz="2000"/>
              <a:t>Scan DB again, construct FP-tree</a:t>
            </a:r>
          </a:p>
        </p:txBody>
      </p:sp>
    </p:spTree>
    <p:extLst>
      <p:ext uri="{BB962C8B-B14F-4D97-AF65-F5344CB8AC3E}">
        <p14:creationId xmlns:p14="http://schemas.microsoft.com/office/powerpoint/2010/main" val="3365084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2ECC400A-5FEA-5CD0-D295-1B81F16DFC9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EC702B7-B7FA-4869-A0CC-F83193D8AA8A}" type="slidenum">
              <a:rPr lang="en-US" altLang="en-US" sz="1200"/>
              <a:pPr eaLnBrk="1" hangingPunct="1"/>
              <a:t>35</a:t>
            </a:fld>
            <a:endParaRPr lang="en-US" altLang="en-US" sz="1200"/>
          </a:p>
        </p:txBody>
      </p:sp>
      <p:sp>
        <p:nvSpPr>
          <p:cNvPr id="41987" name="Rectangle 2">
            <a:extLst>
              <a:ext uri="{FF2B5EF4-FFF2-40B4-BE49-F238E27FC236}">
                <a16:creationId xmlns:a16="http://schemas.microsoft.com/office/drawing/2014/main" id="{3A117ED5-0039-8DCD-E0FF-7E3E10AB744E}"/>
              </a:ext>
            </a:extLst>
          </p:cNvPr>
          <p:cNvSpPr>
            <a:spLocks noGrp="1" noChangeArrowheads="1"/>
          </p:cNvSpPr>
          <p:nvPr>
            <p:ph type="title"/>
          </p:nvPr>
        </p:nvSpPr>
        <p:spPr>
          <a:xfrm>
            <a:off x="152400" y="304800"/>
            <a:ext cx="8763000" cy="685800"/>
          </a:xfrm>
        </p:spPr>
        <p:txBody>
          <a:bodyPr>
            <a:normAutofit fontScale="90000"/>
          </a:bodyPr>
          <a:lstStyle/>
          <a:p>
            <a:pPr eaLnBrk="1" hangingPunct="1"/>
            <a:r>
              <a:rPr lang="en-US" altLang="en-US" sz="3200"/>
              <a:t>Construct FP-tree from a Transaction Database</a:t>
            </a:r>
          </a:p>
        </p:txBody>
      </p:sp>
      <p:grpSp>
        <p:nvGrpSpPr>
          <p:cNvPr id="41988" name="Group 3">
            <a:extLst>
              <a:ext uri="{FF2B5EF4-FFF2-40B4-BE49-F238E27FC236}">
                <a16:creationId xmlns:a16="http://schemas.microsoft.com/office/drawing/2014/main" id="{0AE82762-C9DF-08AC-2F2A-CAA2CC0FFB59}"/>
              </a:ext>
            </a:extLst>
          </p:cNvPr>
          <p:cNvGrpSpPr>
            <a:grpSpLocks/>
          </p:cNvGrpSpPr>
          <p:nvPr/>
        </p:nvGrpSpPr>
        <p:grpSpPr bwMode="auto">
          <a:xfrm>
            <a:off x="4191000" y="2971800"/>
            <a:ext cx="4579938" cy="3624263"/>
            <a:chOff x="2496" y="1772"/>
            <a:chExt cx="2926" cy="2218"/>
          </a:xfrm>
        </p:grpSpPr>
        <p:sp>
          <p:nvSpPr>
            <p:cNvPr id="41993" name="Text Box 4">
              <a:extLst>
                <a:ext uri="{FF2B5EF4-FFF2-40B4-BE49-F238E27FC236}">
                  <a16:creationId xmlns:a16="http://schemas.microsoft.com/office/drawing/2014/main" id="{772CA4CD-5A29-61E4-CEC9-6817D4907D3B}"/>
                </a:ext>
              </a:extLst>
            </p:cNvPr>
            <p:cNvSpPr txBox="1">
              <a:spLocks noChangeArrowheads="1"/>
            </p:cNvSpPr>
            <p:nvPr/>
          </p:nvSpPr>
          <p:spPr bwMode="auto">
            <a:xfrm>
              <a:off x="4796" y="1772"/>
              <a:ext cx="282"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a:t>
              </a:r>
            </a:p>
          </p:txBody>
        </p:sp>
        <p:sp>
          <p:nvSpPr>
            <p:cNvPr id="41994" name="Text Box 5">
              <a:extLst>
                <a:ext uri="{FF2B5EF4-FFF2-40B4-BE49-F238E27FC236}">
                  <a16:creationId xmlns:a16="http://schemas.microsoft.com/office/drawing/2014/main" id="{5C183315-B970-57C9-CACC-2BD8D2E73E78}"/>
                </a:ext>
              </a:extLst>
            </p:cNvPr>
            <p:cNvSpPr txBox="1">
              <a:spLocks noChangeArrowheads="1"/>
            </p:cNvSpPr>
            <p:nvPr/>
          </p:nvSpPr>
          <p:spPr bwMode="auto">
            <a:xfrm>
              <a:off x="4508" y="2205"/>
              <a:ext cx="305"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f:4</a:t>
              </a:r>
            </a:p>
          </p:txBody>
        </p:sp>
        <p:sp>
          <p:nvSpPr>
            <p:cNvPr id="41995" name="Text Box 6">
              <a:extLst>
                <a:ext uri="{FF2B5EF4-FFF2-40B4-BE49-F238E27FC236}">
                  <a16:creationId xmlns:a16="http://schemas.microsoft.com/office/drawing/2014/main" id="{A784423D-0DB0-E6D1-EC4D-510E9CE1F1C7}"/>
                </a:ext>
              </a:extLst>
            </p:cNvPr>
            <p:cNvSpPr txBox="1">
              <a:spLocks noChangeArrowheads="1"/>
            </p:cNvSpPr>
            <p:nvPr/>
          </p:nvSpPr>
          <p:spPr bwMode="auto">
            <a:xfrm>
              <a:off x="5084" y="2205"/>
              <a:ext cx="333"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c:1</a:t>
              </a:r>
            </a:p>
          </p:txBody>
        </p:sp>
        <p:sp>
          <p:nvSpPr>
            <p:cNvPr id="41996" name="Text Box 7">
              <a:extLst>
                <a:ext uri="{FF2B5EF4-FFF2-40B4-BE49-F238E27FC236}">
                  <a16:creationId xmlns:a16="http://schemas.microsoft.com/office/drawing/2014/main" id="{CE093A86-F41B-E4FC-B05F-743DA0C9F3CC}"/>
                </a:ext>
              </a:extLst>
            </p:cNvPr>
            <p:cNvSpPr txBox="1">
              <a:spLocks noChangeArrowheads="1"/>
            </p:cNvSpPr>
            <p:nvPr/>
          </p:nvSpPr>
          <p:spPr bwMode="auto">
            <a:xfrm>
              <a:off x="5080" y="2588"/>
              <a:ext cx="342"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41997" name="Text Box 8">
              <a:extLst>
                <a:ext uri="{FF2B5EF4-FFF2-40B4-BE49-F238E27FC236}">
                  <a16:creationId xmlns:a16="http://schemas.microsoft.com/office/drawing/2014/main" id="{6931440F-73FE-0458-25F9-73C9804A5D0A}"/>
                </a:ext>
              </a:extLst>
            </p:cNvPr>
            <p:cNvSpPr txBox="1">
              <a:spLocks noChangeArrowheads="1"/>
            </p:cNvSpPr>
            <p:nvPr/>
          </p:nvSpPr>
          <p:spPr bwMode="auto">
            <a:xfrm>
              <a:off x="5080" y="2971"/>
              <a:ext cx="342"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p:1</a:t>
              </a:r>
            </a:p>
          </p:txBody>
        </p:sp>
        <p:cxnSp>
          <p:nvCxnSpPr>
            <p:cNvPr id="41998" name="AutoShape 9">
              <a:extLst>
                <a:ext uri="{FF2B5EF4-FFF2-40B4-BE49-F238E27FC236}">
                  <a16:creationId xmlns:a16="http://schemas.microsoft.com/office/drawing/2014/main" id="{84204A37-586D-7CEE-A7DC-B1D6F9B7CBAB}"/>
                </a:ext>
              </a:extLst>
            </p:cNvPr>
            <p:cNvCxnSpPr>
              <a:cxnSpLocks noChangeShapeType="1"/>
              <a:stCxn id="41995" idx="2"/>
              <a:endCxn id="41996" idx="0"/>
            </p:cNvCxnSpPr>
            <p:nvPr/>
          </p:nvCxnSpPr>
          <p:spPr bwMode="auto">
            <a:xfrm>
              <a:off x="5248" y="2458"/>
              <a:ext cx="1"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1999" name="AutoShape 10">
              <a:extLst>
                <a:ext uri="{FF2B5EF4-FFF2-40B4-BE49-F238E27FC236}">
                  <a16:creationId xmlns:a16="http://schemas.microsoft.com/office/drawing/2014/main" id="{A6DFA7DB-1C4E-38FA-4ADD-0FF75299ACCE}"/>
                </a:ext>
              </a:extLst>
            </p:cNvPr>
            <p:cNvCxnSpPr>
              <a:cxnSpLocks noChangeShapeType="1"/>
              <a:stCxn id="41996" idx="2"/>
              <a:endCxn id="41997" idx="0"/>
            </p:cNvCxnSpPr>
            <p:nvPr/>
          </p:nvCxnSpPr>
          <p:spPr bwMode="auto">
            <a:xfrm>
              <a:off x="5249" y="2842"/>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2000" name="AutoShape 11">
              <a:extLst>
                <a:ext uri="{FF2B5EF4-FFF2-40B4-BE49-F238E27FC236}">
                  <a16:creationId xmlns:a16="http://schemas.microsoft.com/office/drawing/2014/main" id="{C939DD1A-4088-3B49-4BC7-6CA5AF847CA5}"/>
                </a:ext>
              </a:extLst>
            </p:cNvPr>
            <p:cNvCxnSpPr>
              <a:cxnSpLocks noChangeShapeType="1"/>
              <a:stCxn id="41993" idx="2"/>
              <a:endCxn id="41995" idx="0"/>
            </p:cNvCxnSpPr>
            <p:nvPr/>
          </p:nvCxnSpPr>
          <p:spPr bwMode="auto">
            <a:xfrm>
              <a:off x="4935" y="2026"/>
              <a:ext cx="313" cy="182"/>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2001" name="AutoShape 12">
              <a:extLst>
                <a:ext uri="{FF2B5EF4-FFF2-40B4-BE49-F238E27FC236}">
                  <a16:creationId xmlns:a16="http://schemas.microsoft.com/office/drawing/2014/main" id="{EC9A47DD-5E0C-39CD-EF8F-E731894BF531}"/>
                </a:ext>
              </a:extLst>
            </p:cNvPr>
            <p:cNvCxnSpPr>
              <a:cxnSpLocks noChangeShapeType="1"/>
              <a:stCxn id="41993" idx="2"/>
              <a:endCxn id="41994" idx="0"/>
            </p:cNvCxnSpPr>
            <p:nvPr/>
          </p:nvCxnSpPr>
          <p:spPr bwMode="auto">
            <a:xfrm flipH="1">
              <a:off x="4659" y="2026"/>
              <a:ext cx="276" cy="182"/>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2002" name="Text Box 13">
              <a:extLst>
                <a:ext uri="{FF2B5EF4-FFF2-40B4-BE49-F238E27FC236}">
                  <a16:creationId xmlns:a16="http://schemas.microsoft.com/office/drawing/2014/main" id="{96DCB311-31B1-FB61-259E-CF73D31DB18D}"/>
                </a:ext>
              </a:extLst>
            </p:cNvPr>
            <p:cNvSpPr txBox="1">
              <a:spLocks noChangeArrowheads="1"/>
            </p:cNvSpPr>
            <p:nvPr/>
          </p:nvSpPr>
          <p:spPr bwMode="auto">
            <a:xfrm>
              <a:off x="4700" y="2588"/>
              <a:ext cx="342"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42003" name="Text Box 14">
              <a:extLst>
                <a:ext uri="{FF2B5EF4-FFF2-40B4-BE49-F238E27FC236}">
                  <a16:creationId xmlns:a16="http://schemas.microsoft.com/office/drawing/2014/main" id="{BF086C8C-7555-6272-6404-E680C1D163B2}"/>
                </a:ext>
              </a:extLst>
            </p:cNvPr>
            <p:cNvSpPr txBox="1">
              <a:spLocks noChangeArrowheads="1"/>
            </p:cNvSpPr>
            <p:nvPr/>
          </p:nvSpPr>
          <p:spPr bwMode="auto">
            <a:xfrm>
              <a:off x="4321" y="2588"/>
              <a:ext cx="332"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c:3</a:t>
              </a:r>
            </a:p>
          </p:txBody>
        </p:sp>
        <p:cxnSp>
          <p:nvCxnSpPr>
            <p:cNvPr id="42004" name="AutoShape 15">
              <a:extLst>
                <a:ext uri="{FF2B5EF4-FFF2-40B4-BE49-F238E27FC236}">
                  <a16:creationId xmlns:a16="http://schemas.microsoft.com/office/drawing/2014/main" id="{B58C23DC-DFD7-A706-DA18-45A2616DAD61}"/>
                </a:ext>
              </a:extLst>
            </p:cNvPr>
            <p:cNvCxnSpPr>
              <a:cxnSpLocks noChangeShapeType="1"/>
              <a:stCxn id="41994" idx="2"/>
              <a:endCxn id="42003" idx="0"/>
            </p:cNvCxnSpPr>
            <p:nvPr/>
          </p:nvCxnSpPr>
          <p:spPr bwMode="auto">
            <a:xfrm flipH="1">
              <a:off x="4485" y="2458"/>
              <a:ext cx="174"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2005" name="AutoShape 16">
              <a:extLst>
                <a:ext uri="{FF2B5EF4-FFF2-40B4-BE49-F238E27FC236}">
                  <a16:creationId xmlns:a16="http://schemas.microsoft.com/office/drawing/2014/main" id="{9C85167C-ECCE-A079-10FD-3E06F2C9F56D}"/>
                </a:ext>
              </a:extLst>
            </p:cNvPr>
            <p:cNvCxnSpPr>
              <a:cxnSpLocks noChangeShapeType="1"/>
              <a:stCxn id="41994" idx="2"/>
              <a:endCxn id="42002" idx="0"/>
            </p:cNvCxnSpPr>
            <p:nvPr/>
          </p:nvCxnSpPr>
          <p:spPr bwMode="auto">
            <a:xfrm>
              <a:off x="4659" y="2458"/>
              <a:ext cx="21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2006" name="Text Box 17">
              <a:extLst>
                <a:ext uri="{FF2B5EF4-FFF2-40B4-BE49-F238E27FC236}">
                  <a16:creationId xmlns:a16="http://schemas.microsoft.com/office/drawing/2014/main" id="{FC035611-8607-5145-C2BF-69282CCE58BA}"/>
                </a:ext>
              </a:extLst>
            </p:cNvPr>
            <p:cNvSpPr txBox="1">
              <a:spLocks noChangeArrowheads="1"/>
            </p:cNvSpPr>
            <p:nvPr/>
          </p:nvSpPr>
          <p:spPr bwMode="auto">
            <a:xfrm>
              <a:off x="4315" y="2971"/>
              <a:ext cx="342"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a:3</a:t>
              </a:r>
            </a:p>
          </p:txBody>
        </p:sp>
        <p:sp>
          <p:nvSpPr>
            <p:cNvPr id="42007" name="Text Box 18">
              <a:extLst>
                <a:ext uri="{FF2B5EF4-FFF2-40B4-BE49-F238E27FC236}">
                  <a16:creationId xmlns:a16="http://schemas.microsoft.com/office/drawing/2014/main" id="{8CC32C6A-31E8-EC63-B057-15160A3A9347}"/>
                </a:ext>
              </a:extLst>
            </p:cNvPr>
            <p:cNvSpPr txBox="1">
              <a:spLocks noChangeArrowheads="1"/>
            </p:cNvSpPr>
            <p:nvPr/>
          </p:nvSpPr>
          <p:spPr bwMode="auto">
            <a:xfrm>
              <a:off x="4556" y="3356"/>
              <a:ext cx="342" cy="25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42008" name="Text Box 19">
              <a:extLst>
                <a:ext uri="{FF2B5EF4-FFF2-40B4-BE49-F238E27FC236}">
                  <a16:creationId xmlns:a16="http://schemas.microsoft.com/office/drawing/2014/main" id="{D3458139-A9F6-221A-A477-4252079B05DC}"/>
                </a:ext>
              </a:extLst>
            </p:cNvPr>
            <p:cNvSpPr txBox="1">
              <a:spLocks noChangeArrowheads="1"/>
            </p:cNvSpPr>
            <p:nvPr/>
          </p:nvSpPr>
          <p:spPr bwMode="auto">
            <a:xfrm>
              <a:off x="4130" y="3356"/>
              <a:ext cx="378" cy="250"/>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m:2</a:t>
              </a:r>
            </a:p>
          </p:txBody>
        </p:sp>
        <p:sp>
          <p:nvSpPr>
            <p:cNvPr id="42009" name="Text Box 20">
              <a:extLst>
                <a:ext uri="{FF2B5EF4-FFF2-40B4-BE49-F238E27FC236}">
                  <a16:creationId xmlns:a16="http://schemas.microsoft.com/office/drawing/2014/main" id="{5C6587E8-4646-1648-9FDB-95C0C1C7CB5B}"/>
                </a:ext>
              </a:extLst>
            </p:cNvPr>
            <p:cNvSpPr txBox="1">
              <a:spLocks noChangeArrowheads="1"/>
            </p:cNvSpPr>
            <p:nvPr/>
          </p:nvSpPr>
          <p:spPr bwMode="auto">
            <a:xfrm>
              <a:off x="4148" y="3739"/>
              <a:ext cx="342"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p:2</a:t>
              </a:r>
            </a:p>
          </p:txBody>
        </p:sp>
        <p:cxnSp>
          <p:nvCxnSpPr>
            <p:cNvPr id="42010" name="AutoShape 21">
              <a:extLst>
                <a:ext uri="{FF2B5EF4-FFF2-40B4-BE49-F238E27FC236}">
                  <a16:creationId xmlns:a16="http://schemas.microsoft.com/office/drawing/2014/main" id="{715753D8-94BC-7C95-CBA5-EFFB22E9E811}"/>
                </a:ext>
              </a:extLst>
            </p:cNvPr>
            <p:cNvCxnSpPr>
              <a:cxnSpLocks noChangeShapeType="1"/>
              <a:stCxn id="42003" idx="2"/>
              <a:endCxn id="42006" idx="0"/>
            </p:cNvCxnSpPr>
            <p:nvPr/>
          </p:nvCxnSpPr>
          <p:spPr bwMode="auto">
            <a:xfrm>
              <a:off x="4485" y="2842"/>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2011" name="AutoShape 22">
              <a:extLst>
                <a:ext uri="{FF2B5EF4-FFF2-40B4-BE49-F238E27FC236}">
                  <a16:creationId xmlns:a16="http://schemas.microsoft.com/office/drawing/2014/main" id="{8F0B7858-C2A8-B781-122F-572895D57CF8}"/>
                </a:ext>
              </a:extLst>
            </p:cNvPr>
            <p:cNvCxnSpPr>
              <a:cxnSpLocks noChangeShapeType="1"/>
              <a:stCxn id="42006" idx="2"/>
              <a:endCxn id="42008" idx="0"/>
            </p:cNvCxnSpPr>
            <p:nvPr/>
          </p:nvCxnSpPr>
          <p:spPr bwMode="auto">
            <a:xfrm flipH="1">
              <a:off x="4317" y="3226"/>
              <a:ext cx="168"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2012" name="AutoShape 23">
              <a:extLst>
                <a:ext uri="{FF2B5EF4-FFF2-40B4-BE49-F238E27FC236}">
                  <a16:creationId xmlns:a16="http://schemas.microsoft.com/office/drawing/2014/main" id="{901DBBAC-49B3-CA23-7755-2CFB4F28724C}"/>
                </a:ext>
              </a:extLst>
            </p:cNvPr>
            <p:cNvCxnSpPr>
              <a:cxnSpLocks noChangeShapeType="1"/>
              <a:stCxn id="42006" idx="2"/>
              <a:endCxn id="42007" idx="0"/>
            </p:cNvCxnSpPr>
            <p:nvPr/>
          </p:nvCxnSpPr>
          <p:spPr bwMode="auto">
            <a:xfrm>
              <a:off x="4485" y="3226"/>
              <a:ext cx="24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2013" name="AutoShape 24">
              <a:extLst>
                <a:ext uri="{FF2B5EF4-FFF2-40B4-BE49-F238E27FC236}">
                  <a16:creationId xmlns:a16="http://schemas.microsoft.com/office/drawing/2014/main" id="{8344CBD8-2694-FBD1-B734-DA4440F9447D}"/>
                </a:ext>
              </a:extLst>
            </p:cNvPr>
            <p:cNvCxnSpPr>
              <a:cxnSpLocks noChangeShapeType="1"/>
              <a:stCxn id="42008" idx="2"/>
              <a:endCxn id="42009" idx="0"/>
            </p:cNvCxnSpPr>
            <p:nvPr/>
          </p:nvCxnSpPr>
          <p:spPr bwMode="auto">
            <a:xfrm>
              <a:off x="4317" y="3610"/>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2014" name="Text Box 25">
              <a:extLst>
                <a:ext uri="{FF2B5EF4-FFF2-40B4-BE49-F238E27FC236}">
                  <a16:creationId xmlns:a16="http://schemas.microsoft.com/office/drawing/2014/main" id="{0848279B-AADE-DA3B-3B32-EED7D7D2D8C1}"/>
                </a:ext>
              </a:extLst>
            </p:cNvPr>
            <p:cNvSpPr txBox="1">
              <a:spLocks noChangeArrowheads="1"/>
            </p:cNvSpPr>
            <p:nvPr/>
          </p:nvSpPr>
          <p:spPr bwMode="auto">
            <a:xfrm>
              <a:off x="4538" y="3739"/>
              <a:ext cx="378" cy="251"/>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m:1</a:t>
              </a:r>
            </a:p>
          </p:txBody>
        </p:sp>
        <p:cxnSp>
          <p:nvCxnSpPr>
            <p:cNvPr id="42015" name="AutoShape 26">
              <a:extLst>
                <a:ext uri="{FF2B5EF4-FFF2-40B4-BE49-F238E27FC236}">
                  <a16:creationId xmlns:a16="http://schemas.microsoft.com/office/drawing/2014/main" id="{83148291-835C-E7DF-16D3-0BC2CAD9A089}"/>
                </a:ext>
              </a:extLst>
            </p:cNvPr>
            <p:cNvCxnSpPr>
              <a:cxnSpLocks noChangeShapeType="1"/>
              <a:stCxn id="42007" idx="2"/>
              <a:endCxn id="42014" idx="0"/>
            </p:cNvCxnSpPr>
            <p:nvPr/>
          </p:nvCxnSpPr>
          <p:spPr bwMode="auto">
            <a:xfrm>
              <a:off x="4725" y="3610"/>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2016" name="Text Box 27">
              <a:extLst>
                <a:ext uri="{FF2B5EF4-FFF2-40B4-BE49-F238E27FC236}">
                  <a16:creationId xmlns:a16="http://schemas.microsoft.com/office/drawing/2014/main" id="{EC951ED3-CC2B-72BF-029F-85933800BECE}"/>
                </a:ext>
              </a:extLst>
            </p:cNvPr>
            <p:cNvSpPr txBox="1">
              <a:spLocks noChangeArrowheads="1"/>
            </p:cNvSpPr>
            <p:nvPr/>
          </p:nvSpPr>
          <p:spPr bwMode="auto">
            <a:xfrm>
              <a:off x="2496" y="1935"/>
              <a:ext cx="1625" cy="1577"/>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90000"/>
                </a:lnSpc>
              </a:pPr>
              <a:r>
                <a:rPr lang="en-US" altLang="en-US" sz="2000" b="1">
                  <a:latin typeface="Times New Roman" panose="02020603050405020304" pitchFamily="18" charset="0"/>
                </a:rPr>
                <a:t>Header Table</a:t>
              </a:r>
            </a:p>
            <a:p>
              <a:pPr>
                <a:lnSpc>
                  <a:spcPct val="90000"/>
                </a:lnSpc>
              </a:pPr>
              <a:endParaRPr lang="en-US" altLang="en-US" sz="2000" b="1">
                <a:latin typeface="Times New Roman" panose="02020603050405020304" pitchFamily="18" charset="0"/>
              </a:endParaRPr>
            </a:p>
            <a:p>
              <a:pPr>
                <a:lnSpc>
                  <a:spcPct val="90000"/>
                </a:lnSpc>
              </a:pPr>
              <a:r>
                <a:rPr lang="en-US" altLang="en-US" sz="2000" b="1" i="1" u="sng">
                  <a:latin typeface="Times New Roman" panose="02020603050405020304" pitchFamily="18" charset="0"/>
                </a:rPr>
                <a:t>Item  frequency  head </a:t>
              </a:r>
            </a:p>
            <a:p>
              <a:pPr>
                <a:lnSpc>
                  <a:spcPct val="90000"/>
                </a:lnSpc>
              </a:pPr>
              <a:r>
                <a:rPr lang="en-US" altLang="en-US" sz="2000" i="1">
                  <a:latin typeface="Times New Roman" panose="02020603050405020304" pitchFamily="18" charset="0"/>
                </a:rPr>
                <a:t> f	4</a:t>
              </a:r>
            </a:p>
            <a:p>
              <a:pPr>
                <a:lnSpc>
                  <a:spcPct val="90000"/>
                </a:lnSpc>
              </a:pPr>
              <a:r>
                <a:rPr lang="en-US" altLang="en-US" sz="2000" i="1">
                  <a:latin typeface="Times New Roman" panose="02020603050405020304" pitchFamily="18" charset="0"/>
                </a:rPr>
                <a:t>c	4</a:t>
              </a:r>
            </a:p>
            <a:p>
              <a:pPr>
                <a:lnSpc>
                  <a:spcPct val="90000"/>
                </a:lnSpc>
              </a:pPr>
              <a:r>
                <a:rPr lang="en-US" altLang="en-US" sz="2000" i="1">
                  <a:latin typeface="Times New Roman" panose="02020603050405020304" pitchFamily="18" charset="0"/>
                </a:rPr>
                <a:t>a	3</a:t>
              </a:r>
            </a:p>
            <a:p>
              <a:pPr>
                <a:lnSpc>
                  <a:spcPct val="90000"/>
                </a:lnSpc>
              </a:pPr>
              <a:r>
                <a:rPr lang="en-US" altLang="en-US" sz="2000" i="1">
                  <a:latin typeface="Times New Roman" panose="02020603050405020304" pitchFamily="18" charset="0"/>
                </a:rPr>
                <a:t>b	3</a:t>
              </a:r>
            </a:p>
            <a:p>
              <a:pPr>
                <a:lnSpc>
                  <a:spcPct val="90000"/>
                </a:lnSpc>
              </a:pPr>
              <a:r>
                <a:rPr lang="en-US" altLang="en-US" sz="2000" i="1">
                  <a:latin typeface="Times New Roman" panose="02020603050405020304" pitchFamily="18" charset="0"/>
                </a:rPr>
                <a:t>m	3</a:t>
              </a:r>
            </a:p>
            <a:p>
              <a:pPr>
                <a:lnSpc>
                  <a:spcPct val="90000"/>
                </a:lnSpc>
              </a:pPr>
              <a:r>
                <a:rPr lang="en-US" altLang="en-US" sz="2000" i="1">
                  <a:latin typeface="Times New Roman" panose="02020603050405020304" pitchFamily="18" charset="0"/>
                </a:rPr>
                <a:t>p	3</a:t>
              </a:r>
              <a:endParaRPr lang="en-US" altLang="en-US" sz="2000">
                <a:latin typeface="Times New Roman" panose="02020603050405020304" pitchFamily="18" charset="0"/>
              </a:endParaRPr>
            </a:p>
          </p:txBody>
        </p:sp>
        <p:sp>
          <p:nvSpPr>
            <p:cNvPr id="42017" name="Freeform 28">
              <a:extLst>
                <a:ext uri="{FF2B5EF4-FFF2-40B4-BE49-F238E27FC236}">
                  <a16:creationId xmlns:a16="http://schemas.microsoft.com/office/drawing/2014/main" id="{7314070C-79A5-FE5C-8060-FD7CE2121DBC}"/>
                </a:ext>
              </a:extLst>
            </p:cNvPr>
            <p:cNvSpPr>
              <a:spLocks/>
            </p:cNvSpPr>
            <p:nvPr/>
          </p:nvSpPr>
          <p:spPr bwMode="auto">
            <a:xfrm>
              <a:off x="3879" y="2341"/>
              <a:ext cx="672" cy="240"/>
            </a:xfrm>
            <a:custGeom>
              <a:avLst/>
              <a:gdLst>
                <a:gd name="T0" fmla="*/ 0 w 672"/>
                <a:gd name="T1" fmla="*/ 240 h 240"/>
                <a:gd name="T2" fmla="*/ 288 w 672"/>
                <a:gd name="T3" fmla="*/ 192 h 240"/>
                <a:gd name="T4" fmla="*/ 432 w 672"/>
                <a:gd name="T5" fmla="*/ 48 h 240"/>
                <a:gd name="T6" fmla="*/ 672 w 672"/>
                <a:gd name="T7" fmla="*/ 0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cubicBezTo>
                    <a:pt x="108" y="232"/>
                    <a:pt x="216" y="224"/>
                    <a:pt x="288" y="192"/>
                  </a:cubicBezTo>
                  <a:cubicBezTo>
                    <a:pt x="360" y="160"/>
                    <a:pt x="368" y="80"/>
                    <a:pt x="432" y="48"/>
                  </a:cubicBezTo>
                  <a:cubicBezTo>
                    <a:pt x="496" y="16"/>
                    <a:pt x="584" y="8"/>
                    <a:pt x="67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18" name="Freeform 29">
              <a:extLst>
                <a:ext uri="{FF2B5EF4-FFF2-40B4-BE49-F238E27FC236}">
                  <a16:creationId xmlns:a16="http://schemas.microsoft.com/office/drawing/2014/main" id="{1559C510-CBD5-AAED-976F-35C9557C35A8}"/>
                </a:ext>
              </a:extLst>
            </p:cNvPr>
            <p:cNvSpPr>
              <a:spLocks/>
            </p:cNvSpPr>
            <p:nvPr/>
          </p:nvSpPr>
          <p:spPr bwMode="auto">
            <a:xfrm>
              <a:off x="3879" y="2725"/>
              <a:ext cx="432" cy="1"/>
            </a:xfrm>
            <a:custGeom>
              <a:avLst/>
              <a:gdLst>
                <a:gd name="T0" fmla="*/ 0 w 432"/>
                <a:gd name="T1" fmla="*/ 0 h 1"/>
                <a:gd name="T2" fmla="*/ 432 w 432"/>
                <a:gd name="T3" fmla="*/ 0 h 1"/>
                <a:gd name="T4" fmla="*/ 0 60000 65536"/>
                <a:gd name="T5" fmla="*/ 0 60000 65536"/>
                <a:gd name="T6" fmla="*/ 0 w 432"/>
                <a:gd name="T7" fmla="*/ 0 h 1"/>
                <a:gd name="T8" fmla="*/ 432 w 432"/>
                <a:gd name="T9" fmla="*/ 1 h 1"/>
              </a:gdLst>
              <a:ahLst/>
              <a:cxnLst>
                <a:cxn ang="T4">
                  <a:pos x="T0" y="T1"/>
                </a:cxn>
                <a:cxn ang="T5">
                  <a:pos x="T2" y="T3"/>
                </a:cxn>
              </a:cxnLst>
              <a:rect l="T6" t="T7" r="T8" b="T9"/>
              <a:pathLst>
                <a:path w="432" h="1">
                  <a:moveTo>
                    <a:pt x="0" y="0"/>
                  </a:moveTo>
                  <a:cubicBezTo>
                    <a:pt x="0" y="0"/>
                    <a:pt x="216" y="0"/>
                    <a:pt x="43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19" name="Freeform 30">
              <a:extLst>
                <a:ext uri="{FF2B5EF4-FFF2-40B4-BE49-F238E27FC236}">
                  <a16:creationId xmlns:a16="http://schemas.microsoft.com/office/drawing/2014/main" id="{49E1C03B-4E48-394F-8BE8-600BF7F27573}"/>
                </a:ext>
              </a:extLst>
            </p:cNvPr>
            <p:cNvSpPr>
              <a:spLocks/>
            </p:cNvSpPr>
            <p:nvPr/>
          </p:nvSpPr>
          <p:spPr bwMode="auto">
            <a:xfrm>
              <a:off x="4599" y="2341"/>
              <a:ext cx="480" cy="384"/>
            </a:xfrm>
            <a:custGeom>
              <a:avLst/>
              <a:gdLst>
                <a:gd name="T0" fmla="*/ 0 w 480"/>
                <a:gd name="T1" fmla="*/ 384 h 384"/>
                <a:gd name="T2" fmla="*/ 48 w 480"/>
                <a:gd name="T3" fmla="*/ 336 h 384"/>
                <a:gd name="T4" fmla="*/ 240 w 480"/>
                <a:gd name="T5" fmla="*/ 96 h 384"/>
                <a:gd name="T6" fmla="*/ 480 w 480"/>
                <a:gd name="T7" fmla="*/ 0 h 384"/>
                <a:gd name="T8" fmla="*/ 0 60000 65536"/>
                <a:gd name="T9" fmla="*/ 0 60000 65536"/>
                <a:gd name="T10" fmla="*/ 0 60000 65536"/>
                <a:gd name="T11" fmla="*/ 0 60000 65536"/>
                <a:gd name="T12" fmla="*/ 0 w 480"/>
                <a:gd name="T13" fmla="*/ 0 h 384"/>
                <a:gd name="T14" fmla="*/ 480 w 480"/>
                <a:gd name="T15" fmla="*/ 384 h 384"/>
              </a:gdLst>
              <a:ahLst/>
              <a:cxnLst>
                <a:cxn ang="T8">
                  <a:pos x="T0" y="T1"/>
                </a:cxn>
                <a:cxn ang="T9">
                  <a:pos x="T2" y="T3"/>
                </a:cxn>
                <a:cxn ang="T10">
                  <a:pos x="T4" y="T5"/>
                </a:cxn>
                <a:cxn ang="T11">
                  <a:pos x="T6" y="T7"/>
                </a:cxn>
              </a:cxnLst>
              <a:rect l="T12" t="T13" r="T14" b="T15"/>
              <a:pathLst>
                <a:path w="480" h="384">
                  <a:moveTo>
                    <a:pt x="0" y="384"/>
                  </a:moveTo>
                  <a:cubicBezTo>
                    <a:pt x="4" y="384"/>
                    <a:pt x="8" y="384"/>
                    <a:pt x="48" y="336"/>
                  </a:cubicBezTo>
                  <a:cubicBezTo>
                    <a:pt x="88" y="288"/>
                    <a:pt x="168" y="152"/>
                    <a:pt x="240" y="96"/>
                  </a:cubicBezTo>
                  <a:cubicBezTo>
                    <a:pt x="312" y="40"/>
                    <a:pt x="396" y="20"/>
                    <a:pt x="480"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20" name="Freeform 31">
              <a:extLst>
                <a:ext uri="{FF2B5EF4-FFF2-40B4-BE49-F238E27FC236}">
                  <a16:creationId xmlns:a16="http://schemas.microsoft.com/office/drawing/2014/main" id="{8667D4EC-C35F-2B53-31A8-B0C5ED49561D}"/>
                </a:ext>
              </a:extLst>
            </p:cNvPr>
            <p:cNvSpPr>
              <a:spLocks/>
            </p:cNvSpPr>
            <p:nvPr/>
          </p:nvSpPr>
          <p:spPr bwMode="auto">
            <a:xfrm>
              <a:off x="3879" y="2928"/>
              <a:ext cx="432" cy="192"/>
            </a:xfrm>
            <a:custGeom>
              <a:avLst/>
              <a:gdLst>
                <a:gd name="T0" fmla="*/ 0 w 432"/>
                <a:gd name="T1" fmla="*/ 0 h 192"/>
                <a:gd name="T2" fmla="*/ 144 w 432"/>
                <a:gd name="T3" fmla="*/ 48 h 192"/>
                <a:gd name="T4" fmla="*/ 288 w 432"/>
                <a:gd name="T5" fmla="*/ 144 h 192"/>
                <a:gd name="T6" fmla="*/ 432 w 432"/>
                <a:gd name="T7" fmla="*/ 192 h 192"/>
                <a:gd name="T8" fmla="*/ 0 60000 65536"/>
                <a:gd name="T9" fmla="*/ 0 60000 65536"/>
                <a:gd name="T10" fmla="*/ 0 60000 65536"/>
                <a:gd name="T11" fmla="*/ 0 60000 65536"/>
                <a:gd name="T12" fmla="*/ 0 w 432"/>
                <a:gd name="T13" fmla="*/ 0 h 192"/>
                <a:gd name="T14" fmla="*/ 432 w 432"/>
                <a:gd name="T15" fmla="*/ 192 h 192"/>
              </a:gdLst>
              <a:ahLst/>
              <a:cxnLst>
                <a:cxn ang="T8">
                  <a:pos x="T0" y="T1"/>
                </a:cxn>
                <a:cxn ang="T9">
                  <a:pos x="T2" y="T3"/>
                </a:cxn>
                <a:cxn ang="T10">
                  <a:pos x="T4" y="T5"/>
                </a:cxn>
                <a:cxn ang="T11">
                  <a:pos x="T6" y="T7"/>
                </a:cxn>
              </a:cxnLst>
              <a:rect l="T12" t="T13" r="T14" b="T15"/>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21" name="Freeform 32">
              <a:extLst>
                <a:ext uri="{FF2B5EF4-FFF2-40B4-BE49-F238E27FC236}">
                  <a16:creationId xmlns:a16="http://schemas.microsoft.com/office/drawing/2014/main" id="{E4DD38A0-B16E-B01C-368F-07E38C0D9266}"/>
                </a:ext>
              </a:extLst>
            </p:cNvPr>
            <p:cNvSpPr>
              <a:spLocks/>
            </p:cNvSpPr>
            <p:nvPr/>
          </p:nvSpPr>
          <p:spPr bwMode="auto">
            <a:xfrm>
              <a:off x="3888" y="3072"/>
              <a:ext cx="720" cy="384"/>
            </a:xfrm>
            <a:custGeom>
              <a:avLst/>
              <a:gdLst>
                <a:gd name="T0" fmla="*/ 0 w 720"/>
                <a:gd name="T1" fmla="*/ 0 h 384"/>
                <a:gd name="T2" fmla="*/ 240 w 720"/>
                <a:gd name="T3" fmla="*/ 48 h 384"/>
                <a:gd name="T4" fmla="*/ 528 w 720"/>
                <a:gd name="T5" fmla="*/ 288 h 384"/>
                <a:gd name="T6" fmla="*/ 720 w 720"/>
                <a:gd name="T7" fmla="*/ 384 h 384"/>
                <a:gd name="T8" fmla="*/ 0 60000 65536"/>
                <a:gd name="T9" fmla="*/ 0 60000 65536"/>
                <a:gd name="T10" fmla="*/ 0 60000 65536"/>
                <a:gd name="T11" fmla="*/ 0 60000 65536"/>
                <a:gd name="T12" fmla="*/ 0 w 720"/>
                <a:gd name="T13" fmla="*/ 0 h 384"/>
                <a:gd name="T14" fmla="*/ 720 w 720"/>
                <a:gd name="T15" fmla="*/ 384 h 384"/>
              </a:gdLst>
              <a:ahLst/>
              <a:cxnLst>
                <a:cxn ang="T8">
                  <a:pos x="T0" y="T1"/>
                </a:cxn>
                <a:cxn ang="T9">
                  <a:pos x="T2" y="T3"/>
                </a:cxn>
                <a:cxn ang="T10">
                  <a:pos x="T4" y="T5"/>
                </a:cxn>
                <a:cxn ang="T11">
                  <a:pos x="T6" y="T7"/>
                </a:cxn>
              </a:cxnLst>
              <a:rect l="T12" t="T13" r="T14" b="T15"/>
              <a:pathLst>
                <a:path w="720" h="384">
                  <a:moveTo>
                    <a:pt x="0" y="0"/>
                  </a:moveTo>
                  <a:cubicBezTo>
                    <a:pt x="76" y="0"/>
                    <a:pt x="152" y="0"/>
                    <a:pt x="240" y="48"/>
                  </a:cubicBezTo>
                  <a:cubicBezTo>
                    <a:pt x="328" y="96"/>
                    <a:pt x="448" y="232"/>
                    <a:pt x="528" y="288"/>
                  </a:cubicBezTo>
                  <a:cubicBezTo>
                    <a:pt x="608" y="344"/>
                    <a:pt x="664" y="364"/>
                    <a:pt x="720"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22" name="Freeform 33">
              <a:extLst>
                <a:ext uri="{FF2B5EF4-FFF2-40B4-BE49-F238E27FC236}">
                  <a16:creationId xmlns:a16="http://schemas.microsoft.com/office/drawing/2014/main" id="{E1676AE4-C662-F416-2495-7BBD6F9B0386}"/>
                </a:ext>
              </a:extLst>
            </p:cNvPr>
            <p:cNvSpPr>
              <a:spLocks/>
            </p:cNvSpPr>
            <p:nvPr/>
          </p:nvSpPr>
          <p:spPr bwMode="auto">
            <a:xfrm>
              <a:off x="4848" y="2832"/>
              <a:ext cx="56" cy="672"/>
            </a:xfrm>
            <a:custGeom>
              <a:avLst/>
              <a:gdLst>
                <a:gd name="T0" fmla="*/ 0 w 56"/>
                <a:gd name="T1" fmla="*/ 672 h 672"/>
                <a:gd name="T2" fmla="*/ 48 w 56"/>
                <a:gd name="T3" fmla="*/ 432 h 672"/>
                <a:gd name="T4" fmla="*/ 48 w 56"/>
                <a:gd name="T5" fmla="*/ 0 h 672"/>
                <a:gd name="T6" fmla="*/ 0 60000 65536"/>
                <a:gd name="T7" fmla="*/ 0 60000 65536"/>
                <a:gd name="T8" fmla="*/ 0 60000 65536"/>
                <a:gd name="T9" fmla="*/ 0 w 56"/>
                <a:gd name="T10" fmla="*/ 0 h 672"/>
                <a:gd name="T11" fmla="*/ 56 w 56"/>
                <a:gd name="T12" fmla="*/ 672 h 672"/>
              </a:gdLst>
              <a:ahLst/>
              <a:cxnLst>
                <a:cxn ang="T6">
                  <a:pos x="T0" y="T1"/>
                </a:cxn>
                <a:cxn ang="T7">
                  <a:pos x="T2" y="T3"/>
                </a:cxn>
                <a:cxn ang="T8">
                  <a:pos x="T4" y="T5"/>
                </a:cxn>
              </a:cxnLst>
              <a:rect l="T9" t="T10" r="T11" b="T12"/>
              <a:pathLst>
                <a:path w="56" h="672">
                  <a:moveTo>
                    <a:pt x="0" y="672"/>
                  </a:moveTo>
                  <a:cubicBezTo>
                    <a:pt x="20" y="608"/>
                    <a:pt x="40" y="544"/>
                    <a:pt x="48" y="432"/>
                  </a:cubicBezTo>
                  <a:cubicBezTo>
                    <a:pt x="56" y="320"/>
                    <a:pt x="52" y="160"/>
                    <a:pt x="4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23" name="Line 34">
              <a:extLst>
                <a:ext uri="{FF2B5EF4-FFF2-40B4-BE49-F238E27FC236}">
                  <a16:creationId xmlns:a16="http://schemas.microsoft.com/office/drawing/2014/main" id="{69177C0E-6BFF-CA99-704A-7C25C9D019B6}"/>
                </a:ext>
              </a:extLst>
            </p:cNvPr>
            <p:cNvSpPr>
              <a:spLocks noChangeShapeType="1"/>
            </p:cNvSpPr>
            <p:nvPr/>
          </p:nvSpPr>
          <p:spPr bwMode="auto">
            <a:xfrm>
              <a:off x="4983" y="2725"/>
              <a:ext cx="96" cy="0"/>
            </a:xfrm>
            <a:prstGeom prst="line">
              <a:avLst/>
            </a:prstGeom>
            <a:noFill/>
            <a:ln w="12700">
              <a:solidFill>
                <a:schemeClr val="tx2"/>
              </a:solidFill>
              <a:prstDash val="lgDash"/>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2024" name="Freeform 35">
              <a:extLst>
                <a:ext uri="{FF2B5EF4-FFF2-40B4-BE49-F238E27FC236}">
                  <a16:creationId xmlns:a16="http://schemas.microsoft.com/office/drawing/2014/main" id="{E8E470D3-BB9A-EF40-C187-8A1DFFEC0372}"/>
                </a:ext>
              </a:extLst>
            </p:cNvPr>
            <p:cNvSpPr>
              <a:spLocks/>
            </p:cNvSpPr>
            <p:nvPr/>
          </p:nvSpPr>
          <p:spPr bwMode="auto">
            <a:xfrm>
              <a:off x="3888" y="3264"/>
              <a:ext cx="288" cy="240"/>
            </a:xfrm>
            <a:custGeom>
              <a:avLst/>
              <a:gdLst>
                <a:gd name="T0" fmla="*/ 0 w 288"/>
                <a:gd name="T1" fmla="*/ 0 h 240"/>
                <a:gd name="T2" fmla="*/ 144 w 288"/>
                <a:gd name="T3" fmla="*/ 48 h 240"/>
                <a:gd name="T4" fmla="*/ 192 w 288"/>
                <a:gd name="T5" fmla="*/ 192 h 240"/>
                <a:gd name="T6" fmla="*/ 288 w 288"/>
                <a:gd name="T7" fmla="*/ 24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0" y="0"/>
                  </a:moveTo>
                  <a:cubicBezTo>
                    <a:pt x="56" y="8"/>
                    <a:pt x="112" y="16"/>
                    <a:pt x="144" y="48"/>
                  </a:cubicBezTo>
                  <a:cubicBezTo>
                    <a:pt x="176" y="80"/>
                    <a:pt x="168" y="160"/>
                    <a:pt x="192" y="192"/>
                  </a:cubicBezTo>
                  <a:cubicBezTo>
                    <a:pt x="216" y="224"/>
                    <a:pt x="252" y="232"/>
                    <a:pt x="288" y="24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25" name="Freeform 36">
              <a:extLst>
                <a:ext uri="{FF2B5EF4-FFF2-40B4-BE49-F238E27FC236}">
                  <a16:creationId xmlns:a16="http://schemas.microsoft.com/office/drawing/2014/main" id="{484ECFEC-C327-894B-56B7-9B63D608FF62}"/>
                </a:ext>
              </a:extLst>
            </p:cNvPr>
            <p:cNvSpPr>
              <a:spLocks/>
            </p:cNvSpPr>
            <p:nvPr/>
          </p:nvSpPr>
          <p:spPr bwMode="auto">
            <a:xfrm>
              <a:off x="4464" y="3504"/>
              <a:ext cx="96" cy="384"/>
            </a:xfrm>
            <a:custGeom>
              <a:avLst/>
              <a:gdLst>
                <a:gd name="T0" fmla="*/ 0 w 96"/>
                <a:gd name="T1" fmla="*/ 0 h 384"/>
                <a:gd name="T2" fmla="*/ 48 w 96"/>
                <a:gd name="T3" fmla="*/ 96 h 384"/>
                <a:gd name="T4" fmla="*/ 48 w 96"/>
                <a:gd name="T5" fmla="*/ 288 h 384"/>
                <a:gd name="T6" fmla="*/ 96 w 96"/>
                <a:gd name="T7" fmla="*/ 384 h 384"/>
                <a:gd name="T8" fmla="*/ 0 60000 65536"/>
                <a:gd name="T9" fmla="*/ 0 60000 65536"/>
                <a:gd name="T10" fmla="*/ 0 60000 65536"/>
                <a:gd name="T11" fmla="*/ 0 60000 65536"/>
                <a:gd name="T12" fmla="*/ 0 w 96"/>
                <a:gd name="T13" fmla="*/ 0 h 384"/>
                <a:gd name="T14" fmla="*/ 96 w 96"/>
                <a:gd name="T15" fmla="*/ 384 h 384"/>
              </a:gdLst>
              <a:ahLst/>
              <a:cxnLst>
                <a:cxn ang="T8">
                  <a:pos x="T0" y="T1"/>
                </a:cxn>
                <a:cxn ang="T9">
                  <a:pos x="T2" y="T3"/>
                </a:cxn>
                <a:cxn ang="T10">
                  <a:pos x="T4" y="T5"/>
                </a:cxn>
                <a:cxn ang="T11">
                  <a:pos x="T6" y="T7"/>
                </a:cxn>
              </a:cxnLst>
              <a:rect l="T12" t="T13" r="T14" b="T15"/>
              <a:pathLst>
                <a:path w="96" h="384">
                  <a:moveTo>
                    <a:pt x="0" y="0"/>
                  </a:moveTo>
                  <a:cubicBezTo>
                    <a:pt x="20" y="24"/>
                    <a:pt x="40" y="48"/>
                    <a:pt x="48" y="96"/>
                  </a:cubicBezTo>
                  <a:cubicBezTo>
                    <a:pt x="56" y="144"/>
                    <a:pt x="40" y="240"/>
                    <a:pt x="48" y="288"/>
                  </a:cubicBezTo>
                  <a:cubicBezTo>
                    <a:pt x="56" y="336"/>
                    <a:pt x="76" y="360"/>
                    <a:pt x="96"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26" name="Freeform 37">
              <a:extLst>
                <a:ext uri="{FF2B5EF4-FFF2-40B4-BE49-F238E27FC236}">
                  <a16:creationId xmlns:a16="http://schemas.microsoft.com/office/drawing/2014/main" id="{59A09FF7-59FC-D9DA-4812-A262195732D0}"/>
                </a:ext>
              </a:extLst>
            </p:cNvPr>
            <p:cNvSpPr>
              <a:spLocks/>
            </p:cNvSpPr>
            <p:nvPr/>
          </p:nvSpPr>
          <p:spPr bwMode="auto">
            <a:xfrm>
              <a:off x="3888" y="3456"/>
              <a:ext cx="288" cy="432"/>
            </a:xfrm>
            <a:custGeom>
              <a:avLst/>
              <a:gdLst>
                <a:gd name="T0" fmla="*/ 0 w 288"/>
                <a:gd name="T1" fmla="*/ 0 h 432"/>
                <a:gd name="T2" fmla="*/ 96 w 288"/>
                <a:gd name="T3" fmla="*/ 144 h 432"/>
                <a:gd name="T4" fmla="*/ 144 w 288"/>
                <a:gd name="T5" fmla="*/ 336 h 432"/>
                <a:gd name="T6" fmla="*/ 288 w 288"/>
                <a:gd name="T7" fmla="*/ 432 h 432"/>
                <a:gd name="T8" fmla="*/ 0 60000 65536"/>
                <a:gd name="T9" fmla="*/ 0 60000 65536"/>
                <a:gd name="T10" fmla="*/ 0 60000 65536"/>
                <a:gd name="T11" fmla="*/ 0 60000 65536"/>
                <a:gd name="T12" fmla="*/ 0 w 288"/>
                <a:gd name="T13" fmla="*/ 0 h 432"/>
                <a:gd name="T14" fmla="*/ 288 w 288"/>
                <a:gd name="T15" fmla="*/ 432 h 432"/>
              </a:gdLst>
              <a:ahLst/>
              <a:cxnLst>
                <a:cxn ang="T8">
                  <a:pos x="T0" y="T1"/>
                </a:cxn>
                <a:cxn ang="T9">
                  <a:pos x="T2" y="T3"/>
                </a:cxn>
                <a:cxn ang="T10">
                  <a:pos x="T4" y="T5"/>
                </a:cxn>
                <a:cxn ang="T11">
                  <a:pos x="T6" y="T7"/>
                </a:cxn>
              </a:cxnLst>
              <a:rect l="T12" t="T13" r="T14" b="T15"/>
              <a:pathLst>
                <a:path w="288" h="432">
                  <a:moveTo>
                    <a:pt x="0" y="0"/>
                  </a:moveTo>
                  <a:cubicBezTo>
                    <a:pt x="36" y="44"/>
                    <a:pt x="72" y="88"/>
                    <a:pt x="96" y="144"/>
                  </a:cubicBezTo>
                  <a:cubicBezTo>
                    <a:pt x="120" y="200"/>
                    <a:pt x="112" y="288"/>
                    <a:pt x="144" y="336"/>
                  </a:cubicBezTo>
                  <a:cubicBezTo>
                    <a:pt x="176" y="384"/>
                    <a:pt x="232" y="408"/>
                    <a:pt x="288" y="43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2027" name="Freeform 38">
              <a:extLst>
                <a:ext uri="{FF2B5EF4-FFF2-40B4-BE49-F238E27FC236}">
                  <a16:creationId xmlns:a16="http://schemas.microsoft.com/office/drawing/2014/main" id="{00D6ED07-6547-4632-4C5A-67ACB22A0AF9}"/>
                </a:ext>
              </a:extLst>
            </p:cNvPr>
            <p:cNvSpPr>
              <a:spLocks/>
            </p:cNvSpPr>
            <p:nvPr/>
          </p:nvSpPr>
          <p:spPr bwMode="auto">
            <a:xfrm>
              <a:off x="4464" y="3216"/>
              <a:ext cx="768" cy="672"/>
            </a:xfrm>
            <a:custGeom>
              <a:avLst/>
              <a:gdLst>
                <a:gd name="T0" fmla="*/ 0 w 768"/>
                <a:gd name="T1" fmla="*/ 672 h 672"/>
                <a:gd name="T2" fmla="*/ 96 w 768"/>
                <a:gd name="T3" fmla="*/ 528 h 672"/>
                <a:gd name="T4" fmla="*/ 528 w 768"/>
                <a:gd name="T5" fmla="*/ 384 h 672"/>
                <a:gd name="T6" fmla="*/ 768 w 768"/>
                <a:gd name="T7" fmla="*/ 0 h 672"/>
                <a:gd name="T8" fmla="*/ 0 60000 65536"/>
                <a:gd name="T9" fmla="*/ 0 60000 65536"/>
                <a:gd name="T10" fmla="*/ 0 60000 65536"/>
                <a:gd name="T11" fmla="*/ 0 60000 65536"/>
                <a:gd name="T12" fmla="*/ 0 w 768"/>
                <a:gd name="T13" fmla="*/ 0 h 672"/>
                <a:gd name="T14" fmla="*/ 768 w 768"/>
                <a:gd name="T15" fmla="*/ 672 h 672"/>
              </a:gdLst>
              <a:ahLst/>
              <a:cxnLst>
                <a:cxn ang="T8">
                  <a:pos x="T0" y="T1"/>
                </a:cxn>
                <a:cxn ang="T9">
                  <a:pos x="T2" y="T3"/>
                </a:cxn>
                <a:cxn ang="T10">
                  <a:pos x="T4" y="T5"/>
                </a:cxn>
                <a:cxn ang="T11">
                  <a:pos x="T6" y="T7"/>
                </a:cxn>
              </a:cxnLst>
              <a:rect l="T12" t="T13" r="T14" b="T15"/>
              <a:pathLst>
                <a:path w="768" h="672">
                  <a:moveTo>
                    <a:pt x="0" y="672"/>
                  </a:moveTo>
                  <a:cubicBezTo>
                    <a:pt x="4" y="624"/>
                    <a:pt x="8" y="576"/>
                    <a:pt x="96" y="528"/>
                  </a:cubicBezTo>
                  <a:cubicBezTo>
                    <a:pt x="184" y="480"/>
                    <a:pt x="416" y="472"/>
                    <a:pt x="528" y="384"/>
                  </a:cubicBezTo>
                  <a:cubicBezTo>
                    <a:pt x="640" y="296"/>
                    <a:pt x="704" y="148"/>
                    <a:pt x="76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sp>
        <p:nvSpPr>
          <p:cNvPr id="41989" name="Text Box 39">
            <a:extLst>
              <a:ext uri="{FF2B5EF4-FFF2-40B4-BE49-F238E27FC236}">
                <a16:creationId xmlns:a16="http://schemas.microsoft.com/office/drawing/2014/main" id="{EFCDF708-CD00-17EC-B6EC-32985FB6A12D}"/>
              </a:ext>
            </a:extLst>
          </p:cNvPr>
          <p:cNvSpPr txBox="1">
            <a:spLocks noChangeArrowheads="1"/>
          </p:cNvSpPr>
          <p:nvPr/>
        </p:nvSpPr>
        <p:spPr bwMode="auto">
          <a:xfrm>
            <a:off x="6705600" y="2362200"/>
            <a:ext cx="20970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60000"/>
              </a:lnSpc>
              <a:spcBef>
                <a:spcPct val="50000"/>
              </a:spcBef>
            </a:pPr>
            <a:r>
              <a:rPr lang="en-US" altLang="en-US" sz="2000" b="1" i="1">
                <a:latin typeface="Times New Roman" panose="02020603050405020304" pitchFamily="18" charset="0"/>
              </a:rPr>
              <a:t>min_support = 3</a:t>
            </a:r>
            <a:endParaRPr lang="en-US" altLang="en-US" b="1" u="sng">
              <a:latin typeface="Times New Roman" panose="02020603050405020304" pitchFamily="18" charset="0"/>
            </a:endParaRPr>
          </a:p>
        </p:txBody>
      </p:sp>
      <p:sp>
        <p:nvSpPr>
          <p:cNvPr id="41990" name="Rectangle 40">
            <a:extLst>
              <a:ext uri="{FF2B5EF4-FFF2-40B4-BE49-F238E27FC236}">
                <a16:creationId xmlns:a16="http://schemas.microsoft.com/office/drawing/2014/main" id="{30D96FA9-3ADF-9891-6F00-681AB58D67FA}"/>
              </a:ext>
            </a:extLst>
          </p:cNvPr>
          <p:cNvSpPr>
            <a:spLocks noChangeArrowheads="1"/>
          </p:cNvSpPr>
          <p:nvPr/>
        </p:nvSpPr>
        <p:spPr bwMode="auto">
          <a:xfrm>
            <a:off x="914400" y="1676400"/>
            <a:ext cx="5956300"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40000"/>
              </a:lnSpc>
              <a:spcBef>
                <a:spcPct val="50000"/>
              </a:spcBef>
            </a:pPr>
            <a:r>
              <a:rPr lang="en-US" altLang="en-US" sz="2000" b="1" i="1" u="sng">
                <a:latin typeface="Times New Roman" panose="02020603050405020304" pitchFamily="18" charset="0"/>
              </a:rPr>
              <a:t>TID		Items bought	  (ordered) frequent items</a:t>
            </a:r>
          </a:p>
          <a:p>
            <a:pPr>
              <a:lnSpc>
                <a:spcPct val="40000"/>
              </a:lnSpc>
              <a:spcBef>
                <a:spcPct val="50000"/>
              </a:spcBef>
            </a:pPr>
            <a:r>
              <a:rPr lang="en-US" altLang="en-US" sz="2000" b="1">
                <a:latin typeface="Times New Roman" panose="02020603050405020304" pitchFamily="18" charset="0"/>
              </a:rPr>
              <a:t>100		{</a:t>
            </a:r>
            <a:r>
              <a:rPr lang="en-US" altLang="en-US" sz="2000" b="1" i="1">
                <a:latin typeface="Times New Roman" panose="02020603050405020304" pitchFamily="18" charset="0"/>
              </a:rPr>
              <a:t>f, a, c, d, g, i, m, p</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f, c, a, m, p</a:t>
            </a:r>
            <a:r>
              <a:rPr lang="en-US" altLang="en-US" sz="2000" b="1">
                <a:latin typeface="Times New Roman" panose="02020603050405020304" pitchFamily="18" charset="0"/>
              </a:rPr>
              <a:t>}</a:t>
            </a:r>
          </a:p>
          <a:p>
            <a:pPr>
              <a:lnSpc>
                <a:spcPct val="40000"/>
              </a:lnSpc>
              <a:spcBef>
                <a:spcPct val="50000"/>
              </a:spcBef>
            </a:pPr>
            <a:r>
              <a:rPr lang="en-US" altLang="en-US" sz="2000" b="1">
                <a:latin typeface="Times New Roman" panose="02020603050405020304" pitchFamily="18" charset="0"/>
              </a:rPr>
              <a:t>200		{</a:t>
            </a:r>
            <a:r>
              <a:rPr lang="en-US" altLang="en-US" sz="2000" b="1" i="1">
                <a:latin typeface="Times New Roman" panose="02020603050405020304" pitchFamily="18" charset="0"/>
              </a:rPr>
              <a:t>a, b, c, f, l, m, o</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f, c, a, b, m</a:t>
            </a:r>
            <a:r>
              <a:rPr lang="en-US" altLang="en-US" sz="2000" b="1">
                <a:latin typeface="Times New Roman" panose="02020603050405020304" pitchFamily="18" charset="0"/>
              </a:rPr>
              <a:t>}</a:t>
            </a:r>
          </a:p>
          <a:p>
            <a:pPr>
              <a:lnSpc>
                <a:spcPct val="40000"/>
              </a:lnSpc>
              <a:spcBef>
                <a:spcPct val="50000"/>
              </a:spcBef>
            </a:pPr>
            <a:r>
              <a:rPr lang="en-US" altLang="en-US" sz="2000" b="1">
                <a:latin typeface="Times New Roman" panose="02020603050405020304" pitchFamily="18" charset="0"/>
              </a:rPr>
              <a:t>300	</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b, f, h, j, o, w</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f, b</a:t>
            </a:r>
            <a:r>
              <a:rPr lang="en-US" altLang="en-US" sz="2000" b="1">
                <a:latin typeface="Times New Roman" panose="02020603050405020304" pitchFamily="18" charset="0"/>
              </a:rPr>
              <a:t>}</a:t>
            </a:r>
          </a:p>
          <a:p>
            <a:pPr>
              <a:lnSpc>
                <a:spcPct val="40000"/>
              </a:lnSpc>
              <a:spcBef>
                <a:spcPct val="50000"/>
              </a:spcBef>
            </a:pPr>
            <a:r>
              <a:rPr lang="en-US" altLang="en-US" sz="2000" b="1">
                <a:latin typeface="Times New Roman" panose="02020603050405020304" pitchFamily="18" charset="0"/>
              </a:rPr>
              <a:t>400	</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b, c, k, s, p</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c, b, p</a:t>
            </a:r>
            <a:r>
              <a:rPr lang="en-US" altLang="en-US" sz="2000" b="1">
                <a:latin typeface="Times New Roman" panose="02020603050405020304" pitchFamily="18" charset="0"/>
              </a:rPr>
              <a:t>}</a:t>
            </a:r>
          </a:p>
          <a:p>
            <a:pPr>
              <a:lnSpc>
                <a:spcPct val="40000"/>
              </a:lnSpc>
              <a:spcBef>
                <a:spcPct val="50000"/>
              </a:spcBef>
            </a:pPr>
            <a:r>
              <a:rPr lang="en-US" altLang="en-US" sz="2000" b="1">
                <a:latin typeface="Times New Roman" panose="02020603050405020304" pitchFamily="18" charset="0"/>
              </a:rPr>
              <a:t>500</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a, f, c, e, l, p, m, n</a:t>
            </a:r>
            <a:r>
              <a:rPr lang="en-US" altLang="en-US" sz="2000" b="1">
                <a:latin typeface="Times New Roman" panose="02020603050405020304" pitchFamily="18" charset="0"/>
              </a:rPr>
              <a:t>}</a:t>
            </a:r>
            <a:r>
              <a:rPr lang="en-US" altLang="en-US" sz="2000" b="1" i="1">
                <a:latin typeface="Times New Roman" panose="02020603050405020304" pitchFamily="18" charset="0"/>
              </a:rPr>
              <a:t>	</a:t>
            </a:r>
            <a:r>
              <a:rPr lang="en-US" altLang="en-US" sz="2000" b="1">
                <a:latin typeface="Times New Roman" panose="02020603050405020304" pitchFamily="18" charset="0"/>
              </a:rPr>
              <a:t>{</a:t>
            </a:r>
            <a:r>
              <a:rPr lang="en-US" altLang="en-US" sz="2000" b="1" i="1">
                <a:latin typeface="Times New Roman" panose="02020603050405020304" pitchFamily="18" charset="0"/>
              </a:rPr>
              <a:t>f, c, a, m, p</a:t>
            </a:r>
            <a:r>
              <a:rPr lang="en-US" altLang="en-US" sz="2000" b="1">
                <a:latin typeface="Times New Roman" panose="02020603050405020304" pitchFamily="18" charset="0"/>
              </a:rPr>
              <a:t>}</a:t>
            </a:r>
          </a:p>
        </p:txBody>
      </p:sp>
      <p:sp>
        <p:nvSpPr>
          <p:cNvPr id="41991" name="Text Box 41">
            <a:extLst>
              <a:ext uri="{FF2B5EF4-FFF2-40B4-BE49-F238E27FC236}">
                <a16:creationId xmlns:a16="http://schemas.microsoft.com/office/drawing/2014/main" id="{86F14618-58A8-795E-0860-534F14477C76}"/>
              </a:ext>
            </a:extLst>
          </p:cNvPr>
          <p:cNvSpPr txBox="1">
            <a:spLocks noChangeArrowheads="1"/>
          </p:cNvSpPr>
          <p:nvPr/>
        </p:nvSpPr>
        <p:spPr bwMode="auto">
          <a:xfrm>
            <a:off x="304800" y="3489325"/>
            <a:ext cx="3581400"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buFontTx/>
              <a:buAutoNum type="arabicPeriod"/>
            </a:pPr>
            <a:r>
              <a:rPr lang="en-US" altLang="en-US" sz="2000"/>
              <a:t>Scan DB once, find frequent 1-itemset (single item pattern)</a:t>
            </a:r>
          </a:p>
          <a:p>
            <a:pPr eaLnBrk="1" hangingPunct="1">
              <a:spcBef>
                <a:spcPct val="50000"/>
              </a:spcBef>
              <a:buFontTx/>
              <a:buAutoNum type="arabicPeriod"/>
            </a:pPr>
            <a:r>
              <a:rPr lang="en-US" altLang="en-US" sz="2000"/>
              <a:t>Sort frequent items in frequency descending order, f-list</a:t>
            </a:r>
          </a:p>
          <a:p>
            <a:pPr eaLnBrk="1" hangingPunct="1">
              <a:spcBef>
                <a:spcPct val="50000"/>
              </a:spcBef>
              <a:buFontTx/>
              <a:buAutoNum type="arabicPeriod"/>
            </a:pPr>
            <a:r>
              <a:rPr lang="en-US" altLang="en-US" sz="2000"/>
              <a:t>Scan DB again, construct FP-tree</a:t>
            </a:r>
          </a:p>
        </p:txBody>
      </p:sp>
      <p:sp>
        <p:nvSpPr>
          <p:cNvPr id="41992" name="Text Box 42">
            <a:extLst>
              <a:ext uri="{FF2B5EF4-FFF2-40B4-BE49-F238E27FC236}">
                <a16:creationId xmlns:a16="http://schemas.microsoft.com/office/drawing/2014/main" id="{47AAE1EA-E969-8717-B4FA-FF44075C57A5}"/>
              </a:ext>
            </a:extLst>
          </p:cNvPr>
          <p:cNvSpPr txBox="1">
            <a:spLocks noChangeArrowheads="1"/>
          </p:cNvSpPr>
          <p:nvPr/>
        </p:nvSpPr>
        <p:spPr bwMode="auto">
          <a:xfrm>
            <a:off x="3565525" y="6129338"/>
            <a:ext cx="2790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solidFill>
                  <a:schemeClr val="hlink"/>
                </a:solidFill>
              </a:rPr>
              <a:t>F-list </a:t>
            </a:r>
            <a:r>
              <a:rPr lang="en-US" altLang="en-US"/>
              <a:t>= f-c-a-b-m-p</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819DECFC-7BF3-267A-4275-A433603D9CF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BF2B7BFA-3754-41F7-849C-8DABFB473243}" type="slidenum">
              <a:rPr lang="en-US" altLang="en-US" sz="1200"/>
              <a:pPr eaLnBrk="1" hangingPunct="1"/>
              <a:t>36</a:t>
            </a:fld>
            <a:endParaRPr lang="en-US" altLang="en-US" sz="1200"/>
          </a:p>
        </p:txBody>
      </p:sp>
      <p:sp>
        <p:nvSpPr>
          <p:cNvPr id="43011" name="Rectangle 2">
            <a:extLst>
              <a:ext uri="{FF2B5EF4-FFF2-40B4-BE49-F238E27FC236}">
                <a16:creationId xmlns:a16="http://schemas.microsoft.com/office/drawing/2014/main" id="{2FCD50C3-FC5C-C102-9C70-7AC6FE620753}"/>
              </a:ext>
            </a:extLst>
          </p:cNvPr>
          <p:cNvSpPr>
            <a:spLocks noGrp="1" noChangeArrowheads="1"/>
          </p:cNvSpPr>
          <p:nvPr>
            <p:ph type="title"/>
          </p:nvPr>
        </p:nvSpPr>
        <p:spPr>
          <a:xfrm>
            <a:off x="457200" y="274638"/>
            <a:ext cx="8229600" cy="715962"/>
          </a:xfrm>
        </p:spPr>
        <p:txBody>
          <a:bodyPr>
            <a:normAutofit fontScale="90000"/>
          </a:bodyPr>
          <a:lstStyle/>
          <a:p>
            <a:pPr algn="ctr" eaLnBrk="1" hangingPunct="1"/>
            <a:r>
              <a:rPr lang="en-US" altLang="en-US" dirty="0">
                <a:latin typeface="Times New Roman" panose="02020603050405020304" pitchFamily="18" charset="0"/>
                <a:cs typeface="Times New Roman" panose="02020603050405020304" pitchFamily="18" charset="0"/>
              </a:rPr>
              <a:t>Partition Patterns and Databases</a:t>
            </a:r>
          </a:p>
        </p:txBody>
      </p:sp>
      <p:sp>
        <p:nvSpPr>
          <p:cNvPr id="43012" name="Rectangle 3">
            <a:extLst>
              <a:ext uri="{FF2B5EF4-FFF2-40B4-BE49-F238E27FC236}">
                <a16:creationId xmlns:a16="http://schemas.microsoft.com/office/drawing/2014/main" id="{9FAD4EEE-652F-1E9A-06EA-133A7B8589A4}"/>
              </a:ext>
            </a:extLst>
          </p:cNvPr>
          <p:cNvSpPr>
            <a:spLocks noGrp="1" noChangeArrowheads="1"/>
          </p:cNvSpPr>
          <p:nvPr>
            <p:ph type="body" idx="1"/>
          </p:nvPr>
        </p:nvSpPr>
        <p:spPr>
          <a:xfrm>
            <a:off x="381000" y="1524000"/>
            <a:ext cx="8382000" cy="4953000"/>
          </a:xfrm>
        </p:spPr>
        <p:txBody>
          <a:bodyPr>
            <a:normAutofit/>
          </a:bodyPr>
          <a:lstStyle/>
          <a:p>
            <a:pPr eaLnBrk="1" hangingPunct="1"/>
            <a:r>
              <a:rPr lang="en-US" altLang="en-US" sz="2400" dirty="0">
                <a:latin typeface="Times New Roman" panose="02020603050405020304" pitchFamily="18" charset="0"/>
                <a:cs typeface="Times New Roman" panose="02020603050405020304" pitchFamily="18" charset="0"/>
              </a:rPr>
              <a:t>Frequent patterns can be partitioned into subsets according to f-list</a:t>
            </a:r>
          </a:p>
          <a:p>
            <a:pPr lvl="1" eaLnBrk="1" hangingPunct="1"/>
            <a:r>
              <a:rPr lang="en-US" altLang="en-US" sz="2400" dirty="0">
                <a:latin typeface="Times New Roman" panose="02020603050405020304" pitchFamily="18" charset="0"/>
                <a:cs typeface="Times New Roman" panose="02020603050405020304" pitchFamily="18" charset="0"/>
              </a:rPr>
              <a:t>F-list = f-c-a-b-m-p</a:t>
            </a:r>
          </a:p>
          <a:p>
            <a:pPr lvl="1" eaLnBrk="1" hangingPunct="1"/>
            <a:r>
              <a:rPr lang="en-US" altLang="en-US" sz="2400" dirty="0">
                <a:latin typeface="Times New Roman" panose="02020603050405020304" pitchFamily="18" charset="0"/>
                <a:cs typeface="Times New Roman" panose="02020603050405020304" pitchFamily="18" charset="0"/>
              </a:rPr>
              <a:t>Patterns containing p</a:t>
            </a:r>
          </a:p>
          <a:p>
            <a:pPr lvl="1" eaLnBrk="1" hangingPunct="1"/>
            <a:r>
              <a:rPr lang="en-US" altLang="en-US" sz="2400" dirty="0">
                <a:latin typeface="Times New Roman" panose="02020603050405020304" pitchFamily="18" charset="0"/>
                <a:cs typeface="Times New Roman" panose="02020603050405020304" pitchFamily="18" charset="0"/>
              </a:rPr>
              <a:t>Patterns having m but no p</a:t>
            </a:r>
          </a:p>
          <a:p>
            <a:pPr lvl="1" eaLnBrk="1" hangingPunct="1"/>
            <a:r>
              <a:rPr lang="en-US" altLang="en-US" sz="2400" dirty="0">
                <a:latin typeface="Times New Roman" panose="02020603050405020304" pitchFamily="18" charset="0"/>
                <a:cs typeface="Times New Roman" panose="02020603050405020304" pitchFamily="18" charset="0"/>
              </a:rPr>
              <a:t>…</a:t>
            </a:r>
          </a:p>
          <a:p>
            <a:pPr lvl="1" eaLnBrk="1" hangingPunct="1"/>
            <a:r>
              <a:rPr lang="en-US" altLang="en-US" sz="2400" dirty="0">
                <a:latin typeface="Times New Roman" panose="02020603050405020304" pitchFamily="18" charset="0"/>
                <a:cs typeface="Times New Roman" panose="02020603050405020304" pitchFamily="18" charset="0"/>
              </a:rPr>
              <a:t>Patterns having c but no a nor b, m, p</a:t>
            </a:r>
          </a:p>
          <a:p>
            <a:pPr lvl="1" eaLnBrk="1" hangingPunct="1"/>
            <a:r>
              <a:rPr lang="en-US" altLang="en-US" sz="2400" dirty="0">
                <a:latin typeface="Times New Roman" panose="02020603050405020304" pitchFamily="18" charset="0"/>
                <a:cs typeface="Times New Roman" panose="02020603050405020304" pitchFamily="18" charset="0"/>
              </a:rPr>
              <a:t>Pattern f</a:t>
            </a:r>
          </a:p>
          <a:p>
            <a:pPr eaLnBrk="1" hangingPunct="1"/>
            <a:r>
              <a:rPr lang="en-US" altLang="en-US" sz="2400" dirty="0">
                <a:latin typeface="Times New Roman" panose="02020603050405020304" pitchFamily="18" charset="0"/>
                <a:cs typeface="Times New Roman" panose="02020603050405020304" pitchFamily="18" charset="0"/>
              </a:rPr>
              <a:t>Completeness and non-</a:t>
            </a:r>
            <a:r>
              <a:rPr lang="en-US" altLang="en-US" sz="2400" dirty="0" err="1">
                <a:latin typeface="Times New Roman" panose="02020603050405020304" pitchFamily="18" charset="0"/>
                <a:cs typeface="Times New Roman" panose="02020603050405020304" pitchFamily="18" charset="0"/>
              </a:rPr>
              <a:t>redundency</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F0587588-7A15-6CB9-4645-D6FB27238A5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9CD4088-2E0D-44BD-8893-133E2DAACD1B}" type="slidenum">
              <a:rPr lang="en-US" altLang="en-US" sz="1200"/>
              <a:pPr eaLnBrk="1" hangingPunct="1"/>
              <a:t>37</a:t>
            </a:fld>
            <a:endParaRPr lang="en-US" altLang="en-US" sz="1200"/>
          </a:p>
        </p:txBody>
      </p:sp>
      <p:sp>
        <p:nvSpPr>
          <p:cNvPr id="44035" name="Rectangle 2">
            <a:extLst>
              <a:ext uri="{FF2B5EF4-FFF2-40B4-BE49-F238E27FC236}">
                <a16:creationId xmlns:a16="http://schemas.microsoft.com/office/drawing/2014/main" id="{3D7C535A-4C72-B352-1479-26C92252DC49}"/>
              </a:ext>
            </a:extLst>
          </p:cNvPr>
          <p:cNvSpPr>
            <a:spLocks noGrp="1" noChangeArrowheads="1"/>
          </p:cNvSpPr>
          <p:nvPr>
            <p:ph type="title"/>
          </p:nvPr>
        </p:nvSpPr>
        <p:spPr>
          <a:xfrm>
            <a:off x="0" y="304800"/>
            <a:ext cx="9144000" cy="685800"/>
          </a:xfrm>
        </p:spPr>
        <p:txBody>
          <a:bodyPr>
            <a:normAutofit/>
          </a:bodyPr>
          <a:lstStyle/>
          <a:p>
            <a:pPr algn="ctr" eaLnBrk="1" hangingPunct="1">
              <a:lnSpc>
                <a:spcPct val="90000"/>
              </a:lnSpc>
            </a:pPr>
            <a:r>
              <a:rPr lang="en-US" altLang="en-US" sz="2800" dirty="0">
                <a:latin typeface="Times New Roman" panose="02020603050405020304" pitchFamily="18" charset="0"/>
                <a:cs typeface="Times New Roman" panose="02020603050405020304" pitchFamily="18" charset="0"/>
              </a:rPr>
              <a:t>Find Patterns Having P From P-conditional Database</a:t>
            </a:r>
          </a:p>
        </p:txBody>
      </p:sp>
      <p:sp>
        <p:nvSpPr>
          <p:cNvPr id="44036" name="Rectangle 3">
            <a:extLst>
              <a:ext uri="{FF2B5EF4-FFF2-40B4-BE49-F238E27FC236}">
                <a16:creationId xmlns:a16="http://schemas.microsoft.com/office/drawing/2014/main" id="{0EBA5B10-644C-1F8C-4AD9-5B7476CCE20A}"/>
              </a:ext>
            </a:extLst>
          </p:cNvPr>
          <p:cNvSpPr>
            <a:spLocks noGrp="1" noChangeArrowheads="1"/>
          </p:cNvSpPr>
          <p:nvPr>
            <p:ph type="body" idx="1"/>
          </p:nvPr>
        </p:nvSpPr>
        <p:spPr>
          <a:xfrm>
            <a:off x="381000" y="1447800"/>
            <a:ext cx="8382000" cy="1524000"/>
          </a:xfrm>
        </p:spPr>
        <p:txBody>
          <a:bodyPr/>
          <a:lstStyle/>
          <a:p>
            <a:pPr eaLnBrk="1" hangingPunct="1">
              <a:lnSpc>
                <a:spcPct val="80000"/>
              </a:lnSpc>
            </a:pPr>
            <a:r>
              <a:rPr lang="en-US" altLang="en-US" sz="2100" dirty="0">
                <a:latin typeface="Times New Roman" panose="02020603050405020304" pitchFamily="18" charset="0"/>
                <a:cs typeface="Times New Roman" panose="02020603050405020304" pitchFamily="18" charset="0"/>
              </a:rPr>
              <a:t>Starting at the frequent item header table in the FP-tree</a:t>
            </a:r>
          </a:p>
          <a:p>
            <a:pPr eaLnBrk="1" hangingPunct="1">
              <a:lnSpc>
                <a:spcPct val="80000"/>
              </a:lnSpc>
            </a:pPr>
            <a:r>
              <a:rPr lang="en-US" altLang="en-US" sz="2100" dirty="0">
                <a:latin typeface="Times New Roman" panose="02020603050405020304" pitchFamily="18" charset="0"/>
                <a:cs typeface="Times New Roman" panose="02020603050405020304" pitchFamily="18" charset="0"/>
              </a:rPr>
              <a:t>Traverse the FP-tree by following the link of each frequent item </a:t>
            </a:r>
            <a:r>
              <a:rPr lang="en-US" altLang="en-US" sz="2100" i="1" dirty="0">
                <a:latin typeface="Times New Roman" panose="02020603050405020304" pitchFamily="18" charset="0"/>
                <a:cs typeface="Times New Roman" panose="02020603050405020304" pitchFamily="18" charset="0"/>
              </a:rPr>
              <a:t>p</a:t>
            </a:r>
          </a:p>
          <a:p>
            <a:pPr eaLnBrk="1" hangingPunct="1">
              <a:lnSpc>
                <a:spcPct val="80000"/>
              </a:lnSpc>
            </a:pPr>
            <a:r>
              <a:rPr lang="en-US" altLang="en-US" sz="2100" dirty="0">
                <a:latin typeface="Times New Roman" panose="02020603050405020304" pitchFamily="18" charset="0"/>
                <a:cs typeface="Times New Roman" panose="02020603050405020304" pitchFamily="18" charset="0"/>
              </a:rPr>
              <a:t>Accumulate all of </a:t>
            </a:r>
            <a:r>
              <a:rPr lang="en-US" altLang="en-US" sz="2100" i="1" dirty="0">
                <a:solidFill>
                  <a:schemeClr val="hlink"/>
                </a:solidFill>
                <a:latin typeface="Times New Roman" panose="02020603050405020304" pitchFamily="18" charset="0"/>
                <a:cs typeface="Times New Roman" panose="02020603050405020304" pitchFamily="18" charset="0"/>
              </a:rPr>
              <a:t>transformed prefix paths</a:t>
            </a:r>
            <a:r>
              <a:rPr lang="en-US" altLang="en-US" sz="2100" dirty="0">
                <a:latin typeface="Times New Roman" panose="02020603050405020304" pitchFamily="18" charset="0"/>
                <a:cs typeface="Times New Roman" panose="02020603050405020304" pitchFamily="18" charset="0"/>
              </a:rPr>
              <a:t> of item </a:t>
            </a:r>
            <a:r>
              <a:rPr lang="en-US" altLang="en-US" sz="2100" i="1" dirty="0">
                <a:latin typeface="Times New Roman" panose="02020603050405020304" pitchFamily="18" charset="0"/>
                <a:cs typeface="Times New Roman" panose="02020603050405020304" pitchFamily="18" charset="0"/>
              </a:rPr>
              <a:t>p </a:t>
            </a:r>
            <a:r>
              <a:rPr lang="en-US" altLang="en-US" sz="2100" dirty="0">
                <a:latin typeface="Times New Roman" panose="02020603050405020304" pitchFamily="18" charset="0"/>
                <a:cs typeface="Times New Roman" panose="02020603050405020304" pitchFamily="18" charset="0"/>
              </a:rPr>
              <a:t>to form </a:t>
            </a:r>
            <a:r>
              <a:rPr lang="en-US" altLang="en-US" sz="2100" i="1" dirty="0">
                <a:latin typeface="Times New Roman" panose="02020603050405020304" pitchFamily="18" charset="0"/>
                <a:cs typeface="Times New Roman" panose="02020603050405020304" pitchFamily="18" charset="0"/>
              </a:rPr>
              <a:t>p’</a:t>
            </a:r>
            <a:r>
              <a:rPr lang="en-US" altLang="en-US" sz="2100" dirty="0">
                <a:latin typeface="Times New Roman" panose="02020603050405020304" pitchFamily="18" charset="0"/>
                <a:cs typeface="Times New Roman" panose="02020603050405020304" pitchFamily="18" charset="0"/>
              </a:rPr>
              <a:t>s conditional pattern base</a:t>
            </a:r>
          </a:p>
        </p:txBody>
      </p:sp>
      <p:sp>
        <p:nvSpPr>
          <p:cNvPr id="44037" name="Rectangle 4">
            <a:extLst>
              <a:ext uri="{FF2B5EF4-FFF2-40B4-BE49-F238E27FC236}">
                <a16:creationId xmlns:a16="http://schemas.microsoft.com/office/drawing/2014/main" id="{5AA719F7-99CC-BA00-01B8-769C7AF88A3A}"/>
              </a:ext>
            </a:extLst>
          </p:cNvPr>
          <p:cNvSpPr>
            <a:spLocks noChangeArrowheads="1"/>
          </p:cNvSpPr>
          <p:nvPr/>
        </p:nvSpPr>
        <p:spPr bwMode="auto">
          <a:xfrm>
            <a:off x="5461000" y="3667125"/>
            <a:ext cx="3327400" cy="277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sz="2000" b="1" i="1">
                <a:latin typeface="Times New Roman" panose="02020603050405020304" pitchFamily="18" charset="0"/>
              </a:rPr>
              <a:t>Conditional </a:t>
            </a:r>
            <a:r>
              <a:rPr lang="en-US" altLang="en-US" sz="2000" b="1">
                <a:latin typeface="Times New Roman" panose="02020603050405020304" pitchFamily="18" charset="0"/>
              </a:rPr>
              <a:t>pattern bases</a:t>
            </a:r>
          </a:p>
          <a:p>
            <a:pPr>
              <a:lnSpc>
                <a:spcPct val="80000"/>
              </a:lnSpc>
              <a:spcBef>
                <a:spcPct val="50000"/>
              </a:spcBef>
            </a:pPr>
            <a:r>
              <a:rPr lang="en-US" altLang="en-US" sz="2000" b="1" i="1" u="sng">
                <a:latin typeface="Times New Roman" panose="02020603050405020304" pitchFamily="18" charset="0"/>
              </a:rPr>
              <a:t>item	cond. pattern base</a:t>
            </a:r>
          </a:p>
          <a:p>
            <a:pPr>
              <a:lnSpc>
                <a:spcPct val="80000"/>
              </a:lnSpc>
              <a:spcBef>
                <a:spcPct val="50000"/>
              </a:spcBef>
            </a:pPr>
            <a:r>
              <a:rPr lang="en-US" altLang="en-US" sz="2000" b="1" i="1">
                <a:latin typeface="Times New Roman" panose="02020603050405020304" pitchFamily="18" charset="0"/>
              </a:rPr>
              <a:t>c	f:3</a:t>
            </a:r>
          </a:p>
          <a:p>
            <a:pPr>
              <a:lnSpc>
                <a:spcPct val="80000"/>
              </a:lnSpc>
              <a:spcBef>
                <a:spcPct val="50000"/>
              </a:spcBef>
            </a:pPr>
            <a:r>
              <a:rPr lang="en-US" altLang="en-US" sz="2000" b="1" i="1">
                <a:latin typeface="Times New Roman" panose="02020603050405020304" pitchFamily="18" charset="0"/>
              </a:rPr>
              <a:t>a	fc:3</a:t>
            </a:r>
          </a:p>
          <a:p>
            <a:pPr>
              <a:lnSpc>
                <a:spcPct val="80000"/>
              </a:lnSpc>
              <a:spcBef>
                <a:spcPct val="50000"/>
              </a:spcBef>
            </a:pPr>
            <a:r>
              <a:rPr lang="en-US" altLang="en-US" sz="2000" b="1" i="1">
                <a:latin typeface="Times New Roman" panose="02020603050405020304" pitchFamily="18" charset="0"/>
              </a:rPr>
              <a:t>b	fca:1, f:1, c:1</a:t>
            </a:r>
          </a:p>
          <a:p>
            <a:pPr>
              <a:lnSpc>
                <a:spcPct val="80000"/>
              </a:lnSpc>
              <a:spcBef>
                <a:spcPct val="50000"/>
              </a:spcBef>
            </a:pPr>
            <a:r>
              <a:rPr lang="en-US" altLang="en-US" sz="2000" b="1" i="1">
                <a:latin typeface="Times New Roman" panose="02020603050405020304" pitchFamily="18" charset="0"/>
              </a:rPr>
              <a:t>m	fca:2, fcab:1</a:t>
            </a:r>
          </a:p>
          <a:p>
            <a:pPr>
              <a:lnSpc>
                <a:spcPct val="80000"/>
              </a:lnSpc>
              <a:spcBef>
                <a:spcPct val="50000"/>
              </a:spcBef>
            </a:pPr>
            <a:r>
              <a:rPr lang="en-US" altLang="en-US" sz="2000" b="1" i="1">
                <a:latin typeface="Times New Roman" panose="02020603050405020304" pitchFamily="18" charset="0"/>
              </a:rPr>
              <a:t>p	fcam:2, cb:1</a:t>
            </a:r>
          </a:p>
        </p:txBody>
      </p:sp>
      <p:grpSp>
        <p:nvGrpSpPr>
          <p:cNvPr id="44038" name="Group 5">
            <a:extLst>
              <a:ext uri="{FF2B5EF4-FFF2-40B4-BE49-F238E27FC236}">
                <a16:creationId xmlns:a16="http://schemas.microsoft.com/office/drawing/2014/main" id="{A2D02F42-383D-6906-157B-27F9E0804382}"/>
              </a:ext>
            </a:extLst>
          </p:cNvPr>
          <p:cNvGrpSpPr>
            <a:grpSpLocks/>
          </p:cNvGrpSpPr>
          <p:nvPr/>
        </p:nvGrpSpPr>
        <p:grpSpPr bwMode="auto">
          <a:xfrm>
            <a:off x="304800" y="3048000"/>
            <a:ext cx="4637088" cy="3525838"/>
            <a:chOff x="2496" y="1772"/>
            <a:chExt cx="2921" cy="2226"/>
          </a:xfrm>
        </p:grpSpPr>
        <p:sp>
          <p:nvSpPr>
            <p:cNvPr id="44039" name="Text Box 6">
              <a:extLst>
                <a:ext uri="{FF2B5EF4-FFF2-40B4-BE49-F238E27FC236}">
                  <a16:creationId xmlns:a16="http://schemas.microsoft.com/office/drawing/2014/main" id="{2118A60B-80FD-9D53-56AE-AC8EA12E0CD1}"/>
                </a:ext>
              </a:extLst>
            </p:cNvPr>
            <p:cNvSpPr txBox="1">
              <a:spLocks noChangeArrowheads="1"/>
            </p:cNvSpPr>
            <p:nvPr/>
          </p:nvSpPr>
          <p:spPr bwMode="auto">
            <a:xfrm>
              <a:off x="4796" y="1772"/>
              <a:ext cx="278" cy="259"/>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rPr>
                <a:t>{}</a:t>
              </a:r>
            </a:p>
          </p:txBody>
        </p:sp>
        <p:sp>
          <p:nvSpPr>
            <p:cNvPr id="44040" name="Text Box 7">
              <a:extLst>
                <a:ext uri="{FF2B5EF4-FFF2-40B4-BE49-F238E27FC236}">
                  <a16:creationId xmlns:a16="http://schemas.microsoft.com/office/drawing/2014/main" id="{5CE3CF2F-4D77-7543-34C2-ECBA01367E5E}"/>
                </a:ext>
              </a:extLst>
            </p:cNvPr>
            <p:cNvSpPr txBox="1">
              <a:spLocks noChangeArrowheads="1"/>
            </p:cNvSpPr>
            <p:nvPr/>
          </p:nvSpPr>
          <p:spPr bwMode="auto">
            <a:xfrm>
              <a:off x="4508" y="2205"/>
              <a:ext cx="301" cy="259"/>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f:4</a:t>
              </a:r>
            </a:p>
          </p:txBody>
        </p:sp>
        <p:sp>
          <p:nvSpPr>
            <p:cNvPr id="44041" name="Text Box 8">
              <a:extLst>
                <a:ext uri="{FF2B5EF4-FFF2-40B4-BE49-F238E27FC236}">
                  <a16:creationId xmlns:a16="http://schemas.microsoft.com/office/drawing/2014/main" id="{6D3E0673-2AD0-6726-C77D-9C52BB951CF6}"/>
                </a:ext>
              </a:extLst>
            </p:cNvPr>
            <p:cNvSpPr txBox="1">
              <a:spLocks noChangeArrowheads="1"/>
            </p:cNvSpPr>
            <p:nvPr/>
          </p:nvSpPr>
          <p:spPr bwMode="auto">
            <a:xfrm>
              <a:off x="5084" y="2205"/>
              <a:ext cx="328" cy="259"/>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c:1</a:t>
              </a:r>
            </a:p>
          </p:txBody>
        </p:sp>
        <p:sp>
          <p:nvSpPr>
            <p:cNvPr id="44042" name="Text Box 9">
              <a:extLst>
                <a:ext uri="{FF2B5EF4-FFF2-40B4-BE49-F238E27FC236}">
                  <a16:creationId xmlns:a16="http://schemas.microsoft.com/office/drawing/2014/main" id="{995208B1-CEF5-5F31-0AAF-E03358280306}"/>
                </a:ext>
              </a:extLst>
            </p:cNvPr>
            <p:cNvSpPr txBox="1">
              <a:spLocks noChangeArrowheads="1"/>
            </p:cNvSpPr>
            <p:nvPr/>
          </p:nvSpPr>
          <p:spPr bwMode="auto">
            <a:xfrm>
              <a:off x="5080" y="2588"/>
              <a:ext cx="337" cy="258"/>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44043" name="Text Box 10">
              <a:extLst>
                <a:ext uri="{FF2B5EF4-FFF2-40B4-BE49-F238E27FC236}">
                  <a16:creationId xmlns:a16="http://schemas.microsoft.com/office/drawing/2014/main" id="{BDA3D6D2-E71E-1990-5D9C-B98FB82517EE}"/>
                </a:ext>
              </a:extLst>
            </p:cNvPr>
            <p:cNvSpPr txBox="1">
              <a:spLocks noChangeArrowheads="1"/>
            </p:cNvSpPr>
            <p:nvPr/>
          </p:nvSpPr>
          <p:spPr bwMode="auto">
            <a:xfrm>
              <a:off x="5080" y="2971"/>
              <a:ext cx="337" cy="258"/>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p:1</a:t>
              </a:r>
            </a:p>
          </p:txBody>
        </p:sp>
        <p:cxnSp>
          <p:nvCxnSpPr>
            <p:cNvPr id="44044" name="AutoShape 11">
              <a:extLst>
                <a:ext uri="{FF2B5EF4-FFF2-40B4-BE49-F238E27FC236}">
                  <a16:creationId xmlns:a16="http://schemas.microsoft.com/office/drawing/2014/main" id="{D83F6488-CF13-906F-CCA1-C42E0C95DBF4}"/>
                </a:ext>
              </a:extLst>
            </p:cNvPr>
            <p:cNvCxnSpPr>
              <a:cxnSpLocks noChangeShapeType="1"/>
              <a:stCxn id="44041" idx="2"/>
              <a:endCxn id="44042" idx="0"/>
            </p:cNvCxnSpPr>
            <p:nvPr/>
          </p:nvCxnSpPr>
          <p:spPr bwMode="auto">
            <a:xfrm>
              <a:off x="5248" y="2458"/>
              <a:ext cx="1"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045" name="AutoShape 12">
              <a:extLst>
                <a:ext uri="{FF2B5EF4-FFF2-40B4-BE49-F238E27FC236}">
                  <a16:creationId xmlns:a16="http://schemas.microsoft.com/office/drawing/2014/main" id="{D1D2AE0F-5D84-8951-5EB7-94859D3FDED1}"/>
                </a:ext>
              </a:extLst>
            </p:cNvPr>
            <p:cNvCxnSpPr>
              <a:cxnSpLocks noChangeShapeType="1"/>
              <a:stCxn id="44042" idx="2"/>
              <a:endCxn id="44043" idx="0"/>
            </p:cNvCxnSpPr>
            <p:nvPr/>
          </p:nvCxnSpPr>
          <p:spPr bwMode="auto">
            <a:xfrm>
              <a:off x="5249" y="2842"/>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046" name="AutoShape 13">
              <a:extLst>
                <a:ext uri="{FF2B5EF4-FFF2-40B4-BE49-F238E27FC236}">
                  <a16:creationId xmlns:a16="http://schemas.microsoft.com/office/drawing/2014/main" id="{9D9C1060-3847-12D4-BA7F-729523BBDD20}"/>
                </a:ext>
              </a:extLst>
            </p:cNvPr>
            <p:cNvCxnSpPr>
              <a:cxnSpLocks noChangeShapeType="1"/>
              <a:stCxn id="44039" idx="2"/>
              <a:endCxn id="44041" idx="0"/>
            </p:cNvCxnSpPr>
            <p:nvPr/>
          </p:nvCxnSpPr>
          <p:spPr bwMode="auto">
            <a:xfrm>
              <a:off x="4935" y="2026"/>
              <a:ext cx="313" cy="182"/>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047" name="AutoShape 14">
              <a:extLst>
                <a:ext uri="{FF2B5EF4-FFF2-40B4-BE49-F238E27FC236}">
                  <a16:creationId xmlns:a16="http://schemas.microsoft.com/office/drawing/2014/main" id="{5674CA81-0869-854C-0644-7FDEEDCE3C63}"/>
                </a:ext>
              </a:extLst>
            </p:cNvPr>
            <p:cNvCxnSpPr>
              <a:cxnSpLocks noChangeShapeType="1"/>
              <a:stCxn id="44039" idx="2"/>
              <a:endCxn id="44040" idx="0"/>
            </p:cNvCxnSpPr>
            <p:nvPr/>
          </p:nvCxnSpPr>
          <p:spPr bwMode="auto">
            <a:xfrm flipH="1">
              <a:off x="4659" y="2026"/>
              <a:ext cx="276" cy="182"/>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4048" name="Text Box 15">
              <a:extLst>
                <a:ext uri="{FF2B5EF4-FFF2-40B4-BE49-F238E27FC236}">
                  <a16:creationId xmlns:a16="http://schemas.microsoft.com/office/drawing/2014/main" id="{ABF20EFC-35ED-2BBE-1A5A-4771304DC023}"/>
                </a:ext>
              </a:extLst>
            </p:cNvPr>
            <p:cNvSpPr txBox="1">
              <a:spLocks noChangeArrowheads="1"/>
            </p:cNvSpPr>
            <p:nvPr/>
          </p:nvSpPr>
          <p:spPr bwMode="auto">
            <a:xfrm>
              <a:off x="4700" y="2588"/>
              <a:ext cx="337" cy="258"/>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44049" name="Text Box 16">
              <a:extLst>
                <a:ext uri="{FF2B5EF4-FFF2-40B4-BE49-F238E27FC236}">
                  <a16:creationId xmlns:a16="http://schemas.microsoft.com/office/drawing/2014/main" id="{6077D103-D119-D8E9-73F1-373D8EB6BFB4}"/>
                </a:ext>
              </a:extLst>
            </p:cNvPr>
            <p:cNvSpPr txBox="1">
              <a:spLocks noChangeArrowheads="1"/>
            </p:cNvSpPr>
            <p:nvPr/>
          </p:nvSpPr>
          <p:spPr bwMode="auto">
            <a:xfrm>
              <a:off x="4321" y="2588"/>
              <a:ext cx="328" cy="258"/>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c:3</a:t>
              </a:r>
            </a:p>
          </p:txBody>
        </p:sp>
        <p:cxnSp>
          <p:nvCxnSpPr>
            <p:cNvPr id="44050" name="AutoShape 17">
              <a:extLst>
                <a:ext uri="{FF2B5EF4-FFF2-40B4-BE49-F238E27FC236}">
                  <a16:creationId xmlns:a16="http://schemas.microsoft.com/office/drawing/2014/main" id="{31A45E7C-57EA-56EC-B75A-357C70318D92}"/>
                </a:ext>
              </a:extLst>
            </p:cNvPr>
            <p:cNvCxnSpPr>
              <a:cxnSpLocks noChangeShapeType="1"/>
              <a:stCxn id="44040" idx="2"/>
              <a:endCxn id="44049" idx="0"/>
            </p:cNvCxnSpPr>
            <p:nvPr/>
          </p:nvCxnSpPr>
          <p:spPr bwMode="auto">
            <a:xfrm flipH="1">
              <a:off x="4485" y="2458"/>
              <a:ext cx="174"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051" name="AutoShape 18">
              <a:extLst>
                <a:ext uri="{FF2B5EF4-FFF2-40B4-BE49-F238E27FC236}">
                  <a16:creationId xmlns:a16="http://schemas.microsoft.com/office/drawing/2014/main" id="{51707618-3567-DBDC-EFCC-4A2D036A2157}"/>
                </a:ext>
              </a:extLst>
            </p:cNvPr>
            <p:cNvCxnSpPr>
              <a:cxnSpLocks noChangeShapeType="1"/>
              <a:stCxn id="44040" idx="2"/>
              <a:endCxn id="44048" idx="0"/>
            </p:cNvCxnSpPr>
            <p:nvPr/>
          </p:nvCxnSpPr>
          <p:spPr bwMode="auto">
            <a:xfrm>
              <a:off x="4659" y="2458"/>
              <a:ext cx="21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4052" name="Text Box 19">
              <a:extLst>
                <a:ext uri="{FF2B5EF4-FFF2-40B4-BE49-F238E27FC236}">
                  <a16:creationId xmlns:a16="http://schemas.microsoft.com/office/drawing/2014/main" id="{ABD0FB20-7580-A78C-DB29-5698CA7DBC19}"/>
                </a:ext>
              </a:extLst>
            </p:cNvPr>
            <p:cNvSpPr txBox="1">
              <a:spLocks noChangeArrowheads="1"/>
            </p:cNvSpPr>
            <p:nvPr/>
          </p:nvSpPr>
          <p:spPr bwMode="auto">
            <a:xfrm>
              <a:off x="4316" y="2971"/>
              <a:ext cx="337" cy="258"/>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a:3</a:t>
              </a:r>
            </a:p>
          </p:txBody>
        </p:sp>
        <p:sp>
          <p:nvSpPr>
            <p:cNvPr id="44053" name="Text Box 20">
              <a:extLst>
                <a:ext uri="{FF2B5EF4-FFF2-40B4-BE49-F238E27FC236}">
                  <a16:creationId xmlns:a16="http://schemas.microsoft.com/office/drawing/2014/main" id="{034B3EC0-8201-F4F3-2523-3160EA2DC452}"/>
                </a:ext>
              </a:extLst>
            </p:cNvPr>
            <p:cNvSpPr txBox="1">
              <a:spLocks noChangeArrowheads="1"/>
            </p:cNvSpPr>
            <p:nvPr/>
          </p:nvSpPr>
          <p:spPr bwMode="auto">
            <a:xfrm>
              <a:off x="4556" y="3356"/>
              <a:ext cx="337" cy="258"/>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b:1</a:t>
              </a:r>
            </a:p>
          </p:txBody>
        </p:sp>
        <p:sp>
          <p:nvSpPr>
            <p:cNvPr id="44054" name="Text Box 21">
              <a:extLst>
                <a:ext uri="{FF2B5EF4-FFF2-40B4-BE49-F238E27FC236}">
                  <a16:creationId xmlns:a16="http://schemas.microsoft.com/office/drawing/2014/main" id="{CA094978-916A-AF6C-3A6D-B6BCF1D2663D}"/>
                </a:ext>
              </a:extLst>
            </p:cNvPr>
            <p:cNvSpPr txBox="1">
              <a:spLocks noChangeArrowheads="1"/>
            </p:cNvSpPr>
            <p:nvPr/>
          </p:nvSpPr>
          <p:spPr bwMode="auto">
            <a:xfrm>
              <a:off x="4130" y="3356"/>
              <a:ext cx="373" cy="258"/>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m:2</a:t>
              </a:r>
            </a:p>
          </p:txBody>
        </p:sp>
        <p:sp>
          <p:nvSpPr>
            <p:cNvPr id="44055" name="Text Box 22">
              <a:extLst>
                <a:ext uri="{FF2B5EF4-FFF2-40B4-BE49-F238E27FC236}">
                  <a16:creationId xmlns:a16="http://schemas.microsoft.com/office/drawing/2014/main" id="{413C00C0-6C58-7195-FCC3-81F1F232FA11}"/>
                </a:ext>
              </a:extLst>
            </p:cNvPr>
            <p:cNvSpPr txBox="1">
              <a:spLocks noChangeArrowheads="1"/>
            </p:cNvSpPr>
            <p:nvPr/>
          </p:nvSpPr>
          <p:spPr bwMode="auto">
            <a:xfrm>
              <a:off x="4148" y="3739"/>
              <a:ext cx="337" cy="259"/>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p:2</a:t>
              </a:r>
            </a:p>
          </p:txBody>
        </p:sp>
        <p:cxnSp>
          <p:nvCxnSpPr>
            <p:cNvPr id="44056" name="AutoShape 23">
              <a:extLst>
                <a:ext uri="{FF2B5EF4-FFF2-40B4-BE49-F238E27FC236}">
                  <a16:creationId xmlns:a16="http://schemas.microsoft.com/office/drawing/2014/main" id="{44FC17C1-57DB-5648-D0FF-36B1FA1BC581}"/>
                </a:ext>
              </a:extLst>
            </p:cNvPr>
            <p:cNvCxnSpPr>
              <a:cxnSpLocks noChangeShapeType="1"/>
              <a:stCxn id="44049" idx="2"/>
              <a:endCxn id="44052" idx="0"/>
            </p:cNvCxnSpPr>
            <p:nvPr/>
          </p:nvCxnSpPr>
          <p:spPr bwMode="auto">
            <a:xfrm>
              <a:off x="4485" y="2842"/>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057" name="AutoShape 24">
              <a:extLst>
                <a:ext uri="{FF2B5EF4-FFF2-40B4-BE49-F238E27FC236}">
                  <a16:creationId xmlns:a16="http://schemas.microsoft.com/office/drawing/2014/main" id="{AD07C543-C549-175C-CFC8-1FACDD7A0214}"/>
                </a:ext>
              </a:extLst>
            </p:cNvPr>
            <p:cNvCxnSpPr>
              <a:cxnSpLocks noChangeShapeType="1"/>
              <a:stCxn id="44052" idx="2"/>
              <a:endCxn id="44054" idx="0"/>
            </p:cNvCxnSpPr>
            <p:nvPr/>
          </p:nvCxnSpPr>
          <p:spPr bwMode="auto">
            <a:xfrm flipH="1">
              <a:off x="4317" y="3226"/>
              <a:ext cx="168"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058" name="AutoShape 25">
              <a:extLst>
                <a:ext uri="{FF2B5EF4-FFF2-40B4-BE49-F238E27FC236}">
                  <a16:creationId xmlns:a16="http://schemas.microsoft.com/office/drawing/2014/main" id="{BB2D42DA-78AE-7C88-24C1-6B5398B063BB}"/>
                </a:ext>
              </a:extLst>
            </p:cNvPr>
            <p:cNvCxnSpPr>
              <a:cxnSpLocks noChangeShapeType="1"/>
              <a:stCxn id="44052" idx="2"/>
              <a:endCxn id="44053" idx="0"/>
            </p:cNvCxnSpPr>
            <p:nvPr/>
          </p:nvCxnSpPr>
          <p:spPr bwMode="auto">
            <a:xfrm>
              <a:off x="4485" y="3226"/>
              <a:ext cx="24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4059" name="AutoShape 26">
              <a:extLst>
                <a:ext uri="{FF2B5EF4-FFF2-40B4-BE49-F238E27FC236}">
                  <a16:creationId xmlns:a16="http://schemas.microsoft.com/office/drawing/2014/main" id="{9DD402DC-B187-8E54-4156-24733018E6B2}"/>
                </a:ext>
              </a:extLst>
            </p:cNvPr>
            <p:cNvCxnSpPr>
              <a:cxnSpLocks noChangeShapeType="1"/>
              <a:stCxn id="44054" idx="2"/>
              <a:endCxn id="44055" idx="0"/>
            </p:cNvCxnSpPr>
            <p:nvPr/>
          </p:nvCxnSpPr>
          <p:spPr bwMode="auto">
            <a:xfrm>
              <a:off x="4317" y="3610"/>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4060" name="Text Box 27">
              <a:extLst>
                <a:ext uri="{FF2B5EF4-FFF2-40B4-BE49-F238E27FC236}">
                  <a16:creationId xmlns:a16="http://schemas.microsoft.com/office/drawing/2014/main" id="{0EBA6EC0-C881-AB97-A0D9-81267774256B}"/>
                </a:ext>
              </a:extLst>
            </p:cNvPr>
            <p:cNvSpPr txBox="1">
              <a:spLocks noChangeArrowheads="1"/>
            </p:cNvSpPr>
            <p:nvPr/>
          </p:nvSpPr>
          <p:spPr bwMode="auto">
            <a:xfrm>
              <a:off x="4538" y="3739"/>
              <a:ext cx="373" cy="259"/>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rPr>
                <a:t>m:1</a:t>
              </a:r>
            </a:p>
          </p:txBody>
        </p:sp>
        <p:cxnSp>
          <p:nvCxnSpPr>
            <p:cNvPr id="44061" name="AutoShape 28">
              <a:extLst>
                <a:ext uri="{FF2B5EF4-FFF2-40B4-BE49-F238E27FC236}">
                  <a16:creationId xmlns:a16="http://schemas.microsoft.com/office/drawing/2014/main" id="{F401E577-E1FB-DBFD-75FE-AD5994A3CDB5}"/>
                </a:ext>
              </a:extLst>
            </p:cNvPr>
            <p:cNvCxnSpPr>
              <a:cxnSpLocks noChangeShapeType="1"/>
              <a:stCxn id="44053" idx="2"/>
              <a:endCxn id="44060" idx="0"/>
            </p:cNvCxnSpPr>
            <p:nvPr/>
          </p:nvCxnSpPr>
          <p:spPr bwMode="auto">
            <a:xfrm>
              <a:off x="4725" y="3610"/>
              <a:ext cx="0" cy="134"/>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4062" name="Text Box 29">
              <a:extLst>
                <a:ext uri="{FF2B5EF4-FFF2-40B4-BE49-F238E27FC236}">
                  <a16:creationId xmlns:a16="http://schemas.microsoft.com/office/drawing/2014/main" id="{0B66DC77-990F-9D1E-7265-77B1BEB08B7E}"/>
                </a:ext>
              </a:extLst>
            </p:cNvPr>
            <p:cNvSpPr txBox="1">
              <a:spLocks noChangeArrowheads="1"/>
            </p:cNvSpPr>
            <p:nvPr/>
          </p:nvSpPr>
          <p:spPr bwMode="auto">
            <a:xfrm>
              <a:off x="2496" y="1935"/>
              <a:ext cx="1602" cy="1627"/>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90000"/>
                </a:lnSpc>
              </a:pPr>
              <a:r>
                <a:rPr lang="en-US" altLang="en-US" sz="2000" b="1">
                  <a:latin typeface="Times New Roman" panose="02020603050405020304" pitchFamily="18" charset="0"/>
                </a:rPr>
                <a:t>Header Table</a:t>
              </a:r>
            </a:p>
            <a:p>
              <a:pPr>
                <a:lnSpc>
                  <a:spcPct val="90000"/>
                </a:lnSpc>
              </a:pPr>
              <a:endParaRPr lang="en-US" altLang="en-US" sz="2000" b="1">
                <a:latin typeface="Times New Roman" panose="02020603050405020304" pitchFamily="18" charset="0"/>
              </a:endParaRPr>
            </a:p>
            <a:p>
              <a:pPr>
                <a:lnSpc>
                  <a:spcPct val="90000"/>
                </a:lnSpc>
              </a:pPr>
              <a:r>
                <a:rPr lang="en-US" altLang="en-US" sz="2000" b="1" i="1" u="sng">
                  <a:latin typeface="Times New Roman" panose="02020603050405020304" pitchFamily="18" charset="0"/>
                </a:rPr>
                <a:t>Item  frequency  head </a:t>
              </a:r>
            </a:p>
            <a:p>
              <a:pPr>
                <a:lnSpc>
                  <a:spcPct val="90000"/>
                </a:lnSpc>
              </a:pPr>
              <a:r>
                <a:rPr lang="en-US" altLang="en-US" sz="2000" i="1">
                  <a:latin typeface="Times New Roman" panose="02020603050405020304" pitchFamily="18" charset="0"/>
                </a:rPr>
                <a:t> f	4</a:t>
              </a:r>
            </a:p>
            <a:p>
              <a:pPr>
                <a:lnSpc>
                  <a:spcPct val="90000"/>
                </a:lnSpc>
              </a:pPr>
              <a:r>
                <a:rPr lang="en-US" altLang="en-US" sz="2000" i="1">
                  <a:latin typeface="Times New Roman" panose="02020603050405020304" pitchFamily="18" charset="0"/>
                </a:rPr>
                <a:t>c	4</a:t>
              </a:r>
            </a:p>
            <a:p>
              <a:pPr>
                <a:lnSpc>
                  <a:spcPct val="90000"/>
                </a:lnSpc>
              </a:pPr>
              <a:r>
                <a:rPr lang="en-US" altLang="en-US" sz="2000" i="1">
                  <a:latin typeface="Times New Roman" panose="02020603050405020304" pitchFamily="18" charset="0"/>
                </a:rPr>
                <a:t>a	3</a:t>
              </a:r>
            </a:p>
            <a:p>
              <a:pPr>
                <a:lnSpc>
                  <a:spcPct val="90000"/>
                </a:lnSpc>
              </a:pPr>
              <a:r>
                <a:rPr lang="en-US" altLang="en-US" sz="2000" i="1">
                  <a:latin typeface="Times New Roman" panose="02020603050405020304" pitchFamily="18" charset="0"/>
                </a:rPr>
                <a:t>b	3</a:t>
              </a:r>
            </a:p>
            <a:p>
              <a:pPr>
                <a:lnSpc>
                  <a:spcPct val="90000"/>
                </a:lnSpc>
              </a:pPr>
              <a:r>
                <a:rPr lang="en-US" altLang="en-US" sz="2000" i="1">
                  <a:latin typeface="Times New Roman" panose="02020603050405020304" pitchFamily="18" charset="0"/>
                </a:rPr>
                <a:t>m	3</a:t>
              </a:r>
            </a:p>
            <a:p>
              <a:pPr>
                <a:lnSpc>
                  <a:spcPct val="90000"/>
                </a:lnSpc>
              </a:pPr>
              <a:r>
                <a:rPr lang="en-US" altLang="en-US" sz="2000" i="1">
                  <a:latin typeface="Times New Roman" panose="02020603050405020304" pitchFamily="18" charset="0"/>
                </a:rPr>
                <a:t>p	3</a:t>
              </a:r>
              <a:endParaRPr lang="en-US" altLang="en-US" sz="2000">
                <a:latin typeface="Times New Roman" panose="02020603050405020304" pitchFamily="18" charset="0"/>
              </a:endParaRPr>
            </a:p>
          </p:txBody>
        </p:sp>
        <p:sp>
          <p:nvSpPr>
            <p:cNvPr id="44063" name="Freeform 30">
              <a:extLst>
                <a:ext uri="{FF2B5EF4-FFF2-40B4-BE49-F238E27FC236}">
                  <a16:creationId xmlns:a16="http://schemas.microsoft.com/office/drawing/2014/main" id="{4BDB3239-3BBA-2C71-3CB5-74C7DA47F4B5}"/>
                </a:ext>
              </a:extLst>
            </p:cNvPr>
            <p:cNvSpPr>
              <a:spLocks/>
            </p:cNvSpPr>
            <p:nvPr/>
          </p:nvSpPr>
          <p:spPr bwMode="auto">
            <a:xfrm>
              <a:off x="3879" y="2341"/>
              <a:ext cx="672" cy="240"/>
            </a:xfrm>
            <a:custGeom>
              <a:avLst/>
              <a:gdLst>
                <a:gd name="T0" fmla="*/ 0 w 672"/>
                <a:gd name="T1" fmla="*/ 240 h 240"/>
                <a:gd name="T2" fmla="*/ 288 w 672"/>
                <a:gd name="T3" fmla="*/ 192 h 240"/>
                <a:gd name="T4" fmla="*/ 432 w 672"/>
                <a:gd name="T5" fmla="*/ 48 h 240"/>
                <a:gd name="T6" fmla="*/ 672 w 672"/>
                <a:gd name="T7" fmla="*/ 0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cubicBezTo>
                    <a:pt x="108" y="232"/>
                    <a:pt x="216" y="224"/>
                    <a:pt x="288" y="192"/>
                  </a:cubicBezTo>
                  <a:cubicBezTo>
                    <a:pt x="360" y="160"/>
                    <a:pt x="368" y="80"/>
                    <a:pt x="432" y="48"/>
                  </a:cubicBezTo>
                  <a:cubicBezTo>
                    <a:pt x="496" y="16"/>
                    <a:pt x="584" y="8"/>
                    <a:pt x="67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64" name="Freeform 31">
              <a:extLst>
                <a:ext uri="{FF2B5EF4-FFF2-40B4-BE49-F238E27FC236}">
                  <a16:creationId xmlns:a16="http://schemas.microsoft.com/office/drawing/2014/main" id="{70AE2DBF-1513-1E72-987D-B3406A6EB07D}"/>
                </a:ext>
              </a:extLst>
            </p:cNvPr>
            <p:cNvSpPr>
              <a:spLocks/>
            </p:cNvSpPr>
            <p:nvPr/>
          </p:nvSpPr>
          <p:spPr bwMode="auto">
            <a:xfrm>
              <a:off x="3879" y="2725"/>
              <a:ext cx="432" cy="1"/>
            </a:xfrm>
            <a:custGeom>
              <a:avLst/>
              <a:gdLst>
                <a:gd name="T0" fmla="*/ 0 w 432"/>
                <a:gd name="T1" fmla="*/ 0 h 1"/>
                <a:gd name="T2" fmla="*/ 432 w 432"/>
                <a:gd name="T3" fmla="*/ 0 h 1"/>
                <a:gd name="T4" fmla="*/ 0 60000 65536"/>
                <a:gd name="T5" fmla="*/ 0 60000 65536"/>
                <a:gd name="T6" fmla="*/ 0 w 432"/>
                <a:gd name="T7" fmla="*/ 0 h 1"/>
                <a:gd name="T8" fmla="*/ 432 w 432"/>
                <a:gd name="T9" fmla="*/ 1 h 1"/>
              </a:gdLst>
              <a:ahLst/>
              <a:cxnLst>
                <a:cxn ang="T4">
                  <a:pos x="T0" y="T1"/>
                </a:cxn>
                <a:cxn ang="T5">
                  <a:pos x="T2" y="T3"/>
                </a:cxn>
              </a:cxnLst>
              <a:rect l="T6" t="T7" r="T8" b="T9"/>
              <a:pathLst>
                <a:path w="432" h="1">
                  <a:moveTo>
                    <a:pt x="0" y="0"/>
                  </a:moveTo>
                  <a:cubicBezTo>
                    <a:pt x="0" y="0"/>
                    <a:pt x="216" y="0"/>
                    <a:pt x="43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65" name="Freeform 32">
              <a:extLst>
                <a:ext uri="{FF2B5EF4-FFF2-40B4-BE49-F238E27FC236}">
                  <a16:creationId xmlns:a16="http://schemas.microsoft.com/office/drawing/2014/main" id="{55C239A7-F4C6-7E03-20FC-6B05BA194130}"/>
                </a:ext>
              </a:extLst>
            </p:cNvPr>
            <p:cNvSpPr>
              <a:spLocks/>
            </p:cNvSpPr>
            <p:nvPr/>
          </p:nvSpPr>
          <p:spPr bwMode="auto">
            <a:xfrm>
              <a:off x="4599" y="2341"/>
              <a:ext cx="480" cy="384"/>
            </a:xfrm>
            <a:custGeom>
              <a:avLst/>
              <a:gdLst>
                <a:gd name="T0" fmla="*/ 0 w 480"/>
                <a:gd name="T1" fmla="*/ 384 h 384"/>
                <a:gd name="T2" fmla="*/ 48 w 480"/>
                <a:gd name="T3" fmla="*/ 336 h 384"/>
                <a:gd name="T4" fmla="*/ 240 w 480"/>
                <a:gd name="T5" fmla="*/ 96 h 384"/>
                <a:gd name="T6" fmla="*/ 480 w 480"/>
                <a:gd name="T7" fmla="*/ 0 h 384"/>
                <a:gd name="T8" fmla="*/ 0 60000 65536"/>
                <a:gd name="T9" fmla="*/ 0 60000 65536"/>
                <a:gd name="T10" fmla="*/ 0 60000 65536"/>
                <a:gd name="T11" fmla="*/ 0 60000 65536"/>
                <a:gd name="T12" fmla="*/ 0 w 480"/>
                <a:gd name="T13" fmla="*/ 0 h 384"/>
                <a:gd name="T14" fmla="*/ 480 w 480"/>
                <a:gd name="T15" fmla="*/ 384 h 384"/>
              </a:gdLst>
              <a:ahLst/>
              <a:cxnLst>
                <a:cxn ang="T8">
                  <a:pos x="T0" y="T1"/>
                </a:cxn>
                <a:cxn ang="T9">
                  <a:pos x="T2" y="T3"/>
                </a:cxn>
                <a:cxn ang="T10">
                  <a:pos x="T4" y="T5"/>
                </a:cxn>
                <a:cxn ang="T11">
                  <a:pos x="T6" y="T7"/>
                </a:cxn>
              </a:cxnLst>
              <a:rect l="T12" t="T13" r="T14" b="T15"/>
              <a:pathLst>
                <a:path w="480" h="384">
                  <a:moveTo>
                    <a:pt x="0" y="384"/>
                  </a:moveTo>
                  <a:cubicBezTo>
                    <a:pt x="4" y="384"/>
                    <a:pt x="8" y="384"/>
                    <a:pt x="48" y="336"/>
                  </a:cubicBezTo>
                  <a:cubicBezTo>
                    <a:pt x="88" y="288"/>
                    <a:pt x="168" y="152"/>
                    <a:pt x="240" y="96"/>
                  </a:cubicBezTo>
                  <a:cubicBezTo>
                    <a:pt x="312" y="40"/>
                    <a:pt x="396" y="20"/>
                    <a:pt x="480"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66" name="Freeform 33">
              <a:extLst>
                <a:ext uri="{FF2B5EF4-FFF2-40B4-BE49-F238E27FC236}">
                  <a16:creationId xmlns:a16="http://schemas.microsoft.com/office/drawing/2014/main" id="{7BABE2E8-8CCD-8F5E-56E6-5046783C4604}"/>
                </a:ext>
              </a:extLst>
            </p:cNvPr>
            <p:cNvSpPr>
              <a:spLocks/>
            </p:cNvSpPr>
            <p:nvPr/>
          </p:nvSpPr>
          <p:spPr bwMode="auto">
            <a:xfrm>
              <a:off x="3879" y="2928"/>
              <a:ext cx="432" cy="192"/>
            </a:xfrm>
            <a:custGeom>
              <a:avLst/>
              <a:gdLst>
                <a:gd name="T0" fmla="*/ 0 w 432"/>
                <a:gd name="T1" fmla="*/ 0 h 192"/>
                <a:gd name="T2" fmla="*/ 144 w 432"/>
                <a:gd name="T3" fmla="*/ 48 h 192"/>
                <a:gd name="T4" fmla="*/ 288 w 432"/>
                <a:gd name="T5" fmla="*/ 144 h 192"/>
                <a:gd name="T6" fmla="*/ 432 w 432"/>
                <a:gd name="T7" fmla="*/ 192 h 192"/>
                <a:gd name="T8" fmla="*/ 0 60000 65536"/>
                <a:gd name="T9" fmla="*/ 0 60000 65536"/>
                <a:gd name="T10" fmla="*/ 0 60000 65536"/>
                <a:gd name="T11" fmla="*/ 0 60000 65536"/>
                <a:gd name="T12" fmla="*/ 0 w 432"/>
                <a:gd name="T13" fmla="*/ 0 h 192"/>
                <a:gd name="T14" fmla="*/ 432 w 432"/>
                <a:gd name="T15" fmla="*/ 192 h 192"/>
              </a:gdLst>
              <a:ahLst/>
              <a:cxnLst>
                <a:cxn ang="T8">
                  <a:pos x="T0" y="T1"/>
                </a:cxn>
                <a:cxn ang="T9">
                  <a:pos x="T2" y="T3"/>
                </a:cxn>
                <a:cxn ang="T10">
                  <a:pos x="T4" y="T5"/>
                </a:cxn>
                <a:cxn ang="T11">
                  <a:pos x="T6" y="T7"/>
                </a:cxn>
              </a:cxnLst>
              <a:rect l="T12" t="T13" r="T14" b="T15"/>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67" name="Freeform 34">
              <a:extLst>
                <a:ext uri="{FF2B5EF4-FFF2-40B4-BE49-F238E27FC236}">
                  <a16:creationId xmlns:a16="http://schemas.microsoft.com/office/drawing/2014/main" id="{4FF75506-3CB3-E88F-CC42-7EDC41D36CD1}"/>
                </a:ext>
              </a:extLst>
            </p:cNvPr>
            <p:cNvSpPr>
              <a:spLocks/>
            </p:cNvSpPr>
            <p:nvPr/>
          </p:nvSpPr>
          <p:spPr bwMode="auto">
            <a:xfrm>
              <a:off x="3888" y="3072"/>
              <a:ext cx="720" cy="384"/>
            </a:xfrm>
            <a:custGeom>
              <a:avLst/>
              <a:gdLst>
                <a:gd name="T0" fmla="*/ 0 w 720"/>
                <a:gd name="T1" fmla="*/ 0 h 384"/>
                <a:gd name="T2" fmla="*/ 240 w 720"/>
                <a:gd name="T3" fmla="*/ 48 h 384"/>
                <a:gd name="T4" fmla="*/ 528 w 720"/>
                <a:gd name="T5" fmla="*/ 288 h 384"/>
                <a:gd name="T6" fmla="*/ 720 w 720"/>
                <a:gd name="T7" fmla="*/ 384 h 384"/>
                <a:gd name="T8" fmla="*/ 0 60000 65536"/>
                <a:gd name="T9" fmla="*/ 0 60000 65536"/>
                <a:gd name="T10" fmla="*/ 0 60000 65536"/>
                <a:gd name="T11" fmla="*/ 0 60000 65536"/>
                <a:gd name="T12" fmla="*/ 0 w 720"/>
                <a:gd name="T13" fmla="*/ 0 h 384"/>
                <a:gd name="T14" fmla="*/ 720 w 720"/>
                <a:gd name="T15" fmla="*/ 384 h 384"/>
              </a:gdLst>
              <a:ahLst/>
              <a:cxnLst>
                <a:cxn ang="T8">
                  <a:pos x="T0" y="T1"/>
                </a:cxn>
                <a:cxn ang="T9">
                  <a:pos x="T2" y="T3"/>
                </a:cxn>
                <a:cxn ang="T10">
                  <a:pos x="T4" y="T5"/>
                </a:cxn>
                <a:cxn ang="T11">
                  <a:pos x="T6" y="T7"/>
                </a:cxn>
              </a:cxnLst>
              <a:rect l="T12" t="T13" r="T14" b="T15"/>
              <a:pathLst>
                <a:path w="720" h="384">
                  <a:moveTo>
                    <a:pt x="0" y="0"/>
                  </a:moveTo>
                  <a:cubicBezTo>
                    <a:pt x="76" y="0"/>
                    <a:pt x="152" y="0"/>
                    <a:pt x="240" y="48"/>
                  </a:cubicBezTo>
                  <a:cubicBezTo>
                    <a:pt x="328" y="96"/>
                    <a:pt x="448" y="232"/>
                    <a:pt x="528" y="288"/>
                  </a:cubicBezTo>
                  <a:cubicBezTo>
                    <a:pt x="608" y="344"/>
                    <a:pt x="664" y="364"/>
                    <a:pt x="720"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68" name="Freeform 35">
              <a:extLst>
                <a:ext uri="{FF2B5EF4-FFF2-40B4-BE49-F238E27FC236}">
                  <a16:creationId xmlns:a16="http://schemas.microsoft.com/office/drawing/2014/main" id="{8C4896F2-051A-CA65-9E7D-FB8DB41EECC1}"/>
                </a:ext>
              </a:extLst>
            </p:cNvPr>
            <p:cNvSpPr>
              <a:spLocks/>
            </p:cNvSpPr>
            <p:nvPr/>
          </p:nvSpPr>
          <p:spPr bwMode="auto">
            <a:xfrm>
              <a:off x="4848" y="2832"/>
              <a:ext cx="56" cy="672"/>
            </a:xfrm>
            <a:custGeom>
              <a:avLst/>
              <a:gdLst>
                <a:gd name="T0" fmla="*/ 0 w 56"/>
                <a:gd name="T1" fmla="*/ 672 h 672"/>
                <a:gd name="T2" fmla="*/ 48 w 56"/>
                <a:gd name="T3" fmla="*/ 432 h 672"/>
                <a:gd name="T4" fmla="*/ 48 w 56"/>
                <a:gd name="T5" fmla="*/ 0 h 672"/>
                <a:gd name="T6" fmla="*/ 0 60000 65536"/>
                <a:gd name="T7" fmla="*/ 0 60000 65536"/>
                <a:gd name="T8" fmla="*/ 0 60000 65536"/>
                <a:gd name="T9" fmla="*/ 0 w 56"/>
                <a:gd name="T10" fmla="*/ 0 h 672"/>
                <a:gd name="T11" fmla="*/ 56 w 56"/>
                <a:gd name="T12" fmla="*/ 672 h 672"/>
              </a:gdLst>
              <a:ahLst/>
              <a:cxnLst>
                <a:cxn ang="T6">
                  <a:pos x="T0" y="T1"/>
                </a:cxn>
                <a:cxn ang="T7">
                  <a:pos x="T2" y="T3"/>
                </a:cxn>
                <a:cxn ang="T8">
                  <a:pos x="T4" y="T5"/>
                </a:cxn>
              </a:cxnLst>
              <a:rect l="T9" t="T10" r="T11" b="T12"/>
              <a:pathLst>
                <a:path w="56" h="672">
                  <a:moveTo>
                    <a:pt x="0" y="672"/>
                  </a:moveTo>
                  <a:cubicBezTo>
                    <a:pt x="20" y="608"/>
                    <a:pt x="40" y="544"/>
                    <a:pt x="48" y="432"/>
                  </a:cubicBezTo>
                  <a:cubicBezTo>
                    <a:pt x="56" y="320"/>
                    <a:pt x="52" y="160"/>
                    <a:pt x="4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69" name="Line 36">
              <a:extLst>
                <a:ext uri="{FF2B5EF4-FFF2-40B4-BE49-F238E27FC236}">
                  <a16:creationId xmlns:a16="http://schemas.microsoft.com/office/drawing/2014/main" id="{20122B65-1173-D851-4534-2CA3907C8992}"/>
                </a:ext>
              </a:extLst>
            </p:cNvPr>
            <p:cNvSpPr>
              <a:spLocks noChangeShapeType="1"/>
            </p:cNvSpPr>
            <p:nvPr/>
          </p:nvSpPr>
          <p:spPr bwMode="auto">
            <a:xfrm>
              <a:off x="4983" y="2725"/>
              <a:ext cx="96" cy="0"/>
            </a:xfrm>
            <a:prstGeom prst="line">
              <a:avLst/>
            </a:prstGeom>
            <a:noFill/>
            <a:ln w="12700">
              <a:solidFill>
                <a:schemeClr val="tx2"/>
              </a:solidFill>
              <a:prstDash val="lgDash"/>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4070" name="Freeform 37">
              <a:extLst>
                <a:ext uri="{FF2B5EF4-FFF2-40B4-BE49-F238E27FC236}">
                  <a16:creationId xmlns:a16="http://schemas.microsoft.com/office/drawing/2014/main" id="{351DE5B3-904B-66C5-3CF4-F6F4A5B72F71}"/>
                </a:ext>
              </a:extLst>
            </p:cNvPr>
            <p:cNvSpPr>
              <a:spLocks/>
            </p:cNvSpPr>
            <p:nvPr/>
          </p:nvSpPr>
          <p:spPr bwMode="auto">
            <a:xfrm>
              <a:off x="3888" y="3264"/>
              <a:ext cx="288" cy="240"/>
            </a:xfrm>
            <a:custGeom>
              <a:avLst/>
              <a:gdLst>
                <a:gd name="T0" fmla="*/ 0 w 288"/>
                <a:gd name="T1" fmla="*/ 0 h 240"/>
                <a:gd name="T2" fmla="*/ 144 w 288"/>
                <a:gd name="T3" fmla="*/ 48 h 240"/>
                <a:gd name="T4" fmla="*/ 192 w 288"/>
                <a:gd name="T5" fmla="*/ 192 h 240"/>
                <a:gd name="T6" fmla="*/ 288 w 288"/>
                <a:gd name="T7" fmla="*/ 240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0" y="0"/>
                  </a:moveTo>
                  <a:cubicBezTo>
                    <a:pt x="56" y="8"/>
                    <a:pt x="112" y="16"/>
                    <a:pt x="144" y="48"/>
                  </a:cubicBezTo>
                  <a:cubicBezTo>
                    <a:pt x="176" y="80"/>
                    <a:pt x="168" y="160"/>
                    <a:pt x="192" y="192"/>
                  </a:cubicBezTo>
                  <a:cubicBezTo>
                    <a:pt x="216" y="224"/>
                    <a:pt x="252" y="232"/>
                    <a:pt x="288" y="24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71" name="Freeform 38">
              <a:extLst>
                <a:ext uri="{FF2B5EF4-FFF2-40B4-BE49-F238E27FC236}">
                  <a16:creationId xmlns:a16="http://schemas.microsoft.com/office/drawing/2014/main" id="{AE7B32D0-40FD-6026-1961-F50A5D39CBC8}"/>
                </a:ext>
              </a:extLst>
            </p:cNvPr>
            <p:cNvSpPr>
              <a:spLocks/>
            </p:cNvSpPr>
            <p:nvPr/>
          </p:nvSpPr>
          <p:spPr bwMode="auto">
            <a:xfrm>
              <a:off x="4464" y="3504"/>
              <a:ext cx="96" cy="384"/>
            </a:xfrm>
            <a:custGeom>
              <a:avLst/>
              <a:gdLst>
                <a:gd name="T0" fmla="*/ 0 w 96"/>
                <a:gd name="T1" fmla="*/ 0 h 384"/>
                <a:gd name="T2" fmla="*/ 48 w 96"/>
                <a:gd name="T3" fmla="*/ 96 h 384"/>
                <a:gd name="T4" fmla="*/ 48 w 96"/>
                <a:gd name="T5" fmla="*/ 288 h 384"/>
                <a:gd name="T6" fmla="*/ 96 w 96"/>
                <a:gd name="T7" fmla="*/ 384 h 384"/>
                <a:gd name="T8" fmla="*/ 0 60000 65536"/>
                <a:gd name="T9" fmla="*/ 0 60000 65536"/>
                <a:gd name="T10" fmla="*/ 0 60000 65536"/>
                <a:gd name="T11" fmla="*/ 0 60000 65536"/>
                <a:gd name="T12" fmla="*/ 0 w 96"/>
                <a:gd name="T13" fmla="*/ 0 h 384"/>
                <a:gd name="T14" fmla="*/ 96 w 96"/>
                <a:gd name="T15" fmla="*/ 384 h 384"/>
              </a:gdLst>
              <a:ahLst/>
              <a:cxnLst>
                <a:cxn ang="T8">
                  <a:pos x="T0" y="T1"/>
                </a:cxn>
                <a:cxn ang="T9">
                  <a:pos x="T2" y="T3"/>
                </a:cxn>
                <a:cxn ang="T10">
                  <a:pos x="T4" y="T5"/>
                </a:cxn>
                <a:cxn ang="T11">
                  <a:pos x="T6" y="T7"/>
                </a:cxn>
              </a:cxnLst>
              <a:rect l="T12" t="T13" r="T14" b="T15"/>
              <a:pathLst>
                <a:path w="96" h="384">
                  <a:moveTo>
                    <a:pt x="0" y="0"/>
                  </a:moveTo>
                  <a:cubicBezTo>
                    <a:pt x="20" y="24"/>
                    <a:pt x="40" y="48"/>
                    <a:pt x="48" y="96"/>
                  </a:cubicBezTo>
                  <a:cubicBezTo>
                    <a:pt x="56" y="144"/>
                    <a:pt x="40" y="240"/>
                    <a:pt x="48" y="288"/>
                  </a:cubicBezTo>
                  <a:cubicBezTo>
                    <a:pt x="56" y="336"/>
                    <a:pt x="76" y="360"/>
                    <a:pt x="96"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72" name="Freeform 39">
              <a:extLst>
                <a:ext uri="{FF2B5EF4-FFF2-40B4-BE49-F238E27FC236}">
                  <a16:creationId xmlns:a16="http://schemas.microsoft.com/office/drawing/2014/main" id="{1D418AE0-6008-1582-C420-1E214B94ED8C}"/>
                </a:ext>
              </a:extLst>
            </p:cNvPr>
            <p:cNvSpPr>
              <a:spLocks/>
            </p:cNvSpPr>
            <p:nvPr/>
          </p:nvSpPr>
          <p:spPr bwMode="auto">
            <a:xfrm>
              <a:off x="3888" y="3456"/>
              <a:ext cx="288" cy="432"/>
            </a:xfrm>
            <a:custGeom>
              <a:avLst/>
              <a:gdLst>
                <a:gd name="T0" fmla="*/ 0 w 288"/>
                <a:gd name="T1" fmla="*/ 0 h 432"/>
                <a:gd name="T2" fmla="*/ 96 w 288"/>
                <a:gd name="T3" fmla="*/ 144 h 432"/>
                <a:gd name="T4" fmla="*/ 144 w 288"/>
                <a:gd name="T5" fmla="*/ 336 h 432"/>
                <a:gd name="T6" fmla="*/ 288 w 288"/>
                <a:gd name="T7" fmla="*/ 432 h 432"/>
                <a:gd name="T8" fmla="*/ 0 60000 65536"/>
                <a:gd name="T9" fmla="*/ 0 60000 65536"/>
                <a:gd name="T10" fmla="*/ 0 60000 65536"/>
                <a:gd name="T11" fmla="*/ 0 60000 65536"/>
                <a:gd name="T12" fmla="*/ 0 w 288"/>
                <a:gd name="T13" fmla="*/ 0 h 432"/>
                <a:gd name="T14" fmla="*/ 288 w 288"/>
                <a:gd name="T15" fmla="*/ 432 h 432"/>
              </a:gdLst>
              <a:ahLst/>
              <a:cxnLst>
                <a:cxn ang="T8">
                  <a:pos x="T0" y="T1"/>
                </a:cxn>
                <a:cxn ang="T9">
                  <a:pos x="T2" y="T3"/>
                </a:cxn>
                <a:cxn ang="T10">
                  <a:pos x="T4" y="T5"/>
                </a:cxn>
                <a:cxn ang="T11">
                  <a:pos x="T6" y="T7"/>
                </a:cxn>
              </a:cxnLst>
              <a:rect l="T12" t="T13" r="T14" b="T15"/>
              <a:pathLst>
                <a:path w="288" h="432">
                  <a:moveTo>
                    <a:pt x="0" y="0"/>
                  </a:moveTo>
                  <a:cubicBezTo>
                    <a:pt x="36" y="44"/>
                    <a:pt x="72" y="88"/>
                    <a:pt x="96" y="144"/>
                  </a:cubicBezTo>
                  <a:cubicBezTo>
                    <a:pt x="120" y="200"/>
                    <a:pt x="112" y="288"/>
                    <a:pt x="144" y="336"/>
                  </a:cubicBezTo>
                  <a:cubicBezTo>
                    <a:pt x="176" y="384"/>
                    <a:pt x="232" y="408"/>
                    <a:pt x="288" y="43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4073" name="Freeform 40">
              <a:extLst>
                <a:ext uri="{FF2B5EF4-FFF2-40B4-BE49-F238E27FC236}">
                  <a16:creationId xmlns:a16="http://schemas.microsoft.com/office/drawing/2014/main" id="{04718837-9CF1-0A9C-C819-18C385355D3D}"/>
                </a:ext>
              </a:extLst>
            </p:cNvPr>
            <p:cNvSpPr>
              <a:spLocks/>
            </p:cNvSpPr>
            <p:nvPr/>
          </p:nvSpPr>
          <p:spPr bwMode="auto">
            <a:xfrm>
              <a:off x="4464" y="3216"/>
              <a:ext cx="768" cy="672"/>
            </a:xfrm>
            <a:custGeom>
              <a:avLst/>
              <a:gdLst>
                <a:gd name="T0" fmla="*/ 0 w 768"/>
                <a:gd name="T1" fmla="*/ 672 h 672"/>
                <a:gd name="T2" fmla="*/ 96 w 768"/>
                <a:gd name="T3" fmla="*/ 528 h 672"/>
                <a:gd name="T4" fmla="*/ 528 w 768"/>
                <a:gd name="T5" fmla="*/ 384 h 672"/>
                <a:gd name="T6" fmla="*/ 768 w 768"/>
                <a:gd name="T7" fmla="*/ 0 h 672"/>
                <a:gd name="T8" fmla="*/ 0 60000 65536"/>
                <a:gd name="T9" fmla="*/ 0 60000 65536"/>
                <a:gd name="T10" fmla="*/ 0 60000 65536"/>
                <a:gd name="T11" fmla="*/ 0 60000 65536"/>
                <a:gd name="T12" fmla="*/ 0 w 768"/>
                <a:gd name="T13" fmla="*/ 0 h 672"/>
                <a:gd name="T14" fmla="*/ 768 w 768"/>
                <a:gd name="T15" fmla="*/ 672 h 672"/>
              </a:gdLst>
              <a:ahLst/>
              <a:cxnLst>
                <a:cxn ang="T8">
                  <a:pos x="T0" y="T1"/>
                </a:cxn>
                <a:cxn ang="T9">
                  <a:pos x="T2" y="T3"/>
                </a:cxn>
                <a:cxn ang="T10">
                  <a:pos x="T4" y="T5"/>
                </a:cxn>
                <a:cxn ang="T11">
                  <a:pos x="T6" y="T7"/>
                </a:cxn>
              </a:cxnLst>
              <a:rect l="T12" t="T13" r="T14" b="T15"/>
              <a:pathLst>
                <a:path w="768" h="672">
                  <a:moveTo>
                    <a:pt x="0" y="672"/>
                  </a:moveTo>
                  <a:cubicBezTo>
                    <a:pt x="4" y="624"/>
                    <a:pt x="8" y="576"/>
                    <a:pt x="96" y="528"/>
                  </a:cubicBezTo>
                  <a:cubicBezTo>
                    <a:pt x="184" y="480"/>
                    <a:pt x="416" y="472"/>
                    <a:pt x="528" y="384"/>
                  </a:cubicBezTo>
                  <a:cubicBezTo>
                    <a:pt x="640" y="296"/>
                    <a:pt x="704" y="148"/>
                    <a:pt x="76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8E3FFFA2-5045-ABAF-7D14-9E1D81224CC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0F293A9-D263-4154-A820-E34B2F138FC5}" type="slidenum">
              <a:rPr lang="en-US" altLang="en-US" sz="1200">
                <a:latin typeface="Times New Roman" panose="02020603050405020304" pitchFamily="18" charset="0"/>
                <a:cs typeface="Times New Roman" panose="02020603050405020304" pitchFamily="18" charset="0"/>
              </a:rPr>
              <a:pPr eaLnBrk="1" hangingPunct="1"/>
              <a:t>38</a:t>
            </a:fld>
            <a:endParaRPr lang="en-US" altLang="en-US" sz="1200">
              <a:latin typeface="Times New Roman" panose="02020603050405020304" pitchFamily="18" charset="0"/>
              <a:cs typeface="Times New Roman" panose="02020603050405020304" pitchFamily="18" charset="0"/>
            </a:endParaRPr>
          </a:p>
        </p:txBody>
      </p:sp>
      <p:sp>
        <p:nvSpPr>
          <p:cNvPr id="45059" name="Rectangle 2">
            <a:extLst>
              <a:ext uri="{FF2B5EF4-FFF2-40B4-BE49-F238E27FC236}">
                <a16:creationId xmlns:a16="http://schemas.microsoft.com/office/drawing/2014/main" id="{E58B94CA-3B0A-43C4-C8B0-0A40374F3157}"/>
              </a:ext>
            </a:extLst>
          </p:cNvPr>
          <p:cNvSpPr>
            <a:spLocks noGrp="1" noChangeArrowheads="1"/>
          </p:cNvSpPr>
          <p:nvPr>
            <p:ph type="title"/>
          </p:nvPr>
        </p:nvSpPr>
        <p:spPr>
          <a:xfrm>
            <a:off x="0" y="457200"/>
            <a:ext cx="9144000" cy="609600"/>
          </a:xfrm>
        </p:spPr>
        <p:txBody>
          <a:bodyPr>
            <a:normAutofit fontScale="90000"/>
          </a:bodyPr>
          <a:lstStyle/>
          <a:p>
            <a:pPr algn="ctr" eaLnBrk="1" hangingPunct="1">
              <a:lnSpc>
                <a:spcPct val="90000"/>
              </a:lnSpc>
            </a:pPr>
            <a:r>
              <a:rPr lang="en-US" altLang="en-US" sz="2800" dirty="0">
                <a:solidFill>
                  <a:srgbClr val="002060"/>
                </a:solidFill>
                <a:effectLst/>
                <a:latin typeface="Times New Roman" panose="02020603050405020304" pitchFamily="18" charset="0"/>
                <a:cs typeface="Times New Roman" panose="02020603050405020304" pitchFamily="18" charset="0"/>
              </a:rPr>
              <a:t>From Conditional Pattern-bases to Conditional FP-trees</a:t>
            </a:r>
            <a:r>
              <a:rPr lang="en-US" altLang="en-US" dirty="0">
                <a:solidFill>
                  <a:srgbClr val="002060"/>
                </a:solidFill>
                <a:effectLst/>
                <a:latin typeface="Times New Roman" panose="02020603050405020304" pitchFamily="18" charset="0"/>
                <a:cs typeface="Times New Roman" panose="02020603050405020304" pitchFamily="18" charset="0"/>
              </a:rPr>
              <a:t> </a:t>
            </a:r>
          </a:p>
        </p:txBody>
      </p:sp>
      <p:sp>
        <p:nvSpPr>
          <p:cNvPr id="45060" name="Rectangle 3">
            <a:extLst>
              <a:ext uri="{FF2B5EF4-FFF2-40B4-BE49-F238E27FC236}">
                <a16:creationId xmlns:a16="http://schemas.microsoft.com/office/drawing/2014/main" id="{53DA7BA4-30FB-1B62-F253-25BB8F86327F}"/>
              </a:ext>
            </a:extLst>
          </p:cNvPr>
          <p:cNvSpPr>
            <a:spLocks noGrp="1" noChangeArrowheads="1"/>
          </p:cNvSpPr>
          <p:nvPr>
            <p:ph type="body" idx="1"/>
          </p:nvPr>
        </p:nvSpPr>
        <p:spPr>
          <a:xfrm>
            <a:off x="612775" y="1371600"/>
            <a:ext cx="8048625" cy="1957388"/>
          </a:xfrm>
        </p:spPr>
        <p:txBody>
          <a:bodyPr/>
          <a:lstStyle/>
          <a:p>
            <a:pPr eaLnBrk="1" hangingPunct="1"/>
            <a:r>
              <a:rPr lang="en-US" altLang="en-US" sz="2400" dirty="0">
                <a:latin typeface="Times New Roman" panose="02020603050405020304" pitchFamily="18" charset="0"/>
                <a:cs typeface="Times New Roman" panose="02020603050405020304" pitchFamily="18" charset="0"/>
              </a:rPr>
              <a:t>For each pattern-base</a:t>
            </a:r>
          </a:p>
          <a:p>
            <a:pPr lvl="1" eaLnBrk="1" hangingPunct="1"/>
            <a:r>
              <a:rPr lang="en-US" altLang="en-US" sz="2400" dirty="0">
                <a:latin typeface="Times New Roman" panose="02020603050405020304" pitchFamily="18" charset="0"/>
                <a:cs typeface="Times New Roman" panose="02020603050405020304" pitchFamily="18" charset="0"/>
              </a:rPr>
              <a:t>Accumulate the count for each item in the base</a:t>
            </a:r>
          </a:p>
          <a:p>
            <a:pPr lvl="1" eaLnBrk="1" hangingPunct="1"/>
            <a:r>
              <a:rPr lang="en-US" altLang="en-US" sz="2400" dirty="0">
                <a:latin typeface="Times New Roman" panose="02020603050405020304" pitchFamily="18" charset="0"/>
                <a:cs typeface="Times New Roman" panose="02020603050405020304" pitchFamily="18" charset="0"/>
              </a:rPr>
              <a:t>Construct the FP-tree for the frequent items of the pattern base</a:t>
            </a:r>
          </a:p>
        </p:txBody>
      </p:sp>
      <p:sp>
        <p:nvSpPr>
          <p:cNvPr id="45061" name="Rectangle 4">
            <a:extLst>
              <a:ext uri="{FF2B5EF4-FFF2-40B4-BE49-F238E27FC236}">
                <a16:creationId xmlns:a16="http://schemas.microsoft.com/office/drawing/2014/main" id="{011C6D01-1716-7281-7C91-C82320EA0963}"/>
              </a:ext>
            </a:extLst>
          </p:cNvPr>
          <p:cNvSpPr>
            <a:spLocks noChangeArrowheads="1"/>
          </p:cNvSpPr>
          <p:nvPr/>
        </p:nvSpPr>
        <p:spPr bwMode="auto">
          <a:xfrm>
            <a:off x="5181600" y="3429000"/>
            <a:ext cx="3276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b="1" i="1" dirty="0">
                <a:latin typeface="Times New Roman" panose="02020603050405020304" pitchFamily="18" charset="0"/>
                <a:cs typeface="Times New Roman" panose="02020603050405020304" pitchFamily="18" charset="0"/>
              </a:rPr>
              <a:t>m-conditional </a:t>
            </a:r>
            <a:r>
              <a:rPr lang="en-US" altLang="en-US" sz="1800" b="1" dirty="0">
                <a:latin typeface="Times New Roman" panose="02020603050405020304" pitchFamily="18" charset="0"/>
                <a:cs typeface="Times New Roman" panose="02020603050405020304" pitchFamily="18" charset="0"/>
              </a:rPr>
              <a:t>pattern base:</a:t>
            </a:r>
          </a:p>
          <a:p>
            <a:pPr lvl="1"/>
            <a:r>
              <a:rPr lang="en-US" altLang="en-US" sz="1800" b="1" i="1" dirty="0">
                <a:latin typeface="Times New Roman" panose="02020603050405020304" pitchFamily="18" charset="0"/>
                <a:cs typeface="Times New Roman" panose="02020603050405020304" pitchFamily="18" charset="0"/>
              </a:rPr>
              <a:t>fca:2, fcab:1 </a:t>
            </a:r>
          </a:p>
        </p:txBody>
      </p:sp>
      <p:grpSp>
        <p:nvGrpSpPr>
          <p:cNvPr id="45062" name="Group 5">
            <a:extLst>
              <a:ext uri="{FF2B5EF4-FFF2-40B4-BE49-F238E27FC236}">
                <a16:creationId xmlns:a16="http://schemas.microsoft.com/office/drawing/2014/main" id="{31194622-F26E-2F4E-7263-8A83CFD198D6}"/>
              </a:ext>
            </a:extLst>
          </p:cNvPr>
          <p:cNvGrpSpPr>
            <a:grpSpLocks/>
          </p:cNvGrpSpPr>
          <p:nvPr/>
        </p:nvGrpSpPr>
        <p:grpSpPr bwMode="auto">
          <a:xfrm>
            <a:off x="5257800" y="4343400"/>
            <a:ext cx="2298700" cy="2324100"/>
            <a:chOff x="3312" y="2736"/>
            <a:chExt cx="1448" cy="1464"/>
          </a:xfrm>
        </p:grpSpPr>
        <p:grpSp>
          <p:nvGrpSpPr>
            <p:cNvPr id="45101" name="Group 6">
              <a:extLst>
                <a:ext uri="{FF2B5EF4-FFF2-40B4-BE49-F238E27FC236}">
                  <a16:creationId xmlns:a16="http://schemas.microsoft.com/office/drawing/2014/main" id="{F3C89E9A-D4D6-4A78-7904-BA56C2194EC8}"/>
                </a:ext>
              </a:extLst>
            </p:cNvPr>
            <p:cNvGrpSpPr>
              <a:grpSpLocks/>
            </p:cNvGrpSpPr>
            <p:nvPr/>
          </p:nvGrpSpPr>
          <p:grpSpPr bwMode="auto">
            <a:xfrm>
              <a:off x="3792" y="2736"/>
              <a:ext cx="329" cy="1297"/>
              <a:chOff x="2282" y="2456"/>
              <a:chExt cx="329" cy="1297"/>
            </a:xfrm>
          </p:grpSpPr>
          <p:sp>
            <p:nvSpPr>
              <p:cNvPr id="45103" name="Text Box 7">
                <a:extLst>
                  <a:ext uri="{FF2B5EF4-FFF2-40B4-BE49-F238E27FC236}">
                    <a16:creationId xmlns:a16="http://schemas.microsoft.com/office/drawing/2014/main" id="{3358C1E2-9586-895D-85B0-A5C2CF90DD90}"/>
                  </a:ext>
                </a:extLst>
              </p:cNvPr>
              <p:cNvSpPr txBox="1">
                <a:spLocks noChangeArrowheads="1"/>
              </p:cNvSpPr>
              <p:nvPr/>
            </p:nvSpPr>
            <p:spPr bwMode="auto">
              <a:xfrm>
                <a:off x="2312" y="2456"/>
                <a:ext cx="2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cs typeface="Times New Roman" panose="02020603050405020304" pitchFamily="18" charset="0"/>
                  </a:rPr>
                  <a:t>{}</a:t>
                </a:r>
              </a:p>
            </p:txBody>
          </p:sp>
          <p:sp>
            <p:nvSpPr>
              <p:cNvPr id="45104" name="Text Box 8">
                <a:extLst>
                  <a:ext uri="{FF2B5EF4-FFF2-40B4-BE49-F238E27FC236}">
                    <a16:creationId xmlns:a16="http://schemas.microsoft.com/office/drawing/2014/main" id="{04109127-E6A8-B8A5-D245-D06732471996}"/>
                  </a:ext>
                </a:extLst>
              </p:cNvPr>
              <p:cNvSpPr txBox="1">
                <a:spLocks noChangeArrowheads="1"/>
              </p:cNvSpPr>
              <p:nvPr/>
            </p:nvSpPr>
            <p:spPr bwMode="auto">
              <a:xfrm>
                <a:off x="2300" y="2840"/>
                <a:ext cx="2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cs typeface="Times New Roman" panose="02020603050405020304" pitchFamily="18" charset="0"/>
                  </a:rPr>
                  <a:t>f:3</a:t>
                </a:r>
              </a:p>
            </p:txBody>
          </p:sp>
          <p:sp>
            <p:nvSpPr>
              <p:cNvPr id="45105" name="Text Box 9">
                <a:extLst>
                  <a:ext uri="{FF2B5EF4-FFF2-40B4-BE49-F238E27FC236}">
                    <a16:creationId xmlns:a16="http://schemas.microsoft.com/office/drawing/2014/main" id="{1BD7055C-82F7-3040-934E-C89608E6D598}"/>
                  </a:ext>
                </a:extLst>
              </p:cNvPr>
              <p:cNvSpPr txBox="1">
                <a:spLocks noChangeArrowheads="1"/>
              </p:cNvSpPr>
              <p:nvPr/>
            </p:nvSpPr>
            <p:spPr bwMode="auto">
              <a:xfrm>
                <a:off x="2287" y="3167"/>
                <a:ext cx="3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cs typeface="Times New Roman" panose="02020603050405020304" pitchFamily="18" charset="0"/>
                  </a:rPr>
                  <a:t>c:3</a:t>
                </a:r>
              </a:p>
            </p:txBody>
          </p:sp>
          <p:sp>
            <p:nvSpPr>
              <p:cNvPr id="45106" name="Text Box 10">
                <a:extLst>
                  <a:ext uri="{FF2B5EF4-FFF2-40B4-BE49-F238E27FC236}">
                    <a16:creationId xmlns:a16="http://schemas.microsoft.com/office/drawing/2014/main" id="{9631D40E-A996-AB91-6690-F482FA1911FA}"/>
                  </a:ext>
                </a:extLst>
              </p:cNvPr>
              <p:cNvSpPr txBox="1">
                <a:spLocks noChangeArrowheads="1"/>
              </p:cNvSpPr>
              <p:nvPr/>
            </p:nvSpPr>
            <p:spPr bwMode="auto">
              <a:xfrm>
                <a:off x="2282" y="3503"/>
                <a:ext cx="3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cs typeface="Times New Roman" panose="02020603050405020304" pitchFamily="18" charset="0"/>
                  </a:rPr>
                  <a:t>a:3</a:t>
                </a:r>
              </a:p>
            </p:txBody>
          </p:sp>
          <p:cxnSp>
            <p:nvCxnSpPr>
              <p:cNvPr id="45107" name="AutoShape 11">
                <a:extLst>
                  <a:ext uri="{FF2B5EF4-FFF2-40B4-BE49-F238E27FC236}">
                    <a16:creationId xmlns:a16="http://schemas.microsoft.com/office/drawing/2014/main" id="{C499E6D6-8BBE-6A2B-CB52-320D70AC7CCE}"/>
                  </a:ext>
                </a:extLst>
              </p:cNvPr>
              <p:cNvCxnSpPr>
                <a:cxnSpLocks noChangeShapeType="1"/>
                <a:stCxn id="45103" idx="2"/>
                <a:endCxn id="45104" idx="0"/>
              </p:cNvCxnSpPr>
              <p:nvPr/>
            </p:nvCxnSpPr>
            <p:spPr bwMode="auto">
              <a:xfrm>
                <a:off x="2447" y="2706"/>
                <a:ext cx="0" cy="134"/>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45108" name="AutoShape 12">
                <a:extLst>
                  <a:ext uri="{FF2B5EF4-FFF2-40B4-BE49-F238E27FC236}">
                    <a16:creationId xmlns:a16="http://schemas.microsoft.com/office/drawing/2014/main" id="{3E798E13-B2E5-F73C-3091-96C4E912C481}"/>
                  </a:ext>
                </a:extLst>
              </p:cNvPr>
              <p:cNvCxnSpPr>
                <a:cxnSpLocks noChangeShapeType="1"/>
                <a:stCxn id="45104" idx="2"/>
                <a:endCxn id="45105" idx="0"/>
              </p:cNvCxnSpPr>
              <p:nvPr/>
            </p:nvCxnSpPr>
            <p:spPr bwMode="auto">
              <a:xfrm>
                <a:off x="2447" y="3090"/>
                <a:ext cx="0" cy="77"/>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45109" name="AutoShape 13">
                <a:extLst>
                  <a:ext uri="{FF2B5EF4-FFF2-40B4-BE49-F238E27FC236}">
                    <a16:creationId xmlns:a16="http://schemas.microsoft.com/office/drawing/2014/main" id="{E9C4F569-F4F7-E7FC-431E-6D7B9135759F}"/>
                  </a:ext>
                </a:extLst>
              </p:cNvPr>
              <p:cNvCxnSpPr>
                <a:cxnSpLocks noChangeShapeType="1"/>
                <a:stCxn id="45105" idx="2"/>
                <a:endCxn id="45106" idx="0"/>
              </p:cNvCxnSpPr>
              <p:nvPr/>
            </p:nvCxnSpPr>
            <p:spPr bwMode="auto">
              <a:xfrm>
                <a:off x="2447" y="3417"/>
                <a:ext cx="0" cy="86"/>
              </a:xfrm>
              <a:prstGeom prst="straightConnector1">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sp>
          <p:nvSpPr>
            <p:cNvPr id="45102" name="Text Box 14">
              <a:extLst>
                <a:ext uri="{FF2B5EF4-FFF2-40B4-BE49-F238E27FC236}">
                  <a16:creationId xmlns:a16="http://schemas.microsoft.com/office/drawing/2014/main" id="{5B8AB9AF-1B10-3477-2CF0-F6427A3A3696}"/>
                </a:ext>
              </a:extLst>
            </p:cNvPr>
            <p:cNvSpPr txBox="1">
              <a:spLocks noChangeArrowheads="1"/>
            </p:cNvSpPr>
            <p:nvPr/>
          </p:nvSpPr>
          <p:spPr bwMode="auto">
            <a:xfrm>
              <a:off x="3312" y="3969"/>
              <a:ext cx="14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b="1" i="1">
                  <a:latin typeface="Times New Roman" panose="02020603050405020304" pitchFamily="18" charset="0"/>
                  <a:cs typeface="Times New Roman" panose="02020603050405020304" pitchFamily="18" charset="0"/>
                </a:rPr>
                <a:t>m-conditional </a:t>
              </a:r>
              <a:r>
                <a:rPr lang="en-US" altLang="en-US" sz="1800" b="1">
                  <a:latin typeface="Times New Roman" panose="02020603050405020304" pitchFamily="18" charset="0"/>
                  <a:cs typeface="Times New Roman" panose="02020603050405020304" pitchFamily="18" charset="0"/>
                </a:rPr>
                <a:t>FP-tree</a:t>
              </a:r>
              <a:endParaRPr lang="en-US" altLang="en-US" sz="1800" b="1" i="1">
                <a:latin typeface="Times New Roman" panose="02020603050405020304" pitchFamily="18" charset="0"/>
                <a:cs typeface="Times New Roman" panose="02020603050405020304" pitchFamily="18" charset="0"/>
              </a:endParaRPr>
            </a:p>
          </p:txBody>
        </p:sp>
      </p:grpSp>
      <p:sp>
        <p:nvSpPr>
          <p:cNvPr id="45063" name="Rectangle 15">
            <a:extLst>
              <a:ext uri="{FF2B5EF4-FFF2-40B4-BE49-F238E27FC236}">
                <a16:creationId xmlns:a16="http://schemas.microsoft.com/office/drawing/2014/main" id="{3AB70FAA-F5D0-785E-B78D-AE9625E581C9}"/>
              </a:ext>
            </a:extLst>
          </p:cNvPr>
          <p:cNvSpPr>
            <a:spLocks noChangeArrowheads="1"/>
          </p:cNvSpPr>
          <p:nvPr/>
        </p:nvSpPr>
        <p:spPr bwMode="auto">
          <a:xfrm>
            <a:off x="6934200" y="4114800"/>
            <a:ext cx="2209800" cy="1815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70000"/>
              </a:lnSpc>
              <a:spcBef>
                <a:spcPct val="50000"/>
              </a:spcBef>
            </a:pPr>
            <a:r>
              <a:rPr lang="en-US" altLang="en-US" sz="1800" b="1">
                <a:latin typeface="Times New Roman" panose="02020603050405020304" pitchFamily="18" charset="0"/>
                <a:cs typeface="Times New Roman" panose="02020603050405020304" pitchFamily="18" charset="0"/>
              </a:rPr>
              <a:t>All frequent patterns relate to</a:t>
            </a:r>
            <a:r>
              <a:rPr lang="en-US" altLang="en-US" sz="1800" b="1" i="1">
                <a:latin typeface="Times New Roman" panose="02020603050405020304" pitchFamily="18" charset="0"/>
                <a:cs typeface="Times New Roman" panose="02020603050405020304" pitchFamily="18" charset="0"/>
              </a:rPr>
              <a:t> m</a:t>
            </a:r>
          </a:p>
          <a:p>
            <a:pPr>
              <a:lnSpc>
                <a:spcPct val="70000"/>
              </a:lnSpc>
              <a:spcBef>
                <a:spcPct val="50000"/>
              </a:spcBef>
            </a:pPr>
            <a:r>
              <a:rPr lang="en-US" altLang="en-US" sz="1800" b="1" i="1">
                <a:latin typeface="Times New Roman" panose="02020603050405020304" pitchFamily="18" charset="0"/>
                <a:cs typeface="Times New Roman" panose="02020603050405020304" pitchFamily="18" charset="0"/>
              </a:rPr>
              <a:t>m, </a:t>
            </a:r>
          </a:p>
          <a:p>
            <a:pPr>
              <a:lnSpc>
                <a:spcPct val="70000"/>
              </a:lnSpc>
              <a:spcBef>
                <a:spcPct val="50000"/>
              </a:spcBef>
            </a:pPr>
            <a:r>
              <a:rPr lang="en-US" altLang="en-US" sz="1800" b="1" i="1">
                <a:latin typeface="Times New Roman" panose="02020603050405020304" pitchFamily="18" charset="0"/>
                <a:cs typeface="Times New Roman" panose="02020603050405020304" pitchFamily="18" charset="0"/>
              </a:rPr>
              <a:t>fm, cm, am, </a:t>
            </a:r>
          </a:p>
          <a:p>
            <a:pPr>
              <a:lnSpc>
                <a:spcPct val="70000"/>
              </a:lnSpc>
              <a:spcBef>
                <a:spcPct val="50000"/>
              </a:spcBef>
            </a:pPr>
            <a:r>
              <a:rPr lang="en-US" altLang="en-US" sz="1800" b="1" i="1">
                <a:latin typeface="Times New Roman" panose="02020603050405020304" pitchFamily="18" charset="0"/>
                <a:cs typeface="Times New Roman" panose="02020603050405020304" pitchFamily="18" charset="0"/>
              </a:rPr>
              <a:t>fcm, fam, cam, </a:t>
            </a:r>
          </a:p>
          <a:p>
            <a:pPr>
              <a:lnSpc>
                <a:spcPct val="70000"/>
              </a:lnSpc>
              <a:spcBef>
                <a:spcPct val="50000"/>
              </a:spcBef>
            </a:pPr>
            <a:r>
              <a:rPr lang="en-US" altLang="en-US" sz="1800" b="1" i="1">
                <a:latin typeface="Times New Roman" panose="02020603050405020304" pitchFamily="18" charset="0"/>
                <a:cs typeface="Times New Roman" panose="02020603050405020304" pitchFamily="18" charset="0"/>
              </a:rPr>
              <a:t>fcam</a:t>
            </a:r>
          </a:p>
        </p:txBody>
      </p:sp>
      <p:sp>
        <p:nvSpPr>
          <p:cNvPr id="45064" name="Text Box 16">
            <a:extLst>
              <a:ext uri="{FF2B5EF4-FFF2-40B4-BE49-F238E27FC236}">
                <a16:creationId xmlns:a16="http://schemas.microsoft.com/office/drawing/2014/main" id="{13EDA54C-2C03-3069-4611-9D6AD66CFCDF}"/>
              </a:ext>
            </a:extLst>
          </p:cNvPr>
          <p:cNvSpPr txBox="1">
            <a:spLocks noChangeArrowheads="1"/>
          </p:cNvSpPr>
          <p:nvPr/>
        </p:nvSpPr>
        <p:spPr bwMode="auto">
          <a:xfrm>
            <a:off x="5105400" y="4724400"/>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b="1">
                <a:latin typeface="Times New Roman" panose="02020603050405020304" pitchFamily="18" charset="0"/>
                <a:cs typeface="Times New Roman" panose="02020603050405020304" pitchFamily="18" charset="0"/>
                <a:sym typeface="Wingdings 3" panose="05040102010807070707" pitchFamily="18" charset="2"/>
              </a:rPr>
              <a:t></a:t>
            </a:r>
            <a:endParaRPr lang="en-US" altLang="en-US" b="1">
              <a:latin typeface="Times New Roman" panose="02020603050405020304" pitchFamily="18" charset="0"/>
              <a:cs typeface="Times New Roman" panose="02020603050405020304" pitchFamily="18" charset="0"/>
            </a:endParaRPr>
          </a:p>
        </p:txBody>
      </p:sp>
      <p:sp>
        <p:nvSpPr>
          <p:cNvPr id="45065" name="Rectangle 17">
            <a:extLst>
              <a:ext uri="{FF2B5EF4-FFF2-40B4-BE49-F238E27FC236}">
                <a16:creationId xmlns:a16="http://schemas.microsoft.com/office/drawing/2014/main" id="{A55E394C-B93E-E88A-736E-A4D9EC4368B0}"/>
              </a:ext>
            </a:extLst>
          </p:cNvPr>
          <p:cNvSpPr>
            <a:spLocks noChangeArrowheads="1"/>
          </p:cNvSpPr>
          <p:nvPr/>
        </p:nvSpPr>
        <p:spPr bwMode="auto">
          <a:xfrm>
            <a:off x="6400800" y="4876800"/>
            <a:ext cx="496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b="1">
                <a:latin typeface="Times New Roman" panose="02020603050405020304" pitchFamily="18" charset="0"/>
                <a:cs typeface="Times New Roman" panose="02020603050405020304" pitchFamily="18" charset="0"/>
                <a:sym typeface="Wingdings 3" panose="05040102010807070707" pitchFamily="18" charset="2"/>
              </a:rPr>
              <a:t></a:t>
            </a:r>
          </a:p>
        </p:txBody>
      </p:sp>
      <p:sp>
        <p:nvSpPr>
          <p:cNvPr id="45066" name="Text Box 18">
            <a:extLst>
              <a:ext uri="{FF2B5EF4-FFF2-40B4-BE49-F238E27FC236}">
                <a16:creationId xmlns:a16="http://schemas.microsoft.com/office/drawing/2014/main" id="{036AD844-FAD8-43DB-AA8D-C003CC6E7FF0}"/>
              </a:ext>
            </a:extLst>
          </p:cNvPr>
          <p:cNvSpPr txBox="1">
            <a:spLocks noChangeArrowheads="1"/>
          </p:cNvSpPr>
          <p:nvPr/>
        </p:nvSpPr>
        <p:spPr bwMode="auto">
          <a:xfrm>
            <a:off x="3892550" y="3595688"/>
            <a:ext cx="441325" cy="409575"/>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a:latin typeface="Times New Roman" panose="02020603050405020304" pitchFamily="18" charset="0"/>
                <a:cs typeface="Times New Roman" panose="02020603050405020304" pitchFamily="18" charset="0"/>
              </a:rPr>
              <a:t>{}</a:t>
            </a:r>
          </a:p>
        </p:txBody>
      </p:sp>
      <p:sp>
        <p:nvSpPr>
          <p:cNvPr id="45067" name="Text Box 19">
            <a:extLst>
              <a:ext uri="{FF2B5EF4-FFF2-40B4-BE49-F238E27FC236}">
                <a16:creationId xmlns:a16="http://schemas.microsoft.com/office/drawing/2014/main" id="{BD6D99B3-0857-2AD1-E93A-C7B535D45590}"/>
              </a:ext>
            </a:extLst>
          </p:cNvPr>
          <p:cNvSpPr txBox="1">
            <a:spLocks noChangeArrowheads="1"/>
          </p:cNvSpPr>
          <p:nvPr/>
        </p:nvSpPr>
        <p:spPr bwMode="auto">
          <a:xfrm>
            <a:off x="3430588" y="4140200"/>
            <a:ext cx="477837" cy="409575"/>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solidFill>
                  <a:schemeClr val="hlink"/>
                </a:solidFill>
                <a:latin typeface="Times New Roman" panose="02020603050405020304" pitchFamily="18" charset="0"/>
                <a:cs typeface="Times New Roman" panose="02020603050405020304" pitchFamily="18" charset="0"/>
              </a:rPr>
              <a:t>f:4</a:t>
            </a:r>
          </a:p>
        </p:txBody>
      </p:sp>
      <p:sp>
        <p:nvSpPr>
          <p:cNvPr id="45068" name="Text Box 20">
            <a:extLst>
              <a:ext uri="{FF2B5EF4-FFF2-40B4-BE49-F238E27FC236}">
                <a16:creationId xmlns:a16="http://schemas.microsoft.com/office/drawing/2014/main" id="{052951C5-978C-542B-EF8B-BF19D8E702C6}"/>
              </a:ext>
            </a:extLst>
          </p:cNvPr>
          <p:cNvSpPr txBox="1">
            <a:spLocks noChangeArrowheads="1"/>
          </p:cNvSpPr>
          <p:nvPr/>
        </p:nvSpPr>
        <p:spPr bwMode="auto">
          <a:xfrm>
            <a:off x="4351338" y="4140200"/>
            <a:ext cx="520700" cy="409575"/>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cs typeface="Times New Roman" panose="02020603050405020304" pitchFamily="18" charset="0"/>
              </a:rPr>
              <a:t>c:1</a:t>
            </a:r>
          </a:p>
        </p:txBody>
      </p:sp>
      <p:sp>
        <p:nvSpPr>
          <p:cNvPr id="45069" name="Text Box 21">
            <a:extLst>
              <a:ext uri="{FF2B5EF4-FFF2-40B4-BE49-F238E27FC236}">
                <a16:creationId xmlns:a16="http://schemas.microsoft.com/office/drawing/2014/main" id="{9B0B5D4F-E058-5A73-219F-719993B9B77E}"/>
              </a:ext>
            </a:extLst>
          </p:cNvPr>
          <p:cNvSpPr txBox="1">
            <a:spLocks noChangeArrowheads="1"/>
          </p:cNvSpPr>
          <p:nvPr/>
        </p:nvSpPr>
        <p:spPr bwMode="auto">
          <a:xfrm>
            <a:off x="4343400" y="4622800"/>
            <a:ext cx="533400" cy="409575"/>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cs typeface="Times New Roman" panose="02020603050405020304" pitchFamily="18" charset="0"/>
              </a:rPr>
              <a:t>b:1</a:t>
            </a:r>
          </a:p>
        </p:txBody>
      </p:sp>
      <p:sp>
        <p:nvSpPr>
          <p:cNvPr id="45070" name="Text Box 22">
            <a:extLst>
              <a:ext uri="{FF2B5EF4-FFF2-40B4-BE49-F238E27FC236}">
                <a16:creationId xmlns:a16="http://schemas.microsoft.com/office/drawing/2014/main" id="{78772EED-9E64-2179-519B-4BEC53675516}"/>
              </a:ext>
            </a:extLst>
          </p:cNvPr>
          <p:cNvSpPr txBox="1">
            <a:spLocks noChangeArrowheads="1"/>
          </p:cNvSpPr>
          <p:nvPr/>
        </p:nvSpPr>
        <p:spPr bwMode="auto">
          <a:xfrm>
            <a:off x="4343400" y="5105400"/>
            <a:ext cx="533400" cy="409575"/>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cs typeface="Times New Roman" panose="02020603050405020304" pitchFamily="18" charset="0"/>
              </a:rPr>
              <a:t>p:1</a:t>
            </a:r>
          </a:p>
        </p:txBody>
      </p:sp>
      <p:cxnSp>
        <p:nvCxnSpPr>
          <p:cNvPr id="45071" name="AutoShape 23">
            <a:extLst>
              <a:ext uri="{FF2B5EF4-FFF2-40B4-BE49-F238E27FC236}">
                <a16:creationId xmlns:a16="http://schemas.microsoft.com/office/drawing/2014/main" id="{72EFD6D4-FCBB-18E0-5CD5-B1B281FFD269}"/>
              </a:ext>
            </a:extLst>
          </p:cNvPr>
          <p:cNvCxnSpPr>
            <a:cxnSpLocks noChangeShapeType="1"/>
            <a:stCxn id="45068" idx="2"/>
            <a:endCxn id="45069" idx="0"/>
          </p:cNvCxnSpPr>
          <p:nvPr/>
        </p:nvCxnSpPr>
        <p:spPr bwMode="auto">
          <a:xfrm>
            <a:off x="4613275" y="4459288"/>
            <a:ext cx="1588" cy="168275"/>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5072" name="AutoShape 24">
            <a:extLst>
              <a:ext uri="{FF2B5EF4-FFF2-40B4-BE49-F238E27FC236}">
                <a16:creationId xmlns:a16="http://schemas.microsoft.com/office/drawing/2014/main" id="{727346E2-FF65-6CAE-E088-D419A2CA6821}"/>
              </a:ext>
            </a:extLst>
          </p:cNvPr>
          <p:cNvCxnSpPr>
            <a:cxnSpLocks noChangeShapeType="1"/>
            <a:stCxn id="45069" idx="2"/>
            <a:endCxn id="45070" idx="0"/>
          </p:cNvCxnSpPr>
          <p:nvPr/>
        </p:nvCxnSpPr>
        <p:spPr bwMode="auto">
          <a:xfrm>
            <a:off x="4614863" y="4941888"/>
            <a:ext cx="0" cy="169862"/>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5073" name="AutoShape 25">
            <a:extLst>
              <a:ext uri="{FF2B5EF4-FFF2-40B4-BE49-F238E27FC236}">
                <a16:creationId xmlns:a16="http://schemas.microsoft.com/office/drawing/2014/main" id="{6BB0DD0E-5F7D-E5E7-BFAC-6993FBCD05B2}"/>
              </a:ext>
            </a:extLst>
          </p:cNvPr>
          <p:cNvCxnSpPr>
            <a:cxnSpLocks noChangeShapeType="1"/>
            <a:stCxn id="45066" idx="2"/>
            <a:endCxn id="45068" idx="0"/>
          </p:cNvCxnSpPr>
          <p:nvPr/>
        </p:nvCxnSpPr>
        <p:spPr bwMode="auto">
          <a:xfrm>
            <a:off x="4113213" y="3914775"/>
            <a:ext cx="500062" cy="230188"/>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cxnSp>
        <p:nvCxnSpPr>
          <p:cNvPr id="45074" name="AutoShape 26">
            <a:extLst>
              <a:ext uri="{FF2B5EF4-FFF2-40B4-BE49-F238E27FC236}">
                <a16:creationId xmlns:a16="http://schemas.microsoft.com/office/drawing/2014/main" id="{E718ED0B-0076-CC5E-E1C3-64011FDE5090}"/>
              </a:ext>
            </a:extLst>
          </p:cNvPr>
          <p:cNvCxnSpPr>
            <a:cxnSpLocks noChangeShapeType="1"/>
            <a:stCxn id="45066" idx="2"/>
            <a:endCxn id="45067" idx="0"/>
          </p:cNvCxnSpPr>
          <p:nvPr/>
        </p:nvCxnSpPr>
        <p:spPr bwMode="auto">
          <a:xfrm flipH="1">
            <a:off x="3671888" y="3914775"/>
            <a:ext cx="441325" cy="230188"/>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5075" name="Text Box 27">
            <a:extLst>
              <a:ext uri="{FF2B5EF4-FFF2-40B4-BE49-F238E27FC236}">
                <a16:creationId xmlns:a16="http://schemas.microsoft.com/office/drawing/2014/main" id="{99E1EFA6-F498-06A5-4642-3CEB714932E6}"/>
              </a:ext>
            </a:extLst>
          </p:cNvPr>
          <p:cNvSpPr txBox="1">
            <a:spLocks noChangeArrowheads="1"/>
          </p:cNvSpPr>
          <p:nvPr/>
        </p:nvSpPr>
        <p:spPr bwMode="auto">
          <a:xfrm>
            <a:off x="3736975" y="4622800"/>
            <a:ext cx="534988" cy="409575"/>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cs typeface="Times New Roman" panose="02020603050405020304" pitchFamily="18" charset="0"/>
              </a:rPr>
              <a:t>b:1</a:t>
            </a:r>
          </a:p>
        </p:txBody>
      </p:sp>
      <p:sp>
        <p:nvSpPr>
          <p:cNvPr id="45076" name="Text Box 28">
            <a:extLst>
              <a:ext uri="{FF2B5EF4-FFF2-40B4-BE49-F238E27FC236}">
                <a16:creationId xmlns:a16="http://schemas.microsoft.com/office/drawing/2014/main" id="{0DE78FBB-E10D-0213-8006-5E6056E8B552}"/>
              </a:ext>
            </a:extLst>
          </p:cNvPr>
          <p:cNvSpPr txBox="1">
            <a:spLocks noChangeArrowheads="1"/>
          </p:cNvSpPr>
          <p:nvPr/>
        </p:nvSpPr>
        <p:spPr bwMode="auto">
          <a:xfrm>
            <a:off x="3133725" y="4622800"/>
            <a:ext cx="519113" cy="409575"/>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solidFill>
                  <a:schemeClr val="hlink"/>
                </a:solidFill>
                <a:latin typeface="Times New Roman" panose="02020603050405020304" pitchFamily="18" charset="0"/>
                <a:cs typeface="Times New Roman" panose="02020603050405020304" pitchFamily="18" charset="0"/>
              </a:rPr>
              <a:t>c:3</a:t>
            </a:r>
          </a:p>
        </p:txBody>
      </p:sp>
      <p:cxnSp>
        <p:nvCxnSpPr>
          <p:cNvPr id="45077" name="AutoShape 29">
            <a:extLst>
              <a:ext uri="{FF2B5EF4-FFF2-40B4-BE49-F238E27FC236}">
                <a16:creationId xmlns:a16="http://schemas.microsoft.com/office/drawing/2014/main" id="{8A593B51-685A-CC8B-DED2-6858B1EB1CAA}"/>
              </a:ext>
            </a:extLst>
          </p:cNvPr>
          <p:cNvCxnSpPr>
            <a:cxnSpLocks noChangeShapeType="1"/>
            <a:stCxn id="45067" idx="2"/>
            <a:endCxn id="45076" idx="0"/>
          </p:cNvCxnSpPr>
          <p:nvPr/>
        </p:nvCxnSpPr>
        <p:spPr bwMode="auto">
          <a:xfrm flipH="1">
            <a:off x="3394075" y="4459288"/>
            <a:ext cx="277813" cy="168275"/>
          </a:xfrm>
          <a:prstGeom prst="straightConnector1">
            <a:avLst/>
          </a:prstGeom>
          <a:noFill/>
          <a:ln w="12700">
            <a:solidFill>
              <a:schemeClr val="hlink"/>
            </a:solidFill>
            <a:round/>
            <a:headEnd type="none" w="sm" len="sm"/>
            <a:tailEnd type="none" w="sm" len="sm"/>
          </a:ln>
          <a:extLst>
            <a:ext uri="{909E8E84-426E-40DD-AFC4-6F175D3DCCD1}">
              <a14:hiddenFill xmlns:a14="http://schemas.microsoft.com/office/drawing/2010/main">
                <a:noFill/>
              </a14:hiddenFill>
            </a:ext>
          </a:extLst>
        </p:spPr>
      </p:cxnSp>
      <p:cxnSp>
        <p:nvCxnSpPr>
          <p:cNvPr id="45078" name="AutoShape 30">
            <a:extLst>
              <a:ext uri="{FF2B5EF4-FFF2-40B4-BE49-F238E27FC236}">
                <a16:creationId xmlns:a16="http://schemas.microsoft.com/office/drawing/2014/main" id="{EB97A9E4-AE2A-646F-E4F3-8D29464D88A9}"/>
              </a:ext>
            </a:extLst>
          </p:cNvPr>
          <p:cNvCxnSpPr>
            <a:cxnSpLocks noChangeShapeType="1"/>
            <a:stCxn id="45067" idx="2"/>
            <a:endCxn id="45075" idx="0"/>
          </p:cNvCxnSpPr>
          <p:nvPr/>
        </p:nvCxnSpPr>
        <p:spPr bwMode="auto">
          <a:xfrm>
            <a:off x="3671888" y="4459288"/>
            <a:ext cx="334962" cy="168275"/>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5079" name="Text Box 31">
            <a:extLst>
              <a:ext uri="{FF2B5EF4-FFF2-40B4-BE49-F238E27FC236}">
                <a16:creationId xmlns:a16="http://schemas.microsoft.com/office/drawing/2014/main" id="{8EF35B79-9D9D-7342-E8D8-072F51CA21E0}"/>
              </a:ext>
            </a:extLst>
          </p:cNvPr>
          <p:cNvSpPr txBox="1">
            <a:spLocks noChangeArrowheads="1"/>
          </p:cNvSpPr>
          <p:nvPr/>
        </p:nvSpPr>
        <p:spPr bwMode="auto">
          <a:xfrm>
            <a:off x="3124200" y="5105400"/>
            <a:ext cx="534988" cy="409575"/>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solidFill>
                  <a:schemeClr val="hlink"/>
                </a:solidFill>
                <a:latin typeface="Times New Roman" panose="02020603050405020304" pitchFamily="18" charset="0"/>
                <a:cs typeface="Times New Roman" panose="02020603050405020304" pitchFamily="18" charset="0"/>
              </a:rPr>
              <a:t>a:3</a:t>
            </a:r>
          </a:p>
        </p:txBody>
      </p:sp>
      <p:sp>
        <p:nvSpPr>
          <p:cNvPr id="45080" name="Text Box 32">
            <a:extLst>
              <a:ext uri="{FF2B5EF4-FFF2-40B4-BE49-F238E27FC236}">
                <a16:creationId xmlns:a16="http://schemas.microsoft.com/office/drawing/2014/main" id="{83747FD4-8D07-F5A2-EC46-F1EFE73D068C}"/>
              </a:ext>
            </a:extLst>
          </p:cNvPr>
          <p:cNvSpPr txBox="1">
            <a:spLocks noChangeArrowheads="1"/>
          </p:cNvSpPr>
          <p:nvPr/>
        </p:nvSpPr>
        <p:spPr bwMode="auto">
          <a:xfrm>
            <a:off x="3506788" y="5588000"/>
            <a:ext cx="534987" cy="409575"/>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solidFill>
                  <a:schemeClr val="hlink"/>
                </a:solidFill>
                <a:latin typeface="Times New Roman" panose="02020603050405020304" pitchFamily="18" charset="0"/>
                <a:cs typeface="Times New Roman" panose="02020603050405020304" pitchFamily="18" charset="0"/>
              </a:rPr>
              <a:t>b:1</a:t>
            </a:r>
          </a:p>
        </p:txBody>
      </p:sp>
      <p:sp>
        <p:nvSpPr>
          <p:cNvPr id="45081" name="Text Box 33">
            <a:extLst>
              <a:ext uri="{FF2B5EF4-FFF2-40B4-BE49-F238E27FC236}">
                <a16:creationId xmlns:a16="http://schemas.microsoft.com/office/drawing/2014/main" id="{F1AD62E3-8CB2-8F3F-B695-336012D4B04E}"/>
              </a:ext>
            </a:extLst>
          </p:cNvPr>
          <p:cNvSpPr txBox="1">
            <a:spLocks noChangeArrowheads="1"/>
          </p:cNvSpPr>
          <p:nvPr/>
        </p:nvSpPr>
        <p:spPr bwMode="auto">
          <a:xfrm>
            <a:off x="2822575" y="5588000"/>
            <a:ext cx="592138" cy="409575"/>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solidFill>
                  <a:schemeClr val="hlink"/>
                </a:solidFill>
                <a:latin typeface="Times New Roman" panose="02020603050405020304" pitchFamily="18" charset="0"/>
                <a:cs typeface="Times New Roman" panose="02020603050405020304" pitchFamily="18" charset="0"/>
              </a:rPr>
              <a:t>m:2</a:t>
            </a:r>
          </a:p>
        </p:txBody>
      </p:sp>
      <p:sp>
        <p:nvSpPr>
          <p:cNvPr id="45082" name="Text Box 34">
            <a:extLst>
              <a:ext uri="{FF2B5EF4-FFF2-40B4-BE49-F238E27FC236}">
                <a16:creationId xmlns:a16="http://schemas.microsoft.com/office/drawing/2014/main" id="{8E9FEB1E-31BD-7E8E-0886-90CA0EECD02E}"/>
              </a:ext>
            </a:extLst>
          </p:cNvPr>
          <p:cNvSpPr txBox="1">
            <a:spLocks noChangeArrowheads="1"/>
          </p:cNvSpPr>
          <p:nvPr/>
        </p:nvSpPr>
        <p:spPr bwMode="auto">
          <a:xfrm>
            <a:off x="2855913" y="6072188"/>
            <a:ext cx="536575" cy="409575"/>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latin typeface="Times New Roman" panose="02020603050405020304" pitchFamily="18" charset="0"/>
                <a:cs typeface="Times New Roman" panose="02020603050405020304" pitchFamily="18" charset="0"/>
              </a:rPr>
              <a:t>p:2</a:t>
            </a:r>
          </a:p>
        </p:txBody>
      </p:sp>
      <p:cxnSp>
        <p:nvCxnSpPr>
          <p:cNvPr id="45083" name="AutoShape 35">
            <a:extLst>
              <a:ext uri="{FF2B5EF4-FFF2-40B4-BE49-F238E27FC236}">
                <a16:creationId xmlns:a16="http://schemas.microsoft.com/office/drawing/2014/main" id="{9A7470A9-55DB-9C1D-C23E-800C8F10FD63}"/>
              </a:ext>
            </a:extLst>
          </p:cNvPr>
          <p:cNvCxnSpPr>
            <a:cxnSpLocks noChangeShapeType="1"/>
            <a:stCxn id="45076" idx="2"/>
            <a:endCxn id="45079" idx="0"/>
          </p:cNvCxnSpPr>
          <p:nvPr/>
        </p:nvCxnSpPr>
        <p:spPr bwMode="auto">
          <a:xfrm>
            <a:off x="3394075" y="4941888"/>
            <a:ext cx="0" cy="169862"/>
          </a:xfrm>
          <a:prstGeom prst="straightConnector1">
            <a:avLst/>
          </a:prstGeom>
          <a:noFill/>
          <a:ln w="12700">
            <a:solidFill>
              <a:schemeClr val="hlink"/>
            </a:solidFill>
            <a:round/>
            <a:headEnd type="none" w="sm" len="sm"/>
            <a:tailEnd type="none" w="sm" len="sm"/>
          </a:ln>
          <a:extLst>
            <a:ext uri="{909E8E84-426E-40DD-AFC4-6F175D3DCCD1}">
              <a14:hiddenFill xmlns:a14="http://schemas.microsoft.com/office/drawing/2010/main">
                <a:noFill/>
              </a14:hiddenFill>
            </a:ext>
          </a:extLst>
        </p:spPr>
      </p:cxnSp>
      <p:cxnSp>
        <p:nvCxnSpPr>
          <p:cNvPr id="45084" name="AutoShape 36">
            <a:extLst>
              <a:ext uri="{FF2B5EF4-FFF2-40B4-BE49-F238E27FC236}">
                <a16:creationId xmlns:a16="http://schemas.microsoft.com/office/drawing/2014/main" id="{2C8F4C35-0B06-F050-DC84-3EC9B30C8452}"/>
              </a:ext>
            </a:extLst>
          </p:cNvPr>
          <p:cNvCxnSpPr>
            <a:cxnSpLocks noChangeShapeType="1"/>
            <a:stCxn id="45079" idx="2"/>
            <a:endCxn id="45081" idx="0"/>
          </p:cNvCxnSpPr>
          <p:nvPr/>
        </p:nvCxnSpPr>
        <p:spPr bwMode="auto">
          <a:xfrm flipH="1">
            <a:off x="3124200" y="5426075"/>
            <a:ext cx="269875" cy="168275"/>
          </a:xfrm>
          <a:prstGeom prst="straightConnector1">
            <a:avLst/>
          </a:prstGeom>
          <a:noFill/>
          <a:ln w="12700">
            <a:solidFill>
              <a:schemeClr val="hlink"/>
            </a:solidFill>
            <a:round/>
            <a:headEnd type="none" w="sm" len="sm"/>
            <a:tailEnd type="none" w="sm" len="sm"/>
          </a:ln>
          <a:extLst>
            <a:ext uri="{909E8E84-426E-40DD-AFC4-6F175D3DCCD1}">
              <a14:hiddenFill xmlns:a14="http://schemas.microsoft.com/office/drawing/2010/main">
                <a:noFill/>
              </a14:hiddenFill>
            </a:ext>
          </a:extLst>
        </p:spPr>
      </p:cxnSp>
      <p:cxnSp>
        <p:nvCxnSpPr>
          <p:cNvPr id="45085" name="AutoShape 37">
            <a:extLst>
              <a:ext uri="{FF2B5EF4-FFF2-40B4-BE49-F238E27FC236}">
                <a16:creationId xmlns:a16="http://schemas.microsoft.com/office/drawing/2014/main" id="{783F7855-2EA1-1F69-6A68-07E37402E62B}"/>
              </a:ext>
            </a:extLst>
          </p:cNvPr>
          <p:cNvCxnSpPr>
            <a:cxnSpLocks noChangeShapeType="1"/>
            <a:stCxn id="45079" idx="2"/>
            <a:endCxn id="45080" idx="0"/>
          </p:cNvCxnSpPr>
          <p:nvPr/>
        </p:nvCxnSpPr>
        <p:spPr bwMode="auto">
          <a:xfrm>
            <a:off x="3394075" y="5426075"/>
            <a:ext cx="382588" cy="168275"/>
          </a:xfrm>
          <a:prstGeom prst="straightConnector1">
            <a:avLst/>
          </a:prstGeom>
          <a:noFill/>
          <a:ln w="12700">
            <a:solidFill>
              <a:schemeClr val="hlink"/>
            </a:solidFill>
            <a:round/>
            <a:headEnd type="none" w="sm" len="sm"/>
            <a:tailEnd type="none" w="sm" len="sm"/>
          </a:ln>
          <a:extLst>
            <a:ext uri="{909E8E84-426E-40DD-AFC4-6F175D3DCCD1}">
              <a14:hiddenFill xmlns:a14="http://schemas.microsoft.com/office/drawing/2010/main">
                <a:noFill/>
              </a14:hiddenFill>
            </a:ext>
          </a:extLst>
        </p:spPr>
      </p:cxnSp>
      <p:cxnSp>
        <p:nvCxnSpPr>
          <p:cNvPr id="45086" name="AutoShape 38">
            <a:extLst>
              <a:ext uri="{FF2B5EF4-FFF2-40B4-BE49-F238E27FC236}">
                <a16:creationId xmlns:a16="http://schemas.microsoft.com/office/drawing/2014/main" id="{48099D65-2BE1-25B6-CCBF-6ECFD8D16E5E}"/>
              </a:ext>
            </a:extLst>
          </p:cNvPr>
          <p:cNvCxnSpPr>
            <a:cxnSpLocks noChangeShapeType="1"/>
            <a:stCxn id="45081" idx="2"/>
            <a:endCxn id="45082" idx="0"/>
          </p:cNvCxnSpPr>
          <p:nvPr/>
        </p:nvCxnSpPr>
        <p:spPr bwMode="auto">
          <a:xfrm>
            <a:off x="3124200" y="5908675"/>
            <a:ext cx="0" cy="168275"/>
          </a:xfrm>
          <a:prstGeom prst="straightConnector1">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cxnSp>
      <p:sp>
        <p:nvSpPr>
          <p:cNvPr id="45087" name="Text Box 39">
            <a:extLst>
              <a:ext uri="{FF2B5EF4-FFF2-40B4-BE49-F238E27FC236}">
                <a16:creationId xmlns:a16="http://schemas.microsoft.com/office/drawing/2014/main" id="{226502EB-C2CB-052F-BF2C-0F369E5689D5}"/>
              </a:ext>
            </a:extLst>
          </p:cNvPr>
          <p:cNvSpPr txBox="1">
            <a:spLocks noChangeArrowheads="1"/>
          </p:cNvSpPr>
          <p:nvPr/>
        </p:nvSpPr>
        <p:spPr bwMode="auto">
          <a:xfrm>
            <a:off x="3478213" y="6072188"/>
            <a:ext cx="593725" cy="409575"/>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i="1">
                <a:solidFill>
                  <a:schemeClr val="hlink"/>
                </a:solidFill>
                <a:latin typeface="Times New Roman" panose="02020603050405020304" pitchFamily="18" charset="0"/>
                <a:cs typeface="Times New Roman" panose="02020603050405020304" pitchFamily="18" charset="0"/>
              </a:rPr>
              <a:t>m:1</a:t>
            </a:r>
          </a:p>
        </p:txBody>
      </p:sp>
      <p:cxnSp>
        <p:nvCxnSpPr>
          <p:cNvPr id="45088" name="AutoShape 40">
            <a:extLst>
              <a:ext uri="{FF2B5EF4-FFF2-40B4-BE49-F238E27FC236}">
                <a16:creationId xmlns:a16="http://schemas.microsoft.com/office/drawing/2014/main" id="{484F55AB-0A29-84F3-D3EC-96E447DA4E81}"/>
              </a:ext>
            </a:extLst>
          </p:cNvPr>
          <p:cNvCxnSpPr>
            <a:cxnSpLocks noChangeShapeType="1"/>
            <a:stCxn id="45080" idx="2"/>
            <a:endCxn id="45087" idx="0"/>
          </p:cNvCxnSpPr>
          <p:nvPr/>
        </p:nvCxnSpPr>
        <p:spPr bwMode="auto">
          <a:xfrm>
            <a:off x="3776663" y="5908675"/>
            <a:ext cx="0" cy="168275"/>
          </a:xfrm>
          <a:prstGeom prst="straightConnector1">
            <a:avLst/>
          </a:prstGeom>
          <a:noFill/>
          <a:ln w="12700">
            <a:solidFill>
              <a:schemeClr val="hlink"/>
            </a:solidFill>
            <a:round/>
            <a:headEnd type="none" w="sm" len="sm"/>
            <a:tailEnd type="none" w="sm" len="sm"/>
          </a:ln>
          <a:extLst>
            <a:ext uri="{909E8E84-426E-40DD-AFC4-6F175D3DCCD1}">
              <a14:hiddenFill xmlns:a14="http://schemas.microsoft.com/office/drawing/2010/main">
                <a:noFill/>
              </a14:hiddenFill>
            </a:ext>
          </a:extLst>
        </p:spPr>
      </p:cxnSp>
      <p:sp>
        <p:nvSpPr>
          <p:cNvPr id="45089" name="Text Box 41">
            <a:extLst>
              <a:ext uri="{FF2B5EF4-FFF2-40B4-BE49-F238E27FC236}">
                <a16:creationId xmlns:a16="http://schemas.microsoft.com/office/drawing/2014/main" id="{4CE9C4E9-B959-7176-9A81-B07E99E9DF01}"/>
              </a:ext>
            </a:extLst>
          </p:cNvPr>
          <p:cNvSpPr txBox="1">
            <a:spLocks noChangeArrowheads="1"/>
          </p:cNvSpPr>
          <p:nvPr/>
        </p:nvSpPr>
        <p:spPr bwMode="auto">
          <a:xfrm>
            <a:off x="214313" y="3824288"/>
            <a:ext cx="2543175" cy="2301875"/>
          </a:xfrm>
          <a:prstGeom prst="rect">
            <a:avLst/>
          </a:prstGeom>
          <a:noFill/>
          <a:ln w="12700">
            <a:solidFill>
              <a:schemeClr val="tx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nSpc>
                <a:spcPct val="90000"/>
              </a:lnSpc>
            </a:pPr>
            <a:r>
              <a:rPr lang="en-US" altLang="en-US" sz="2000" b="1">
                <a:latin typeface="Times New Roman" panose="02020603050405020304" pitchFamily="18" charset="0"/>
                <a:cs typeface="Times New Roman" panose="02020603050405020304" pitchFamily="18" charset="0"/>
              </a:rPr>
              <a:t>Header Table</a:t>
            </a:r>
          </a:p>
          <a:p>
            <a:pPr>
              <a:lnSpc>
                <a:spcPct val="90000"/>
              </a:lnSpc>
            </a:pPr>
            <a:r>
              <a:rPr lang="en-US" altLang="en-US" sz="2000" b="1" i="1" u="sng">
                <a:latin typeface="Times New Roman" panose="02020603050405020304" pitchFamily="18" charset="0"/>
                <a:cs typeface="Times New Roman" panose="02020603050405020304" pitchFamily="18" charset="0"/>
              </a:rPr>
              <a:t>Item  frequency  head </a:t>
            </a:r>
          </a:p>
          <a:p>
            <a:pPr>
              <a:lnSpc>
                <a:spcPct val="90000"/>
              </a:lnSpc>
            </a:pPr>
            <a:r>
              <a:rPr lang="en-US" altLang="en-US" sz="2000" i="1">
                <a:latin typeface="Times New Roman" panose="02020603050405020304" pitchFamily="18" charset="0"/>
                <a:cs typeface="Times New Roman" panose="02020603050405020304" pitchFamily="18" charset="0"/>
              </a:rPr>
              <a:t> f	4</a:t>
            </a:r>
          </a:p>
          <a:p>
            <a:pPr>
              <a:lnSpc>
                <a:spcPct val="90000"/>
              </a:lnSpc>
            </a:pPr>
            <a:r>
              <a:rPr lang="en-US" altLang="en-US" sz="2000" i="1">
                <a:latin typeface="Times New Roman" panose="02020603050405020304" pitchFamily="18" charset="0"/>
                <a:cs typeface="Times New Roman" panose="02020603050405020304" pitchFamily="18" charset="0"/>
              </a:rPr>
              <a:t>c	4</a:t>
            </a:r>
          </a:p>
          <a:p>
            <a:pPr>
              <a:lnSpc>
                <a:spcPct val="90000"/>
              </a:lnSpc>
            </a:pPr>
            <a:r>
              <a:rPr lang="en-US" altLang="en-US" sz="2000" i="1">
                <a:latin typeface="Times New Roman" panose="02020603050405020304" pitchFamily="18" charset="0"/>
                <a:cs typeface="Times New Roman" panose="02020603050405020304" pitchFamily="18" charset="0"/>
              </a:rPr>
              <a:t>a	3</a:t>
            </a:r>
          </a:p>
          <a:p>
            <a:pPr>
              <a:lnSpc>
                <a:spcPct val="90000"/>
              </a:lnSpc>
            </a:pPr>
            <a:r>
              <a:rPr lang="en-US" altLang="en-US" sz="2000" i="1">
                <a:latin typeface="Times New Roman" panose="02020603050405020304" pitchFamily="18" charset="0"/>
                <a:cs typeface="Times New Roman" panose="02020603050405020304" pitchFamily="18" charset="0"/>
              </a:rPr>
              <a:t>b	3</a:t>
            </a:r>
          </a:p>
          <a:p>
            <a:pPr>
              <a:lnSpc>
                <a:spcPct val="90000"/>
              </a:lnSpc>
            </a:pPr>
            <a:r>
              <a:rPr lang="en-US" altLang="en-US" sz="2000" i="1">
                <a:latin typeface="Times New Roman" panose="02020603050405020304" pitchFamily="18" charset="0"/>
                <a:cs typeface="Times New Roman" panose="02020603050405020304" pitchFamily="18" charset="0"/>
              </a:rPr>
              <a:t>m	3</a:t>
            </a:r>
          </a:p>
          <a:p>
            <a:pPr>
              <a:lnSpc>
                <a:spcPct val="90000"/>
              </a:lnSpc>
            </a:pPr>
            <a:r>
              <a:rPr lang="en-US" altLang="en-US" sz="2000" i="1">
                <a:latin typeface="Times New Roman" panose="02020603050405020304" pitchFamily="18" charset="0"/>
                <a:cs typeface="Times New Roman" panose="02020603050405020304" pitchFamily="18" charset="0"/>
              </a:rPr>
              <a:t>p	3</a:t>
            </a:r>
            <a:endParaRPr lang="en-US" altLang="en-US" sz="2000">
              <a:latin typeface="Times New Roman" panose="02020603050405020304" pitchFamily="18" charset="0"/>
              <a:cs typeface="Times New Roman" panose="02020603050405020304" pitchFamily="18" charset="0"/>
            </a:endParaRPr>
          </a:p>
        </p:txBody>
      </p:sp>
      <p:sp>
        <p:nvSpPr>
          <p:cNvPr id="45090" name="Freeform 42">
            <a:extLst>
              <a:ext uri="{FF2B5EF4-FFF2-40B4-BE49-F238E27FC236}">
                <a16:creationId xmlns:a16="http://schemas.microsoft.com/office/drawing/2014/main" id="{2ECE6BFF-346C-177B-1194-F3AE86E22B11}"/>
              </a:ext>
            </a:extLst>
          </p:cNvPr>
          <p:cNvSpPr>
            <a:spLocks/>
          </p:cNvSpPr>
          <p:nvPr/>
        </p:nvSpPr>
        <p:spPr bwMode="auto">
          <a:xfrm>
            <a:off x="2424113" y="4311650"/>
            <a:ext cx="1074737" cy="301625"/>
          </a:xfrm>
          <a:custGeom>
            <a:avLst/>
            <a:gdLst>
              <a:gd name="T0" fmla="*/ 0 w 672"/>
              <a:gd name="T1" fmla="*/ 2147483647 h 240"/>
              <a:gd name="T2" fmla="*/ 2147483647 w 672"/>
              <a:gd name="T3" fmla="*/ 2147483647 h 240"/>
              <a:gd name="T4" fmla="*/ 2147483647 w 672"/>
              <a:gd name="T5" fmla="*/ 2147483647 h 240"/>
              <a:gd name="T6" fmla="*/ 2147483647 w 672"/>
              <a:gd name="T7" fmla="*/ 0 h 240"/>
              <a:gd name="T8" fmla="*/ 0 60000 65536"/>
              <a:gd name="T9" fmla="*/ 0 60000 65536"/>
              <a:gd name="T10" fmla="*/ 0 60000 65536"/>
              <a:gd name="T11" fmla="*/ 0 60000 65536"/>
              <a:gd name="T12" fmla="*/ 0 w 672"/>
              <a:gd name="T13" fmla="*/ 0 h 240"/>
              <a:gd name="T14" fmla="*/ 672 w 672"/>
              <a:gd name="T15" fmla="*/ 240 h 240"/>
            </a:gdLst>
            <a:ahLst/>
            <a:cxnLst>
              <a:cxn ang="T8">
                <a:pos x="T0" y="T1"/>
              </a:cxn>
              <a:cxn ang="T9">
                <a:pos x="T2" y="T3"/>
              </a:cxn>
              <a:cxn ang="T10">
                <a:pos x="T4" y="T5"/>
              </a:cxn>
              <a:cxn ang="T11">
                <a:pos x="T6" y="T7"/>
              </a:cxn>
            </a:cxnLst>
            <a:rect l="T12" t="T13" r="T14" b="T15"/>
            <a:pathLst>
              <a:path w="672" h="240">
                <a:moveTo>
                  <a:pt x="0" y="240"/>
                </a:moveTo>
                <a:cubicBezTo>
                  <a:pt x="108" y="232"/>
                  <a:pt x="216" y="224"/>
                  <a:pt x="288" y="192"/>
                </a:cubicBezTo>
                <a:cubicBezTo>
                  <a:pt x="360" y="160"/>
                  <a:pt x="368" y="80"/>
                  <a:pt x="432" y="48"/>
                </a:cubicBezTo>
                <a:cubicBezTo>
                  <a:pt x="496" y="16"/>
                  <a:pt x="584" y="8"/>
                  <a:pt x="67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5091" name="Freeform 43">
            <a:extLst>
              <a:ext uri="{FF2B5EF4-FFF2-40B4-BE49-F238E27FC236}">
                <a16:creationId xmlns:a16="http://schemas.microsoft.com/office/drawing/2014/main" id="{B0FC5BD2-FB4F-0313-4954-A15946C8917F}"/>
              </a:ext>
            </a:extLst>
          </p:cNvPr>
          <p:cNvSpPr>
            <a:spLocks/>
          </p:cNvSpPr>
          <p:nvPr/>
        </p:nvSpPr>
        <p:spPr bwMode="auto">
          <a:xfrm>
            <a:off x="2424113" y="4795838"/>
            <a:ext cx="690562" cy="0"/>
          </a:xfrm>
          <a:custGeom>
            <a:avLst/>
            <a:gdLst>
              <a:gd name="T0" fmla="*/ 0 w 432"/>
              <a:gd name="T1" fmla="*/ 0 h 1"/>
              <a:gd name="T2" fmla="*/ 2147483647 w 432"/>
              <a:gd name="T3" fmla="*/ 0 h 1"/>
              <a:gd name="T4" fmla="*/ 0 60000 65536"/>
              <a:gd name="T5" fmla="*/ 0 60000 65536"/>
              <a:gd name="T6" fmla="*/ 0 w 432"/>
              <a:gd name="T7" fmla="*/ 0 h 1"/>
              <a:gd name="T8" fmla="*/ 432 w 432"/>
              <a:gd name="T9" fmla="*/ 0 h 1"/>
            </a:gdLst>
            <a:ahLst/>
            <a:cxnLst>
              <a:cxn ang="T4">
                <a:pos x="T0" y="T1"/>
              </a:cxn>
              <a:cxn ang="T5">
                <a:pos x="T2" y="T3"/>
              </a:cxn>
            </a:cxnLst>
            <a:rect l="T6" t="T7" r="T8" b="T9"/>
            <a:pathLst>
              <a:path w="432" h="1">
                <a:moveTo>
                  <a:pt x="0" y="0"/>
                </a:moveTo>
                <a:cubicBezTo>
                  <a:pt x="0" y="0"/>
                  <a:pt x="216" y="0"/>
                  <a:pt x="432"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5092" name="Freeform 44">
            <a:extLst>
              <a:ext uri="{FF2B5EF4-FFF2-40B4-BE49-F238E27FC236}">
                <a16:creationId xmlns:a16="http://schemas.microsoft.com/office/drawing/2014/main" id="{14B0DEA9-FB64-A0DF-D6E0-EA8A282603E1}"/>
              </a:ext>
            </a:extLst>
          </p:cNvPr>
          <p:cNvSpPr>
            <a:spLocks/>
          </p:cNvSpPr>
          <p:nvPr/>
        </p:nvSpPr>
        <p:spPr bwMode="auto">
          <a:xfrm>
            <a:off x="3575050" y="4311650"/>
            <a:ext cx="768350" cy="484188"/>
          </a:xfrm>
          <a:custGeom>
            <a:avLst/>
            <a:gdLst>
              <a:gd name="T0" fmla="*/ 0 w 480"/>
              <a:gd name="T1" fmla="*/ 2147483647 h 384"/>
              <a:gd name="T2" fmla="*/ 2147483647 w 480"/>
              <a:gd name="T3" fmla="*/ 2147483647 h 384"/>
              <a:gd name="T4" fmla="*/ 2147483647 w 480"/>
              <a:gd name="T5" fmla="*/ 2147483647 h 384"/>
              <a:gd name="T6" fmla="*/ 2147483647 w 480"/>
              <a:gd name="T7" fmla="*/ 0 h 384"/>
              <a:gd name="T8" fmla="*/ 0 60000 65536"/>
              <a:gd name="T9" fmla="*/ 0 60000 65536"/>
              <a:gd name="T10" fmla="*/ 0 60000 65536"/>
              <a:gd name="T11" fmla="*/ 0 60000 65536"/>
              <a:gd name="T12" fmla="*/ 0 w 480"/>
              <a:gd name="T13" fmla="*/ 0 h 384"/>
              <a:gd name="T14" fmla="*/ 480 w 480"/>
              <a:gd name="T15" fmla="*/ 384 h 384"/>
            </a:gdLst>
            <a:ahLst/>
            <a:cxnLst>
              <a:cxn ang="T8">
                <a:pos x="T0" y="T1"/>
              </a:cxn>
              <a:cxn ang="T9">
                <a:pos x="T2" y="T3"/>
              </a:cxn>
              <a:cxn ang="T10">
                <a:pos x="T4" y="T5"/>
              </a:cxn>
              <a:cxn ang="T11">
                <a:pos x="T6" y="T7"/>
              </a:cxn>
            </a:cxnLst>
            <a:rect l="T12" t="T13" r="T14" b="T15"/>
            <a:pathLst>
              <a:path w="480" h="384">
                <a:moveTo>
                  <a:pt x="0" y="384"/>
                </a:moveTo>
                <a:cubicBezTo>
                  <a:pt x="4" y="384"/>
                  <a:pt x="8" y="384"/>
                  <a:pt x="48" y="336"/>
                </a:cubicBezTo>
                <a:cubicBezTo>
                  <a:pt x="88" y="288"/>
                  <a:pt x="168" y="152"/>
                  <a:pt x="240" y="96"/>
                </a:cubicBezTo>
                <a:cubicBezTo>
                  <a:pt x="312" y="40"/>
                  <a:pt x="396" y="20"/>
                  <a:pt x="480"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5093" name="Freeform 45">
            <a:extLst>
              <a:ext uri="{FF2B5EF4-FFF2-40B4-BE49-F238E27FC236}">
                <a16:creationId xmlns:a16="http://schemas.microsoft.com/office/drawing/2014/main" id="{6B4E1FA0-7034-A30C-1277-E3943E959E52}"/>
              </a:ext>
            </a:extLst>
          </p:cNvPr>
          <p:cNvSpPr>
            <a:spLocks/>
          </p:cNvSpPr>
          <p:nvPr/>
        </p:nvSpPr>
        <p:spPr bwMode="auto">
          <a:xfrm>
            <a:off x="2424113" y="5051425"/>
            <a:ext cx="690562" cy="241300"/>
          </a:xfrm>
          <a:custGeom>
            <a:avLst/>
            <a:gdLst>
              <a:gd name="T0" fmla="*/ 0 w 432"/>
              <a:gd name="T1" fmla="*/ 0 h 192"/>
              <a:gd name="T2" fmla="*/ 2147483647 w 432"/>
              <a:gd name="T3" fmla="*/ 2147483647 h 192"/>
              <a:gd name="T4" fmla="*/ 2147483647 w 432"/>
              <a:gd name="T5" fmla="*/ 2147483647 h 192"/>
              <a:gd name="T6" fmla="*/ 2147483647 w 432"/>
              <a:gd name="T7" fmla="*/ 2147483647 h 192"/>
              <a:gd name="T8" fmla="*/ 0 60000 65536"/>
              <a:gd name="T9" fmla="*/ 0 60000 65536"/>
              <a:gd name="T10" fmla="*/ 0 60000 65536"/>
              <a:gd name="T11" fmla="*/ 0 60000 65536"/>
              <a:gd name="T12" fmla="*/ 0 w 432"/>
              <a:gd name="T13" fmla="*/ 0 h 192"/>
              <a:gd name="T14" fmla="*/ 432 w 432"/>
              <a:gd name="T15" fmla="*/ 192 h 192"/>
            </a:gdLst>
            <a:ahLst/>
            <a:cxnLst>
              <a:cxn ang="T8">
                <a:pos x="T0" y="T1"/>
              </a:cxn>
              <a:cxn ang="T9">
                <a:pos x="T2" y="T3"/>
              </a:cxn>
              <a:cxn ang="T10">
                <a:pos x="T4" y="T5"/>
              </a:cxn>
              <a:cxn ang="T11">
                <a:pos x="T6" y="T7"/>
              </a:cxn>
            </a:cxnLst>
            <a:rect l="T12" t="T13" r="T14" b="T15"/>
            <a:pathLst>
              <a:path w="432" h="192">
                <a:moveTo>
                  <a:pt x="0" y="0"/>
                </a:moveTo>
                <a:cubicBezTo>
                  <a:pt x="48" y="12"/>
                  <a:pt x="96" y="24"/>
                  <a:pt x="144" y="48"/>
                </a:cubicBezTo>
                <a:cubicBezTo>
                  <a:pt x="192" y="72"/>
                  <a:pt x="240" y="120"/>
                  <a:pt x="288" y="144"/>
                </a:cubicBezTo>
                <a:cubicBezTo>
                  <a:pt x="336" y="168"/>
                  <a:pt x="384" y="180"/>
                  <a:pt x="432" y="19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5094" name="Freeform 46">
            <a:extLst>
              <a:ext uri="{FF2B5EF4-FFF2-40B4-BE49-F238E27FC236}">
                <a16:creationId xmlns:a16="http://schemas.microsoft.com/office/drawing/2014/main" id="{7AFF07EF-CD56-BB8C-8ABD-4D584929E5F2}"/>
              </a:ext>
            </a:extLst>
          </p:cNvPr>
          <p:cNvSpPr>
            <a:spLocks/>
          </p:cNvSpPr>
          <p:nvPr/>
        </p:nvSpPr>
        <p:spPr bwMode="auto">
          <a:xfrm>
            <a:off x="2439988" y="5232400"/>
            <a:ext cx="1149350" cy="482600"/>
          </a:xfrm>
          <a:custGeom>
            <a:avLst/>
            <a:gdLst>
              <a:gd name="T0" fmla="*/ 0 w 720"/>
              <a:gd name="T1" fmla="*/ 0 h 384"/>
              <a:gd name="T2" fmla="*/ 2147483647 w 720"/>
              <a:gd name="T3" fmla="*/ 2147483647 h 384"/>
              <a:gd name="T4" fmla="*/ 2147483647 w 720"/>
              <a:gd name="T5" fmla="*/ 2147483647 h 384"/>
              <a:gd name="T6" fmla="*/ 2147483647 w 720"/>
              <a:gd name="T7" fmla="*/ 2147483647 h 384"/>
              <a:gd name="T8" fmla="*/ 0 60000 65536"/>
              <a:gd name="T9" fmla="*/ 0 60000 65536"/>
              <a:gd name="T10" fmla="*/ 0 60000 65536"/>
              <a:gd name="T11" fmla="*/ 0 60000 65536"/>
              <a:gd name="T12" fmla="*/ 0 w 720"/>
              <a:gd name="T13" fmla="*/ 0 h 384"/>
              <a:gd name="T14" fmla="*/ 720 w 720"/>
              <a:gd name="T15" fmla="*/ 384 h 384"/>
            </a:gdLst>
            <a:ahLst/>
            <a:cxnLst>
              <a:cxn ang="T8">
                <a:pos x="T0" y="T1"/>
              </a:cxn>
              <a:cxn ang="T9">
                <a:pos x="T2" y="T3"/>
              </a:cxn>
              <a:cxn ang="T10">
                <a:pos x="T4" y="T5"/>
              </a:cxn>
              <a:cxn ang="T11">
                <a:pos x="T6" y="T7"/>
              </a:cxn>
            </a:cxnLst>
            <a:rect l="T12" t="T13" r="T14" b="T15"/>
            <a:pathLst>
              <a:path w="720" h="384">
                <a:moveTo>
                  <a:pt x="0" y="0"/>
                </a:moveTo>
                <a:cubicBezTo>
                  <a:pt x="76" y="0"/>
                  <a:pt x="152" y="0"/>
                  <a:pt x="240" y="48"/>
                </a:cubicBezTo>
                <a:cubicBezTo>
                  <a:pt x="328" y="96"/>
                  <a:pt x="448" y="232"/>
                  <a:pt x="528" y="288"/>
                </a:cubicBezTo>
                <a:cubicBezTo>
                  <a:pt x="608" y="344"/>
                  <a:pt x="664" y="364"/>
                  <a:pt x="720"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5095" name="Freeform 47">
            <a:extLst>
              <a:ext uri="{FF2B5EF4-FFF2-40B4-BE49-F238E27FC236}">
                <a16:creationId xmlns:a16="http://schemas.microsoft.com/office/drawing/2014/main" id="{83A4C9FF-0096-E448-698A-B95000F51807}"/>
              </a:ext>
            </a:extLst>
          </p:cNvPr>
          <p:cNvSpPr>
            <a:spLocks/>
          </p:cNvSpPr>
          <p:nvPr/>
        </p:nvSpPr>
        <p:spPr bwMode="auto">
          <a:xfrm>
            <a:off x="3973513" y="4929188"/>
            <a:ext cx="90487" cy="846137"/>
          </a:xfrm>
          <a:custGeom>
            <a:avLst/>
            <a:gdLst>
              <a:gd name="T0" fmla="*/ 0 w 56"/>
              <a:gd name="T1" fmla="*/ 2147483647 h 672"/>
              <a:gd name="T2" fmla="*/ 2147483647 w 56"/>
              <a:gd name="T3" fmla="*/ 2147483647 h 672"/>
              <a:gd name="T4" fmla="*/ 2147483647 w 56"/>
              <a:gd name="T5" fmla="*/ 0 h 672"/>
              <a:gd name="T6" fmla="*/ 0 60000 65536"/>
              <a:gd name="T7" fmla="*/ 0 60000 65536"/>
              <a:gd name="T8" fmla="*/ 0 60000 65536"/>
              <a:gd name="T9" fmla="*/ 0 w 56"/>
              <a:gd name="T10" fmla="*/ 0 h 672"/>
              <a:gd name="T11" fmla="*/ 56 w 56"/>
              <a:gd name="T12" fmla="*/ 672 h 672"/>
            </a:gdLst>
            <a:ahLst/>
            <a:cxnLst>
              <a:cxn ang="T6">
                <a:pos x="T0" y="T1"/>
              </a:cxn>
              <a:cxn ang="T7">
                <a:pos x="T2" y="T3"/>
              </a:cxn>
              <a:cxn ang="T8">
                <a:pos x="T4" y="T5"/>
              </a:cxn>
            </a:cxnLst>
            <a:rect l="T9" t="T10" r="T11" b="T12"/>
            <a:pathLst>
              <a:path w="56" h="672">
                <a:moveTo>
                  <a:pt x="0" y="672"/>
                </a:moveTo>
                <a:cubicBezTo>
                  <a:pt x="20" y="608"/>
                  <a:pt x="40" y="544"/>
                  <a:pt x="48" y="432"/>
                </a:cubicBezTo>
                <a:cubicBezTo>
                  <a:pt x="56" y="320"/>
                  <a:pt x="52" y="160"/>
                  <a:pt x="4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5096" name="Line 48">
            <a:extLst>
              <a:ext uri="{FF2B5EF4-FFF2-40B4-BE49-F238E27FC236}">
                <a16:creationId xmlns:a16="http://schemas.microsoft.com/office/drawing/2014/main" id="{F1A39ADA-E4ED-8813-2930-1BB1DDDEC507}"/>
              </a:ext>
            </a:extLst>
          </p:cNvPr>
          <p:cNvSpPr>
            <a:spLocks noChangeShapeType="1"/>
          </p:cNvSpPr>
          <p:nvPr/>
        </p:nvSpPr>
        <p:spPr bwMode="auto">
          <a:xfrm>
            <a:off x="4189413" y="4795838"/>
            <a:ext cx="153987" cy="0"/>
          </a:xfrm>
          <a:prstGeom prst="line">
            <a:avLst/>
          </a:prstGeom>
          <a:noFill/>
          <a:ln w="12700">
            <a:solidFill>
              <a:schemeClr val="tx2"/>
            </a:solidFill>
            <a:prstDash val="lgDash"/>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5097" name="Freeform 49">
            <a:extLst>
              <a:ext uri="{FF2B5EF4-FFF2-40B4-BE49-F238E27FC236}">
                <a16:creationId xmlns:a16="http://schemas.microsoft.com/office/drawing/2014/main" id="{0D1FC270-6564-6720-3EB1-FC41DF2C67B0}"/>
              </a:ext>
            </a:extLst>
          </p:cNvPr>
          <p:cNvSpPr>
            <a:spLocks/>
          </p:cNvSpPr>
          <p:nvPr/>
        </p:nvSpPr>
        <p:spPr bwMode="auto">
          <a:xfrm>
            <a:off x="2439988" y="5473700"/>
            <a:ext cx="460375" cy="301625"/>
          </a:xfrm>
          <a:custGeom>
            <a:avLst/>
            <a:gdLst>
              <a:gd name="T0" fmla="*/ 0 w 288"/>
              <a:gd name="T1" fmla="*/ 0 h 240"/>
              <a:gd name="T2" fmla="*/ 2147483647 w 288"/>
              <a:gd name="T3" fmla="*/ 2147483647 h 240"/>
              <a:gd name="T4" fmla="*/ 2147483647 w 288"/>
              <a:gd name="T5" fmla="*/ 2147483647 h 240"/>
              <a:gd name="T6" fmla="*/ 2147483647 w 288"/>
              <a:gd name="T7" fmla="*/ 2147483647 h 240"/>
              <a:gd name="T8" fmla="*/ 0 60000 65536"/>
              <a:gd name="T9" fmla="*/ 0 60000 65536"/>
              <a:gd name="T10" fmla="*/ 0 60000 65536"/>
              <a:gd name="T11" fmla="*/ 0 60000 65536"/>
              <a:gd name="T12" fmla="*/ 0 w 288"/>
              <a:gd name="T13" fmla="*/ 0 h 240"/>
              <a:gd name="T14" fmla="*/ 288 w 288"/>
              <a:gd name="T15" fmla="*/ 240 h 240"/>
            </a:gdLst>
            <a:ahLst/>
            <a:cxnLst>
              <a:cxn ang="T8">
                <a:pos x="T0" y="T1"/>
              </a:cxn>
              <a:cxn ang="T9">
                <a:pos x="T2" y="T3"/>
              </a:cxn>
              <a:cxn ang="T10">
                <a:pos x="T4" y="T5"/>
              </a:cxn>
              <a:cxn ang="T11">
                <a:pos x="T6" y="T7"/>
              </a:cxn>
            </a:cxnLst>
            <a:rect l="T12" t="T13" r="T14" b="T15"/>
            <a:pathLst>
              <a:path w="288" h="240">
                <a:moveTo>
                  <a:pt x="0" y="0"/>
                </a:moveTo>
                <a:cubicBezTo>
                  <a:pt x="56" y="8"/>
                  <a:pt x="112" y="16"/>
                  <a:pt x="144" y="48"/>
                </a:cubicBezTo>
                <a:cubicBezTo>
                  <a:pt x="176" y="80"/>
                  <a:pt x="168" y="160"/>
                  <a:pt x="192" y="192"/>
                </a:cubicBezTo>
                <a:cubicBezTo>
                  <a:pt x="216" y="224"/>
                  <a:pt x="252" y="232"/>
                  <a:pt x="288" y="24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5098" name="Freeform 50">
            <a:extLst>
              <a:ext uri="{FF2B5EF4-FFF2-40B4-BE49-F238E27FC236}">
                <a16:creationId xmlns:a16="http://schemas.microsoft.com/office/drawing/2014/main" id="{CB485EF6-F32D-08EE-BEBC-A0FD8E69E8DA}"/>
              </a:ext>
            </a:extLst>
          </p:cNvPr>
          <p:cNvSpPr>
            <a:spLocks/>
          </p:cNvSpPr>
          <p:nvPr/>
        </p:nvSpPr>
        <p:spPr bwMode="auto">
          <a:xfrm>
            <a:off x="3359150" y="5775325"/>
            <a:ext cx="153988" cy="484188"/>
          </a:xfrm>
          <a:custGeom>
            <a:avLst/>
            <a:gdLst>
              <a:gd name="T0" fmla="*/ 0 w 96"/>
              <a:gd name="T1" fmla="*/ 0 h 384"/>
              <a:gd name="T2" fmla="*/ 2147483647 w 96"/>
              <a:gd name="T3" fmla="*/ 2147483647 h 384"/>
              <a:gd name="T4" fmla="*/ 2147483647 w 96"/>
              <a:gd name="T5" fmla="*/ 2147483647 h 384"/>
              <a:gd name="T6" fmla="*/ 2147483647 w 96"/>
              <a:gd name="T7" fmla="*/ 2147483647 h 384"/>
              <a:gd name="T8" fmla="*/ 0 60000 65536"/>
              <a:gd name="T9" fmla="*/ 0 60000 65536"/>
              <a:gd name="T10" fmla="*/ 0 60000 65536"/>
              <a:gd name="T11" fmla="*/ 0 60000 65536"/>
              <a:gd name="T12" fmla="*/ 0 w 96"/>
              <a:gd name="T13" fmla="*/ 0 h 384"/>
              <a:gd name="T14" fmla="*/ 96 w 96"/>
              <a:gd name="T15" fmla="*/ 384 h 384"/>
            </a:gdLst>
            <a:ahLst/>
            <a:cxnLst>
              <a:cxn ang="T8">
                <a:pos x="T0" y="T1"/>
              </a:cxn>
              <a:cxn ang="T9">
                <a:pos x="T2" y="T3"/>
              </a:cxn>
              <a:cxn ang="T10">
                <a:pos x="T4" y="T5"/>
              </a:cxn>
              <a:cxn ang="T11">
                <a:pos x="T6" y="T7"/>
              </a:cxn>
            </a:cxnLst>
            <a:rect l="T12" t="T13" r="T14" b="T15"/>
            <a:pathLst>
              <a:path w="96" h="384">
                <a:moveTo>
                  <a:pt x="0" y="0"/>
                </a:moveTo>
                <a:cubicBezTo>
                  <a:pt x="20" y="24"/>
                  <a:pt x="40" y="48"/>
                  <a:pt x="48" y="96"/>
                </a:cubicBezTo>
                <a:cubicBezTo>
                  <a:pt x="56" y="144"/>
                  <a:pt x="40" y="240"/>
                  <a:pt x="48" y="288"/>
                </a:cubicBezTo>
                <a:cubicBezTo>
                  <a:pt x="56" y="336"/>
                  <a:pt x="76" y="360"/>
                  <a:pt x="96" y="384"/>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5099" name="Freeform 51">
            <a:extLst>
              <a:ext uri="{FF2B5EF4-FFF2-40B4-BE49-F238E27FC236}">
                <a16:creationId xmlns:a16="http://schemas.microsoft.com/office/drawing/2014/main" id="{C8358D12-4194-EF46-AD3B-EECB7918398B}"/>
              </a:ext>
            </a:extLst>
          </p:cNvPr>
          <p:cNvSpPr>
            <a:spLocks/>
          </p:cNvSpPr>
          <p:nvPr/>
        </p:nvSpPr>
        <p:spPr bwMode="auto">
          <a:xfrm>
            <a:off x="2439988" y="5715000"/>
            <a:ext cx="460375" cy="544513"/>
          </a:xfrm>
          <a:custGeom>
            <a:avLst/>
            <a:gdLst>
              <a:gd name="T0" fmla="*/ 0 w 288"/>
              <a:gd name="T1" fmla="*/ 0 h 432"/>
              <a:gd name="T2" fmla="*/ 2147483647 w 288"/>
              <a:gd name="T3" fmla="*/ 2147483647 h 432"/>
              <a:gd name="T4" fmla="*/ 2147483647 w 288"/>
              <a:gd name="T5" fmla="*/ 2147483647 h 432"/>
              <a:gd name="T6" fmla="*/ 2147483647 w 288"/>
              <a:gd name="T7" fmla="*/ 2147483647 h 432"/>
              <a:gd name="T8" fmla="*/ 0 60000 65536"/>
              <a:gd name="T9" fmla="*/ 0 60000 65536"/>
              <a:gd name="T10" fmla="*/ 0 60000 65536"/>
              <a:gd name="T11" fmla="*/ 0 60000 65536"/>
              <a:gd name="T12" fmla="*/ 0 w 288"/>
              <a:gd name="T13" fmla="*/ 0 h 432"/>
              <a:gd name="T14" fmla="*/ 288 w 288"/>
              <a:gd name="T15" fmla="*/ 432 h 432"/>
            </a:gdLst>
            <a:ahLst/>
            <a:cxnLst>
              <a:cxn ang="T8">
                <a:pos x="T0" y="T1"/>
              </a:cxn>
              <a:cxn ang="T9">
                <a:pos x="T2" y="T3"/>
              </a:cxn>
              <a:cxn ang="T10">
                <a:pos x="T4" y="T5"/>
              </a:cxn>
              <a:cxn ang="T11">
                <a:pos x="T6" y="T7"/>
              </a:cxn>
            </a:cxnLst>
            <a:rect l="T12" t="T13" r="T14" b="T15"/>
            <a:pathLst>
              <a:path w="288" h="432">
                <a:moveTo>
                  <a:pt x="0" y="0"/>
                </a:moveTo>
                <a:cubicBezTo>
                  <a:pt x="36" y="44"/>
                  <a:pt x="72" y="88"/>
                  <a:pt x="96" y="144"/>
                </a:cubicBezTo>
                <a:cubicBezTo>
                  <a:pt x="120" y="200"/>
                  <a:pt x="112" y="288"/>
                  <a:pt x="144" y="336"/>
                </a:cubicBezTo>
                <a:cubicBezTo>
                  <a:pt x="176" y="384"/>
                  <a:pt x="232" y="408"/>
                  <a:pt x="288" y="432"/>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
        <p:nvSpPr>
          <p:cNvPr id="45100" name="Freeform 52">
            <a:extLst>
              <a:ext uri="{FF2B5EF4-FFF2-40B4-BE49-F238E27FC236}">
                <a16:creationId xmlns:a16="http://schemas.microsoft.com/office/drawing/2014/main" id="{7155DAB5-6F2C-9C96-AD63-3740A6A00390}"/>
              </a:ext>
            </a:extLst>
          </p:cNvPr>
          <p:cNvSpPr>
            <a:spLocks/>
          </p:cNvSpPr>
          <p:nvPr/>
        </p:nvSpPr>
        <p:spPr bwMode="auto">
          <a:xfrm>
            <a:off x="3359150" y="5413375"/>
            <a:ext cx="1228725" cy="846138"/>
          </a:xfrm>
          <a:custGeom>
            <a:avLst/>
            <a:gdLst>
              <a:gd name="T0" fmla="*/ 0 w 768"/>
              <a:gd name="T1" fmla="*/ 2147483647 h 672"/>
              <a:gd name="T2" fmla="*/ 2147483647 w 768"/>
              <a:gd name="T3" fmla="*/ 2147483647 h 672"/>
              <a:gd name="T4" fmla="*/ 2147483647 w 768"/>
              <a:gd name="T5" fmla="*/ 2147483647 h 672"/>
              <a:gd name="T6" fmla="*/ 2147483647 w 768"/>
              <a:gd name="T7" fmla="*/ 0 h 672"/>
              <a:gd name="T8" fmla="*/ 0 60000 65536"/>
              <a:gd name="T9" fmla="*/ 0 60000 65536"/>
              <a:gd name="T10" fmla="*/ 0 60000 65536"/>
              <a:gd name="T11" fmla="*/ 0 60000 65536"/>
              <a:gd name="T12" fmla="*/ 0 w 768"/>
              <a:gd name="T13" fmla="*/ 0 h 672"/>
              <a:gd name="T14" fmla="*/ 768 w 768"/>
              <a:gd name="T15" fmla="*/ 672 h 672"/>
            </a:gdLst>
            <a:ahLst/>
            <a:cxnLst>
              <a:cxn ang="T8">
                <a:pos x="T0" y="T1"/>
              </a:cxn>
              <a:cxn ang="T9">
                <a:pos x="T2" y="T3"/>
              </a:cxn>
              <a:cxn ang="T10">
                <a:pos x="T4" y="T5"/>
              </a:cxn>
              <a:cxn ang="T11">
                <a:pos x="T6" y="T7"/>
              </a:cxn>
            </a:cxnLst>
            <a:rect l="T12" t="T13" r="T14" b="T15"/>
            <a:pathLst>
              <a:path w="768" h="672">
                <a:moveTo>
                  <a:pt x="0" y="672"/>
                </a:moveTo>
                <a:cubicBezTo>
                  <a:pt x="4" y="624"/>
                  <a:pt x="8" y="576"/>
                  <a:pt x="96" y="528"/>
                </a:cubicBezTo>
                <a:cubicBezTo>
                  <a:pt x="184" y="480"/>
                  <a:pt x="416" y="472"/>
                  <a:pt x="528" y="384"/>
                </a:cubicBezTo>
                <a:cubicBezTo>
                  <a:pt x="640" y="296"/>
                  <a:pt x="704" y="148"/>
                  <a:pt x="768" y="0"/>
                </a:cubicBezTo>
              </a:path>
            </a:pathLst>
          </a:custGeom>
          <a:noFill/>
          <a:ln w="12700">
            <a:solidFill>
              <a:schemeClr val="tx2"/>
            </a:solidFill>
            <a:prstDash val="lgDash"/>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7EDA1C1-65DC-0777-40A1-A9D6B680D2EB}"/>
              </a:ext>
            </a:extLst>
          </p:cNvPr>
          <p:cNvGraphicFramePr>
            <a:graphicFrameLocks noGrp="1"/>
          </p:cNvGraphicFramePr>
          <p:nvPr>
            <p:extLst>
              <p:ext uri="{D42A27DB-BD31-4B8C-83A1-F6EECF244321}">
                <p14:modId xmlns:p14="http://schemas.microsoft.com/office/powerpoint/2010/main" val="2052137781"/>
              </p:ext>
            </p:extLst>
          </p:nvPr>
        </p:nvGraphicFramePr>
        <p:xfrm>
          <a:off x="609601" y="2057400"/>
          <a:ext cx="8229600" cy="3352799"/>
        </p:xfrm>
        <a:graphic>
          <a:graphicData uri="http://schemas.openxmlformats.org/drawingml/2006/table">
            <a:tbl>
              <a:tblPr firstRow="1" firstCol="1" lastRow="1" lastCol="1" bandRow="1" bandCol="1">
                <a:tableStyleId>{5940675A-B579-460E-94D1-54222C63F5DA}</a:tableStyleId>
              </a:tblPr>
              <a:tblGrid>
                <a:gridCol w="473058">
                  <a:extLst>
                    <a:ext uri="{9D8B030D-6E8A-4147-A177-3AD203B41FA5}">
                      <a16:colId xmlns:a16="http://schemas.microsoft.com/office/drawing/2014/main" val="1113324724"/>
                    </a:ext>
                  </a:extLst>
                </a:gridCol>
                <a:gridCol w="2387546">
                  <a:extLst>
                    <a:ext uri="{9D8B030D-6E8A-4147-A177-3AD203B41FA5}">
                      <a16:colId xmlns:a16="http://schemas.microsoft.com/office/drawing/2014/main" val="3202722382"/>
                    </a:ext>
                  </a:extLst>
                </a:gridCol>
                <a:gridCol w="1408040">
                  <a:extLst>
                    <a:ext uri="{9D8B030D-6E8A-4147-A177-3AD203B41FA5}">
                      <a16:colId xmlns:a16="http://schemas.microsoft.com/office/drawing/2014/main" val="2665744484"/>
                    </a:ext>
                  </a:extLst>
                </a:gridCol>
                <a:gridCol w="3960956">
                  <a:extLst>
                    <a:ext uri="{9D8B030D-6E8A-4147-A177-3AD203B41FA5}">
                      <a16:colId xmlns:a16="http://schemas.microsoft.com/office/drawing/2014/main" val="535598794"/>
                    </a:ext>
                  </a:extLst>
                </a:gridCol>
              </a:tblGrid>
              <a:tr h="647749">
                <a:tc>
                  <a:txBody>
                    <a:bodyPr/>
                    <a:lstStyle/>
                    <a:p>
                      <a:pPr marL="34290">
                        <a:spcBef>
                          <a:spcPts val="800"/>
                        </a:spcBef>
                        <a:buNone/>
                      </a:pPr>
                      <a:r>
                        <a:rPr lang="en-US" sz="1600" spc="-20">
                          <a:effectLst/>
                          <a:latin typeface="Times New Roman" panose="02020603050405020304" pitchFamily="18" charset="0"/>
                          <a:cs typeface="Times New Roman" panose="02020603050405020304" pitchFamily="18" charset="0"/>
                        </a:rPr>
                        <a:t>Item</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2065">
                        <a:spcBef>
                          <a:spcPts val="800"/>
                        </a:spcBef>
                        <a:buNone/>
                      </a:pPr>
                      <a:r>
                        <a:rPr lang="en-US" sz="1600" dirty="0">
                          <a:effectLst/>
                          <a:latin typeface="Times New Roman" panose="02020603050405020304" pitchFamily="18" charset="0"/>
                          <a:cs typeface="Times New Roman" panose="02020603050405020304" pitchFamily="18" charset="0"/>
                        </a:rPr>
                        <a:t>Conditional</a:t>
                      </a:r>
                      <a:r>
                        <a:rPr lang="en-US" sz="1600" spc="-6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Pattern</a:t>
                      </a:r>
                      <a:r>
                        <a:rPr lang="en-US" sz="1600" spc="-60" dirty="0">
                          <a:effectLst/>
                          <a:latin typeface="Times New Roman" panose="02020603050405020304" pitchFamily="18" charset="0"/>
                          <a:cs typeface="Times New Roman" panose="02020603050405020304" pitchFamily="18" charset="0"/>
                        </a:rPr>
                        <a:t> </a:t>
                      </a:r>
                      <a:r>
                        <a:rPr lang="en-US" sz="1600" spc="-20" dirty="0">
                          <a:effectLst/>
                          <a:latin typeface="Times New Roman" panose="02020603050405020304" pitchFamily="18" charset="0"/>
                          <a:cs typeface="Times New Roman" panose="02020603050405020304" pitchFamily="18" charset="0"/>
                        </a:rPr>
                        <a:t>Base</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9050" marR="40640">
                        <a:spcBef>
                          <a:spcPts val="115"/>
                        </a:spcBef>
                        <a:buNone/>
                      </a:pPr>
                      <a:r>
                        <a:rPr lang="en-US" sz="1600">
                          <a:effectLst/>
                          <a:latin typeface="Times New Roman" panose="02020603050405020304" pitchFamily="18" charset="0"/>
                          <a:cs typeface="Times New Roman" panose="02020603050405020304" pitchFamily="18" charset="0"/>
                        </a:rPr>
                        <a:t>Conditional</a:t>
                      </a:r>
                      <a:r>
                        <a:rPr lang="en-US" sz="1600" spc="-7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FP-</a:t>
                      </a:r>
                      <a:r>
                        <a:rPr lang="en-US" sz="1600" spc="-20">
                          <a:effectLst/>
                          <a:latin typeface="Times New Roman" panose="02020603050405020304" pitchFamily="18" charset="0"/>
                          <a:cs typeface="Times New Roman" panose="02020603050405020304" pitchFamily="18" charset="0"/>
                        </a:rPr>
                        <a:t>Tree</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9050">
                        <a:spcBef>
                          <a:spcPts val="800"/>
                        </a:spcBef>
                        <a:buNone/>
                      </a:pPr>
                      <a:r>
                        <a:rPr lang="en-US" sz="1600">
                          <a:effectLst/>
                          <a:latin typeface="Times New Roman" panose="02020603050405020304" pitchFamily="18" charset="0"/>
                          <a:cs typeface="Times New Roman" panose="02020603050405020304" pitchFamily="18" charset="0"/>
                        </a:rPr>
                        <a:t>Frequent</a:t>
                      </a:r>
                      <a:r>
                        <a:rPr lang="en-US" sz="1600" spc="-5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Patterns</a:t>
                      </a:r>
                      <a:r>
                        <a:rPr lang="en-US" sz="1600" spc="-60">
                          <a:effectLst/>
                          <a:latin typeface="Times New Roman" panose="02020603050405020304" pitchFamily="18" charset="0"/>
                          <a:cs typeface="Times New Roman" panose="02020603050405020304" pitchFamily="18" charset="0"/>
                        </a:rPr>
                        <a:t> </a:t>
                      </a:r>
                      <a:r>
                        <a:rPr lang="en-US" sz="1600" spc="-10">
                          <a:effectLst/>
                          <a:latin typeface="Times New Roman" panose="02020603050405020304" pitchFamily="18" charset="0"/>
                          <a:cs typeface="Times New Roman" panose="02020603050405020304" pitchFamily="18" charset="0"/>
                        </a:rPr>
                        <a:t>Generated</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838798881"/>
                  </a:ext>
                </a:extLst>
              </a:tr>
              <a:tr h="351850">
                <a:tc>
                  <a:txBody>
                    <a:bodyPr/>
                    <a:lstStyle/>
                    <a:p>
                      <a:pPr marL="27940">
                        <a:spcBef>
                          <a:spcPts val="110"/>
                        </a:spcBef>
                        <a:buNone/>
                      </a:pPr>
                      <a:r>
                        <a:rPr lang="en-US" sz="1600" spc="-50">
                          <a:effectLst/>
                          <a:latin typeface="Times New Roman" panose="02020603050405020304" pitchFamily="18" charset="0"/>
                          <a:cs typeface="Times New Roman" panose="02020603050405020304" pitchFamily="18" charset="0"/>
                        </a:rPr>
                        <a:t>p</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a:spcBef>
                          <a:spcPts val="85"/>
                        </a:spcBef>
                        <a:buNone/>
                      </a:pPr>
                      <a:r>
                        <a:rPr lang="en-US" sz="1600">
                          <a:effectLst/>
                          <a:latin typeface="Times New Roman" panose="02020603050405020304" pitchFamily="18" charset="0"/>
                          <a:cs typeface="Times New Roman" panose="02020603050405020304" pitchFamily="18" charset="0"/>
                        </a:rPr>
                        <a:t>{{f,</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c,</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m</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2},</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{c,</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b</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t>
                      </a:r>
                      <a:r>
                        <a:rPr lang="en-US" sz="1600" spc="-15">
                          <a:effectLst/>
                          <a:latin typeface="Times New Roman" panose="02020603050405020304" pitchFamily="18" charset="0"/>
                          <a:cs typeface="Times New Roman" panose="02020603050405020304" pitchFamily="18" charset="0"/>
                        </a:rPr>
                        <a:t> </a:t>
                      </a:r>
                      <a:r>
                        <a:rPr lang="en-US" sz="1600" spc="-25">
                          <a:effectLst/>
                          <a:latin typeface="Times New Roman" panose="02020603050405020304" pitchFamily="18" charset="0"/>
                          <a:cs typeface="Times New Roman" panose="02020603050405020304" pitchFamily="18" charset="0"/>
                        </a:rPr>
                        <a:t>1}}</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9050">
                        <a:spcBef>
                          <a:spcPts val="85"/>
                        </a:spcBef>
                        <a:buNone/>
                      </a:pPr>
                      <a:r>
                        <a:rPr lang="en-US" sz="1600">
                          <a:effectLst/>
                          <a:latin typeface="Times New Roman" panose="02020603050405020304" pitchFamily="18" charset="0"/>
                          <a:cs typeface="Times New Roman" panose="02020603050405020304" pitchFamily="18" charset="0"/>
                        </a:rPr>
                        <a:t>{c</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t>
                      </a:r>
                      <a:r>
                        <a:rPr lang="en-US" sz="1600" spc="-5">
                          <a:effectLst/>
                          <a:latin typeface="Times New Roman" panose="02020603050405020304" pitchFamily="18" charset="0"/>
                          <a:cs typeface="Times New Roman" panose="02020603050405020304" pitchFamily="18" charset="0"/>
                        </a:rPr>
                        <a:t> </a:t>
                      </a:r>
                      <a:r>
                        <a:rPr lang="en-US" sz="1600" spc="-25">
                          <a:effectLst/>
                          <a:latin typeface="Times New Roman" panose="02020603050405020304" pitchFamily="18" charset="0"/>
                          <a:cs typeface="Times New Roman" panose="02020603050405020304" pitchFamily="18" charset="0"/>
                        </a:rPr>
                        <a:t>3}</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9050">
                        <a:spcBef>
                          <a:spcPts val="85"/>
                        </a:spcBef>
                        <a:buNone/>
                      </a:pPr>
                      <a:r>
                        <a:rPr lang="en-US" sz="1600">
                          <a:effectLst/>
                          <a:latin typeface="Times New Roman" panose="02020603050405020304" pitchFamily="18" charset="0"/>
                          <a:cs typeface="Times New Roman" panose="02020603050405020304" pitchFamily="18" charset="0"/>
                        </a:rPr>
                        <a:t>{&lt;c,</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p</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t>
                      </a:r>
                      <a:r>
                        <a:rPr lang="en-US" sz="1600" spc="-15">
                          <a:effectLst/>
                          <a:latin typeface="Times New Roman" panose="02020603050405020304" pitchFamily="18" charset="0"/>
                          <a:cs typeface="Times New Roman" panose="02020603050405020304" pitchFamily="18" charset="0"/>
                        </a:rPr>
                        <a:t> </a:t>
                      </a:r>
                      <a:r>
                        <a:rPr lang="en-US" sz="1600" spc="-25">
                          <a:effectLst/>
                          <a:latin typeface="Times New Roman" panose="02020603050405020304" pitchFamily="18" charset="0"/>
                          <a:cs typeface="Times New Roman" panose="02020603050405020304" pitchFamily="18" charset="0"/>
                        </a:rPr>
                        <a:t>3&gt;}</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151156511"/>
                  </a:ext>
                </a:extLst>
              </a:tr>
              <a:tr h="951180">
                <a:tc>
                  <a:txBody>
                    <a:bodyPr/>
                    <a:lstStyle/>
                    <a:p>
                      <a:pPr marL="34290">
                        <a:spcBef>
                          <a:spcPts val="795"/>
                        </a:spcBef>
                        <a:buNone/>
                      </a:pPr>
                      <a:r>
                        <a:rPr lang="en-US" sz="1600" spc="-50">
                          <a:effectLst/>
                          <a:latin typeface="Times New Roman" panose="02020603050405020304" pitchFamily="18" charset="0"/>
                          <a:cs typeface="Times New Roman" panose="02020603050405020304" pitchFamily="18" charset="0"/>
                        </a:rPr>
                        <a:t>m</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2065">
                        <a:spcBef>
                          <a:spcPts val="770"/>
                        </a:spcBef>
                        <a:buNone/>
                      </a:pPr>
                      <a:r>
                        <a:rPr lang="en-US" sz="1600" dirty="0">
                          <a:effectLst/>
                          <a:latin typeface="Times New Roman" panose="02020603050405020304" pitchFamily="18" charset="0"/>
                          <a:cs typeface="Times New Roman" panose="02020603050405020304" pitchFamily="18" charset="0"/>
                        </a:rPr>
                        <a:t>{{f,</a:t>
                      </a:r>
                      <a:r>
                        <a:rPr lang="en-US" sz="1600" spc="-1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c,</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a</a:t>
                      </a:r>
                      <a:r>
                        <a:rPr lang="en-US" sz="1600" spc="-1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a:t>
                      </a:r>
                      <a:r>
                        <a:rPr lang="en-US" sz="1600" spc="-1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2},</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{f, c,</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a,</a:t>
                      </a:r>
                      <a:r>
                        <a:rPr lang="en-US" sz="1600" spc="-1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b</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a:t>
                      </a:r>
                      <a:r>
                        <a:rPr lang="en-US" sz="1600" spc="5" dirty="0">
                          <a:effectLst/>
                          <a:latin typeface="Times New Roman" panose="02020603050405020304" pitchFamily="18" charset="0"/>
                          <a:cs typeface="Times New Roman" panose="02020603050405020304" pitchFamily="18" charset="0"/>
                        </a:rPr>
                        <a:t> </a:t>
                      </a:r>
                      <a:r>
                        <a:rPr lang="en-US" sz="1600" spc="-25" dirty="0">
                          <a:effectLst/>
                          <a:latin typeface="Times New Roman" panose="02020603050405020304" pitchFamily="18" charset="0"/>
                          <a:cs typeface="Times New Roman" panose="02020603050405020304" pitchFamily="18" charset="0"/>
                        </a:rPr>
                        <a:t>1}}</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9050">
                        <a:spcBef>
                          <a:spcPts val="770"/>
                        </a:spcBef>
                        <a:buNone/>
                      </a:pPr>
                      <a:r>
                        <a:rPr lang="en-US" sz="1600">
                          <a:effectLst/>
                          <a:latin typeface="Times New Roman" panose="02020603050405020304" pitchFamily="18" charset="0"/>
                          <a:cs typeface="Times New Roman" panose="02020603050405020304" pitchFamily="18" charset="0"/>
                        </a:rPr>
                        <a:t>{f,</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c,</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a:t>
                      </a:r>
                      <a:r>
                        <a:rPr lang="en-US" sz="1600" spc="-20">
                          <a:effectLst/>
                          <a:latin typeface="Times New Roman" panose="02020603050405020304" pitchFamily="18" charset="0"/>
                          <a:cs typeface="Times New Roman" panose="02020603050405020304" pitchFamily="18" charset="0"/>
                        </a:rPr>
                        <a:t> </a:t>
                      </a:r>
                      <a:r>
                        <a:rPr lang="en-US" sz="1600" spc="-25">
                          <a:effectLst/>
                          <a:latin typeface="Times New Roman" panose="02020603050405020304" pitchFamily="18" charset="0"/>
                          <a:cs typeface="Times New Roman" panose="02020603050405020304" pitchFamily="18" charset="0"/>
                        </a:rPr>
                        <a:t>:3}</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9050">
                        <a:spcBef>
                          <a:spcPts val="75"/>
                        </a:spcBef>
                        <a:buNone/>
                        <a:tabLst>
                          <a:tab pos="1045845" algn="l"/>
                          <a:tab pos="1828165" algn="l"/>
                          <a:tab pos="2724150" algn="l"/>
                        </a:tabLst>
                      </a:pPr>
                      <a:r>
                        <a:rPr lang="en-US" sz="1600" dirty="0">
                          <a:effectLst/>
                          <a:latin typeface="Times New Roman" panose="02020603050405020304" pitchFamily="18" charset="0"/>
                          <a:cs typeface="Times New Roman" panose="02020603050405020304" pitchFamily="18" charset="0"/>
                        </a:rPr>
                        <a:t>{</a:t>
                      </a:r>
                      <a:r>
                        <a:rPr lang="en-US" sz="1600" spc="-1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&lt;f,</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a:t>
                      </a:r>
                      <a:r>
                        <a:rPr lang="en-US" sz="1600" spc="-10" dirty="0">
                          <a:effectLst/>
                          <a:latin typeface="Times New Roman" panose="02020603050405020304" pitchFamily="18" charset="0"/>
                          <a:cs typeface="Times New Roman" panose="02020603050405020304" pitchFamily="18" charset="0"/>
                        </a:rPr>
                        <a:t> </a:t>
                      </a:r>
                      <a:r>
                        <a:rPr lang="en-US" sz="1600" spc="-25" dirty="0">
                          <a:effectLst/>
                          <a:latin typeface="Times New Roman" panose="02020603050405020304" pitchFamily="18" charset="0"/>
                          <a:cs typeface="Times New Roman" panose="02020603050405020304" pitchFamily="18" charset="0"/>
                        </a:rPr>
                        <a:t>3&gt;,</a:t>
                      </a:r>
                      <a:r>
                        <a:rPr lang="en-US" sz="1600" dirty="0">
                          <a:effectLst/>
                          <a:latin typeface="Times New Roman" panose="02020603050405020304" pitchFamily="18" charset="0"/>
                          <a:cs typeface="Times New Roman" panose="02020603050405020304" pitchFamily="18" charset="0"/>
                        </a:rPr>
                        <a:t>	&lt;c,</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a:t>
                      </a:r>
                      <a:r>
                        <a:rPr lang="en-US" sz="1600" spc="-10" dirty="0">
                          <a:effectLst/>
                          <a:latin typeface="Times New Roman" panose="02020603050405020304" pitchFamily="18" charset="0"/>
                          <a:cs typeface="Times New Roman" panose="02020603050405020304" pitchFamily="18" charset="0"/>
                        </a:rPr>
                        <a:t> </a:t>
                      </a:r>
                      <a:r>
                        <a:rPr lang="en-US" sz="1600" spc="-25" dirty="0">
                          <a:effectLst/>
                          <a:latin typeface="Times New Roman" panose="02020603050405020304" pitchFamily="18" charset="0"/>
                          <a:cs typeface="Times New Roman" panose="02020603050405020304" pitchFamily="18" charset="0"/>
                        </a:rPr>
                        <a:t>3&gt;</a:t>
                      </a:r>
                      <a:r>
                        <a:rPr lang="en-US" sz="1600" dirty="0">
                          <a:effectLst/>
                          <a:latin typeface="Times New Roman" panose="02020603050405020304" pitchFamily="18" charset="0"/>
                          <a:cs typeface="Times New Roman" panose="02020603050405020304" pitchFamily="18" charset="0"/>
                        </a:rPr>
                        <a:t>&lt;a,</a:t>
                      </a:r>
                      <a:r>
                        <a:rPr lang="en-US" sz="1600" spc="-1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a:t>
                      </a:r>
                      <a:r>
                        <a:rPr lang="en-US" sz="1600" spc="-1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a:t>
                      </a:r>
                      <a:r>
                        <a:rPr lang="en-US" sz="1600" spc="-10" dirty="0">
                          <a:effectLst/>
                          <a:latin typeface="Times New Roman" panose="02020603050405020304" pitchFamily="18" charset="0"/>
                          <a:cs typeface="Times New Roman" panose="02020603050405020304" pitchFamily="18" charset="0"/>
                        </a:rPr>
                        <a:t> </a:t>
                      </a:r>
                      <a:r>
                        <a:rPr lang="en-US" sz="1600" spc="-25" dirty="0">
                          <a:effectLst/>
                          <a:latin typeface="Times New Roman" panose="02020603050405020304" pitchFamily="18" charset="0"/>
                          <a:cs typeface="Times New Roman" panose="02020603050405020304" pitchFamily="18" charset="0"/>
                        </a:rPr>
                        <a:t>3&gt;,</a:t>
                      </a:r>
                      <a:r>
                        <a:rPr lang="en-US" sz="1600" dirty="0">
                          <a:effectLst/>
                          <a:latin typeface="Times New Roman" panose="02020603050405020304" pitchFamily="18" charset="0"/>
                          <a:cs typeface="Times New Roman" panose="02020603050405020304" pitchFamily="18" charset="0"/>
                        </a:rPr>
                        <a:t>	&lt;f,</a:t>
                      </a:r>
                      <a:r>
                        <a:rPr lang="en-US" sz="1600" spc="-25" dirty="0">
                          <a:effectLst/>
                          <a:latin typeface="Times New Roman" panose="02020603050405020304" pitchFamily="18" charset="0"/>
                          <a:cs typeface="Times New Roman" panose="02020603050405020304" pitchFamily="18" charset="0"/>
                        </a:rPr>
                        <a:t> c, </a:t>
                      </a:r>
                      <a:r>
                        <a:rPr lang="en-US" sz="1600" dirty="0">
                          <a:effectLst/>
                          <a:latin typeface="Times New Roman" panose="02020603050405020304" pitchFamily="18" charset="0"/>
                          <a:cs typeface="Times New Roman" panose="02020603050405020304" pitchFamily="18" charset="0"/>
                        </a:rPr>
                        <a:t>m</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a:t>
                      </a:r>
                      <a:r>
                        <a:rPr lang="en-US" sz="1600" spc="-5" dirty="0">
                          <a:effectLst/>
                          <a:latin typeface="Times New Roman" panose="02020603050405020304" pitchFamily="18" charset="0"/>
                          <a:cs typeface="Times New Roman" panose="02020603050405020304" pitchFamily="18" charset="0"/>
                        </a:rPr>
                        <a:t> </a:t>
                      </a:r>
                      <a:r>
                        <a:rPr lang="en-US" sz="1600" spc="-25" dirty="0">
                          <a:effectLst/>
                          <a:latin typeface="Times New Roman" panose="02020603050405020304" pitchFamily="18" charset="0"/>
                          <a:cs typeface="Times New Roman" panose="02020603050405020304" pitchFamily="18" charset="0"/>
                        </a:rPr>
                        <a:t>3&gt;</a:t>
                      </a:r>
                      <a:r>
                        <a:rPr lang="en-US" sz="1600" dirty="0">
                          <a:effectLst/>
                          <a:latin typeface="Times New Roman" panose="02020603050405020304" pitchFamily="18" charset="0"/>
                          <a:cs typeface="Times New Roman" panose="02020603050405020304" pitchFamily="18" charset="0"/>
                        </a:rPr>
                        <a:t>	  &lt;f,</a:t>
                      </a:r>
                      <a:r>
                        <a:rPr lang="en-US" sz="1600" spc="-1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a,</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3&gt;,</a:t>
                      </a:r>
                      <a:r>
                        <a:rPr lang="en-US" sz="1600" spc="13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&lt;c,</a:t>
                      </a:r>
                      <a:r>
                        <a:rPr lang="en-US" sz="1600" spc="-5"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a,</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m</a:t>
                      </a:r>
                      <a:r>
                        <a:rPr lang="en-US" sz="1600" spc="-10" dirty="0">
                          <a:effectLst/>
                          <a:latin typeface="Times New Roman" panose="02020603050405020304" pitchFamily="18" charset="0"/>
                          <a:cs typeface="Times New Roman" panose="02020603050405020304" pitchFamily="18" charset="0"/>
                        </a:rPr>
                        <a:t> </a:t>
                      </a:r>
                      <a:r>
                        <a:rPr lang="en-US" sz="1600" spc="-20" dirty="0">
                          <a:effectLst/>
                          <a:latin typeface="Times New Roman" panose="02020603050405020304" pitchFamily="18" charset="0"/>
                          <a:cs typeface="Times New Roman" panose="02020603050405020304" pitchFamily="18" charset="0"/>
                        </a:rPr>
                        <a:t>:3&gt;,</a:t>
                      </a:r>
                      <a:r>
                        <a:rPr lang="en-US" sz="1600" dirty="0">
                          <a:effectLst/>
                          <a:latin typeface="Times New Roman" panose="02020603050405020304" pitchFamily="18" charset="0"/>
                          <a:cs typeface="Times New Roman" panose="02020603050405020304" pitchFamily="18" charset="0"/>
                        </a:rPr>
                        <a:t> &lt;f,</a:t>
                      </a:r>
                      <a:r>
                        <a:rPr lang="en-US" sz="1600" spc="-25" dirty="0">
                          <a:effectLst/>
                          <a:latin typeface="Times New Roman" panose="02020603050405020304" pitchFamily="18" charset="0"/>
                          <a:cs typeface="Times New Roman" panose="02020603050405020304" pitchFamily="18" charset="0"/>
                        </a:rPr>
                        <a:t> c, a, </a:t>
                      </a:r>
                      <a:r>
                        <a:rPr lang="en-US" sz="1600" dirty="0">
                          <a:effectLst/>
                          <a:latin typeface="Times New Roman" panose="02020603050405020304" pitchFamily="18" charset="0"/>
                          <a:cs typeface="Times New Roman" panose="02020603050405020304" pitchFamily="18" charset="0"/>
                        </a:rPr>
                        <a:t>m</a:t>
                      </a:r>
                      <a:r>
                        <a:rPr lang="en-US" sz="1600" spc="-10" dirty="0">
                          <a:effectLst/>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a:t>
                      </a:r>
                      <a:r>
                        <a:rPr lang="en-US" sz="1600" spc="-5" dirty="0">
                          <a:effectLst/>
                          <a:latin typeface="Times New Roman" panose="02020603050405020304" pitchFamily="18" charset="0"/>
                          <a:cs typeface="Times New Roman" panose="02020603050405020304" pitchFamily="18" charset="0"/>
                        </a:rPr>
                        <a:t> </a:t>
                      </a:r>
                      <a:r>
                        <a:rPr lang="en-US" sz="1600" spc="-25" dirty="0">
                          <a:effectLst/>
                          <a:latin typeface="Times New Roman" panose="02020603050405020304" pitchFamily="18" charset="0"/>
                          <a:cs typeface="Times New Roman" panose="02020603050405020304" pitchFamily="18" charset="0"/>
                        </a:rPr>
                        <a:t>3&gt;</a:t>
                      </a:r>
                      <a:r>
                        <a:rPr lang="en-US" sz="1600" dirty="0">
                          <a:effectLst/>
                          <a:latin typeface="Times New Roman" panose="02020603050405020304" pitchFamily="18" charset="0"/>
                          <a:cs typeface="Times New Roman" panose="02020603050405020304" pitchFamily="18" charset="0"/>
                        </a:rPr>
                        <a:t> </a:t>
                      </a:r>
                      <a:r>
                        <a:rPr lang="en-US" sz="1600" spc="-20" dirty="0">
                          <a:effectLst/>
                          <a:latin typeface="Times New Roman" panose="02020603050405020304" pitchFamily="18" charset="0"/>
                          <a:cs typeface="Times New Roman" panose="02020603050405020304" pitchFamily="18" charset="0"/>
                        </a:rPr>
                        <a:t>}</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005882561"/>
                  </a:ext>
                </a:extLst>
              </a:tr>
              <a:tr h="349698">
                <a:tc>
                  <a:txBody>
                    <a:bodyPr/>
                    <a:lstStyle/>
                    <a:p>
                      <a:pPr marL="27940">
                        <a:spcBef>
                          <a:spcPts val="100"/>
                        </a:spcBef>
                        <a:buNone/>
                      </a:pPr>
                      <a:r>
                        <a:rPr lang="en-US" sz="1600" spc="-50">
                          <a:effectLst/>
                          <a:latin typeface="Times New Roman" panose="02020603050405020304" pitchFamily="18" charset="0"/>
                          <a:cs typeface="Times New Roman" panose="02020603050405020304" pitchFamily="18" charset="0"/>
                        </a:rPr>
                        <a:t>b</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a:spcBef>
                          <a:spcPts val="75"/>
                        </a:spcBef>
                        <a:buNone/>
                      </a:pPr>
                      <a:r>
                        <a:rPr lang="en-US" sz="1600">
                          <a:effectLst/>
                          <a:latin typeface="Times New Roman" panose="02020603050405020304" pitchFamily="18" charset="0"/>
                          <a:cs typeface="Times New Roman" panose="02020603050405020304" pitchFamily="18" charset="0"/>
                        </a:rPr>
                        <a:t>{{f,</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c,</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1},</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{f</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1},</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{c</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t>
                      </a:r>
                      <a:r>
                        <a:rPr lang="en-US" sz="1600" spc="5">
                          <a:effectLst/>
                          <a:latin typeface="Times New Roman" panose="02020603050405020304" pitchFamily="18" charset="0"/>
                          <a:cs typeface="Times New Roman" panose="02020603050405020304" pitchFamily="18" charset="0"/>
                        </a:rPr>
                        <a:t> </a:t>
                      </a:r>
                      <a:r>
                        <a:rPr lang="en-US" sz="1600" spc="-25">
                          <a:effectLst/>
                          <a:latin typeface="Times New Roman" panose="02020603050405020304" pitchFamily="18" charset="0"/>
                          <a:cs typeface="Times New Roman" panose="02020603050405020304" pitchFamily="18" charset="0"/>
                        </a:rPr>
                        <a:t>1}}</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0">
                        <a:spcBef>
                          <a:spcPts val="75"/>
                        </a:spcBef>
                        <a:buNone/>
                      </a:pPr>
                      <a:r>
                        <a:rPr lang="en-US" sz="1600" spc="-50">
                          <a:effectLst/>
                          <a:latin typeface="Times New Roman" panose="02020603050405020304" pitchFamily="18" charset="0"/>
                          <a:cs typeface="Times New Roman" panose="02020603050405020304" pitchFamily="18" charset="0"/>
                        </a:rPr>
                        <a:t>Φ</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9050">
                        <a:spcBef>
                          <a:spcPts val="75"/>
                        </a:spcBef>
                        <a:buNone/>
                      </a:pPr>
                      <a:r>
                        <a:rPr lang="en-US" sz="1600" spc="-25">
                          <a:effectLst/>
                          <a:latin typeface="Times New Roman" panose="02020603050405020304" pitchFamily="18" charset="0"/>
                          <a:cs typeface="Times New Roman" panose="02020603050405020304" pitchFamily="18" charset="0"/>
                        </a:rPr>
                        <a:t>{}</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16935869"/>
                  </a:ext>
                </a:extLst>
              </a:tr>
              <a:tr h="349698">
                <a:tc>
                  <a:txBody>
                    <a:bodyPr/>
                    <a:lstStyle/>
                    <a:p>
                      <a:pPr marL="27940">
                        <a:spcBef>
                          <a:spcPts val="110"/>
                        </a:spcBef>
                        <a:buNone/>
                      </a:pPr>
                      <a:r>
                        <a:rPr lang="en-US" sz="1600" spc="-50">
                          <a:effectLst/>
                          <a:latin typeface="Times New Roman" panose="02020603050405020304" pitchFamily="18" charset="0"/>
                          <a:cs typeface="Times New Roman" panose="02020603050405020304" pitchFamily="18" charset="0"/>
                        </a:rPr>
                        <a:t>a</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a:spcBef>
                          <a:spcPts val="85"/>
                        </a:spcBef>
                        <a:buNone/>
                      </a:pPr>
                      <a:r>
                        <a:rPr lang="en-US" sz="1600">
                          <a:effectLst/>
                          <a:latin typeface="Times New Roman" panose="02020603050405020304" pitchFamily="18" charset="0"/>
                          <a:cs typeface="Times New Roman" panose="02020603050405020304" pitchFamily="18" charset="0"/>
                        </a:rPr>
                        <a:t>{{f,</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c</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t>
                      </a:r>
                      <a:r>
                        <a:rPr lang="en-US" sz="1600" spc="-10">
                          <a:effectLst/>
                          <a:latin typeface="Times New Roman" panose="02020603050405020304" pitchFamily="18" charset="0"/>
                          <a:cs typeface="Times New Roman" panose="02020603050405020304" pitchFamily="18" charset="0"/>
                        </a:rPr>
                        <a:t> </a:t>
                      </a:r>
                      <a:r>
                        <a:rPr lang="en-US" sz="1600" spc="-25">
                          <a:effectLst/>
                          <a:latin typeface="Times New Roman" panose="02020603050405020304" pitchFamily="18" charset="0"/>
                          <a:cs typeface="Times New Roman" panose="02020603050405020304" pitchFamily="18" charset="0"/>
                        </a:rPr>
                        <a:t>3}}</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9050">
                        <a:spcBef>
                          <a:spcPts val="85"/>
                        </a:spcBef>
                        <a:buNone/>
                      </a:pPr>
                      <a:r>
                        <a:rPr lang="en-US" sz="1600">
                          <a:effectLst/>
                          <a:latin typeface="Times New Roman" panose="02020603050405020304" pitchFamily="18" charset="0"/>
                          <a:cs typeface="Times New Roman" panose="02020603050405020304" pitchFamily="18" charset="0"/>
                        </a:rPr>
                        <a:t>{f,</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c</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t>
                      </a:r>
                      <a:r>
                        <a:rPr lang="en-US" sz="1600" spc="-10">
                          <a:effectLst/>
                          <a:latin typeface="Times New Roman" panose="02020603050405020304" pitchFamily="18" charset="0"/>
                          <a:cs typeface="Times New Roman" panose="02020603050405020304" pitchFamily="18" charset="0"/>
                        </a:rPr>
                        <a:t> </a:t>
                      </a:r>
                      <a:r>
                        <a:rPr lang="en-US" sz="1600" spc="-25">
                          <a:effectLst/>
                          <a:latin typeface="Times New Roman" panose="02020603050405020304" pitchFamily="18" charset="0"/>
                          <a:cs typeface="Times New Roman" panose="02020603050405020304" pitchFamily="18" charset="0"/>
                        </a:rPr>
                        <a:t>3}</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9050">
                        <a:spcBef>
                          <a:spcPts val="85"/>
                        </a:spcBef>
                        <a:buNone/>
                      </a:pPr>
                      <a:r>
                        <a:rPr lang="en-US" sz="1600">
                          <a:effectLst/>
                          <a:latin typeface="Times New Roman" panose="02020603050405020304" pitchFamily="18" charset="0"/>
                          <a:cs typeface="Times New Roman" panose="02020603050405020304" pitchFamily="18" charset="0"/>
                        </a:rPr>
                        <a:t>{&lt;f,</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a:t>
                      </a:r>
                      <a:r>
                        <a:rPr lang="en-US" sz="1600" spc="-2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3&gt;,</a:t>
                      </a:r>
                      <a:r>
                        <a:rPr lang="en-US" sz="1600" spc="-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&lt;c,</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3&gt;,</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&lt;f,</a:t>
                      </a:r>
                      <a:r>
                        <a:rPr lang="en-US" sz="1600" spc="-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c,</a:t>
                      </a:r>
                      <a:r>
                        <a:rPr lang="en-US" sz="1600" spc="-15">
                          <a:effectLst/>
                          <a:latin typeface="Times New Roman" panose="02020603050405020304" pitchFamily="18" charset="0"/>
                          <a:cs typeface="Times New Roman" panose="02020603050405020304" pitchFamily="18" charset="0"/>
                        </a:rPr>
                        <a:t> </a:t>
                      </a:r>
                      <a:r>
                        <a:rPr lang="en-US" sz="1600" spc="-20">
                          <a:effectLst/>
                          <a:latin typeface="Times New Roman" panose="02020603050405020304" pitchFamily="18" charset="0"/>
                          <a:cs typeface="Times New Roman" panose="02020603050405020304" pitchFamily="18" charset="0"/>
                        </a:rPr>
                        <a:t>a:3&gt;}</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282361810"/>
                  </a:ext>
                </a:extLst>
              </a:tr>
              <a:tr h="351850">
                <a:tc>
                  <a:txBody>
                    <a:bodyPr/>
                    <a:lstStyle/>
                    <a:p>
                      <a:pPr marL="27940">
                        <a:spcBef>
                          <a:spcPts val="110"/>
                        </a:spcBef>
                        <a:buNone/>
                      </a:pPr>
                      <a:r>
                        <a:rPr lang="en-US" sz="1600" spc="-50">
                          <a:effectLst/>
                          <a:latin typeface="Times New Roman" panose="02020603050405020304" pitchFamily="18" charset="0"/>
                          <a:cs typeface="Times New Roman" panose="02020603050405020304" pitchFamily="18" charset="0"/>
                        </a:rPr>
                        <a:t>c</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a:spcBef>
                          <a:spcPts val="85"/>
                        </a:spcBef>
                        <a:buNone/>
                      </a:pPr>
                      <a:r>
                        <a:rPr lang="en-US" sz="1600">
                          <a:effectLst/>
                          <a:latin typeface="Times New Roman" panose="02020603050405020304" pitchFamily="18" charset="0"/>
                          <a:cs typeface="Times New Roman" panose="02020603050405020304" pitchFamily="18" charset="0"/>
                        </a:rPr>
                        <a:t>{{f</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t>
                      </a:r>
                      <a:r>
                        <a:rPr lang="en-US" sz="1600" spc="-10">
                          <a:effectLst/>
                          <a:latin typeface="Times New Roman" panose="02020603050405020304" pitchFamily="18" charset="0"/>
                          <a:cs typeface="Times New Roman" panose="02020603050405020304" pitchFamily="18" charset="0"/>
                        </a:rPr>
                        <a:t> </a:t>
                      </a:r>
                      <a:r>
                        <a:rPr lang="en-US" sz="1600" spc="-25">
                          <a:effectLst/>
                          <a:latin typeface="Times New Roman" panose="02020603050405020304" pitchFamily="18" charset="0"/>
                          <a:cs typeface="Times New Roman" panose="02020603050405020304" pitchFamily="18" charset="0"/>
                        </a:rPr>
                        <a:t>3}}</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9050">
                        <a:spcBef>
                          <a:spcPts val="85"/>
                        </a:spcBef>
                        <a:buNone/>
                      </a:pPr>
                      <a:r>
                        <a:rPr lang="en-US" sz="1600">
                          <a:effectLst/>
                          <a:latin typeface="Times New Roman" panose="02020603050405020304" pitchFamily="18" charset="0"/>
                          <a:cs typeface="Times New Roman" panose="02020603050405020304" pitchFamily="18" charset="0"/>
                        </a:rPr>
                        <a:t>{f</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t>
                      </a:r>
                      <a:r>
                        <a:rPr lang="en-US" sz="1600" spc="-5">
                          <a:effectLst/>
                          <a:latin typeface="Times New Roman" panose="02020603050405020304" pitchFamily="18" charset="0"/>
                          <a:cs typeface="Times New Roman" panose="02020603050405020304" pitchFamily="18" charset="0"/>
                        </a:rPr>
                        <a:t> </a:t>
                      </a:r>
                      <a:r>
                        <a:rPr lang="en-US" sz="1600" spc="-25">
                          <a:effectLst/>
                          <a:latin typeface="Times New Roman" panose="02020603050405020304" pitchFamily="18" charset="0"/>
                          <a:cs typeface="Times New Roman" panose="02020603050405020304" pitchFamily="18" charset="0"/>
                        </a:rPr>
                        <a:t>3}</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9050">
                        <a:spcBef>
                          <a:spcPts val="85"/>
                        </a:spcBef>
                        <a:buNone/>
                      </a:pPr>
                      <a:r>
                        <a:rPr lang="en-US" sz="1600">
                          <a:effectLst/>
                          <a:latin typeface="Times New Roman" panose="02020603050405020304" pitchFamily="18" charset="0"/>
                          <a:cs typeface="Times New Roman" panose="02020603050405020304" pitchFamily="18" charset="0"/>
                        </a:rPr>
                        <a:t>{</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&lt;f,</a:t>
                      </a:r>
                      <a:r>
                        <a:rPr lang="en-US" sz="1600" spc="-10">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c</a:t>
                      </a:r>
                      <a:r>
                        <a:rPr lang="en-US" sz="1600" spc="-15">
                          <a:effectLst/>
                          <a:latin typeface="Times New Roman" panose="02020603050405020304" pitchFamily="18" charset="0"/>
                          <a:cs typeface="Times New Roman" panose="02020603050405020304" pitchFamily="18" charset="0"/>
                        </a:rPr>
                        <a:t> </a:t>
                      </a:r>
                      <a:r>
                        <a:rPr lang="en-US" sz="1600">
                          <a:effectLst/>
                          <a:latin typeface="Times New Roman" panose="02020603050405020304" pitchFamily="18" charset="0"/>
                          <a:cs typeface="Times New Roman" panose="02020603050405020304" pitchFamily="18" charset="0"/>
                        </a:rPr>
                        <a:t>:</a:t>
                      </a:r>
                      <a:r>
                        <a:rPr lang="en-US" sz="1600" spc="-10">
                          <a:effectLst/>
                          <a:latin typeface="Times New Roman" panose="02020603050405020304" pitchFamily="18" charset="0"/>
                          <a:cs typeface="Times New Roman" panose="02020603050405020304" pitchFamily="18" charset="0"/>
                        </a:rPr>
                        <a:t> </a:t>
                      </a:r>
                      <a:r>
                        <a:rPr lang="en-US" sz="1600" spc="-25">
                          <a:effectLst/>
                          <a:latin typeface="Times New Roman" panose="02020603050405020304" pitchFamily="18" charset="0"/>
                          <a:cs typeface="Times New Roman" panose="02020603050405020304" pitchFamily="18" charset="0"/>
                        </a:rPr>
                        <a:t>3&gt;}</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96603076"/>
                  </a:ext>
                </a:extLst>
              </a:tr>
              <a:tr h="350774">
                <a:tc>
                  <a:txBody>
                    <a:bodyPr/>
                    <a:lstStyle/>
                    <a:p>
                      <a:pPr marL="27940">
                        <a:spcBef>
                          <a:spcPts val="100"/>
                        </a:spcBef>
                        <a:buNone/>
                      </a:pPr>
                      <a:r>
                        <a:rPr lang="en-US" sz="1600" spc="-50">
                          <a:effectLst/>
                          <a:latin typeface="Times New Roman" panose="02020603050405020304" pitchFamily="18" charset="0"/>
                          <a:cs typeface="Times New Roman" panose="02020603050405020304" pitchFamily="18" charset="0"/>
                        </a:rPr>
                        <a:t>f</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a:spcBef>
                          <a:spcPts val="75"/>
                        </a:spcBef>
                        <a:buNone/>
                      </a:pPr>
                      <a:r>
                        <a:rPr lang="en-US" sz="1600" spc="-50">
                          <a:effectLst/>
                          <a:latin typeface="Times New Roman" panose="02020603050405020304" pitchFamily="18" charset="0"/>
                          <a:cs typeface="Times New Roman" panose="02020603050405020304" pitchFamily="18" charset="0"/>
                        </a:rPr>
                        <a:t>Φ</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0">
                        <a:spcBef>
                          <a:spcPts val="75"/>
                        </a:spcBef>
                        <a:buNone/>
                      </a:pPr>
                      <a:r>
                        <a:rPr lang="en-US" sz="1600" spc="-50">
                          <a:effectLst/>
                          <a:latin typeface="Times New Roman" panose="02020603050405020304" pitchFamily="18" charset="0"/>
                          <a:cs typeface="Times New Roman" panose="02020603050405020304" pitchFamily="18" charset="0"/>
                        </a:rPr>
                        <a:t>Φ</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9050">
                        <a:spcBef>
                          <a:spcPts val="75"/>
                        </a:spcBef>
                        <a:buNone/>
                      </a:pPr>
                      <a:r>
                        <a:rPr lang="en-US" sz="1600" spc="-25" dirty="0">
                          <a:effectLst/>
                          <a:latin typeface="Times New Roman" panose="02020603050405020304" pitchFamily="18" charset="0"/>
                          <a:cs typeface="Times New Roman" panose="02020603050405020304" pitchFamily="18" charset="0"/>
                        </a:rPr>
                        <a:t>{}</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108760758"/>
                  </a:ext>
                </a:extLst>
              </a:tr>
            </a:tbl>
          </a:graphicData>
        </a:graphic>
      </p:graphicFrame>
    </p:spTree>
    <p:extLst>
      <p:ext uri="{BB962C8B-B14F-4D97-AF65-F5344CB8AC3E}">
        <p14:creationId xmlns:p14="http://schemas.microsoft.com/office/powerpoint/2010/main" val="24846892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a:extLst>
              <a:ext uri="{FF2B5EF4-FFF2-40B4-BE49-F238E27FC236}">
                <a16:creationId xmlns:a16="http://schemas.microsoft.com/office/drawing/2014/main" id="{7A424209-576F-99C5-673A-23ADBB3D156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5DC6DD58-DD7B-448C-AD69-A328AA663D56}" type="slidenum">
              <a:rPr lang="en-US" altLang="en-US" sz="1200">
                <a:latin typeface="Times New Roman" panose="02020603050405020304" pitchFamily="18" charset="0"/>
                <a:cs typeface="Times New Roman" panose="02020603050405020304" pitchFamily="18" charset="0"/>
              </a:rPr>
              <a:pPr eaLnBrk="1" hangingPunct="1"/>
              <a:t>40</a:t>
            </a:fld>
            <a:endParaRPr lang="en-US" altLang="en-US" sz="1200">
              <a:latin typeface="Times New Roman" panose="02020603050405020304" pitchFamily="18" charset="0"/>
              <a:cs typeface="Times New Roman" panose="02020603050405020304" pitchFamily="18" charset="0"/>
            </a:endParaRPr>
          </a:p>
        </p:txBody>
      </p:sp>
      <p:sp>
        <p:nvSpPr>
          <p:cNvPr id="48131" name="Rectangle 2">
            <a:extLst>
              <a:ext uri="{FF2B5EF4-FFF2-40B4-BE49-F238E27FC236}">
                <a16:creationId xmlns:a16="http://schemas.microsoft.com/office/drawing/2014/main" id="{39EEAE8D-7008-6F37-5B40-03CDE3782520}"/>
              </a:ext>
            </a:extLst>
          </p:cNvPr>
          <p:cNvSpPr>
            <a:spLocks noGrp="1" noChangeArrowheads="1"/>
          </p:cNvSpPr>
          <p:nvPr>
            <p:ph type="title"/>
          </p:nvPr>
        </p:nvSpPr>
        <p:spPr>
          <a:xfrm>
            <a:off x="623888" y="422275"/>
            <a:ext cx="7989887" cy="568325"/>
          </a:xfrm>
        </p:spPr>
        <p:txBody>
          <a:bodyPr>
            <a:normAutofit fontScale="90000"/>
          </a:bodyPr>
          <a:lstStyle/>
          <a:p>
            <a:pPr eaLnBrk="1" hangingPunct="1"/>
            <a:r>
              <a:rPr lang="en-US" altLang="en-US" sz="3200">
                <a:latin typeface="Times New Roman" panose="02020603050405020304" pitchFamily="18" charset="0"/>
                <a:cs typeface="Times New Roman" panose="02020603050405020304" pitchFamily="18" charset="0"/>
              </a:rPr>
              <a:t>Benefits of the FP-tree Structure</a:t>
            </a:r>
          </a:p>
        </p:txBody>
      </p:sp>
      <p:sp>
        <p:nvSpPr>
          <p:cNvPr id="48132" name="Rectangle 3">
            <a:extLst>
              <a:ext uri="{FF2B5EF4-FFF2-40B4-BE49-F238E27FC236}">
                <a16:creationId xmlns:a16="http://schemas.microsoft.com/office/drawing/2014/main" id="{222BA9F8-C8EF-7089-F654-3DFC22FF9C81}"/>
              </a:ext>
            </a:extLst>
          </p:cNvPr>
          <p:cNvSpPr>
            <a:spLocks noGrp="1" noChangeArrowheads="1"/>
          </p:cNvSpPr>
          <p:nvPr>
            <p:ph type="body" idx="1"/>
          </p:nvPr>
        </p:nvSpPr>
        <p:spPr>
          <a:xfrm>
            <a:off x="304800" y="1447800"/>
            <a:ext cx="8610600" cy="5029200"/>
          </a:xfrm>
          <a:noFill/>
        </p:spPr>
        <p:txBody>
          <a:bodyPr/>
          <a:lstStyle/>
          <a:p>
            <a:pPr eaLnBrk="1" hangingPunct="1">
              <a:lnSpc>
                <a:spcPct val="110000"/>
              </a:lnSpc>
            </a:pPr>
            <a:r>
              <a:rPr lang="en-US" altLang="en-US" sz="2400" dirty="0">
                <a:latin typeface="Times New Roman" panose="02020603050405020304" pitchFamily="18" charset="0"/>
                <a:cs typeface="Times New Roman" panose="02020603050405020304" pitchFamily="18" charset="0"/>
              </a:rPr>
              <a:t>Completeness </a:t>
            </a:r>
          </a:p>
          <a:p>
            <a:pPr lvl="1" eaLnBrk="1" hangingPunct="1">
              <a:lnSpc>
                <a:spcPct val="110000"/>
              </a:lnSpc>
            </a:pPr>
            <a:r>
              <a:rPr lang="en-US" altLang="en-US" sz="2400" dirty="0">
                <a:latin typeface="Times New Roman" panose="02020603050405020304" pitchFamily="18" charset="0"/>
                <a:cs typeface="Times New Roman" panose="02020603050405020304" pitchFamily="18" charset="0"/>
              </a:rPr>
              <a:t>Preserve complete information for frequent pattern mining</a:t>
            </a:r>
          </a:p>
          <a:p>
            <a:pPr lvl="1" eaLnBrk="1" hangingPunct="1">
              <a:lnSpc>
                <a:spcPct val="110000"/>
              </a:lnSpc>
            </a:pPr>
            <a:r>
              <a:rPr lang="en-US" altLang="en-US" sz="2400" dirty="0">
                <a:latin typeface="Times New Roman" panose="02020603050405020304" pitchFamily="18" charset="0"/>
                <a:cs typeface="Times New Roman" panose="02020603050405020304" pitchFamily="18" charset="0"/>
              </a:rPr>
              <a:t>Never break a long pattern of any transaction</a:t>
            </a:r>
          </a:p>
          <a:p>
            <a:pPr eaLnBrk="1" hangingPunct="1">
              <a:lnSpc>
                <a:spcPct val="110000"/>
              </a:lnSpc>
            </a:pPr>
            <a:r>
              <a:rPr lang="en-US" altLang="en-US" sz="2400" dirty="0">
                <a:latin typeface="Times New Roman" panose="02020603050405020304" pitchFamily="18" charset="0"/>
                <a:cs typeface="Times New Roman" panose="02020603050405020304" pitchFamily="18" charset="0"/>
              </a:rPr>
              <a:t>Compactness</a:t>
            </a:r>
          </a:p>
          <a:p>
            <a:pPr lvl="1" eaLnBrk="1" hangingPunct="1">
              <a:lnSpc>
                <a:spcPct val="110000"/>
              </a:lnSpc>
            </a:pPr>
            <a:r>
              <a:rPr lang="en-US" altLang="en-US" sz="2400" dirty="0">
                <a:latin typeface="Times New Roman" panose="02020603050405020304" pitchFamily="18" charset="0"/>
                <a:cs typeface="Times New Roman" panose="02020603050405020304" pitchFamily="18" charset="0"/>
              </a:rPr>
              <a:t>Reduce irrelevant info—infrequent items are gone</a:t>
            </a:r>
          </a:p>
          <a:p>
            <a:pPr lvl="1" eaLnBrk="1" hangingPunct="1">
              <a:lnSpc>
                <a:spcPct val="110000"/>
              </a:lnSpc>
            </a:pPr>
            <a:r>
              <a:rPr lang="en-US" altLang="en-US" sz="2400" dirty="0">
                <a:latin typeface="Times New Roman" panose="02020603050405020304" pitchFamily="18" charset="0"/>
                <a:cs typeface="Times New Roman" panose="02020603050405020304" pitchFamily="18" charset="0"/>
              </a:rPr>
              <a:t>Items in frequency descending order: the more frequently occurring, the more likely to be shared</a:t>
            </a:r>
          </a:p>
          <a:p>
            <a:pPr lvl="1" eaLnBrk="1" hangingPunct="1">
              <a:lnSpc>
                <a:spcPct val="110000"/>
              </a:lnSpc>
            </a:pPr>
            <a:r>
              <a:rPr lang="en-US" altLang="en-US" sz="2400" dirty="0">
                <a:latin typeface="Times New Roman" panose="02020603050405020304" pitchFamily="18" charset="0"/>
                <a:cs typeface="Times New Roman" panose="02020603050405020304" pitchFamily="18" charset="0"/>
              </a:rPr>
              <a:t>Never be larger than the original database (not count node-links and the </a:t>
            </a:r>
            <a:r>
              <a:rPr lang="en-US" altLang="en-US" sz="2400" i="1" dirty="0">
                <a:latin typeface="Times New Roman" panose="02020603050405020304" pitchFamily="18" charset="0"/>
                <a:cs typeface="Times New Roman" panose="02020603050405020304" pitchFamily="18" charset="0"/>
              </a:rPr>
              <a:t>count</a:t>
            </a:r>
            <a:r>
              <a:rPr lang="en-US" altLang="en-US" sz="2400" dirty="0">
                <a:latin typeface="Times New Roman" panose="02020603050405020304" pitchFamily="18" charset="0"/>
                <a:cs typeface="Times New Roman" panose="02020603050405020304" pitchFamily="18" charset="0"/>
              </a:rPr>
              <a:t> field)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BD1793BF-B875-66A1-CC25-FB1666AE619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D72F3A5-3769-4CE4-823F-1DEC885C6F5F}" type="slidenum">
              <a:rPr lang="en-US" altLang="en-US" sz="1200">
                <a:latin typeface="Times New Roman" panose="02020603050405020304" pitchFamily="18" charset="0"/>
                <a:cs typeface="Times New Roman" panose="02020603050405020304" pitchFamily="18" charset="0"/>
              </a:rPr>
              <a:pPr eaLnBrk="1" hangingPunct="1"/>
              <a:t>41</a:t>
            </a:fld>
            <a:endParaRPr lang="en-US" altLang="en-US" sz="1200">
              <a:latin typeface="Times New Roman" panose="02020603050405020304" pitchFamily="18" charset="0"/>
              <a:cs typeface="Times New Roman" panose="02020603050405020304" pitchFamily="18" charset="0"/>
            </a:endParaRPr>
          </a:p>
        </p:txBody>
      </p:sp>
      <p:sp>
        <p:nvSpPr>
          <p:cNvPr id="49155" name="Rectangle 2">
            <a:extLst>
              <a:ext uri="{FF2B5EF4-FFF2-40B4-BE49-F238E27FC236}">
                <a16:creationId xmlns:a16="http://schemas.microsoft.com/office/drawing/2014/main" id="{B33DF9BF-A53E-9965-5A33-6271418B1C5D}"/>
              </a:ext>
            </a:extLst>
          </p:cNvPr>
          <p:cNvSpPr>
            <a:spLocks noGrp="1" noChangeArrowheads="1"/>
          </p:cNvSpPr>
          <p:nvPr>
            <p:ph type="title"/>
          </p:nvPr>
        </p:nvSpPr>
        <p:spPr>
          <a:xfrm>
            <a:off x="152400" y="228600"/>
            <a:ext cx="8763000" cy="762000"/>
          </a:xfrm>
        </p:spPr>
        <p:txBody>
          <a:bodyPr>
            <a:normAutofit/>
          </a:bodyPr>
          <a:lstStyle/>
          <a:p>
            <a:pPr eaLnBrk="1" hangingPunct="1"/>
            <a:r>
              <a:rPr lang="en-US" altLang="en-US" sz="3200">
                <a:latin typeface="Times New Roman" panose="02020603050405020304" pitchFamily="18" charset="0"/>
                <a:cs typeface="Times New Roman" panose="02020603050405020304" pitchFamily="18" charset="0"/>
              </a:rPr>
              <a:t>The Frequent Pattern Growth Mining Method</a:t>
            </a:r>
          </a:p>
        </p:txBody>
      </p:sp>
      <p:sp>
        <p:nvSpPr>
          <p:cNvPr id="49156" name="Rectangle 3">
            <a:extLst>
              <a:ext uri="{FF2B5EF4-FFF2-40B4-BE49-F238E27FC236}">
                <a16:creationId xmlns:a16="http://schemas.microsoft.com/office/drawing/2014/main" id="{C5ED24A4-A857-F25D-FBDD-4ECCB93F33BB}"/>
              </a:ext>
            </a:extLst>
          </p:cNvPr>
          <p:cNvSpPr>
            <a:spLocks noGrp="1" noChangeArrowheads="1"/>
          </p:cNvSpPr>
          <p:nvPr>
            <p:ph type="body" idx="1"/>
          </p:nvPr>
        </p:nvSpPr>
        <p:spPr>
          <a:xfrm>
            <a:off x="381000" y="1371600"/>
            <a:ext cx="8458200" cy="5283200"/>
          </a:xfrm>
        </p:spPr>
        <p:txBody>
          <a:bodyPr/>
          <a:lstStyle/>
          <a:p>
            <a:pPr eaLnBrk="1" hangingPunct="1"/>
            <a:r>
              <a:rPr lang="en-US" altLang="en-US" sz="2400" dirty="0">
                <a:latin typeface="Times New Roman" panose="02020603050405020304" pitchFamily="18" charset="0"/>
                <a:cs typeface="Times New Roman" panose="02020603050405020304" pitchFamily="18" charset="0"/>
              </a:rPr>
              <a:t>Idea: Frequent pattern growth</a:t>
            </a:r>
          </a:p>
          <a:p>
            <a:pPr lvl="1" eaLnBrk="1" hangingPunct="1"/>
            <a:r>
              <a:rPr lang="en-US" altLang="en-US" sz="2400" dirty="0">
                <a:latin typeface="Times New Roman" panose="02020603050405020304" pitchFamily="18" charset="0"/>
                <a:cs typeface="Times New Roman" panose="02020603050405020304" pitchFamily="18" charset="0"/>
              </a:rPr>
              <a:t>Recursively grow frequent patterns by pattern and database partition</a:t>
            </a:r>
          </a:p>
          <a:p>
            <a:pPr eaLnBrk="1" hangingPunct="1"/>
            <a:r>
              <a:rPr lang="en-US" altLang="en-US" sz="2400" dirty="0">
                <a:latin typeface="Times New Roman" panose="02020603050405020304" pitchFamily="18" charset="0"/>
                <a:cs typeface="Times New Roman" panose="02020603050405020304" pitchFamily="18" charset="0"/>
              </a:rPr>
              <a:t>Method </a:t>
            </a:r>
          </a:p>
          <a:p>
            <a:pPr lvl="1" eaLnBrk="1" hangingPunct="1"/>
            <a:r>
              <a:rPr lang="en-US" altLang="en-US" sz="2400" dirty="0">
                <a:latin typeface="Times New Roman" panose="02020603050405020304" pitchFamily="18" charset="0"/>
                <a:cs typeface="Times New Roman" panose="02020603050405020304" pitchFamily="18" charset="0"/>
              </a:rPr>
              <a:t>For each frequent item, construct its conditional pattern-base, and then its conditional FP-tree</a:t>
            </a:r>
          </a:p>
          <a:p>
            <a:pPr lvl="1" eaLnBrk="1" hangingPunct="1"/>
            <a:r>
              <a:rPr lang="en-US" altLang="en-US" sz="2400" dirty="0">
                <a:latin typeface="Times New Roman" panose="02020603050405020304" pitchFamily="18" charset="0"/>
                <a:cs typeface="Times New Roman" panose="02020603050405020304" pitchFamily="18" charset="0"/>
              </a:rPr>
              <a:t>Repeat the process on each newly created conditional FP-tree </a:t>
            </a:r>
          </a:p>
          <a:p>
            <a:pPr lvl="1" eaLnBrk="1" hangingPunct="1"/>
            <a:r>
              <a:rPr lang="en-US" altLang="en-US" sz="2400" dirty="0">
                <a:latin typeface="Times New Roman" panose="02020603050405020304" pitchFamily="18" charset="0"/>
                <a:cs typeface="Times New Roman" panose="02020603050405020304" pitchFamily="18" charset="0"/>
              </a:rPr>
              <a:t>Until the resulting FP-tree is empty, or it contains only one path—single path will generate all the combinations of its sub-paths, each of which is a frequent pattern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58AC8015-8E92-5C85-4505-7ED7B530CFF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DD517A44-4764-4CA0-8069-EFDDFF519245}" type="slidenum">
              <a:rPr lang="en-US" altLang="en-US" sz="1200">
                <a:latin typeface="Times New Roman" panose="02020603050405020304" pitchFamily="18" charset="0"/>
                <a:cs typeface="Times New Roman" panose="02020603050405020304" pitchFamily="18" charset="0"/>
              </a:rPr>
              <a:pPr eaLnBrk="1" hangingPunct="1"/>
              <a:t>42</a:t>
            </a:fld>
            <a:endParaRPr lang="en-US" altLang="en-US" sz="1200">
              <a:latin typeface="Times New Roman" panose="02020603050405020304" pitchFamily="18" charset="0"/>
              <a:cs typeface="Times New Roman" panose="02020603050405020304" pitchFamily="18" charset="0"/>
            </a:endParaRPr>
          </a:p>
        </p:txBody>
      </p:sp>
      <p:sp>
        <p:nvSpPr>
          <p:cNvPr id="50179" name="Rectangle 2">
            <a:extLst>
              <a:ext uri="{FF2B5EF4-FFF2-40B4-BE49-F238E27FC236}">
                <a16:creationId xmlns:a16="http://schemas.microsoft.com/office/drawing/2014/main" id="{6CFDE60E-5443-632B-898E-F931DFD09E9B}"/>
              </a:ext>
            </a:extLst>
          </p:cNvPr>
          <p:cNvSpPr>
            <a:spLocks noGrp="1" noChangeArrowheads="1"/>
          </p:cNvSpPr>
          <p:nvPr>
            <p:ph type="title"/>
          </p:nvPr>
        </p:nvSpPr>
        <p:spPr>
          <a:xfrm>
            <a:off x="381000" y="381000"/>
            <a:ext cx="8382000" cy="601663"/>
          </a:xfrm>
        </p:spPr>
        <p:txBody>
          <a:bodyPr lIns="92075" tIns="46038" rIns="92075" bIns="46038" anchor="ctr">
            <a:normAutofit/>
          </a:bodyPr>
          <a:lstStyle/>
          <a:p>
            <a:pPr eaLnBrk="1" hangingPunct="1"/>
            <a:r>
              <a:rPr lang="en-US" altLang="en-US" sz="3200">
                <a:latin typeface="Times New Roman" panose="02020603050405020304" pitchFamily="18" charset="0"/>
                <a:cs typeface="Times New Roman" panose="02020603050405020304" pitchFamily="18" charset="0"/>
              </a:rPr>
              <a:t>Scaling FP-growth by Database Projection</a:t>
            </a:r>
            <a:endParaRPr lang="en-US" altLang="en-US" sz="3200" b="1">
              <a:latin typeface="Times New Roman" panose="02020603050405020304" pitchFamily="18" charset="0"/>
              <a:cs typeface="Times New Roman" panose="02020603050405020304" pitchFamily="18" charset="0"/>
            </a:endParaRPr>
          </a:p>
        </p:txBody>
      </p:sp>
      <p:sp>
        <p:nvSpPr>
          <p:cNvPr id="50180" name="Rectangle 3">
            <a:extLst>
              <a:ext uri="{FF2B5EF4-FFF2-40B4-BE49-F238E27FC236}">
                <a16:creationId xmlns:a16="http://schemas.microsoft.com/office/drawing/2014/main" id="{A1D2D670-0418-2342-5877-5887887F8649}"/>
              </a:ext>
            </a:extLst>
          </p:cNvPr>
          <p:cNvSpPr>
            <a:spLocks noGrp="1" noChangeArrowheads="1"/>
          </p:cNvSpPr>
          <p:nvPr>
            <p:ph type="body" idx="1"/>
          </p:nvPr>
        </p:nvSpPr>
        <p:spPr>
          <a:xfrm>
            <a:off x="381000" y="1371600"/>
            <a:ext cx="8458200" cy="5105400"/>
          </a:xfrm>
          <a:noFill/>
        </p:spPr>
        <p:txBody>
          <a:bodyPr lIns="92075" tIns="46038" rIns="92075" bIns="46038"/>
          <a:lstStyle/>
          <a:p>
            <a:pPr eaLnBrk="1" hangingPunct="1">
              <a:lnSpc>
                <a:spcPct val="110000"/>
              </a:lnSpc>
            </a:pPr>
            <a:r>
              <a:rPr lang="en-US" altLang="en-US" sz="2000" dirty="0">
                <a:latin typeface="Times New Roman" panose="02020603050405020304" pitchFamily="18" charset="0"/>
                <a:cs typeface="Times New Roman" panose="02020603050405020304" pitchFamily="18" charset="0"/>
              </a:rPr>
              <a:t>What about if FP-tree cannot fit in memory?</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DB projection</a:t>
            </a:r>
          </a:p>
          <a:p>
            <a:pPr eaLnBrk="1" hangingPunct="1">
              <a:lnSpc>
                <a:spcPct val="110000"/>
              </a:lnSpc>
            </a:pPr>
            <a:r>
              <a:rPr lang="en-US" altLang="en-US" sz="2000" dirty="0">
                <a:latin typeface="Times New Roman" panose="02020603050405020304" pitchFamily="18" charset="0"/>
                <a:cs typeface="Times New Roman" panose="02020603050405020304" pitchFamily="18" charset="0"/>
              </a:rPr>
              <a:t>First partition a database into a set of projected DBs</a:t>
            </a:r>
          </a:p>
          <a:p>
            <a:pPr eaLnBrk="1" hangingPunct="1">
              <a:lnSpc>
                <a:spcPct val="110000"/>
              </a:lnSpc>
            </a:pPr>
            <a:r>
              <a:rPr lang="en-US" altLang="en-US" sz="2000" dirty="0">
                <a:latin typeface="Times New Roman" panose="02020603050405020304" pitchFamily="18" charset="0"/>
                <a:cs typeface="Times New Roman" panose="02020603050405020304" pitchFamily="18" charset="0"/>
              </a:rPr>
              <a:t>Then construct and mine FP-tree for each projected DB</a:t>
            </a:r>
          </a:p>
          <a:p>
            <a:pPr eaLnBrk="1" hangingPunct="1">
              <a:lnSpc>
                <a:spcPct val="110000"/>
              </a:lnSpc>
            </a:pPr>
            <a:r>
              <a:rPr lang="en-US" altLang="en-US" sz="2000" dirty="0">
                <a:solidFill>
                  <a:schemeClr val="hlink"/>
                </a:solidFill>
                <a:latin typeface="Times New Roman" panose="02020603050405020304" pitchFamily="18" charset="0"/>
                <a:cs typeface="Times New Roman" panose="02020603050405020304" pitchFamily="18" charset="0"/>
              </a:rPr>
              <a:t>Parallel projection</a:t>
            </a:r>
            <a:r>
              <a:rPr lang="en-US" altLang="en-US" sz="2000" dirty="0">
                <a:latin typeface="Times New Roman" panose="02020603050405020304" pitchFamily="18" charset="0"/>
                <a:cs typeface="Times New Roman" panose="02020603050405020304" pitchFamily="18" charset="0"/>
              </a:rPr>
              <a:t> vs. </a:t>
            </a:r>
            <a:r>
              <a:rPr lang="en-US" altLang="en-US" sz="2000" dirty="0">
                <a:solidFill>
                  <a:schemeClr val="hlink"/>
                </a:solidFill>
                <a:latin typeface="Times New Roman" panose="02020603050405020304" pitchFamily="18" charset="0"/>
                <a:cs typeface="Times New Roman" panose="02020603050405020304" pitchFamily="18" charset="0"/>
              </a:rPr>
              <a:t>partition projection</a:t>
            </a:r>
            <a:r>
              <a:rPr lang="en-US" altLang="en-US" sz="2000" dirty="0">
                <a:latin typeface="Times New Roman" panose="02020603050405020304" pitchFamily="18" charset="0"/>
                <a:cs typeface="Times New Roman" panose="02020603050405020304" pitchFamily="18" charset="0"/>
              </a:rPr>
              <a:t> techniques</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Parallel projection</a:t>
            </a:r>
          </a:p>
          <a:p>
            <a:pPr lvl="2" eaLnBrk="1" hangingPunct="1">
              <a:lnSpc>
                <a:spcPct val="110000"/>
              </a:lnSpc>
            </a:pPr>
            <a:r>
              <a:rPr lang="en-US" altLang="en-US" sz="2000" dirty="0">
                <a:latin typeface="Times New Roman" panose="02020603050405020304" pitchFamily="18" charset="0"/>
                <a:cs typeface="Times New Roman" panose="02020603050405020304" pitchFamily="18" charset="0"/>
              </a:rPr>
              <a:t>Project the DB in parallel for each frequent item</a:t>
            </a:r>
          </a:p>
          <a:p>
            <a:pPr lvl="2" eaLnBrk="1" hangingPunct="1">
              <a:lnSpc>
                <a:spcPct val="110000"/>
              </a:lnSpc>
            </a:pPr>
            <a:r>
              <a:rPr lang="en-US" altLang="en-US" sz="2000" dirty="0">
                <a:latin typeface="Times New Roman" panose="02020603050405020304" pitchFamily="18" charset="0"/>
                <a:cs typeface="Times New Roman" panose="02020603050405020304" pitchFamily="18" charset="0"/>
              </a:rPr>
              <a:t>Parallel projection is space costly</a:t>
            </a:r>
          </a:p>
          <a:p>
            <a:pPr lvl="2" eaLnBrk="1" hangingPunct="1">
              <a:lnSpc>
                <a:spcPct val="110000"/>
              </a:lnSpc>
            </a:pPr>
            <a:r>
              <a:rPr lang="en-US" altLang="en-US" sz="2000" dirty="0">
                <a:latin typeface="Times New Roman" panose="02020603050405020304" pitchFamily="18" charset="0"/>
                <a:cs typeface="Times New Roman" panose="02020603050405020304" pitchFamily="18" charset="0"/>
              </a:rPr>
              <a:t>All the partitions can be processed in parallel</a:t>
            </a:r>
          </a:p>
          <a:p>
            <a:pPr lvl="1" eaLnBrk="1" hangingPunct="1">
              <a:lnSpc>
                <a:spcPct val="110000"/>
              </a:lnSpc>
            </a:pPr>
            <a:r>
              <a:rPr lang="en-US" altLang="en-US" sz="2000" dirty="0">
                <a:latin typeface="Times New Roman" panose="02020603050405020304" pitchFamily="18" charset="0"/>
                <a:cs typeface="Times New Roman" panose="02020603050405020304" pitchFamily="18" charset="0"/>
              </a:rPr>
              <a:t>Partition projection</a:t>
            </a:r>
          </a:p>
          <a:p>
            <a:pPr lvl="2" eaLnBrk="1" hangingPunct="1">
              <a:lnSpc>
                <a:spcPct val="110000"/>
              </a:lnSpc>
            </a:pPr>
            <a:r>
              <a:rPr lang="en-US" altLang="en-US" sz="2000" dirty="0">
                <a:latin typeface="Times New Roman" panose="02020603050405020304" pitchFamily="18" charset="0"/>
                <a:cs typeface="Times New Roman" panose="02020603050405020304" pitchFamily="18" charset="0"/>
              </a:rPr>
              <a:t>Partition the DB based on the ordered frequent items</a:t>
            </a:r>
          </a:p>
          <a:p>
            <a:pPr lvl="2" eaLnBrk="1" hangingPunct="1">
              <a:lnSpc>
                <a:spcPct val="110000"/>
              </a:lnSpc>
            </a:pPr>
            <a:r>
              <a:rPr lang="en-US" altLang="en-US" sz="2000" dirty="0">
                <a:latin typeface="Times New Roman" panose="02020603050405020304" pitchFamily="18" charset="0"/>
                <a:cs typeface="Times New Roman" panose="02020603050405020304" pitchFamily="18" charset="0"/>
              </a:rPr>
              <a:t>Passing the unprocessed parts to the subsequent partitions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3677" y="310107"/>
            <a:ext cx="8940234" cy="444947"/>
          </a:xfrm>
          <a:prstGeom prst="rect">
            <a:avLst/>
          </a:prstGeom>
        </p:spPr>
        <p:txBody>
          <a:bodyPr vert="horz" wrap="square" lIns="0" tIns="12735" rIns="0" bIns="0" rtlCol="0" anchor="ctr">
            <a:spAutoFit/>
            <a:scene3d>
              <a:camera prst="orthographicFront"/>
              <a:lightRig rig="soft" dir="t"/>
            </a:scene3d>
            <a:sp3d prstMaterial="softEdge">
              <a:bevelT w="25400" h="25400"/>
            </a:sp3d>
          </a:bodyPr>
          <a:lstStyle/>
          <a:p>
            <a:pPr marL="3120212" marR="5094" indent="-3108113">
              <a:spcBef>
                <a:spcPts val="100"/>
              </a:spcBef>
            </a:pPr>
            <a:r>
              <a:rPr sz="2808" dirty="0">
                <a:solidFill>
                  <a:srgbClr val="002060"/>
                </a:solidFill>
                <a:latin typeface="Times New Roman" panose="02020603050405020304" pitchFamily="18" charset="0"/>
                <a:cs typeface="Times New Roman" panose="02020603050405020304" pitchFamily="18" charset="0"/>
              </a:rPr>
              <a:t>Mining</a:t>
            </a:r>
            <a:r>
              <a:rPr sz="2808" spc="-65" dirty="0">
                <a:solidFill>
                  <a:srgbClr val="002060"/>
                </a:solidFill>
                <a:latin typeface="Times New Roman" panose="02020603050405020304" pitchFamily="18" charset="0"/>
                <a:cs typeface="Times New Roman" panose="02020603050405020304" pitchFamily="18" charset="0"/>
              </a:rPr>
              <a:t> </a:t>
            </a:r>
            <a:r>
              <a:rPr sz="2808" dirty="0">
                <a:solidFill>
                  <a:srgbClr val="002060"/>
                </a:solidFill>
                <a:latin typeface="Times New Roman" panose="02020603050405020304" pitchFamily="18" charset="0"/>
                <a:cs typeface="Times New Roman" panose="02020603050405020304" pitchFamily="18" charset="0"/>
              </a:rPr>
              <a:t>Frequent</a:t>
            </a:r>
            <a:r>
              <a:rPr sz="2808" spc="-65" dirty="0">
                <a:solidFill>
                  <a:srgbClr val="002060"/>
                </a:solidFill>
                <a:latin typeface="Times New Roman" panose="02020603050405020304" pitchFamily="18" charset="0"/>
                <a:cs typeface="Times New Roman" panose="02020603050405020304" pitchFamily="18" charset="0"/>
              </a:rPr>
              <a:t> </a:t>
            </a:r>
            <a:r>
              <a:rPr sz="2808" dirty="0">
                <a:solidFill>
                  <a:srgbClr val="002060"/>
                </a:solidFill>
                <a:latin typeface="Times New Roman" panose="02020603050405020304" pitchFamily="18" charset="0"/>
                <a:cs typeface="Times New Roman" panose="02020603050405020304" pitchFamily="18" charset="0"/>
              </a:rPr>
              <a:t>Patterns</a:t>
            </a:r>
            <a:r>
              <a:rPr sz="2808" spc="-65" dirty="0">
                <a:solidFill>
                  <a:srgbClr val="002060"/>
                </a:solidFill>
                <a:latin typeface="Times New Roman" panose="02020603050405020304" pitchFamily="18" charset="0"/>
                <a:cs typeface="Times New Roman" panose="02020603050405020304" pitchFamily="18" charset="0"/>
              </a:rPr>
              <a:t> </a:t>
            </a:r>
            <a:r>
              <a:rPr sz="2808" dirty="0">
                <a:solidFill>
                  <a:srgbClr val="002060"/>
                </a:solidFill>
                <a:latin typeface="Times New Roman" panose="02020603050405020304" pitchFamily="18" charset="0"/>
                <a:cs typeface="Times New Roman" panose="02020603050405020304" pitchFamily="18" charset="0"/>
              </a:rPr>
              <a:t>Without</a:t>
            </a:r>
            <a:r>
              <a:rPr sz="2808" spc="-60" dirty="0">
                <a:solidFill>
                  <a:srgbClr val="002060"/>
                </a:solidFill>
                <a:latin typeface="Times New Roman" panose="02020603050405020304" pitchFamily="18" charset="0"/>
                <a:cs typeface="Times New Roman" panose="02020603050405020304" pitchFamily="18" charset="0"/>
              </a:rPr>
              <a:t> </a:t>
            </a:r>
            <a:r>
              <a:rPr sz="2808" spc="-10" dirty="0">
                <a:solidFill>
                  <a:srgbClr val="002060"/>
                </a:solidFill>
                <a:latin typeface="Times New Roman" panose="02020603050405020304" pitchFamily="18" charset="0"/>
                <a:cs typeface="Times New Roman" panose="02020603050405020304" pitchFamily="18" charset="0"/>
              </a:rPr>
              <a:t>Candidate</a:t>
            </a:r>
            <a:r>
              <a:rPr lang="en-IN" sz="2808" spc="-10" dirty="0">
                <a:solidFill>
                  <a:srgbClr val="002060"/>
                </a:solidFill>
                <a:latin typeface="Times New Roman" panose="02020603050405020304" pitchFamily="18" charset="0"/>
                <a:cs typeface="Times New Roman" panose="02020603050405020304" pitchFamily="18" charset="0"/>
              </a:rPr>
              <a:t> </a:t>
            </a:r>
            <a:r>
              <a:rPr sz="2808" spc="-10" dirty="0">
                <a:solidFill>
                  <a:srgbClr val="002060"/>
                </a:solidFill>
                <a:latin typeface="Times New Roman" panose="02020603050405020304" pitchFamily="18" charset="0"/>
                <a:cs typeface="Times New Roman" panose="02020603050405020304" pitchFamily="18" charset="0"/>
              </a:rPr>
              <a:t>Generation</a:t>
            </a:r>
            <a:endParaRPr sz="2808" dirty="0">
              <a:solidFill>
                <a:srgbClr val="00206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525461" y="1613853"/>
            <a:ext cx="8046210" cy="3110579"/>
          </a:xfrm>
          <a:prstGeom prst="rect">
            <a:avLst/>
          </a:prstGeom>
        </p:spPr>
        <p:txBody>
          <a:bodyPr vert="horz" wrap="square" lIns="0" tIns="48394" rIns="0" bIns="0" rtlCol="0">
            <a:spAutoFit/>
          </a:bodyPr>
          <a:lstStyle/>
          <a:p>
            <a:pPr marL="356596" indent="-343860">
              <a:spcBef>
                <a:spcPts val="381"/>
              </a:spcBef>
              <a:buChar char="•"/>
              <a:tabLst>
                <a:tab pos="356596" algn="l"/>
              </a:tabLst>
            </a:pPr>
            <a:r>
              <a:rPr sz="2006" dirty="0">
                <a:latin typeface="Times New Roman" panose="02020603050405020304" pitchFamily="18" charset="0"/>
                <a:cs typeface="Times New Roman" panose="02020603050405020304" pitchFamily="18" charset="0"/>
              </a:rPr>
              <a:t>Compress</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large</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database</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into</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compact,</a:t>
            </a:r>
            <a:r>
              <a:rPr sz="2006" spc="587" dirty="0">
                <a:latin typeface="Times New Roman" panose="02020603050405020304" pitchFamily="18" charset="0"/>
                <a:cs typeface="Times New Roman" panose="02020603050405020304" pitchFamily="18" charset="0"/>
              </a:rPr>
              <a:t> </a:t>
            </a:r>
            <a:r>
              <a:rPr sz="2006" spc="-10" dirty="0">
                <a:solidFill>
                  <a:srgbClr val="009A9A"/>
                </a:solidFill>
                <a:latin typeface="Times New Roman" panose="02020603050405020304" pitchFamily="18" charset="0"/>
                <a:cs typeface="Times New Roman" panose="02020603050405020304" pitchFamily="18" charset="0"/>
              </a:rPr>
              <a:t>Frequent-</a:t>
            </a:r>
            <a:r>
              <a:rPr lang="en-IN" sz="2006" spc="-1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Pattern</a:t>
            </a:r>
            <a:r>
              <a:rPr sz="2006" spc="-35"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tree</a:t>
            </a:r>
            <a:r>
              <a:rPr sz="2006" spc="-35" dirty="0">
                <a:solidFill>
                  <a:srgbClr val="009A9A"/>
                </a:solidFill>
                <a:latin typeface="Times New Roman" panose="02020603050405020304" pitchFamily="18" charset="0"/>
                <a:cs typeface="Times New Roman" panose="02020603050405020304" pitchFamily="18" charset="0"/>
              </a:rPr>
              <a:t> </a:t>
            </a:r>
            <a:r>
              <a:rPr sz="2006" spc="-10" dirty="0">
                <a:solidFill>
                  <a:srgbClr val="009A9A"/>
                </a:solidFill>
                <a:latin typeface="Times New Roman" panose="02020603050405020304" pitchFamily="18" charset="0"/>
                <a:cs typeface="Times New Roman" panose="02020603050405020304" pitchFamily="18" charset="0"/>
              </a:rPr>
              <a:t>(FP-</a:t>
            </a:r>
            <a:r>
              <a:rPr sz="2006" dirty="0">
                <a:solidFill>
                  <a:srgbClr val="009A9A"/>
                </a:solidFill>
                <a:latin typeface="Times New Roman" panose="02020603050405020304" pitchFamily="18" charset="0"/>
                <a:cs typeface="Times New Roman" panose="02020603050405020304" pitchFamily="18" charset="0"/>
              </a:rPr>
              <a:t>tree)</a:t>
            </a:r>
            <a:r>
              <a:rPr sz="2006" spc="-25" dirty="0">
                <a:solidFill>
                  <a:srgbClr val="009A9A"/>
                </a:solidFill>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structure</a:t>
            </a:r>
            <a:endParaRPr sz="2006" dirty="0">
              <a:latin typeface="Times New Roman" panose="02020603050405020304" pitchFamily="18" charset="0"/>
              <a:cs typeface="Times New Roman" panose="02020603050405020304" pitchFamily="18" charset="0"/>
            </a:endParaRPr>
          </a:p>
          <a:p>
            <a:pPr marL="757129" marR="5094" lvl="1" indent="-286550">
              <a:lnSpc>
                <a:spcPct val="110000"/>
              </a:lnSpc>
              <a:spcBef>
                <a:spcPts val="612"/>
              </a:spcBef>
              <a:buChar char="–"/>
              <a:tabLst>
                <a:tab pos="757129" algn="l"/>
              </a:tabLst>
            </a:pPr>
            <a:r>
              <a:rPr sz="2006" dirty="0">
                <a:solidFill>
                  <a:srgbClr val="009A9A"/>
                </a:solidFill>
                <a:latin typeface="Times New Roman" panose="02020603050405020304" pitchFamily="18" charset="0"/>
                <a:cs typeface="Times New Roman" panose="02020603050405020304" pitchFamily="18" charset="0"/>
              </a:rPr>
              <a:t>highly</a:t>
            </a:r>
            <a:r>
              <a:rPr sz="2006" spc="-35"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condensed</a:t>
            </a:r>
            <a:r>
              <a:rPr sz="2006" dirty="0">
                <a:latin typeface="Times New Roman" panose="02020603050405020304" pitchFamily="18" charset="0"/>
                <a:cs typeface="Times New Roman" panose="02020603050405020304" pitchFamily="18" charset="0"/>
              </a:rPr>
              <a:t>,</a:t>
            </a:r>
            <a:r>
              <a:rPr sz="2006" spc="-2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but</a:t>
            </a:r>
            <a:r>
              <a:rPr sz="2006" spc="-2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complete</a:t>
            </a:r>
            <a:r>
              <a:rPr sz="2006" spc="-2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for</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frequent</a:t>
            </a:r>
            <a:r>
              <a:rPr sz="2006" spc="-2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pattern mining</a:t>
            </a:r>
            <a:endParaRPr sz="2006" dirty="0">
              <a:latin typeface="Times New Roman" panose="02020603050405020304" pitchFamily="18" charset="0"/>
              <a:cs typeface="Times New Roman" panose="02020603050405020304" pitchFamily="18" charset="0"/>
            </a:endParaRPr>
          </a:p>
          <a:p>
            <a:pPr marL="757766" lvl="1" indent="-286550">
              <a:spcBef>
                <a:spcPts val="903"/>
              </a:spcBef>
              <a:buChar char="–"/>
              <a:tabLst>
                <a:tab pos="757766" algn="l"/>
              </a:tabLst>
            </a:pPr>
            <a:r>
              <a:rPr sz="2006" dirty="0">
                <a:solidFill>
                  <a:srgbClr val="009A9A"/>
                </a:solidFill>
                <a:latin typeface="Times New Roman" panose="02020603050405020304" pitchFamily="18" charset="0"/>
                <a:cs typeface="Times New Roman" panose="02020603050405020304" pitchFamily="18" charset="0"/>
              </a:rPr>
              <a:t>avoid</a:t>
            </a:r>
            <a:r>
              <a:rPr sz="2006" spc="-3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costly</a:t>
            </a:r>
            <a:r>
              <a:rPr sz="2006" spc="-3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database</a:t>
            </a:r>
            <a:r>
              <a:rPr sz="2006" spc="-25" dirty="0">
                <a:solidFill>
                  <a:srgbClr val="009A9A"/>
                </a:solidFill>
                <a:latin typeface="Times New Roman" panose="02020603050405020304" pitchFamily="18" charset="0"/>
                <a:cs typeface="Times New Roman" panose="02020603050405020304" pitchFamily="18" charset="0"/>
              </a:rPr>
              <a:t> </a:t>
            </a:r>
            <a:r>
              <a:rPr sz="2006" spc="-10" dirty="0">
                <a:solidFill>
                  <a:srgbClr val="009A9A"/>
                </a:solidFill>
                <a:latin typeface="Times New Roman" panose="02020603050405020304" pitchFamily="18" charset="0"/>
                <a:cs typeface="Times New Roman" panose="02020603050405020304" pitchFamily="18" charset="0"/>
              </a:rPr>
              <a:t>scans</a:t>
            </a:r>
            <a:endParaRPr sz="2006" dirty="0">
              <a:latin typeface="Times New Roman" panose="02020603050405020304" pitchFamily="18" charset="0"/>
              <a:cs typeface="Times New Roman" panose="02020603050405020304" pitchFamily="18" charset="0"/>
            </a:endParaRPr>
          </a:p>
          <a:p>
            <a:pPr marL="356596" marR="628500" indent="-343860">
              <a:lnSpc>
                <a:spcPct val="109800"/>
              </a:lnSpc>
              <a:spcBef>
                <a:spcPts val="567"/>
              </a:spcBef>
              <a:buChar char="•"/>
              <a:tabLst>
                <a:tab pos="356596" algn="l"/>
              </a:tabLst>
            </a:pPr>
            <a:r>
              <a:rPr sz="2006" dirty="0">
                <a:latin typeface="Times New Roman" panose="02020603050405020304" pitchFamily="18" charset="0"/>
                <a:cs typeface="Times New Roman" panose="02020603050405020304" pitchFamily="18" charset="0"/>
              </a:rPr>
              <a:t>Develop</a:t>
            </a:r>
            <a:r>
              <a:rPr sz="2006" spc="-7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an</a:t>
            </a:r>
            <a:r>
              <a:rPr sz="2006" spc="-65" dirty="0">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efficient</a:t>
            </a:r>
            <a:r>
              <a:rPr sz="2006" dirty="0">
                <a:latin typeface="Times New Roman" panose="02020603050405020304" pitchFamily="18" charset="0"/>
                <a:cs typeface="Times New Roman" panose="02020603050405020304" pitchFamily="18" charset="0"/>
              </a:rPr>
              <a:t>,</a:t>
            </a:r>
            <a:r>
              <a:rPr sz="2006" spc="-70" dirty="0">
                <a:latin typeface="Times New Roman" panose="02020603050405020304" pitchFamily="18" charset="0"/>
                <a:cs typeface="Times New Roman" panose="02020603050405020304" pitchFamily="18" charset="0"/>
              </a:rPr>
              <a:t> </a:t>
            </a:r>
            <a:r>
              <a:rPr sz="2006" spc="-25" dirty="0">
                <a:latin typeface="Times New Roman" panose="02020603050405020304" pitchFamily="18" charset="0"/>
                <a:cs typeface="Times New Roman" panose="02020603050405020304" pitchFamily="18" charset="0"/>
              </a:rPr>
              <a:t>FP-</a:t>
            </a:r>
            <a:r>
              <a:rPr sz="2006" spc="-20" dirty="0">
                <a:latin typeface="Times New Roman" panose="02020603050405020304" pitchFamily="18" charset="0"/>
                <a:cs typeface="Times New Roman" panose="02020603050405020304" pitchFamily="18" charset="0"/>
              </a:rPr>
              <a:t>tree-</a:t>
            </a:r>
            <a:r>
              <a:rPr sz="2006" dirty="0">
                <a:latin typeface="Times New Roman" panose="02020603050405020304" pitchFamily="18" charset="0"/>
                <a:cs typeface="Times New Roman" panose="02020603050405020304" pitchFamily="18" charset="0"/>
              </a:rPr>
              <a:t>based</a:t>
            </a:r>
            <a:r>
              <a:rPr sz="2006" spc="-7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frequent</a:t>
            </a:r>
            <a:r>
              <a:rPr sz="2006" spc="-70"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pattern </a:t>
            </a:r>
            <a:r>
              <a:rPr sz="2006" dirty="0">
                <a:latin typeface="Times New Roman" panose="02020603050405020304" pitchFamily="18" charset="0"/>
                <a:cs typeface="Times New Roman" panose="02020603050405020304" pitchFamily="18" charset="0"/>
              </a:rPr>
              <a:t>mining</a:t>
            </a:r>
            <a:r>
              <a:rPr sz="2006" spc="-7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method</a:t>
            </a:r>
            <a:endParaRPr sz="2006" dirty="0">
              <a:latin typeface="Times New Roman" panose="02020603050405020304" pitchFamily="18" charset="0"/>
              <a:cs typeface="Times New Roman" panose="02020603050405020304" pitchFamily="18" charset="0"/>
            </a:endParaRPr>
          </a:p>
          <a:p>
            <a:pPr marL="757129" marR="522158" lvl="1" indent="-286550">
              <a:lnSpc>
                <a:spcPct val="110000"/>
              </a:lnSpc>
              <a:spcBef>
                <a:spcPts val="612"/>
              </a:spcBef>
              <a:buChar char="–"/>
              <a:tabLst>
                <a:tab pos="757129" algn="l"/>
              </a:tabLst>
            </a:pPr>
            <a:r>
              <a:rPr sz="2006" dirty="0">
                <a:latin typeface="Times New Roman" panose="02020603050405020304" pitchFamily="18" charset="0"/>
                <a:cs typeface="Times New Roman" panose="02020603050405020304" pitchFamily="18" charset="0"/>
              </a:rPr>
              <a:t>A</a:t>
            </a:r>
            <a:r>
              <a:rPr sz="2006" spc="-10" dirty="0">
                <a:latin typeface="Times New Roman" panose="02020603050405020304" pitchFamily="18" charset="0"/>
                <a:cs typeface="Times New Roman" panose="02020603050405020304" pitchFamily="18" charset="0"/>
              </a:rPr>
              <a:t> divide-and-</a:t>
            </a:r>
            <a:r>
              <a:rPr sz="2006" dirty="0">
                <a:latin typeface="Times New Roman" panose="02020603050405020304" pitchFamily="18" charset="0"/>
                <a:cs typeface="Times New Roman" panose="02020603050405020304" pitchFamily="18" charset="0"/>
              </a:rPr>
              <a:t>conquer</a:t>
            </a:r>
            <a:r>
              <a:rPr sz="2006" spc="-1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methodology:</a:t>
            </a:r>
            <a:r>
              <a:rPr sz="2006" spc="-10" dirty="0">
                <a:latin typeface="Times New Roman" panose="02020603050405020304" pitchFamily="18" charset="0"/>
                <a:cs typeface="Times New Roman" panose="02020603050405020304" pitchFamily="18" charset="0"/>
              </a:rPr>
              <a:t> decompose </a:t>
            </a:r>
            <a:r>
              <a:rPr sz="2006" dirty="0">
                <a:latin typeface="Times New Roman" panose="02020603050405020304" pitchFamily="18" charset="0"/>
                <a:cs typeface="Times New Roman" panose="02020603050405020304" pitchFamily="18" charset="0"/>
              </a:rPr>
              <a:t>mining</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tasks</a:t>
            </a:r>
            <a:r>
              <a:rPr sz="2006" spc="-2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into</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smaller</a:t>
            </a:r>
            <a:r>
              <a:rPr sz="2006" spc="-25" dirty="0">
                <a:latin typeface="Times New Roman" panose="02020603050405020304" pitchFamily="18" charset="0"/>
                <a:cs typeface="Times New Roman" panose="02020603050405020304" pitchFamily="18" charset="0"/>
              </a:rPr>
              <a:t> </a:t>
            </a:r>
            <a:r>
              <a:rPr sz="2006" spc="-20" dirty="0">
                <a:latin typeface="Times New Roman" panose="02020603050405020304" pitchFamily="18" charset="0"/>
                <a:cs typeface="Times New Roman" panose="02020603050405020304" pitchFamily="18" charset="0"/>
              </a:rPr>
              <a:t>ones</a:t>
            </a:r>
            <a:endParaRPr sz="2006" dirty="0">
              <a:latin typeface="Times New Roman" panose="02020603050405020304" pitchFamily="18" charset="0"/>
              <a:cs typeface="Times New Roman" panose="02020603050405020304" pitchFamily="18" charset="0"/>
            </a:endParaRPr>
          </a:p>
          <a:p>
            <a:pPr marL="757129" marR="717012" lvl="1" indent="-286550">
              <a:lnSpc>
                <a:spcPct val="110000"/>
              </a:lnSpc>
              <a:spcBef>
                <a:spcPts val="602"/>
              </a:spcBef>
              <a:buChar char="–"/>
              <a:tabLst>
                <a:tab pos="757129" algn="l"/>
              </a:tabLst>
            </a:pPr>
            <a:r>
              <a:rPr sz="2006" dirty="0">
                <a:solidFill>
                  <a:srgbClr val="009A9A"/>
                </a:solidFill>
                <a:latin typeface="Times New Roman" panose="02020603050405020304" pitchFamily="18" charset="0"/>
                <a:cs typeface="Times New Roman" panose="02020603050405020304" pitchFamily="18" charset="0"/>
              </a:rPr>
              <a:t>Avoid</a:t>
            </a:r>
            <a:r>
              <a:rPr sz="2006" spc="-4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candidate</a:t>
            </a:r>
            <a:r>
              <a:rPr sz="2006" spc="-4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generation</a:t>
            </a:r>
            <a:r>
              <a:rPr sz="2006" dirty="0">
                <a:latin typeface="Times New Roman" panose="02020603050405020304" pitchFamily="18" charset="0"/>
                <a:cs typeface="Times New Roman" panose="02020603050405020304" pitchFamily="18" charset="0"/>
              </a:rPr>
              <a:t>:</a:t>
            </a:r>
            <a:r>
              <a:rPr sz="2006" spc="-30"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sub-</a:t>
            </a:r>
            <a:r>
              <a:rPr sz="2006" dirty="0">
                <a:latin typeface="Times New Roman" panose="02020603050405020304" pitchFamily="18" charset="0"/>
                <a:cs typeface="Times New Roman" panose="02020603050405020304" pitchFamily="18" charset="0"/>
              </a:rPr>
              <a:t>database</a:t>
            </a:r>
            <a:r>
              <a:rPr sz="2006" spc="-35" dirty="0">
                <a:latin typeface="Times New Roman" panose="02020603050405020304" pitchFamily="18" charset="0"/>
                <a:cs typeface="Times New Roman" panose="02020603050405020304" pitchFamily="18" charset="0"/>
              </a:rPr>
              <a:t> </a:t>
            </a:r>
            <a:r>
              <a:rPr sz="2006" spc="-20" dirty="0">
                <a:latin typeface="Times New Roman" panose="02020603050405020304" pitchFamily="18" charset="0"/>
                <a:cs typeface="Times New Roman" panose="02020603050405020304" pitchFamily="18" charset="0"/>
              </a:rPr>
              <a:t>test </a:t>
            </a:r>
            <a:r>
              <a:rPr sz="2006" spc="-10" dirty="0">
                <a:latin typeface="Times New Roman" panose="02020603050405020304" pitchFamily="18" charset="0"/>
                <a:cs typeface="Times New Roman" panose="02020603050405020304" pitchFamily="18" charset="0"/>
              </a:rPr>
              <a:t>only!</a:t>
            </a:r>
            <a:endParaRPr sz="2006"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8473" y="97585"/>
            <a:ext cx="8252524" cy="1508190"/>
          </a:xfrm>
          <a:prstGeom prst="rect">
            <a:avLst/>
          </a:prstGeom>
        </p:spPr>
        <p:txBody>
          <a:bodyPr vert="horz" wrap="square" lIns="0" tIns="240444" rIns="0" bIns="0" rtlCol="0" anchor="ctr">
            <a:spAutoFit/>
            <a:scene3d>
              <a:camera prst="orthographicFront"/>
              <a:lightRig rig="soft" dir="t"/>
            </a:scene3d>
            <a:sp3d prstMaterial="softEdge">
              <a:bevelT w="25400" h="25400"/>
            </a:sp3d>
          </a:bodyPr>
          <a:lstStyle/>
          <a:p>
            <a:pPr marL="874933">
              <a:spcBef>
                <a:spcPts val="100"/>
              </a:spcBef>
            </a:pPr>
            <a:r>
              <a:rPr spc="-10" dirty="0"/>
              <a:t>FP-</a:t>
            </a:r>
            <a:r>
              <a:rPr dirty="0"/>
              <a:t>Growth</a:t>
            </a:r>
            <a:r>
              <a:rPr spc="-25" dirty="0"/>
              <a:t> </a:t>
            </a:r>
            <a:r>
              <a:rPr dirty="0"/>
              <a:t>Method</a:t>
            </a:r>
            <a:r>
              <a:rPr spc="-15" dirty="0"/>
              <a:t> </a:t>
            </a:r>
            <a:r>
              <a:rPr dirty="0"/>
              <a:t>:</a:t>
            </a:r>
            <a:r>
              <a:rPr spc="-15" dirty="0"/>
              <a:t> </a:t>
            </a:r>
            <a:r>
              <a:rPr dirty="0"/>
              <a:t>An</a:t>
            </a:r>
            <a:r>
              <a:rPr spc="-15" dirty="0"/>
              <a:t> </a:t>
            </a:r>
            <a:r>
              <a:rPr spc="-10" dirty="0"/>
              <a:t>Example</a:t>
            </a:r>
          </a:p>
        </p:txBody>
      </p:sp>
      <p:sp>
        <p:nvSpPr>
          <p:cNvPr id="3" name="object 3"/>
          <p:cNvSpPr txBox="1"/>
          <p:nvPr/>
        </p:nvSpPr>
        <p:spPr>
          <a:xfrm>
            <a:off x="4728136" y="1596888"/>
            <a:ext cx="3834622" cy="4492552"/>
          </a:xfrm>
          <a:prstGeom prst="rect">
            <a:avLst/>
          </a:prstGeom>
        </p:spPr>
        <p:txBody>
          <a:bodyPr vert="horz" wrap="square" lIns="0" tIns="42664" rIns="0" bIns="0" rtlCol="0">
            <a:spAutoFit/>
          </a:bodyPr>
          <a:lstStyle/>
          <a:p>
            <a:pPr marL="355959" marR="301196" indent="-343860" algn="just">
              <a:lnSpc>
                <a:spcPct val="90100"/>
              </a:lnSpc>
              <a:spcBef>
                <a:spcPts val="336"/>
              </a:spcBef>
              <a:buChar char="•"/>
              <a:tabLst>
                <a:tab pos="355959" algn="l"/>
              </a:tabLst>
            </a:pPr>
            <a:r>
              <a:rPr sz="2006" dirty="0">
                <a:latin typeface="Times New Roman" panose="02020603050405020304" pitchFamily="18" charset="0"/>
                <a:cs typeface="Times New Roman" panose="02020603050405020304" pitchFamily="18" charset="0"/>
              </a:rPr>
              <a:t>Consider</a:t>
            </a:r>
            <a:r>
              <a:rPr sz="2006" spc="-5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the</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same</a:t>
            </a:r>
            <a:r>
              <a:rPr sz="2006" spc="-50"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previous </a:t>
            </a:r>
            <a:r>
              <a:rPr sz="2006" dirty="0">
                <a:latin typeface="Times New Roman" panose="02020603050405020304" pitchFamily="18" charset="0"/>
                <a:cs typeface="Times New Roman" panose="02020603050405020304" pitchFamily="18" charset="0"/>
              </a:rPr>
              <a:t>example</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of</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database,</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D</a:t>
            </a:r>
            <a:r>
              <a:rPr sz="2006" spc="-40" dirty="0">
                <a:latin typeface="Times New Roman" panose="02020603050405020304" pitchFamily="18" charset="0"/>
                <a:cs typeface="Times New Roman" panose="02020603050405020304" pitchFamily="18" charset="0"/>
              </a:rPr>
              <a:t> </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consisting</a:t>
            </a:r>
            <a:r>
              <a:rPr sz="2006" spc="-5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of</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9</a:t>
            </a:r>
            <a:r>
              <a:rPr sz="2006" spc="-5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transactions.</a:t>
            </a:r>
            <a:endParaRPr sz="2006" dirty="0">
              <a:latin typeface="Times New Roman" panose="02020603050405020304" pitchFamily="18" charset="0"/>
              <a:cs typeface="Times New Roman" panose="02020603050405020304" pitchFamily="18" charset="0"/>
            </a:endParaRPr>
          </a:p>
          <a:p>
            <a:pPr marL="352138" marR="301833" indent="-340039" algn="just">
              <a:lnSpc>
                <a:spcPct val="90100"/>
              </a:lnSpc>
              <a:spcBef>
                <a:spcPts val="471"/>
              </a:spcBef>
              <a:buChar char="•"/>
              <a:tabLst>
                <a:tab pos="355959" algn="l"/>
              </a:tabLst>
            </a:pPr>
            <a:r>
              <a:rPr sz="2006" dirty="0">
                <a:latin typeface="Times New Roman" panose="02020603050405020304" pitchFamily="18" charset="0"/>
                <a:cs typeface="Times New Roman" panose="02020603050405020304" pitchFamily="18" charset="0"/>
              </a:rPr>
              <a:t>Suppose</a:t>
            </a:r>
            <a:r>
              <a:rPr sz="2006" spc="-5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min.</a:t>
            </a:r>
            <a:r>
              <a:rPr sz="2006" spc="-5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support</a:t>
            </a:r>
            <a:r>
              <a:rPr sz="2006" spc="-5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count 	</a:t>
            </a:r>
            <a:r>
              <a:rPr sz="2006" dirty="0">
                <a:latin typeface="Times New Roman" panose="02020603050405020304" pitchFamily="18" charset="0"/>
                <a:cs typeface="Times New Roman" panose="02020603050405020304" pitchFamily="18" charset="0"/>
              </a:rPr>
              <a:t>required</a:t>
            </a:r>
            <a:r>
              <a:rPr sz="2006" spc="-5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is</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2</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(i.e.</a:t>
            </a:r>
            <a:r>
              <a:rPr sz="2006" spc="-45" dirty="0">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min_sup</a:t>
            </a:r>
            <a:r>
              <a:rPr sz="2006" spc="-50" dirty="0">
                <a:solidFill>
                  <a:srgbClr val="009A9A"/>
                </a:solidFill>
                <a:latin typeface="Times New Roman" panose="02020603050405020304" pitchFamily="18" charset="0"/>
                <a:cs typeface="Times New Roman" panose="02020603050405020304" pitchFamily="18" charset="0"/>
              </a:rPr>
              <a:t> = 	</a:t>
            </a:r>
            <a:r>
              <a:rPr sz="2006" dirty="0">
                <a:solidFill>
                  <a:srgbClr val="009A9A"/>
                </a:solidFill>
                <a:latin typeface="Times New Roman" panose="02020603050405020304" pitchFamily="18" charset="0"/>
                <a:cs typeface="Times New Roman" panose="02020603050405020304" pitchFamily="18" charset="0"/>
              </a:rPr>
              <a:t>2/9</a:t>
            </a:r>
            <a:r>
              <a:rPr sz="2006" spc="-15"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a:t>
            </a:r>
            <a:r>
              <a:rPr sz="2006" spc="-15"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22</a:t>
            </a:r>
            <a:r>
              <a:rPr sz="2006" spc="-15"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a:t>
            </a:r>
            <a:r>
              <a:rPr sz="2006" spc="-15" dirty="0">
                <a:solidFill>
                  <a:srgbClr val="009A9A"/>
                </a:solidFill>
                <a:latin typeface="Times New Roman" panose="02020603050405020304" pitchFamily="18" charset="0"/>
                <a:cs typeface="Times New Roman" panose="02020603050405020304" pitchFamily="18" charset="0"/>
              </a:rPr>
              <a:t> </a:t>
            </a:r>
            <a:r>
              <a:rPr sz="2006" spc="-50" dirty="0">
                <a:latin typeface="Times New Roman" panose="02020603050405020304" pitchFamily="18" charset="0"/>
                <a:cs typeface="Times New Roman" panose="02020603050405020304" pitchFamily="18" charset="0"/>
              </a:rPr>
              <a:t>)</a:t>
            </a:r>
            <a:endParaRPr sz="2006" dirty="0">
              <a:latin typeface="Times New Roman" panose="02020603050405020304" pitchFamily="18" charset="0"/>
              <a:cs typeface="Times New Roman" panose="02020603050405020304" pitchFamily="18" charset="0"/>
            </a:endParaRPr>
          </a:p>
          <a:p>
            <a:pPr marL="355959" marR="16556" indent="-343860" algn="just">
              <a:lnSpc>
                <a:spcPct val="90100"/>
              </a:lnSpc>
              <a:spcBef>
                <a:spcPts val="481"/>
              </a:spcBef>
              <a:buChar char="•"/>
              <a:tabLst>
                <a:tab pos="355959" algn="l"/>
              </a:tabLst>
            </a:pPr>
            <a:r>
              <a:rPr sz="2006" dirty="0">
                <a:latin typeface="Times New Roman" panose="02020603050405020304" pitchFamily="18" charset="0"/>
                <a:cs typeface="Times New Roman" panose="02020603050405020304" pitchFamily="18" charset="0"/>
              </a:rPr>
              <a:t>The</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first</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scan</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of</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database</a:t>
            </a:r>
            <a:r>
              <a:rPr sz="2006" spc="-45" dirty="0">
                <a:latin typeface="Times New Roman" panose="02020603050405020304" pitchFamily="18" charset="0"/>
                <a:cs typeface="Times New Roman" panose="02020603050405020304" pitchFamily="18" charset="0"/>
              </a:rPr>
              <a:t> </a:t>
            </a:r>
            <a:r>
              <a:rPr sz="2006" spc="-25" dirty="0">
                <a:latin typeface="Times New Roman" panose="02020603050405020304" pitchFamily="18" charset="0"/>
                <a:cs typeface="Times New Roman" panose="02020603050405020304" pitchFamily="18" charset="0"/>
              </a:rPr>
              <a:t>is </a:t>
            </a:r>
            <a:r>
              <a:rPr sz="2006" dirty="0">
                <a:latin typeface="Times New Roman" panose="02020603050405020304" pitchFamily="18" charset="0"/>
                <a:cs typeface="Times New Roman" panose="02020603050405020304" pitchFamily="18" charset="0"/>
              </a:rPr>
              <a:t>same</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as</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Apriori,</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which</a:t>
            </a:r>
            <a:r>
              <a:rPr sz="2006" spc="-4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derives </a:t>
            </a:r>
            <a:r>
              <a:rPr sz="2006" dirty="0">
                <a:latin typeface="Times New Roman" panose="02020603050405020304" pitchFamily="18" charset="0"/>
                <a:cs typeface="Times New Roman" panose="02020603050405020304" pitchFamily="18" charset="0"/>
              </a:rPr>
              <a:t>the</a:t>
            </a:r>
            <a:r>
              <a:rPr sz="2006" spc="-2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set</a:t>
            </a:r>
            <a:r>
              <a:rPr sz="2006" spc="-2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of</a:t>
            </a:r>
            <a:r>
              <a:rPr sz="2006" spc="-20"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1-</a:t>
            </a:r>
            <a:r>
              <a:rPr sz="2006" dirty="0">
                <a:latin typeface="Times New Roman" panose="02020603050405020304" pitchFamily="18" charset="0"/>
                <a:cs typeface="Times New Roman" panose="02020603050405020304" pitchFamily="18" charset="0"/>
              </a:rPr>
              <a:t>itemsets</a:t>
            </a:r>
            <a:r>
              <a:rPr sz="2006" spc="-2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&amp;</a:t>
            </a:r>
            <a:r>
              <a:rPr sz="2006" spc="-20"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their </a:t>
            </a:r>
            <a:r>
              <a:rPr sz="2006" dirty="0">
                <a:latin typeface="Times New Roman" panose="02020603050405020304" pitchFamily="18" charset="0"/>
                <a:cs typeface="Times New Roman" panose="02020603050405020304" pitchFamily="18" charset="0"/>
              </a:rPr>
              <a:t>support</a:t>
            </a:r>
            <a:r>
              <a:rPr sz="2006" spc="-3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counts.</a:t>
            </a:r>
            <a:endParaRPr sz="2006" dirty="0">
              <a:latin typeface="Times New Roman" panose="02020603050405020304" pitchFamily="18" charset="0"/>
              <a:cs typeface="Times New Roman" panose="02020603050405020304" pitchFamily="18" charset="0"/>
            </a:endParaRPr>
          </a:p>
          <a:p>
            <a:pPr marL="355959" marR="403080" indent="-343860" algn="just">
              <a:lnSpc>
                <a:spcPts val="2166"/>
              </a:lnSpc>
              <a:spcBef>
                <a:spcPts val="510"/>
              </a:spcBef>
              <a:buChar char="•"/>
              <a:tabLst>
                <a:tab pos="355959" algn="l"/>
              </a:tabLst>
            </a:pPr>
            <a:r>
              <a:rPr sz="2006" dirty="0">
                <a:latin typeface="Times New Roman" panose="02020603050405020304" pitchFamily="18" charset="0"/>
                <a:cs typeface="Times New Roman" panose="02020603050405020304" pitchFamily="18" charset="0"/>
              </a:rPr>
              <a:t>The</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set</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of</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frequent</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items</a:t>
            </a:r>
            <a:r>
              <a:rPr sz="2006" spc="-30" dirty="0">
                <a:latin typeface="Times New Roman" panose="02020603050405020304" pitchFamily="18" charset="0"/>
                <a:cs typeface="Times New Roman" panose="02020603050405020304" pitchFamily="18" charset="0"/>
              </a:rPr>
              <a:t> </a:t>
            </a:r>
            <a:r>
              <a:rPr sz="2006" spc="-25" dirty="0">
                <a:latin typeface="Times New Roman" panose="02020603050405020304" pitchFamily="18" charset="0"/>
                <a:cs typeface="Times New Roman" panose="02020603050405020304" pitchFamily="18" charset="0"/>
              </a:rPr>
              <a:t>is </a:t>
            </a:r>
            <a:r>
              <a:rPr sz="2006" dirty="0">
                <a:latin typeface="Times New Roman" panose="02020603050405020304" pitchFamily="18" charset="0"/>
                <a:cs typeface="Times New Roman" panose="02020603050405020304" pitchFamily="18" charset="0"/>
              </a:rPr>
              <a:t>sorted</a:t>
            </a:r>
            <a:r>
              <a:rPr sz="2006" spc="-2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in</a:t>
            </a:r>
            <a:r>
              <a:rPr sz="2006" spc="-2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the</a:t>
            </a:r>
            <a:r>
              <a:rPr sz="2006" spc="-2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order</a:t>
            </a:r>
            <a:r>
              <a:rPr sz="2006" spc="-25" dirty="0">
                <a:latin typeface="Times New Roman" panose="02020603050405020304" pitchFamily="18" charset="0"/>
                <a:cs typeface="Times New Roman" panose="02020603050405020304" pitchFamily="18" charset="0"/>
              </a:rPr>
              <a:t> of </a:t>
            </a:r>
            <a:r>
              <a:rPr sz="2006" dirty="0">
                <a:latin typeface="Times New Roman" panose="02020603050405020304" pitchFamily="18" charset="0"/>
                <a:cs typeface="Times New Roman" panose="02020603050405020304" pitchFamily="18" charset="0"/>
              </a:rPr>
              <a:t>descending</a:t>
            </a:r>
            <a:r>
              <a:rPr sz="2006" spc="-6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support</a:t>
            </a:r>
            <a:r>
              <a:rPr sz="2006" spc="-5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count.</a:t>
            </a:r>
            <a:endParaRPr sz="2006" dirty="0">
              <a:latin typeface="Times New Roman" panose="02020603050405020304" pitchFamily="18" charset="0"/>
              <a:cs typeface="Times New Roman" panose="02020603050405020304" pitchFamily="18" charset="0"/>
            </a:endParaRPr>
          </a:p>
          <a:p>
            <a:pPr marL="355959" marR="5094" indent="-343860" algn="just">
              <a:lnSpc>
                <a:spcPts val="2166"/>
              </a:lnSpc>
              <a:spcBef>
                <a:spcPts val="481"/>
              </a:spcBef>
              <a:buChar char="•"/>
              <a:tabLst>
                <a:tab pos="355959" algn="l"/>
              </a:tabLst>
            </a:pPr>
            <a:r>
              <a:rPr sz="2006" dirty="0">
                <a:latin typeface="Times New Roman" panose="02020603050405020304" pitchFamily="18" charset="0"/>
                <a:cs typeface="Times New Roman" panose="02020603050405020304" pitchFamily="18" charset="0"/>
              </a:rPr>
              <a:t>The</a:t>
            </a:r>
            <a:r>
              <a:rPr sz="2006" spc="-6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resulting</a:t>
            </a:r>
            <a:r>
              <a:rPr sz="2006" spc="-6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set</a:t>
            </a:r>
            <a:r>
              <a:rPr sz="2006" spc="-5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is</a:t>
            </a:r>
            <a:r>
              <a:rPr sz="2006" spc="-5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denoted</a:t>
            </a:r>
            <a:r>
              <a:rPr sz="2006" spc="-60" dirty="0">
                <a:latin typeface="Times New Roman" panose="02020603050405020304" pitchFamily="18" charset="0"/>
                <a:cs typeface="Times New Roman" panose="02020603050405020304" pitchFamily="18" charset="0"/>
              </a:rPr>
              <a:t> </a:t>
            </a:r>
            <a:r>
              <a:rPr sz="2006" spc="-25" dirty="0">
                <a:latin typeface="Times New Roman" panose="02020603050405020304" pitchFamily="18" charset="0"/>
                <a:cs typeface="Times New Roman" panose="02020603050405020304" pitchFamily="18" charset="0"/>
              </a:rPr>
              <a:t>as </a:t>
            </a:r>
            <a:r>
              <a:rPr sz="2006" dirty="0">
                <a:latin typeface="Times New Roman" panose="02020603050405020304" pitchFamily="18" charset="0"/>
                <a:cs typeface="Times New Roman" panose="02020603050405020304" pitchFamily="18" charset="0"/>
              </a:rPr>
              <a:t>L</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t>
            </a:r>
            <a:r>
              <a:rPr sz="2006" spc="-2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{I2:7,</a:t>
            </a:r>
            <a:r>
              <a:rPr sz="2006" spc="-2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I1:6,</a:t>
            </a:r>
            <a:r>
              <a:rPr sz="2006" spc="-2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I3:6,</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I4:2,</a:t>
            </a:r>
            <a:r>
              <a:rPr sz="2006" spc="-2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I5:2}</a:t>
            </a:r>
            <a:endParaRPr sz="2006" dirty="0">
              <a:latin typeface="Times New Roman" panose="02020603050405020304" pitchFamily="18" charset="0"/>
              <a:cs typeface="Times New Roman" panose="02020603050405020304" pitchFamily="18" charset="0"/>
            </a:endParaRPr>
          </a:p>
        </p:txBody>
      </p:sp>
      <p:graphicFrame>
        <p:nvGraphicFramePr>
          <p:cNvPr id="4" name="object 4"/>
          <p:cNvGraphicFramePr>
            <a:graphicFrameLocks noGrp="1"/>
          </p:cNvGraphicFramePr>
          <p:nvPr/>
        </p:nvGraphicFramePr>
        <p:xfrm>
          <a:off x="431410" y="1580778"/>
          <a:ext cx="4049850" cy="4540162"/>
        </p:xfrm>
        <a:graphic>
          <a:graphicData uri="http://schemas.openxmlformats.org/drawingml/2006/table">
            <a:tbl>
              <a:tblPr firstRow="1" bandRow="1">
                <a:tableStyleId>{2D5ABB26-0587-4C30-8999-92F81FD0307C}</a:tableStyleId>
              </a:tblPr>
              <a:tblGrid>
                <a:gridCol w="2024925">
                  <a:extLst>
                    <a:ext uri="{9D8B030D-6E8A-4147-A177-3AD203B41FA5}">
                      <a16:colId xmlns:a16="http://schemas.microsoft.com/office/drawing/2014/main" val="20000"/>
                    </a:ext>
                  </a:extLst>
                </a:gridCol>
                <a:gridCol w="2024925">
                  <a:extLst>
                    <a:ext uri="{9D8B030D-6E8A-4147-A177-3AD203B41FA5}">
                      <a16:colId xmlns:a16="http://schemas.microsoft.com/office/drawing/2014/main" val="20001"/>
                    </a:ext>
                  </a:extLst>
                </a:gridCol>
              </a:tblGrid>
              <a:tr h="368689">
                <a:tc>
                  <a:txBody>
                    <a:bodyPr/>
                    <a:lstStyle/>
                    <a:p>
                      <a:pPr marL="635" algn="ctr">
                        <a:lnSpc>
                          <a:spcPct val="100000"/>
                        </a:lnSpc>
                        <a:spcBef>
                          <a:spcPts val="325"/>
                        </a:spcBef>
                      </a:pPr>
                      <a:r>
                        <a:rPr sz="1600" b="1" spc="-25" dirty="0">
                          <a:latin typeface="Arial"/>
                          <a:cs typeface="Arial"/>
                        </a:rPr>
                        <a:t>TID</a:t>
                      </a:r>
                      <a:endParaRPr sz="1600">
                        <a:latin typeface="Arial"/>
                        <a:cs typeface="Arial"/>
                      </a:endParaRPr>
                    </a:p>
                  </a:txBody>
                  <a:tcPr marL="0" marR="0" marT="4139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600" b="1" dirty="0">
                          <a:latin typeface="Arial"/>
                          <a:cs typeface="Arial"/>
                        </a:rPr>
                        <a:t>List</a:t>
                      </a:r>
                      <a:r>
                        <a:rPr sz="1600" b="1" spc="-20" dirty="0">
                          <a:latin typeface="Arial"/>
                          <a:cs typeface="Arial"/>
                        </a:rPr>
                        <a:t> </a:t>
                      </a:r>
                      <a:r>
                        <a:rPr sz="1600" b="1" dirty="0">
                          <a:latin typeface="Arial"/>
                          <a:cs typeface="Arial"/>
                        </a:rPr>
                        <a:t>of</a:t>
                      </a:r>
                      <a:r>
                        <a:rPr sz="1600" b="1" spc="-20" dirty="0">
                          <a:latin typeface="Arial"/>
                          <a:cs typeface="Arial"/>
                        </a:rPr>
                        <a:t> </a:t>
                      </a:r>
                      <a:r>
                        <a:rPr sz="1600" b="1" spc="-10" dirty="0">
                          <a:latin typeface="Arial"/>
                          <a:cs typeface="Arial"/>
                        </a:rPr>
                        <a:t>Items</a:t>
                      </a:r>
                      <a:endParaRPr sz="1600">
                        <a:latin typeface="Arial"/>
                        <a:cs typeface="Arial"/>
                      </a:endParaRPr>
                    </a:p>
                  </a:txBody>
                  <a:tcPr marL="0" marR="0" marT="41390"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72482">
                <a:tc>
                  <a:txBody>
                    <a:bodyPr/>
                    <a:lstStyle/>
                    <a:p>
                      <a:pPr marL="635" algn="ctr">
                        <a:lnSpc>
                          <a:spcPct val="100000"/>
                        </a:lnSpc>
                        <a:spcBef>
                          <a:spcPts val="330"/>
                        </a:spcBef>
                      </a:pPr>
                      <a:r>
                        <a:rPr sz="1600" spc="-20" dirty="0">
                          <a:latin typeface="Arial MT"/>
                          <a:cs typeface="Arial MT"/>
                        </a:rPr>
                        <a:t>T100</a:t>
                      </a:r>
                      <a:endParaRPr sz="1600">
                        <a:latin typeface="Arial MT"/>
                        <a:cs typeface="Arial MT"/>
                      </a:endParaRPr>
                    </a:p>
                  </a:txBody>
                  <a:tcPr marL="0" marR="0" marT="42027"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30"/>
                        </a:spcBef>
                      </a:pPr>
                      <a:r>
                        <a:rPr sz="1600" dirty="0">
                          <a:latin typeface="Arial MT"/>
                          <a:cs typeface="Arial MT"/>
                        </a:rPr>
                        <a:t>I1,</a:t>
                      </a:r>
                      <a:r>
                        <a:rPr sz="1600" spc="-15" dirty="0">
                          <a:latin typeface="Arial MT"/>
                          <a:cs typeface="Arial MT"/>
                        </a:rPr>
                        <a:t> </a:t>
                      </a:r>
                      <a:r>
                        <a:rPr sz="1600" dirty="0">
                          <a:latin typeface="Arial MT"/>
                          <a:cs typeface="Arial MT"/>
                        </a:rPr>
                        <a:t>I2,</a:t>
                      </a:r>
                      <a:r>
                        <a:rPr sz="1600" spc="-15" dirty="0">
                          <a:latin typeface="Arial MT"/>
                          <a:cs typeface="Arial MT"/>
                        </a:rPr>
                        <a:t> </a:t>
                      </a:r>
                      <a:r>
                        <a:rPr sz="1600" spc="-25" dirty="0">
                          <a:latin typeface="Arial MT"/>
                          <a:cs typeface="Arial MT"/>
                        </a:rPr>
                        <a:t>I5</a:t>
                      </a:r>
                      <a:endParaRPr sz="1600">
                        <a:latin typeface="Arial MT"/>
                        <a:cs typeface="Arial MT"/>
                      </a:endParaRPr>
                    </a:p>
                  </a:txBody>
                  <a:tcPr marL="0" marR="0" marT="42027"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61021">
                <a:tc>
                  <a:txBody>
                    <a:bodyPr/>
                    <a:lstStyle/>
                    <a:p>
                      <a:pPr algn="ctr">
                        <a:lnSpc>
                          <a:spcPct val="100000"/>
                        </a:lnSpc>
                        <a:spcBef>
                          <a:spcPts val="325"/>
                        </a:spcBef>
                      </a:pPr>
                      <a:r>
                        <a:rPr sz="1600" spc="-20" dirty="0">
                          <a:latin typeface="Arial MT"/>
                          <a:cs typeface="Arial MT"/>
                        </a:rPr>
                        <a:t>T100</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600" dirty="0">
                          <a:latin typeface="Arial MT"/>
                          <a:cs typeface="Arial MT"/>
                        </a:rPr>
                        <a:t>I2,</a:t>
                      </a:r>
                      <a:r>
                        <a:rPr sz="1600" spc="-15" dirty="0">
                          <a:latin typeface="Arial MT"/>
                          <a:cs typeface="Arial MT"/>
                        </a:rPr>
                        <a:t> </a:t>
                      </a:r>
                      <a:r>
                        <a:rPr sz="1600" spc="-25" dirty="0">
                          <a:latin typeface="Arial MT"/>
                          <a:cs typeface="Arial MT"/>
                        </a:rPr>
                        <a:t>I4</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62931">
                <a:tc>
                  <a:txBody>
                    <a:bodyPr/>
                    <a:lstStyle/>
                    <a:p>
                      <a:pPr algn="ctr">
                        <a:lnSpc>
                          <a:spcPct val="100000"/>
                        </a:lnSpc>
                        <a:spcBef>
                          <a:spcPts val="330"/>
                        </a:spcBef>
                      </a:pPr>
                      <a:r>
                        <a:rPr sz="1600" spc="-20" dirty="0">
                          <a:latin typeface="Arial MT"/>
                          <a:cs typeface="Arial MT"/>
                        </a:rPr>
                        <a:t>T100</a:t>
                      </a:r>
                      <a:endParaRPr sz="1600">
                        <a:latin typeface="Arial MT"/>
                        <a:cs typeface="Arial MT"/>
                      </a:endParaRPr>
                    </a:p>
                  </a:txBody>
                  <a:tcPr marL="0" marR="0" marT="42027"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30"/>
                        </a:spcBef>
                      </a:pPr>
                      <a:r>
                        <a:rPr sz="1600" dirty="0">
                          <a:latin typeface="Arial MT"/>
                          <a:cs typeface="Arial MT"/>
                        </a:rPr>
                        <a:t>I2,</a:t>
                      </a:r>
                      <a:r>
                        <a:rPr sz="1600" spc="-15" dirty="0">
                          <a:latin typeface="Arial MT"/>
                          <a:cs typeface="Arial MT"/>
                        </a:rPr>
                        <a:t> </a:t>
                      </a:r>
                      <a:r>
                        <a:rPr sz="1600" spc="-25" dirty="0">
                          <a:latin typeface="Arial MT"/>
                          <a:cs typeface="Arial MT"/>
                        </a:rPr>
                        <a:t>I3</a:t>
                      </a:r>
                      <a:endParaRPr sz="1600">
                        <a:latin typeface="Arial MT"/>
                        <a:cs typeface="Arial MT"/>
                      </a:endParaRPr>
                    </a:p>
                  </a:txBody>
                  <a:tcPr marL="0" marR="0" marT="42027"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63568">
                <a:tc>
                  <a:txBody>
                    <a:bodyPr/>
                    <a:lstStyle/>
                    <a:p>
                      <a:pPr marL="635" algn="ctr">
                        <a:lnSpc>
                          <a:spcPct val="100000"/>
                        </a:lnSpc>
                        <a:spcBef>
                          <a:spcPts val="330"/>
                        </a:spcBef>
                      </a:pPr>
                      <a:r>
                        <a:rPr sz="1600" spc="-20" dirty="0">
                          <a:latin typeface="Arial MT"/>
                          <a:cs typeface="Arial MT"/>
                        </a:rPr>
                        <a:t>T100</a:t>
                      </a:r>
                      <a:endParaRPr sz="1600">
                        <a:latin typeface="Arial MT"/>
                        <a:cs typeface="Arial MT"/>
                      </a:endParaRPr>
                    </a:p>
                  </a:txBody>
                  <a:tcPr marL="0" marR="0" marT="42027"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30"/>
                        </a:spcBef>
                      </a:pPr>
                      <a:r>
                        <a:rPr sz="1600" dirty="0">
                          <a:latin typeface="Arial MT"/>
                          <a:cs typeface="Arial MT"/>
                        </a:rPr>
                        <a:t>I1,</a:t>
                      </a:r>
                      <a:r>
                        <a:rPr sz="1600" spc="-15" dirty="0">
                          <a:latin typeface="Arial MT"/>
                          <a:cs typeface="Arial MT"/>
                        </a:rPr>
                        <a:t> </a:t>
                      </a:r>
                      <a:r>
                        <a:rPr sz="1600" dirty="0">
                          <a:latin typeface="Arial MT"/>
                          <a:cs typeface="Arial MT"/>
                        </a:rPr>
                        <a:t>I2,</a:t>
                      </a:r>
                      <a:r>
                        <a:rPr sz="1600" spc="-15" dirty="0">
                          <a:latin typeface="Arial MT"/>
                          <a:cs typeface="Arial MT"/>
                        </a:rPr>
                        <a:t> </a:t>
                      </a:r>
                      <a:r>
                        <a:rPr sz="1600" spc="-25" dirty="0">
                          <a:latin typeface="Arial MT"/>
                          <a:cs typeface="Arial MT"/>
                        </a:rPr>
                        <a:t>I4</a:t>
                      </a:r>
                      <a:endParaRPr sz="1600">
                        <a:latin typeface="Arial MT"/>
                        <a:cs typeface="Arial MT"/>
                      </a:endParaRPr>
                    </a:p>
                  </a:txBody>
                  <a:tcPr marL="0" marR="0" marT="42027"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61021">
                <a:tc>
                  <a:txBody>
                    <a:bodyPr/>
                    <a:lstStyle/>
                    <a:p>
                      <a:pPr algn="ctr">
                        <a:lnSpc>
                          <a:spcPct val="100000"/>
                        </a:lnSpc>
                        <a:spcBef>
                          <a:spcPts val="325"/>
                        </a:spcBef>
                      </a:pPr>
                      <a:r>
                        <a:rPr sz="1600" spc="-20" dirty="0">
                          <a:latin typeface="Arial MT"/>
                          <a:cs typeface="Arial MT"/>
                        </a:rPr>
                        <a:t>T100</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600" dirty="0">
                          <a:latin typeface="Arial MT"/>
                          <a:cs typeface="Arial MT"/>
                        </a:rPr>
                        <a:t>I1,</a:t>
                      </a:r>
                      <a:r>
                        <a:rPr sz="1600" spc="-15" dirty="0">
                          <a:latin typeface="Arial MT"/>
                          <a:cs typeface="Arial MT"/>
                        </a:rPr>
                        <a:t> </a:t>
                      </a:r>
                      <a:r>
                        <a:rPr sz="1600" spc="-25" dirty="0">
                          <a:latin typeface="Arial MT"/>
                          <a:cs typeface="Arial MT"/>
                        </a:rPr>
                        <a:t>I3</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462931">
                <a:tc>
                  <a:txBody>
                    <a:bodyPr/>
                    <a:lstStyle/>
                    <a:p>
                      <a:pPr algn="ctr">
                        <a:lnSpc>
                          <a:spcPct val="100000"/>
                        </a:lnSpc>
                        <a:spcBef>
                          <a:spcPts val="325"/>
                        </a:spcBef>
                      </a:pPr>
                      <a:r>
                        <a:rPr sz="1600" spc="-20" dirty="0">
                          <a:latin typeface="Arial MT"/>
                          <a:cs typeface="Arial MT"/>
                        </a:rPr>
                        <a:t>T100</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600" dirty="0">
                          <a:latin typeface="Arial MT"/>
                          <a:cs typeface="Arial MT"/>
                        </a:rPr>
                        <a:t>I2,</a:t>
                      </a:r>
                      <a:r>
                        <a:rPr sz="1600" spc="-15" dirty="0">
                          <a:latin typeface="Arial MT"/>
                          <a:cs typeface="Arial MT"/>
                        </a:rPr>
                        <a:t> </a:t>
                      </a:r>
                      <a:r>
                        <a:rPr sz="1600" spc="-25" dirty="0">
                          <a:latin typeface="Arial MT"/>
                          <a:cs typeface="Arial MT"/>
                        </a:rPr>
                        <a:t>I3</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462931">
                <a:tc>
                  <a:txBody>
                    <a:bodyPr/>
                    <a:lstStyle/>
                    <a:p>
                      <a:pPr algn="ctr">
                        <a:lnSpc>
                          <a:spcPct val="100000"/>
                        </a:lnSpc>
                        <a:spcBef>
                          <a:spcPts val="325"/>
                        </a:spcBef>
                      </a:pPr>
                      <a:r>
                        <a:rPr sz="1600" spc="-20" dirty="0">
                          <a:latin typeface="Arial MT"/>
                          <a:cs typeface="Arial MT"/>
                        </a:rPr>
                        <a:t>T100</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5"/>
                        </a:spcBef>
                      </a:pPr>
                      <a:r>
                        <a:rPr sz="1600" dirty="0">
                          <a:latin typeface="Arial MT"/>
                          <a:cs typeface="Arial MT"/>
                        </a:rPr>
                        <a:t>I1,</a:t>
                      </a:r>
                      <a:r>
                        <a:rPr sz="1600" spc="-15" dirty="0">
                          <a:latin typeface="Arial MT"/>
                          <a:cs typeface="Arial MT"/>
                        </a:rPr>
                        <a:t> </a:t>
                      </a:r>
                      <a:r>
                        <a:rPr sz="1600" spc="-25" dirty="0">
                          <a:latin typeface="Arial MT"/>
                          <a:cs typeface="Arial MT"/>
                        </a:rPr>
                        <a:t>I3</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461657">
                <a:tc>
                  <a:txBody>
                    <a:bodyPr/>
                    <a:lstStyle/>
                    <a:p>
                      <a:pPr marL="635" algn="ctr">
                        <a:lnSpc>
                          <a:spcPct val="100000"/>
                        </a:lnSpc>
                        <a:spcBef>
                          <a:spcPts val="330"/>
                        </a:spcBef>
                      </a:pPr>
                      <a:r>
                        <a:rPr sz="1600" spc="-20" dirty="0">
                          <a:latin typeface="Arial MT"/>
                          <a:cs typeface="Arial MT"/>
                        </a:rPr>
                        <a:t>T100</a:t>
                      </a:r>
                      <a:endParaRPr sz="1600">
                        <a:latin typeface="Arial MT"/>
                        <a:cs typeface="Arial MT"/>
                      </a:endParaRPr>
                    </a:p>
                  </a:txBody>
                  <a:tcPr marL="0" marR="0" marT="42027"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3345">
                        <a:lnSpc>
                          <a:spcPct val="100000"/>
                        </a:lnSpc>
                        <a:spcBef>
                          <a:spcPts val="330"/>
                        </a:spcBef>
                      </a:pPr>
                      <a:r>
                        <a:rPr sz="1600" dirty="0">
                          <a:latin typeface="Arial MT"/>
                          <a:cs typeface="Arial MT"/>
                        </a:rPr>
                        <a:t>I1,</a:t>
                      </a:r>
                      <a:r>
                        <a:rPr sz="1600" spc="-15" dirty="0">
                          <a:latin typeface="Arial MT"/>
                          <a:cs typeface="Arial MT"/>
                        </a:rPr>
                        <a:t> </a:t>
                      </a:r>
                      <a:r>
                        <a:rPr sz="1600" dirty="0">
                          <a:latin typeface="Arial MT"/>
                          <a:cs typeface="Arial MT"/>
                        </a:rPr>
                        <a:t>I2</a:t>
                      </a:r>
                      <a:r>
                        <a:rPr sz="1600" spc="-15" dirty="0">
                          <a:latin typeface="Arial MT"/>
                          <a:cs typeface="Arial MT"/>
                        </a:rPr>
                        <a:t> </a:t>
                      </a:r>
                      <a:r>
                        <a:rPr sz="1600" dirty="0">
                          <a:latin typeface="Arial MT"/>
                          <a:cs typeface="Arial MT"/>
                        </a:rPr>
                        <a:t>,I3,</a:t>
                      </a:r>
                      <a:r>
                        <a:rPr sz="1600" spc="-10" dirty="0">
                          <a:latin typeface="Arial MT"/>
                          <a:cs typeface="Arial MT"/>
                        </a:rPr>
                        <a:t> </a:t>
                      </a:r>
                      <a:r>
                        <a:rPr sz="1600" spc="-25" dirty="0">
                          <a:latin typeface="Arial MT"/>
                          <a:cs typeface="Arial MT"/>
                        </a:rPr>
                        <a:t>I5</a:t>
                      </a:r>
                      <a:endParaRPr sz="1600">
                        <a:latin typeface="Arial MT"/>
                        <a:cs typeface="Arial MT"/>
                      </a:endParaRPr>
                    </a:p>
                  </a:txBody>
                  <a:tcPr marL="0" marR="0" marT="42027"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462931">
                <a:tc>
                  <a:txBody>
                    <a:bodyPr/>
                    <a:lstStyle/>
                    <a:p>
                      <a:pPr marL="635" algn="ctr">
                        <a:lnSpc>
                          <a:spcPct val="100000"/>
                        </a:lnSpc>
                        <a:spcBef>
                          <a:spcPts val="325"/>
                        </a:spcBef>
                      </a:pPr>
                      <a:r>
                        <a:rPr sz="1600" spc="-20" dirty="0">
                          <a:latin typeface="Arial MT"/>
                          <a:cs typeface="Arial MT"/>
                        </a:rPr>
                        <a:t>T100</a:t>
                      </a:r>
                      <a:endParaRPr sz="1600">
                        <a:latin typeface="Arial MT"/>
                        <a:cs typeface="Arial MT"/>
                      </a:endParaRPr>
                    </a:p>
                  </a:txBody>
                  <a:tcPr marL="0" marR="0" marT="4139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2710">
                        <a:lnSpc>
                          <a:spcPct val="100000"/>
                        </a:lnSpc>
                        <a:spcBef>
                          <a:spcPts val="325"/>
                        </a:spcBef>
                      </a:pPr>
                      <a:r>
                        <a:rPr sz="1600" dirty="0">
                          <a:latin typeface="Arial MT"/>
                          <a:cs typeface="Arial MT"/>
                        </a:rPr>
                        <a:t>I1,</a:t>
                      </a:r>
                      <a:r>
                        <a:rPr sz="1600" spc="-15" dirty="0">
                          <a:latin typeface="Arial MT"/>
                          <a:cs typeface="Arial MT"/>
                        </a:rPr>
                        <a:t> </a:t>
                      </a:r>
                      <a:r>
                        <a:rPr sz="1600" dirty="0">
                          <a:latin typeface="Arial MT"/>
                          <a:cs typeface="Arial MT"/>
                        </a:rPr>
                        <a:t>I2,</a:t>
                      </a:r>
                      <a:r>
                        <a:rPr sz="1600" spc="-15" dirty="0">
                          <a:latin typeface="Arial MT"/>
                          <a:cs typeface="Arial MT"/>
                        </a:rPr>
                        <a:t> </a:t>
                      </a:r>
                      <a:r>
                        <a:rPr sz="1600" spc="-25" dirty="0">
                          <a:latin typeface="Arial MT"/>
                          <a:cs typeface="Arial MT"/>
                        </a:rPr>
                        <a:t>I3</a:t>
                      </a:r>
                      <a:endParaRPr sz="1600">
                        <a:latin typeface="Arial MT"/>
                        <a:cs typeface="Arial MT"/>
                      </a:endParaRPr>
                    </a:p>
                  </a:txBody>
                  <a:tcPr marL="0" marR="0" marT="4139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99053" y="94870"/>
            <a:ext cx="8592049" cy="793060"/>
          </a:xfrm>
          <a:prstGeom prst="rect">
            <a:avLst/>
          </a:prstGeom>
        </p:spPr>
        <p:txBody>
          <a:bodyPr vert="horz" wrap="square" lIns="0" tIns="296351" rIns="0" bIns="0" rtlCol="0" anchor="ctr">
            <a:spAutoFit/>
            <a:scene3d>
              <a:camera prst="orthographicFront"/>
              <a:lightRig rig="soft" dir="t"/>
            </a:scene3d>
            <a:sp3d prstMaterial="softEdge">
              <a:bevelT w="25400" h="25400"/>
            </a:sp3d>
          </a:bodyPr>
          <a:lstStyle/>
          <a:p>
            <a:pPr marL="606849" algn="ctr">
              <a:spcBef>
                <a:spcPts val="95"/>
              </a:spcBef>
            </a:pPr>
            <a:r>
              <a:rPr sz="3209" spc="-30" dirty="0">
                <a:solidFill>
                  <a:srgbClr val="002060"/>
                </a:solidFill>
                <a:latin typeface="Times New Roman" panose="02020603050405020304" pitchFamily="18" charset="0"/>
                <a:cs typeface="Times New Roman" panose="02020603050405020304" pitchFamily="18" charset="0"/>
              </a:rPr>
              <a:t>FP-</a:t>
            </a:r>
            <a:r>
              <a:rPr sz="3209" dirty="0">
                <a:solidFill>
                  <a:srgbClr val="002060"/>
                </a:solidFill>
                <a:latin typeface="Times New Roman" panose="02020603050405020304" pitchFamily="18" charset="0"/>
                <a:cs typeface="Times New Roman" panose="02020603050405020304" pitchFamily="18" charset="0"/>
              </a:rPr>
              <a:t>Growth</a:t>
            </a:r>
            <a:r>
              <a:rPr sz="3209" spc="-45" dirty="0">
                <a:solidFill>
                  <a:srgbClr val="002060"/>
                </a:solidFill>
                <a:latin typeface="Times New Roman" panose="02020603050405020304" pitchFamily="18" charset="0"/>
                <a:cs typeface="Times New Roman" panose="02020603050405020304" pitchFamily="18" charset="0"/>
              </a:rPr>
              <a:t> </a:t>
            </a:r>
            <a:r>
              <a:rPr sz="3209" dirty="0">
                <a:solidFill>
                  <a:srgbClr val="002060"/>
                </a:solidFill>
                <a:latin typeface="Times New Roman" panose="02020603050405020304" pitchFamily="18" charset="0"/>
                <a:cs typeface="Times New Roman" panose="02020603050405020304" pitchFamily="18" charset="0"/>
              </a:rPr>
              <a:t>Method:</a:t>
            </a:r>
            <a:r>
              <a:rPr sz="3209" spc="-45" dirty="0">
                <a:solidFill>
                  <a:srgbClr val="002060"/>
                </a:solidFill>
                <a:latin typeface="Times New Roman" panose="02020603050405020304" pitchFamily="18" charset="0"/>
                <a:cs typeface="Times New Roman" panose="02020603050405020304" pitchFamily="18" charset="0"/>
              </a:rPr>
              <a:t> </a:t>
            </a:r>
            <a:r>
              <a:rPr sz="3209" spc="-10" dirty="0">
                <a:solidFill>
                  <a:srgbClr val="002060"/>
                </a:solidFill>
                <a:latin typeface="Times New Roman" panose="02020603050405020304" pitchFamily="18" charset="0"/>
                <a:cs typeface="Times New Roman" panose="02020603050405020304" pitchFamily="18" charset="0"/>
              </a:rPr>
              <a:t>Construction</a:t>
            </a:r>
            <a:r>
              <a:rPr sz="3209" spc="-45" dirty="0">
                <a:solidFill>
                  <a:srgbClr val="002060"/>
                </a:solidFill>
                <a:latin typeface="Times New Roman" panose="02020603050405020304" pitchFamily="18" charset="0"/>
                <a:cs typeface="Times New Roman" panose="02020603050405020304" pitchFamily="18" charset="0"/>
              </a:rPr>
              <a:t> </a:t>
            </a:r>
            <a:r>
              <a:rPr sz="3209" dirty="0">
                <a:solidFill>
                  <a:srgbClr val="002060"/>
                </a:solidFill>
                <a:latin typeface="Times New Roman" panose="02020603050405020304" pitchFamily="18" charset="0"/>
                <a:cs typeface="Times New Roman" panose="02020603050405020304" pitchFamily="18" charset="0"/>
              </a:rPr>
              <a:t>of</a:t>
            </a:r>
            <a:r>
              <a:rPr sz="3209" spc="-45" dirty="0">
                <a:solidFill>
                  <a:srgbClr val="002060"/>
                </a:solidFill>
                <a:latin typeface="Times New Roman" panose="02020603050405020304" pitchFamily="18" charset="0"/>
                <a:cs typeface="Times New Roman" panose="02020603050405020304" pitchFamily="18" charset="0"/>
              </a:rPr>
              <a:t> </a:t>
            </a:r>
            <a:r>
              <a:rPr sz="3209" spc="-30" dirty="0">
                <a:solidFill>
                  <a:srgbClr val="002060"/>
                </a:solidFill>
                <a:latin typeface="Times New Roman" panose="02020603050405020304" pitchFamily="18" charset="0"/>
                <a:cs typeface="Times New Roman" panose="02020603050405020304" pitchFamily="18" charset="0"/>
              </a:rPr>
              <a:t>FP-</a:t>
            </a:r>
            <a:r>
              <a:rPr sz="3209" spc="-20" dirty="0">
                <a:solidFill>
                  <a:srgbClr val="002060"/>
                </a:solidFill>
                <a:latin typeface="Times New Roman" panose="02020603050405020304" pitchFamily="18" charset="0"/>
                <a:cs typeface="Times New Roman" panose="02020603050405020304" pitchFamily="18" charset="0"/>
              </a:rPr>
              <a:t>Tree</a:t>
            </a:r>
            <a:endParaRPr sz="3209" dirty="0">
              <a:solidFill>
                <a:srgbClr val="00206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491076" y="1060220"/>
            <a:ext cx="8436423" cy="4909850"/>
          </a:xfrm>
          <a:prstGeom prst="rect">
            <a:avLst/>
          </a:prstGeom>
        </p:spPr>
        <p:txBody>
          <a:bodyPr vert="horz" wrap="square" lIns="0" tIns="73865" rIns="0" bIns="0" rtlCol="0">
            <a:spAutoFit/>
          </a:bodyPr>
          <a:lstStyle/>
          <a:p>
            <a:pPr marL="355959" indent="-343223">
              <a:spcBef>
                <a:spcPts val="582"/>
              </a:spcBef>
              <a:buChar char="•"/>
              <a:tabLst>
                <a:tab pos="355959" algn="l"/>
              </a:tabLst>
            </a:pPr>
            <a:r>
              <a:rPr sz="2006" dirty="0">
                <a:latin typeface="Times New Roman" panose="02020603050405020304" pitchFamily="18" charset="0"/>
                <a:cs typeface="Times New Roman" panose="02020603050405020304" pitchFamily="18" charset="0"/>
              </a:rPr>
              <a:t>First,</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create</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the</a:t>
            </a:r>
            <a:r>
              <a:rPr sz="2006" spc="-25" dirty="0">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root</a:t>
            </a:r>
            <a:r>
              <a:rPr sz="2006" spc="-35" dirty="0">
                <a:solidFill>
                  <a:srgbClr val="009A9A"/>
                </a:solidFill>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of</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the</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tree,</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labeled</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with</a:t>
            </a:r>
            <a:r>
              <a:rPr sz="2006" spc="-3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a:t>
            </a:r>
            <a:r>
              <a:rPr sz="2006" spc="-10" dirty="0">
                <a:solidFill>
                  <a:srgbClr val="009A9A"/>
                </a:solidFill>
                <a:latin typeface="Times New Roman" panose="02020603050405020304" pitchFamily="18" charset="0"/>
                <a:cs typeface="Times New Roman" panose="02020603050405020304" pitchFamily="18" charset="0"/>
              </a:rPr>
              <a:t>null</a:t>
            </a:r>
            <a:r>
              <a:rPr sz="2006" spc="-10" dirty="0">
                <a:latin typeface="Times New Roman" panose="02020603050405020304" pitchFamily="18" charset="0"/>
                <a:cs typeface="Times New Roman" panose="02020603050405020304" pitchFamily="18" charset="0"/>
              </a:rPr>
              <a:t>”.</a:t>
            </a:r>
            <a:endParaRPr sz="2006" dirty="0">
              <a:latin typeface="Times New Roman" panose="02020603050405020304" pitchFamily="18" charset="0"/>
              <a:cs typeface="Times New Roman" panose="02020603050405020304" pitchFamily="18" charset="0"/>
            </a:endParaRPr>
          </a:p>
          <a:p>
            <a:pPr marL="355959" marR="433645" indent="-343860">
              <a:spcBef>
                <a:spcPts val="481"/>
              </a:spcBef>
              <a:buChar char="•"/>
              <a:tabLst>
                <a:tab pos="355959" algn="l"/>
              </a:tabLst>
            </a:pPr>
            <a:r>
              <a:rPr sz="2006" dirty="0">
                <a:latin typeface="Times New Roman" panose="02020603050405020304" pitchFamily="18" charset="0"/>
                <a:cs typeface="Times New Roman" panose="02020603050405020304" pitchFamily="18" charset="0"/>
              </a:rPr>
              <a:t>Scan</a:t>
            </a:r>
            <a:r>
              <a:rPr sz="2006" spc="-5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the</a:t>
            </a:r>
            <a:r>
              <a:rPr sz="2006" spc="-5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database</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D</a:t>
            </a:r>
            <a:r>
              <a:rPr sz="2006" spc="-5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a:t>
            </a:r>
            <a:r>
              <a:rPr sz="2006" spc="-45" dirty="0">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second</a:t>
            </a:r>
            <a:r>
              <a:rPr sz="2006" spc="-6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time</a:t>
            </a:r>
            <a:r>
              <a:rPr sz="2006" dirty="0">
                <a:latin typeface="Times New Roman" panose="02020603050405020304" pitchFamily="18" charset="0"/>
                <a:cs typeface="Times New Roman" panose="02020603050405020304" pitchFamily="18" charset="0"/>
              </a:rPr>
              <a:t>.</a:t>
            </a:r>
            <a:r>
              <a:rPr sz="2006" spc="-5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(First</a:t>
            </a:r>
            <a:r>
              <a:rPr sz="2006" spc="-6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time</a:t>
            </a:r>
            <a:r>
              <a:rPr sz="2006" spc="-5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we</a:t>
            </a:r>
            <a:r>
              <a:rPr sz="2006" spc="-6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scanned</a:t>
            </a:r>
            <a:r>
              <a:rPr sz="2006" spc="-5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it</a:t>
            </a:r>
            <a:r>
              <a:rPr sz="2006" spc="-60" dirty="0">
                <a:latin typeface="Times New Roman" panose="02020603050405020304" pitchFamily="18" charset="0"/>
                <a:cs typeface="Times New Roman" panose="02020603050405020304" pitchFamily="18" charset="0"/>
              </a:rPr>
              <a:t> </a:t>
            </a:r>
            <a:r>
              <a:rPr sz="2006" spc="-25" dirty="0">
                <a:latin typeface="Times New Roman" panose="02020603050405020304" pitchFamily="18" charset="0"/>
                <a:cs typeface="Times New Roman" panose="02020603050405020304" pitchFamily="18" charset="0"/>
              </a:rPr>
              <a:t>to </a:t>
            </a:r>
            <a:r>
              <a:rPr sz="2006" dirty="0">
                <a:latin typeface="Times New Roman" panose="02020603050405020304" pitchFamily="18" charset="0"/>
                <a:cs typeface="Times New Roman" panose="02020603050405020304" pitchFamily="18" charset="0"/>
              </a:rPr>
              <a:t>create</a:t>
            </a:r>
            <a:r>
              <a:rPr sz="2006" spc="-3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1-</a:t>
            </a:r>
            <a:r>
              <a:rPr sz="2006" dirty="0">
                <a:latin typeface="Times New Roman" panose="02020603050405020304" pitchFamily="18" charset="0"/>
                <a:cs typeface="Times New Roman" panose="02020603050405020304" pitchFamily="18" charset="0"/>
              </a:rPr>
              <a:t>itemset</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and</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then</a:t>
            </a:r>
            <a:r>
              <a:rPr sz="2006" spc="-30" dirty="0">
                <a:latin typeface="Times New Roman" panose="02020603050405020304" pitchFamily="18" charset="0"/>
                <a:cs typeface="Times New Roman" panose="02020603050405020304" pitchFamily="18" charset="0"/>
              </a:rPr>
              <a:t> </a:t>
            </a:r>
            <a:r>
              <a:rPr sz="2006" spc="-25" dirty="0">
                <a:latin typeface="Times New Roman" panose="02020603050405020304" pitchFamily="18" charset="0"/>
                <a:cs typeface="Times New Roman" panose="02020603050405020304" pitchFamily="18" charset="0"/>
              </a:rPr>
              <a:t>L).</a:t>
            </a:r>
            <a:endParaRPr lang="en-IN" sz="2006" spc="-25" dirty="0">
              <a:latin typeface="Times New Roman" panose="02020603050405020304" pitchFamily="18" charset="0"/>
              <a:cs typeface="Times New Roman" panose="02020603050405020304" pitchFamily="18" charset="0"/>
            </a:endParaRPr>
          </a:p>
          <a:p>
            <a:pPr marL="355959" marR="433645" indent="-343860">
              <a:spcBef>
                <a:spcPts val="481"/>
              </a:spcBef>
              <a:buChar char="•"/>
              <a:tabLst>
                <a:tab pos="355959" algn="l"/>
              </a:tabLst>
            </a:pPr>
            <a:endParaRPr sz="2006" dirty="0">
              <a:latin typeface="Times New Roman" panose="02020603050405020304" pitchFamily="18" charset="0"/>
              <a:cs typeface="Times New Roman" panose="02020603050405020304" pitchFamily="18" charset="0"/>
            </a:endParaRPr>
          </a:p>
          <a:p>
            <a:pPr marL="355959" marR="222236" indent="-343860">
              <a:spcBef>
                <a:spcPts val="476"/>
              </a:spcBef>
              <a:buChar char="•"/>
              <a:tabLst>
                <a:tab pos="355959" algn="l"/>
              </a:tabLst>
            </a:pPr>
            <a:r>
              <a:rPr sz="2006" dirty="0">
                <a:latin typeface="Times New Roman" panose="02020603050405020304" pitchFamily="18" charset="0"/>
                <a:cs typeface="Times New Roman" panose="02020603050405020304" pitchFamily="18" charset="0"/>
              </a:rPr>
              <a:t>The</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items</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in</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each</a:t>
            </a:r>
            <a:r>
              <a:rPr sz="2006" spc="-40"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transaction</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are</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processed</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in</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L</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order</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(i.e.</a:t>
            </a:r>
            <a:r>
              <a:rPr sz="2006" spc="-4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sorted order).</a:t>
            </a:r>
            <a:endParaRPr sz="2006" dirty="0">
              <a:latin typeface="Times New Roman" panose="02020603050405020304" pitchFamily="18" charset="0"/>
              <a:cs typeface="Times New Roman" panose="02020603050405020304" pitchFamily="18" charset="0"/>
            </a:endParaRPr>
          </a:p>
          <a:p>
            <a:pPr marL="355959" marR="559091" indent="-343860">
              <a:spcBef>
                <a:spcPts val="471"/>
              </a:spcBef>
              <a:buChar char="•"/>
              <a:tabLst>
                <a:tab pos="355959" algn="l"/>
              </a:tabLst>
            </a:pPr>
            <a:r>
              <a:rPr sz="2006" dirty="0">
                <a:latin typeface="Times New Roman" panose="02020603050405020304" pitchFamily="18" charset="0"/>
                <a:cs typeface="Times New Roman" panose="02020603050405020304" pitchFamily="18" charset="0"/>
              </a:rPr>
              <a:t>A</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branch</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is</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created</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for</a:t>
            </a:r>
            <a:r>
              <a:rPr sz="2006" spc="-40" dirty="0">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each</a:t>
            </a:r>
            <a:r>
              <a:rPr sz="2006" spc="-50" dirty="0">
                <a:solidFill>
                  <a:srgbClr val="009A9A"/>
                </a:solidFill>
                <a:latin typeface="Times New Roman" panose="02020603050405020304" pitchFamily="18" charset="0"/>
                <a:cs typeface="Times New Roman" panose="02020603050405020304" pitchFamily="18" charset="0"/>
              </a:rPr>
              <a:t> </a:t>
            </a:r>
            <a:r>
              <a:rPr sz="2006" spc="-10" dirty="0">
                <a:solidFill>
                  <a:srgbClr val="009A9A"/>
                </a:solidFill>
                <a:latin typeface="Times New Roman" panose="02020603050405020304" pitchFamily="18" charset="0"/>
                <a:cs typeface="Times New Roman" panose="02020603050405020304" pitchFamily="18" charset="0"/>
              </a:rPr>
              <a:t>transaction</a:t>
            </a:r>
            <a:r>
              <a:rPr sz="2006" spc="-40" dirty="0">
                <a:solidFill>
                  <a:srgbClr val="009A9A"/>
                </a:solidFill>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with</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items</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having</a:t>
            </a:r>
            <a:r>
              <a:rPr sz="2006" spc="-4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their </a:t>
            </a:r>
            <a:r>
              <a:rPr sz="2006" dirty="0">
                <a:latin typeface="Times New Roman" panose="02020603050405020304" pitchFamily="18" charset="0"/>
                <a:cs typeface="Times New Roman" panose="02020603050405020304" pitchFamily="18" charset="0"/>
              </a:rPr>
              <a:t>support</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count</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separated</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by</a:t>
            </a:r>
            <a:r>
              <a:rPr sz="2006" spc="-3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colon.</a:t>
            </a:r>
            <a:endParaRPr lang="en-IN" sz="2006" spc="-10" dirty="0">
              <a:latin typeface="Times New Roman" panose="02020603050405020304" pitchFamily="18" charset="0"/>
              <a:cs typeface="Times New Roman" panose="02020603050405020304" pitchFamily="18" charset="0"/>
            </a:endParaRPr>
          </a:p>
          <a:p>
            <a:pPr marL="355959" marR="559091" indent="-343860">
              <a:spcBef>
                <a:spcPts val="471"/>
              </a:spcBef>
              <a:buChar char="•"/>
              <a:tabLst>
                <a:tab pos="355959" algn="l"/>
              </a:tabLst>
            </a:pPr>
            <a:endParaRPr sz="2006" dirty="0">
              <a:latin typeface="Times New Roman" panose="02020603050405020304" pitchFamily="18" charset="0"/>
              <a:cs typeface="Times New Roman" panose="02020603050405020304" pitchFamily="18" charset="0"/>
            </a:endParaRPr>
          </a:p>
          <a:p>
            <a:pPr marL="355959" marR="5094" indent="-343860">
              <a:spcBef>
                <a:spcPts val="476"/>
              </a:spcBef>
              <a:buChar char="•"/>
              <a:tabLst>
                <a:tab pos="355959" algn="l"/>
              </a:tabLst>
            </a:pPr>
            <a:r>
              <a:rPr sz="2006" dirty="0">
                <a:latin typeface="Times New Roman" panose="02020603050405020304" pitchFamily="18" charset="0"/>
                <a:cs typeface="Times New Roman" panose="02020603050405020304" pitchFamily="18" charset="0"/>
              </a:rPr>
              <a:t>Whenever</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the</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same</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node</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is</a:t>
            </a:r>
            <a:r>
              <a:rPr sz="2006" spc="-35"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encountered</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in</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another</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transaction,</a:t>
            </a:r>
            <a:r>
              <a:rPr sz="2006" spc="-35" dirty="0">
                <a:latin typeface="Times New Roman" panose="02020603050405020304" pitchFamily="18" charset="0"/>
                <a:cs typeface="Times New Roman" panose="02020603050405020304" pitchFamily="18" charset="0"/>
              </a:rPr>
              <a:t> </a:t>
            </a:r>
            <a:r>
              <a:rPr sz="2006" spc="-25" dirty="0">
                <a:latin typeface="Times New Roman" panose="02020603050405020304" pitchFamily="18" charset="0"/>
                <a:cs typeface="Times New Roman" panose="02020603050405020304" pitchFamily="18" charset="0"/>
              </a:rPr>
              <a:t>we </a:t>
            </a:r>
            <a:r>
              <a:rPr sz="2006" dirty="0">
                <a:latin typeface="Times New Roman" panose="02020603050405020304" pitchFamily="18" charset="0"/>
                <a:cs typeface="Times New Roman" panose="02020603050405020304" pitchFamily="18" charset="0"/>
              </a:rPr>
              <a:t>just</a:t>
            </a:r>
            <a:r>
              <a:rPr sz="2006" spc="-50" dirty="0">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increment</a:t>
            </a:r>
            <a:r>
              <a:rPr sz="2006" spc="-45" dirty="0">
                <a:solidFill>
                  <a:srgbClr val="009A9A"/>
                </a:solidFill>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the</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support</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count</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of</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the</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common</a:t>
            </a:r>
            <a:r>
              <a:rPr sz="2006" spc="-4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node</a:t>
            </a:r>
            <a:r>
              <a:rPr sz="2006" spc="-4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or</a:t>
            </a:r>
            <a:r>
              <a:rPr sz="2006" spc="-40"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Prefix.</a:t>
            </a:r>
            <a:endParaRPr sz="2006" dirty="0">
              <a:latin typeface="Times New Roman" panose="02020603050405020304" pitchFamily="18" charset="0"/>
              <a:cs typeface="Times New Roman" panose="02020603050405020304" pitchFamily="18" charset="0"/>
            </a:endParaRPr>
          </a:p>
          <a:p>
            <a:pPr marL="355959" marR="81508" indent="-343860">
              <a:spcBef>
                <a:spcPts val="476"/>
              </a:spcBef>
              <a:buChar char="•"/>
              <a:tabLst>
                <a:tab pos="355959" algn="l"/>
              </a:tabLst>
            </a:pPr>
            <a:r>
              <a:rPr sz="2006" dirty="0">
                <a:latin typeface="Times New Roman" panose="02020603050405020304" pitchFamily="18" charset="0"/>
                <a:cs typeface="Times New Roman" panose="02020603050405020304" pitchFamily="18" charset="0"/>
              </a:rPr>
              <a:t>To</a:t>
            </a:r>
            <a:r>
              <a:rPr sz="2006" spc="-5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facilitate</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tree</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traversal,</a:t>
            </a:r>
            <a:r>
              <a:rPr sz="2006" spc="-45" dirty="0">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an</a:t>
            </a:r>
            <a:r>
              <a:rPr sz="2006" spc="-5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item</a:t>
            </a:r>
            <a:r>
              <a:rPr sz="2006" spc="-45"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header</a:t>
            </a:r>
            <a:r>
              <a:rPr sz="2006" spc="-5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table</a:t>
            </a:r>
            <a:r>
              <a:rPr sz="2006" spc="-45" dirty="0">
                <a:solidFill>
                  <a:srgbClr val="009A9A"/>
                </a:solidFill>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is</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built</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so</a:t>
            </a:r>
            <a:r>
              <a:rPr sz="2006" spc="-5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that</a:t>
            </a:r>
            <a:r>
              <a:rPr sz="2006" spc="-50" dirty="0">
                <a:latin typeface="Times New Roman" panose="02020603050405020304" pitchFamily="18" charset="0"/>
                <a:cs typeface="Times New Roman" panose="02020603050405020304" pitchFamily="18" charset="0"/>
              </a:rPr>
              <a:t> </a:t>
            </a:r>
            <a:r>
              <a:rPr sz="2006" spc="-20" dirty="0">
                <a:latin typeface="Times New Roman" panose="02020603050405020304" pitchFamily="18" charset="0"/>
                <a:cs typeface="Times New Roman" panose="02020603050405020304" pitchFamily="18" charset="0"/>
              </a:rPr>
              <a:t>each </a:t>
            </a:r>
            <a:r>
              <a:rPr sz="2006" dirty="0">
                <a:latin typeface="Times New Roman" panose="02020603050405020304" pitchFamily="18" charset="0"/>
                <a:cs typeface="Times New Roman" panose="02020603050405020304" pitchFamily="18" charset="0"/>
              </a:rPr>
              <a:t>item</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points</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to</a:t>
            </a:r>
            <a:r>
              <a:rPr sz="2006" spc="-2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its</a:t>
            </a:r>
            <a:r>
              <a:rPr sz="2006" spc="-30" dirty="0">
                <a:latin typeface="Times New Roman" panose="02020603050405020304" pitchFamily="18" charset="0"/>
                <a:cs typeface="Times New Roman" panose="02020603050405020304" pitchFamily="18" charset="0"/>
              </a:rPr>
              <a:t> </a:t>
            </a:r>
            <a:r>
              <a:rPr sz="2006" spc="-10" dirty="0">
                <a:latin typeface="Times New Roman" panose="02020603050405020304" pitchFamily="18" charset="0"/>
                <a:cs typeface="Times New Roman" panose="02020603050405020304" pitchFamily="18" charset="0"/>
              </a:rPr>
              <a:t>occurrences</a:t>
            </a:r>
            <a:r>
              <a:rPr sz="2006" spc="-2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in</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the</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tree</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via</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a</a:t>
            </a:r>
            <a:r>
              <a:rPr sz="2006" spc="-35"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chain</a:t>
            </a:r>
            <a:r>
              <a:rPr sz="2006" spc="-30" dirty="0">
                <a:latin typeface="Times New Roman" panose="02020603050405020304" pitchFamily="18" charset="0"/>
                <a:cs typeface="Times New Roman" panose="02020603050405020304" pitchFamily="18" charset="0"/>
              </a:rPr>
              <a:t> </a:t>
            </a:r>
            <a:r>
              <a:rPr sz="2006" dirty="0">
                <a:latin typeface="Times New Roman" panose="02020603050405020304" pitchFamily="18" charset="0"/>
                <a:cs typeface="Times New Roman" panose="02020603050405020304" pitchFamily="18" charset="0"/>
              </a:rPr>
              <a:t>of</a:t>
            </a:r>
            <a:r>
              <a:rPr sz="2006" spc="-35" dirty="0">
                <a:latin typeface="Times New Roman" panose="02020603050405020304" pitchFamily="18" charset="0"/>
                <a:cs typeface="Times New Roman" panose="02020603050405020304" pitchFamily="18" charset="0"/>
              </a:rPr>
              <a:t> </a:t>
            </a:r>
            <a:r>
              <a:rPr sz="2006" spc="-25" dirty="0">
                <a:latin typeface="Times New Roman" panose="02020603050405020304" pitchFamily="18" charset="0"/>
                <a:cs typeface="Times New Roman" panose="02020603050405020304" pitchFamily="18" charset="0"/>
              </a:rPr>
              <a:t>node-</a:t>
            </a:r>
            <a:r>
              <a:rPr sz="2006" spc="-10" dirty="0">
                <a:latin typeface="Times New Roman" panose="02020603050405020304" pitchFamily="18" charset="0"/>
                <a:cs typeface="Times New Roman" panose="02020603050405020304" pitchFamily="18" charset="0"/>
              </a:rPr>
              <a:t>links.</a:t>
            </a:r>
            <a:endParaRPr sz="2006" dirty="0">
              <a:latin typeface="Times New Roman" panose="02020603050405020304" pitchFamily="18" charset="0"/>
              <a:cs typeface="Times New Roman" panose="02020603050405020304" pitchFamily="18" charset="0"/>
            </a:endParaRPr>
          </a:p>
          <a:p>
            <a:pPr marL="355959" marR="826538" indent="-343860">
              <a:spcBef>
                <a:spcPts val="476"/>
              </a:spcBef>
              <a:buChar char="•"/>
              <a:tabLst>
                <a:tab pos="355959" algn="l"/>
              </a:tabLst>
            </a:pPr>
            <a:r>
              <a:rPr sz="2006" dirty="0">
                <a:solidFill>
                  <a:srgbClr val="009A9A"/>
                </a:solidFill>
                <a:latin typeface="Times New Roman" panose="02020603050405020304" pitchFamily="18" charset="0"/>
                <a:cs typeface="Times New Roman" panose="02020603050405020304" pitchFamily="18" charset="0"/>
              </a:rPr>
              <a:t>Now,</a:t>
            </a:r>
            <a:r>
              <a:rPr sz="2006" spc="-6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The</a:t>
            </a:r>
            <a:r>
              <a:rPr sz="2006" spc="-6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problem</a:t>
            </a:r>
            <a:r>
              <a:rPr sz="2006" spc="-55"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of</a:t>
            </a:r>
            <a:r>
              <a:rPr sz="2006" spc="-55"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mining</a:t>
            </a:r>
            <a:r>
              <a:rPr sz="2006" spc="-6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frequent</a:t>
            </a:r>
            <a:r>
              <a:rPr sz="2006" spc="-65"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patterns</a:t>
            </a:r>
            <a:r>
              <a:rPr sz="2006" spc="-55"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in</a:t>
            </a:r>
            <a:r>
              <a:rPr sz="2006" spc="-55"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database</a:t>
            </a:r>
            <a:r>
              <a:rPr sz="2006" spc="-55" dirty="0">
                <a:solidFill>
                  <a:srgbClr val="009A9A"/>
                </a:solidFill>
                <a:latin typeface="Times New Roman" panose="02020603050405020304" pitchFamily="18" charset="0"/>
                <a:cs typeface="Times New Roman" panose="02020603050405020304" pitchFamily="18" charset="0"/>
              </a:rPr>
              <a:t> </a:t>
            </a:r>
            <a:r>
              <a:rPr sz="2006" spc="-25" dirty="0">
                <a:solidFill>
                  <a:srgbClr val="009A9A"/>
                </a:solidFill>
                <a:latin typeface="Times New Roman" panose="02020603050405020304" pitchFamily="18" charset="0"/>
                <a:cs typeface="Times New Roman" panose="02020603050405020304" pitchFamily="18" charset="0"/>
              </a:rPr>
              <a:t>is </a:t>
            </a:r>
            <a:r>
              <a:rPr sz="2006" dirty="0">
                <a:solidFill>
                  <a:srgbClr val="009A9A"/>
                </a:solidFill>
                <a:latin typeface="Times New Roman" panose="02020603050405020304" pitchFamily="18" charset="0"/>
                <a:cs typeface="Times New Roman" panose="02020603050405020304" pitchFamily="18" charset="0"/>
              </a:rPr>
              <a:t>transformed</a:t>
            </a:r>
            <a:r>
              <a:rPr sz="2006" spc="-3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to</a:t>
            </a:r>
            <a:r>
              <a:rPr sz="2006" spc="-3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that</a:t>
            </a:r>
            <a:r>
              <a:rPr sz="2006" spc="-3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of</a:t>
            </a:r>
            <a:r>
              <a:rPr sz="2006" spc="-25"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mining</a:t>
            </a:r>
            <a:r>
              <a:rPr sz="2006" spc="-30" dirty="0">
                <a:solidFill>
                  <a:srgbClr val="009A9A"/>
                </a:solidFill>
                <a:latin typeface="Times New Roman" panose="02020603050405020304" pitchFamily="18" charset="0"/>
                <a:cs typeface="Times New Roman" panose="02020603050405020304" pitchFamily="18" charset="0"/>
              </a:rPr>
              <a:t> </a:t>
            </a:r>
            <a:r>
              <a:rPr sz="2006" dirty="0">
                <a:solidFill>
                  <a:srgbClr val="009A9A"/>
                </a:solidFill>
                <a:latin typeface="Times New Roman" panose="02020603050405020304" pitchFamily="18" charset="0"/>
                <a:cs typeface="Times New Roman" panose="02020603050405020304" pitchFamily="18" charset="0"/>
              </a:rPr>
              <a:t>the</a:t>
            </a:r>
            <a:r>
              <a:rPr sz="2006" spc="-30" dirty="0">
                <a:solidFill>
                  <a:srgbClr val="009A9A"/>
                </a:solidFill>
                <a:latin typeface="Times New Roman" panose="02020603050405020304" pitchFamily="18" charset="0"/>
                <a:cs typeface="Times New Roman" panose="02020603050405020304" pitchFamily="18" charset="0"/>
              </a:rPr>
              <a:t> </a:t>
            </a:r>
            <a:r>
              <a:rPr sz="2006" spc="-25" dirty="0">
                <a:solidFill>
                  <a:srgbClr val="009A9A"/>
                </a:solidFill>
                <a:latin typeface="Times New Roman" panose="02020603050405020304" pitchFamily="18" charset="0"/>
                <a:cs typeface="Times New Roman" panose="02020603050405020304" pitchFamily="18" charset="0"/>
              </a:rPr>
              <a:t>FP-</a:t>
            </a:r>
            <a:r>
              <a:rPr sz="2006" spc="-10" dirty="0">
                <a:solidFill>
                  <a:srgbClr val="009A9A"/>
                </a:solidFill>
                <a:latin typeface="Times New Roman" panose="02020603050405020304" pitchFamily="18" charset="0"/>
                <a:cs typeface="Times New Roman" panose="02020603050405020304" pitchFamily="18" charset="0"/>
              </a:rPr>
              <a:t>Tree.</a:t>
            </a:r>
            <a:endParaRPr sz="2006"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8473" y="253316"/>
            <a:ext cx="8252524" cy="1196727"/>
          </a:xfrm>
          <a:prstGeom prst="rect">
            <a:avLst/>
          </a:prstGeom>
        </p:spPr>
        <p:txBody>
          <a:bodyPr vert="horz" wrap="square" lIns="0" tIns="296351" rIns="0" bIns="0" rtlCol="0" anchor="ctr">
            <a:spAutoFit/>
            <a:scene3d>
              <a:camera prst="orthographicFront"/>
              <a:lightRig rig="soft" dir="t"/>
            </a:scene3d>
            <a:sp3d prstMaterial="softEdge">
              <a:bevelT w="25400" h="25400"/>
            </a:sp3d>
          </a:bodyPr>
          <a:lstStyle/>
          <a:p>
            <a:pPr marL="606849">
              <a:spcBef>
                <a:spcPts val="95"/>
              </a:spcBef>
            </a:pPr>
            <a:r>
              <a:rPr sz="2908" spc="-30" dirty="0"/>
              <a:t>FP-</a:t>
            </a:r>
            <a:r>
              <a:rPr sz="2908" dirty="0"/>
              <a:t>Growth</a:t>
            </a:r>
            <a:r>
              <a:rPr sz="2908" spc="-45" dirty="0"/>
              <a:t> </a:t>
            </a:r>
            <a:r>
              <a:rPr sz="2908" dirty="0"/>
              <a:t>Method:</a:t>
            </a:r>
            <a:r>
              <a:rPr sz="2908" spc="-45" dirty="0"/>
              <a:t> </a:t>
            </a:r>
            <a:r>
              <a:rPr sz="2908" spc="-10" dirty="0"/>
              <a:t>Construction</a:t>
            </a:r>
            <a:r>
              <a:rPr sz="2908" spc="-45" dirty="0"/>
              <a:t> </a:t>
            </a:r>
            <a:r>
              <a:rPr sz="2908" dirty="0"/>
              <a:t>of</a:t>
            </a:r>
            <a:r>
              <a:rPr sz="2908" spc="-45" dirty="0"/>
              <a:t> </a:t>
            </a:r>
            <a:r>
              <a:rPr sz="2908" spc="-30" dirty="0"/>
              <a:t>FP-</a:t>
            </a:r>
            <a:r>
              <a:rPr sz="2908" spc="-20" dirty="0"/>
              <a:t>Tree</a:t>
            </a:r>
            <a:endParaRPr sz="2908"/>
          </a:p>
        </p:txBody>
      </p:sp>
      <p:graphicFrame>
        <p:nvGraphicFramePr>
          <p:cNvPr id="3" name="object 3"/>
          <p:cNvGraphicFramePr>
            <a:graphicFrameLocks noGrp="1"/>
          </p:cNvGraphicFramePr>
          <p:nvPr/>
        </p:nvGraphicFramePr>
        <p:xfrm>
          <a:off x="966296" y="1657191"/>
          <a:ext cx="2368780" cy="2468751"/>
        </p:xfrm>
        <a:graphic>
          <a:graphicData uri="http://schemas.openxmlformats.org/drawingml/2006/table">
            <a:tbl>
              <a:tblPr firstRow="1" bandRow="1">
                <a:tableStyleId>{2D5ABB26-0587-4C30-8999-92F81FD0307C}</a:tableStyleId>
              </a:tblPr>
              <a:tblGrid>
                <a:gridCol w="687710">
                  <a:extLst>
                    <a:ext uri="{9D8B030D-6E8A-4147-A177-3AD203B41FA5}">
                      <a16:colId xmlns:a16="http://schemas.microsoft.com/office/drawing/2014/main" val="20000"/>
                    </a:ext>
                  </a:extLst>
                </a:gridCol>
                <a:gridCol w="840535">
                  <a:extLst>
                    <a:ext uri="{9D8B030D-6E8A-4147-A177-3AD203B41FA5}">
                      <a16:colId xmlns:a16="http://schemas.microsoft.com/office/drawing/2014/main" val="20001"/>
                    </a:ext>
                  </a:extLst>
                </a:gridCol>
                <a:gridCol w="840535">
                  <a:extLst>
                    <a:ext uri="{9D8B030D-6E8A-4147-A177-3AD203B41FA5}">
                      <a16:colId xmlns:a16="http://schemas.microsoft.com/office/drawing/2014/main" val="20002"/>
                    </a:ext>
                  </a:extLst>
                </a:gridCol>
              </a:tblGrid>
              <a:tr h="641226">
                <a:tc>
                  <a:txBody>
                    <a:bodyPr/>
                    <a:lstStyle/>
                    <a:p>
                      <a:pPr marL="247650" marR="113030" indent="-127635">
                        <a:lnSpc>
                          <a:spcPct val="100000"/>
                        </a:lnSpc>
                        <a:spcBef>
                          <a:spcPts val="310"/>
                        </a:spcBef>
                      </a:pPr>
                      <a:r>
                        <a:rPr sz="1800" spc="-20" dirty="0">
                          <a:latin typeface="Arial MT"/>
                          <a:cs typeface="Arial MT"/>
                        </a:rPr>
                        <a:t>Item </a:t>
                      </a:r>
                      <a:r>
                        <a:rPr sz="1800" spc="-25" dirty="0">
                          <a:latin typeface="Arial MT"/>
                          <a:cs typeface="Arial MT"/>
                        </a:rPr>
                        <a:t>Id</a:t>
                      </a:r>
                      <a:endParaRPr sz="1800">
                        <a:latin typeface="Arial MT"/>
                        <a:cs typeface="Arial MT"/>
                      </a:endParaRPr>
                    </a:p>
                  </a:txBody>
                  <a:tcPr marL="0" marR="0" marT="3948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113030" marR="106045" indent="101600">
                        <a:lnSpc>
                          <a:spcPct val="100000"/>
                        </a:lnSpc>
                        <a:spcBef>
                          <a:spcPts val="310"/>
                        </a:spcBef>
                      </a:pPr>
                      <a:r>
                        <a:rPr sz="1800" spc="-25" dirty="0">
                          <a:latin typeface="Arial MT"/>
                          <a:cs typeface="Arial MT"/>
                        </a:rPr>
                        <a:t>Sup </a:t>
                      </a:r>
                      <a:r>
                        <a:rPr sz="1800" spc="-10" dirty="0">
                          <a:latin typeface="Arial MT"/>
                          <a:cs typeface="Arial MT"/>
                        </a:rPr>
                        <a:t>Count</a:t>
                      </a:r>
                      <a:endParaRPr sz="1800">
                        <a:latin typeface="Arial MT"/>
                        <a:cs typeface="Arial MT"/>
                      </a:endParaRPr>
                    </a:p>
                  </a:txBody>
                  <a:tcPr marL="0" marR="0" marT="3948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2075" marR="114935">
                        <a:lnSpc>
                          <a:spcPct val="100000"/>
                        </a:lnSpc>
                        <a:spcBef>
                          <a:spcPts val="310"/>
                        </a:spcBef>
                      </a:pPr>
                      <a:r>
                        <a:rPr sz="1800" dirty="0">
                          <a:latin typeface="Arial MT"/>
                          <a:cs typeface="Arial MT"/>
                        </a:rPr>
                        <a:t>Node-</a:t>
                      </a:r>
                      <a:r>
                        <a:rPr sz="1800" spc="-20" dirty="0">
                          <a:latin typeface="Arial MT"/>
                          <a:cs typeface="Arial MT"/>
                        </a:rPr>
                        <a:t>link</a:t>
                      </a:r>
                      <a:endParaRPr sz="1800">
                        <a:latin typeface="Arial MT"/>
                        <a:cs typeface="Arial MT"/>
                      </a:endParaRPr>
                    </a:p>
                  </a:txBody>
                  <a:tcPr marL="0" marR="0" marT="39480"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5505">
                <a:tc>
                  <a:txBody>
                    <a:bodyPr/>
                    <a:lstStyle/>
                    <a:p>
                      <a:pPr algn="ctr">
                        <a:lnSpc>
                          <a:spcPct val="100000"/>
                        </a:lnSpc>
                        <a:spcBef>
                          <a:spcPts val="305"/>
                        </a:spcBef>
                      </a:pPr>
                      <a:r>
                        <a:rPr sz="1800" spc="-25" dirty="0">
                          <a:latin typeface="Arial MT"/>
                          <a:cs typeface="Arial MT"/>
                        </a:rPr>
                        <a:t>I2</a:t>
                      </a:r>
                      <a:endParaRPr sz="1800">
                        <a:latin typeface="Arial MT"/>
                        <a:cs typeface="Arial MT"/>
                      </a:endParaRPr>
                    </a:p>
                  </a:txBody>
                  <a:tcPr marL="0" marR="0" marT="38843"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spc="-50" dirty="0">
                          <a:latin typeface="Arial MT"/>
                          <a:cs typeface="Arial MT"/>
                        </a:rPr>
                        <a:t>7</a:t>
                      </a:r>
                      <a:endParaRPr sz="1800">
                        <a:latin typeface="Arial MT"/>
                        <a:cs typeface="Arial MT"/>
                      </a:endParaRPr>
                    </a:p>
                  </a:txBody>
                  <a:tcPr marL="0" marR="0" marT="3884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505">
                <a:tc>
                  <a:txBody>
                    <a:bodyPr/>
                    <a:lstStyle/>
                    <a:p>
                      <a:pPr algn="ctr">
                        <a:lnSpc>
                          <a:spcPct val="100000"/>
                        </a:lnSpc>
                        <a:spcBef>
                          <a:spcPts val="310"/>
                        </a:spcBef>
                      </a:pPr>
                      <a:r>
                        <a:rPr sz="1800" spc="-25" dirty="0">
                          <a:latin typeface="Arial MT"/>
                          <a:cs typeface="Arial MT"/>
                        </a:rPr>
                        <a:t>I1</a:t>
                      </a:r>
                      <a:endParaRPr sz="1800">
                        <a:latin typeface="Arial MT"/>
                        <a:cs typeface="Arial MT"/>
                      </a:endParaRPr>
                    </a:p>
                  </a:txBody>
                  <a:tcPr marL="0" marR="0" marT="3948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1800" spc="-50" dirty="0">
                          <a:latin typeface="Arial MT"/>
                          <a:cs typeface="Arial MT"/>
                        </a:rPr>
                        <a:t>6</a:t>
                      </a:r>
                      <a:endParaRPr sz="1800">
                        <a:latin typeface="Arial MT"/>
                        <a:cs typeface="Arial MT"/>
                      </a:endParaRPr>
                    </a:p>
                  </a:txBody>
                  <a:tcPr marL="0" marR="0" marT="39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65505">
                <a:tc>
                  <a:txBody>
                    <a:bodyPr/>
                    <a:lstStyle/>
                    <a:p>
                      <a:pPr algn="ctr">
                        <a:lnSpc>
                          <a:spcPct val="100000"/>
                        </a:lnSpc>
                        <a:spcBef>
                          <a:spcPts val="310"/>
                        </a:spcBef>
                      </a:pPr>
                      <a:r>
                        <a:rPr sz="1800" spc="-25" dirty="0">
                          <a:latin typeface="Arial MT"/>
                          <a:cs typeface="Arial MT"/>
                        </a:rPr>
                        <a:t>I3</a:t>
                      </a:r>
                      <a:endParaRPr sz="1800">
                        <a:latin typeface="Arial MT"/>
                        <a:cs typeface="Arial MT"/>
                      </a:endParaRPr>
                    </a:p>
                  </a:txBody>
                  <a:tcPr marL="0" marR="0" marT="3948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1800" spc="-50" dirty="0">
                          <a:latin typeface="Arial MT"/>
                          <a:cs typeface="Arial MT"/>
                        </a:rPr>
                        <a:t>6</a:t>
                      </a:r>
                      <a:endParaRPr sz="1800">
                        <a:latin typeface="Arial MT"/>
                        <a:cs typeface="Arial MT"/>
                      </a:endParaRPr>
                    </a:p>
                  </a:txBody>
                  <a:tcPr marL="0" marR="0" marT="39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65505">
                <a:tc>
                  <a:txBody>
                    <a:bodyPr/>
                    <a:lstStyle/>
                    <a:p>
                      <a:pPr algn="ctr">
                        <a:lnSpc>
                          <a:spcPct val="100000"/>
                        </a:lnSpc>
                        <a:spcBef>
                          <a:spcPts val="310"/>
                        </a:spcBef>
                      </a:pPr>
                      <a:r>
                        <a:rPr sz="1800" spc="-25" dirty="0">
                          <a:latin typeface="Arial MT"/>
                          <a:cs typeface="Arial MT"/>
                        </a:rPr>
                        <a:t>I4</a:t>
                      </a:r>
                      <a:endParaRPr sz="1800">
                        <a:latin typeface="Arial MT"/>
                        <a:cs typeface="Arial MT"/>
                      </a:endParaRPr>
                    </a:p>
                  </a:txBody>
                  <a:tcPr marL="0" marR="0" marT="3948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10"/>
                        </a:spcBef>
                      </a:pPr>
                      <a:r>
                        <a:rPr sz="1800" spc="-50" dirty="0">
                          <a:latin typeface="Arial MT"/>
                          <a:cs typeface="Arial MT"/>
                        </a:rPr>
                        <a:t>2</a:t>
                      </a:r>
                      <a:endParaRPr sz="1800">
                        <a:latin typeface="Arial MT"/>
                        <a:cs typeface="Arial MT"/>
                      </a:endParaRPr>
                    </a:p>
                  </a:txBody>
                  <a:tcPr marL="0" marR="0" marT="39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65505">
                <a:tc>
                  <a:txBody>
                    <a:bodyPr/>
                    <a:lstStyle/>
                    <a:p>
                      <a:pPr algn="ctr">
                        <a:lnSpc>
                          <a:spcPct val="100000"/>
                        </a:lnSpc>
                        <a:spcBef>
                          <a:spcPts val="310"/>
                        </a:spcBef>
                      </a:pPr>
                      <a:r>
                        <a:rPr sz="1800" spc="-25" dirty="0">
                          <a:latin typeface="Arial MT"/>
                          <a:cs typeface="Arial MT"/>
                        </a:rPr>
                        <a:t>I5</a:t>
                      </a:r>
                      <a:endParaRPr sz="1800">
                        <a:latin typeface="Arial MT"/>
                        <a:cs typeface="Arial MT"/>
                      </a:endParaRPr>
                    </a:p>
                  </a:txBody>
                  <a:tcPr marL="0" marR="0" marT="3948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ctr">
                        <a:lnSpc>
                          <a:spcPct val="100000"/>
                        </a:lnSpc>
                        <a:spcBef>
                          <a:spcPts val="310"/>
                        </a:spcBef>
                      </a:pPr>
                      <a:r>
                        <a:rPr sz="1800" spc="-50" dirty="0">
                          <a:latin typeface="Arial MT"/>
                          <a:cs typeface="Arial MT"/>
                        </a:rPr>
                        <a:t>2</a:t>
                      </a:r>
                      <a:endParaRPr sz="1800">
                        <a:latin typeface="Arial MT"/>
                        <a:cs typeface="Arial MT"/>
                      </a:endParaRPr>
                    </a:p>
                  </a:txBody>
                  <a:tcPr marL="0" marR="0" marT="394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bl>
          </a:graphicData>
        </a:graphic>
      </p:graphicFrame>
      <p:grpSp>
        <p:nvGrpSpPr>
          <p:cNvPr id="4" name="object 4"/>
          <p:cNvGrpSpPr/>
          <p:nvPr/>
        </p:nvGrpSpPr>
        <p:grpSpPr>
          <a:xfrm>
            <a:off x="3349404" y="1743155"/>
            <a:ext cx="4666242" cy="3142454"/>
            <a:chOff x="3340100" y="1735137"/>
            <a:chExt cx="4653280" cy="3133725"/>
          </a:xfrm>
        </p:grpSpPr>
        <p:pic>
          <p:nvPicPr>
            <p:cNvPr id="5" name="object 5"/>
            <p:cNvPicPr/>
            <p:nvPr/>
          </p:nvPicPr>
          <p:blipFill>
            <a:blip r:embed="rId2" cstate="print"/>
            <a:stretch>
              <a:fillRect/>
            </a:stretch>
          </p:blipFill>
          <p:spPr>
            <a:xfrm>
              <a:off x="6611937" y="1735137"/>
              <a:ext cx="238125" cy="238125"/>
            </a:xfrm>
            <a:prstGeom prst="rect">
              <a:avLst/>
            </a:prstGeom>
          </p:spPr>
        </p:pic>
        <p:pic>
          <p:nvPicPr>
            <p:cNvPr id="6" name="object 6"/>
            <p:cNvPicPr/>
            <p:nvPr/>
          </p:nvPicPr>
          <p:blipFill>
            <a:blip r:embed="rId2" cstate="print"/>
            <a:stretch>
              <a:fillRect/>
            </a:stretch>
          </p:blipFill>
          <p:spPr>
            <a:xfrm>
              <a:off x="5621337" y="2344737"/>
              <a:ext cx="238125" cy="238125"/>
            </a:xfrm>
            <a:prstGeom prst="rect">
              <a:avLst/>
            </a:prstGeom>
          </p:spPr>
        </p:pic>
        <p:pic>
          <p:nvPicPr>
            <p:cNvPr id="7" name="object 7"/>
            <p:cNvPicPr/>
            <p:nvPr/>
          </p:nvPicPr>
          <p:blipFill>
            <a:blip r:embed="rId2" cstate="print"/>
            <a:stretch>
              <a:fillRect/>
            </a:stretch>
          </p:blipFill>
          <p:spPr>
            <a:xfrm>
              <a:off x="7754937" y="2344737"/>
              <a:ext cx="238125" cy="238125"/>
            </a:xfrm>
            <a:prstGeom prst="rect">
              <a:avLst/>
            </a:prstGeom>
          </p:spPr>
        </p:pic>
        <p:pic>
          <p:nvPicPr>
            <p:cNvPr id="8" name="object 8"/>
            <p:cNvPicPr/>
            <p:nvPr/>
          </p:nvPicPr>
          <p:blipFill>
            <a:blip r:embed="rId2" cstate="print"/>
            <a:stretch>
              <a:fillRect/>
            </a:stretch>
          </p:blipFill>
          <p:spPr>
            <a:xfrm>
              <a:off x="4859337" y="3106737"/>
              <a:ext cx="238125" cy="238125"/>
            </a:xfrm>
            <a:prstGeom prst="rect">
              <a:avLst/>
            </a:prstGeom>
          </p:spPr>
        </p:pic>
        <p:pic>
          <p:nvPicPr>
            <p:cNvPr id="9" name="object 9"/>
            <p:cNvPicPr/>
            <p:nvPr/>
          </p:nvPicPr>
          <p:blipFill>
            <a:blip r:embed="rId2" cstate="print"/>
            <a:stretch>
              <a:fillRect/>
            </a:stretch>
          </p:blipFill>
          <p:spPr>
            <a:xfrm>
              <a:off x="5621337" y="3106737"/>
              <a:ext cx="238125" cy="238125"/>
            </a:xfrm>
            <a:prstGeom prst="rect">
              <a:avLst/>
            </a:prstGeom>
          </p:spPr>
        </p:pic>
        <p:pic>
          <p:nvPicPr>
            <p:cNvPr id="10" name="object 10"/>
            <p:cNvPicPr/>
            <p:nvPr/>
          </p:nvPicPr>
          <p:blipFill>
            <a:blip r:embed="rId2" cstate="print"/>
            <a:stretch>
              <a:fillRect/>
            </a:stretch>
          </p:blipFill>
          <p:spPr>
            <a:xfrm>
              <a:off x="6383337" y="3106737"/>
              <a:ext cx="238125" cy="238125"/>
            </a:xfrm>
            <a:prstGeom prst="rect">
              <a:avLst/>
            </a:prstGeom>
          </p:spPr>
        </p:pic>
        <p:pic>
          <p:nvPicPr>
            <p:cNvPr id="11" name="object 11"/>
            <p:cNvPicPr/>
            <p:nvPr/>
          </p:nvPicPr>
          <p:blipFill>
            <a:blip r:embed="rId2" cstate="print"/>
            <a:stretch>
              <a:fillRect/>
            </a:stretch>
          </p:blipFill>
          <p:spPr>
            <a:xfrm>
              <a:off x="4173537" y="4021137"/>
              <a:ext cx="238125" cy="238125"/>
            </a:xfrm>
            <a:prstGeom prst="rect">
              <a:avLst/>
            </a:prstGeom>
          </p:spPr>
        </p:pic>
        <p:pic>
          <p:nvPicPr>
            <p:cNvPr id="12" name="object 12"/>
            <p:cNvPicPr/>
            <p:nvPr/>
          </p:nvPicPr>
          <p:blipFill>
            <a:blip r:embed="rId2" cstate="print"/>
            <a:stretch>
              <a:fillRect/>
            </a:stretch>
          </p:blipFill>
          <p:spPr>
            <a:xfrm>
              <a:off x="4859337" y="4021137"/>
              <a:ext cx="238125" cy="238125"/>
            </a:xfrm>
            <a:prstGeom prst="rect">
              <a:avLst/>
            </a:prstGeom>
          </p:spPr>
        </p:pic>
        <p:pic>
          <p:nvPicPr>
            <p:cNvPr id="13" name="object 13"/>
            <p:cNvPicPr/>
            <p:nvPr/>
          </p:nvPicPr>
          <p:blipFill>
            <a:blip r:embed="rId2" cstate="print"/>
            <a:stretch>
              <a:fillRect/>
            </a:stretch>
          </p:blipFill>
          <p:spPr>
            <a:xfrm>
              <a:off x="5545137" y="4021137"/>
              <a:ext cx="238125" cy="238125"/>
            </a:xfrm>
            <a:prstGeom prst="rect">
              <a:avLst/>
            </a:prstGeom>
          </p:spPr>
        </p:pic>
        <p:pic>
          <p:nvPicPr>
            <p:cNvPr id="14" name="object 14"/>
            <p:cNvPicPr/>
            <p:nvPr/>
          </p:nvPicPr>
          <p:blipFill>
            <a:blip r:embed="rId2" cstate="print"/>
            <a:stretch>
              <a:fillRect/>
            </a:stretch>
          </p:blipFill>
          <p:spPr>
            <a:xfrm>
              <a:off x="5240337" y="4630737"/>
              <a:ext cx="238125" cy="238125"/>
            </a:xfrm>
            <a:prstGeom prst="rect">
              <a:avLst/>
            </a:prstGeom>
          </p:spPr>
        </p:pic>
        <p:pic>
          <p:nvPicPr>
            <p:cNvPr id="15" name="object 15"/>
            <p:cNvPicPr/>
            <p:nvPr/>
          </p:nvPicPr>
          <p:blipFill>
            <a:blip r:embed="rId2" cstate="print"/>
            <a:stretch>
              <a:fillRect/>
            </a:stretch>
          </p:blipFill>
          <p:spPr>
            <a:xfrm>
              <a:off x="7221537" y="3106737"/>
              <a:ext cx="238125" cy="238125"/>
            </a:xfrm>
            <a:prstGeom prst="rect">
              <a:avLst/>
            </a:prstGeom>
          </p:spPr>
        </p:pic>
        <p:sp>
          <p:nvSpPr>
            <p:cNvPr id="16" name="object 16"/>
            <p:cNvSpPr/>
            <p:nvPr/>
          </p:nvSpPr>
          <p:spPr>
            <a:xfrm>
              <a:off x="3340100" y="1887727"/>
              <a:ext cx="4500880" cy="2902585"/>
            </a:xfrm>
            <a:custGeom>
              <a:avLst/>
              <a:gdLst/>
              <a:ahLst/>
              <a:cxnLst/>
              <a:rect l="l" t="t" r="r" b="b"/>
              <a:pathLst>
                <a:path w="4500880" h="2902585">
                  <a:moveTo>
                    <a:pt x="28956" y="1709928"/>
                  </a:moveTo>
                  <a:lnTo>
                    <a:pt x="0" y="1709166"/>
                  </a:lnTo>
                  <a:lnTo>
                    <a:pt x="0" y="1738122"/>
                  </a:lnTo>
                  <a:lnTo>
                    <a:pt x="28194" y="1738122"/>
                  </a:lnTo>
                  <a:lnTo>
                    <a:pt x="28956" y="1709928"/>
                  </a:lnTo>
                  <a:close/>
                </a:path>
                <a:path w="4500880" h="2902585">
                  <a:moveTo>
                    <a:pt x="28956" y="1328928"/>
                  </a:moveTo>
                  <a:lnTo>
                    <a:pt x="0" y="1328166"/>
                  </a:lnTo>
                  <a:lnTo>
                    <a:pt x="0" y="1357122"/>
                  </a:lnTo>
                  <a:lnTo>
                    <a:pt x="28194" y="1357884"/>
                  </a:lnTo>
                  <a:lnTo>
                    <a:pt x="28956" y="1328928"/>
                  </a:lnTo>
                  <a:close/>
                </a:path>
                <a:path w="4500880" h="2902585">
                  <a:moveTo>
                    <a:pt x="28956" y="947928"/>
                  </a:moveTo>
                  <a:lnTo>
                    <a:pt x="0" y="947166"/>
                  </a:lnTo>
                  <a:lnTo>
                    <a:pt x="0" y="976122"/>
                  </a:lnTo>
                  <a:lnTo>
                    <a:pt x="28194" y="976122"/>
                  </a:lnTo>
                  <a:lnTo>
                    <a:pt x="28956" y="947928"/>
                  </a:lnTo>
                  <a:close/>
                </a:path>
                <a:path w="4500880" h="2902585">
                  <a:moveTo>
                    <a:pt x="28956" y="627888"/>
                  </a:moveTo>
                  <a:lnTo>
                    <a:pt x="28194" y="599694"/>
                  </a:lnTo>
                  <a:lnTo>
                    <a:pt x="0" y="599694"/>
                  </a:lnTo>
                  <a:lnTo>
                    <a:pt x="0" y="628650"/>
                  </a:lnTo>
                  <a:lnTo>
                    <a:pt x="28194" y="627913"/>
                  </a:lnTo>
                  <a:lnTo>
                    <a:pt x="28956" y="627888"/>
                  </a:lnTo>
                  <a:close/>
                </a:path>
                <a:path w="4500880" h="2902585">
                  <a:moveTo>
                    <a:pt x="29718" y="2015490"/>
                  </a:moveTo>
                  <a:lnTo>
                    <a:pt x="19812" y="2014728"/>
                  </a:lnTo>
                  <a:lnTo>
                    <a:pt x="0" y="2013966"/>
                  </a:lnTo>
                  <a:lnTo>
                    <a:pt x="0" y="2042922"/>
                  </a:lnTo>
                  <a:lnTo>
                    <a:pt x="19050" y="2043684"/>
                  </a:lnTo>
                  <a:lnTo>
                    <a:pt x="27432" y="2043684"/>
                  </a:lnTo>
                  <a:lnTo>
                    <a:pt x="29718" y="2015490"/>
                  </a:lnTo>
                  <a:close/>
                </a:path>
                <a:path w="4500880" h="2902585">
                  <a:moveTo>
                    <a:pt x="86106" y="1711452"/>
                  </a:moveTo>
                  <a:lnTo>
                    <a:pt x="57912" y="1710690"/>
                  </a:lnTo>
                  <a:lnTo>
                    <a:pt x="56388" y="1738884"/>
                  </a:lnTo>
                  <a:lnTo>
                    <a:pt x="85344" y="1739646"/>
                  </a:lnTo>
                  <a:lnTo>
                    <a:pt x="86106" y="1711452"/>
                  </a:lnTo>
                  <a:close/>
                </a:path>
                <a:path w="4500880" h="2902585">
                  <a:moveTo>
                    <a:pt x="86106" y="1330452"/>
                  </a:moveTo>
                  <a:lnTo>
                    <a:pt x="73152" y="1329690"/>
                  </a:lnTo>
                  <a:lnTo>
                    <a:pt x="57150" y="1329690"/>
                  </a:lnTo>
                  <a:lnTo>
                    <a:pt x="57150" y="1357884"/>
                  </a:lnTo>
                  <a:lnTo>
                    <a:pt x="72390" y="1358646"/>
                  </a:lnTo>
                  <a:lnTo>
                    <a:pt x="85344" y="1358646"/>
                  </a:lnTo>
                  <a:lnTo>
                    <a:pt x="86106" y="1330452"/>
                  </a:lnTo>
                  <a:close/>
                </a:path>
                <a:path w="4500880" h="2902585">
                  <a:moveTo>
                    <a:pt x="86106" y="947928"/>
                  </a:moveTo>
                  <a:lnTo>
                    <a:pt x="57150" y="947928"/>
                  </a:lnTo>
                  <a:lnTo>
                    <a:pt x="57150" y="976122"/>
                  </a:lnTo>
                  <a:lnTo>
                    <a:pt x="73152" y="976884"/>
                  </a:lnTo>
                  <a:lnTo>
                    <a:pt x="85344" y="976884"/>
                  </a:lnTo>
                  <a:lnTo>
                    <a:pt x="86106" y="947928"/>
                  </a:lnTo>
                  <a:close/>
                </a:path>
                <a:path w="4500880" h="2902585">
                  <a:moveTo>
                    <a:pt x="86106" y="627888"/>
                  </a:moveTo>
                  <a:lnTo>
                    <a:pt x="85344" y="598932"/>
                  </a:lnTo>
                  <a:lnTo>
                    <a:pt x="57150" y="598932"/>
                  </a:lnTo>
                  <a:lnTo>
                    <a:pt x="57150" y="627888"/>
                  </a:lnTo>
                  <a:lnTo>
                    <a:pt x="86106" y="627888"/>
                  </a:lnTo>
                  <a:close/>
                </a:path>
                <a:path w="4500880" h="2902585">
                  <a:moveTo>
                    <a:pt x="87630" y="2022348"/>
                  </a:moveTo>
                  <a:lnTo>
                    <a:pt x="80010" y="2020824"/>
                  </a:lnTo>
                  <a:lnTo>
                    <a:pt x="60198" y="2017776"/>
                  </a:lnTo>
                  <a:lnTo>
                    <a:pt x="58674" y="2017776"/>
                  </a:lnTo>
                  <a:lnTo>
                    <a:pt x="55626" y="2045970"/>
                  </a:lnTo>
                  <a:lnTo>
                    <a:pt x="57150" y="2046732"/>
                  </a:lnTo>
                  <a:lnTo>
                    <a:pt x="76200" y="2049018"/>
                  </a:lnTo>
                  <a:lnTo>
                    <a:pt x="83058" y="2050542"/>
                  </a:lnTo>
                  <a:lnTo>
                    <a:pt x="87630" y="2022348"/>
                  </a:lnTo>
                  <a:close/>
                </a:path>
                <a:path w="4500880" h="2902585">
                  <a:moveTo>
                    <a:pt x="143256" y="1714500"/>
                  </a:moveTo>
                  <a:lnTo>
                    <a:pt x="115062" y="1712976"/>
                  </a:lnTo>
                  <a:lnTo>
                    <a:pt x="113538" y="1741170"/>
                  </a:lnTo>
                  <a:lnTo>
                    <a:pt x="141732" y="1742694"/>
                  </a:lnTo>
                  <a:lnTo>
                    <a:pt x="143256" y="1714500"/>
                  </a:lnTo>
                  <a:close/>
                </a:path>
                <a:path w="4500880" h="2902585">
                  <a:moveTo>
                    <a:pt x="143256" y="1333500"/>
                  </a:moveTo>
                  <a:lnTo>
                    <a:pt x="115062" y="1331976"/>
                  </a:lnTo>
                  <a:lnTo>
                    <a:pt x="113538" y="1360170"/>
                  </a:lnTo>
                  <a:lnTo>
                    <a:pt x="141732" y="1361694"/>
                  </a:lnTo>
                  <a:lnTo>
                    <a:pt x="143256" y="1333500"/>
                  </a:lnTo>
                  <a:close/>
                </a:path>
                <a:path w="4500880" h="2902585">
                  <a:moveTo>
                    <a:pt x="143256" y="949452"/>
                  </a:moveTo>
                  <a:lnTo>
                    <a:pt x="114300" y="948690"/>
                  </a:lnTo>
                  <a:lnTo>
                    <a:pt x="114300" y="976884"/>
                  </a:lnTo>
                  <a:lnTo>
                    <a:pt x="142494" y="977646"/>
                  </a:lnTo>
                  <a:lnTo>
                    <a:pt x="143256" y="949452"/>
                  </a:lnTo>
                  <a:close/>
                </a:path>
                <a:path w="4500880" h="2902585">
                  <a:moveTo>
                    <a:pt x="143256" y="626364"/>
                  </a:moveTo>
                  <a:lnTo>
                    <a:pt x="142494" y="597408"/>
                  </a:lnTo>
                  <a:lnTo>
                    <a:pt x="115062" y="598855"/>
                  </a:lnTo>
                  <a:lnTo>
                    <a:pt x="113538" y="598932"/>
                  </a:lnTo>
                  <a:lnTo>
                    <a:pt x="115062" y="627126"/>
                  </a:lnTo>
                  <a:lnTo>
                    <a:pt x="142494" y="626389"/>
                  </a:lnTo>
                  <a:lnTo>
                    <a:pt x="143256" y="626364"/>
                  </a:lnTo>
                  <a:close/>
                </a:path>
                <a:path w="4500880" h="2902585">
                  <a:moveTo>
                    <a:pt x="144780" y="2035302"/>
                  </a:moveTo>
                  <a:lnTo>
                    <a:pt x="138684" y="2033778"/>
                  </a:lnTo>
                  <a:lnTo>
                    <a:pt x="119634" y="2028444"/>
                  </a:lnTo>
                  <a:lnTo>
                    <a:pt x="116586" y="2027682"/>
                  </a:lnTo>
                  <a:lnTo>
                    <a:pt x="110490" y="2055876"/>
                  </a:lnTo>
                  <a:lnTo>
                    <a:pt x="131826" y="2061210"/>
                  </a:lnTo>
                  <a:lnTo>
                    <a:pt x="137160" y="2062734"/>
                  </a:lnTo>
                  <a:lnTo>
                    <a:pt x="144780" y="2035302"/>
                  </a:lnTo>
                  <a:close/>
                </a:path>
                <a:path w="4500880" h="2902585">
                  <a:moveTo>
                    <a:pt x="200406" y="2054352"/>
                  </a:moveTo>
                  <a:lnTo>
                    <a:pt x="195072" y="2052066"/>
                  </a:lnTo>
                  <a:lnTo>
                    <a:pt x="176784" y="2045208"/>
                  </a:lnTo>
                  <a:lnTo>
                    <a:pt x="172974" y="2044446"/>
                  </a:lnTo>
                  <a:lnTo>
                    <a:pt x="163830" y="2071116"/>
                  </a:lnTo>
                  <a:lnTo>
                    <a:pt x="167640" y="2072640"/>
                  </a:lnTo>
                  <a:lnTo>
                    <a:pt x="185166" y="2079498"/>
                  </a:lnTo>
                  <a:lnTo>
                    <a:pt x="189738" y="2081022"/>
                  </a:lnTo>
                  <a:lnTo>
                    <a:pt x="200406" y="2054352"/>
                  </a:lnTo>
                  <a:close/>
                </a:path>
                <a:path w="4500880" h="2902585">
                  <a:moveTo>
                    <a:pt x="200406" y="950976"/>
                  </a:moveTo>
                  <a:lnTo>
                    <a:pt x="171450" y="950214"/>
                  </a:lnTo>
                  <a:lnTo>
                    <a:pt x="170688" y="978408"/>
                  </a:lnTo>
                  <a:lnTo>
                    <a:pt x="199644" y="979170"/>
                  </a:lnTo>
                  <a:lnTo>
                    <a:pt x="200406" y="950976"/>
                  </a:lnTo>
                  <a:close/>
                </a:path>
                <a:path w="4500880" h="2902585">
                  <a:moveTo>
                    <a:pt x="200406" y="624840"/>
                  </a:moveTo>
                  <a:lnTo>
                    <a:pt x="199644" y="595884"/>
                  </a:lnTo>
                  <a:lnTo>
                    <a:pt x="171450" y="596633"/>
                  </a:lnTo>
                  <a:lnTo>
                    <a:pt x="170688" y="596646"/>
                  </a:lnTo>
                  <a:lnTo>
                    <a:pt x="171450" y="625602"/>
                  </a:lnTo>
                  <a:lnTo>
                    <a:pt x="199644" y="624865"/>
                  </a:lnTo>
                  <a:lnTo>
                    <a:pt x="200406" y="624840"/>
                  </a:lnTo>
                  <a:close/>
                </a:path>
                <a:path w="4500880" h="2902585">
                  <a:moveTo>
                    <a:pt x="201168" y="1719072"/>
                  </a:moveTo>
                  <a:lnTo>
                    <a:pt x="172212" y="1716786"/>
                  </a:lnTo>
                  <a:lnTo>
                    <a:pt x="169926" y="1744980"/>
                  </a:lnTo>
                  <a:lnTo>
                    <a:pt x="198882" y="1747266"/>
                  </a:lnTo>
                  <a:lnTo>
                    <a:pt x="201168" y="1719072"/>
                  </a:lnTo>
                  <a:close/>
                </a:path>
                <a:path w="4500880" h="2902585">
                  <a:moveTo>
                    <a:pt x="201168" y="1337310"/>
                  </a:moveTo>
                  <a:lnTo>
                    <a:pt x="172212" y="1335024"/>
                  </a:lnTo>
                  <a:lnTo>
                    <a:pt x="169926" y="1363980"/>
                  </a:lnTo>
                  <a:lnTo>
                    <a:pt x="198882" y="1366266"/>
                  </a:lnTo>
                  <a:lnTo>
                    <a:pt x="201168" y="1337310"/>
                  </a:lnTo>
                  <a:close/>
                </a:path>
                <a:path w="4500880" h="2902585">
                  <a:moveTo>
                    <a:pt x="253746" y="2079498"/>
                  </a:moveTo>
                  <a:lnTo>
                    <a:pt x="230886" y="2068068"/>
                  </a:lnTo>
                  <a:lnTo>
                    <a:pt x="227076" y="2066544"/>
                  </a:lnTo>
                  <a:lnTo>
                    <a:pt x="214884" y="2092452"/>
                  </a:lnTo>
                  <a:lnTo>
                    <a:pt x="218694" y="2093976"/>
                  </a:lnTo>
                  <a:lnTo>
                    <a:pt x="234696" y="2102358"/>
                  </a:lnTo>
                  <a:lnTo>
                    <a:pt x="240030" y="2104644"/>
                  </a:lnTo>
                  <a:lnTo>
                    <a:pt x="253746" y="2079498"/>
                  </a:lnTo>
                  <a:close/>
                </a:path>
                <a:path w="4500880" h="2902585">
                  <a:moveTo>
                    <a:pt x="257556" y="952500"/>
                  </a:moveTo>
                  <a:lnTo>
                    <a:pt x="229362" y="951738"/>
                  </a:lnTo>
                  <a:lnTo>
                    <a:pt x="227838" y="979932"/>
                  </a:lnTo>
                  <a:lnTo>
                    <a:pt x="256794" y="981456"/>
                  </a:lnTo>
                  <a:lnTo>
                    <a:pt x="257556" y="952500"/>
                  </a:lnTo>
                  <a:close/>
                </a:path>
                <a:path w="4500880" h="2902585">
                  <a:moveTo>
                    <a:pt x="257556" y="621792"/>
                  </a:moveTo>
                  <a:lnTo>
                    <a:pt x="256032" y="593598"/>
                  </a:lnTo>
                  <a:lnTo>
                    <a:pt x="229362" y="595045"/>
                  </a:lnTo>
                  <a:lnTo>
                    <a:pt x="227838" y="595122"/>
                  </a:lnTo>
                  <a:lnTo>
                    <a:pt x="229362" y="623316"/>
                  </a:lnTo>
                  <a:lnTo>
                    <a:pt x="256032" y="621880"/>
                  </a:lnTo>
                  <a:lnTo>
                    <a:pt x="257556" y="621792"/>
                  </a:lnTo>
                  <a:close/>
                </a:path>
                <a:path w="4500880" h="2902585">
                  <a:moveTo>
                    <a:pt x="258318" y="1724406"/>
                  </a:moveTo>
                  <a:lnTo>
                    <a:pt x="229362" y="1721358"/>
                  </a:lnTo>
                  <a:lnTo>
                    <a:pt x="226314" y="1750314"/>
                  </a:lnTo>
                  <a:lnTo>
                    <a:pt x="255270" y="1753362"/>
                  </a:lnTo>
                  <a:lnTo>
                    <a:pt x="258318" y="1724406"/>
                  </a:lnTo>
                  <a:close/>
                </a:path>
                <a:path w="4500880" h="2902585">
                  <a:moveTo>
                    <a:pt x="258318" y="1343406"/>
                  </a:moveTo>
                  <a:lnTo>
                    <a:pt x="230124" y="1340358"/>
                  </a:lnTo>
                  <a:lnTo>
                    <a:pt x="226314" y="1368552"/>
                  </a:lnTo>
                  <a:lnTo>
                    <a:pt x="255270" y="1371600"/>
                  </a:lnTo>
                  <a:lnTo>
                    <a:pt x="258318" y="1343406"/>
                  </a:lnTo>
                  <a:close/>
                </a:path>
                <a:path w="4500880" h="2902585">
                  <a:moveTo>
                    <a:pt x="303276" y="2110740"/>
                  </a:moveTo>
                  <a:lnTo>
                    <a:pt x="295656" y="2105406"/>
                  </a:lnTo>
                  <a:lnTo>
                    <a:pt x="280416" y="2095500"/>
                  </a:lnTo>
                  <a:lnTo>
                    <a:pt x="278892" y="2093976"/>
                  </a:lnTo>
                  <a:lnTo>
                    <a:pt x="263652" y="2118360"/>
                  </a:lnTo>
                  <a:lnTo>
                    <a:pt x="265938" y="2119884"/>
                  </a:lnTo>
                  <a:lnTo>
                    <a:pt x="280416" y="2129028"/>
                  </a:lnTo>
                  <a:lnTo>
                    <a:pt x="287274" y="2133600"/>
                  </a:lnTo>
                  <a:lnTo>
                    <a:pt x="303276" y="2110740"/>
                  </a:lnTo>
                  <a:close/>
                </a:path>
                <a:path w="4500880" h="2902585">
                  <a:moveTo>
                    <a:pt x="314706" y="955548"/>
                  </a:moveTo>
                  <a:lnTo>
                    <a:pt x="291084" y="954024"/>
                  </a:lnTo>
                  <a:lnTo>
                    <a:pt x="286512" y="954024"/>
                  </a:lnTo>
                  <a:lnTo>
                    <a:pt x="284988" y="982218"/>
                  </a:lnTo>
                  <a:lnTo>
                    <a:pt x="289560" y="982980"/>
                  </a:lnTo>
                  <a:lnTo>
                    <a:pt x="313182" y="983742"/>
                  </a:lnTo>
                  <a:lnTo>
                    <a:pt x="314706" y="955548"/>
                  </a:lnTo>
                  <a:close/>
                </a:path>
                <a:path w="4500880" h="2902585">
                  <a:moveTo>
                    <a:pt x="314706" y="619506"/>
                  </a:moveTo>
                  <a:lnTo>
                    <a:pt x="313182" y="590550"/>
                  </a:lnTo>
                  <a:lnTo>
                    <a:pt x="286512" y="591997"/>
                  </a:lnTo>
                  <a:lnTo>
                    <a:pt x="284988" y="592074"/>
                  </a:lnTo>
                  <a:lnTo>
                    <a:pt x="286512" y="620268"/>
                  </a:lnTo>
                  <a:lnTo>
                    <a:pt x="313182" y="619556"/>
                  </a:lnTo>
                  <a:lnTo>
                    <a:pt x="314706" y="619506"/>
                  </a:lnTo>
                  <a:close/>
                </a:path>
                <a:path w="4500880" h="2902585">
                  <a:moveTo>
                    <a:pt x="315468" y="1732026"/>
                  </a:moveTo>
                  <a:lnTo>
                    <a:pt x="308610" y="1731264"/>
                  </a:lnTo>
                  <a:lnTo>
                    <a:pt x="286512" y="1728216"/>
                  </a:lnTo>
                  <a:lnTo>
                    <a:pt x="283464" y="1756410"/>
                  </a:lnTo>
                  <a:lnTo>
                    <a:pt x="305562" y="1759458"/>
                  </a:lnTo>
                  <a:lnTo>
                    <a:pt x="310896" y="1760220"/>
                  </a:lnTo>
                  <a:lnTo>
                    <a:pt x="315468" y="1732026"/>
                  </a:lnTo>
                  <a:close/>
                </a:path>
                <a:path w="4500880" h="2902585">
                  <a:moveTo>
                    <a:pt x="315468" y="1350264"/>
                  </a:moveTo>
                  <a:lnTo>
                    <a:pt x="291846" y="1347216"/>
                  </a:lnTo>
                  <a:lnTo>
                    <a:pt x="286512" y="1346454"/>
                  </a:lnTo>
                  <a:lnTo>
                    <a:pt x="283464" y="1374648"/>
                  </a:lnTo>
                  <a:lnTo>
                    <a:pt x="288798" y="1375410"/>
                  </a:lnTo>
                  <a:lnTo>
                    <a:pt x="311658" y="1378458"/>
                  </a:lnTo>
                  <a:lnTo>
                    <a:pt x="315468" y="1350264"/>
                  </a:lnTo>
                  <a:close/>
                </a:path>
                <a:path w="4500880" h="2902585">
                  <a:moveTo>
                    <a:pt x="348996" y="2147316"/>
                  </a:moveTo>
                  <a:lnTo>
                    <a:pt x="338328" y="2138172"/>
                  </a:lnTo>
                  <a:lnTo>
                    <a:pt x="326898" y="2128266"/>
                  </a:lnTo>
                  <a:lnTo>
                    <a:pt x="308610" y="2150364"/>
                  </a:lnTo>
                  <a:lnTo>
                    <a:pt x="320040" y="2159508"/>
                  </a:lnTo>
                  <a:lnTo>
                    <a:pt x="329946" y="2168652"/>
                  </a:lnTo>
                  <a:lnTo>
                    <a:pt x="348996" y="2147316"/>
                  </a:lnTo>
                  <a:close/>
                </a:path>
                <a:path w="4500880" h="2902585">
                  <a:moveTo>
                    <a:pt x="371856" y="1741170"/>
                  </a:moveTo>
                  <a:lnTo>
                    <a:pt x="358902" y="1738884"/>
                  </a:lnTo>
                  <a:lnTo>
                    <a:pt x="343662" y="1736598"/>
                  </a:lnTo>
                  <a:lnTo>
                    <a:pt x="339090" y="1764792"/>
                  </a:lnTo>
                  <a:lnTo>
                    <a:pt x="354330" y="1767078"/>
                  </a:lnTo>
                  <a:lnTo>
                    <a:pt x="367284" y="1769364"/>
                  </a:lnTo>
                  <a:lnTo>
                    <a:pt x="371856" y="1741170"/>
                  </a:lnTo>
                  <a:close/>
                </a:path>
                <a:path w="4500880" h="2902585">
                  <a:moveTo>
                    <a:pt x="371856" y="958596"/>
                  </a:moveTo>
                  <a:lnTo>
                    <a:pt x="362712" y="957834"/>
                  </a:lnTo>
                  <a:lnTo>
                    <a:pt x="343662" y="957072"/>
                  </a:lnTo>
                  <a:lnTo>
                    <a:pt x="342138" y="985266"/>
                  </a:lnTo>
                  <a:lnTo>
                    <a:pt x="361188" y="986028"/>
                  </a:lnTo>
                  <a:lnTo>
                    <a:pt x="370332" y="986790"/>
                  </a:lnTo>
                  <a:lnTo>
                    <a:pt x="371856" y="958596"/>
                  </a:lnTo>
                  <a:close/>
                </a:path>
                <a:path w="4500880" h="2902585">
                  <a:moveTo>
                    <a:pt x="371856" y="615696"/>
                  </a:moveTo>
                  <a:lnTo>
                    <a:pt x="370332" y="586740"/>
                  </a:lnTo>
                  <a:lnTo>
                    <a:pt x="368046" y="587502"/>
                  </a:lnTo>
                  <a:lnTo>
                    <a:pt x="341376" y="589026"/>
                  </a:lnTo>
                  <a:lnTo>
                    <a:pt x="343662" y="617220"/>
                  </a:lnTo>
                  <a:lnTo>
                    <a:pt x="370332" y="615696"/>
                  </a:lnTo>
                  <a:lnTo>
                    <a:pt x="371856" y="615696"/>
                  </a:lnTo>
                  <a:close/>
                </a:path>
                <a:path w="4500880" h="2902585">
                  <a:moveTo>
                    <a:pt x="372618" y="1358646"/>
                  </a:moveTo>
                  <a:lnTo>
                    <a:pt x="364236" y="1357122"/>
                  </a:lnTo>
                  <a:lnTo>
                    <a:pt x="343662" y="1354836"/>
                  </a:lnTo>
                  <a:lnTo>
                    <a:pt x="339852" y="1383030"/>
                  </a:lnTo>
                  <a:lnTo>
                    <a:pt x="359664" y="1386078"/>
                  </a:lnTo>
                  <a:lnTo>
                    <a:pt x="367284" y="1386840"/>
                  </a:lnTo>
                  <a:lnTo>
                    <a:pt x="372618" y="1358646"/>
                  </a:lnTo>
                  <a:close/>
                </a:path>
                <a:path w="4500880" h="2902585">
                  <a:moveTo>
                    <a:pt x="389382" y="2192274"/>
                  </a:moveTo>
                  <a:lnTo>
                    <a:pt x="384810" y="2186178"/>
                  </a:lnTo>
                  <a:lnTo>
                    <a:pt x="374904" y="2173986"/>
                  </a:lnTo>
                  <a:lnTo>
                    <a:pt x="370332" y="2168652"/>
                  </a:lnTo>
                  <a:lnTo>
                    <a:pt x="348996" y="2187702"/>
                  </a:lnTo>
                  <a:lnTo>
                    <a:pt x="353568" y="2193036"/>
                  </a:lnTo>
                  <a:lnTo>
                    <a:pt x="362712" y="2204466"/>
                  </a:lnTo>
                  <a:lnTo>
                    <a:pt x="366522" y="2209038"/>
                  </a:lnTo>
                  <a:lnTo>
                    <a:pt x="389382" y="2192274"/>
                  </a:lnTo>
                  <a:close/>
                </a:path>
                <a:path w="4500880" h="2902585">
                  <a:moveTo>
                    <a:pt x="419100" y="2244852"/>
                  </a:moveTo>
                  <a:lnTo>
                    <a:pt x="417576" y="2240280"/>
                  </a:lnTo>
                  <a:lnTo>
                    <a:pt x="410718" y="2225802"/>
                  </a:lnTo>
                  <a:lnTo>
                    <a:pt x="406146" y="2217420"/>
                  </a:lnTo>
                  <a:lnTo>
                    <a:pt x="381000" y="2231136"/>
                  </a:lnTo>
                  <a:lnTo>
                    <a:pt x="386334" y="2240280"/>
                  </a:lnTo>
                  <a:lnTo>
                    <a:pt x="391668" y="2252472"/>
                  </a:lnTo>
                  <a:lnTo>
                    <a:pt x="392430" y="2255520"/>
                  </a:lnTo>
                  <a:lnTo>
                    <a:pt x="419100" y="2244852"/>
                  </a:lnTo>
                  <a:close/>
                </a:path>
                <a:path w="4500880" h="2902585">
                  <a:moveTo>
                    <a:pt x="428244" y="1368552"/>
                  </a:moveTo>
                  <a:lnTo>
                    <a:pt x="400050" y="1363980"/>
                  </a:lnTo>
                  <a:lnTo>
                    <a:pt x="395478" y="1392174"/>
                  </a:lnTo>
                  <a:lnTo>
                    <a:pt x="423672" y="1396746"/>
                  </a:lnTo>
                  <a:lnTo>
                    <a:pt x="428244" y="1368552"/>
                  </a:lnTo>
                  <a:close/>
                </a:path>
                <a:path w="4500880" h="2902585">
                  <a:moveTo>
                    <a:pt x="429006" y="1751076"/>
                  </a:moveTo>
                  <a:lnTo>
                    <a:pt x="408432" y="1747266"/>
                  </a:lnTo>
                  <a:lnTo>
                    <a:pt x="400050" y="1745742"/>
                  </a:lnTo>
                  <a:lnTo>
                    <a:pt x="395478" y="1773936"/>
                  </a:lnTo>
                  <a:lnTo>
                    <a:pt x="403098" y="1775460"/>
                  </a:lnTo>
                  <a:lnTo>
                    <a:pt x="422910" y="1779270"/>
                  </a:lnTo>
                  <a:lnTo>
                    <a:pt x="429006" y="1751076"/>
                  </a:lnTo>
                  <a:close/>
                </a:path>
                <a:path w="4500880" h="2902585">
                  <a:moveTo>
                    <a:pt x="429006" y="961644"/>
                  </a:moveTo>
                  <a:lnTo>
                    <a:pt x="400812" y="960120"/>
                  </a:lnTo>
                  <a:lnTo>
                    <a:pt x="398526" y="988314"/>
                  </a:lnTo>
                  <a:lnTo>
                    <a:pt x="427482" y="990600"/>
                  </a:lnTo>
                  <a:lnTo>
                    <a:pt x="429006" y="961644"/>
                  </a:lnTo>
                  <a:close/>
                </a:path>
                <a:path w="4500880" h="2902585">
                  <a:moveTo>
                    <a:pt x="429006" y="611124"/>
                  </a:moveTo>
                  <a:lnTo>
                    <a:pt x="426720" y="582930"/>
                  </a:lnTo>
                  <a:lnTo>
                    <a:pt x="418338" y="583692"/>
                  </a:lnTo>
                  <a:lnTo>
                    <a:pt x="398526" y="585216"/>
                  </a:lnTo>
                  <a:lnTo>
                    <a:pt x="400812" y="613410"/>
                  </a:lnTo>
                  <a:lnTo>
                    <a:pt x="420624" y="611886"/>
                  </a:lnTo>
                  <a:lnTo>
                    <a:pt x="429006" y="611124"/>
                  </a:lnTo>
                  <a:close/>
                </a:path>
                <a:path w="4500880" h="2902585">
                  <a:moveTo>
                    <a:pt x="433578" y="2304288"/>
                  </a:moveTo>
                  <a:lnTo>
                    <a:pt x="432803" y="2295982"/>
                  </a:lnTo>
                  <a:lnTo>
                    <a:pt x="431647" y="2288692"/>
                  </a:lnTo>
                  <a:lnTo>
                    <a:pt x="430314" y="2281580"/>
                  </a:lnTo>
                  <a:lnTo>
                    <a:pt x="429006" y="2273808"/>
                  </a:lnTo>
                  <a:lnTo>
                    <a:pt x="400812" y="2280666"/>
                  </a:lnTo>
                  <a:lnTo>
                    <a:pt x="401574" y="2282190"/>
                  </a:lnTo>
                  <a:lnTo>
                    <a:pt x="402336" y="2288286"/>
                  </a:lnTo>
                  <a:lnTo>
                    <a:pt x="403860" y="2294382"/>
                  </a:lnTo>
                  <a:lnTo>
                    <a:pt x="404622" y="2300478"/>
                  </a:lnTo>
                  <a:lnTo>
                    <a:pt x="404622" y="2306574"/>
                  </a:lnTo>
                  <a:lnTo>
                    <a:pt x="429006" y="2304656"/>
                  </a:lnTo>
                  <a:lnTo>
                    <a:pt x="430314" y="2304554"/>
                  </a:lnTo>
                  <a:lnTo>
                    <a:pt x="431647" y="2304440"/>
                  </a:lnTo>
                  <a:lnTo>
                    <a:pt x="432803" y="2304351"/>
                  </a:lnTo>
                  <a:lnTo>
                    <a:pt x="433578" y="2304288"/>
                  </a:lnTo>
                  <a:close/>
                </a:path>
                <a:path w="4500880" h="2902585">
                  <a:moveTo>
                    <a:pt x="438150" y="2359914"/>
                  </a:moveTo>
                  <a:lnTo>
                    <a:pt x="435864" y="2350008"/>
                  </a:lnTo>
                  <a:lnTo>
                    <a:pt x="434340" y="2337816"/>
                  </a:lnTo>
                  <a:lnTo>
                    <a:pt x="434340" y="2332482"/>
                  </a:lnTo>
                  <a:lnTo>
                    <a:pt x="407670" y="2334653"/>
                  </a:lnTo>
                  <a:lnTo>
                    <a:pt x="406146" y="2334768"/>
                  </a:lnTo>
                  <a:lnTo>
                    <a:pt x="406146" y="2339340"/>
                  </a:lnTo>
                  <a:lnTo>
                    <a:pt x="407670" y="2353818"/>
                  </a:lnTo>
                  <a:lnTo>
                    <a:pt x="409956" y="2364486"/>
                  </a:lnTo>
                  <a:lnTo>
                    <a:pt x="438150" y="2359914"/>
                  </a:lnTo>
                  <a:close/>
                </a:path>
                <a:path w="4500880" h="2902585">
                  <a:moveTo>
                    <a:pt x="452628" y="2411730"/>
                  </a:moveTo>
                  <a:lnTo>
                    <a:pt x="451866" y="2410968"/>
                  </a:lnTo>
                  <a:lnTo>
                    <a:pt x="448056" y="2399538"/>
                  </a:lnTo>
                  <a:lnTo>
                    <a:pt x="444246" y="2387346"/>
                  </a:lnTo>
                  <a:lnTo>
                    <a:pt x="444246" y="2386584"/>
                  </a:lnTo>
                  <a:lnTo>
                    <a:pt x="416052" y="2393442"/>
                  </a:lnTo>
                  <a:lnTo>
                    <a:pt x="416814" y="2394204"/>
                  </a:lnTo>
                  <a:lnTo>
                    <a:pt x="420624" y="2407920"/>
                  </a:lnTo>
                  <a:lnTo>
                    <a:pt x="425196" y="2420874"/>
                  </a:lnTo>
                  <a:lnTo>
                    <a:pt x="425958" y="2422398"/>
                  </a:lnTo>
                  <a:lnTo>
                    <a:pt x="452628" y="2411730"/>
                  </a:lnTo>
                  <a:close/>
                </a:path>
                <a:path w="4500880" h="2902585">
                  <a:moveTo>
                    <a:pt x="476250" y="2461260"/>
                  </a:moveTo>
                  <a:lnTo>
                    <a:pt x="473202" y="2457450"/>
                  </a:lnTo>
                  <a:lnTo>
                    <a:pt x="467106" y="2446020"/>
                  </a:lnTo>
                  <a:lnTo>
                    <a:pt x="463296" y="2436876"/>
                  </a:lnTo>
                  <a:lnTo>
                    <a:pt x="437388" y="2449830"/>
                  </a:lnTo>
                  <a:lnTo>
                    <a:pt x="441960" y="2458974"/>
                  </a:lnTo>
                  <a:lnTo>
                    <a:pt x="448056" y="2470404"/>
                  </a:lnTo>
                  <a:lnTo>
                    <a:pt x="451104" y="2475738"/>
                  </a:lnTo>
                  <a:lnTo>
                    <a:pt x="476250" y="2461260"/>
                  </a:lnTo>
                  <a:close/>
                </a:path>
                <a:path w="4500880" h="2902585">
                  <a:moveTo>
                    <a:pt x="484632" y="1762506"/>
                  </a:moveTo>
                  <a:lnTo>
                    <a:pt x="457200" y="1756410"/>
                  </a:lnTo>
                  <a:lnTo>
                    <a:pt x="451104" y="1784604"/>
                  </a:lnTo>
                  <a:lnTo>
                    <a:pt x="478536" y="1790700"/>
                  </a:lnTo>
                  <a:lnTo>
                    <a:pt x="484632" y="1762506"/>
                  </a:lnTo>
                  <a:close/>
                </a:path>
                <a:path w="4500880" h="2902585">
                  <a:moveTo>
                    <a:pt x="485394" y="1379982"/>
                  </a:moveTo>
                  <a:lnTo>
                    <a:pt x="457200" y="1373886"/>
                  </a:lnTo>
                  <a:lnTo>
                    <a:pt x="451104" y="1402080"/>
                  </a:lnTo>
                  <a:lnTo>
                    <a:pt x="479298" y="1407414"/>
                  </a:lnTo>
                  <a:lnTo>
                    <a:pt x="485394" y="1379982"/>
                  </a:lnTo>
                  <a:close/>
                </a:path>
                <a:path w="4500880" h="2902585">
                  <a:moveTo>
                    <a:pt x="486156" y="966216"/>
                  </a:moveTo>
                  <a:lnTo>
                    <a:pt x="457962" y="963930"/>
                  </a:lnTo>
                  <a:lnTo>
                    <a:pt x="455676" y="992124"/>
                  </a:lnTo>
                  <a:lnTo>
                    <a:pt x="484632" y="994410"/>
                  </a:lnTo>
                  <a:lnTo>
                    <a:pt x="486156" y="966216"/>
                  </a:lnTo>
                  <a:close/>
                </a:path>
                <a:path w="4500880" h="2902585">
                  <a:moveTo>
                    <a:pt x="486156" y="606552"/>
                  </a:moveTo>
                  <a:lnTo>
                    <a:pt x="483870" y="578358"/>
                  </a:lnTo>
                  <a:lnTo>
                    <a:pt x="470916" y="579005"/>
                  </a:lnTo>
                  <a:lnTo>
                    <a:pt x="468630" y="579120"/>
                  </a:lnTo>
                  <a:lnTo>
                    <a:pt x="455676" y="580644"/>
                  </a:lnTo>
                  <a:lnTo>
                    <a:pt x="457962" y="608838"/>
                  </a:lnTo>
                  <a:lnTo>
                    <a:pt x="470916" y="608076"/>
                  </a:lnTo>
                  <a:lnTo>
                    <a:pt x="486156" y="606552"/>
                  </a:lnTo>
                  <a:close/>
                </a:path>
                <a:path w="4500880" h="2902585">
                  <a:moveTo>
                    <a:pt x="507492" y="2506218"/>
                  </a:moveTo>
                  <a:lnTo>
                    <a:pt x="501396" y="2497836"/>
                  </a:lnTo>
                  <a:lnTo>
                    <a:pt x="493776" y="2488692"/>
                  </a:lnTo>
                  <a:lnTo>
                    <a:pt x="490728" y="2484120"/>
                  </a:lnTo>
                  <a:lnTo>
                    <a:pt x="467106" y="2500884"/>
                  </a:lnTo>
                  <a:lnTo>
                    <a:pt x="470154" y="2504694"/>
                  </a:lnTo>
                  <a:lnTo>
                    <a:pt x="478536" y="2515362"/>
                  </a:lnTo>
                  <a:lnTo>
                    <a:pt x="485394" y="2524506"/>
                  </a:lnTo>
                  <a:lnTo>
                    <a:pt x="507492" y="2506218"/>
                  </a:lnTo>
                  <a:close/>
                </a:path>
                <a:path w="4500880" h="2902585">
                  <a:moveTo>
                    <a:pt x="541020" y="1776222"/>
                  </a:moveTo>
                  <a:lnTo>
                    <a:pt x="512826" y="1769364"/>
                  </a:lnTo>
                  <a:lnTo>
                    <a:pt x="506730" y="1796796"/>
                  </a:lnTo>
                  <a:lnTo>
                    <a:pt x="534162" y="1803654"/>
                  </a:lnTo>
                  <a:lnTo>
                    <a:pt x="541020" y="1776222"/>
                  </a:lnTo>
                  <a:close/>
                </a:path>
                <a:path w="4500880" h="2902585">
                  <a:moveTo>
                    <a:pt x="541020" y="1392174"/>
                  </a:moveTo>
                  <a:lnTo>
                    <a:pt x="513588" y="1386078"/>
                  </a:lnTo>
                  <a:lnTo>
                    <a:pt x="506730" y="1413510"/>
                  </a:lnTo>
                  <a:lnTo>
                    <a:pt x="534924" y="1420368"/>
                  </a:lnTo>
                  <a:lnTo>
                    <a:pt x="541020" y="1392174"/>
                  </a:lnTo>
                  <a:close/>
                </a:path>
                <a:path w="4500880" h="2902585">
                  <a:moveTo>
                    <a:pt x="543306" y="970788"/>
                  </a:moveTo>
                  <a:lnTo>
                    <a:pt x="515112" y="968502"/>
                  </a:lnTo>
                  <a:lnTo>
                    <a:pt x="512826" y="996696"/>
                  </a:lnTo>
                  <a:lnTo>
                    <a:pt x="541020" y="998982"/>
                  </a:lnTo>
                  <a:lnTo>
                    <a:pt x="543306" y="970788"/>
                  </a:lnTo>
                  <a:close/>
                </a:path>
                <a:path w="4500880" h="2902585">
                  <a:moveTo>
                    <a:pt x="543306" y="601218"/>
                  </a:moveTo>
                  <a:lnTo>
                    <a:pt x="540258" y="572262"/>
                  </a:lnTo>
                  <a:lnTo>
                    <a:pt x="516636" y="574548"/>
                  </a:lnTo>
                  <a:lnTo>
                    <a:pt x="512064" y="575310"/>
                  </a:lnTo>
                  <a:lnTo>
                    <a:pt x="515112" y="603504"/>
                  </a:lnTo>
                  <a:lnTo>
                    <a:pt x="519684" y="603504"/>
                  </a:lnTo>
                  <a:lnTo>
                    <a:pt x="543306" y="601218"/>
                  </a:lnTo>
                  <a:close/>
                </a:path>
                <a:path w="4500880" h="2902585">
                  <a:moveTo>
                    <a:pt x="546354" y="2543556"/>
                  </a:moveTo>
                  <a:lnTo>
                    <a:pt x="542544" y="2539746"/>
                  </a:lnTo>
                  <a:lnTo>
                    <a:pt x="533400" y="2532888"/>
                  </a:lnTo>
                  <a:lnTo>
                    <a:pt x="525780" y="2525268"/>
                  </a:lnTo>
                  <a:lnTo>
                    <a:pt x="506730" y="2546604"/>
                  </a:lnTo>
                  <a:lnTo>
                    <a:pt x="514350" y="2553462"/>
                  </a:lnTo>
                  <a:lnTo>
                    <a:pt x="524256" y="2561844"/>
                  </a:lnTo>
                  <a:lnTo>
                    <a:pt x="529590" y="2565654"/>
                  </a:lnTo>
                  <a:lnTo>
                    <a:pt x="546354" y="2543556"/>
                  </a:lnTo>
                  <a:close/>
                </a:path>
                <a:path w="4500880" h="2902585">
                  <a:moveTo>
                    <a:pt x="592836" y="2570226"/>
                  </a:moveTo>
                  <a:lnTo>
                    <a:pt x="588264" y="2568702"/>
                  </a:lnTo>
                  <a:lnTo>
                    <a:pt x="579120" y="2564130"/>
                  </a:lnTo>
                  <a:lnTo>
                    <a:pt x="569976" y="2558796"/>
                  </a:lnTo>
                  <a:lnTo>
                    <a:pt x="569214" y="2558796"/>
                  </a:lnTo>
                  <a:lnTo>
                    <a:pt x="553974" y="2582418"/>
                  </a:lnTo>
                  <a:lnTo>
                    <a:pt x="554736" y="2583180"/>
                  </a:lnTo>
                  <a:lnTo>
                    <a:pt x="565404" y="2589276"/>
                  </a:lnTo>
                  <a:lnTo>
                    <a:pt x="576072" y="2594610"/>
                  </a:lnTo>
                  <a:lnTo>
                    <a:pt x="582168" y="2596896"/>
                  </a:lnTo>
                  <a:lnTo>
                    <a:pt x="592836" y="2570226"/>
                  </a:lnTo>
                  <a:close/>
                </a:path>
                <a:path w="4500880" h="2902585">
                  <a:moveTo>
                    <a:pt x="596646" y="1790700"/>
                  </a:moveTo>
                  <a:lnTo>
                    <a:pt x="595884" y="1790700"/>
                  </a:lnTo>
                  <a:lnTo>
                    <a:pt x="569214" y="1783080"/>
                  </a:lnTo>
                  <a:lnTo>
                    <a:pt x="561594" y="1810512"/>
                  </a:lnTo>
                  <a:lnTo>
                    <a:pt x="589026" y="1818132"/>
                  </a:lnTo>
                  <a:lnTo>
                    <a:pt x="596646" y="1790700"/>
                  </a:lnTo>
                  <a:close/>
                </a:path>
                <a:path w="4500880" h="2902585">
                  <a:moveTo>
                    <a:pt x="597408" y="1405890"/>
                  </a:moveTo>
                  <a:lnTo>
                    <a:pt x="575310" y="1399794"/>
                  </a:lnTo>
                  <a:lnTo>
                    <a:pt x="569214" y="1399032"/>
                  </a:lnTo>
                  <a:lnTo>
                    <a:pt x="562356" y="1426464"/>
                  </a:lnTo>
                  <a:lnTo>
                    <a:pt x="589788" y="1433322"/>
                  </a:lnTo>
                  <a:lnTo>
                    <a:pt x="597408" y="1405890"/>
                  </a:lnTo>
                  <a:close/>
                </a:path>
                <a:path w="4500880" h="2902585">
                  <a:moveTo>
                    <a:pt x="600456" y="975360"/>
                  </a:moveTo>
                  <a:lnTo>
                    <a:pt x="573024" y="973074"/>
                  </a:lnTo>
                  <a:lnTo>
                    <a:pt x="572262" y="973074"/>
                  </a:lnTo>
                  <a:lnTo>
                    <a:pt x="569214" y="1001268"/>
                  </a:lnTo>
                  <a:lnTo>
                    <a:pt x="570738" y="1001268"/>
                  </a:lnTo>
                  <a:lnTo>
                    <a:pt x="598170" y="1004316"/>
                  </a:lnTo>
                  <a:lnTo>
                    <a:pt x="600456" y="975360"/>
                  </a:lnTo>
                  <a:close/>
                </a:path>
                <a:path w="4500880" h="2902585">
                  <a:moveTo>
                    <a:pt x="600456" y="595122"/>
                  </a:moveTo>
                  <a:lnTo>
                    <a:pt x="597408" y="566166"/>
                  </a:lnTo>
                  <a:lnTo>
                    <a:pt x="568452" y="569214"/>
                  </a:lnTo>
                  <a:lnTo>
                    <a:pt x="572262" y="598170"/>
                  </a:lnTo>
                  <a:lnTo>
                    <a:pt x="600456" y="595122"/>
                  </a:lnTo>
                  <a:close/>
                </a:path>
                <a:path w="4500880" h="2902585">
                  <a:moveTo>
                    <a:pt x="643128" y="2580894"/>
                  </a:moveTo>
                  <a:lnTo>
                    <a:pt x="636270" y="2580894"/>
                  </a:lnTo>
                  <a:lnTo>
                    <a:pt x="627126" y="2579370"/>
                  </a:lnTo>
                  <a:lnTo>
                    <a:pt x="617220" y="2577846"/>
                  </a:lnTo>
                  <a:lnTo>
                    <a:pt x="611886" y="2606040"/>
                  </a:lnTo>
                  <a:lnTo>
                    <a:pt x="621792" y="2607564"/>
                  </a:lnTo>
                  <a:lnTo>
                    <a:pt x="633222" y="2609088"/>
                  </a:lnTo>
                  <a:lnTo>
                    <a:pt x="642366" y="2609850"/>
                  </a:lnTo>
                  <a:lnTo>
                    <a:pt x="643128" y="2580894"/>
                  </a:lnTo>
                  <a:close/>
                </a:path>
                <a:path w="4500880" h="2902585">
                  <a:moveTo>
                    <a:pt x="652272" y="1806702"/>
                  </a:moveTo>
                  <a:lnTo>
                    <a:pt x="640080" y="1803654"/>
                  </a:lnTo>
                  <a:lnTo>
                    <a:pt x="624078" y="1798320"/>
                  </a:lnTo>
                  <a:lnTo>
                    <a:pt x="616458" y="1825752"/>
                  </a:lnTo>
                  <a:lnTo>
                    <a:pt x="632460" y="1831086"/>
                  </a:lnTo>
                  <a:lnTo>
                    <a:pt x="643128" y="1834134"/>
                  </a:lnTo>
                  <a:lnTo>
                    <a:pt x="652272" y="1806702"/>
                  </a:lnTo>
                  <a:close/>
                </a:path>
                <a:path w="4500880" h="2902585">
                  <a:moveTo>
                    <a:pt x="653034" y="1421130"/>
                  </a:moveTo>
                  <a:lnTo>
                    <a:pt x="643128" y="1418082"/>
                  </a:lnTo>
                  <a:lnTo>
                    <a:pt x="624840" y="1413510"/>
                  </a:lnTo>
                  <a:lnTo>
                    <a:pt x="617220" y="1440942"/>
                  </a:lnTo>
                  <a:lnTo>
                    <a:pt x="636270" y="1445514"/>
                  </a:lnTo>
                  <a:lnTo>
                    <a:pt x="644652" y="1448562"/>
                  </a:lnTo>
                  <a:lnTo>
                    <a:pt x="653034" y="1421130"/>
                  </a:lnTo>
                  <a:close/>
                </a:path>
                <a:path w="4500880" h="2902585">
                  <a:moveTo>
                    <a:pt x="657606" y="981456"/>
                  </a:moveTo>
                  <a:lnTo>
                    <a:pt x="640842" y="979170"/>
                  </a:lnTo>
                  <a:lnTo>
                    <a:pt x="628650" y="978408"/>
                  </a:lnTo>
                  <a:lnTo>
                    <a:pt x="626364" y="1006602"/>
                  </a:lnTo>
                  <a:lnTo>
                    <a:pt x="638556" y="1008126"/>
                  </a:lnTo>
                  <a:lnTo>
                    <a:pt x="654558" y="1009650"/>
                  </a:lnTo>
                  <a:lnTo>
                    <a:pt x="657606" y="981456"/>
                  </a:lnTo>
                  <a:close/>
                </a:path>
                <a:path w="4500880" h="2902585">
                  <a:moveTo>
                    <a:pt x="657606" y="588264"/>
                  </a:moveTo>
                  <a:lnTo>
                    <a:pt x="653796" y="559308"/>
                  </a:lnTo>
                  <a:lnTo>
                    <a:pt x="625602" y="563118"/>
                  </a:lnTo>
                  <a:lnTo>
                    <a:pt x="628650" y="591312"/>
                  </a:lnTo>
                  <a:lnTo>
                    <a:pt x="657606" y="588264"/>
                  </a:lnTo>
                  <a:close/>
                </a:path>
                <a:path w="4500880" h="2902585">
                  <a:moveTo>
                    <a:pt x="704088" y="2599182"/>
                  </a:moveTo>
                  <a:lnTo>
                    <a:pt x="693420" y="2572512"/>
                  </a:lnTo>
                  <a:lnTo>
                    <a:pt x="684276" y="2575560"/>
                  </a:lnTo>
                  <a:lnTo>
                    <a:pt x="674370" y="2577846"/>
                  </a:lnTo>
                  <a:lnTo>
                    <a:pt x="669036" y="2579370"/>
                  </a:lnTo>
                  <a:lnTo>
                    <a:pt x="673608" y="2606802"/>
                  </a:lnTo>
                  <a:lnTo>
                    <a:pt x="679704" y="2606040"/>
                  </a:lnTo>
                  <a:lnTo>
                    <a:pt x="691134" y="2602992"/>
                  </a:lnTo>
                  <a:lnTo>
                    <a:pt x="701802" y="2599944"/>
                  </a:lnTo>
                  <a:lnTo>
                    <a:pt x="704088" y="2599182"/>
                  </a:lnTo>
                  <a:close/>
                </a:path>
                <a:path w="4500880" h="2902585">
                  <a:moveTo>
                    <a:pt x="706374" y="1824990"/>
                  </a:moveTo>
                  <a:lnTo>
                    <a:pt x="678942" y="1815846"/>
                  </a:lnTo>
                  <a:lnTo>
                    <a:pt x="670560" y="1843278"/>
                  </a:lnTo>
                  <a:lnTo>
                    <a:pt x="674370" y="1844040"/>
                  </a:lnTo>
                  <a:lnTo>
                    <a:pt x="697230" y="1852422"/>
                  </a:lnTo>
                  <a:lnTo>
                    <a:pt x="706374" y="1824990"/>
                  </a:lnTo>
                  <a:close/>
                </a:path>
                <a:path w="4500880" h="2902585">
                  <a:moveTo>
                    <a:pt x="707898" y="1437132"/>
                  </a:moveTo>
                  <a:lnTo>
                    <a:pt x="680466" y="1428750"/>
                  </a:lnTo>
                  <a:lnTo>
                    <a:pt x="672084" y="1456182"/>
                  </a:lnTo>
                  <a:lnTo>
                    <a:pt x="699516" y="1464564"/>
                  </a:lnTo>
                  <a:lnTo>
                    <a:pt x="707898" y="1437132"/>
                  </a:lnTo>
                  <a:close/>
                </a:path>
                <a:path w="4500880" h="2902585">
                  <a:moveTo>
                    <a:pt x="713994" y="579882"/>
                  </a:moveTo>
                  <a:lnTo>
                    <a:pt x="710184" y="551688"/>
                  </a:lnTo>
                  <a:lnTo>
                    <a:pt x="700278" y="553212"/>
                  </a:lnTo>
                  <a:lnTo>
                    <a:pt x="681990" y="555498"/>
                  </a:lnTo>
                  <a:lnTo>
                    <a:pt x="685800" y="583692"/>
                  </a:lnTo>
                  <a:lnTo>
                    <a:pt x="704088" y="581406"/>
                  </a:lnTo>
                  <a:lnTo>
                    <a:pt x="713994" y="579882"/>
                  </a:lnTo>
                  <a:close/>
                </a:path>
                <a:path w="4500880" h="2902585">
                  <a:moveTo>
                    <a:pt x="714756" y="986790"/>
                  </a:moveTo>
                  <a:lnTo>
                    <a:pt x="707898" y="986028"/>
                  </a:lnTo>
                  <a:lnTo>
                    <a:pt x="685800" y="983742"/>
                  </a:lnTo>
                  <a:lnTo>
                    <a:pt x="682752" y="1012698"/>
                  </a:lnTo>
                  <a:lnTo>
                    <a:pt x="704850" y="1014984"/>
                  </a:lnTo>
                  <a:lnTo>
                    <a:pt x="710946" y="1015746"/>
                  </a:lnTo>
                  <a:lnTo>
                    <a:pt x="714756" y="986790"/>
                  </a:lnTo>
                  <a:close/>
                </a:path>
                <a:path w="4500880" h="2902585">
                  <a:moveTo>
                    <a:pt x="757428" y="2571750"/>
                  </a:moveTo>
                  <a:lnTo>
                    <a:pt x="741426" y="2548128"/>
                  </a:lnTo>
                  <a:lnTo>
                    <a:pt x="739902" y="2548890"/>
                  </a:lnTo>
                  <a:lnTo>
                    <a:pt x="730758" y="2554986"/>
                  </a:lnTo>
                  <a:lnTo>
                    <a:pt x="721614" y="2560320"/>
                  </a:lnTo>
                  <a:lnTo>
                    <a:pt x="718566" y="2561844"/>
                  </a:lnTo>
                  <a:lnTo>
                    <a:pt x="731520" y="2586990"/>
                  </a:lnTo>
                  <a:lnTo>
                    <a:pt x="734568" y="2585466"/>
                  </a:lnTo>
                  <a:lnTo>
                    <a:pt x="755904" y="2573274"/>
                  </a:lnTo>
                  <a:lnTo>
                    <a:pt x="757428" y="2571750"/>
                  </a:lnTo>
                  <a:close/>
                </a:path>
                <a:path w="4500880" h="2902585">
                  <a:moveTo>
                    <a:pt x="760476" y="1844802"/>
                  </a:moveTo>
                  <a:lnTo>
                    <a:pt x="733806" y="1834896"/>
                  </a:lnTo>
                  <a:lnTo>
                    <a:pt x="723900" y="1861566"/>
                  </a:lnTo>
                  <a:lnTo>
                    <a:pt x="750570" y="1871472"/>
                  </a:lnTo>
                  <a:lnTo>
                    <a:pt x="760476" y="1844802"/>
                  </a:lnTo>
                  <a:close/>
                </a:path>
                <a:path w="4500880" h="2902585">
                  <a:moveTo>
                    <a:pt x="762000" y="1454658"/>
                  </a:moveTo>
                  <a:lnTo>
                    <a:pt x="735330" y="1446276"/>
                  </a:lnTo>
                  <a:lnTo>
                    <a:pt x="726186" y="1472946"/>
                  </a:lnTo>
                  <a:lnTo>
                    <a:pt x="753618" y="1482090"/>
                  </a:lnTo>
                  <a:lnTo>
                    <a:pt x="762000" y="1454658"/>
                  </a:lnTo>
                  <a:close/>
                </a:path>
                <a:path w="4500880" h="2902585">
                  <a:moveTo>
                    <a:pt x="771144" y="993648"/>
                  </a:moveTo>
                  <a:lnTo>
                    <a:pt x="742950" y="990600"/>
                  </a:lnTo>
                  <a:lnTo>
                    <a:pt x="739902" y="1018794"/>
                  </a:lnTo>
                  <a:lnTo>
                    <a:pt x="768096" y="1021842"/>
                  </a:lnTo>
                  <a:lnTo>
                    <a:pt x="771144" y="993648"/>
                  </a:lnTo>
                  <a:close/>
                </a:path>
                <a:path w="4500880" h="2902585">
                  <a:moveTo>
                    <a:pt x="771144" y="571500"/>
                  </a:moveTo>
                  <a:lnTo>
                    <a:pt x="766572" y="543306"/>
                  </a:lnTo>
                  <a:lnTo>
                    <a:pt x="742950" y="547116"/>
                  </a:lnTo>
                  <a:lnTo>
                    <a:pt x="738378" y="547878"/>
                  </a:lnTo>
                  <a:lnTo>
                    <a:pt x="742188" y="576072"/>
                  </a:lnTo>
                  <a:lnTo>
                    <a:pt x="746760" y="575310"/>
                  </a:lnTo>
                  <a:lnTo>
                    <a:pt x="771144" y="571500"/>
                  </a:lnTo>
                  <a:close/>
                </a:path>
                <a:path w="4500880" h="2902585">
                  <a:moveTo>
                    <a:pt x="803148" y="2532888"/>
                  </a:moveTo>
                  <a:lnTo>
                    <a:pt x="782574" y="2512314"/>
                  </a:lnTo>
                  <a:lnTo>
                    <a:pt x="774192" y="2520696"/>
                  </a:lnTo>
                  <a:lnTo>
                    <a:pt x="765810" y="2528316"/>
                  </a:lnTo>
                  <a:lnTo>
                    <a:pt x="762762" y="2531364"/>
                  </a:lnTo>
                  <a:lnTo>
                    <a:pt x="781050" y="2553462"/>
                  </a:lnTo>
                  <a:lnTo>
                    <a:pt x="784860" y="2550414"/>
                  </a:lnTo>
                  <a:lnTo>
                    <a:pt x="794004" y="2541270"/>
                  </a:lnTo>
                  <a:lnTo>
                    <a:pt x="803148" y="2532888"/>
                  </a:lnTo>
                  <a:close/>
                </a:path>
                <a:path w="4500880" h="2902585">
                  <a:moveTo>
                    <a:pt x="813816" y="1867662"/>
                  </a:moveTo>
                  <a:lnTo>
                    <a:pt x="803148" y="1862328"/>
                  </a:lnTo>
                  <a:lnTo>
                    <a:pt x="787146" y="1856232"/>
                  </a:lnTo>
                  <a:lnTo>
                    <a:pt x="776478" y="1882140"/>
                  </a:lnTo>
                  <a:lnTo>
                    <a:pt x="792480" y="1888998"/>
                  </a:lnTo>
                  <a:lnTo>
                    <a:pt x="802386" y="1893570"/>
                  </a:lnTo>
                  <a:lnTo>
                    <a:pt x="813816" y="1867662"/>
                  </a:lnTo>
                  <a:close/>
                </a:path>
                <a:path w="4500880" h="2902585">
                  <a:moveTo>
                    <a:pt x="816864" y="1473708"/>
                  </a:moveTo>
                  <a:lnTo>
                    <a:pt x="789432" y="1464564"/>
                  </a:lnTo>
                  <a:lnTo>
                    <a:pt x="780288" y="1491234"/>
                  </a:lnTo>
                  <a:lnTo>
                    <a:pt x="806958" y="1501140"/>
                  </a:lnTo>
                  <a:lnTo>
                    <a:pt x="816864" y="1473708"/>
                  </a:lnTo>
                  <a:close/>
                </a:path>
                <a:path w="4500880" h="2902585">
                  <a:moveTo>
                    <a:pt x="827532" y="561594"/>
                  </a:moveTo>
                  <a:lnTo>
                    <a:pt x="822198" y="533400"/>
                  </a:lnTo>
                  <a:lnTo>
                    <a:pt x="794766" y="538734"/>
                  </a:lnTo>
                  <a:lnTo>
                    <a:pt x="799338" y="566928"/>
                  </a:lnTo>
                  <a:lnTo>
                    <a:pt x="827532" y="561594"/>
                  </a:lnTo>
                  <a:close/>
                </a:path>
                <a:path w="4500880" h="2902585">
                  <a:moveTo>
                    <a:pt x="828294" y="1001268"/>
                  </a:moveTo>
                  <a:lnTo>
                    <a:pt x="800100" y="997458"/>
                  </a:lnTo>
                  <a:lnTo>
                    <a:pt x="796290" y="1025652"/>
                  </a:lnTo>
                  <a:lnTo>
                    <a:pt x="824484" y="1029462"/>
                  </a:lnTo>
                  <a:lnTo>
                    <a:pt x="828294" y="1001268"/>
                  </a:lnTo>
                  <a:close/>
                </a:path>
                <a:path w="4500880" h="2902585">
                  <a:moveTo>
                    <a:pt x="839724" y="2484882"/>
                  </a:moveTo>
                  <a:lnTo>
                    <a:pt x="815340" y="2469642"/>
                  </a:lnTo>
                  <a:lnTo>
                    <a:pt x="811530" y="2475738"/>
                  </a:lnTo>
                  <a:lnTo>
                    <a:pt x="804672" y="2485644"/>
                  </a:lnTo>
                  <a:lnTo>
                    <a:pt x="799338" y="2492502"/>
                  </a:lnTo>
                  <a:lnTo>
                    <a:pt x="822198" y="2509266"/>
                  </a:lnTo>
                  <a:lnTo>
                    <a:pt x="827532" y="2503170"/>
                  </a:lnTo>
                  <a:lnTo>
                    <a:pt x="835152" y="2492502"/>
                  </a:lnTo>
                  <a:lnTo>
                    <a:pt x="839724" y="2484882"/>
                  </a:lnTo>
                  <a:close/>
                </a:path>
                <a:path w="4500880" h="2902585">
                  <a:moveTo>
                    <a:pt x="866394" y="2431542"/>
                  </a:moveTo>
                  <a:lnTo>
                    <a:pt x="839724" y="2421636"/>
                  </a:lnTo>
                  <a:lnTo>
                    <a:pt x="838962" y="2423922"/>
                  </a:lnTo>
                  <a:lnTo>
                    <a:pt x="834390" y="2434590"/>
                  </a:lnTo>
                  <a:lnTo>
                    <a:pt x="829056" y="2445258"/>
                  </a:lnTo>
                  <a:lnTo>
                    <a:pt x="829056" y="2446020"/>
                  </a:lnTo>
                  <a:lnTo>
                    <a:pt x="854202" y="2459736"/>
                  </a:lnTo>
                  <a:lnTo>
                    <a:pt x="854202" y="2458974"/>
                  </a:lnTo>
                  <a:lnTo>
                    <a:pt x="860298" y="2446782"/>
                  </a:lnTo>
                  <a:lnTo>
                    <a:pt x="866394" y="2431542"/>
                  </a:lnTo>
                  <a:close/>
                </a:path>
                <a:path w="4500880" h="2902585">
                  <a:moveTo>
                    <a:pt x="866394" y="1892046"/>
                  </a:moveTo>
                  <a:lnTo>
                    <a:pt x="840486" y="1879092"/>
                  </a:lnTo>
                  <a:lnTo>
                    <a:pt x="828294" y="1905000"/>
                  </a:lnTo>
                  <a:lnTo>
                    <a:pt x="853440" y="1917192"/>
                  </a:lnTo>
                  <a:lnTo>
                    <a:pt x="866394" y="1892046"/>
                  </a:lnTo>
                  <a:close/>
                </a:path>
                <a:path w="4500880" h="2902585">
                  <a:moveTo>
                    <a:pt x="870204" y="1494282"/>
                  </a:moveTo>
                  <a:lnTo>
                    <a:pt x="843534" y="1483614"/>
                  </a:lnTo>
                  <a:lnTo>
                    <a:pt x="833628" y="1510284"/>
                  </a:lnTo>
                  <a:lnTo>
                    <a:pt x="860298" y="1520952"/>
                  </a:lnTo>
                  <a:lnTo>
                    <a:pt x="870204" y="1494282"/>
                  </a:lnTo>
                  <a:close/>
                </a:path>
                <a:path w="4500880" h="2902585">
                  <a:moveTo>
                    <a:pt x="883920" y="550926"/>
                  </a:moveTo>
                  <a:lnTo>
                    <a:pt x="877824" y="522732"/>
                  </a:lnTo>
                  <a:lnTo>
                    <a:pt x="860298" y="526542"/>
                  </a:lnTo>
                  <a:lnTo>
                    <a:pt x="850392" y="528828"/>
                  </a:lnTo>
                  <a:lnTo>
                    <a:pt x="855726" y="556260"/>
                  </a:lnTo>
                  <a:lnTo>
                    <a:pt x="865632" y="554736"/>
                  </a:lnTo>
                  <a:lnTo>
                    <a:pt x="883920" y="550926"/>
                  </a:lnTo>
                  <a:close/>
                </a:path>
                <a:path w="4500880" h="2902585">
                  <a:moveTo>
                    <a:pt x="884682" y="1008888"/>
                  </a:moveTo>
                  <a:lnTo>
                    <a:pt x="856488" y="1005078"/>
                  </a:lnTo>
                  <a:lnTo>
                    <a:pt x="852678" y="1033272"/>
                  </a:lnTo>
                  <a:lnTo>
                    <a:pt x="880872" y="1037082"/>
                  </a:lnTo>
                  <a:lnTo>
                    <a:pt x="884682" y="1008888"/>
                  </a:lnTo>
                  <a:close/>
                </a:path>
                <a:path w="4500880" h="2902585">
                  <a:moveTo>
                    <a:pt x="898398" y="2425446"/>
                  </a:moveTo>
                  <a:lnTo>
                    <a:pt x="871728" y="2333244"/>
                  </a:lnTo>
                  <a:lnTo>
                    <a:pt x="814578" y="2410206"/>
                  </a:lnTo>
                  <a:lnTo>
                    <a:pt x="898398" y="2425446"/>
                  </a:lnTo>
                  <a:close/>
                </a:path>
                <a:path w="4500880" h="2902585">
                  <a:moveTo>
                    <a:pt x="917448" y="1918716"/>
                  </a:moveTo>
                  <a:lnTo>
                    <a:pt x="907542" y="1913382"/>
                  </a:lnTo>
                  <a:lnTo>
                    <a:pt x="892302" y="1905000"/>
                  </a:lnTo>
                  <a:lnTo>
                    <a:pt x="878586" y="1930146"/>
                  </a:lnTo>
                  <a:lnTo>
                    <a:pt x="894588" y="1938528"/>
                  </a:lnTo>
                  <a:lnTo>
                    <a:pt x="902970" y="1943862"/>
                  </a:lnTo>
                  <a:lnTo>
                    <a:pt x="917448" y="1918716"/>
                  </a:lnTo>
                  <a:close/>
                </a:path>
                <a:path w="4500880" h="2902585">
                  <a:moveTo>
                    <a:pt x="923544" y="1516380"/>
                  </a:moveTo>
                  <a:lnTo>
                    <a:pt x="896874" y="1504950"/>
                  </a:lnTo>
                  <a:lnTo>
                    <a:pt x="886206" y="1531620"/>
                  </a:lnTo>
                  <a:lnTo>
                    <a:pt x="891540" y="1533144"/>
                  </a:lnTo>
                  <a:lnTo>
                    <a:pt x="912114" y="1542288"/>
                  </a:lnTo>
                  <a:lnTo>
                    <a:pt x="923544" y="1516380"/>
                  </a:lnTo>
                  <a:close/>
                </a:path>
                <a:path w="4500880" h="2902585">
                  <a:moveTo>
                    <a:pt x="940308" y="538734"/>
                  </a:moveTo>
                  <a:lnTo>
                    <a:pt x="933450" y="510540"/>
                  </a:lnTo>
                  <a:lnTo>
                    <a:pt x="928878" y="512064"/>
                  </a:lnTo>
                  <a:lnTo>
                    <a:pt x="906018" y="516636"/>
                  </a:lnTo>
                  <a:lnTo>
                    <a:pt x="912114" y="544830"/>
                  </a:lnTo>
                  <a:lnTo>
                    <a:pt x="934974" y="539496"/>
                  </a:lnTo>
                  <a:lnTo>
                    <a:pt x="940308" y="538734"/>
                  </a:lnTo>
                  <a:close/>
                </a:path>
                <a:path w="4500880" h="2902585">
                  <a:moveTo>
                    <a:pt x="941832" y="1017270"/>
                  </a:moveTo>
                  <a:lnTo>
                    <a:pt x="913638" y="1013460"/>
                  </a:lnTo>
                  <a:lnTo>
                    <a:pt x="909066" y="1041654"/>
                  </a:lnTo>
                  <a:lnTo>
                    <a:pt x="937260" y="1045464"/>
                  </a:lnTo>
                  <a:lnTo>
                    <a:pt x="941832" y="1017270"/>
                  </a:lnTo>
                  <a:close/>
                </a:path>
                <a:path w="4500880" h="2902585">
                  <a:moveTo>
                    <a:pt x="966978" y="1949196"/>
                  </a:moveTo>
                  <a:lnTo>
                    <a:pt x="942594" y="1933956"/>
                  </a:lnTo>
                  <a:lnTo>
                    <a:pt x="927354" y="1958340"/>
                  </a:lnTo>
                  <a:lnTo>
                    <a:pt x="950976" y="1973580"/>
                  </a:lnTo>
                  <a:lnTo>
                    <a:pt x="966978" y="1949196"/>
                  </a:lnTo>
                  <a:close/>
                </a:path>
                <a:path w="4500880" h="2902585">
                  <a:moveTo>
                    <a:pt x="968502" y="2392680"/>
                  </a:moveTo>
                  <a:lnTo>
                    <a:pt x="967740" y="2388870"/>
                  </a:lnTo>
                  <a:lnTo>
                    <a:pt x="966978" y="2366010"/>
                  </a:lnTo>
                  <a:lnTo>
                    <a:pt x="941070" y="2367381"/>
                  </a:lnTo>
                  <a:lnTo>
                    <a:pt x="939546" y="2367457"/>
                  </a:lnTo>
                  <a:lnTo>
                    <a:pt x="938022" y="2367534"/>
                  </a:lnTo>
                  <a:lnTo>
                    <a:pt x="939546" y="2391156"/>
                  </a:lnTo>
                  <a:lnTo>
                    <a:pt x="941070" y="2398014"/>
                  </a:lnTo>
                  <a:lnTo>
                    <a:pt x="968502" y="2392680"/>
                  </a:lnTo>
                  <a:close/>
                </a:path>
                <a:path w="4500880" h="2902585">
                  <a:moveTo>
                    <a:pt x="976122" y="1539240"/>
                  </a:moveTo>
                  <a:lnTo>
                    <a:pt x="962406" y="1533144"/>
                  </a:lnTo>
                  <a:lnTo>
                    <a:pt x="950214" y="1527810"/>
                  </a:lnTo>
                  <a:lnTo>
                    <a:pt x="938784" y="1553718"/>
                  </a:lnTo>
                  <a:lnTo>
                    <a:pt x="950976" y="1559052"/>
                  </a:lnTo>
                  <a:lnTo>
                    <a:pt x="963930" y="1565148"/>
                  </a:lnTo>
                  <a:lnTo>
                    <a:pt x="976122" y="1539240"/>
                  </a:lnTo>
                  <a:close/>
                </a:path>
                <a:path w="4500880" h="2902585">
                  <a:moveTo>
                    <a:pt x="983742" y="2444496"/>
                  </a:moveTo>
                  <a:lnTo>
                    <a:pt x="978408" y="2432304"/>
                  </a:lnTo>
                  <a:lnTo>
                    <a:pt x="974598" y="2419350"/>
                  </a:lnTo>
                  <a:lnTo>
                    <a:pt x="947166" y="2426970"/>
                  </a:lnTo>
                  <a:lnTo>
                    <a:pt x="950976" y="2439924"/>
                  </a:lnTo>
                  <a:lnTo>
                    <a:pt x="957072" y="2455164"/>
                  </a:lnTo>
                  <a:lnTo>
                    <a:pt x="983742" y="2444496"/>
                  </a:lnTo>
                  <a:close/>
                </a:path>
                <a:path w="4500880" h="2902585">
                  <a:moveTo>
                    <a:pt x="995934" y="524256"/>
                  </a:moveTo>
                  <a:lnTo>
                    <a:pt x="988314" y="496824"/>
                  </a:lnTo>
                  <a:lnTo>
                    <a:pt x="960882" y="503682"/>
                  </a:lnTo>
                  <a:lnTo>
                    <a:pt x="968502" y="531876"/>
                  </a:lnTo>
                  <a:lnTo>
                    <a:pt x="995934" y="524256"/>
                  </a:lnTo>
                  <a:close/>
                </a:path>
                <a:path w="4500880" h="2902585">
                  <a:moveTo>
                    <a:pt x="998220" y="1026414"/>
                  </a:moveTo>
                  <a:lnTo>
                    <a:pt x="970026" y="1021842"/>
                  </a:lnTo>
                  <a:lnTo>
                    <a:pt x="965454" y="1050036"/>
                  </a:lnTo>
                  <a:lnTo>
                    <a:pt x="993648" y="1054608"/>
                  </a:lnTo>
                  <a:lnTo>
                    <a:pt x="998220" y="1026414"/>
                  </a:lnTo>
                  <a:close/>
                </a:path>
                <a:path w="4500880" h="2902585">
                  <a:moveTo>
                    <a:pt x="1008888" y="2492502"/>
                  </a:moveTo>
                  <a:lnTo>
                    <a:pt x="998220" y="2475738"/>
                  </a:lnTo>
                  <a:lnTo>
                    <a:pt x="995172" y="2469642"/>
                  </a:lnTo>
                  <a:lnTo>
                    <a:pt x="970026" y="2482596"/>
                  </a:lnTo>
                  <a:lnTo>
                    <a:pt x="973074" y="2488692"/>
                  </a:lnTo>
                  <a:lnTo>
                    <a:pt x="985266" y="2507742"/>
                  </a:lnTo>
                  <a:lnTo>
                    <a:pt x="1008888" y="2492502"/>
                  </a:lnTo>
                  <a:close/>
                </a:path>
                <a:path w="4500880" h="2902585">
                  <a:moveTo>
                    <a:pt x="1013460" y="1984248"/>
                  </a:moveTo>
                  <a:lnTo>
                    <a:pt x="990600" y="1965960"/>
                  </a:lnTo>
                  <a:lnTo>
                    <a:pt x="973836" y="1989582"/>
                  </a:lnTo>
                  <a:lnTo>
                    <a:pt x="977646" y="1992630"/>
                  </a:lnTo>
                  <a:lnTo>
                    <a:pt x="995934" y="2006346"/>
                  </a:lnTo>
                  <a:lnTo>
                    <a:pt x="1013460" y="1984248"/>
                  </a:lnTo>
                  <a:close/>
                </a:path>
                <a:path w="4500880" h="2902585">
                  <a:moveTo>
                    <a:pt x="1028700" y="1564386"/>
                  </a:moveTo>
                  <a:lnTo>
                    <a:pt x="1021080" y="1560576"/>
                  </a:lnTo>
                  <a:lnTo>
                    <a:pt x="1002030" y="1551432"/>
                  </a:lnTo>
                  <a:lnTo>
                    <a:pt x="989838" y="1577340"/>
                  </a:lnTo>
                  <a:lnTo>
                    <a:pt x="1008888" y="1586484"/>
                  </a:lnTo>
                  <a:lnTo>
                    <a:pt x="1015746" y="1589532"/>
                  </a:lnTo>
                  <a:lnTo>
                    <a:pt x="1028700" y="1564386"/>
                  </a:lnTo>
                  <a:close/>
                </a:path>
                <a:path w="4500880" h="2902585">
                  <a:moveTo>
                    <a:pt x="1042416" y="2536698"/>
                  </a:moveTo>
                  <a:lnTo>
                    <a:pt x="1027176" y="2518410"/>
                  </a:lnTo>
                  <a:lnTo>
                    <a:pt x="1024890" y="2515362"/>
                  </a:lnTo>
                  <a:lnTo>
                    <a:pt x="1002030" y="2532126"/>
                  </a:lnTo>
                  <a:lnTo>
                    <a:pt x="1004316" y="2535174"/>
                  </a:lnTo>
                  <a:lnTo>
                    <a:pt x="1021080" y="2554986"/>
                  </a:lnTo>
                  <a:lnTo>
                    <a:pt x="1042416" y="2536698"/>
                  </a:lnTo>
                  <a:close/>
                </a:path>
                <a:path w="4500880" h="2902585">
                  <a:moveTo>
                    <a:pt x="1051560" y="505968"/>
                  </a:moveTo>
                  <a:lnTo>
                    <a:pt x="1041654" y="479298"/>
                  </a:lnTo>
                  <a:lnTo>
                    <a:pt x="1040130" y="480060"/>
                  </a:lnTo>
                  <a:lnTo>
                    <a:pt x="1015746" y="488442"/>
                  </a:lnTo>
                  <a:lnTo>
                    <a:pt x="1023366" y="515874"/>
                  </a:lnTo>
                  <a:lnTo>
                    <a:pt x="1024128" y="515874"/>
                  </a:lnTo>
                  <a:lnTo>
                    <a:pt x="1049274" y="507492"/>
                  </a:lnTo>
                  <a:lnTo>
                    <a:pt x="1051560" y="505968"/>
                  </a:lnTo>
                  <a:close/>
                </a:path>
                <a:path w="4500880" h="2902585">
                  <a:moveTo>
                    <a:pt x="1054608" y="1036320"/>
                  </a:moveTo>
                  <a:lnTo>
                    <a:pt x="1026414" y="1031748"/>
                  </a:lnTo>
                  <a:lnTo>
                    <a:pt x="1021842" y="1059942"/>
                  </a:lnTo>
                  <a:lnTo>
                    <a:pt x="1049274" y="1064514"/>
                  </a:lnTo>
                  <a:lnTo>
                    <a:pt x="1054608" y="1036320"/>
                  </a:lnTo>
                  <a:close/>
                </a:path>
                <a:path w="4500880" h="2902585">
                  <a:moveTo>
                    <a:pt x="1056894" y="2024634"/>
                  </a:moveTo>
                  <a:lnTo>
                    <a:pt x="1040892" y="2008632"/>
                  </a:lnTo>
                  <a:lnTo>
                    <a:pt x="1035558" y="2004060"/>
                  </a:lnTo>
                  <a:lnTo>
                    <a:pt x="1016508" y="2024634"/>
                  </a:lnTo>
                  <a:lnTo>
                    <a:pt x="1021842" y="2029206"/>
                  </a:lnTo>
                  <a:lnTo>
                    <a:pt x="1036320" y="2044446"/>
                  </a:lnTo>
                  <a:lnTo>
                    <a:pt x="1056894" y="2024634"/>
                  </a:lnTo>
                  <a:close/>
                </a:path>
                <a:path w="4500880" h="2902585">
                  <a:moveTo>
                    <a:pt x="1079754" y="1590294"/>
                  </a:moveTo>
                  <a:lnTo>
                    <a:pt x="1077468" y="1588770"/>
                  </a:lnTo>
                  <a:lnTo>
                    <a:pt x="1053846" y="1577340"/>
                  </a:lnTo>
                  <a:lnTo>
                    <a:pt x="1040892" y="1602486"/>
                  </a:lnTo>
                  <a:lnTo>
                    <a:pt x="1064514" y="1614678"/>
                  </a:lnTo>
                  <a:lnTo>
                    <a:pt x="1066038" y="1615440"/>
                  </a:lnTo>
                  <a:lnTo>
                    <a:pt x="1079754" y="1590294"/>
                  </a:lnTo>
                  <a:close/>
                </a:path>
                <a:path w="4500880" h="2902585">
                  <a:moveTo>
                    <a:pt x="1082040" y="2575560"/>
                  </a:moveTo>
                  <a:lnTo>
                    <a:pt x="1065276" y="2560320"/>
                  </a:lnTo>
                  <a:lnTo>
                    <a:pt x="1061466" y="2556510"/>
                  </a:lnTo>
                  <a:lnTo>
                    <a:pt x="1040892" y="2576322"/>
                  </a:lnTo>
                  <a:lnTo>
                    <a:pt x="1044702" y="2580132"/>
                  </a:lnTo>
                  <a:lnTo>
                    <a:pt x="1062228" y="2596896"/>
                  </a:lnTo>
                  <a:lnTo>
                    <a:pt x="1082040" y="2575560"/>
                  </a:lnTo>
                  <a:close/>
                </a:path>
                <a:path w="4500880" h="2902585">
                  <a:moveTo>
                    <a:pt x="1093470" y="2073402"/>
                  </a:moveTo>
                  <a:lnTo>
                    <a:pt x="1091946" y="2070354"/>
                  </a:lnTo>
                  <a:lnTo>
                    <a:pt x="1077468" y="2049018"/>
                  </a:lnTo>
                  <a:lnTo>
                    <a:pt x="1075944" y="2047494"/>
                  </a:lnTo>
                  <a:lnTo>
                    <a:pt x="1053846" y="2065782"/>
                  </a:lnTo>
                  <a:lnTo>
                    <a:pt x="1055370" y="2067306"/>
                  </a:lnTo>
                  <a:lnTo>
                    <a:pt x="1068324" y="2086356"/>
                  </a:lnTo>
                  <a:lnTo>
                    <a:pt x="1093470" y="2073402"/>
                  </a:lnTo>
                  <a:close/>
                </a:path>
                <a:path w="4500880" h="2902585">
                  <a:moveTo>
                    <a:pt x="1105662" y="483108"/>
                  </a:moveTo>
                  <a:lnTo>
                    <a:pt x="1092708" y="457200"/>
                  </a:lnTo>
                  <a:lnTo>
                    <a:pt x="1080516" y="463296"/>
                  </a:lnTo>
                  <a:lnTo>
                    <a:pt x="1067562" y="469392"/>
                  </a:lnTo>
                  <a:lnTo>
                    <a:pt x="1078992" y="495300"/>
                  </a:lnTo>
                  <a:lnTo>
                    <a:pt x="1091946" y="489966"/>
                  </a:lnTo>
                  <a:lnTo>
                    <a:pt x="1105662" y="483108"/>
                  </a:lnTo>
                  <a:close/>
                </a:path>
                <a:path w="4500880" h="2902585">
                  <a:moveTo>
                    <a:pt x="1110996" y="1047750"/>
                  </a:moveTo>
                  <a:lnTo>
                    <a:pt x="1082802" y="1041654"/>
                  </a:lnTo>
                  <a:lnTo>
                    <a:pt x="1077468" y="1069848"/>
                  </a:lnTo>
                  <a:lnTo>
                    <a:pt x="1105662" y="1075182"/>
                  </a:lnTo>
                  <a:lnTo>
                    <a:pt x="1110996" y="1047750"/>
                  </a:lnTo>
                  <a:close/>
                </a:path>
                <a:path w="4500880" h="2902585">
                  <a:moveTo>
                    <a:pt x="1116330" y="2129790"/>
                  </a:moveTo>
                  <a:lnTo>
                    <a:pt x="1114806" y="2125218"/>
                  </a:lnTo>
                  <a:lnTo>
                    <a:pt x="1111758" y="2113788"/>
                  </a:lnTo>
                  <a:lnTo>
                    <a:pt x="1107186" y="2100834"/>
                  </a:lnTo>
                  <a:lnTo>
                    <a:pt x="1080516" y="2110740"/>
                  </a:lnTo>
                  <a:lnTo>
                    <a:pt x="1085088" y="2123694"/>
                  </a:lnTo>
                  <a:lnTo>
                    <a:pt x="1088136" y="2135886"/>
                  </a:lnTo>
                  <a:lnTo>
                    <a:pt x="1116330" y="2129790"/>
                  </a:lnTo>
                  <a:close/>
                </a:path>
                <a:path w="4500880" h="2902585">
                  <a:moveTo>
                    <a:pt x="1120902" y="2188464"/>
                  </a:moveTo>
                  <a:lnTo>
                    <a:pt x="1119378" y="2169414"/>
                  </a:lnTo>
                  <a:lnTo>
                    <a:pt x="1119378" y="2161032"/>
                  </a:lnTo>
                  <a:lnTo>
                    <a:pt x="1092708" y="2161743"/>
                  </a:lnTo>
                  <a:lnTo>
                    <a:pt x="1090422" y="2161794"/>
                  </a:lnTo>
                  <a:lnTo>
                    <a:pt x="1091184" y="2170176"/>
                  </a:lnTo>
                  <a:lnTo>
                    <a:pt x="1092708" y="2191512"/>
                  </a:lnTo>
                  <a:lnTo>
                    <a:pt x="1119378" y="2188629"/>
                  </a:lnTo>
                  <a:lnTo>
                    <a:pt x="1120140" y="2188553"/>
                  </a:lnTo>
                  <a:lnTo>
                    <a:pt x="1120902" y="2188464"/>
                  </a:lnTo>
                  <a:close/>
                </a:path>
                <a:path w="4500880" h="2902585">
                  <a:moveTo>
                    <a:pt x="1124712" y="2611374"/>
                  </a:moveTo>
                  <a:lnTo>
                    <a:pt x="1110996" y="2601468"/>
                  </a:lnTo>
                  <a:lnTo>
                    <a:pt x="1102614" y="2593848"/>
                  </a:lnTo>
                  <a:lnTo>
                    <a:pt x="1084326" y="2615946"/>
                  </a:lnTo>
                  <a:lnTo>
                    <a:pt x="1092708" y="2622804"/>
                  </a:lnTo>
                  <a:lnTo>
                    <a:pt x="1107186" y="2634234"/>
                  </a:lnTo>
                  <a:lnTo>
                    <a:pt x="1124712" y="2611374"/>
                  </a:lnTo>
                  <a:close/>
                </a:path>
                <a:path w="4500880" h="2902585">
                  <a:moveTo>
                    <a:pt x="1130046" y="1618488"/>
                  </a:moveTo>
                  <a:lnTo>
                    <a:pt x="1104900" y="1604010"/>
                  </a:lnTo>
                  <a:lnTo>
                    <a:pt x="1091184" y="1629156"/>
                  </a:lnTo>
                  <a:lnTo>
                    <a:pt x="1115568" y="1642872"/>
                  </a:lnTo>
                  <a:lnTo>
                    <a:pt x="1130046" y="1618488"/>
                  </a:lnTo>
                  <a:close/>
                </a:path>
                <a:path w="4500880" h="2902585">
                  <a:moveTo>
                    <a:pt x="1133856" y="2240280"/>
                  </a:moveTo>
                  <a:lnTo>
                    <a:pt x="1132332" y="2236470"/>
                  </a:lnTo>
                  <a:lnTo>
                    <a:pt x="1129284" y="2227326"/>
                  </a:lnTo>
                  <a:lnTo>
                    <a:pt x="1126236" y="2217420"/>
                  </a:lnTo>
                  <a:lnTo>
                    <a:pt x="1126236" y="2214372"/>
                  </a:lnTo>
                  <a:lnTo>
                    <a:pt x="1098042" y="2221230"/>
                  </a:lnTo>
                  <a:lnTo>
                    <a:pt x="1098804" y="2223516"/>
                  </a:lnTo>
                  <a:lnTo>
                    <a:pt x="1106424" y="2250186"/>
                  </a:lnTo>
                  <a:lnTo>
                    <a:pt x="1133856" y="2240280"/>
                  </a:lnTo>
                  <a:close/>
                </a:path>
                <a:path w="4500880" h="2902585">
                  <a:moveTo>
                    <a:pt x="1154430" y="438912"/>
                  </a:moveTo>
                  <a:lnTo>
                    <a:pt x="1127760" y="427482"/>
                  </a:lnTo>
                  <a:lnTo>
                    <a:pt x="1125169" y="435584"/>
                  </a:lnTo>
                  <a:lnTo>
                    <a:pt x="1120267" y="437464"/>
                  </a:lnTo>
                  <a:lnTo>
                    <a:pt x="1114044" y="443484"/>
                  </a:lnTo>
                  <a:lnTo>
                    <a:pt x="1131570" y="465582"/>
                  </a:lnTo>
                  <a:lnTo>
                    <a:pt x="1137666" y="461772"/>
                  </a:lnTo>
                  <a:lnTo>
                    <a:pt x="1143000" y="455676"/>
                  </a:lnTo>
                  <a:lnTo>
                    <a:pt x="1147572" y="450342"/>
                  </a:lnTo>
                  <a:lnTo>
                    <a:pt x="1151382" y="445008"/>
                  </a:lnTo>
                  <a:lnTo>
                    <a:pt x="1154430" y="438912"/>
                  </a:lnTo>
                  <a:close/>
                </a:path>
                <a:path w="4500880" h="2902585">
                  <a:moveTo>
                    <a:pt x="1155954" y="2290572"/>
                  </a:moveTo>
                  <a:lnTo>
                    <a:pt x="1152906" y="2283714"/>
                  </a:lnTo>
                  <a:lnTo>
                    <a:pt x="1143762" y="2265426"/>
                  </a:lnTo>
                  <a:lnTo>
                    <a:pt x="1117854" y="2277618"/>
                  </a:lnTo>
                  <a:lnTo>
                    <a:pt x="1122426" y="2286762"/>
                  </a:lnTo>
                  <a:lnTo>
                    <a:pt x="1126998" y="2296668"/>
                  </a:lnTo>
                  <a:lnTo>
                    <a:pt x="1131570" y="2304288"/>
                  </a:lnTo>
                  <a:lnTo>
                    <a:pt x="1155954" y="2290572"/>
                  </a:lnTo>
                  <a:close/>
                </a:path>
                <a:path w="4500880" h="2902585">
                  <a:moveTo>
                    <a:pt x="1167384" y="1059180"/>
                  </a:moveTo>
                  <a:lnTo>
                    <a:pt x="1139190" y="1053084"/>
                  </a:lnTo>
                  <a:lnTo>
                    <a:pt x="1133094" y="1081278"/>
                  </a:lnTo>
                  <a:lnTo>
                    <a:pt x="1161288" y="1087374"/>
                  </a:lnTo>
                  <a:lnTo>
                    <a:pt x="1167384" y="1059180"/>
                  </a:lnTo>
                  <a:close/>
                </a:path>
                <a:path w="4500880" h="2902585">
                  <a:moveTo>
                    <a:pt x="1170432" y="2644140"/>
                  </a:moveTo>
                  <a:lnTo>
                    <a:pt x="1164336" y="2640330"/>
                  </a:lnTo>
                  <a:lnTo>
                    <a:pt x="1146810" y="2628138"/>
                  </a:lnTo>
                  <a:lnTo>
                    <a:pt x="1130808" y="2651760"/>
                  </a:lnTo>
                  <a:lnTo>
                    <a:pt x="1148334" y="2663952"/>
                  </a:lnTo>
                  <a:lnTo>
                    <a:pt x="1154430" y="2667762"/>
                  </a:lnTo>
                  <a:lnTo>
                    <a:pt x="1170432" y="2644140"/>
                  </a:lnTo>
                  <a:close/>
                </a:path>
                <a:path w="4500880" h="2902585">
                  <a:moveTo>
                    <a:pt x="1172718" y="390906"/>
                  </a:moveTo>
                  <a:lnTo>
                    <a:pt x="1151382" y="371856"/>
                  </a:lnTo>
                  <a:lnTo>
                    <a:pt x="1145832" y="378231"/>
                  </a:lnTo>
                  <a:lnTo>
                    <a:pt x="1140942" y="385114"/>
                  </a:lnTo>
                  <a:lnTo>
                    <a:pt x="1136700" y="392430"/>
                  </a:lnTo>
                  <a:lnTo>
                    <a:pt x="1133094" y="400050"/>
                  </a:lnTo>
                  <a:lnTo>
                    <a:pt x="1159764" y="410718"/>
                  </a:lnTo>
                  <a:lnTo>
                    <a:pt x="1162989" y="403504"/>
                  </a:lnTo>
                  <a:lnTo>
                    <a:pt x="1166964" y="396532"/>
                  </a:lnTo>
                  <a:lnTo>
                    <a:pt x="1172718" y="390906"/>
                  </a:lnTo>
                  <a:close/>
                </a:path>
                <a:path w="4500880" h="2902585">
                  <a:moveTo>
                    <a:pt x="1178814" y="1648206"/>
                  </a:moveTo>
                  <a:lnTo>
                    <a:pt x="1154430" y="1632966"/>
                  </a:lnTo>
                  <a:lnTo>
                    <a:pt x="1139952" y="1657350"/>
                  </a:lnTo>
                  <a:lnTo>
                    <a:pt x="1164336" y="1672590"/>
                  </a:lnTo>
                  <a:lnTo>
                    <a:pt x="1178814" y="1648206"/>
                  </a:lnTo>
                  <a:close/>
                </a:path>
                <a:path w="4500880" h="2902585">
                  <a:moveTo>
                    <a:pt x="1186434" y="2336292"/>
                  </a:moveTo>
                  <a:lnTo>
                    <a:pt x="1181862" y="2330196"/>
                  </a:lnTo>
                  <a:lnTo>
                    <a:pt x="1175766" y="2321052"/>
                  </a:lnTo>
                  <a:lnTo>
                    <a:pt x="1170432" y="2313432"/>
                  </a:lnTo>
                  <a:lnTo>
                    <a:pt x="1146810" y="2329434"/>
                  </a:lnTo>
                  <a:lnTo>
                    <a:pt x="1159002" y="2346960"/>
                  </a:lnTo>
                  <a:lnTo>
                    <a:pt x="1163574" y="2353056"/>
                  </a:lnTo>
                  <a:lnTo>
                    <a:pt x="1186434" y="2336292"/>
                  </a:lnTo>
                  <a:close/>
                </a:path>
                <a:path w="4500880" h="2902585">
                  <a:moveTo>
                    <a:pt x="1213866" y="357378"/>
                  </a:moveTo>
                  <a:lnTo>
                    <a:pt x="1198626" y="333756"/>
                  </a:lnTo>
                  <a:lnTo>
                    <a:pt x="1191768" y="337566"/>
                  </a:lnTo>
                  <a:lnTo>
                    <a:pt x="1184910" y="342138"/>
                  </a:lnTo>
                  <a:lnTo>
                    <a:pt x="1178814" y="346710"/>
                  </a:lnTo>
                  <a:lnTo>
                    <a:pt x="1174242" y="350520"/>
                  </a:lnTo>
                  <a:lnTo>
                    <a:pt x="1191006" y="373380"/>
                  </a:lnTo>
                  <a:lnTo>
                    <a:pt x="1196340" y="369570"/>
                  </a:lnTo>
                  <a:lnTo>
                    <a:pt x="1201674" y="364998"/>
                  </a:lnTo>
                  <a:lnTo>
                    <a:pt x="1213866" y="357378"/>
                  </a:lnTo>
                  <a:close/>
                </a:path>
                <a:path w="4500880" h="2902585">
                  <a:moveTo>
                    <a:pt x="1218438" y="2673858"/>
                  </a:moveTo>
                  <a:lnTo>
                    <a:pt x="1194054" y="2659380"/>
                  </a:lnTo>
                  <a:lnTo>
                    <a:pt x="1179576" y="2683764"/>
                  </a:lnTo>
                  <a:lnTo>
                    <a:pt x="1203960" y="2698242"/>
                  </a:lnTo>
                  <a:lnTo>
                    <a:pt x="1218438" y="2673858"/>
                  </a:lnTo>
                  <a:close/>
                </a:path>
                <a:path w="4500880" h="2902585">
                  <a:moveTo>
                    <a:pt x="1223010" y="2378202"/>
                  </a:moveTo>
                  <a:lnTo>
                    <a:pt x="1219200" y="2374392"/>
                  </a:lnTo>
                  <a:lnTo>
                    <a:pt x="1203960" y="2357628"/>
                  </a:lnTo>
                  <a:lnTo>
                    <a:pt x="1182624" y="2376678"/>
                  </a:lnTo>
                  <a:lnTo>
                    <a:pt x="1189482" y="2385060"/>
                  </a:lnTo>
                  <a:lnTo>
                    <a:pt x="1202436" y="2398014"/>
                  </a:lnTo>
                  <a:lnTo>
                    <a:pt x="1223010" y="2378202"/>
                  </a:lnTo>
                  <a:close/>
                </a:path>
                <a:path w="4500880" h="2902585">
                  <a:moveTo>
                    <a:pt x="1223010" y="1072134"/>
                  </a:moveTo>
                  <a:lnTo>
                    <a:pt x="1195578" y="1066038"/>
                  </a:lnTo>
                  <a:lnTo>
                    <a:pt x="1188720" y="1093470"/>
                  </a:lnTo>
                  <a:lnTo>
                    <a:pt x="1216914" y="1100328"/>
                  </a:lnTo>
                  <a:lnTo>
                    <a:pt x="1223010" y="1072134"/>
                  </a:lnTo>
                  <a:close/>
                </a:path>
                <a:path w="4500880" h="2902585">
                  <a:moveTo>
                    <a:pt x="1227582" y="1679448"/>
                  </a:moveTo>
                  <a:lnTo>
                    <a:pt x="1203960" y="1663446"/>
                  </a:lnTo>
                  <a:lnTo>
                    <a:pt x="1187958" y="1687830"/>
                  </a:lnTo>
                  <a:lnTo>
                    <a:pt x="1211580" y="1703070"/>
                  </a:lnTo>
                  <a:lnTo>
                    <a:pt x="1227582" y="1679448"/>
                  </a:lnTo>
                  <a:close/>
                </a:path>
                <a:path w="4500880" h="2902585">
                  <a:moveTo>
                    <a:pt x="1262634" y="332232"/>
                  </a:moveTo>
                  <a:lnTo>
                    <a:pt x="1251204" y="306324"/>
                  </a:lnTo>
                  <a:lnTo>
                    <a:pt x="1245108" y="308610"/>
                  </a:lnTo>
                  <a:lnTo>
                    <a:pt x="1229106" y="316230"/>
                  </a:lnTo>
                  <a:lnTo>
                    <a:pt x="1224534" y="318516"/>
                  </a:lnTo>
                  <a:lnTo>
                    <a:pt x="1237488" y="344424"/>
                  </a:lnTo>
                  <a:lnTo>
                    <a:pt x="1242060" y="342138"/>
                  </a:lnTo>
                  <a:lnTo>
                    <a:pt x="1258062" y="334518"/>
                  </a:lnTo>
                  <a:lnTo>
                    <a:pt x="1262634" y="332232"/>
                  </a:lnTo>
                  <a:close/>
                </a:path>
                <a:path w="4500880" h="2902585">
                  <a:moveTo>
                    <a:pt x="1263396" y="2416302"/>
                  </a:moveTo>
                  <a:lnTo>
                    <a:pt x="1245108" y="2400300"/>
                  </a:lnTo>
                  <a:lnTo>
                    <a:pt x="1242822" y="2398014"/>
                  </a:lnTo>
                  <a:lnTo>
                    <a:pt x="1223010" y="2418588"/>
                  </a:lnTo>
                  <a:lnTo>
                    <a:pt x="1225296" y="2420874"/>
                  </a:lnTo>
                  <a:lnTo>
                    <a:pt x="1244346" y="2437638"/>
                  </a:lnTo>
                  <a:lnTo>
                    <a:pt x="1263396" y="2416302"/>
                  </a:lnTo>
                  <a:close/>
                </a:path>
                <a:path w="4500880" h="2902585">
                  <a:moveTo>
                    <a:pt x="1267968" y="2699766"/>
                  </a:moveTo>
                  <a:lnTo>
                    <a:pt x="1257300" y="2694432"/>
                  </a:lnTo>
                  <a:lnTo>
                    <a:pt x="1242822" y="2686812"/>
                  </a:lnTo>
                  <a:lnTo>
                    <a:pt x="1229106" y="2711958"/>
                  </a:lnTo>
                  <a:lnTo>
                    <a:pt x="1243584" y="2719578"/>
                  </a:lnTo>
                  <a:lnTo>
                    <a:pt x="1255014" y="2725674"/>
                  </a:lnTo>
                  <a:lnTo>
                    <a:pt x="1267968" y="2699766"/>
                  </a:lnTo>
                  <a:close/>
                </a:path>
                <a:path w="4500880" h="2902585">
                  <a:moveTo>
                    <a:pt x="1279398" y="1086612"/>
                  </a:moveTo>
                  <a:lnTo>
                    <a:pt x="1273302" y="1085088"/>
                  </a:lnTo>
                  <a:lnTo>
                    <a:pt x="1251204" y="1078992"/>
                  </a:lnTo>
                  <a:lnTo>
                    <a:pt x="1244346" y="1107186"/>
                  </a:lnTo>
                  <a:lnTo>
                    <a:pt x="1266444" y="1112520"/>
                  </a:lnTo>
                  <a:lnTo>
                    <a:pt x="1271016" y="1114044"/>
                  </a:lnTo>
                  <a:lnTo>
                    <a:pt x="1279398" y="1086612"/>
                  </a:lnTo>
                  <a:close/>
                </a:path>
                <a:path w="4500880" h="2902585">
                  <a:moveTo>
                    <a:pt x="1307592" y="2449830"/>
                  </a:moveTo>
                  <a:lnTo>
                    <a:pt x="1303782" y="2447544"/>
                  </a:lnTo>
                  <a:lnTo>
                    <a:pt x="1284732" y="2433828"/>
                  </a:lnTo>
                  <a:lnTo>
                    <a:pt x="1267968" y="2456688"/>
                  </a:lnTo>
                  <a:lnTo>
                    <a:pt x="1287018" y="2470404"/>
                  </a:lnTo>
                  <a:lnTo>
                    <a:pt x="1291590" y="2473452"/>
                  </a:lnTo>
                  <a:lnTo>
                    <a:pt x="1307592" y="2449830"/>
                  </a:lnTo>
                  <a:close/>
                </a:path>
                <a:path w="4500880" h="2902585">
                  <a:moveTo>
                    <a:pt x="1314450" y="311658"/>
                  </a:moveTo>
                  <a:lnTo>
                    <a:pt x="1305306" y="284988"/>
                  </a:lnTo>
                  <a:lnTo>
                    <a:pt x="1301496" y="285750"/>
                  </a:lnTo>
                  <a:lnTo>
                    <a:pt x="1281684" y="293370"/>
                  </a:lnTo>
                  <a:lnTo>
                    <a:pt x="1277874" y="294894"/>
                  </a:lnTo>
                  <a:lnTo>
                    <a:pt x="1288542" y="321564"/>
                  </a:lnTo>
                  <a:lnTo>
                    <a:pt x="1292352" y="320040"/>
                  </a:lnTo>
                  <a:lnTo>
                    <a:pt x="1311402" y="313182"/>
                  </a:lnTo>
                  <a:lnTo>
                    <a:pt x="1314450" y="311658"/>
                  </a:lnTo>
                  <a:close/>
                </a:path>
                <a:path w="4500880" h="2902585">
                  <a:moveTo>
                    <a:pt x="1319022" y="2724912"/>
                  </a:moveTo>
                  <a:lnTo>
                    <a:pt x="1293114" y="2712720"/>
                  </a:lnTo>
                  <a:lnTo>
                    <a:pt x="1280922" y="2738628"/>
                  </a:lnTo>
                  <a:lnTo>
                    <a:pt x="1306830" y="2750820"/>
                  </a:lnTo>
                  <a:lnTo>
                    <a:pt x="1319022" y="2724912"/>
                  </a:lnTo>
                  <a:close/>
                </a:path>
                <a:path w="4500880" h="2902585">
                  <a:moveTo>
                    <a:pt x="1319784" y="1748790"/>
                  </a:moveTo>
                  <a:lnTo>
                    <a:pt x="1297686" y="1730502"/>
                  </a:lnTo>
                  <a:lnTo>
                    <a:pt x="1280160" y="1753362"/>
                  </a:lnTo>
                  <a:lnTo>
                    <a:pt x="1302258" y="1770888"/>
                  </a:lnTo>
                  <a:lnTo>
                    <a:pt x="1319784" y="1748790"/>
                  </a:lnTo>
                  <a:close/>
                </a:path>
                <a:path w="4500880" h="2902585">
                  <a:moveTo>
                    <a:pt x="1334262" y="1102614"/>
                  </a:moveTo>
                  <a:lnTo>
                    <a:pt x="1316736" y="1097280"/>
                  </a:lnTo>
                  <a:lnTo>
                    <a:pt x="1306830" y="1094232"/>
                  </a:lnTo>
                  <a:lnTo>
                    <a:pt x="1299210" y="1121664"/>
                  </a:lnTo>
                  <a:lnTo>
                    <a:pt x="1309116" y="1124712"/>
                  </a:lnTo>
                  <a:lnTo>
                    <a:pt x="1325880" y="1130046"/>
                  </a:lnTo>
                  <a:lnTo>
                    <a:pt x="1334262" y="1102614"/>
                  </a:lnTo>
                  <a:close/>
                </a:path>
                <a:path w="4500880" h="2902585">
                  <a:moveTo>
                    <a:pt x="1354836" y="2480310"/>
                  </a:moveTo>
                  <a:lnTo>
                    <a:pt x="1347216" y="2476500"/>
                  </a:lnTo>
                  <a:lnTo>
                    <a:pt x="1330452" y="2465832"/>
                  </a:lnTo>
                  <a:lnTo>
                    <a:pt x="1315212" y="2490216"/>
                  </a:lnTo>
                  <a:lnTo>
                    <a:pt x="1331976" y="2500884"/>
                  </a:lnTo>
                  <a:lnTo>
                    <a:pt x="1340358" y="2505456"/>
                  </a:lnTo>
                  <a:lnTo>
                    <a:pt x="1354836" y="2480310"/>
                  </a:lnTo>
                  <a:close/>
                </a:path>
                <a:path w="4500880" h="2902585">
                  <a:moveTo>
                    <a:pt x="1363980" y="1786890"/>
                  </a:moveTo>
                  <a:lnTo>
                    <a:pt x="1362456" y="1785366"/>
                  </a:lnTo>
                  <a:lnTo>
                    <a:pt x="1342644" y="1767078"/>
                  </a:lnTo>
                  <a:lnTo>
                    <a:pt x="1323594" y="1789176"/>
                  </a:lnTo>
                  <a:lnTo>
                    <a:pt x="1324356" y="1789176"/>
                  </a:lnTo>
                  <a:lnTo>
                    <a:pt x="1343406" y="1806702"/>
                  </a:lnTo>
                  <a:lnTo>
                    <a:pt x="1344930" y="1807464"/>
                  </a:lnTo>
                  <a:lnTo>
                    <a:pt x="1363980" y="1786890"/>
                  </a:lnTo>
                  <a:close/>
                </a:path>
                <a:path w="4500880" h="2902585">
                  <a:moveTo>
                    <a:pt x="1368552" y="294894"/>
                  </a:moveTo>
                  <a:lnTo>
                    <a:pt x="1360932" y="267462"/>
                  </a:lnTo>
                  <a:lnTo>
                    <a:pt x="1343406" y="272796"/>
                  </a:lnTo>
                  <a:lnTo>
                    <a:pt x="1332738" y="275844"/>
                  </a:lnTo>
                  <a:lnTo>
                    <a:pt x="1341120" y="303276"/>
                  </a:lnTo>
                  <a:lnTo>
                    <a:pt x="1351788" y="299466"/>
                  </a:lnTo>
                  <a:lnTo>
                    <a:pt x="1368552" y="294894"/>
                  </a:lnTo>
                  <a:close/>
                </a:path>
                <a:path w="4500880" h="2902585">
                  <a:moveTo>
                    <a:pt x="1370838" y="2746248"/>
                  </a:moveTo>
                  <a:lnTo>
                    <a:pt x="1361694" y="2743200"/>
                  </a:lnTo>
                  <a:lnTo>
                    <a:pt x="1344930" y="2735580"/>
                  </a:lnTo>
                  <a:lnTo>
                    <a:pt x="1333500" y="2762250"/>
                  </a:lnTo>
                  <a:lnTo>
                    <a:pt x="1351026" y="2769108"/>
                  </a:lnTo>
                  <a:lnTo>
                    <a:pt x="1360932" y="2772918"/>
                  </a:lnTo>
                  <a:lnTo>
                    <a:pt x="1370838" y="2746248"/>
                  </a:lnTo>
                  <a:close/>
                </a:path>
                <a:path w="4500880" h="2902585">
                  <a:moveTo>
                    <a:pt x="1389126" y="1120140"/>
                  </a:moveTo>
                  <a:lnTo>
                    <a:pt x="1376172" y="1115568"/>
                  </a:lnTo>
                  <a:lnTo>
                    <a:pt x="1361694" y="1110996"/>
                  </a:lnTo>
                  <a:lnTo>
                    <a:pt x="1352550" y="1138428"/>
                  </a:lnTo>
                  <a:lnTo>
                    <a:pt x="1367028" y="1143000"/>
                  </a:lnTo>
                  <a:lnTo>
                    <a:pt x="1379982" y="1147572"/>
                  </a:lnTo>
                  <a:lnTo>
                    <a:pt x="1389126" y="1120140"/>
                  </a:lnTo>
                  <a:close/>
                </a:path>
                <a:path w="4500880" h="2902585">
                  <a:moveTo>
                    <a:pt x="1404366" y="2506980"/>
                  </a:moveTo>
                  <a:lnTo>
                    <a:pt x="1394460" y="2502408"/>
                  </a:lnTo>
                  <a:lnTo>
                    <a:pt x="1379220" y="2494026"/>
                  </a:lnTo>
                  <a:lnTo>
                    <a:pt x="1365504" y="2519172"/>
                  </a:lnTo>
                  <a:lnTo>
                    <a:pt x="1380744" y="2527554"/>
                  </a:lnTo>
                  <a:lnTo>
                    <a:pt x="1391412" y="2532888"/>
                  </a:lnTo>
                  <a:lnTo>
                    <a:pt x="1404366" y="2506980"/>
                  </a:lnTo>
                  <a:close/>
                </a:path>
                <a:path w="4500880" h="2902585">
                  <a:moveTo>
                    <a:pt x="1405890" y="1827276"/>
                  </a:moveTo>
                  <a:lnTo>
                    <a:pt x="1385316" y="1806702"/>
                  </a:lnTo>
                  <a:lnTo>
                    <a:pt x="1365504" y="1826514"/>
                  </a:lnTo>
                  <a:lnTo>
                    <a:pt x="1379982" y="1840992"/>
                  </a:lnTo>
                  <a:lnTo>
                    <a:pt x="1385316" y="1847088"/>
                  </a:lnTo>
                  <a:lnTo>
                    <a:pt x="1405890" y="1827276"/>
                  </a:lnTo>
                  <a:close/>
                </a:path>
                <a:path w="4500880" h="2902585">
                  <a:moveTo>
                    <a:pt x="1423416" y="281178"/>
                  </a:moveTo>
                  <a:lnTo>
                    <a:pt x="1417320" y="253746"/>
                  </a:lnTo>
                  <a:lnTo>
                    <a:pt x="1412748" y="254508"/>
                  </a:lnTo>
                  <a:lnTo>
                    <a:pt x="1389126" y="259842"/>
                  </a:lnTo>
                  <a:lnTo>
                    <a:pt x="1388364" y="259842"/>
                  </a:lnTo>
                  <a:lnTo>
                    <a:pt x="1395984" y="288036"/>
                  </a:lnTo>
                  <a:lnTo>
                    <a:pt x="1418844" y="281940"/>
                  </a:lnTo>
                  <a:lnTo>
                    <a:pt x="1423416" y="281178"/>
                  </a:lnTo>
                  <a:close/>
                </a:path>
                <a:path w="4500880" h="2902585">
                  <a:moveTo>
                    <a:pt x="1424178" y="2766060"/>
                  </a:moveTo>
                  <a:lnTo>
                    <a:pt x="1399794" y="2756916"/>
                  </a:lnTo>
                  <a:lnTo>
                    <a:pt x="1397508" y="2756916"/>
                  </a:lnTo>
                  <a:lnTo>
                    <a:pt x="1387602" y="2783586"/>
                  </a:lnTo>
                  <a:lnTo>
                    <a:pt x="1389126" y="2783586"/>
                  </a:lnTo>
                  <a:lnTo>
                    <a:pt x="1414272" y="2792730"/>
                  </a:lnTo>
                  <a:lnTo>
                    <a:pt x="1424178" y="2766060"/>
                  </a:lnTo>
                  <a:close/>
                </a:path>
                <a:path w="4500880" h="2902585">
                  <a:moveTo>
                    <a:pt x="1443228" y="1141476"/>
                  </a:moveTo>
                  <a:lnTo>
                    <a:pt x="1428750" y="1135380"/>
                  </a:lnTo>
                  <a:lnTo>
                    <a:pt x="1416558" y="1130808"/>
                  </a:lnTo>
                  <a:lnTo>
                    <a:pt x="1405890" y="1157478"/>
                  </a:lnTo>
                  <a:lnTo>
                    <a:pt x="1418082" y="1162050"/>
                  </a:lnTo>
                  <a:lnTo>
                    <a:pt x="1431798" y="1168146"/>
                  </a:lnTo>
                  <a:lnTo>
                    <a:pt x="1443228" y="1141476"/>
                  </a:lnTo>
                  <a:close/>
                </a:path>
                <a:path w="4500880" h="2902585">
                  <a:moveTo>
                    <a:pt x="1444752" y="1869948"/>
                  </a:moveTo>
                  <a:lnTo>
                    <a:pt x="1434084" y="1857756"/>
                  </a:lnTo>
                  <a:lnTo>
                    <a:pt x="1425702" y="1847850"/>
                  </a:lnTo>
                  <a:lnTo>
                    <a:pt x="1404366" y="1867662"/>
                  </a:lnTo>
                  <a:lnTo>
                    <a:pt x="1412748" y="1876806"/>
                  </a:lnTo>
                  <a:lnTo>
                    <a:pt x="1422654" y="1888236"/>
                  </a:lnTo>
                  <a:lnTo>
                    <a:pt x="1444752" y="1869948"/>
                  </a:lnTo>
                  <a:close/>
                </a:path>
                <a:path w="4500880" h="2902585">
                  <a:moveTo>
                    <a:pt x="1455420" y="2529840"/>
                  </a:moveTo>
                  <a:lnTo>
                    <a:pt x="1443990" y="2525268"/>
                  </a:lnTo>
                  <a:lnTo>
                    <a:pt x="1429512" y="2519172"/>
                  </a:lnTo>
                  <a:lnTo>
                    <a:pt x="1418082" y="2545080"/>
                  </a:lnTo>
                  <a:lnTo>
                    <a:pt x="1431798" y="2551176"/>
                  </a:lnTo>
                  <a:lnTo>
                    <a:pt x="1444752" y="2556510"/>
                  </a:lnTo>
                  <a:lnTo>
                    <a:pt x="1455420" y="2529840"/>
                  </a:lnTo>
                  <a:close/>
                </a:path>
                <a:path w="4500880" h="2902585">
                  <a:moveTo>
                    <a:pt x="1477518" y="2783586"/>
                  </a:moveTo>
                  <a:lnTo>
                    <a:pt x="1450848" y="2775204"/>
                  </a:lnTo>
                  <a:lnTo>
                    <a:pt x="1441704" y="2801874"/>
                  </a:lnTo>
                  <a:lnTo>
                    <a:pt x="1468374" y="2811018"/>
                  </a:lnTo>
                  <a:lnTo>
                    <a:pt x="1469898" y="2811018"/>
                  </a:lnTo>
                  <a:lnTo>
                    <a:pt x="1477518" y="2783586"/>
                  </a:lnTo>
                  <a:close/>
                </a:path>
                <a:path w="4500880" h="2902585">
                  <a:moveTo>
                    <a:pt x="1478280" y="269748"/>
                  </a:moveTo>
                  <a:lnTo>
                    <a:pt x="1473708" y="242316"/>
                  </a:lnTo>
                  <a:lnTo>
                    <a:pt x="1461516" y="243840"/>
                  </a:lnTo>
                  <a:lnTo>
                    <a:pt x="1445514" y="247650"/>
                  </a:lnTo>
                  <a:lnTo>
                    <a:pt x="1450848" y="275082"/>
                  </a:lnTo>
                  <a:lnTo>
                    <a:pt x="1466850" y="272034"/>
                  </a:lnTo>
                  <a:lnTo>
                    <a:pt x="1478280" y="269748"/>
                  </a:lnTo>
                  <a:close/>
                </a:path>
                <a:path w="4500880" h="2902585">
                  <a:moveTo>
                    <a:pt x="1480566" y="1916430"/>
                  </a:moveTo>
                  <a:lnTo>
                    <a:pt x="1479042" y="1914144"/>
                  </a:lnTo>
                  <a:lnTo>
                    <a:pt x="1464564" y="1895094"/>
                  </a:lnTo>
                  <a:lnTo>
                    <a:pt x="1463040" y="1892808"/>
                  </a:lnTo>
                  <a:lnTo>
                    <a:pt x="1440180" y="1910334"/>
                  </a:lnTo>
                  <a:lnTo>
                    <a:pt x="1442466" y="1912620"/>
                  </a:lnTo>
                  <a:lnTo>
                    <a:pt x="1456182" y="1930908"/>
                  </a:lnTo>
                  <a:lnTo>
                    <a:pt x="1456944" y="1932432"/>
                  </a:lnTo>
                  <a:lnTo>
                    <a:pt x="1480566" y="1916430"/>
                  </a:lnTo>
                  <a:close/>
                </a:path>
                <a:path w="4500880" h="2902585">
                  <a:moveTo>
                    <a:pt x="1495806" y="1167384"/>
                  </a:moveTo>
                  <a:lnTo>
                    <a:pt x="1486662" y="1162050"/>
                  </a:lnTo>
                  <a:lnTo>
                    <a:pt x="1473708" y="1155192"/>
                  </a:lnTo>
                  <a:lnTo>
                    <a:pt x="1469898" y="1153668"/>
                  </a:lnTo>
                  <a:lnTo>
                    <a:pt x="1457706" y="1179576"/>
                  </a:lnTo>
                  <a:lnTo>
                    <a:pt x="1461516" y="1181100"/>
                  </a:lnTo>
                  <a:lnTo>
                    <a:pt x="1473708" y="1187958"/>
                  </a:lnTo>
                  <a:lnTo>
                    <a:pt x="1482090" y="1192530"/>
                  </a:lnTo>
                  <a:lnTo>
                    <a:pt x="1495806" y="1167384"/>
                  </a:lnTo>
                  <a:close/>
                </a:path>
                <a:path w="4500880" h="2902585">
                  <a:moveTo>
                    <a:pt x="1507998" y="2548128"/>
                  </a:moveTo>
                  <a:lnTo>
                    <a:pt x="1495044" y="2544318"/>
                  </a:lnTo>
                  <a:lnTo>
                    <a:pt x="1481328" y="2539746"/>
                  </a:lnTo>
                  <a:lnTo>
                    <a:pt x="1472184" y="2566416"/>
                  </a:lnTo>
                  <a:lnTo>
                    <a:pt x="1499616" y="2575560"/>
                  </a:lnTo>
                  <a:lnTo>
                    <a:pt x="1507998" y="2548128"/>
                  </a:lnTo>
                  <a:close/>
                </a:path>
                <a:path w="4500880" h="2902585">
                  <a:moveTo>
                    <a:pt x="1511808" y="1965198"/>
                  </a:moveTo>
                  <a:lnTo>
                    <a:pt x="1504188" y="1952244"/>
                  </a:lnTo>
                  <a:lnTo>
                    <a:pt x="1496568" y="1940814"/>
                  </a:lnTo>
                  <a:lnTo>
                    <a:pt x="1472946" y="1956054"/>
                  </a:lnTo>
                  <a:lnTo>
                    <a:pt x="1480566" y="1967484"/>
                  </a:lnTo>
                  <a:lnTo>
                    <a:pt x="1487424" y="1979676"/>
                  </a:lnTo>
                  <a:lnTo>
                    <a:pt x="1511808" y="1965198"/>
                  </a:lnTo>
                  <a:close/>
                </a:path>
                <a:path w="4500880" h="2902585">
                  <a:moveTo>
                    <a:pt x="1528572" y="1375410"/>
                  </a:moveTo>
                  <a:lnTo>
                    <a:pt x="1527048" y="1372362"/>
                  </a:lnTo>
                  <a:lnTo>
                    <a:pt x="1523238" y="1371600"/>
                  </a:lnTo>
                  <a:lnTo>
                    <a:pt x="1520190" y="1373124"/>
                  </a:lnTo>
                  <a:lnTo>
                    <a:pt x="1257909" y="1700974"/>
                  </a:lnTo>
                  <a:lnTo>
                    <a:pt x="1251204" y="1696212"/>
                  </a:lnTo>
                  <a:lnTo>
                    <a:pt x="1234440" y="1719834"/>
                  </a:lnTo>
                  <a:lnTo>
                    <a:pt x="1239875" y="1723517"/>
                  </a:lnTo>
                  <a:lnTo>
                    <a:pt x="958138" y="2075688"/>
                  </a:lnTo>
                  <a:lnTo>
                    <a:pt x="931926" y="2055114"/>
                  </a:lnTo>
                  <a:lnTo>
                    <a:pt x="914400" y="2138172"/>
                  </a:lnTo>
                  <a:lnTo>
                    <a:pt x="949452" y="2122030"/>
                  </a:lnTo>
                  <a:lnTo>
                    <a:pt x="992124" y="2102358"/>
                  </a:lnTo>
                  <a:lnTo>
                    <a:pt x="965809" y="2081720"/>
                  </a:lnTo>
                  <a:lnTo>
                    <a:pt x="1247978" y="1729016"/>
                  </a:lnTo>
                  <a:lnTo>
                    <a:pt x="1258062" y="1735836"/>
                  </a:lnTo>
                  <a:lnTo>
                    <a:pt x="1274826" y="1712976"/>
                  </a:lnTo>
                  <a:lnTo>
                    <a:pt x="1265872" y="1706638"/>
                  </a:lnTo>
                  <a:lnTo>
                    <a:pt x="1527810" y="1379220"/>
                  </a:lnTo>
                  <a:lnTo>
                    <a:pt x="1528572" y="1375410"/>
                  </a:lnTo>
                  <a:close/>
                </a:path>
                <a:path w="4500880" h="2902585">
                  <a:moveTo>
                    <a:pt x="1532382" y="2798826"/>
                  </a:moveTo>
                  <a:lnTo>
                    <a:pt x="1517904" y="2795016"/>
                  </a:lnTo>
                  <a:lnTo>
                    <a:pt x="1504950" y="2791206"/>
                  </a:lnTo>
                  <a:lnTo>
                    <a:pt x="1497330" y="2818638"/>
                  </a:lnTo>
                  <a:lnTo>
                    <a:pt x="1509522" y="2822448"/>
                  </a:lnTo>
                  <a:lnTo>
                    <a:pt x="1524762" y="2826258"/>
                  </a:lnTo>
                  <a:lnTo>
                    <a:pt x="1532382" y="2798826"/>
                  </a:lnTo>
                  <a:close/>
                </a:path>
                <a:path w="4500880" h="2902585">
                  <a:moveTo>
                    <a:pt x="1534668" y="261366"/>
                  </a:moveTo>
                  <a:lnTo>
                    <a:pt x="1530096" y="233172"/>
                  </a:lnTo>
                  <a:lnTo>
                    <a:pt x="1512570" y="235458"/>
                  </a:lnTo>
                  <a:lnTo>
                    <a:pt x="1501902" y="236982"/>
                  </a:lnTo>
                  <a:lnTo>
                    <a:pt x="1506474" y="265176"/>
                  </a:lnTo>
                  <a:lnTo>
                    <a:pt x="1517142" y="263652"/>
                  </a:lnTo>
                  <a:lnTo>
                    <a:pt x="1534668" y="261366"/>
                  </a:lnTo>
                  <a:close/>
                </a:path>
                <a:path w="4500880" h="2902585">
                  <a:moveTo>
                    <a:pt x="1538478" y="2017776"/>
                  </a:moveTo>
                  <a:lnTo>
                    <a:pt x="1535430" y="2010918"/>
                  </a:lnTo>
                  <a:lnTo>
                    <a:pt x="1525524" y="1991106"/>
                  </a:lnTo>
                  <a:lnTo>
                    <a:pt x="1500378" y="2004060"/>
                  </a:lnTo>
                  <a:lnTo>
                    <a:pt x="1500378" y="2004822"/>
                  </a:lnTo>
                  <a:lnTo>
                    <a:pt x="1509522" y="2023110"/>
                  </a:lnTo>
                  <a:lnTo>
                    <a:pt x="1511808" y="2029206"/>
                  </a:lnTo>
                  <a:lnTo>
                    <a:pt x="1538478" y="2017776"/>
                  </a:lnTo>
                  <a:close/>
                </a:path>
                <a:path w="4500880" h="2902585">
                  <a:moveTo>
                    <a:pt x="1557528" y="1257300"/>
                  </a:moveTo>
                  <a:lnTo>
                    <a:pt x="1538478" y="1162812"/>
                  </a:lnTo>
                  <a:lnTo>
                    <a:pt x="1470660" y="1215390"/>
                  </a:lnTo>
                  <a:lnTo>
                    <a:pt x="1499616" y="1229360"/>
                  </a:lnTo>
                  <a:lnTo>
                    <a:pt x="1524762" y="1241501"/>
                  </a:lnTo>
                  <a:lnTo>
                    <a:pt x="1557528" y="1257300"/>
                  </a:lnTo>
                  <a:close/>
                </a:path>
                <a:path w="4500880" h="2902585">
                  <a:moveTo>
                    <a:pt x="1558290" y="2074926"/>
                  </a:moveTo>
                  <a:lnTo>
                    <a:pt x="1556766" y="2070354"/>
                  </a:lnTo>
                  <a:lnTo>
                    <a:pt x="1550670" y="2050542"/>
                  </a:lnTo>
                  <a:lnTo>
                    <a:pt x="1549146" y="2045208"/>
                  </a:lnTo>
                  <a:lnTo>
                    <a:pt x="1522476" y="2055114"/>
                  </a:lnTo>
                  <a:lnTo>
                    <a:pt x="1524000" y="2060448"/>
                  </a:lnTo>
                  <a:lnTo>
                    <a:pt x="1530096" y="2078736"/>
                  </a:lnTo>
                  <a:lnTo>
                    <a:pt x="1530096" y="2080260"/>
                  </a:lnTo>
                  <a:lnTo>
                    <a:pt x="1558290" y="2074926"/>
                  </a:lnTo>
                  <a:close/>
                </a:path>
                <a:path w="4500880" h="2902585">
                  <a:moveTo>
                    <a:pt x="1562100" y="2563368"/>
                  </a:moveTo>
                  <a:lnTo>
                    <a:pt x="1548384" y="2560320"/>
                  </a:lnTo>
                  <a:lnTo>
                    <a:pt x="1535430" y="2556510"/>
                  </a:lnTo>
                  <a:lnTo>
                    <a:pt x="1527810" y="2583942"/>
                  </a:lnTo>
                  <a:lnTo>
                    <a:pt x="1540764" y="2587752"/>
                  </a:lnTo>
                  <a:lnTo>
                    <a:pt x="1556004" y="2590800"/>
                  </a:lnTo>
                  <a:lnTo>
                    <a:pt x="1562100" y="2563368"/>
                  </a:lnTo>
                  <a:close/>
                </a:path>
                <a:path w="4500880" h="2902585">
                  <a:moveTo>
                    <a:pt x="1587246" y="2811780"/>
                  </a:moveTo>
                  <a:lnTo>
                    <a:pt x="1559814" y="2805684"/>
                  </a:lnTo>
                  <a:lnTo>
                    <a:pt x="1552956" y="2833878"/>
                  </a:lnTo>
                  <a:lnTo>
                    <a:pt x="1581150" y="2839974"/>
                  </a:lnTo>
                  <a:lnTo>
                    <a:pt x="1587246" y="2811780"/>
                  </a:lnTo>
                  <a:close/>
                </a:path>
                <a:path w="4500880" h="2902585">
                  <a:moveTo>
                    <a:pt x="1588770" y="2081022"/>
                  </a:moveTo>
                  <a:lnTo>
                    <a:pt x="1504188" y="2091690"/>
                  </a:lnTo>
                  <a:lnTo>
                    <a:pt x="1557528" y="2171700"/>
                  </a:lnTo>
                  <a:lnTo>
                    <a:pt x="1588770" y="2081022"/>
                  </a:lnTo>
                  <a:close/>
                </a:path>
                <a:path w="4500880" h="2902585">
                  <a:moveTo>
                    <a:pt x="1591056" y="254508"/>
                  </a:moveTo>
                  <a:lnTo>
                    <a:pt x="1588008" y="226314"/>
                  </a:lnTo>
                  <a:lnTo>
                    <a:pt x="1565910" y="228600"/>
                  </a:lnTo>
                  <a:lnTo>
                    <a:pt x="1559052" y="229362"/>
                  </a:lnTo>
                  <a:lnTo>
                    <a:pt x="1562862" y="257556"/>
                  </a:lnTo>
                  <a:lnTo>
                    <a:pt x="1569720" y="256794"/>
                  </a:lnTo>
                  <a:lnTo>
                    <a:pt x="1591056" y="254508"/>
                  </a:lnTo>
                  <a:close/>
                </a:path>
                <a:path w="4500880" h="2902585">
                  <a:moveTo>
                    <a:pt x="1616964" y="2574036"/>
                  </a:moveTo>
                  <a:lnTo>
                    <a:pt x="1603248" y="2571750"/>
                  </a:lnTo>
                  <a:lnTo>
                    <a:pt x="1589532" y="2568702"/>
                  </a:lnTo>
                  <a:lnTo>
                    <a:pt x="1584198" y="2596896"/>
                  </a:lnTo>
                  <a:lnTo>
                    <a:pt x="1597914" y="2599944"/>
                  </a:lnTo>
                  <a:lnTo>
                    <a:pt x="1612392" y="2602230"/>
                  </a:lnTo>
                  <a:lnTo>
                    <a:pt x="1613154" y="2602230"/>
                  </a:lnTo>
                  <a:lnTo>
                    <a:pt x="1616964" y="2574036"/>
                  </a:lnTo>
                  <a:close/>
                </a:path>
                <a:path w="4500880" h="2902585">
                  <a:moveTo>
                    <a:pt x="1642872" y="2823210"/>
                  </a:moveTo>
                  <a:lnTo>
                    <a:pt x="1614678" y="2817876"/>
                  </a:lnTo>
                  <a:lnTo>
                    <a:pt x="1609344" y="2846070"/>
                  </a:lnTo>
                  <a:lnTo>
                    <a:pt x="1637538" y="2851404"/>
                  </a:lnTo>
                  <a:lnTo>
                    <a:pt x="1642872" y="2823210"/>
                  </a:lnTo>
                  <a:close/>
                </a:path>
                <a:path w="4500880" h="2902585">
                  <a:moveTo>
                    <a:pt x="1647444" y="249936"/>
                  </a:moveTo>
                  <a:lnTo>
                    <a:pt x="1645158" y="221742"/>
                  </a:lnTo>
                  <a:lnTo>
                    <a:pt x="1620012" y="223266"/>
                  </a:lnTo>
                  <a:lnTo>
                    <a:pt x="1616202" y="223266"/>
                  </a:lnTo>
                  <a:lnTo>
                    <a:pt x="1619250" y="252222"/>
                  </a:lnTo>
                  <a:lnTo>
                    <a:pt x="1622298" y="251460"/>
                  </a:lnTo>
                  <a:lnTo>
                    <a:pt x="1647444" y="249936"/>
                  </a:lnTo>
                  <a:close/>
                </a:path>
                <a:path w="4500880" h="2902585">
                  <a:moveTo>
                    <a:pt x="1672590" y="2579370"/>
                  </a:moveTo>
                  <a:lnTo>
                    <a:pt x="1658874" y="2578608"/>
                  </a:lnTo>
                  <a:lnTo>
                    <a:pt x="1645158" y="2577084"/>
                  </a:lnTo>
                  <a:lnTo>
                    <a:pt x="1642110" y="2606040"/>
                  </a:lnTo>
                  <a:lnTo>
                    <a:pt x="1655826" y="2606802"/>
                  </a:lnTo>
                  <a:lnTo>
                    <a:pt x="1670304" y="2608326"/>
                  </a:lnTo>
                  <a:lnTo>
                    <a:pt x="1671066" y="2608326"/>
                  </a:lnTo>
                  <a:lnTo>
                    <a:pt x="1672590" y="2579370"/>
                  </a:lnTo>
                  <a:close/>
                </a:path>
                <a:path w="4500880" h="2902585">
                  <a:moveTo>
                    <a:pt x="1698498" y="2832354"/>
                  </a:moveTo>
                  <a:lnTo>
                    <a:pt x="1686306" y="2830830"/>
                  </a:lnTo>
                  <a:lnTo>
                    <a:pt x="1671066" y="2828544"/>
                  </a:lnTo>
                  <a:lnTo>
                    <a:pt x="1665732" y="2856738"/>
                  </a:lnTo>
                  <a:lnTo>
                    <a:pt x="1680972" y="2859024"/>
                  </a:lnTo>
                  <a:lnTo>
                    <a:pt x="1694688" y="2860548"/>
                  </a:lnTo>
                  <a:lnTo>
                    <a:pt x="1698498" y="2832354"/>
                  </a:lnTo>
                  <a:close/>
                </a:path>
                <a:path w="4500880" h="2902585">
                  <a:moveTo>
                    <a:pt x="1703832" y="247650"/>
                  </a:moveTo>
                  <a:lnTo>
                    <a:pt x="1703070" y="219456"/>
                  </a:lnTo>
                  <a:lnTo>
                    <a:pt x="1676400" y="220205"/>
                  </a:lnTo>
                  <a:lnTo>
                    <a:pt x="1674114" y="220218"/>
                  </a:lnTo>
                  <a:lnTo>
                    <a:pt x="1675638" y="248412"/>
                  </a:lnTo>
                  <a:lnTo>
                    <a:pt x="1676400" y="248412"/>
                  </a:lnTo>
                  <a:lnTo>
                    <a:pt x="1703070" y="247675"/>
                  </a:lnTo>
                  <a:lnTo>
                    <a:pt x="1703832" y="247650"/>
                  </a:lnTo>
                  <a:close/>
                </a:path>
                <a:path w="4500880" h="2902585">
                  <a:moveTo>
                    <a:pt x="1714500" y="2061972"/>
                  </a:moveTo>
                  <a:lnTo>
                    <a:pt x="1680972" y="2061972"/>
                  </a:lnTo>
                  <a:lnTo>
                    <a:pt x="1680972" y="1452372"/>
                  </a:lnTo>
                  <a:lnTo>
                    <a:pt x="1679448" y="1449324"/>
                  </a:lnTo>
                  <a:lnTo>
                    <a:pt x="1676400" y="1447800"/>
                  </a:lnTo>
                  <a:lnTo>
                    <a:pt x="1673352" y="1449324"/>
                  </a:lnTo>
                  <a:lnTo>
                    <a:pt x="1671828" y="1452372"/>
                  </a:lnTo>
                  <a:lnTo>
                    <a:pt x="1671828" y="2061972"/>
                  </a:lnTo>
                  <a:lnTo>
                    <a:pt x="1638300" y="2061972"/>
                  </a:lnTo>
                  <a:lnTo>
                    <a:pt x="1671828" y="2129028"/>
                  </a:lnTo>
                  <a:lnTo>
                    <a:pt x="1676400" y="2138172"/>
                  </a:lnTo>
                  <a:lnTo>
                    <a:pt x="1680972" y="2129028"/>
                  </a:lnTo>
                  <a:lnTo>
                    <a:pt x="1714500" y="2061972"/>
                  </a:lnTo>
                  <a:close/>
                </a:path>
                <a:path w="4500880" h="2902585">
                  <a:moveTo>
                    <a:pt x="1728978" y="2580894"/>
                  </a:moveTo>
                  <a:lnTo>
                    <a:pt x="1700784" y="2580894"/>
                  </a:lnTo>
                  <a:lnTo>
                    <a:pt x="1700022" y="2609088"/>
                  </a:lnTo>
                  <a:lnTo>
                    <a:pt x="1713738" y="2609850"/>
                  </a:lnTo>
                  <a:lnTo>
                    <a:pt x="1728978" y="2609088"/>
                  </a:lnTo>
                  <a:lnTo>
                    <a:pt x="1728978" y="2580894"/>
                  </a:lnTo>
                  <a:close/>
                </a:path>
                <a:path w="4500880" h="2902585">
                  <a:moveTo>
                    <a:pt x="1754886" y="2839212"/>
                  </a:moveTo>
                  <a:lnTo>
                    <a:pt x="1728978" y="2836926"/>
                  </a:lnTo>
                  <a:lnTo>
                    <a:pt x="1726692" y="2836164"/>
                  </a:lnTo>
                  <a:lnTo>
                    <a:pt x="1722882" y="2864358"/>
                  </a:lnTo>
                  <a:lnTo>
                    <a:pt x="1725168" y="2865120"/>
                  </a:lnTo>
                  <a:lnTo>
                    <a:pt x="1751838" y="2868168"/>
                  </a:lnTo>
                  <a:lnTo>
                    <a:pt x="1754886" y="2839212"/>
                  </a:lnTo>
                  <a:close/>
                </a:path>
                <a:path w="4500880" h="2902585">
                  <a:moveTo>
                    <a:pt x="1760982" y="219456"/>
                  </a:moveTo>
                  <a:lnTo>
                    <a:pt x="1758696" y="219456"/>
                  </a:lnTo>
                  <a:lnTo>
                    <a:pt x="1732026" y="218694"/>
                  </a:lnTo>
                  <a:lnTo>
                    <a:pt x="1732026" y="247650"/>
                  </a:lnTo>
                  <a:lnTo>
                    <a:pt x="1760220" y="247650"/>
                  </a:lnTo>
                  <a:lnTo>
                    <a:pt x="1760982" y="219456"/>
                  </a:lnTo>
                  <a:close/>
                </a:path>
                <a:path w="4500880" h="2902585">
                  <a:moveTo>
                    <a:pt x="1768602" y="2153412"/>
                  </a:moveTo>
                  <a:lnTo>
                    <a:pt x="1739646" y="2151126"/>
                  </a:lnTo>
                  <a:lnTo>
                    <a:pt x="1738884" y="2163318"/>
                  </a:lnTo>
                  <a:lnTo>
                    <a:pt x="1738122" y="2180844"/>
                  </a:lnTo>
                  <a:lnTo>
                    <a:pt x="1767078" y="2181606"/>
                  </a:lnTo>
                  <a:lnTo>
                    <a:pt x="1767078" y="2164080"/>
                  </a:lnTo>
                  <a:lnTo>
                    <a:pt x="1768602" y="2153412"/>
                  </a:lnTo>
                  <a:close/>
                </a:path>
                <a:path w="4500880" h="2902585">
                  <a:moveTo>
                    <a:pt x="1777746" y="2100072"/>
                  </a:moveTo>
                  <a:lnTo>
                    <a:pt x="1750314" y="2092452"/>
                  </a:lnTo>
                  <a:lnTo>
                    <a:pt x="1749552" y="2093214"/>
                  </a:lnTo>
                  <a:lnTo>
                    <a:pt x="1743456" y="2121408"/>
                  </a:lnTo>
                  <a:lnTo>
                    <a:pt x="1771650" y="2126742"/>
                  </a:lnTo>
                  <a:lnTo>
                    <a:pt x="1773936" y="2116074"/>
                  </a:lnTo>
                  <a:lnTo>
                    <a:pt x="1777746" y="2100072"/>
                  </a:lnTo>
                  <a:close/>
                </a:path>
                <a:path w="4500880" h="2902585">
                  <a:moveTo>
                    <a:pt x="1781556" y="1318260"/>
                  </a:moveTo>
                  <a:lnTo>
                    <a:pt x="1780794" y="1290066"/>
                  </a:lnTo>
                  <a:lnTo>
                    <a:pt x="1752600" y="1290066"/>
                  </a:lnTo>
                  <a:lnTo>
                    <a:pt x="1752600" y="1319022"/>
                  </a:lnTo>
                  <a:lnTo>
                    <a:pt x="1780794" y="1318285"/>
                  </a:lnTo>
                  <a:lnTo>
                    <a:pt x="1781556" y="1318260"/>
                  </a:lnTo>
                  <a:close/>
                </a:path>
                <a:path w="4500880" h="2902585">
                  <a:moveTo>
                    <a:pt x="1786890" y="2607564"/>
                  </a:moveTo>
                  <a:lnTo>
                    <a:pt x="1785366" y="2578608"/>
                  </a:lnTo>
                  <a:lnTo>
                    <a:pt x="1770888" y="2579370"/>
                  </a:lnTo>
                  <a:lnTo>
                    <a:pt x="1757934" y="2580094"/>
                  </a:lnTo>
                  <a:lnTo>
                    <a:pt x="1757172" y="2580132"/>
                  </a:lnTo>
                  <a:lnTo>
                    <a:pt x="1757934" y="2609088"/>
                  </a:lnTo>
                  <a:lnTo>
                    <a:pt x="1785366" y="2607653"/>
                  </a:lnTo>
                  <a:lnTo>
                    <a:pt x="1786890" y="2607564"/>
                  </a:lnTo>
                  <a:close/>
                </a:path>
                <a:path w="4500880" h="2902585">
                  <a:moveTo>
                    <a:pt x="1796034" y="2048256"/>
                  </a:moveTo>
                  <a:lnTo>
                    <a:pt x="1769364" y="2036826"/>
                  </a:lnTo>
                  <a:lnTo>
                    <a:pt x="1767078" y="2042160"/>
                  </a:lnTo>
                  <a:lnTo>
                    <a:pt x="1760220" y="2058924"/>
                  </a:lnTo>
                  <a:lnTo>
                    <a:pt x="1758696" y="2064258"/>
                  </a:lnTo>
                  <a:lnTo>
                    <a:pt x="1786128" y="2073402"/>
                  </a:lnTo>
                  <a:lnTo>
                    <a:pt x="1787652" y="2068068"/>
                  </a:lnTo>
                  <a:lnTo>
                    <a:pt x="1793748" y="2052828"/>
                  </a:lnTo>
                  <a:lnTo>
                    <a:pt x="1796034" y="2048256"/>
                  </a:lnTo>
                  <a:close/>
                </a:path>
                <a:path w="4500880" h="2902585">
                  <a:moveTo>
                    <a:pt x="1811274" y="2844546"/>
                  </a:moveTo>
                  <a:lnTo>
                    <a:pt x="1783080" y="2842260"/>
                  </a:lnTo>
                  <a:lnTo>
                    <a:pt x="1780794" y="2870454"/>
                  </a:lnTo>
                  <a:lnTo>
                    <a:pt x="1808988" y="2872740"/>
                  </a:lnTo>
                  <a:lnTo>
                    <a:pt x="1811274" y="2844546"/>
                  </a:lnTo>
                  <a:close/>
                </a:path>
                <a:path w="4500880" h="2902585">
                  <a:moveTo>
                    <a:pt x="1818894" y="222504"/>
                  </a:moveTo>
                  <a:lnTo>
                    <a:pt x="1812798" y="222415"/>
                  </a:lnTo>
                  <a:lnTo>
                    <a:pt x="1789938" y="220980"/>
                  </a:lnTo>
                  <a:lnTo>
                    <a:pt x="1788414" y="249174"/>
                  </a:lnTo>
                  <a:lnTo>
                    <a:pt x="1812798" y="250698"/>
                  </a:lnTo>
                  <a:lnTo>
                    <a:pt x="1815846" y="250698"/>
                  </a:lnTo>
                  <a:lnTo>
                    <a:pt x="1818894" y="222504"/>
                  </a:lnTo>
                  <a:close/>
                </a:path>
                <a:path w="4500880" h="2902585">
                  <a:moveTo>
                    <a:pt x="1821180" y="1998726"/>
                  </a:moveTo>
                  <a:lnTo>
                    <a:pt x="1796796" y="1984248"/>
                  </a:lnTo>
                  <a:lnTo>
                    <a:pt x="1790700" y="1994154"/>
                  </a:lnTo>
                  <a:lnTo>
                    <a:pt x="1782318" y="2010156"/>
                  </a:lnTo>
                  <a:lnTo>
                    <a:pt x="1807464" y="2023110"/>
                  </a:lnTo>
                  <a:lnTo>
                    <a:pt x="1808226" y="2022348"/>
                  </a:lnTo>
                  <a:lnTo>
                    <a:pt x="1815846" y="2007870"/>
                  </a:lnTo>
                  <a:lnTo>
                    <a:pt x="1821180" y="1998726"/>
                  </a:lnTo>
                  <a:close/>
                </a:path>
                <a:path w="4500880" h="2902585">
                  <a:moveTo>
                    <a:pt x="1839468" y="1315212"/>
                  </a:moveTo>
                  <a:lnTo>
                    <a:pt x="1837182" y="1286256"/>
                  </a:lnTo>
                  <a:lnTo>
                    <a:pt x="1814322" y="1288478"/>
                  </a:lnTo>
                  <a:lnTo>
                    <a:pt x="1808988" y="1288542"/>
                  </a:lnTo>
                  <a:lnTo>
                    <a:pt x="1810512" y="1317498"/>
                  </a:lnTo>
                  <a:lnTo>
                    <a:pt x="1814322" y="1316736"/>
                  </a:lnTo>
                  <a:lnTo>
                    <a:pt x="1839468" y="1315212"/>
                  </a:lnTo>
                  <a:close/>
                </a:path>
                <a:path w="4500880" h="2902585">
                  <a:moveTo>
                    <a:pt x="1853184" y="1953768"/>
                  </a:moveTo>
                  <a:lnTo>
                    <a:pt x="1830324" y="1936242"/>
                  </a:lnTo>
                  <a:lnTo>
                    <a:pt x="1812798" y="1959102"/>
                  </a:lnTo>
                  <a:lnTo>
                    <a:pt x="1836420" y="1975866"/>
                  </a:lnTo>
                  <a:lnTo>
                    <a:pt x="1843278" y="1965960"/>
                  </a:lnTo>
                  <a:lnTo>
                    <a:pt x="1853184" y="1953768"/>
                  </a:lnTo>
                  <a:close/>
                </a:path>
                <a:path w="4500880" h="2902585">
                  <a:moveTo>
                    <a:pt x="1876044" y="229362"/>
                  </a:moveTo>
                  <a:lnTo>
                    <a:pt x="1869186" y="227838"/>
                  </a:lnTo>
                  <a:lnTo>
                    <a:pt x="1847850" y="225552"/>
                  </a:lnTo>
                  <a:lnTo>
                    <a:pt x="1844040" y="253746"/>
                  </a:lnTo>
                  <a:lnTo>
                    <a:pt x="1866138" y="256794"/>
                  </a:lnTo>
                  <a:lnTo>
                    <a:pt x="1872234" y="257556"/>
                  </a:lnTo>
                  <a:lnTo>
                    <a:pt x="1876044" y="229362"/>
                  </a:lnTo>
                  <a:close/>
                </a:path>
                <a:path w="4500880" h="2902585">
                  <a:moveTo>
                    <a:pt x="1890522" y="1914144"/>
                  </a:moveTo>
                  <a:lnTo>
                    <a:pt x="1871472" y="1892808"/>
                  </a:lnTo>
                  <a:lnTo>
                    <a:pt x="1867662" y="1896618"/>
                  </a:lnTo>
                  <a:lnTo>
                    <a:pt x="1854708" y="1908810"/>
                  </a:lnTo>
                  <a:lnTo>
                    <a:pt x="1850136" y="1914144"/>
                  </a:lnTo>
                  <a:lnTo>
                    <a:pt x="1871472" y="1933194"/>
                  </a:lnTo>
                  <a:lnTo>
                    <a:pt x="1876044" y="1928622"/>
                  </a:lnTo>
                  <a:lnTo>
                    <a:pt x="1887474" y="1916430"/>
                  </a:lnTo>
                  <a:lnTo>
                    <a:pt x="1890522" y="1914144"/>
                  </a:lnTo>
                  <a:close/>
                </a:path>
                <a:path w="4500880" h="2902585">
                  <a:moveTo>
                    <a:pt x="1896618" y="1308354"/>
                  </a:moveTo>
                  <a:lnTo>
                    <a:pt x="1892808" y="1280160"/>
                  </a:lnTo>
                  <a:lnTo>
                    <a:pt x="1872996" y="1282446"/>
                  </a:lnTo>
                  <a:lnTo>
                    <a:pt x="1865376" y="1283970"/>
                  </a:lnTo>
                  <a:lnTo>
                    <a:pt x="1868424" y="1312164"/>
                  </a:lnTo>
                  <a:lnTo>
                    <a:pt x="1876806" y="1311402"/>
                  </a:lnTo>
                  <a:lnTo>
                    <a:pt x="1896618" y="1308354"/>
                  </a:lnTo>
                  <a:close/>
                </a:path>
                <a:path w="4500880" h="2902585">
                  <a:moveTo>
                    <a:pt x="1901952" y="2596134"/>
                  </a:moveTo>
                  <a:lnTo>
                    <a:pt x="1898142" y="2567940"/>
                  </a:lnTo>
                  <a:lnTo>
                    <a:pt x="1882140" y="2570226"/>
                  </a:lnTo>
                  <a:lnTo>
                    <a:pt x="1869948" y="2570988"/>
                  </a:lnTo>
                  <a:lnTo>
                    <a:pt x="1872996" y="2599944"/>
                  </a:lnTo>
                  <a:lnTo>
                    <a:pt x="1885950" y="2598420"/>
                  </a:lnTo>
                  <a:lnTo>
                    <a:pt x="1901952" y="2596134"/>
                  </a:lnTo>
                  <a:close/>
                </a:path>
                <a:path w="4500880" h="2902585">
                  <a:moveTo>
                    <a:pt x="1905000" y="2862072"/>
                  </a:moveTo>
                  <a:lnTo>
                    <a:pt x="1820418" y="2816352"/>
                  </a:lnTo>
                  <a:lnTo>
                    <a:pt x="1818132" y="2902458"/>
                  </a:lnTo>
                  <a:lnTo>
                    <a:pt x="1905000" y="2862072"/>
                  </a:lnTo>
                  <a:close/>
                </a:path>
                <a:path w="4500880" h="2902585">
                  <a:moveTo>
                    <a:pt x="1933194" y="238506"/>
                  </a:moveTo>
                  <a:lnTo>
                    <a:pt x="1923288" y="236220"/>
                  </a:lnTo>
                  <a:lnTo>
                    <a:pt x="1905000" y="233172"/>
                  </a:lnTo>
                  <a:lnTo>
                    <a:pt x="1900428" y="261366"/>
                  </a:lnTo>
                  <a:lnTo>
                    <a:pt x="1918716" y="264414"/>
                  </a:lnTo>
                  <a:lnTo>
                    <a:pt x="1927860" y="266700"/>
                  </a:lnTo>
                  <a:lnTo>
                    <a:pt x="1933194" y="238506"/>
                  </a:lnTo>
                  <a:close/>
                </a:path>
                <a:path w="4500880" h="2902585">
                  <a:moveTo>
                    <a:pt x="1933956" y="1879854"/>
                  </a:moveTo>
                  <a:lnTo>
                    <a:pt x="1917954" y="1856232"/>
                  </a:lnTo>
                  <a:lnTo>
                    <a:pt x="1907286" y="1863090"/>
                  </a:lnTo>
                  <a:lnTo>
                    <a:pt x="1893570" y="1873758"/>
                  </a:lnTo>
                  <a:lnTo>
                    <a:pt x="1911858" y="1895856"/>
                  </a:lnTo>
                  <a:lnTo>
                    <a:pt x="1924812" y="1885950"/>
                  </a:lnTo>
                  <a:lnTo>
                    <a:pt x="1933956" y="1879854"/>
                  </a:lnTo>
                  <a:close/>
                </a:path>
                <a:path w="4500880" h="2902585">
                  <a:moveTo>
                    <a:pt x="1953768" y="1298448"/>
                  </a:moveTo>
                  <a:lnTo>
                    <a:pt x="1948434" y="1270254"/>
                  </a:lnTo>
                  <a:lnTo>
                    <a:pt x="1932432" y="1273302"/>
                  </a:lnTo>
                  <a:lnTo>
                    <a:pt x="1921002" y="1275588"/>
                  </a:lnTo>
                  <a:lnTo>
                    <a:pt x="1925574" y="1303782"/>
                  </a:lnTo>
                  <a:lnTo>
                    <a:pt x="1937004" y="1301496"/>
                  </a:lnTo>
                  <a:lnTo>
                    <a:pt x="1953768" y="1298448"/>
                  </a:lnTo>
                  <a:close/>
                </a:path>
                <a:path w="4500880" h="2902585">
                  <a:moveTo>
                    <a:pt x="1959102" y="2586228"/>
                  </a:moveTo>
                  <a:lnTo>
                    <a:pt x="1953768" y="2558034"/>
                  </a:lnTo>
                  <a:lnTo>
                    <a:pt x="1936242" y="2561844"/>
                  </a:lnTo>
                  <a:lnTo>
                    <a:pt x="1925574" y="2563368"/>
                  </a:lnTo>
                  <a:lnTo>
                    <a:pt x="1930146" y="2591562"/>
                  </a:lnTo>
                  <a:lnTo>
                    <a:pt x="1940814" y="2590038"/>
                  </a:lnTo>
                  <a:lnTo>
                    <a:pt x="1959102" y="2586228"/>
                  </a:lnTo>
                  <a:close/>
                </a:path>
                <a:path w="4500880" h="2902585">
                  <a:moveTo>
                    <a:pt x="1981200" y="2747772"/>
                  </a:moveTo>
                  <a:lnTo>
                    <a:pt x="1963674" y="2664714"/>
                  </a:lnTo>
                  <a:lnTo>
                    <a:pt x="1937448" y="2685288"/>
                  </a:lnTo>
                  <a:lnTo>
                    <a:pt x="1680210" y="2363724"/>
                  </a:lnTo>
                  <a:lnTo>
                    <a:pt x="1677162" y="2362200"/>
                  </a:lnTo>
                  <a:lnTo>
                    <a:pt x="1673352" y="2362962"/>
                  </a:lnTo>
                  <a:lnTo>
                    <a:pt x="1671828" y="2366010"/>
                  </a:lnTo>
                  <a:lnTo>
                    <a:pt x="1672590" y="2369820"/>
                  </a:lnTo>
                  <a:lnTo>
                    <a:pt x="1836966" y="2575306"/>
                  </a:lnTo>
                  <a:lnTo>
                    <a:pt x="1827276" y="2576322"/>
                  </a:lnTo>
                  <a:lnTo>
                    <a:pt x="1815846" y="2576957"/>
                  </a:lnTo>
                  <a:lnTo>
                    <a:pt x="1813560" y="2577084"/>
                  </a:lnTo>
                  <a:lnTo>
                    <a:pt x="1815846" y="2605278"/>
                  </a:lnTo>
                  <a:lnTo>
                    <a:pt x="1827276" y="2604643"/>
                  </a:lnTo>
                  <a:lnTo>
                    <a:pt x="1829562" y="2604516"/>
                  </a:lnTo>
                  <a:lnTo>
                    <a:pt x="1844802" y="2602992"/>
                  </a:lnTo>
                  <a:lnTo>
                    <a:pt x="1842554" y="2582303"/>
                  </a:lnTo>
                  <a:lnTo>
                    <a:pt x="1929777" y="2691320"/>
                  </a:lnTo>
                  <a:lnTo>
                    <a:pt x="1903476" y="2711958"/>
                  </a:lnTo>
                  <a:lnTo>
                    <a:pt x="1946148" y="2731630"/>
                  </a:lnTo>
                  <a:lnTo>
                    <a:pt x="1981200" y="2747772"/>
                  </a:lnTo>
                  <a:close/>
                </a:path>
                <a:path w="4500880" h="2902585">
                  <a:moveTo>
                    <a:pt x="1981200" y="1853184"/>
                  </a:moveTo>
                  <a:lnTo>
                    <a:pt x="1969770" y="1827276"/>
                  </a:lnTo>
                  <a:lnTo>
                    <a:pt x="1965198" y="1828800"/>
                  </a:lnTo>
                  <a:lnTo>
                    <a:pt x="1950720" y="1836420"/>
                  </a:lnTo>
                  <a:lnTo>
                    <a:pt x="1943100" y="1840230"/>
                  </a:lnTo>
                  <a:lnTo>
                    <a:pt x="1956816" y="1865376"/>
                  </a:lnTo>
                  <a:lnTo>
                    <a:pt x="1981200" y="1853184"/>
                  </a:lnTo>
                  <a:close/>
                </a:path>
                <a:path w="4500880" h="2902585">
                  <a:moveTo>
                    <a:pt x="1989582" y="250698"/>
                  </a:moveTo>
                  <a:lnTo>
                    <a:pt x="1975866" y="247650"/>
                  </a:lnTo>
                  <a:lnTo>
                    <a:pt x="1961388" y="244602"/>
                  </a:lnTo>
                  <a:lnTo>
                    <a:pt x="1955292" y="272034"/>
                  </a:lnTo>
                  <a:lnTo>
                    <a:pt x="1969770" y="275082"/>
                  </a:lnTo>
                  <a:lnTo>
                    <a:pt x="1982724" y="278892"/>
                  </a:lnTo>
                  <a:lnTo>
                    <a:pt x="1989582" y="250698"/>
                  </a:lnTo>
                  <a:close/>
                </a:path>
                <a:path w="4500880" h="2902585">
                  <a:moveTo>
                    <a:pt x="2010156" y="1285494"/>
                  </a:moveTo>
                  <a:lnTo>
                    <a:pt x="2003298" y="1257300"/>
                  </a:lnTo>
                  <a:lnTo>
                    <a:pt x="1990344" y="1261110"/>
                  </a:lnTo>
                  <a:lnTo>
                    <a:pt x="1975866" y="1264158"/>
                  </a:lnTo>
                  <a:lnTo>
                    <a:pt x="1982724" y="1292352"/>
                  </a:lnTo>
                  <a:lnTo>
                    <a:pt x="1996440" y="1289304"/>
                  </a:lnTo>
                  <a:lnTo>
                    <a:pt x="2010156" y="1285494"/>
                  </a:lnTo>
                  <a:close/>
                </a:path>
                <a:path w="4500880" h="2902585">
                  <a:moveTo>
                    <a:pt x="2015490" y="2574036"/>
                  </a:moveTo>
                  <a:lnTo>
                    <a:pt x="2008632" y="2546604"/>
                  </a:lnTo>
                  <a:lnTo>
                    <a:pt x="1981200" y="2552700"/>
                  </a:lnTo>
                  <a:lnTo>
                    <a:pt x="1987296" y="2580894"/>
                  </a:lnTo>
                  <a:lnTo>
                    <a:pt x="1994154" y="2579370"/>
                  </a:lnTo>
                  <a:lnTo>
                    <a:pt x="2015490" y="2574036"/>
                  </a:lnTo>
                  <a:close/>
                </a:path>
                <a:path w="4500880" h="2902585">
                  <a:moveTo>
                    <a:pt x="2033016" y="1836420"/>
                  </a:moveTo>
                  <a:lnTo>
                    <a:pt x="2026158" y="1808226"/>
                  </a:lnTo>
                  <a:lnTo>
                    <a:pt x="2011680" y="1812036"/>
                  </a:lnTo>
                  <a:lnTo>
                    <a:pt x="1997964" y="1815846"/>
                  </a:lnTo>
                  <a:lnTo>
                    <a:pt x="2006346" y="1843278"/>
                  </a:lnTo>
                  <a:lnTo>
                    <a:pt x="2020062" y="1839468"/>
                  </a:lnTo>
                  <a:lnTo>
                    <a:pt x="2033016" y="1836420"/>
                  </a:lnTo>
                  <a:close/>
                </a:path>
                <a:path w="4500880" h="2902585">
                  <a:moveTo>
                    <a:pt x="2045970" y="266700"/>
                  </a:moveTo>
                  <a:lnTo>
                    <a:pt x="2026158" y="260604"/>
                  </a:lnTo>
                  <a:lnTo>
                    <a:pt x="2017776" y="258318"/>
                  </a:lnTo>
                  <a:lnTo>
                    <a:pt x="2010156" y="285750"/>
                  </a:lnTo>
                  <a:lnTo>
                    <a:pt x="2018538" y="288036"/>
                  </a:lnTo>
                  <a:lnTo>
                    <a:pt x="2037588" y="293370"/>
                  </a:lnTo>
                  <a:lnTo>
                    <a:pt x="2045970" y="266700"/>
                  </a:lnTo>
                  <a:close/>
                </a:path>
                <a:path w="4500880" h="2902585">
                  <a:moveTo>
                    <a:pt x="2066544" y="1269492"/>
                  </a:moveTo>
                  <a:lnTo>
                    <a:pt x="2057400" y="1242060"/>
                  </a:lnTo>
                  <a:lnTo>
                    <a:pt x="2045970" y="1245870"/>
                  </a:lnTo>
                  <a:lnTo>
                    <a:pt x="2030730" y="1250442"/>
                  </a:lnTo>
                  <a:lnTo>
                    <a:pt x="2038350" y="1277874"/>
                  </a:lnTo>
                  <a:lnTo>
                    <a:pt x="2053590" y="1273302"/>
                  </a:lnTo>
                  <a:lnTo>
                    <a:pt x="2066544" y="1269492"/>
                  </a:lnTo>
                  <a:close/>
                </a:path>
                <a:path w="4500880" h="2902585">
                  <a:moveTo>
                    <a:pt x="2071878" y="2559558"/>
                  </a:moveTo>
                  <a:lnTo>
                    <a:pt x="2063496" y="2532126"/>
                  </a:lnTo>
                  <a:lnTo>
                    <a:pt x="2061972" y="2532888"/>
                  </a:lnTo>
                  <a:lnTo>
                    <a:pt x="2037588" y="2538984"/>
                  </a:lnTo>
                  <a:lnTo>
                    <a:pt x="2036064" y="2539746"/>
                  </a:lnTo>
                  <a:lnTo>
                    <a:pt x="2043684" y="2567178"/>
                  </a:lnTo>
                  <a:lnTo>
                    <a:pt x="2045208" y="2567178"/>
                  </a:lnTo>
                  <a:lnTo>
                    <a:pt x="2069592" y="2560320"/>
                  </a:lnTo>
                  <a:lnTo>
                    <a:pt x="2071878" y="2559558"/>
                  </a:lnTo>
                  <a:close/>
                </a:path>
                <a:path w="4500880" h="2902585">
                  <a:moveTo>
                    <a:pt x="2100834" y="284988"/>
                  </a:moveTo>
                  <a:lnTo>
                    <a:pt x="2097024" y="284226"/>
                  </a:lnTo>
                  <a:lnTo>
                    <a:pt x="2074164" y="275844"/>
                  </a:lnTo>
                  <a:lnTo>
                    <a:pt x="2073402" y="275082"/>
                  </a:lnTo>
                  <a:lnTo>
                    <a:pt x="2064258" y="302514"/>
                  </a:lnTo>
                  <a:lnTo>
                    <a:pt x="2065020" y="302514"/>
                  </a:lnTo>
                  <a:lnTo>
                    <a:pt x="2087880" y="310896"/>
                  </a:lnTo>
                  <a:lnTo>
                    <a:pt x="2090166" y="311658"/>
                  </a:lnTo>
                  <a:lnTo>
                    <a:pt x="2100834" y="284988"/>
                  </a:lnTo>
                  <a:close/>
                </a:path>
                <a:path w="4500880" h="2902585">
                  <a:moveTo>
                    <a:pt x="2120646" y="1249680"/>
                  </a:moveTo>
                  <a:lnTo>
                    <a:pt x="2110740" y="1223010"/>
                  </a:lnTo>
                  <a:lnTo>
                    <a:pt x="2099310" y="1227582"/>
                  </a:lnTo>
                  <a:lnTo>
                    <a:pt x="2084070" y="1232916"/>
                  </a:lnTo>
                  <a:lnTo>
                    <a:pt x="2093976" y="1259586"/>
                  </a:lnTo>
                  <a:lnTo>
                    <a:pt x="2109216" y="1254252"/>
                  </a:lnTo>
                  <a:lnTo>
                    <a:pt x="2120646" y="1249680"/>
                  </a:lnTo>
                  <a:close/>
                </a:path>
                <a:path w="4500880" h="2902585">
                  <a:moveTo>
                    <a:pt x="2126742" y="2541270"/>
                  </a:moveTo>
                  <a:lnTo>
                    <a:pt x="2116836" y="2514600"/>
                  </a:lnTo>
                  <a:lnTo>
                    <a:pt x="2106930" y="2518410"/>
                  </a:lnTo>
                  <a:lnTo>
                    <a:pt x="2090166" y="2523744"/>
                  </a:lnTo>
                  <a:lnTo>
                    <a:pt x="2099310" y="2551176"/>
                  </a:lnTo>
                  <a:lnTo>
                    <a:pt x="2116074" y="2545080"/>
                  </a:lnTo>
                  <a:lnTo>
                    <a:pt x="2126742" y="2541270"/>
                  </a:lnTo>
                  <a:close/>
                </a:path>
                <a:path w="4500880" h="2902585">
                  <a:moveTo>
                    <a:pt x="2146554" y="1821180"/>
                  </a:moveTo>
                  <a:lnTo>
                    <a:pt x="2138934" y="1793748"/>
                  </a:lnTo>
                  <a:lnTo>
                    <a:pt x="2133600" y="1795272"/>
                  </a:lnTo>
                  <a:lnTo>
                    <a:pt x="2119122" y="1799082"/>
                  </a:lnTo>
                  <a:lnTo>
                    <a:pt x="2112264" y="1799844"/>
                  </a:lnTo>
                  <a:lnTo>
                    <a:pt x="2117598" y="1828038"/>
                  </a:lnTo>
                  <a:lnTo>
                    <a:pt x="2124456" y="1827276"/>
                  </a:lnTo>
                  <a:lnTo>
                    <a:pt x="2140458" y="1823466"/>
                  </a:lnTo>
                  <a:lnTo>
                    <a:pt x="2146554" y="1821180"/>
                  </a:lnTo>
                  <a:close/>
                </a:path>
                <a:path w="4500880" h="2902585">
                  <a:moveTo>
                    <a:pt x="2154174" y="307848"/>
                  </a:moveTo>
                  <a:lnTo>
                    <a:pt x="2141220" y="301752"/>
                  </a:lnTo>
                  <a:lnTo>
                    <a:pt x="2127504" y="296418"/>
                  </a:lnTo>
                  <a:lnTo>
                    <a:pt x="2116836" y="322326"/>
                  </a:lnTo>
                  <a:lnTo>
                    <a:pt x="2129790" y="328422"/>
                  </a:lnTo>
                  <a:lnTo>
                    <a:pt x="2141982" y="333756"/>
                  </a:lnTo>
                  <a:lnTo>
                    <a:pt x="2154174" y="307848"/>
                  </a:lnTo>
                  <a:close/>
                </a:path>
                <a:path w="4500880" h="2902585">
                  <a:moveTo>
                    <a:pt x="2173986" y="1226820"/>
                  </a:moveTo>
                  <a:lnTo>
                    <a:pt x="2162556" y="1200912"/>
                  </a:lnTo>
                  <a:lnTo>
                    <a:pt x="2149602" y="1207008"/>
                  </a:lnTo>
                  <a:lnTo>
                    <a:pt x="2136648" y="1212342"/>
                  </a:lnTo>
                  <a:lnTo>
                    <a:pt x="2148078" y="1239012"/>
                  </a:lnTo>
                  <a:lnTo>
                    <a:pt x="2173986" y="1226820"/>
                  </a:lnTo>
                  <a:close/>
                </a:path>
                <a:path w="4500880" h="2902585">
                  <a:moveTo>
                    <a:pt x="2180844" y="2519934"/>
                  </a:moveTo>
                  <a:lnTo>
                    <a:pt x="2168652" y="2494026"/>
                  </a:lnTo>
                  <a:lnTo>
                    <a:pt x="2149602" y="2502408"/>
                  </a:lnTo>
                  <a:lnTo>
                    <a:pt x="2143506" y="2504694"/>
                  </a:lnTo>
                  <a:lnTo>
                    <a:pt x="2153412" y="2531364"/>
                  </a:lnTo>
                  <a:lnTo>
                    <a:pt x="2159508" y="2529078"/>
                  </a:lnTo>
                  <a:lnTo>
                    <a:pt x="2180082" y="2520696"/>
                  </a:lnTo>
                  <a:lnTo>
                    <a:pt x="2180844" y="2519934"/>
                  </a:lnTo>
                  <a:close/>
                </a:path>
                <a:path w="4500880" h="2902585">
                  <a:moveTo>
                    <a:pt x="2202180" y="1798320"/>
                  </a:moveTo>
                  <a:lnTo>
                    <a:pt x="2189226" y="1773174"/>
                  </a:lnTo>
                  <a:lnTo>
                    <a:pt x="2175510" y="1780032"/>
                  </a:lnTo>
                  <a:lnTo>
                    <a:pt x="2164080" y="1784604"/>
                  </a:lnTo>
                  <a:lnTo>
                    <a:pt x="2175510" y="1811274"/>
                  </a:lnTo>
                  <a:lnTo>
                    <a:pt x="2186940" y="1806702"/>
                  </a:lnTo>
                  <a:lnTo>
                    <a:pt x="2201418" y="1799082"/>
                  </a:lnTo>
                  <a:lnTo>
                    <a:pt x="2202180" y="1798320"/>
                  </a:lnTo>
                  <a:close/>
                </a:path>
                <a:path w="4500880" h="2902585">
                  <a:moveTo>
                    <a:pt x="2205990" y="335280"/>
                  </a:moveTo>
                  <a:lnTo>
                    <a:pt x="2200656" y="331470"/>
                  </a:lnTo>
                  <a:lnTo>
                    <a:pt x="2181606" y="321564"/>
                  </a:lnTo>
                  <a:lnTo>
                    <a:pt x="2180082" y="320802"/>
                  </a:lnTo>
                  <a:lnTo>
                    <a:pt x="2167128" y="345948"/>
                  </a:lnTo>
                  <a:lnTo>
                    <a:pt x="2168652" y="346710"/>
                  </a:lnTo>
                  <a:lnTo>
                    <a:pt x="2186940" y="356616"/>
                  </a:lnTo>
                  <a:lnTo>
                    <a:pt x="2191512" y="359664"/>
                  </a:lnTo>
                  <a:lnTo>
                    <a:pt x="2205990" y="335280"/>
                  </a:lnTo>
                  <a:close/>
                </a:path>
                <a:path w="4500880" h="2902585">
                  <a:moveTo>
                    <a:pt x="2225802" y="1200912"/>
                  </a:moveTo>
                  <a:lnTo>
                    <a:pt x="2212086" y="1175766"/>
                  </a:lnTo>
                  <a:lnTo>
                    <a:pt x="2196846" y="1184148"/>
                  </a:lnTo>
                  <a:lnTo>
                    <a:pt x="2187702" y="1188720"/>
                  </a:lnTo>
                  <a:lnTo>
                    <a:pt x="2200656" y="1214628"/>
                  </a:lnTo>
                  <a:lnTo>
                    <a:pt x="2209800" y="1209294"/>
                  </a:lnTo>
                  <a:lnTo>
                    <a:pt x="2225802" y="1200912"/>
                  </a:lnTo>
                  <a:close/>
                </a:path>
                <a:path w="4500880" h="2902585">
                  <a:moveTo>
                    <a:pt x="2232660" y="2494026"/>
                  </a:moveTo>
                  <a:lnTo>
                    <a:pt x="2218944" y="2468880"/>
                  </a:lnTo>
                  <a:lnTo>
                    <a:pt x="2213610" y="2471928"/>
                  </a:lnTo>
                  <a:lnTo>
                    <a:pt x="2205228" y="2476500"/>
                  </a:lnTo>
                  <a:lnTo>
                    <a:pt x="2193798" y="2481834"/>
                  </a:lnTo>
                  <a:lnTo>
                    <a:pt x="2206752" y="2507742"/>
                  </a:lnTo>
                  <a:lnTo>
                    <a:pt x="2218182" y="2502408"/>
                  </a:lnTo>
                  <a:lnTo>
                    <a:pt x="2226564" y="2497074"/>
                  </a:lnTo>
                  <a:lnTo>
                    <a:pt x="2232660" y="2494026"/>
                  </a:lnTo>
                  <a:close/>
                </a:path>
                <a:path w="4500880" h="2902585">
                  <a:moveTo>
                    <a:pt x="2252472" y="1766316"/>
                  </a:moveTo>
                  <a:lnTo>
                    <a:pt x="2234946" y="1743456"/>
                  </a:lnTo>
                  <a:lnTo>
                    <a:pt x="2228850" y="1748790"/>
                  </a:lnTo>
                  <a:lnTo>
                    <a:pt x="2215896" y="1757172"/>
                  </a:lnTo>
                  <a:lnTo>
                    <a:pt x="2212848" y="1759458"/>
                  </a:lnTo>
                  <a:lnTo>
                    <a:pt x="2228088" y="1783842"/>
                  </a:lnTo>
                  <a:lnTo>
                    <a:pt x="2231136" y="1781556"/>
                  </a:lnTo>
                  <a:lnTo>
                    <a:pt x="2244852" y="1771650"/>
                  </a:lnTo>
                  <a:lnTo>
                    <a:pt x="2252472" y="1766316"/>
                  </a:lnTo>
                  <a:close/>
                </a:path>
                <a:path w="4500880" h="2902585">
                  <a:moveTo>
                    <a:pt x="2254758" y="368046"/>
                  </a:moveTo>
                  <a:lnTo>
                    <a:pt x="2243328" y="358902"/>
                  </a:lnTo>
                  <a:lnTo>
                    <a:pt x="2234946" y="353568"/>
                  </a:lnTo>
                  <a:lnTo>
                    <a:pt x="2231136" y="350520"/>
                  </a:lnTo>
                  <a:lnTo>
                    <a:pt x="2215134" y="374904"/>
                  </a:lnTo>
                  <a:lnTo>
                    <a:pt x="2218944" y="377190"/>
                  </a:lnTo>
                  <a:lnTo>
                    <a:pt x="2226564" y="382524"/>
                  </a:lnTo>
                  <a:lnTo>
                    <a:pt x="2233422" y="387858"/>
                  </a:lnTo>
                  <a:lnTo>
                    <a:pt x="2237232" y="390906"/>
                  </a:lnTo>
                  <a:lnTo>
                    <a:pt x="2254758" y="368046"/>
                  </a:lnTo>
                  <a:close/>
                </a:path>
                <a:path w="4500880" h="2902585">
                  <a:moveTo>
                    <a:pt x="2275332" y="1170432"/>
                  </a:moveTo>
                  <a:lnTo>
                    <a:pt x="2260092" y="1146048"/>
                  </a:lnTo>
                  <a:lnTo>
                    <a:pt x="2240280" y="1159002"/>
                  </a:lnTo>
                  <a:lnTo>
                    <a:pt x="2236470" y="1161288"/>
                  </a:lnTo>
                  <a:lnTo>
                    <a:pt x="2250948" y="1185672"/>
                  </a:lnTo>
                  <a:lnTo>
                    <a:pt x="2254758" y="1184148"/>
                  </a:lnTo>
                  <a:lnTo>
                    <a:pt x="2275332" y="1170432"/>
                  </a:lnTo>
                  <a:close/>
                </a:path>
                <a:path w="4500880" h="2902585">
                  <a:moveTo>
                    <a:pt x="2282190" y="2460498"/>
                  </a:moveTo>
                  <a:lnTo>
                    <a:pt x="2263902" y="2438400"/>
                  </a:lnTo>
                  <a:lnTo>
                    <a:pt x="2258847" y="2443137"/>
                  </a:lnTo>
                  <a:lnTo>
                    <a:pt x="2253386" y="2446985"/>
                  </a:lnTo>
                  <a:lnTo>
                    <a:pt x="2247849" y="2450541"/>
                  </a:lnTo>
                  <a:lnTo>
                    <a:pt x="2242566" y="2454402"/>
                  </a:lnTo>
                  <a:lnTo>
                    <a:pt x="2257806" y="2478024"/>
                  </a:lnTo>
                  <a:lnTo>
                    <a:pt x="2263902" y="2474633"/>
                  </a:lnTo>
                  <a:lnTo>
                    <a:pt x="2264029" y="2474557"/>
                  </a:lnTo>
                  <a:lnTo>
                    <a:pt x="2270455" y="2470086"/>
                  </a:lnTo>
                  <a:lnTo>
                    <a:pt x="2276640" y="2465197"/>
                  </a:lnTo>
                  <a:lnTo>
                    <a:pt x="2282190" y="2460498"/>
                  </a:lnTo>
                  <a:close/>
                </a:path>
                <a:path w="4500880" h="2902585">
                  <a:moveTo>
                    <a:pt x="2286000" y="2138172"/>
                  </a:moveTo>
                  <a:lnTo>
                    <a:pt x="2273808" y="2053590"/>
                  </a:lnTo>
                  <a:lnTo>
                    <a:pt x="2246134" y="2073173"/>
                  </a:lnTo>
                  <a:lnTo>
                    <a:pt x="2077300" y="1831848"/>
                  </a:lnTo>
                  <a:lnTo>
                    <a:pt x="2086356" y="1831149"/>
                  </a:lnTo>
                  <a:lnTo>
                    <a:pt x="2087118" y="1831086"/>
                  </a:lnTo>
                  <a:lnTo>
                    <a:pt x="2086356" y="1802892"/>
                  </a:lnTo>
                  <a:lnTo>
                    <a:pt x="2075688" y="1802892"/>
                  </a:lnTo>
                  <a:lnTo>
                    <a:pt x="2059686" y="1803654"/>
                  </a:lnTo>
                  <a:lnTo>
                    <a:pt x="2057895" y="1804111"/>
                  </a:lnTo>
                  <a:lnTo>
                    <a:pt x="1756410" y="1373124"/>
                  </a:lnTo>
                  <a:lnTo>
                    <a:pt x="1753362" y="1371600"/>
                  </a:lnTo>
                  <a:lnTo>
                    <a:pt x="1749552" y="1372362"/>
                  </a:lnTo>
                  <a:lnTo>
                    <a:pt x="1748028" y="1375410"/>
                  </a:lnTo>
                  <a:lnTo>
                    <a:pt x="1748790" y="1379220"/>
                  </a:lnTo>
                  <a:lnTo>
                    <a:pt x="2058466" y="1821446"/>
                  </a:lnTo>
                  <a:lnTo>
                    <a:pt x="2059686" y="1832610"/>
                  </a:lnTo>
                  <a:lnTo>
                    <a:pt x="2062734" y="1831848"/>
                  </a:lnTo>
                  <a:lnTo>
                    <a:pt x="2065756" y="1831848"/>
                  </a:lnTo>
                  <a:lnTo>
                    <a:pt x="2238527" y="2078545"/>
                  </a:lnTo>
                  <a:lnTo>
                    <a:pt x="2211324" y="2097786"/>
                  </a:lnTo>
                  <a:lnTo>
                    <a:pt x="2253996" y="2120874"/>
                  </a:lnTo>
                  <a:lnTo>
                    <a:pt x="2286000" y="2138172"/>
                  </a:lnTo>
                  <a:close/>
                </a:path>
                <a:path w="4500880" h="2902585">
                  <a:moveTo>
                    <a:pt x="2290572" y="614172"/>
                  </a:moveTo>
                  <a:lnTo>
                    <a:pt x="2289048" y="611124"/>
                  </a:lnTo>
                  <a:lnTo>
                    <a:pt x="2286000" y="609600"/>
                  </a:lnTo>
                  <a:lnTo>
                    <a:pt x="2282952" y="611124"/>
                  </a:lnTo>
                  <a:lnTo>
                    <a:pt x="1726692" y="1166634"/>
                  </a:lnTo>
                  <a:lnTo>
                    <a:pt x="1703070" y="1143000"/>
                  </a:lnTo>
                  <a:lnTo>
                    <a:pt x="1676400" y="1223772"/>
                  </a:lnTo>
                  <a:lnTo>
                    <a:pt x="1716786" y="1210437"/>
                  </a:lnTo>
                  <a:lnTo>
                    <a:pt x="1757172" y="1197102"/>
                  </a:lnTo>
                  <a:lnTo>
                    <a:pt x="1733169" y="1173099"/>
                  </a:lnTo>
                  <a:lnTo>
                    <a:pt x="2289048" y="617220"/>
                  </a:lnTo>
                  <a:lnTo>
                    <a:pt x="2290572" y="614172"/>
                  </a:lnTo>
                  <a:close/>
                </a:path>
                <a:path w="4500880" h="2902585">
                  <a:moveTo>
                    <a:pt x="2296668" y="1727454"/>
                  </a:moveTo>
                  <a:lnTo>
                    <a:pt x="2276094" y="1706880"/>
                  </a:lnTo>
                  <a:lnTo>
                    <a:pt x="2256282" y="1726692"/>
                  </a:lnTo>
                  <a:lnTo>
                    <a:pt x="2275332" y="1747266"/>
                  </a:lnTo>
                  <a:lnTo>
                    <a:pt x="2285238" y="1738884"/>
                  </a:lnTo>
                  <a:lnTo>
                    <a:pt x="2296668" y="1727454"/>
                  </a:lnTo>
                  <a:close/>
                </a:path>
                <a:path w="4500880" h="2902585">
                  <a:moveTo>
                    <a:pt x="2322576" y="1134618"/>
                  </a:moveTo>
                  <a:lnTo>
                    <a:pt x="2304288" y="1112520"/>
                  </a:lnTo>
                  <a:lnTo>
                    <a:pt x="2296668" y="1119378"/>
                  </a:lnTo>
                  <a:lnTo>
                    <a:pt x="2287524" y="1126236"/>
                  </a:lnTo>
                  <a:lnTo>
                    <a:pt x="2282190" y="1130046"/>
                  </a:lnTo>
                  <a:lnTo>
                    <a:pt x="2299716" y="1152906"/>
                  </a:lnTo>
                  <a:lnTo>
                    <a:pt x="2305050" y="1149096"/>
                  </a:lnTo>
                  <a:lnTo>
                    <a:pt x="2314194" y="1141476"/>
                  </a:lnTo>
                  <a:lnTo>
                    <a:pt x="2322576" y="1134618"/>
                  </a:lnTo>
                  <a:close/>
                </a:path>
                <a:path w="4500880" h="2902585">
                  <a:moveTo>
                    <a:pt x="2324100" y="2366772"/>
                  </a:moveTo>
                  <a:lnTo>
                    <a:pt x="2244852" y="2420874"/>
                  </a:lnTo>
                  <a:lnTo>
                    <a:pt x="2319528" y="2462784"/>
                  </a:lnTo>
                  <a:lnTo>
                    <a:pt x="2324100" y="2366772"/>
                  </a:lnTo>
                  <a:close/>
                </a:path>
                <a:path w="4500880" h="2902585">
                  <a:moveTo>
                    <a:pt x="2324862" y="399288"/>
                  </a:moveTo>
                  <a:lnTo>
                    <a:pt x="2298281" y="410908"/>
                  </a:lnTo>
                  <a:lnTo>
                    <a:pt x="2298192" y="410718"/>
                  </a:lnTo>
                  <a:lnTo>
                    <a:pt x="2298192" y="409194"/>
                  </a:lnTo>
                  <a:lnTo>
                    <a:pt x="2297430" y="407670"/>
                  </a:lnTo>
                  <a:lnTo>
                    <a:pt x="2295906" y="406908"/>
                  </a:lnTo>
                  <a:lnTo>
                    <a:pt x="2290572" y="400812"/>
                  </a:lnTo>
                  <a:lnTo>
                    <a:pt x="2278380" y="388620"/>
                  </a:lnTo>
                  <a:lnTo>
                    <a:pt x="2277618" y="387096"/>
                  </a:lnTo>
                  <a:lnTo>
                    <a:pt x="2274036" y="390956"/>
                  </a:lnTo>
                  <a:lnTo>
                    <a:pt x="2274036" y="425094"/>
                  </a:lnTo>
                  <a:lnTo>
                    <a:pt x="2273452" y="424116"/>
                  </a:lnTo>
                  <a:lnTo>
                    <a:pt x="2273655" y="424434"/>
                  </a:lnTo>
                  <a:lnTo>
                    <a:pt x="2274036" y="425094"/>
                  </a:lnTo>
                  <a:lnTo>
                    <a:pt x="2274036" y="390956"/>
                  </a:lnTo>
                  <a:lnTo>
                    <a:pt x="2257806" y="408432"/>
                  </a:lnTo>
                  <a:lnTo>
                    <a:pt x="2259330" y="409194"/>
                  </a:lnTo>
                  <a:lnTo>
                    <a:pt x="2264664" y="414528"/>
                  </a:lnTo>
                  <a:lnTo>
                    <a:pt x="2269998" y="420624"/>
                  </a:lnTo>
                  <a:lnTo>
                    <a:pt x="2271636" y="422541"/>
                  </a:lnTo>
                  <a:lnTo>
                    <a:pt x="2273655" y="424891"/>
                  </a:lnTo>
                  <a:lnTo>
                    <a:pt x="2272284" y="422262"/>
                  </a:lnTo>
                  <a:lnTo>
                    <a:pt x="2272550" y="422706"/>
                  </a:lnTo>
                  <a:lnTo>
                    <a:pt x="2273655" y="424891"/>
                  </a:lnTo>
                  <a:lnTo>
                    <a:pt x="2271636" y="422541"/>
                  </a:lnTo>
                  <a:lnTo>
                    <a:pt x="2246376" y="433578"/>
                  </a:lnTo>
                  <a:lnTo>
                    <a:pt x="2274570" y="457377"/>
                  </a:lnTo>
                  <a:lnTo>
                    <a:pt x="2299716" y="478586"/>
                  </a:lnTo>
                  <a:lnTo>
                    <a:pt x="2319528" y="495300"/>
                  </a:lnTo>
                  <a:lnTo>
                    <a:pt x="2324862" y="399288"/>
                  </a:lnTo>
                  <a:close/>
                </a:path>
                <a:path w="4500880" h="2902585">
                  <a:moveTo>
                    <a:pt x="2334768" y="1681734"/>
                  </a:moveTo>
                  <a:lnTo>
                    <a:pt x="2311146" y="1664970"/>
                  </a:lnTo>
                  <a:lnTo>
                    <a:pt x="2309622" y="1668018"/>
                  </a:lnTo>
                  <a:lnTo>
                    <a:pt x="2299716" y="1680972"/>
                  </a:lnTo>
                  <a:lnTo>
                    <a:pt x="2294382" y="1686306"/>
                  </a:lnTo>
                  <a:lnTo>
                    <a:pt x="2316480" y="1705356"/>
                  </a:lnTo>
                  <a:lnTo>
                    <a:pt x="2321052" y="1699260"/>
                  </a:lnTo>
                  <a:lnTo>
                    <a:pt x="2331720" y="1685544"/>
                  </a:lnTo>
                  <a:lnTo>
                    <a:pt x="2334768" y="1681734"/>
                  </a:lnTo>
                  <a:close/>
                </a:path>
                <a:path w="4500880" h="2902585">
                  <a:moveTo>
                    <a:pt x="2366010" y="1632204"/>
                  </a:moveTo>
                  <a:lnTo>
                    <a:pt x="2340864" y="1618488"/>
                  </a:lnTo>
                  <a:lnTo>
                    <a:pt x="2337054" y="1626108"/>
                  </a:lnTo>
                  <a:lnTo>
                    <a:pt x="2328672" y="1640586"/>
                  </a:lnTo>
                  <a:lnTo>
                    <a:pt x="2327148" y="1642110"/>
                  </a:lnTo>
                  <a:lnTo>
                    <a:pt x="2351532" y="1658112"/>
                  </a:lnTo>
                  <a:lnTo>
                    <a:pt x="2352294" y="1655826"/>
                  </a:lnTo>
                  <a:lnTo>
                    <a:pt x="2361438" y="1640586"/>
                  </a:lnTo>
                  <a:lnTo>
                    <a:pt x="2366010" y="1632204"/>
                  </a:lnTo>
                  <a:close/>
                </a:path>
                <a:path w="4500880" h="2902585">
                  <a:moveTo>
                    <a:pt x="2391156" y="1578864"/>
                  </a:moveTo>
                  <a:lnTo>
                    <a:pt x="2364486" y="1568196"/>
                  </a:lnTo>
                  <a:lnTo>
                    <a:pt x="2359152" y="1580388"/>
                  </a:lnTo>
                  <a:lnTo>
                    <a:pt x="2353818" y="1594104"/>
                  </a:lnTo>
                  <a:lnTo>
                    <a:pt x="2379726" y="1605534"/>
                  </a:lnTo>
                  <a:lnTo>
                    <a:pt x="2385822" y="1591818"/>
                  </a:lnTo>
                  <a:lnTo>
                    <a:pt x="2391156" y="1578864"/>
                  </a:lnTo>
                  <a:close/>
                </a:path>
                <a:path w="4500880" h="2902585">
                  <a:moveTo>
                    <a:pt x="2400300" y="1147572"/>
                  </a:moveTo>
                  <a:lnTo>
                    <a:pt x="2366772" y="1147572"/>
                  </a:lnTo>
                  <a:lnTo>
                    <a:pt x="2366772" y="1057732"/>
                  </a:lnTo>
                  <a:lnTo>
                    <a:pt x="2383536" y="1069086"/>
                  </a:lnTo>
                  <a:lnTo>
                    <a:pt x="2387346" y="1063752"/>
                  </a:lnTo>
                  <a:lnTo>
                    <a:pt x="2398014" y="1046988"/>
                  </a:lnTo>
                  <a:lnTo>
                    <a:pt x="2399538" y="1043940"/>
                  </a:lnTo>
                  <a:lnTo>
                    <a:pt x="2374392" y="1030224"/>
                  </a:lnTo>
                  <a:lnTo>
                    <a:pt x="2372868" y="1032510"/>
                  </a:lnTo>
                  <a:lnTo>
                    <a:pt x="2369058" y="1040130"/>
                  </a:lnTo>
                  <a:lnTo>
                    <a:pt x="2366772" y="1043076"/>
                  </a:lnTo>
                  <a:lnTo>
                    <a:pt x="2366772" y="690372"/>
                  </a:lnTo>
                  <a:lnTo>
                    <a:pt x="2365248" y="687324"/>
                  </a:lnTo>
                  <a:lnTo>
                    <a:pt x="2362200" y="685800"/>
                  </a:lnTo>
                  <a:lnTo>
                    <a:pt x="2359152" y="687324"/>
                  </a:lnTo>
                  <a:lnTo>
                    <a:pt x="2357628" y="690372"/>
                  </a:lnTo>
                  <a:lnTo>
                    <a:pt x="2357628" y="1086840"/>
                  </a:lnTo>
                  <a:lnTo>
                    <a:pt x="2343150" y="1074420"/>
                  </a:lnTo>
                  <a:lnTo>
                    <a:pt x="2341626" y="1076706"/>
                  </a:lnTo>
                  <a:lnTo>
                    <a:pt x="2334768" y="1083564"/>
                  </a:lnTo>
                  <a:lnTo>
                    <a:pt x="2327910" y="1091184"/>
                  </a:lnTo>
                  <a:lnTo>
                    <a:pt x="2324100" y="1094232"/>
                  </a:lnTo>
                  <a:lnTo>
                    <a:pt x="2344674" y="1114806"/>
                  </a:lnTo>
                  <a:lnTo>
                    <a:pt x="2347722" y="1111758"/>
                  </a:lnTo>
                  <a:lnTo>
                    <a:pt x="2357628" y="1100810"/>
                  </a:lnTo>
                  <a:lnTo>
                    <a:pt x="2357628" y="1147572"/>
                  </a:lnTo>
                  <a:lnTo>
                    <a:pt x="2324100" y="1147572"/>
                  </a:lnTo>
                  <a:lnTo>
                    <a:pt x="2357628" y="1214628"/>
                  </a:lnTo>
                  <a:lnTo>
                    <a:pt x="2362200" y="1223772"/>
                  </a:lnTo>
                  <a:lnTo>
                    <a:pt x="2366772" y="1214628"/>
                  </a:lnTo>
                  <a:lnTo>
                    <a:pt x="2400300" y="1147572"/>
                  </a:lnTo>
                  <a:close/>
                </a:path>
                <a:path w="4500880" h="2902585">
                  <a:moveTo>
                    <a:pt x="2420112" y="985266"/>
                  </a:moveTo>
                  <a:lnTo>
                    <a:pt x="2391918" y="980694"/>
                  </a:lnTo>
                  <a:lnTo>
                    <a:pt x="2390394" y="988314"/>
                  </a:lnTo>
                  <a:lnTo>
                    <a:pt x="2388870" y="995172"/>
                  </a:lnTo>
                  <a:lnTo>
                    <a:pt x="2386584" y="1002792"/>
                  </a:lnTo>
                  <a:lnTo>
                    <a:pt x="2385060" y="1005840"/>
                  </a:lnTo>
                  <a:lnTo>
                    <a:pt x="2411730" y="1015746"/>
                  </a:lnTo>
                  <a:lnTo>
                    <a:pt x="2414676" y="1009116"/>
                  </a:lnTo>
                  <a:lnTo>
                    <a:pt x="2417267" y="1000874"/>
                  </a:lnTo>
                  <a:lnTo>
                    <a:pt x="2419172" y="992454"/>
                  </a:lnTo>
                  <a:lnTo>
                    <a:pt x="2420112" y="985266"/>
                  </a:lnTo>
                  <a:close/>
                </a:path>
                <a:path w="4500880" h="2902585">
                  <a:moveTo>
                    <a:pt x="2430780" y="936498"/>
                  </a:moveTo>
                  <a:lnTo>
                    <a:pt x="2406396" y="921258"/>
                  </a:lnTo>
                  <a:lnTo>
                    <a:pt x="2401824" y="929640"/>
                  </a:lnTo>
                  <a:lnTo>
                    <a:pt x="2398014" y="937260"/>
                  </a:lnTo>
                  <a:lnTo>
                    <a:pt x="2398014" y="938022"/>
                  </a:lnTo>
                  <a:lnTo>
                    <a:pt x="2397252" y="938784"/>
                  </a:lnTo>
                  <a:lnTo>
                    <a:pt x="2397252" y="939546"/>
                  </a:lnTo>
                  <a:lnTo>
                    <a:pt x="2394966" y="947928"/>
                  </a:lnTo>
                  <a:lnTo>
                    <a:pt x="2394966" y="950214"/>
                  </a:lnTo>
                  <a:lnTo>
                    <a:pt x="2394204" y="954024"/>
                  </a:lnTo>
                  <a:lnTo>
                    <a:pt x="2422398" y="956259"/>
                  </a:lnTo>
                  <a:lnTo>
                    <a:pt x="2423083" y="956310"/>
                  </a:lnTo>
                  <a:lnTo>
                    <a:pt x="2423083" y="952715"/>
                  </a:lnTo>
                  <a:lnTo>
                    <a:pt x="2422398" y="954786"/>
                  </a:lnTo>
                  <a:lnTo>
                    <a:pt x="2423922" y="949706"/>
                  </a:lnTo>
                  <a:lnTo>
                    <a:pt x="2424138" y="948969"/>
                  </a:lnTo>
                  <a:lnTo>
                    <a:pt x="2424684" y="947775"/>
                  </a:lnTo>
                  <a:lnTo>
                    <a:pt x="2427732" y="941070"/>
                  </a:lnTo>
                  <a:lnTo>
                    <a:pt x="2430780" y="936498"/>
                  </a:lnTo>
                  <a:close/>
                </a:path>
                <a:path w="4500880" h="2902585">
                  <a:moveTo>
                    <a:pt x="2431542" y="1543050"/>
                  </a:moveTo>
                  <a:lnTo>
                    <a:pt x="2400300" y="1452372"/>
                  </a:lnTo>
                  <a:lnTo>
                    <a:pt x="2346198" y="1531620"/>
                  </a:lnTo>
                  <a:lnTo>
                    <a:pt x="2373655" y="1535303"/>
                  </a:lnTo>
                  <a:lnTo>
                    <a:pt x="2372106" y="1543050"/>
                  </a:lnTo>
                  <a:lnTo>
                    <a:pt x="2399538" y="1549146"/>
                  </a:lnTo>
                  <a:lnTo>
                    <a:pt x="2401874" y="1539087"/>
                  </a:lnTo>
                  <a:lnTo>
                    <a:pt x="2404872" y="1539481"/>
                  </a:lnTo>
                  <a:lnTo>
                    <a:pt x="2431542" y="1543050"/>
                  </a:lnTo>
                  <a:close/>
                </a:path>
                <a:path w="4500880" h="2902585">
                  <a:moveTo>
                    <a:pt x="2454402" y="2154174"/>
                  </a:moveTo>
                  <a:lnTo>
                    <a:pt x="2425446" y="2151126"/>
                  </a:lnTo>
                  <a:lnTo>
                    <a:pt x="2424684" y="2163318"/>
                  </a:lnTo>
                  <a:lnTo>
                    <a:pt x="2423922" y="2180844"/>
                  </a:lnTo>
                  <a:lnTo>
                    <a:pt x="2452878" y="2181606"/>
                  </a:lnTo>
                  <a:lnTo>
                    <a:pt x="2452878" y="2164080"/>
                  </a:lnTo>
                  <a:lnTo>
                    <a:pt x="2454402" y="2154174"/>
                  </a:lnTo>
                  <a:close/>
                </a:path>
                <a:path w="4500880" h="2902585">
                  <a:moveTo>
                    <a:pt x="2465070" y="2100072"/>
                  </a:moveTo>
                  <a:lnTo>
                    <a:pt x="2437638" y="2092452"/>
                  </a:lnTo>
                  <a:lnTo>
                    <a:pt x="2436876" y="2093214"/>
                  </a:lnTo>
                  <a:lnTo>
                    <a:pt x="2432304" y="2109978"/>
                  </a:lnTo>
                  <a:lnTo>
                    <a:pt x="2430018" y="2121408"/>
                  </a:lnTo>
                  <a:lnTo>
                    <a:pt x="2458212" y="2127504"/>
                  </a:lnTo>
                  <a:lnTo>
                    <a:pt x="2460498" y="2116074"/>
                  </a:lnTo>
                  <a:lnTo>
                    <a:pt x="2465070" y="2100072"/>
                  </a:lnTo>
                  <a:close/>
                </a:path>
                <a:path w="4500880" h="2902585">
                  <a:moveTo>
                    <a:pt x="2468880" y="902208"/>
                  </a:moveTo>
                  <a:lnTo>
                    <a:pt x="2452116" y="878586"/>
                  </a:lnTo>
                  <a:lnTo>
                    <a:pt x="2444496" y="883920"/>
                  </a:lnTo>
                  <a:lnTo>
                    <a:pt x="2433828" y="892302"/>
                  </a:lnTo>
                  <a:lnTo>
                    <a:pt x="2428494" y="896874"/>
                  </a:lnTo>
                  <a:lnTo>
                    <a:pt x="2447544" y="918210"/>
                  </a:lnTo>
                  <a:lnTo>
                    <a:pt x="2452116" y="913638"/>
                  </a:lnTo>
                  <a:lnTo>
                    <a:pt x="2462022" y="906780"/>
                  </a:lnTo>
                  <a:lnTo>
                    <a:pt x="2468880" y="902208"/>
                  </a:lnTo>
                  <a:close/>
                </a:path>
                <a:path w="4500880" h="2902585">
                  <a:moveTo>
                    <a:pt x="2484120" y="2049780"/>
                  </a:moveTo>
                  <a:lnTo>
                    <a:pt x="2458974" y="2036826"/>
                  </a:lnTo>
                  <a:lnTo>
                    <a:pt x="2456688" y="2042160"/>
                  </a:lnTo>
                  <a:lnTo>
                    <a:pt x="2449068" y="2058924"/>
                  </a:lnTo>
                  <a:lnTo>
                    <a:pt x="2446782" y="2064258"/>
                  </a:lnTo>
                  <a:lnTo>
                    <a:pt x="2473452" y="2074926"/>
                  </a:lnTo>
                  <a:lnTo>
                    <a:pt x="2475738" y="2068830"/>
                  </a:lnTo>
                  <a:lnTo>
                    <a:pt x="2482596" y="2052828"/>
                  </a:lnTo>
                  <a:lnTo>
                    <a:pt x="2484120" y="2049780"/>
                  </a:lnTo>
                  <a:close/>
                </a:path>
                <a:path w="4500880" h="2902585">
                  <a:moveTo>
                    <a:pt x="2511552" y="2001774"/>
                  </a:moveTo>
                  <a:lnTo>
                    <a:pt x="2487930" y="1985772"/>
                  </a:lnTo>
                  <a:lnTo>
                    <a:pt x="2483358" y="1993392"/>
                  </a:lnTo>
                  <a:lnTo>
                    <a:pt x="2473452" y="2009394"/>
                  </a:lnTo>
                  <a:lnTo>
                    <a:pt x="2472690" y="2010918"/>
                  </a:lnTo>
                  <a:lnTo>
                    <a:pt x="2497074" y="2024634"/>
                  </a:lnTo>
                  <a:lnTo>
                    <a:pt x="2498598" y="2023110"/>
                  </a:lnTo>
                  <a:lnTo>
                    <a:pt x="2507742" y="2008632"/>
                  </a:lnTo>
                  <a:lnTo>
                    <a:pt x="2511552" y="2001774"/>
                  </a:lnTo>
                  <a:close/>
                </a:path>
                <a:path w="4500880" h="2902585">
                  <a:moveTo>
                    <a:pt x="2516124" y="875538"/>
                  </a:moveTo>
                  <a:lnTo>
                    <a:pt x="2503932" y="849630"/>
                  </a:lnTo>
                  <a:lnTo>
                    <a:pt x="2500884" y="850392"/>
                  </a:lnTo>
                  <a:lnTo>
                    <a:pt x="2485644" y="858774"/>
                  </a:lnTo>
                  <a:lnTo>
                    <a:pt x="2478024" y="862584"/>
                  </a:lnTo>
                  <a:lnTo>
                    <a:pt x="2491740" y="887730"/>
                  </a:lnTo>
                  <a:lnTo>
                    <a:pt x="2499360" y="883920"/>
                  </a:lnTo>
                  <a:lnTo>
                    <a:pt x="2513838" y="876300"/>
                  </a:lnTo>
                  <a:lnTo>
                    <a:pt x="2516124" y="875538"/>
                  </a:lnTo>
                  <a:close/>
                </a:path>
                <a:path w="4500880" h="2902585">
                  <a:moveTo>
                    <a:pt x="2543556" y="1328928"/>
                  </a:moveTo>
                  <a:lnTo>
                    <a:pt x="2532126" y="1328928"/>
                  </a:lnTo>
                  <a:lnTo>
                    <a:pt x="2514600" y="1328166"/>
                  </a:lnTo>
                  <a:lnTo>
                    <a:pt x="2514600" y="1357122"/>
                  </a:lnTo>
                  <a:lnTo>
                    <a:pt x="2532126" y="1357122"/>
                  </a:lnTo>
                  <a:lnTo>
                    <a:pt x="2542794" y="1357884"/>
                  </a:lnTo>
                  <a:lnTo>
                    <a:pt x="2543556" y="1328928"/>
                  </a:lnTo>
                  <a:close/>
                </a:path>
                <a:path w="4500880" h="2902585">
                  <a:moveTo>
                    <a:pt x="2545842" y="1958340"/>
                  </a:moveTo>
                  <a:lnTo>
                    <a:pt x="2524506" y="1939290"/>
                  </a:lnTo>
                  <a:lnTo>
                    <a:pt x="2516124" y="1948434"/>
                  </a:lnTo>
                  <a:lnTo>
                    <a:pt x="2505456" y="1961388"/>
                  </a:lnTo>
                  <a:lnTo>
                    <a:pt x="2527554" y="1979676"/>
                  </a:lnTo>
                  <a:lnTo>
                    <a:pt x="2538222" y="1966722"/>
                  </a:lnTo>
                  <a:lnTo>
                    <a:pt x="2545842" y="1958340"/>
                  </a:lnTo>
                  <a:close/>
                </a:path>
                <a:path w="4500880" h="2902585">
                  <a:moveTo>
                    <a:pt x="2567940" y="852678"/>
                  </a:moveTo>
                  <a:lnTo>
                    <a:pt x="2557272" y="826008"/>
                  </a:lnTo>
                  <a:lnTo>
                    <a:pt x="2555748" y="826770"/>
                  </a:lnTo>
                  <a:lnTo>
                    <a:pt x="2536698" y="835152"/>
                  </a:lnTo>
                  <a:lnTo>
                    <a:pt x="2530602" y="837438"/>
                  </a:lnTo>
                  <a:lnTo>
                    <a:pt x="2542032" y="863346"/>
                  </a:lnTo>
                  <a:lnTo>
                    <a:pt x="2548128" y="861060"/>
                  </a:lnTo>
                  <a:lnTo>
                    <a:pt x="2566416" y="853440"/>
                  </a:lnTo>
                  <a:lnTo>
                    <a:pt x="2567940" y="852678"/>
                  </a:lnTo>
                  <a:close/>
                </a:path>
                <a:path w="4500880" h="2902585">
                  <a:moveTo>
                    <a:pt x="2585466" y="1919478"/>
                  </a:moveTo>
                  <a:lnTo>
                    <a:pt x="2566416" y="1898142"/>
                  </a:lnTo>
                  <a:lnTo>
                    <a:pt x="2554224" y="1908048"/>
                  </a:lnTo>
                  <a:lnTo>
                    <a:pt x="2545080" y="1917954"/>
                  </a:lnTo>
                  <a:lnTo>
                    <a:pt x="2564892" y="1938528"/>
                  </a:lnTo>
                  <a:lnTo>
                    <a:pt x="2574036" y="1928622"/>
                  </a:lnTo>
                  <a:lnTo>
                    <a:pt x="2585466" y="1919478"/>
                  </a:lnTo>
                  <a:close/>
                </a:path>
                <a:path w="4500880" h="2902585">
                  <a:moveTo>
                    <a:pt x="2601468" y="1334262"/>
                  </a:moveTo>
                  <a:lnTo>
                    <a:pt x="2585466" y="1332738"/>
                  </a:lnTo>
                  <a:lnTo>
                    <a:pt x="2573274" y="1331214"/>
                  </a:lnTo>
                  <a:lnTo>
                    <a:pt x="2570226" y="1359408"/>
                  </a:lnTo>
                  <a:lnTo>
                    <a:pt x="2582418" y="1360932"/>
                  </a:lnTo>
                  <a:lnTo>
                    <a:pt x="2598420" y="1362456"/>
                  </a:lnTo>
                  <a:lnTo>
                    <a:pt x="2601468" y="1334262"/>
                  </a:lnTo>
                  <a:close/>
                </a:path>
                <a:path w="4500880" h="2902585">
                  <a:moveTo>
                    <a:pt x="2621280" y="833628"/>
                  </a:moveTo>
                  <a:lnTo>
                    <a:pt x="2612136" y="806958"/>
                  </a:lnTo>
                  <a:lnTo>
                    <a:pt x="2597658" y="811530"/>
                  </a:lnTo>
                  <a:lnTo>
                    <a:pt x="2584704" y="816102"/>
                  </a:lnTo>
                  <a:lnTo>
                    <a:pt x="2594610" y="842772"/>
                  </a:lnTo>
                  <a:lnTo>
                    <a:pt x="2606802" y="838200"/>
                  </a:lnTo>
                  <a:lnTo>
                    <a:pt x="2621280" y="833628"/>
                  </a:lnTo>
                  <a:close/>
                </a:path>
                <a:path w="4500880" h="2902585">
                  <a:moveTo>
                    <a:pt x="2628900" y="1886712"/>
                  </a:moveTo>
                  <a:lnTo>
                    <a:pt x="2613660" y="1862328"/>
                  </a:lnTo>
                  <a:lnTo>
                    <a:pt x="2612898" y="1863090"/>
                  </a:lnTo>
                  <a:lnTo>
                    <a:pt x="2597658" y="1872996"/>
                  </a:lnTo>
                  <a:lnTo>
                    <a:pt x="2589276" y="1879092"/>
                  </a:lnTo>
                  <a:lnTo>
                    <a:pt x="2606802" y="1901952"/>
                  </a:lnTo>
                  <a:lnTo>
                    <a:pt x="2615184" y="1895856"/>
                  </a:lnTo>
                  <a:lnTo>
                    <a:pt x="2628900" y="1886712"/>
                  </a:lnTo>
                  <a:close/>
                </a:path>
                <a:path w="4500880" h="2902585">
                  <a:moveTo>
                    <a:pt x="2659380" y="1344930"/>
                  </a:moveTo>
                  <a:lnTo>
                    <a:pt x="2654046" y="1343406"/>
                  </a:lnTo>
                  <a:lnTo>
                    <a:pt x="2637282" y="1339596"/>
                  </a:lnTo>
                  <a:lnTo>
                    <a:pt x="2630424" y="1338834"/>
                  </a:lnTo>
                  <a:lnTo>
                    <a:pt x="2625852" y="1367028"/>
                  </a:lnTo>
                  <a:lnTo>
                    <a:pt x="2631948" y="1367790"/>
                  </a:lnTo>
                  <a:lnTo>
                    <a:pt x="2647950" y="1371600"/>
                  </a:lnTo>
                  <a:lnTo>
                    <a:pt x="2653284" y="1372362"/>
                  </a:lnTo>
                  <a:lnTo>
                    <a:pt x="2659380" y="1344930"/>
                  </a:lnTo>
                  <a:close/>
                </a:path>
                <a:path w="4500880" h="2902585">
                  <a:moveTo>
                    <a:pt x="2675382" y="816864"/>
                  </a:moveTo>
                  <a:lnTo>
                    <a:pt x="2667000" y="789432"/>
                  </a:lnTo>
                  <a:lnTo>
                    <a:pt x="2643378" y="796290"/>
                  </a:lnTo>
                  <a:lnTo>
                    <a:pt x="2639568" y="797814"/>
                  </a:lnTo>
                  <a:lnTo>
                    <a:pt x="2647950" y="825246"/>
                  </a:lnTo>
                  <a:lnTo>
                    <a:pt x="2652522" y="823722"/>
                  </a:lnTo>
                  <a:lnTo>
                    <a:pt x="2675382" y="816864"/>
                  </a:lnTo>
                  <a:close/>
                </a:path>
                <a:path w="4500880" h="2902585">
                  <a:moveTo>
                    <a:pt x="2676906" y="1860042"/>
                  </a:moveTo>
                  <a:lnTo>
                    <a:pt x="2665476" y="1834134"/>
                  </a:lnTo>
                  <a:lnTo>
                    <a:pt x="2660904" y="1835658"/>
                  </a:lnTo>
                  <a:lnTo>
                    <a:pt x="2644902" y="1844040"/>
                  </a:lnTo>
                  <a:lnTo>
                    <a:pt x="2638806" y="1847088"/>
                  </a:lnTo>
                  <a:lnTo>
                    <a:pt x="2653284" y="1872234"/>
                  </a:lnTo>
                  <a:lnTo>
                    <a:pt x="2658618" y="1869186"/>
                  </a:lnTo>
                  <a:lnTo>
                    <a:pt x="2676906" y="1860042"/>
                  </a:lnTo>
                  <a:close/>
                </a:path>
                <a:path w="4500880" h="2902585">
                  <a:moveTo>
                    <a:pt x="2715768" y="1359408"/>
                  </a:moveTo>
                  <a:lnTo>
                    <a:pt x="2702052" y="1355598"/>
                  </a:lnTo>
                  <a:lnTo>
                    <a:pt x="2687574" y="1351788"/>
                  </a:lnTo>
                  <a:lnTo>
                    <a:pt x="2679954" y="1379220"/>
                  </a:lnTo>
                  <a:lnTo>
                    <a:pt x="2694419" y="1383030"/>
                  </a:lnTo>
                  <a:lnTo>
                    <a:pt x="2707373" y="1386840"/>
                  </a:lnTo>
                  <a:lnTo>
                    <a:pt x="2715768" y="1359408"/>
                  </a:lnTo>
                  <a:close/>
                </a:path>
                <a:path w="4500880" h="2902585">
                  <a:moveTo>
                    <a:pt x="2728722" y="1841754"/>
                  </a:moveTo>
                  <a:lnTo>
                    <a:pt x="2721864" y="1813560"/>
                  </a:lnTo>
                  <a:lnTo>
                    <a:pt x="2711945" y="1816608"/>
                  </a:lnTo>
                  <a:lnTo>
                    <a:pt x="2694419" y="1821942"/>
                  </a:lnTo>
                  <a:lnTo>
                    <a:pt x="2692895" y="1822704"/>
                  </a:lnTo>
                  <a:lnTo>
                    <a:pt x="2702814" y="1849374"/>
                  </a:lnTo>
                  <a:lnTo>
                    <a:pt x="2705100" y="1848612"/>
                  </a:lnTo>
                  <a:lnTo>
                    <a:pt x="2720340" y="1844040"/>
                  </a:lnTo>
                  <a:lnTo>
                    <a:pt x="2728722" y="1841754"/>
                  </a:lnTo>
                  <a:close/>
                </a:path>
                <a:path w="4500880" h="2902585">
                  <a:moveTo>
                    <a:pt x="2770619" y="1379982"/>
                  </a:moveTo>
                  <a:lnTo>
                    <a:pt x="2762250" y="1376172"/>
                  </a:lnTo>
                  <a:lnTo>
                    <a:pt x="2747772" y="1370838"/>
                  </a:lnTo>
                  <a:lnTo>
                    <a:pt x="2743200" y="1369314"/>
                  </a:lnTo>
                  <a:lnTo>
                    <a:pt x="2733294" y="1395984"/>
                  </a:lnTo>
                  <a:lnTo>
                    <a:pt x="2737866" y="1397508"/>
                  </a:lnTo>
                  <a:lnTo>
                    <a:pt x="2751569" y="1402842"/>
                  </a:lnTo>
                  <a:lnTo>
                    <a:pt x="2759202" y="1406652"/>
                  </a:lnTo>
                  <a:lnTo>
                    <a:pt x="2770619" y="1379982"/>
                  </a:lnTo>
                  <a:close/>
                </a:path>
                <a:path w="4500880" h="2902585">
                  <a:moveTo>
                    <a:pt x="2782824" y="1832610"/>
                  </a:moveTo>
                  <a:lnTo>
                    <a:pt x="2780538" y="1803654"/>
                  </a:lnTo>
                  <a:lnTo>
                    <a:pt x="2764523" y="1805178"/>
                  </a:lnTo>
                  <a:lnTo>
                    <a:pt x="2750820" y="1807464"/>
                  </a:lnTo>
                  <a:lnTo>
                    <a:pt x="2755392" y="1835658"/>
                  </a:lnTo>
                  <a:lnTo>
                    <a:pt x="2768346" y="1833372"/>
                  </a:lnTo>
                  <a:lnTo>
                    <a:pt x="2780538" y="1832737"/>
                  </a:lnTo>
                  <a:lnTo>
                    <a:pt x="2782824" y="1832610"/>
                  </a:lnTo>
                  <a:close/>
                </a:path>
                <a:path w="4500880" h="2902585">
                  <a:moveTo>
                    <a:pt x="2785097" y="787908"/>
                  </a:moveTo>
                  <a:lnTo>
                    <a:pt x="2778252" y="759714"/>
                  </a:lnTo>
                  <a:lnTo>
                    <a:pt x="2775966" y="760476"/>
                  </a:lnTo>
                  <a:lnTo>
                    <a:pt x="2750045" y="766572"/>
                  </a:lnTo>
                  <a:lnTo>
                    <a:pt x="2756916" y="794766"/>
                  </a:lnTo>
                  <a:lnTo>
                    <a:pt x="2782824" y="787908"/>
                  </a:lnTo>
                  <a:lnTo>
                    <a:pt x="2785097" y="787908"/>
                  </a:lnTo>
                  <a:close/>
                </a:path>
                <a:path w="4500880" h="2902585">
                  <a:moveTo>
                    <a:pt x="2823197" y="1408176"/>
                  </a:moveTo>
                  <a:lnTo>
                    <a:pt x="2813304" y="1402080"/>
                  </a:lnTo>
                  <a:lnTo>
                    <a:pt x="2801099" y="1395222"/>
                  </a:lnTo>
                  <a:lnTo>
                    <a:pt x="2797302" y="1392936"/>
                  </a:lnTo>
                  <a:lnTo>
                    <a:pt x="2784348" y="1418844"/>
                  </a:lnTo>
                  <a:lnTo>
                    <a:pt x="2788145" y="1420368"/>
                  </a:lnTo>
                  <a:lnTo>
                    <a:pt x="2799588" y="1427226"/>
                  </a:lnTo>
                  <a:lnTo>
                    <a:pt x="2807970" y="1432560"/>
                  </a:lnTo>
                  <a:lnTo>
                    <a:pt x="2823197" y="1408176"/>
                  </a:lnTo>
                  <a:close/>
                </a:path>
                <a:path w="4500880" h="2902585">
                  <a:moveTo>
                    <a:pt x="2839974" y="774954"/>
                  </a:moveTo>
                  <a:lnTo>
                    <a:pt x="2833878" y="746760"/>
                  </a:lnTo>
                  <a:lnTo>
                    <a:pt x="2806446" y="753618"/>
                  </a:lnTo>
                  <a:lnTo>
                    <a:pt x="2812542" y="781050"/>
                  </a:lnTo>
                  <a:lnTo>
                    <a:pt x="2839974" y="774954"/>
                  </a:lnTo>
                  <a:close/>
                </a:path>
                <a:path w="4500880" h="2902585">
                  <a:moveTo>
                    <a:pt x="2840723" y="1828800"/>
                  </a:moveTo>
                  <a:lnTo>
                    <a:pt x="2836164" y="1800606"/>
                  </a:lnTo>
                  <a:lnTo>
                    <a:pt x="2833116" y="1801368"/>
                  </a:lnTo>
                  <a:lnTo>
                    <a:pt x="2817876" y="1802828"/>
                  </a:lnTo>
                  <a:lnTo>
                    <a:pt x="2809494" y="1802892"/>
                  </a:lnTo>
                  <a:lnTo>
                    <a:pt x="2810256" y="1831848"/>
                  </a:lnTo>
                  <a:lnTo>
                    <a:pt x="2817114" y="1831162"/>
                  </a:lnTo>
                  <a:lnTo>
                    <a:pt x="2835402" y="1829562"/>
                  </a:lnTo>
                  <a:lnTo>
                    <a:pt x="2840723" y="1828800"/>
                  </a:lnTo>
                  <a:close/>
                </a:path>
                <a:path w="4500880" h="2902585">
                  <a:moveTo>
                    <a:pt x="2870454" y="1445514"/>
                  </a:moveTo>
                  <a:lnTo>
                    <a:pt x="2863596" y="1439418"/>
                  </a:lnTo>
                  <a:lnTo>
                    <a:pt x="2855214" y="1431036"/>
                  </a:lnTo>
                  <a:lnTo>
                    <a:pt x="2847594" y="1425702"/>
                  </a:lnTo>
                  <a:lnTo>
                    <a:pt x="2830068" y="1447800"/>
                  </a:lnTo>
                  <a:lnTo>
                    <a:pt x="2836926" y="1453134"/>
                  </a:lnTo>
                  <a:lnTo>
                    <a:pt x="2844546" y="1459992"/>
                  </a:lnTo>
                  <a:lnTo>
                    <a:pt x="2849880" y="1465326"/>
                  </a:lnTo>
                  <a:lnTo>
                    <a:pt x="2870454" y="1445514"/>
                  </a:lnTo>
                  <a:close/>
                </a:path>
                <a:path w="4500880" h="2902585">
                  <a:moveTo>
                    <a:pt x="2895600" y="762762"/>
                  </a:moveTo>
                  <a:lnTo>
                    <a:pt x="2890266" y="735330"/>
                  </a:lnTo>
                  <a:lnTo>
                    <a:pt x="2866644" y="739902"/>
                  </a:lnTo>
                  <a:lnTo>
                    <a:pt x="2862072" y="740664"/>
                  </a:lnTo>
                  <a:lnTo>
                    <a:pt x="2868168" y="768858"/>
                  </a:lnTo>
                  <a:lnTo>
                    <a:pt x="2872740" y="768096"/>
                  </a:lnTo>
                  <a:lnTo>
                    <a:pt x="2895600" y="762762"/>
                  </a:lnTo>
                  <a:close/>
                </a:path>
                <a:path w="4500880" h="2902585">
                  <a:moveTo>
                    <a:pt x="2898648" y="1815084"/>
                  </a:moveTo>
                  <a:lnTo>
                    <a:pt x="2889504" y="1788414"/>
                  </a:lnTo>
                  <a:lnTo>
                    <a:pt x="2881122" y="1790700"/>
                  </a:lnTo>
                  <a:lnTo>
                    <a:pt x="2865120" y="1795272"/>
                  </a:lnTo>
                  <a:lnTo>
                    <a:pt x="2863596" y="1795272"/>
                  </a:lnTo>
                  <a:lnTo>
                    <a:pt x="2869692" y="1823466"/>
                  </a:lnTo>
                  <a:lnTo>
                    <a:pt x="2870454" y="1823466"/>
                  </a:lnTo>
                  <a:lnTo>
                    <a:pt x="2887980" y="1818894"/>
                  </a:lnTo>
                  <a:lnTo>
                    <a:pt x="2898648" y="1815084"/>
                  </a:lnTo>
                  <a:close/>
                </a:path>
                <a:path w="4500880" h="2902585">
                  <a:moveTo>
                    <a:pt x="2900172" y="1504950"/>
                  </a:moveTo>
                  <a:lnTo>
                    <a:pt x="2888742" y="1471422"/>
                  </a:lnTo>
                  <a:lnTo>
                    <a:pt x="2864358" y="1485900"/>
                  </a:lnTo>
                  <a:lnTo>
                    <a:pt x="2865120" y="1487424"/>
                  </a:lnTo>
                  <a:lnTo>
                    <a:pt x="2868168" y="1494282"/>
                  </a:lnTo>
                  <a:lnTo>
                    <a:pt x="2870454" y="1500378"/>
                  </a:lnTo>
                  <a:lnTo>
                    <a:pt x="2871216" y="1506474"/>
                  </a:lnTo>
                  <a:lnTo>
                    <a:pt x="2897124" y="1505115"/>
                  </a:lnTo>
                  <a:lnTo>
                    <a:pt x="2899410" y="1505000"/>
                  </a:lnTo>
                  <a:lnTo>
                    <a:pt x="2900172" y="1504950"/>
                  </a:lnTo>
                  <a:close/>
                </a:path>
                <a:path w="4500880" h="2902585">
                  <a:moveTo>
                    <a:pt x="2918460" y="1546098"/>
                  </a:moveTo>
                  <a:lnTo>
                    <a:pt x="2912199" y="1537830"/>
                  </a:lnTo>
                  <a:lnTo>
                    <a:pt x="2908770" y="1536090"/>
                  </a:lnTo>
                  <a:lnTo>
                    <a:pt x="2903982" y="1527048"/>
                  </a:lnTo>
                  <a:lnTo>
                    <a:pt x="2878836" y="1540002"/>
                  </a:lnTo>
                  <a:lnTo>
                    <a:pt x="2879598" y="1542288"/>
                  </a:lnTo>
                  <a:lnTo>
                    <a:pt x="2885694" y="1551432"/>
                  </a:lnTo>
                  <a:lnTo>
                    <a:pt x="2897124" y="1565148"/>
                  </a:lnTo>
                  <a:lnTo>
                    <a:pt x="2898648" y="1565910"/>
                  </a:lnTo>
                  <a:lnTo>
                    <a:pt x="2918460" y="1546098"/>
                  </a:lnTo>
                  <a:close/>
                </a:path>
                <a:path w="4500880" h="2902585">
                  <a:moveTo>
                    <a:pt x="2951988" y="752094"/>
                  </a:moveTo>
                  <a:lnTo>
                    <a:pt x="2946654" y="723900"/>
                  </a:lnTo>
                  <a:lnTo>
                    <a:pt x="2931414" y="726948"/>
                  </a:lnTo>
                  <a:lnTo>
                    <a:pt x="2918460" y="729234"/>
                  </a:lnTo>
                  <a:lnTo>
                    <a:pt x="2923794" y="757428"/>
                  </a:lnTo>
                  <a:lnTo>
                    <a:pt x="2936748" y="755142"/>
                  </a:lnTo>
                  <a:lnTo>
                    <a:pt x="2951988" y="752094"/>
                  </a:lnTo>
                  <a:close/>
                </a:path>
                <a:path w="4500880" h="2902585">
                  <a:moveTo>
                    <a:pt x="2952750" y="1792224"/>
                  </a:moveTo>
                  <a:lnTo>
                    <a:pt x="2940558" y="1766316"/>
                  </a:lnTo>
                  <a:lnTo>
                    <a:pt x="2927604" y="1773174"/>
                  </a:lnTo>
                  <a:lnTo>
                    <a:pt x="2914650" y="1778508"/>
                  </a:lnTo>
                  <a:lnTo>
                    <a:pt x="2926842" y="1804416"/>
                  </a:lnTo>
                  <a:lnTo>
                    <a:pt x="2939034" y="1799082"/>
                  </a:lnTo>
                  <a:lnTo>
                    <a:pt x="2952750" y="1792224"/>
                  </a:lnTo>
                  <a:close/>
                </a:path>
                <a:path w="4500880" h="2902585">
                  <a:moveTo>
                    <a:pt x="2961894" y="1576578"/>
                  </a:moveTo>
                  <a:lnTo>
                    <a:pt x="2961132" y="1576578"/>
                  </a:lnTo>
                  <a:lnTo>
                    <a:pt x="2949702" y="1569720"/>
                  </a:lnTo>
                  <a:lnTo>
                    <a:pt x="2938272" y="1562100"/>
                  </a:lnTo>
                  <a:lnTo>
                    <a:pt x="2923032" y="1585722"/>
                  </a:lnTo>
                  <a:lnTo>
                    <a:pt x="2933700" y="1593342"/>
                  </a:lnTo>
                  <a:lnTo>
                    <a:pt x="2946654" y="1600962"/>
                  </a:lnTo>
                  <a:lnTo>
                    <a:pt x="2948178" y="1601724"/>
                  </a:lnTo>
                  <a:lnTo>
                    <a:pt x="2961894" y="1576578"/>
                  </a:lnTo>
                  <a:close/>
                </a:path>
                <a:path w="4500880" h="2902585">
                  <a:moveTo>
                    <a:pt x="3003804" y="1760982"/>
                  </a:moveTo>
                  <a:lnTo>
                    <a:pt x="2986278" y="1738122"/>
                  </a:lnTo>
                  <a:lnTo>
                    <a:pt x="2971800" y="1748028"/>
                  </a:lnTo>
                  <a:lnTo>
                    <a:pt x="2964180" y="1753362"/>
                  </a:lnTo>
                  <a:lnTo>
                    <a:pt x="2978658" y="1777746"/>
                  </a:lnTo>
                  <a:lnTo>
                    <a:pt x="2987040" y="1772412"/>
                  </a:lnTo>
                  <a:lnTo>
                    <a:pt x="3002280" y="1761744"/>
                  </a:lnTo>
                  <a:lnTo>
                    <a:pt x="3003804" y="1760982"/>
                  </a:lnTo>
                  <a:close/>
                </a:path>
                <a:path w="4500880" h="2902585">
                  <a:moveTo>
                    <a:pt x="3007614" y="741426"/>
                  </a:moveTo>
                  <a:lnTo>
                    <a:pt x="3003042" y="713232"/>
                  </a:lnTo>
                  <a:lnTo>
                    <a:pt x="2999232" y="713994"/>
                  </a:lnTo>
                  <a:lnTo>
                    <a:pt x="2974848" y="718566"/>
                  </a:lnTo>
                  <a:lnTo>
                    <a:pt x="2979420" y="746760"/>
                  </a:lnTo>
                  <a:lnTo>
                    <a:pt x="3004566" y="742188"/>
                  </a:lnTo>
                  <a:lnTo>
                    <a:pt x="3007614" y="741426"/>
                  </a:lnTo>
                  <a:close/>
                </a:path>
                <a:path w="4500880" h="2902585">
                  <a:moveTo>
                    <a:pt x="3012186" y="1600200"/>
                  </a:moveTo>
                  <a:lnTo>
                    <a:pt x="3002280" y="1596390"/>
                  </a:lnTo>
                  <a:lnTo>
                    <a:pt x="2987802" y="1589532"/>
                  </a:lnTo>
                  <a:lnTo>
                    <a:pt x="2987040" y="1589532"/>
                  </a:lnTo>
                  <a:lnTo>
                    <a:pt x="2974086" y="1614678"/>
                  </a:lnTo>
                  <a:lnTo>
                    <a:pt x="2974848" y="1615440"/>
                  </a:lnTo>
                  <a:lnTo>
                    <a:pt x="3001518" y="1626870"/>
                  </a:lnTo>
                  <a:lnTo>
                    <a:pt x="3012186" y="1600200"/>
                  </a:lnTo>
                  <a:close/>
                </a:path>
                <a:path w="4500880" h="2902585">
                  <a:moveTo>
                    <a:pt x="3048762" y="1723644"/>
                  </a:moveTo>
                  <a:lnTo>
                    <a:pt x="3028950" y="1703070"/>
                  </a:lnTo>
                  <a:lnTo>
                    <a:pt x="3026664" y="1705356"/>
                  </a:lnTo>
                  <a:lnTo>
                    <a:pt x="3013710" y="1716786"/>
                  </a:lnTo>
                  <a:lnTo>
                    <a:pt x="3008376" y="1720596"/>
                  </a:lnTo>
                  <a:lnTo>
                    <a:pt x="3026664" y="1742694"/>
                  </a:lnTo>
                  <a:lnTo>
                    <a:pt x="3031998" y="1738884"/>
                  </a:lnTo>
                  <a:lnTo>
                    <a:pt x="3045714" y="1726692"/>
                  </a:lnTo>
                  <a:lnTo>
                    <a:pt x="3048762" y="1723644"/>
                  </a:lnTo>
                  <a:close/>
                </a:path>
                <a:path w="4500880" h="2902585">
                  <a:moveTo>
                    <a:pt x="3064002" y="732282"/>
                  </a:moveTo>
                  <a:lnTo>
                    <a:pt x="3059430" y="704088"/>
                  </a:lnTo>
                  <a:lnTo>
                    <a:pt x="3034284" y="707898"/>
                  </a:lnTo>
                  <a:lnTo>
                    <a:pt x="3031236" y="708660"/>
                  </a:lnTo>
                  <a:lnTo>
                    <a:pt x="3035808" y="736854"/>
                  </a:lnTo>
                  <a:lnTo>
                    <a:pt x="3038856" y="736092"/>
                  </a:lnTo>
                  <a:lnTo>
                    <a:pt x="3064002" y="732282"/>
                  </a:lnTo>
                  <a:close/>
                </a:path>
                <a:path w="4500880" h="2902585">
                  <a:moveTo>
                    <a:pt x="3064764" y="1618488"/>
                  </a:moveTo>
                  <a:lnTo>
                    <a:pt x="3051810" y="1614678"/>
                  </a:lnTo>
                  <a:lnTo>
                    <a:pt x="3038094" y="1610106"/>
                  </a:lnTo>
                  <a:lnTo>
                    <a:pt x="3028950" y="1636776"/>
                  </a:lnTo>
                  <a:lnTo>
                    <a:pt x="3056382" y="1645920"/>
                  </a:lnTo>
                  <a:lnTo>
                    <a:pt x="3064764" y="1618488"/>
                  </a:lnTo>
                  <a:close/>
                </a:path>
                <a:path w="4500880" h="2902585">
                  <a:moveTo>
                    <a:pt x="3089148" y="1680210"/>
                  </a:moveTo>
                  <a:lnTo>
                    <a:pt x="3067050" y="1661922"/>
                  </a:lnTo>
                  <a:lnTo>
                    <a:pt x="3062478" y="1667256"/>
                  </a:lnTo>
                  <a:lnTo>
                    <a:pt x="3051048" y="1680210"/>
                  </a:lnTo>
                  <a:lnTo>
                    <a:pt x="3048762" y="1683258"/>
                  </a:lnTo>
                  <a:lnTo>
                    <a:pt x="3069336" y="1702308"/>
                  </a:lnTo>
                  <a:lnTo>
                    <a:pt x="3071622" y="1700022"/>
                  </a:lnTo>
                  <a:lnTo>
                    <a:pt x="3084576" y="1686306"/>
                  </a:lnTo>
                  <a:lnTo>
                    <a:pt x="3089148" y="1680210"/>
                  </a:lnTo>
                  <a:close/>
                </a:path>
                <a:path w="4500880" h="2902585">
                  <a:moveTo>
                    <a:pt x="3120390" y="723138"/>
                  </a:moveTo>
                  <a:lnTo>
                    <a:pt x="3115818" y="694944"/>
                  </a:lnTo>
                  <a:lnTo>
                    <a:pt x="3106674" y="695706"/>
                  </a:lnTo>
                  <a:lnTo>
                    <a:pt x="3087624" y="699516"/>
                  </a:lnTo>
                  <a:lnTo>
                    <a:pt x="3092196" y="727710"/>
                  </a:lnTo>
                  <a:lnTo>
                    <a:pt x="3111246" y="723900"/>
                  </a:lnTo>
                  <a:lnTo>
                    <a:pt x="3120390" y="723138"/>
                  </a:lnTo>
                  <a:close/>
                </a:path>
                <a:path w="4500880" h="2902585">
                  <a:moveTo>
                    <a:pt x="3122676" y="1632204"/>
                  </a:moveTo>
                  <a:lnTo>
                    <a:pt x="3098292" y="1616964"/>
                  </a:lnTo>
                  <a:lnTo>
                    <a:pt x="3093720" y="1625346"/>
                  </a:lnTo>
                  <a:lnTo>
                    <a:pt x="3092920" y="1626501"/>
                  </a:lnTo>
                  <a:lnTo>
                    <a:pt x="3091434" y="1626108"/>
                  </a:lnTo>
                  <a:lnTo>
                    <a:pt x="3090456" y="1630121"/>
                  </a:lnTo>
                  <a:lnTo>
                    <a:pt x="3083814" y="1639824"/>
                  </a:lnTo>
                  <a:lnTo>
                    <a:pt x="3087446" y="1642491"/>
                  </a:lnTo>
                  <a:lnTo>
                    <a:pt x="3084576" y="1654302"/>
                  </a:lnTo>
                  <a:lnTo>
                    <a:pt x="3101340" y="1658874"/>
                  </a:lnTo>
                  <a:lnTo>
                    <a:pt x="3112770" y="1661160"/>
                  </a:lnTo>
                  <a:lnTo>
                    <a:pt x="3117088" y="1641703"/>
                  </a:lnTo>
                  <a:lnTo>
                    <a:pt x="3117342" y="1641348"/>
                  </a:lnTo>
                  <a:lnTo>
                    <a:pt x="3122676" y="1632204"/>
                  </a:lnTo>
                  <a:close/>
                </a:path>
                <a:path w="4500880" h="2902585">
                  <a:moveTo>
                    <a:pt x="3124200" y="1223772"/>
                  </a:moveTo>
                  <a:lnTo>
                    <a:pt x="3097530" y="1143000"/>
                  </a:lnTo>
                  <a:lnTo>
                    <a:pt x="3073527" y="1167003"/>
                  </a:lnTo>
                  <a:lnTo>
                    <a:pt x="2712885" y="806373"/>
                  </a:lnTo>
                  <a:lnTo>
                    <a:pt x="2727947" y="802386"/>
                  </a:lnTo>
                  <a:lnTo>
                    <a:pt x="2729471" y="801624"/>
                  </a:lnTo>
                  <a:lnTo>
                    <a:pt x="2722626" y="774192"/>
                  </a:lnTo>
                  <a:lnTo>
                    <a:pt x="2720340" y="774954"/>
                  </a:lnTo>
                  <a:lnTo>
                    <a:pt x="2694419" y="781812"/>
                  </a:lnTo>
                  <a:lnTo>
                    <a:pt x="2696756" y="790244"/>
                  </a:lnTo>
                  <a:lnTo>
                    <a:pt x="2517648" y="611124"/>
                  </a:lnTo>
                  <a:lnTo>
                    <a:pt x="2514600" y="609600"/>
                  </a:lnTo>
                  <a:lnTo>
                    <a:pt x="2511552" y="611124"/>
                  </a:lnTo>
                  <a:lnTo>
                    <a:pt x="2510028" y="614172"/>
                  </a:lnTo>
                  <a:lnTo>
                    <a:pt x="2511552" y="617220"/>
                  </a:lnTo>
                  <a:lnTo>
                    <a:pt x="2701455" y="807135"/>
                  </a:lnTo>
                  <a:lnTo>
                    <a:pt x="2702052" y="809244"/>
                  </a:lnTo>
                  <a:lnTo>
                    <a:pt x="2703245" y="808926"/>
                  </a:lnTo>
                  <a:lnTo>
                    <a:pt x="3067431" y="1173099"/>
                  </a:lnTo>
                  <a:lnTo>
                    <a:pt x="3043428" y="1197102"/>
                  </a:lnTo>
                  <a:lnTo>
                    <a:pt x="3083814" y="1210437"/>
                  </a:lnTo>
                  <a:lnTo>
                    <a:pt x="3124200" y="1223772"/>
                  </a:lnTo>
                  <a:close/>
                </a:path>
                <a:path w="4500880" h="2902585">
                  <a:moveTo>
                    <a:pt x="3150108" y="1578864"/>
                  </a:moveTo>
                  <a:lnTo>
                    <a:pt x="3123438" y="1568196"/>
                  </a:lnTo>
                  <a:lnTo>
                    <a:pt x="3118104" y="1580388"/>
                  </a:lnTo>
                  <a:lnTo>
                    <a:pt x="3112008" y="1593342"/>
                  </a:lnTo>
                  <a:lnTo>
                    <a:pt x="3137916" y="1605534"/>
                  </a:lnTo>
                  <a:lnTo>
                    <a:pt x="3144012" y="1592580"/>
                  </a:lnTo>
                  <a:lnTo>
                    <a:pt x="3150108" y="1578864"/>
                  </a:lnTo>
                  <a:close/>
                </a:path>
                <a:path w="4500880" h="2902585">
                  <a:moveTo>
                    <a:pt x="3174492" y="1645158"/>
                  </a:moveTo>
                  <a:lnTo>
                    <a:pt x="3171444" y="1644396"/>
                  </a:lnTo>
                  <a:lnTo>
                    <a:pt x="3150108" y="1640586"/>
                  </a:lnTo>
                  <a:lnTo>
                    <a:pt x="3147060" y="1639824"/>
                  </a:lnTo>
                  <a:lnTo>
                    <a:pt x="3140202" y="1668018"/>
                  </a:lnTo>
                  <a:lnTo>
                    <a:pt x="3144012" y="1668018"/>
                  </a:lnTo>
                  <a:lnTo>
                    <a:pt x="3165348" y="1672590"/>
                  </a:lnTo>
                  <a:lnTo>
                    <a:pt x="3169158" y="1673352"/>
                  </a:lnTo>
                  <a:lnTo>
                    <a:pt x="3174492" y="1645158"/>
                  </a:lnTo>
                  <a:close/>
                </a:path>
                <a:path w="4500880" h="2902585">
                  <a:moveTo>
                    <a:pt x="3176778" y="713994"/>
                  </a:moveTo>
                  <a:lnTo>
                    <a:pt x="3172206" y="685800"/>
                  </a:lnTo>
                  <a:lnTo>
                    <a:pt x="3144012" y="690372"/>
                  </a:lnTo>
                  <a:lnTo>
                    <a:pt x="3148584" y="718566"/>
                  </a:lnTo>
                  <a:lnTo>
                    <a:pt x="3176778" y="713994"/>
                  </a:lnTo>
                  <a:close/>
                </a:path>
                <a:path w="4500880" h="2902585">
                  <a:moveTo>
                    <a:pt x="3192018" y="1543050"/>
                  </a:moveTo>
                  <a:lnTo>
                    <a:pt x="3162300" y="1452372"/>
                  </a:lnTo>
                  <a:lnTo>
                    <a:pt x="3107436" y="1530858"/>
                  </a:lnTo>
                  <a:lnTo>
                    <a:pt x="3135630" y="1534922"/>
                  </a:lnTo>
                  <a:lnTo>
                    <a:pt x="3135630" y="1535430"/>
                  </a:lnTo>
                  <a:lnTo>
                    <a:pt x="3133344" y="1542288"/>
                  </a:lnTo>
                  <a:lnTo>
                    <a:pt x="3160014" y="1551432"/>
                  </a:lnTo>
                  <a:lnTo>
                    <a:pt x="3163062" y="1541526"/>
                  </a:lnTo>
                  <a:lnTo>
                    <a:pt x="3163824" y="1540764"/>
                  </a:lnTo>
                  <a:lnTo>
                    <a:pt x="3163824" y="1539240"/>
                  </a:lnTo>
                  <a:lnTo>
                    <a:pt x="3163824" y="1538986"/>
                  </a:lnTo>
                  <a:lnTo>
                    <a:pt x="3163824" y="1524457"/>
                  </a:lnTo>
                  <a:lnTo>
                    <a:pt x="3166110" y="1524762"/>
                  </a:lnTo>
                  <a:lnTo>
                    <a:pt x="3166110" y="1539316"/>
                  </a:lnTo>
                  <a:lnTo>
                    <a:pt x="3192018" y="1543050"/>
                  </a:lnTo>
                  <a:close/>
                </a:path>
                <a:path w="4500880" h="2902585">
                  <a:moveTo>
                    <a:pt x="3230118" y="1654302"/>
                  </a:moveTo>
                  <a:lnTo>
                    <a:pt x="3214878" y="1652016"/>
                  </a:lnTo>
                  <a:lnTo>
                    <a:pt x="3201924" y="1650492"/>
                  </a:lnTo>
                  <a:lnTo>
                    <a:pt x="3197352" y="1678686"/>
                  </a:lnTo>
                  <a:lnTo>
                    <a:pt x="3210306" y="1680210"/>
                  </a:lnTo>
                  <a:lnTo>
                    <a:pt x="3226308" y="1682496"/>
                  </a:lnTo>
                  <a:lnTo>
                    <a:pt x="3230118" y="1654302"/>
                  </a:lnTo>
                  <a:close/>
                </a:path>
                <a:path w="4500880" h="2902585">
                  <a:moveTo>
                    <a:pt x="3233166" y="706374"/>
                  </a:moveTo>
                  <a:lnTo>
                    <a:pt x="3229356" y="678180"/>
                  </a:lnTo>
                  <a:lnTo>
                    <a:pt x="3201162" y="681990"/>
                  </a:lnTo>
                  <a:lnTo>
                    <a:pt x="3204972" y="710184"/>
                  </a:lnTo>
                  <a:lnTo>
                    <a:pt x="3233166" y="706374"/>
                  </a:lnTo>
                  <a:close/>
                </a:path>
                <a:path w="4500880" h="2902585">
                  <a:moveTo>
                    <a:pt x="3281172" y="6096"/>
                  </a:moveTo>
                  <a:lnTo>
                    <a:pt x="3280410" y="2286"/>
                  </a:lnTo>
                  <a:lnTo>
                    <a:pt x="3278124" y="0"/>
                  </a:lnTo>
                  <a:lnTo>
                    <a:pt x="3274314" y="762"/>
                  </a:lnTo>
                  <a:lnTo>
                    <a:pt x="2503271" y="421195"/>
                  </a:lnTo>
                  <a:lnTo>
                    <a:pt x="2487168" y="391668"/>
                  </a:lnTo>
                  <a:lnTo>
                    <a:pt x="2438400" y="461772"/>
                  </a:lnTo>
                  <a:lnTo>
                    <a:pt x="2487168" y="460032"/>
                  </a:lnTo>
                  <a:lnTo>
                    <a:pt x="2489454" y="459955"/>
                  </a:lnTo>
                  <a:lnTo>
                    <a:pt x="2523744" y="458724"/>
                  </a:lnTo>
                  <a:lnTo>
                    <a:pt x="2507831" y="429577"/>
                  </a:lnTo>
                  <a:lnTo>
                    <a:pt x="3278886" y="8382"/>
                  </a:lnTo>
                  <a:lnTo>
                    <a:pt x="3281172" y="6096"/>
                  </a:lnTo>
                  <a:close/>
                </a:path>
                <a:path w="4500880" h="2902585">
                  <a:moveTo>
                    <a:pt x="3285744" y="1661160"/>
                  </a:moveTo>
                  <a:lnTo>
                    <a:pt x="3283458" y="1661071"/>
                  </a:lnTo>
                  <a:lnTo>
                    <a:pt x="3260598" y="1658112"/>
                  </a:lnTo>
                  <a:lnTo>
                    <a:pt x="3258312" y="1658112"/>
                  </a:lnTo>
                  <a:lnTo>
                    <a:pt x="3254502" y="1686306"/>
                  </a:lnTo>
                  <a:lnTo>
                    <a:pt x="3257550" y="1687068"/>
                  </a:lnTo>
                  <a:lnTo>
                    <a:pt x="3281172" y="1689354"/>
                  </a:lnTo>
                  <a:lnTo>
                    <a:pt x="3283458" y="1689354"/>
                  </a:lnTo>
                  <a:lnTo>
                    <a:pt x="3285744" y="1661160"/>
                  </a:lnTo>
                  <a:close/>
                </a:path>
                <a:path w="4500880" h="2902585">
                  <a:moveTo>
                    <a:pt x="3289554" y="698754"/>
                  </a:moveTo>
                  <a:lnTo>
                    <a:pt x="3285744" y="670560"/>
                  </a:lnTo>
                  <a:lnTo>
                    <a:pt x="3259074" y="673608"/>
                  </a:lnTo>
                  <a:lnTo>
                    <a:pt x="3257550" y="674370"/>
                  </a:lnTo>
                  <a:lnTo>
                    <a:pt x="3261360" y="702564"/>
                  </a:lnTo>
                  <a:lnTo>
                    <a:pt x="3263646" y="702564"/>
                  </a:lnTo>
                  <a:lnTo>
                    <a:pt x="3289554" y="698754"/>
                  </a:lnTo>
                  <a:close/>
                </a:path>
                <a:path w="4500880" h="2902585">
                  <a:moveTo>
                    <a:pt x="3342132" y="1664970"/>
                  </a:moveTo>
                  <a:lnTo>
                    <a:pt x="3331464" y="1664208"/>
                  </a:lnTo>
                  <a:lnTo>
                    <a:pt x="3313938" y="1663446"/>
                  </a:lnTo>
                  <a:lnTo>
                    <a:pt x="3312414" y="1691640"/>
                  </a:lnTo>
                  <a:lnTo>
                    <a:pt x="3329178" y="1693164"/>
                  </a:lnTo>
                  <a:lnTo>
                    <a:pt x="3341370" y="1693926"/>
                  </a:lnTo>
                  <a:lnTo>
                    <a:pt x="3342132" y="1664970"/>
                  </a:lnTo>
                  <a:close/>
                </a:path>
                <a:path w="4500880" h="2902585">
                  <a:moveTo>
                    <a:pt x="3345942" y="691896"/>
                  </a:moveTo>
                  <a:lnTo>
                    <a:pt x="3342894" y="662940"/>
                  </a:lnTo>
                  <a:lnTo>
                    <a:pt x="3339084" y="663702"/>
                  </a:lnTo>
                  <a:lnTo>
                    <a:pt x="3313938" y="666750"/>
                  </a:lnTo>
                  <a:lnTo>
                    <a:pt x="3317748" y="694944"/>
                  </a:lnTo>
                  <a:lnTo>
                    <a:pt x="3342894" y="691896"/>
                  </a:lnTo>
                  <a:lnTo>
                    <a:pt x="3345942" y="691896"/>
                  </a:lnTo>
                  <a:close/>
                </a:path>
                <a:path w="4500880" h="2902585">
                  <a:moveTo>
                    <a:pt x="3399282" y="1666494"/>
                  </a:moveTo>
                  <a:lnTo>
                    <a:pt x="3371088" y="1666494"/>
                  </a:lnTo>
                  <a:lnTo>
                    <a:pt x="3369564" y="1694688"/>
                  </a:lnTo>
                  <a:lnTo>
                    <a:pt x="3377946" y="1694688"/>
                  </a:lnTo>
                  <a:lnTo>
                    <a:pt x="3398520" y="1695450"/>
                  </a:lnTo>
                  <a:lnTo>
                    <a:pt x="3399282" y="1666494"/>
                  </a:lnTo>
                  <a:close/>
                </a:path>
                <a:path w="4500880" h="2902585">
                  <a:moveTo>
                    <a:pt x="3403092" y="685038"/>
                  </a:moveTo>
                  <a:lnTo>
                    <a:pt x="3399282" y="656844"/>
                  </a:lnTo>
                  <a:lnTo>
                    <a:pt x="3371088" y="659892"/>
                  </a:lnTo>
                  <a:lnTo>
                    <a:pt x="3374136" y="688086"/>
                  </a:lnTo>
                  <a:lnTo>
                    <a:pt x="3403092" y="685038"/>
                  </a:lnTo>
                  <a:close/>
                </a:path>
                <a:path w="4500880" h="2902585">
                  <a:moveTo>
                    <a:pt x="3457194" y="1693164"/>
                  </a:moveTo>
                  <a:lnTo>
                    <a:pt x="3454908" y="1664970"/>
                  </a:lnTo>
                  <a:lnTo>
                    <a:pt x="3450336" y="1664970"/>
                  </a:lnTo>
                  <a:lnTo>
                    <a:pt x="3428238" y="1666405"/>
                  </a:lnTo>
                  <a:lnTo>
                    <a:pt x="3426714" y="1666494"/>
                  </a:lnTo>
                  <a:lnTo>
                    <a:pt x="3428238" y="1694688"/>
                  </a:lnTo>
                  <a:lnTo>
                    <a:pt x="3450336" y="1693976"/>
                  </a:lnTo>
                  <a:lnTo>
                    <a:pt x="3451860" y="1693926"/>
                  </a:lnTo>
                  <a:lnTo>
                    <a:pt x="3457194" y="1693164"/>
                  </a:lnTo>
                  <a:close/>
                </a:path>
                <a:path w="4500880" h="2902585">
                  <a:moveTo>
                    <a:pt x="3459480" y="678942"/>
                  </a:moveTo>
                  <a:lnTo>
                    <a:pt x="3456432" y="650748"/>
                  </a:lnTo>
                  <a:lnTo>
                    <a:pt x="3428238" y="653796"/>
                  </a:lnTo>
                  <a:lnTo>
                    <a:pt x="3431286" y="681990"/>
                  </a:lnTo>
                  <a:lnTo>
                    <a:pt x="3459480" y="678942"/>
                  </a:lnTo>
                  <a:close/>
                </a:path>
                <a:path w="4500880" h="2902585">
                  <a:moveTo>
                    <a:pt x="3515106" y="1687068"/>
                  </a:moveTo>
                  <a:lnTo>
                    <a:pt x="3511296" y="1658874"/>
                  </a:lnTo>
                  <a:lnTo>
                    <a:pt x="3497580" y="1661160"/>
                  </a:lnTo>
                  <a:lnTo>
                    <a:pt x="3483102" y="1662684"/>
                  </a:lnTo>
                  <a:lnTo>
                    <a:pt x="3486150" y="1690878"/>
                  </a:lnTo>
                  <a:lnTo>
                    <a:pt x="3500628" y="1689354"/>
                  </a:lnTo>
                  <a:lnTo>
                    <a:pt x="3515106" y="1687068"/>
                  </a:lnTo>
                  <a:close/>
                </a:path>
                <a:path w="4500880" h="2902585">
                  <a:moveTo>
                    <a:pt x="3515868" y="672846"/>
                  </a:moveTo>
                  <a:lnTo>
                    <a:pt x="3513582" y="644652"/>
                  </a:lnTo>
                  <a:lnTo>
                    <a:pt x="3505962" y="645414"/>
                  </a:lnTo>
                  <a:lnTo>
                    <a:pt x="3484626" y="647700"/>
                  </a:lnTo>
                  <a:lnTo>
                    <a:pt x="3487674" y="675894"/>
                  </a:lnTo>
                  <a:lnTo>
                    <a:pt x="3509010" y="673608"/>
                  </a:lnTo>
                  <a:lnTo>
                    <a:pt x="3515868" y="672846"/>
                  </a:lnTo>
                  <a:close/>
                </a:path>
                <a:path w="4500880" h="2902585">
                  <a:moveTo>
                    <a:pt x="3572256" y="1677924"/>
                  </a:moveTo>
                  <a:lnTo>
                    <a:pt x="3566160" y="1649730"/>
                  </a:lnTo>
                  <a:lnTo>
                    <a:pt x="3544062" y="1653540"/>
                  </a:lnTo>
                  <a:lnTo>
                    <a:pt x="3538728" y="1655064"/>
                  </a:lnTo>
                  <a:lnTo>
                    <a:pt x="3543300" y="1683258"/>
                  </a:lnTo>
                  <a:lnTo>
                    <a:pt x="3548634" y="1681734"/>
                  </a:lnTo>
                  <a:lnTo>
                    <a:pt x="3572256" y="1677924"/>
                  </a:lnTo>
                  <a:close/>
                </a:path>
                <a:path w="4500880" h="2902585">
                  <a:moveTo>
                    <a:pt x="3573018" y="667512"/>
                  </a:moveTo>
                  <a:lnTo>
                    <a:pt x="3570732" y="639318"/>
                  </a:lnTo>
                  <a:lnTo>
                    <a:pt x="3541776" y="641604"/>
                  </a:lnTo>
                  <a:lnTo>
                    <a:pt x="3544824" y="670560"/>
                  </a:lnTo>
                  <a:lnTo>
                    <a:pt x="3573018" y="667512"/>
                  </a:lnTo>
                  <a:close/>
                </a:path>
                <a:path w="4500880" h="2902585">
                  <a:moveTo>
                    <a:pt x="3628644" y="1663446"/>
                  </a:moveTo>
                  <a:lnTo>
                    <a:pt x="3621024" y="1636014"/>
                  </a:lnTo>
                  <a:lnTo>
                    <a:pt x="3611880" y="1639062"/>
                  </a:lnTo>
                  <a:lnTo>
                    <a:pt x="3593592" y="1643634"/>
                  </a:lnTo>
                  <a:lnTo>
                    <a:pt x="3600450" y="1671066"/>
                  </a:lnTo>
                  <a:lnTo>
                    <a:pt x="3618738" y="1666494"/>
                  </a:lnTo>
                  <a:lnTo>
                    <a:pt x="3628644" y="1663446"/>
                  </a:lnTo>
                  <a:close/>
                </a:path>
                <a:path w="4500880" h="2902585">
                  <a:moveTo>
                    <a:pt x="3630168" y="662178"/>
                  </a:moveTo>
                  <a:lnTo>
                    <a:pt x="3627120" y="633984"/>
                  </a:lnTo>
                  <a:lnTo>
                    <a:pt x="3598926" y="636270"/>
                  </a:lnTo>
                  <a:lnTo>
                    <a:pt x="3601212" y="665226"/>
                  </a:lnTo>
                  <a:lnTo>
                    <a:pt x="3630168" y="662178"/>
                  </a:lnTo>
                  <a:close/>
                </a:path>
                <a:path w="4500880" h="2902585">
                  <a:moveTo>
                    <a:pt x="3683508" y="1646682"/>
                  </a:moveTo>
                  <a:lnTo>
                    <a:pt x="3674364" y="1619250"/>
                  </a:lnTo>
                  <a:lnTo>
                    <a:pt x="3654552" y="1626108"/>
                  </a:lnTo>
                  <a:lnTo>
                    <a:pt x="3647694" y="1628394"/>
                  </a:lnTo>
                  <a:lnTo>
                    <a:pt x="3656076" y="1655826"/>
                  </a:lnTo>
                  <a:lnTo>
                    <a:pt x="3683508" y="1646682"/>
                  </a:lnTo>
                  <a:close/>
                </a:path>
                <a:path w="4500880" h="2902585">
                  <a:moveTo>
                    <a:pt x="3686556" y="657606"/>
                  </a:moveTo>
                  <a:lnTo>
                    <a:pt x="3684270" y="629412"/>
                  </a:lnTo>
                  <a:lnTo>
                    <a:pt x="3679698" y="629412"/>
                  </a:lnTo>
                  <a:lnTo>
                    <a:pt x="3656076" y="631698"/>
                  </a:lnTo>
                  <a:lnTo>
                    <a:pt x="3658362" y="659892"/>
                  </a:lnTo>
                  <a:lnTo>
                    <a:pt x="3681984" y="658368"/>
                  </a:lnTo>
                  <a:lnTo>
                    <a:pt x="3686556" y="657606"/>
                  </a:lnTo>
                  <a:close/>
                </a:path>
                <a:path w="4500880" h="2902585">
                  <a:moveTo>
                    <a:pt x="3737610" y="1624584"/>
                  </a:moveTo>
                  <a:lnTo>
                    <a:pt x="3726180" y="1598676"/>
                  </a:lnTo>
                  <a:lnTo>
                    <a:pt x="3714750" y="1603248"/>
                  </a:lnTo>
                  <a:lnTo>
                    <a:pt x="3700272" y="1609344"/>
                  </a:lnTo>
                  <a:lnTo>
                    <a:pt x="3710940" y="1636014"/>
                  </a:lnTo>
                  <a:lnTo>
                    <a:pt x="3725418" y="1629918"/>
                  </a:lnTo>
                  <a:lnTo>
                    <a:pt x="3737610" y="1624584"/>
                  </a:lnTo>
                  <a:close/>
                </a:path>
                <a:path w="4500880" h="2902585">
                  <a:moveTo>
                    <a:pt x="3743706" y="653796"/>
                  </a:moveTo>
                  <a:lnTo>
                    <a:pt x="3741420" y="624840"/>
                  </a:lnTo>
                  <a:lnTo>
                    <a:pt x="3713226" y="627126"/>
                  </a:lnTo>
                  <a:lnTo>
                    <a:pt x="3715512" y="655320"/>
                  </a:lnTo>
                  <a:lnTo>
                    <a:pt x="3741420" y="653923"/>
                  </a:lnTo>
                  <a:lnTo>
                    <a:pt x="3743706" y="653796"/>
                  </a:lnTo>
                  <a:close/>
                </a:path>
                <a:path w="4500880" h="2902585">
                  <a:moveTo>
                    <a:pt x="3790188" y="1597914"/>
                  </a:moveTo>
                  <a:lnTo>
                    <a:pt x="3775710" y="1572768"/>
                  </a:lnTo>
                  <a:lnTo>
                    <a:pt x="3768852" y="1577340"/>
                  </a:lnTo>
                  <a:lnTo>
                    <a:pt x="3752088" y="1586484"/>
                  </a:lnTo>
                  <a:lnTo>
                    <a:pt x="3764280" y="1611630"/>
                  </a:lnTo>
                  <a:lnTo>
                    <a:pt x="3782568" y="1602486"/>
                  </a:lnTo>
                  <a:lnTo>
                    <a:pt x="3790188" y="1597914"/>
                  </a:lnTo>
                  <a:close/>
                </a:path>
                <a:path w="4500880" h="2902585">
                  <a:moveTo>
                    <a:pt x="3800856" y="649224"/>
                  </a:moveTo>
                  <a:lnTo>
                    <a:pt x="3798570" y="621030"/>
                  </a:lnTo>
                  <a:lnTo>
                    <a:pt x="3771900" y="622477"/>
                  </a:lnTo>
                  <a:lnTo>
                    <a:pt x="3770376" y="622554"/>
                  </a:lnTo>
                  <a:lnTo>
                    <a:pt x="3771900" y="651510"/>
                  </a:lnTo>
                  <a:lnTo>
                    <a:pt x="3800856" y="649224"/>
                  </a:lnTo>
                  <a:close/>
                </a:path>
                <a:path w="4500880" h="2902585">
                  <a:moveTo>
                    <a:pt x="3839718" y="1565910"/>
                  </a:moveTo>
                  <a:lnTo>
                    <a:pt x="3822192" y="1543050"/>
                  </a:lnTo>
                  <a:lnTo>
                    <a:pt x="3816096" y="1547622"/>
                  </a:lnTo>
                  <a:lnTo>
                    <a:pt x="3801618" y="1557528"/>
                  </a:lnTo>
                  <a:lnTo>
                    <a:pt x="3800094" y="1558290"/>
                  </a:lnTo>
                  <a:lnTo>
                    <a:pt x="3815334" y="1582674"/>
                  </a:lnTo>
                  <a:lnTo>
                    <a:pt x="3816096" y="1581912"/>
                  </a:lnTo>
                  <a:lnTo>
                    <a:pt x="3832098" y="1571244"/>
                  </a:lnTo>
                  <a:lnTo>
                    <a:pt x="3839718" y="1565910"/>
                  </a:lnTo>
                  <a:close/>
                </a:path>
                <a:path w="4500880" h="2902585">
                  <a:moveTo>
                    <a:pt x="3857244" y="645414"/>
                  </a:moveTo>
                  <a:lnTo>
                    <a:pt x="3855720" y="617220"/>
                  </a:lnTo>
                  <a:lnTo>
                    <a:pt x="3829050" y="618667"/>
                  </a:lnTo>
                  <a:lnTo>
                    <a:pt x="3827526" y="618744"/>
                  </a:lnTo>
                  <a:lnTo>
                    <a:pt x="3829050" y="647700"/>
                  </a:lnTo>
                  <a:lnTo>
                    <a:pt x="3855720" y="645541"/>
                  </a:lnTo>
                  <a:lnTo>
                    <a:pt x="3857244" y="645414"/>
                  </a:lnTo>
                  <a:close/>
                </a:path>
                <a:path w="4500880" h="2902585">
                  <a:moveTo>
                    <a:pt x="3883914" y="1526286"/>
                  </a:moveTo>
                  <a:lnTo>
                    <a:pt x="3863340" y="1506474"/>
                  </a:lnTo>
                  <a:lnTo>
                    <a:pt x="3854196" y="1516380"/>
                  </a:lnTo>
                  <a:lnTo>
                    <a:pt x="3843528" y="1525524"/>
                  </a:lnTo>
                  <a:lnTo>
                    <a:pt x="3862578" y="1546860"/>
                  </a:lnTo>
                  <a:lnTo>
                    <a:pt x="3873246" y="1536954"/>
                  </a:lnTo>
                  <a:lnTo>
                    <a:pt x="3883914" y="1526286"/>
                  </a:lnTo>
                  <a:close/>
                </a:path>
                <a:path w="4500880" h="2902585">
                  <a:moveTo>
                    <a:pt x="3914394" y="642366"/>
                  </a:moveTo>
                  <a:lnTo>
                    <a:pt x="3912870" y="614172"/>
                  </a:lnTo>
                  <a:lnTo>
                    <a:pt x="3886200" y="615619"/>
                  </a:lnTo>
                  <a:lnTo>
                    <a:pt x="3884676" y="615696"/>
                  </a:lnTo>
                  <a:lnTo>
                    <a:pt x="3886200" y="643890"/>
                  </a:lnTo>
                  <a:lnTo>
                    <a:pt x="3912870" y="642454"/>
                  </a:lnTo>
                  <a:lnTo>
                    <a:pt x="3914394" y="642366"/>
                  </a:lnTo>
                  <a:close/>
                </a:path>
                <a:path w="4500880" h="2902585">
                  <a:moveTo>
                    <a:pt x="3928872" y="1514094"/>
                  </a:moveTo>
                  <a:lnTo>
                    <a:pt x="3919728" y="1418844"/>
                  </a:lnTo>
                  <a:lnTo>
                    <a:pt x="3848862" y="1483614"/>
                  </a:lnTo>
                  <a:lnTo>
                    <a:pt x="3877056" y="1494358"/>
                  </a:lnTo>
                  <a:lnTo>
                    <a:pt x="3906774" y="1505686"/>
                  </a:lnTo>
                  <a:lnTo>
                    <a:pt x="3928872" y="1514094"/>
                  </a:lnTo>
                  <a:close/>
                </a:path>
                <a:path w="4500880" h="2902585">
                  <a:moveTo>
                    <a:pt x="3971544" y="639318"/>
                  </a:moveTo>
                  <a:lnTo>
                    <a:pt x="3970020" y="611124"/>
                  </a:lnTo>
                  <a:lnTo>
                    <a:pt x="3952494" y="611835"/>
                  </a:lnTo>
                  <a:lnTo>
                    <a:pt x="3950970" y="611886"/>
                  </a:lnTo>
                  <a:lnTo>
                    <a:pt x="3943350" y="612521"/>
                  </a:lnTo>
                  <a:lnTo>
                    <a:pt x="3941826" y="612648"/>
                  </a:lnTo>
                  <a:lnTo>
                    <a:pt x="3943350" y="640842"/>
                  </a:lnTo>
                  <a:lnTo>
                    <a:pt x="3950970" y="640207"/>
                  </a:lnTo>
                  <a:lnTo>
                    <a:pt x="3952494" y="640080"/>
                  </a:lnTo>
                  <a:lnTo>
                    <a:pt x="3970020" y="639381"/>
                  </a:lnTo>
                  <a:lnTo>
                    <a:pt x="3971544" y="639318"/>
                  </a:lnTo>
                  <a:close/>
                </a:path>
                <a:path w="4500880" h="2902585">
                  <a:moveTo>
                    <a:pt x="4028694" y="637032"/>
                  </a:moveTo>
                  <a:lnTo>
                    <a:pt x="4027170" y="608076"/>
                  </a:lnTo>
                  <a:lnTo>
                    <a:pt x="3999738" y="609561"/>
                  </a:lnTo>
                  <a:lnTo>
                    <a:pt x="3998976" y="609600"/>
                  </a:lnTo>
                  <a:lnTo>
                    <a:pt x="3999738" y="638556"/>
                  </a:lnTo>
                  <a:lnTo>
                    <a:pt x="4027170" y="637120"/>
                  </a:lnTo>
                  <a:lnTo>
                    <a:pt x="4028694" y="637032"/>
                  </a:lnTo>
                  <a:close/>
                </a:path>
                <a:path w="4500880" h="2902585">
                  <a:moveTo>
                    <a:pt x="4085844" y="634746"/>
                  </a:moveTo>
                  <a:lnTo>
                    <a:pt x="4084320" y="606552"/>
                  </a:lnTo>
                  <a:lnTo>
                    <a:pt x="4056888" y="607301"/>
                  </a:lnTo>
                  <a:lnTo>
                    <a:pt x="4056126" y="607314"/>
                  </a:lnTo>
                  <a:lnTo>
                    <a:pt x="4056888" y="635508"/>
                  </a:lnTo>
                  <a:lnTo>
                    <a:pt x="4084320" y="634796"/>
                  </a:lnTo>
                  <a:lnTo>
                    <a:pt x="4085844" y="634746"/>
                  </a:lnTo>
                  <a:close/>
                </a:path>
                <a:path w="4500880" h="2902585">
                  <a:moveTo>
                    <a:pt x="4142232" y="632460"/>
                  </a:moveTo>
                  <a:lnTo>
                    <a:pt x="4141470" y="604266"/>
                  </a:lnTo>
                  <a:lnTo>
                    <a:pt x="4136898" y="604266"/>
                  </a:lnTo>
                  <a:lnTo>
                    <a:pt x="4114038" y="605015"/>
                  </a:lnTo>
                  <a:lnTo>
                    <a:pt x="4113276" y="605028"/>
                  </a:lnTo>
                  <a:lnTo>
                    <a:pt x="4114038" y="633984"/>
                  </a:lnTo>
                  <a:lnTo>
                    <a:pt x="4136898" y="633272"/>
                  </a:lnTo>
                  <a:lnTo>
                    <a:pt x="4138422" y="633222"/>
                  </a:lnTo>
                  <a:lnTo>
                    <a:pt x="4142232" y="632460"/>
                  </a:lnTo>
                  <a:close/>
                </a:path>
                <a:path w="4500880" h="2902585">
                  <a:moveTo>
                    <a:pt x="4199382" y="630936"/>
                  </a:moveTo>
                  <a:lnTo>
                    <a:pt x="4198620" y="602742"/>
                  </a:lnTo>
                  <a:lnTo>
                    <a:pt x="4171188" y="603491"/>
                  </a:lnTo>
                  <a:lnTo>
                    <a:pt x="4170426" y="603504"/>
                  </a:lnTo>
                  <a:lnTo>
                    <a:pt x="4171188" y="631698"/>
                  </a:lnTo>
                  <a:lnTo>
                    <a:pt x="4198620" y="630961"/>
                  </a:lnTo>
                  <a:lnTo>
                    <a:pt x="4199382" y="630936"/>
                  </a:lnTo>
                  <a:close/>
                </a:path>
                <a:path w="4500880" h="2902585">
                  <a:moveTo>
                    <a:pt x="4256532" y="601218"/>
                  </a:moveTo>
                  <a:lnTo>
                    <a:pt x="4230624" y="601980"/>
                  </a:lnTo>
                  <a:lnTo>
                    <a:pt x="4227576" y="601980"/>
                  </a:lnTo>
                  <a:lnTo>
                    <a:pt x="4228338" y="630174"/>
                  </a:lnTo>
                  <a:lnTo>
                    <a:pt x="4256532" y="630174"/>
                  </a:lnTo>
                  <a:lnTo>
                    <a:pt x="4256532" y="601218"/>
                  </a:lnTo>
                  <a:close/>
                </a:path>
                <a:path w="4500880" h="2902585">
                  <a:moveTo>
                    <a:pt x="4313682" y="629412"/>
                  </a:moveTo>
                  <a:lnTo>
                    <a:pt x="4312920" y="600456"/>
                  </a:lnTo>
                  <a:lnTo>
                    <a:pt x="4285488" y="601205"/>
                  </a:lnTo>
                  <a:lnTo>
                    <a:pt x="4284726" y="601218"/>
                  </a:lnTo>
                  <a:lnTo>
                    <a:pt x="4285488" y="629412"/>
                  </a:lnTo>
                  <a:lnTo>
                    <a:pt x="4313682" y="629412"/>
                  </a:lnTo>
                  <a:close/>
                </a:path>
                <a:path w="4500880" h="2902585">
                  <a:moveTo>
                    <a:pt x="4419600" y="614172"/>
                  </a:moveTo>
                  <a:lnTo>
                    <a:pt x="4333494" y="571500"/>
                  </a:lnTo>
                  <a:lnTo>
                    <a:pt x="4334256" y="657606"/>
                  </a:lnTo>
                  <a:lnTo>
                    <a:pt x="4341876" y="653732"/>
                  </a:lnTo>
                  <a:lnTo>
                    <a:pt x="4347972" y="650633"/>
                  </a:lnTo>
                  <a:lnTo>
                    <a:pt x="4419600" y="614172"/>
                  </a:lnTo>
                  <a:close/>
                </a:path>
                <a:path w="4500880" h="2902585">
                  <a:moveTo>
                    <a:pt x="4495800" y="461772"/>
                  </a:moveTo>
                  <a:lnTo>
                    <a:pt x="4442460" y="395478"/>
                  </a:lnTo>
                  <a:lnTo>
                    <a:pt x="4428591" y="425196"/>
                  </a:lnTo>
                  <a:lnTo>
                    <a:pt x="3507486" y="0"/>
                  </a:lnTo>
                  <a:lnTo>
                    <a:pt x="3503676" y="0"/>
                  </a:lnTo>
                  <a:lnTo>
                    <a:pt x="3500628" y="2286"/>
                  </a:lnTo>
                  <a:lnTo>
                    <a:pt x="3500628" y="6096"/>
                  </a:lnTo>
                  <a:lnTo>
                    <a:pt x="3502914" y="9144"/>
                  </a:lnTo>
                  <a:lnTo>
                    <a:pt x="4424400" y="434162"/>
                  </a:lnTo>
                  <a:lnTo>
                    <a:pt x="4410456" y="464058"/>
                  </a:lnTo>
                  <a:lnTo>
                    <a:pt x="4436364" y="463372"/>
                  </a:lnTo>
                  <a:lnTo>
                    <a:pt x="4440174" y="463270"/>
                  </a:lnTo>
                  <a:lnTo>
                    <a:pt x="4442460" y="463207"/>
                  </a:lnTo>
                  <a:lnTo>
                    <a:pt x="4495800" y="461772"/>
                  </a:lnTo>
                  <a:close/>
                </a:path>
                <a:path w="4500880" h="2902585">
                  <a:moveTo>
                    <a:pt x="4500372" y="689610"/>
                  </a:moveTo>
                  <a:lnTo>
                    <a:pt x="4498848" y="686562"/>
                  </a:lnTo>
                  <a:lnTo>
                    <a:pt x="4495038" y="685800"/>
                  </a:lnTo>
                  <a:lnTo>
                    <a:pt x="4491990" y="687324"/>
                  </a:lnTo>
                  <a:lnTo>
                    <a:pt x="4084294" y="1162964"/>
                  </a:lnTo>
                  <a:lnTo>
                    <a:pt x="4059174" y="1141476"/>
                  </a:lnTo>
                  <a:lnTo>
                    <a:pt x="4038600" y="1223772"/>
                  </a:lnTo>
                  <a:lnTo>
                    <a:pt x="4075176" y="1208506"/>
                  </a:lnTo>
                  <a:lnTo>
                    <a:pt x="4117086" y="1191006"/>
                  </a:lnTo>
                  <a:lnTo>
                    <a:pt x="4091698" y="1169314"/>
                  </a:lnTo>
                  <a:lnTo>
                    <a:pt x="4499610" y="693420"/>
                  </a:lnTo>
                  <a:lnTo>
                    <a:pt x="4500372" y="689610"/>
                  </a:lnTo>
                  <a:close/>
                </a:path>
              </a:pathLst>
            </a:custGeom>
            <a:solidFill>
              <a:srgbClr val="000000"/>
            </a:solidFill>
          </p:spPr>
          <p:txBody>
            <a:bodyPr wrap="square" lIns="0" tIns="0" rIns="0" bIns="0" rtlCol="0"/>
            <a:lstStyle/>
            <a:p>
              <a:endParaRPr sz="1805"/>
            </a:p>
          </p:txBody>
        </p:sp>
      </p:grpSp>
      <p:sp>
        <p:nvSpPr>
          <p:cNvPr id="17" name="object 17"/>
          <p:cNvSpPr txBox="1"/>
          <p:nvPr/>
        </p:nvSpPr>
        <p:spPr>
          <a:xfrm>
            <a:off x="5568671" y="1920112"/>
            <a:ext cx="401801" cy="300555"/>
          </a:xfrm>
          <a:prstGeom prst="rect">
            <a:avLst/>
          </a:prstGeom>
        </p:spPr>
        <p:txBody>
          <a:bodyPr vert="horz" wrap="square" lIns="0" tIns="12735" rIns="0" bIns="0" rtlCol="0">
            <a:spAutoFit/>
          </a:bodyPr>
          <a:lstStyle/>
          <a:p>
            <a:pPr marL="12736">
              <a:spcBef>
                <a:spcPts val="100"/>
              </a:spcBef>
            </a:pPr>
            <a:r>
              <a:rPr sz="1805" b="1" spc="-20" dirty="0">
                <a:latin typeface="Palatino Linotype"/>
                <a:cs typeface="Palatino Linotype"/>
              </a:rPr>
              <a:t>I2:7</a:t>
            </a:r>
            <a:endParaRPr sz="1805">
              <a:latin typeface="Palatino Linotype"/>
              <a:cs typeface="Palatino Linotype"/>
            </a:endParaRPr>
          </a:p>
        </p:txBody>
      </p:sp>
      <p:sp>
        <p:nvSpPr>
          <p:cNvPr id="18" name="object 18"/>
          <p:cNvSpPr txBox="1"/>
          <p:nvPr/>
        </p:nvSpPr>
        <p:spPr>
          <a:xfrm>
            <a:off x="7861039" y="1996448"/>
            <a:ext cx="401801" cy="300555"/>
          </a:xfrm>
          <a:prstGeom prst="rect">
            <a:avLst/>
          </a:prstGeom>
        </p:spPr>
        <p:txBody>
          <a:bodyPr vert="horz" wrap="square" lIns="0" tIns="12735" rIns="0" bIns="0" rtlCol="0">
            <a:spAutoFit/>
          </a:bodyPr>
          <a:lstStyle/>
          <a:p>
            <a:pPr marL="12736">
              <a:spcBef>
                <a:spcPts val="100"/>
              </a:spcBef>
            </a:pPr>
            <a:r>
              <a:rPr sz="1805" b="1" spc="-20" dirty="0">
                <a:latin typeface="Palatino Linotype"/>
                <a:cs typeface="Palatino Linotype"/>
              </a:rPr>
              <a:t>I1:2</a:t>
            </a:r>
            <a:endParaRPr sz="1805">
              <a:latin typeface="Palatino Linotype"/>
              <a:cs typeface="Palatino Linotype"/>
            </a:endParaRPr>
          </a:p>
        </p:txBody>
      </p:sp>
      <p:sp>
        <p:nvSpPr>
          <p:cNvPr id="19" name="object 19"/>
          <p:cNvSpPr txBox="1"/>
          <p:nvPr/>
        </p:nvSpPr>
        <p:spPr>
          <a:xfrm>
            <a:off x="4804625" y="2684158"/>
            <a:ext cx="401801" cy="300555"/>
          </a:xfrm>
          <a:prstGeom prst="rect">
            <a:avLst/>
          </a:prstGeom>
        </p:spPr>
        <p:txBody>
          <a:bodyPr vert="horz" wrap="square" lIns="0" tIns="12735" rIns="0" bIns="0" rtlCol="0">
            <a:spAutoFit/>
          </a:bodyPr>
          <a:lstStyle/>
          <a:p>
            <a:pPr marL="12736">
              <a:spcBef>
                <a:spcPts val="100"/>
              </a:spcBef>
            </a:pPr>
            <a:r>
              <a:rPr sz="1805" b="1" spc="-20" dirty="0">
                <a:latin typeface="Palatino Linotype"/>
                <a:cs typeface="Palatino Linotype"/>
              </a:rPr>
              <a:t>I1:4</a:t>
            </a:r>
            <a:endParaRPr sz="1805">
              <a:latin typeface="Palatino Linotype"/>
              <a:cs typeface="Palatino Linotype"/>
            </a:endParaRPr>
          </a:p>
        </p:txBody>
      </p:sp>
      <p:sp>
        <p:nvSpPr>
          <p:cNvPr id="20" name="object 20"/>
          <p:cNvSpPr txBox="1"/>
          <p:nvPr/>
        </p:nvSpPr>
        <p:spPr>
          <a:xfrm>
            <a:off x="5874473" y="2913395"/>
            <a:ext cx="401801" cy="300555"/>
          </a:xfrm>
          <a:prstGeom prst="rect">
            <a:avLst/>
          </a:prstGeom>
        </p:spPr>
        <p:txBody>
          <a:bodyPr vert="horz" wrap="square" lIns="0" tIns="12735" rIns="0" bIns="0" rtlCol="0">
            <a:spAutoFit/>
          </a:bodyPr>
          <a:lstStyle/>
          <a:p>
            <a:pPr marL="12736">
              <a:spcBef>
                <a:spcPts val="100"/>
              </a:spcBef>
            </a:pPr>
            <a:r>
              <a:rPr sz="1805" b="1" spc="-20" dirty="0">
                <a:latin typeface="Palatino Linotype"/>
                <a:cs typeface="Palatino Linotype"/>
              </a:rPr>
              <a:t>I3:2</a:t>
            </a:r>
            <a:endParaRPr sz="1805">
              <a:latin typeface="Palatino Linotype"/>
              <a:cs typeface="Palatino Linotype"/>
            </a:endParaRPr>
          </a:p>
        </p:txBody>
      </p:sp>
      <p:sp>
        <p:nvSpPr>
          <p:cNvPr id="21" name="object 21"/>
          <p:cNvSpPr txBox="1"/>
          <p:nvPr/>
        </p:nvSpPr>
        <p:spPr>
          <a:xfrm>
            <a:off x="6562183" y="2837059"/>
            <a:ext cx="401801" cy="300555"/>
          </a:xfrm>
          <a:prstGeom prst="rect">
            <a:avLst/>
          </a:prstGeom>
        </p:spPr>
        <p:txBody>
          <a:bodyPr vert="horz" wrap="square" lIns="0" tIns="12735" rIns="0" bIns="0" rtlCol="0">
            <a:spAutoFit/>
          </a:bodyPr>
          <a:lstStyle/>
          <a:p>
            <a:pPr marL="12736">
              <a:spcBef>
                <a:spcPts val="100"/>
              </a:spcBef>
            </a:pPr>
            <a:r>
              <a:rPr sz="1805" b="1" spc="-20" dirty="0">
                <a:latin typeface="Palatino Linotype"/>
                <a:cs typeface="Palatino Linotype"/>
              </a:rPr>
              <a:t>I4:1</a:t>
            </a:r>
            <a:endParaRPr sz="1805">
              <a:latin typeface="Palatino Linotype"/>
              <a:cs typeface="Palatino Linotype"/>
            </a:endParaRPr>
          </a:p>
        </p:txBody>
      </p:sp>
      <p:sp>
        <p:nvSpPr>
          <p:cNvPr id="22" name="object 22"/>
          <p:cNvSpPr txBox="1"/>
          <p:nvPr/>
        </p:nvSpPr>
        <p:spPr>
          <a:xfrm>
            <a:off x="5110426" y="4059579"/>
            <a:ext cx="401801" cy="300555"/>
          </a:xfrm>
          <a:prstGeom prst="rect">
            <a:avLst/>
          </a:prstGeom>
        </p:spPr>
        <p:txBody>
          <a:bodyPr vert="horz" wrap="square" lIns="0" tIns="12735" rIns="0" bIns="0" rtlCol="0">
            <a:spAutoFit/>
          </a:bodyPr>
          <a:lstStyle/>
          <a:p>
            <a:pPr marL="12736">
              <a:spcBef>
                <a:spcPts val="100"/>
              </a:spcBef>
            </a:pPr>
            <a:r>
              <a:rPr sz="1805" b="1" spc="-20" dirty="0">
                <a:latin typeface="Palatino Linotype"/>
                <a:cs typeface="Palatino Linotype"/>
              </a:rPr>
              <a:t>I3:2</a:t>
            </a:r>
            <a:endParaRPr sz="1805">
              <a:latin typeface="Palatino Linotype"/>
              <a:cs typeface="Palatino Linotype"/>
            </a:endParaRPr>
          </a:p>
        </p:txBody>
      </p:sp>
      <p:sp>
        <p:nvSpPr>
          <p:cNvPr id="23" name="object 23"/>
          <p:cNvSpPr txBox="1"/>
          <p:nvPr/>
        </p:nvSpPr>
        <p:spPr>
          <a:xfrm>
            <a:off x="5798136" y="4135915"/>
            <a:ext cx="401801" cy="300555"/>
          </a:xfrm>
          <a:prstGeom prst="rect">
            <a:avLst/>
          </a:prstGeom>
        </p:spPr>
        <p:txBody>
          <a:bodyPr vert="horz" wrap="square" lIns="0" tIns="12735" rIns="0" bIns="0" rtlCol="0">
            <a:spAutoFit/>
          </a:bodyPr>
          <a:lstStyle/>
          <a:p>
            <a:pPr marL="12736">
              <a:spcBef>
                <a:spcPts val="100"/>
              </a:spcBef>
            </a:pPr>
            <a:r>
              <a:rPr sz="1805" b="1" spc="-20" dirty="0">
                <a:latin typeface="Palatino Linotype"/>
                <a:cs typeface="Palatino Linotype"/>
              </a:rPr>
              <a:t>I4:1</a:t>
            </a:r>
            <a:endParaRPr sz="1805">
              <a:latin typeface="Palatino Linotype"/>
              <a:cs typeface="Palatino Linotype"/>
            </a:endParaRPr>
          </a:p>
        </p:txBody>
      </p:sp>
      <p:sp>
        <p:nvSpPr>
          <p:cNvPr id="24" name="object 24"/>
          <p:cNvSpPr txBox="1"/>
          <p:nvPr/>
        </p:nvSpPr>
        <p:spPr>
          <a:xfrm>
            <a:off x="6485617" y="1385234"/>
            <a:ext cx="601110" cy="300555"/>
          </a:xfrm>
          <a:prstGeom prst="rect">
            <a:avLst/>
          </a:prstGeom>
        </p:spPr>
        <p:txBody>
          <a:bodyPr vert="horz" wrap="square" lIns="0" tIns="12735" rIns="0" bIns="0" rtlCol="0">
            <a:spAutoFit/>
          </a:bodyPr>
          <a:lstStyle/>
          <a:p>
            <a:pPr marL="12736">
              <a:spcBef>
                <a:spcPts val="100"/>
              </a:spcBef>
            </a:pPr>
            <a:r>
              <a:rPr sz="1805" b="1" spc="-10" dirty="0">
                <a:latin typeface="Palatino Linotype"/>
                <a:cs typeface="Palatino Linotype"/>
              </a:rPr>
              <a:t>null{}</a:t>
            </a:r>
            <a:endParaRPr sz="1805">
              <a:latin typeface="Palatino Linotype"/>
              <a:cs typeface="Palatino Linotype"/>
            </a:endParaRPr>
          </a:p>
        </p:txBody>
      </p:sp>
      <p:sp>
        <p:nvSpPr>
          <p:cNvPr id="25" name="object 25"/>
          <p:cNvSpPr txBox="1"/>
          <p:nvPr/>
        </p:nvSpPr>
        <p:spPr>
          <a:xfrm>
            <a:off x="7402587" y="3448388"/>
            <a:ext cx="401801" cy="300555"/>
          </a:xfrm>
          <a:prstGeom prst="rect">
            <a:avLst/>
          </a:prstGeom>
        </p:spPr>
        <p:txBody>
          <a:bodyPr vert="horz" wrap="square" lIns="0" tIns="12735" rIns="0" bIns="0" rtlCol="0">
            <a:spAutoFit/>
          </a:bodyPr>
          <a:lstStyle/>
          <a:p>
            <a:pPr marL="12736">
              <a:spcBef>
                <a:spcPts val="100"/>
              </a:spcBef>
            </a:pPr>
            <a:r>
              <a:rPr sz="1805" b="1" spc="-20" dirty="0">
                <a:latin typeface="Palatino Linotype"/>
                <a:cs typeface="Palatino Linotype"/>
              </a:rPr>
              <a:t>I3:2</a:t>
            </a:r>
            <a:endParaRPr sz="1805">
              <a:latin typeface="Palatino Linotype"/>
              <a:cs typeface="Palatino Linotype"/>
            </a:endParaRPr>
          </a:p>
        </p:txBody>
      </p:sp>
      <p:sp>
        <p:nvSpPr>
          <p:cNvPr id="26" name="object 26"/>
          <p:cNvSpPr txBox="1"/>
          <p:nvPr/>
        </p:nvSpPr>
        <p:spPr>
          <a:xfrm>
            <a:off x="3811204" y="4441739"/>
            <a:ext cx="401801" cy="300555"/>
          </a:xfrm>
          <a:prstGeom prst="rect">
            <a:avLst/>
          </a:prstGeom>
        </p:spPr>
        <p:txBody>
          <a:bodyPr vert="horz" wrap="square" lIns="0" tIns="12735" rIns="0" bIns="0" rtlCol="0">
            <a:spAutoFit/>
          </a:bodyPr>
          <a:lstStyle/>
          <a:p>
            <a:pPr marL="12736">
              <a:spcBef>
                <a:spcPts val="100"/>
              </a:spcBef>
            </a:pPr>
            <a:r>
              <a:rPr sz="1805" b="1" spc="-20" dirty="0">
                <a:latin typeface="Palatino Linotype"/>
                <a:cs typeface="Palatino Linotype"/>
              </a:rPr>
              <a:t>I5:1</a:t>
            </a:r>
            <a:endParaRPr sz="1805">
              <a:latin typeface="Palatino Linotype"/>
              <a:cs typeface="Palatino Linotype"/>
            </a:endParaRPr>
          </a:p>
        </p:txBody>
      </p:sp>
      <p:sp>
        <p:nvSpPr>
          <p:cNvPr id="27" name="object 27"/>
          <p:cNvSpPr txBox="1"/>
          <p:nvPr/>
        </p:nvSpPr>
        <p:spPr>
          <a:xfrm>
            <a:off x="626326" y="4670977"/>
            <a:ext cx="7814427" cy="811880"/>
          </a:xfrm>
          <a:prstGeom prst="rect">
            <a:avLst/>
          </a:prstGeom>
        </p:spPr>
        <p:txBody>
          <a:bodyPr vert="horz" wrap="square" lIns="0" tIns="12735" rIns="0" bIns="0" rtlCol="0">
            <a:spAutoFit/>
          </a:bodyPr>
          <a:lstStyle/>
          <a:p>
            <a:pPr marL="4954770">
              <a:spcBef>
                <a:spcPts val="100"/>
              </a:spcBef>
            </a:pPr>
            <a:r>
              <a:rPr sz="1805" b="1" spc="-20" dirty="0">
                <a:latin typeface="Palatino Linotype"/>
                <a:cs typeface="Palatino Linotype"/>
              </a:rPr>
              <a:t>I5:1</a:t>
            </a:r>
            <a:endParaRPr sz="1805">
              <a:latin typeface="Palatino Linotype"/>
              <a:cs typeface="Palatino Linotype"/>
            </a:endParaRPr>
          </a:p>
          <a:p>
            <a:pPr marL="12736">
              <a:spcBef>
                <a:spcPts val="1735"/>
              </a:spcBef>
            </a:pPr>
            <a:r>
              <a:rPr sz="1905" b="1" dirty="0">
                <a:latin typeface="Arial"/>
                <a:cs typeface="Arial"/>
              </a:rPr>
              <a:t>An</a:t>
            </a:r>
            <a:r>
              <a:rPr sz="1905" b="1" spc="-55" dirty="0">
                <a:latin typeface="Arial"/>
                <a:cs typeface="Arial"/>
              </a:rPr>
              <a:t> </a:t>
            </a:r>
            <a:r>
              <a:rPr sz="1905" b="1" spc="-20" dirty="0">
                <a:latin typeface="Arial"/>
                <a:cs typeface="Arial"/>
              </a:rPr>
              <a:t>FP-</a:t>
            </a:r>
            <a:r>
              <a:rPr sz="1905" b="1" dirty="0">
                <a:latin typeface="Arial"/>
                <a:cs typeface="Arial"/>
              </a:rPr>
              <a:t>Tree</a:t>
            </a:r>
            <a:r>
              <a:rPr sz="1905" b="1" spc="-55" dirty="0">
                <a:latin typeface="Arial"/>
                <a:cs typeface="Arial"/>
              </a:rPr>
              <a:t> </a:t>
            </a:r>
            <a:r>
              <a:rPr sz="1905" b="1" dirty="0">
                <a:latin typeface="Arial"/>
                <a:cs typeface="Arial"/>
              </a:rPr>
              <a:t>that</a:t>
            </a:r>
            <a:r>
              <a:rPr sz="1905" b="1" spc="-55" dirty="0">
                <a:latin typeface="Arial"/>
                <a:cs typeface="Arial"/>
              </a:rPr>
              <a:t> </a:t>
            </a:r>
            <a:r>
              <a:rPr sz="1905" b="1" dirty="0">
                <a:latin typeface="Arial"/>
                <a:cs typeface="Arial"/>
              </a:rPr>
              <a:t>registers</a:t>
            </a:r>
            <a:r>
              <a:rPr sz="1905" b="1" spc="-55" dirty="0">
                <a:latin typeface="Arial"/>
                <a:cs typeface="Arial"/>
              </a:rPr>
              <a:t> </a:t>
            </a:r>
            <a:r>
              <a:rPr sz="1905" b="1" dirty="0">
                <a:latin typeface="Arial"/>
                <a:cs typeface="Arial"/>
              </a:rPr>
              <a:t>compressed,</a:t>
            </a:r>
            <a:r>
              <a:rPr sz="1905" b="1" spc="-55" dirty="0">
                <a:latin typeface="Arial"/>
                <a:cs typeface="Arial"/>
              </a:rPr>
              <a:t> </a:t>
            </a:r>
            <a:r>
              <a:rPr sz="1905" b="1" dirty="0">
                <a:latin typeface="Arial"/>
                <a:cs typeface="Arial"/>
              </a:rPr>
              <a:t>frequent</a:t>
            </a:r>
            <a:r>
              <a:rPr sz="1905" b="1" spc="-55" dirty="0">
                <a:latin typeface="Arial"/>
                <a:cs typeface="Arial"/>
              </a:rPr>
              <a:t> </a:t>
            </a:r>
            <a:r>
              <a:rPr sz="1905" b="1" dirty="0">
                <a:latin typeface="Arial"/>
                <a:cs typeface="Arial"/>
              </a:rPr>
              <a:t>pattern</a:t>
            </a:r>
            <a:r>
              <a:rPr sz="1905" b="1" spc="-55" dirty="0">
                <a:latin typeface="Arial"/>
                <a:cs typeface="Arial"/>
              </a:rPr>
              <a:t> </a:t>
            </a:r>
            <a:r>
              <a:rPr sz="1905" b="1" spc="-10" dirty="0">
                <a:latin typeface="Arial"/>
                <a:cs typeface="Arial"/>
              </a:rPr>
              <a:t>information</a:t>
            </a:r>
            <a:endParaRPr sz="1905">
              <a:latin typeface="Arial"/>
              <a:cs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34431" y="310107"/>
            <a:ext cx="8669480" cy="445846"/>
          </a:xfrm>
          <a:prstGeom prst="rect">
            <a:avLst/>
          </a:prstGeom>
        </p:spPr>
        <p:txBody>
          <a:bodyPr vert="horz" wrap="square" lIns="0" tIns="74756" rIns="0" bIns="0" rtlCol="0" anchor="ctr">
            <a:spAutoFit/>
            <a:scene3d>
              <a:camera prst="orthographicFront"/>
              <a:lightRig rig="soft" dir="t"/>
            </a:scene3d>
            <a:sp3d prstMaterial="softEdge">
              <a:bevelT w="25400" h="25400"/>
            </a:sp3d>
          </a:bodyPr>
          <a:lstStyle/>
          <a:p>
            <a:pPr marL="3118939" marR="5094" indent="-2905618" algn="ctr">
              <a:spcBef>
                <a:spcPts val="95"/>
              </a:spcBef>
            </a:pPr>
            <a:r>
              <a:rPr sz="2407" dirty="0">
                <a:solidFill>
                  <a:srgbClr val="002060"/>
                </a:solidFill>
                <a:latin typeface="Times New Roman" panose="02020603050405020304" pitchFamily="18" charset="0"/>
                <a:cs typeface="Times New Roman" panose="02020603050405020304" pitchFamily="18" charset="0"/>
              </a:rPr>
              <a:t>Mining</a:t>
            </a:r>
            <a:r>
              <a:rPr sz="2407" spc="-75" dirty="0">
                <a:solidFill>
                  <a:srgbClr val="002060"/>
                </a:solidFill>
                <a:latin typeface="Times New Roman" panose="02020603050405020304" pitchFamily="18" charset="0"/>
                <a:cs typeface="Times New Roman" panose="02020603050405020304" pitchFamily="18" charset="0"/>
              </a:rPr>
              <a:t> </a:t>
            </a:r>
            <a:r>
              <a:rPr sz="2407" dirty="0">
                <a:solidFill>
                  <a:srgbClr val="002060"/>
                </a:solidFill>
                <a:latin typeface="Times New Roman" panose="02020603050405020304" pitchFamily="18" charset="0"/>
                <a:cs typeface="Times New Roman" panose="02020603050405020304" pitchFamily="18" charset="0"/>
              </a:rPr>
              <a:t>the</a:t>
            </a:r>
            <a:r>
              <a:rPr sz="2407" spc="-70" dirty="0">
                <a:solidFill>
                  <a:srgbClr val="002060"/>
                </a:solidFill>
                <a:latin typeface="Times New Roman" panose="02020603050405020304" pitchFamily="18" charset="0"/>
                <a:cs typeface="Times New Roman" panose="02020603050405020304" pitchFamily="18" charset="0"/>
              </a:rPr>
              <a:t> </a:t>
            </a:r>
            <a:r>
              <a:rPr sz="2407" spc="-25" dirty="0">
                <a:solidFill>
                  <a:srgbClr val="002060"/>
                </a:solidFill>
                <a:latin typeface="Times New Roman" panose="02020603050405020304" pitchFamily="18" charset="0"/>
                <a:cs typeface="Times New Roman" panose="02020603050405020304" pitchFamily="18" charset="0"/>
              </a:rPr>
              <a:t>FP-</a:t>
            </a:r>
            <a:r>
              <a:rPr sz="2407" dirty="0">
                <a:solidFill>
                  <a:srgbClr val="002060"/>
                </a:solidFill>
                <a:latin typeface="Times New Roman" panose="02020603050405020304" pitchFamily="18" charset="0"/>
                <a:cs typeface="Times New Roman" panose="02020603050405020304" pitchFamily="18" charset="0"/>
              </a:rPr>
              <a:t>Tree</a:t>
            </a:r>
            <a:r>
              <a:rPr sz="2407" spc="-75" dirty="0">
                <a:solidFill>
                  <a:srgbClr val="002060"/>
                </a:solidFill>
                <a:latin typeface="Times New Roman" panose="02020603050405020304" pitchFamily="18" charset="0"/>
                <a:cs typeface="Times New Roman" panose="02020603050405020304" pitchFamily="18" charset="0"/>
              </a:rPr>
              <a:t> </a:t>
            </a:r>
            <a:r>
              <a:rPr sz="2407" dirty="0">
                <a:solidFill>
                  <a:srgbClr val="002060"/>
                </a:solidFill>
                <a:latin typeface="Times New Roman" panose="02020603050405020304" pitchFamily="18" charset="0"/>
                <a:cs typeface="Times New Roman" panose="02020603050405020304" pitchFamily="18" charset="0"/>
              </a:rPr>
              <a:t>by</a:t>
            </a:r>
            <a:r>
              <a:rPr sz="2407" spc="-70" dirty="0">
                <a:solidFill>
                  <a:srgbClr val="002060"/>
                </a:solidFill>
                <a:latin typeface="Times New Roman" panose="02020603050405020304" pitchFamily="18" charset="0"/>
                <a:cs typeface="Times New Roman" panose="02020603050405020304" pitchFamily="18" charset="0"/>
              </a:rPr>
              <a:t> </a:t>
            </a:r>
            <a:r>
              <a:rPr sz="2407" dirty="0">
                <a:solidFill>
                  <a:srgbClr val="002060"/>
                </a:solidFill>
                <a:latin typeface="Times New Roman" panose="02020603050405020304" pitchFamily="18" charset="0"/>
                <a:cs typeface="Times New Roman" panose="02020603050405020304" pitchFamily="18" charset="0"/>
              </a:rPr>
              <a:t>Creating</a:t>
            </a:r>
            <a:r>
              <a:rPr sz="2407" spc="-75" dirty="0">
                <a:solidFill>
                  <a:srgbClr val="002060"/>
                </a:solidFill>
                <a:latin typeface="Times New Roman" panose="02020603050405020304" pitchFamily="18" charset="0"/>
                <a:cs typeface="Times New Roman" panose="02020603050405020304" pitchFamily="18" charset="0"/>
              </a:rPr>
              <a:t> </a:t>
            </a:r>
            <a:r>
              <a:rPr sz="2407" dirty="0">
                <a:solidFill>
                  <a:srgbClr val="002060"/>
                </a:solidFill>
                <a:latin typeface="Times New Roman" panose="02020603050405020304" pitchFamily="18" charset="0"/>
                <a:cs typeface="Times New Roman" panose="02020603050405020304" pitchFamily="18" charset="0"/>
              </a:rPr>
              <a:t>Conditional</a:t>
            </a:r>
            <a:r>
              <a:rPr sz="2407" spc="-70" dirty="0">
                <a:solidFill>
                  <a:srgbClr val="002060"/>
                </a:solidFill>
                <a:latin typeface="Times New Roman" panose="02020603050405020304" pitchFamily="18" charset="0"/>
                <a:cs typeface="Times New Roman" panose="02020603050405020304" pitchFamily="18" charset="0"/>
              </a:rPr>
              <a:t> </a:t>
            </a:r>
            <a:r>
              <a:rPr sz="2407" spc="-10" dirty="0">
                <a:solidFill>
                  <a:srgbClr val="002060"/>
                </a:solidFill>
                <a:latin typeface="Times New Roman" panose="02020603050405020304" pitchFamily="18" charset="0"/>
                <a:cs typeface="Times New Roman" panose="02020603050405020304" pitchFamily="18" charset="0"/>
              </a:rPr>
              <a:t>(sub) </a:t>
            </a:r>
            <a:r>
              <a:rPr sz="2407" dirty="0">
                <a:solidFill>
                  <a:srgbClr val="002060"/>
                </a:solidFill>
                <a:latin typeface="Times New Roman" panose="02020603050405020304" pitchFamily="18" charset="0"/>
                <a:cs typeface="Times New Roman" panose="02020603050405020304" pitchFamily="18" charset="0"/>
              </a:rPr>
              <a:t>pattern</a:t>
            </a:r>
            <a:r>
              <a:rPr sz="2407" spc="-40" dirty="0">
                <a:solidFill>
                  <a:srgbClr val="002060"/>
                </a:solidFill>
                <a:latin typeface="Times New Roman" panose="02020603050405020304" pitchFamily="18" charset="0"/>
                <a:cs typeface="Times New Roman" panose="02020603050405020304" pitchFamily="18" charset="0"/>
              </a:rPr>
              <a:t> </a:t>
            </a:r>
            <a:r>
              <a:rPr sz="2407" spc="-10" dirty="0">
                <a:solidFill>
                  <a:srgbClr val="002060"/>
                </a:solidFill>
                <a:latin typeface="Times New Roman" panose="02020603050405020304" pitchFamily="18" charset="0"/>
                <a:cs typeface="Times New Roman" panose="02020603050405020304" pitchFamily="18" charset="0"/>
              </a:rPr>
              <a:t>bases</a:t>
            </a:r>
            <a:endParaRPr sz="2407" dirty="0">
              <a:solidFill>
                <a:srgbClr val="002060"/>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563541" y="1213045"/>
            <a:ext cx="8016919" cy="4149197"/>
          </a:xfrm>
          <a:prstGeom prst="rect">
            <a:avLst/>
          </a:prstGeom>
        </p:spPr>
        <p:txBody>
          <a:bodyPr vert="horz" wrap="square" lIns="0" tIns="49031" rIns="0" bIns="0" rtlCol="0">
            <a:spAutoFit/>
          </a:bodyPr>
          <a:lstStyle/>
          <a:p>
            <a:pPr marL="12736">
              <a:spcBef>
                <a:spcPts val="386"/>
              </a:spcBef>
            </a:pPr>
            <a:r>
              <a:rPr sz="2407" spc="-10" dirty="0">
                <a:solidFill>
                  <a:srgbClr val="009A9A"/>
                </a:solidFill>
                <a:latin typeface="Times New Roman" panose="02020603050405020304" pitchFamily="18" charset="0"/>
                <a:cs typeface="Times New Roman" panose="02020603050405020304" pitchFamily="18" charset="0"/>
              </a:rPr>
              <a:t>Steps:</a:t>
            </a:r>
            <a:endParaRPr sz="2407" dirty="0">
              <a:latin typeface="Times New Roman" panose="02020603050405020304" pitchFamily="18" charset="0"/>
              <a:cs typeface="Times New Roman" panose="02020603050405020304" pitchFamily="18" charset="0"/>
            </a:endParaRPr>
          </a:p>
          <a:p>
            <a:pPr marL="624042" marR="5094" indent="-611944">
              <a:lnSpc>
                <a:spcPts val="2387"/>
              </a:lnSpc>
              <a:spcBef>
                <a:spcPts val="567"/>
              </a:spcBef>
              <a:buAutoNum type="arabicPeriod"/>
              <a:tabLst>
                <a:tab pos="624042" algn="l"/>
              </a:tabLst>
            </a:pPr>
            <a:r>
              <a:rPr sz="2206" dirty="0">
                <a:latin typeface="Times New Roman" panose="02020603050405020304" pitchFamily="18" charset="0"/>
                <a:cs typeface="Times New Roman" panose="02020603050405020304" pitchFamily="18" charset="0"/>
              </a:rPr>
              <a:t>Start</a:t>
            </a:r>
            <a:r>
              <a:rPr sz="2206" spc="-2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from</a:t>
            </a:r>
            <a:r>
              <a:rPr sz="2206" spc="-3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each</a:t>
            </a:r>
            <a:r>
              <a:rPr sz="2206" spc="-35" dirty="0">
                <a:latin typeface="Times New Roman" panose="02020603050405020304" pitchFamily="18" charset="0"/>
                <a:cs typeface="Times New Roman" panose="02020603050405020304" pitchFamily="18" charset="0"/>
              </a:rPr>
              <a:t> </a:t>
            </a:r>
            <a:r>
              <a:rPr sz="2206" dirty="0">
                <a:solidFill>
                  <a:srgbClr val="009A9A"/>
                </a:solidFill>
                <a:latin typeface="Times New Roman" panose="02020603050405020304" pitchFamily="18" charset="0"/>
                <a:cs typeface="Times New Roman" panose="02020603050405020304" pitchFamily="18" charset="0"/>
              </a:rPr>
              <a:t>frequent</a:t>
            </a:r>
            <a:r>
              <a:rPr sz="2206" spc="-20" dirty="0">
                <a:solidFill>
                  <a:srgbClr val="009A9A"/>
                </a:solidFill>
                <a:latin typeface="Times New Roman" panose="02020603050405020304" pitchFamily="18" charset="0"/>
                <a:cs typeface="Times New Roman" panose="02020603050405020304" pitchFamily="18" charset="0"/>
              </a:rPr>
              <a:t> </a:t>
            </a:r>
            <a:r>
              <a:rPr sz="2206" spc="-10" dirty="0">
                <a:solidFill>
                  <a:srgbClr val="009A9A"/>
                </a:solidFill>
                <a:latin typeface="Times New Roman" panose="02020603050405020304" pitchFamily="18" charset="0"/>
                <a:cs typeface="Times New Roman" panose="02020603050405020304" pitchFamily="18" charset="0"/>
              </a:rPr>
              <a:t>length-</a:t>
            </a:r>
            <a:r>
              <a:rPr sz="2206" dirty="0">
                <a:solidFill>
                  <a:srgbClr val="009A9A"/>
                </a:solidFill>
                <a:latin typeface="Times New Roman" panose="02020603050405020304" pitchFamily="18" charset="0"/>
                <a:cs typeface="Times New Roman" panose="02020603050405020304" pitchFamily="18" charset="0"/>
              </a:rPr>
              <a:t>1</a:t>
            </a:r>
            <a:r>
              <a:rPr sz="2206" spc="-30" dirty="0">
                <a:solidFill>
                  <a:srgbClr val="009A9A"/>
                </a:solidFill>
                <a:latin typeface="Times New Roman" panose="02020603050405020304" pitchFamily="18" charset="0"/>
                <a:cs typeface="Times New Roman" panose="02020603050405020304" pitchFamily="18" charset="0"/>
              </a:rPr>
              <a:t> </a:t>
            </a:r>
            <a:r>
              <a:rPr sz="2206" dirty="0">
                <a:solidFill>
                  <a:srgbClr val="009A9A"/>
                </a:solidFill>
                <a:latin typeface="Times New Roman" panose="02020603050405020304" pitchFamily="18" charset="0"/>
                <a:cs typeface="Times New Roman" panose="02020603050405020304" pitchFamily="18" charset="0"/>
              </a:rPr>
              <a:t>pattern</a:t>
            </a:r>
            <a:r>
              <a:rPr sz="2206" spc="-25" dirty="0">
                <a:solidFill>
                  <a:srgbClr val="009A9A"/>
                </a:solidFill>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(as</a:t>
            </a:r>
            <a:r>
              <a:rPr sz="2206" spc="-3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an</a:t>
            </a:r>
            <a:r>
              <a:rPr sz="2206" spc="-2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initial</a:t>
            </a:r>
            <a:r>
              <a:rPr sz="2206" spc="-30" dirty="0">
                <a:latin typeface="Times New Roman" panose="02020603050405020304" pitchFamily="18" charset="0"/>
                <a:cs typeface="Times New Roman" panose="02020603050405020304" pitchFamily="18" charset="0"/>
              </a:rPr>
              <a:t> </a:t>
            </a:r>
            <a:r>
              <a:rPr sz="2206" spc="-10" dirty="0">
                <a:latin typeface="Times New Roman" panose="02020603050405020304" pitchFamily="18" charset="0"/>
                <a:cs typeface="Times New Roman" panose="02020603050405020304" pitchFamily="18" charset="0"/>
              </a:rPr>
              <a:t>suffix pattern).</a:t>
            </a:r>
            <a:endParaRPr sz="2206" dirty="0">
              <a:latin typeface="Times New Roman" panose="02020603050405020304" pitchFamily="18" charset="0"/>
              <a:cs typeface="Times New Roman" panose="02020603050405020304" pitchFamily="18" charset="0"/>
            </a:endParaRPr>
          </a:p>
          <a:p>
            <a:pPr marL="623406" marR="105705" indent="-611307">
              <a:lnSpc>
                <a:spcPts val="2387"/>
              </a:lnSpc>
              <a:spcBef>
                <a:spcPts val="510"/>
              </a:spcBef>
              <a:buAutoNum type="arabicPeriod"/>
              <a:tabLst>
                <a:tab pos="623406" algn="l"/>
              </a:tabLst>
            </a:pPr>
            <a:r>
              <a:rPr sz="2206" dirty="0">
                <a:latin typeface="Times New Roman" panose="02020603050405020304" pitchFamily="18" charset="0"/>
                <a:cs typeface="Times New Roman" panose="02020603050405020304" pitchFamily="18" charset="0"/>
              </a:rPr>
              <a:t>Construct</a:t>
            </a:r>
            <a:r>
              <a:rPr sz="2206" spc="-3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its</a:t>
            </a:r>
            <a:r>
              <a:rPr sz="2206" spc="-40" dirty="0">
                <a:latin typeface="Times New Roman" panose="02020603050405020304" pitchFamily="18" charset="0"/>
                <a:cs typeface="Times New Roman" panose="02020603050405020304" pitchFamily="18" charset="0"/>
              </a:rPr>
              <a:t> </a:t>
            </a:r>
            <a:r>
              <a:rPr sz="2206" dirty="0">
                <a:solidFill>
                  <a:srgbClr val="009A9A"/>
                </a:solidFill>
                <a:latin typeface="Times New Roman" panose="02020603050405020304" pitchFamily="18" charset="0"/>
                <a:cs typeface="Times New Roman" panose="02020603050405020304" pitchFamily="18" charset="0"/>
              </a:rPr>
              <a:t>conditional</a:t>
            </a:r>
            <a:r>
              <a:rPr sz="2206" spc="-30" dirty="0">
                <a:solidFill>
                  <a:srgbClr val="009A9A"/>
                </a:solidFill>
                <a:latin typeface="Times New Roman" panose="02020603050405020304" pitchFamily="18" charset="0"/>
                <a:cs typeface="Times New Roman" panose="02020603050405020304" pitchFamily="18" charset="0"/>
              </a:rPr>
              <a:t> </a:t>
            </a:r>
            <a:r>
              <a:rPr sz="2206" dirty="0">
                <a:solidFill>
                  <a:srgbClr val="009A9A"/>
                </a:solidFill>
                <a:latin typeface="Times New Roman" panose="02020603050405020304" pitchFamily="18" charset="0"/>
                <a:cs typeface="Times New Roman" panose="02020603050405020304" pitchFamily="18" charset="0"/>
              </a:rPr>
              <a:t>pattern</a:t>
            </a:r>
            <a:r>
              <a:rPr sz="2206" spc="-30" dirty="0">
                <a:solidFill>
                  <a:srgbClr val="009A9A"/>
                </a:solidFill>
                <a:latin typeface="Times New Roman" panose="02020603050405020304" pitchFamily="18" charset="0"/>
                <a:cs typeface="Times New Roman" panose="02020603050405020304" pitchFamily="18" charset="0"/>
              </a:rPr>
              <a:t> </a:t>
            </a:r>
            <a:r>
              <a:rPr sz="2206" dirty="0">
                <a:solidFill>
                  <a:srgbClr val="009A9A"/>
                </a:solidFill>
                <a:latin typeface="Times New Roman" panose="02020603050405020304" pitchFamily="18" charset="0"/>
                <a:cs typeface="Times New Roman" panose="02020603050405020304" pitchFamily="18" charset="0"/>
              </a:rPr>
              <a:t>base</a:t>
            </a:r>
            <a:r>
              <a:rPr sz="2206" spc="-35" dirty="0">
                <a:solidFill>
                  <a:srgbClr val="009A9A"/>
                </a:solidFill>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which</a:t>
            </a:r>
            <a:r>
              <a:rPr sz="2206" spc="-3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consists</a:t>
            </a:r>
            <a:r>
              <a:rPr sz="2206" spc="-3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of</a:t>
            </a:r>
            <a:r>
              <a:rPr sz="2206" spc="-35" dirty="0">
                <a:latin typeface="Times New Roman" panose="02020603050405020304" pitchFamily="18" charset="0"/>
                <a:cs typeface="Times New Roman" panose="02020603050405020304" pitchFamily="18" charset="0"/>
              </a:rPr>
              <a:t> </a:t>
            </a:r>
            <a:r>
              <a:rPr sz="2206" spc="-25" dirty="0">
                <a:latin typeface="Times New Roman" panose="02020603050405020304" pitchFamily="18" charset="0"/>
                <a:cs typeface="Times New Roman" panose="02020603050405020304" pitchFamily="18" charset="0"/>
              </a:rPr>
              <a:t>the </a:t>
            </a:r>
            <a:r>
              <a:rPr sz="2206" dirty="0">
                <a:latin typeface="Times New Roman" panose="02020603050405020304" pitchFamily="18" charset="0"/>
                <a:cs typeface="Times New Roman" panose="02020603050405020304" pitchFamily="18" charset="0"/>
              </a:rPr>
              <a:t>set</a:t>
            </a:r>
            <a:r>
              <a:rPr sz="2206" spc="-4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of</a:t>
            </a:r>
            <a:r>
              <a:rPr sz="2206" spc="-2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prefix</a:t>
            </a:r>
            <a:r>
              <a:rPr sz="2206" spc="-2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paths</a:t>
            </a:r>
            <a:r>
              <a:rPr sz="2206" spc="-3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in</a:t>
            </a:r>
            <a:r>
              <a:rPr sz="2206" spc="-2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the</a:t>
            </a:r>
            <a:r>
              <a:rPr sz="2206" spc="-25" dirty="0">
                <a:latin typeface="Times New Roman" panose="02020603050405020304" pitchFamily="18" charset="0"/>
                <a:cs typeface="Times New Roman" panose="02020603050405020304" pitchFamily="18" charset="0"/>
              </a:rPr>
              <a:t> </a:t>
            </a:r>
            <a:r>
              <a:rPr sz="2206" spc="-20" dirty="0">
                <a:latin typeface="Times New Roman" panose="02020603050405020304" pitchFamily="18" charset="0"/>
                <a:cs typeface="Times New Roman" panose="02020603050405020304" pitchFamily="18" charset="0"/>
              </a:rPr>
              <a:t>FP-</a:t>
            </a:r>
            <a:r>
              <a:rPr sz="2206" dirty="0">
                <a:latin typeface="Times New Roman" panose="02020603050405020304" pitchFamily="18" charset="0"/>
                <a:cs typeface="Times New Roman" panose="02020603050405020304" pitchFamily="18" charset="0"/>
              </a:rPr>
              <a:t>Tree</a:t>
            </a:r>
            <a:r>
              <a:rPr sz="2206" spc="-25" dirty="0">
                <a:latin typeface="Times New Roman" panose="02020603050405020304" pitchFamily="18" charset="0"/>
                <a:cs typeface="Times New Roman" panose="02020603050405020304" pitchFamily="18" charset="0"/>
              </a:rPr>
              <a:t> </a:t>
            </a:r>
            <a:r>
              <a:rPr sz="2206" spc="-20" dirty="0">
                <a:latin typeface="Times New Roman" panose="02020603050405020304" pitchFamily="18" charset="0"/>
                <a:cs typeface="Times New Roman" panose="02020603050405020304" pitchFamily="18" charset="0"/>
              </a:rPr>
              <a:t>co-</a:t>
            </a:r>
            <a:r>
              <a:rPr sz="2206" dirty="0">
                <a:latin typeface="Times New Roman" panose="02020603050405020304" pitchFamily="18" charset="0"/>
                <a:cs typeface="Times New Roman" panose="02020603050405020304" pitchFamily="18" charset="0"/>
              </a:rPr>
              <a:t>occurring</a:t>
            </a:r>
            <a:r>
              <a:rPr sz="2206" spc="-3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with</a:t>
            </a:r>
            <a:r>
              <a:rPr sz="2206" spc="-20" dirty="0">
                <a:latin typeface="Times New Roman" panose="02020603050405020304" pitchFamily="18" charset="0"/>
                <a:cs typeface="Times New Roman" panose="02020603050405020304" pitchFamily="18" charset="0"/>
              </a:rPr>
              <a:t> </a:t>
            </a:r>
            <a:r>
              <a:rPr sz="2206" spc="-10" dirty="0">
                <a:latin typeface="Times New Roman" panose="02020603050405020304" pitchFamily="18" charset="0"/>
                <a:cs typeface="Times New Roman" panose="02020603050405020304" pitchFamily="18" charset="0"/>
              </a:rPr>
              <a:t>suffix pattern.</a:t>
            </a:r>
            <a:endParaRPr sz="2206" dirty="0">
              <a:latin typeface="Times New Roman" panose="02020603050405020304" pitchFamily="18" charset="0"/>
              <a:cs typeface="Times New Roman" panose="02020603050405020304" pitchFamily="18" charset="0"/>
            </a:endParaRPr>
          </a:p>
          <a:p>
            <a:pPr marL="624042" marR="289097" indent="-611944">
              <a:lnSpc>
                <a:spcPts val="2387"/>
              </a:lnSpc>
              <a:spcBef>
                <a:spcPts val="510"/>
              </a:spcBef>
              <a:buAutoNum type="arabicPeriod"/>
              <a:tabLst>
                <a:tab pos="624042" algn="l"/>
              </a:tabLst>
            </a:pPr>
            <a:r>
              <a:rPr sz="2206" dirty="0">
                <a:latin typeface="Times New Roman" panose="02020603050405020304" pitchFamily="18" charset="0"/>
                <a:cs typeface="Times New Roman" panose="02020603050405020304" pitchFamily="18" charset="0"/>
              </a:rPr>
              <a:t>Then,</a:t>
            </a:r>
            <a:r>
              <a:rPr sz="2206" spc="-4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Construct</a:t>
            </a:r>
            <a:r>
              <a:rPr sz="2206" spc="-4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its</a:t>
            </a:r>
            <a:r>
              <a:rPr sz="2206" spc="-55" dirty="0">
                <a:latin typeface="Times New Roman" panose="02020603050405020304" pitchFamily="18" charset="0"/>
                <a:cs typeface="Times New Roman" panose="02020603050405020304" pitchFamily="18" charset="0"/>
              </a:rPr>
              <a:t> </a:t>
            </a:r>
            <a:r>
              <a:rPr sz="2206" dirty="0">
                <a:solidFill>
                  <a:srgbClr val="009A9A"/>
                </a:solidFill>
                <a:latin typeface="Times New Roman" panose="02020603050405020304" pitchFamily="18" charset="0"/>
                <a:cs typeface="Times New Roman" panose="02020603050405020304" pitchFamily="18" charset="0"/>
              </a:rPr>
              <a:t>conditional</a:t>
            </a:r>
            <a:r>
              <a:rPr sz="2206" spc="-45" dirty="0">
                <a:solidFill>
                  <a:srgbClr val="009A9A"/>
                </a:solidFill>
                <a:latin typeface="Times New Roman" panose="02020603050405020304" pitchFamily="18" charset="0"/>
                <a:cs typeface="Times New Roman" panose="02020603050405020304" pitchFamily="18" charset="0"/>
              </a:rPr>
              <a:t> </a:t>
            </a:r>
            <a:r>
              <a:rPr sz="2206" spc="-25" dirty="0">
                <a:solidFill>
                  <a:srgbClr val="009A9A"/>
                </a:solidFill>
                <a:latin typeface="Times New Roman" panose="02020603050405020304" pitchFamily="18" charset="0"/>
                <a:cs typeface="Times New Roman" panose="02020603050405020304" pitchFamily="18" charset="0"/>
              </a:rPr>
              <a:t>FP-</a:t>
            </a:r>
            <a:r>
              <a:rPr sz="2206" dirty="0">
                <a:solidFill>
                  <a:srgbClr val="009A9A"/>
                </a:solidFill>
                <a:latin typeface="Times New Roman" panose="02020603050405020304" pitchFamily="18" charset="0"/>
                <a:cs typeface="Times New Roman" panose="02020603050405020304" pitchFamily="18" charset="0"/>
              </a:rPr>
              <a:t>Tree</a:t>
            </a:r>
            <a:r>
              <a:rPr sz="2206" spc="-35" dirty="0">
                <a:solidFill>
                  <a:srgbClr val="009A9A"/>
                </a:solidFill>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&amp;</a:t>
            </a:r>
            <a:r>
              <a:rPr sz="2206" spc="-4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perform</a:t>
            </a:r>
            <a:r>
              <a:rPr sz="2206" spc="-45" dirty="0">
                <a:latin typeface="Times New Roman" panose="02020603050405020304" pitchFamily="18" charset="0"/>
                <a:cs typeface="Times New Roman" panose="02020603050405020304" pitchFamily="18" charset="0"/>
              </a:rPr>
              <a:t> </a:t>
            </a:r>
            <a:r>
              <a:rPr sz="2206" spc="-10" dirty="0">
                <a:latin typeface="Times New Roman" panose="02020603050405020304" pitchFamily="18" charset="0"/>
                <a:cs typeface="Times New Roman" panose="02020603050405020304" pitchFamily="18" charset="0"/>
              </a:rPr>
              <a:t>mining </a:t>
            </a:r>
            <a:r>
              <a:rPr sz="2206" dirty="0">
                <a:latin typeface="Times New Roman" panose="02020603050405020304" pitchFamily="18" charset="0"/>
                <a:cs typeface="Times New Roman" panose="02020603050405020304" pitchFamily="18" charset="0"/>
              </a:rPr>
              <a:t>on</a:t>
            </a:r>
            <a:r>
              <a:rPr sz="2206" spc="-2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such</a:t>
            </a:r>
            <a:r>
              <a:rPr sz="2206" spc="-2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a</a:t>
            </a:r>
            <a:r>
              <a:rPr sz="2206" spc="-20" dirty="0">
                <a:latin typeface="Times New Roman" panose="02020603050405020304" pitchFamily="18" charset="0"/>
                <a:cs typeface="Times New Roman" panose="02020603050405020304" pitchFamily="18" charset="0"/>
              </a:rPr>
              <a:t> </a:t>
            </a:r>
            <a:r>
              <a:rPr sz="2206" spc="-10" dirty="0">
                <a:latin typeface="Times New Roman" panose="02020603050405020304" pitchFamily="18" charset="0"/>
                <a:cs typeface="Times New Roman" panose="02020603050405020304" pitchFamily="18" charset="0"/>
              </a:rPr>
              <a:t>tree.</a:t>
            </a:r>
            <a:endParaRPr sz="2206" dirty="0">
              <a:latin typeface="Times New Roman" panose="02020603050405020304" pitchFamily="18" charset="0"/>
              <a:cs typeface="Times New Roman" panose="02020603050405020304" pitchFamily="18" charset="0"/>
            </a:endParaRPr>
          </a:p>
          <a:p>
            <a:pPr marL="624042" marR="317752" indent="-611944">
              <a:lnSpc>
                <a:spcPts val="2387"/>
              </a:lnSpc>
              <a:spcBef>
                <a:spcPts val="516"/>
              </a:spcBef>
              <a:buAutoNum type="arabicPeriod"/>
              <a:tabLst>
                <a:tab pos="624042" algn="l"/>
              </a:tabLst>
            </a:pPr>
            <a:r>
              <a:rPr sz="2206" dirty="0">
                <a:latin typeface="Times New Roman" panose="02020603050405020304" pitchFamily="18" charset="0"/>
                <a:cs typeface="Times New Roman" panose="02020603050405020304" pitchFamily="18" charset="0"/>
              </a:rPr>
              <a:t>The</a:t>
            </a:r>
            <a:r>
              <a:rPr sz="2206" spc="-35" dirty="0">
                <a:latin typeface="Times New Roman" panose="02020603050405020304" pitchFamily="18" charset="0"/>
                <a:cs typeface="Times New Roman" panose="02020603050405020304" pitchFamily="18" charset="0"/>
              </a:rPr>
              <a:t> </a:t>
            </a:r>
            <a:r>
              <a:rPr sz="2206" dirty="0">
                <a:solidFill>
                  <a:srgbClr val="009A9A"/>
                </a:solidFill>
                <a:latin typeface="Times New Roman" panose="02020603050405020304" pitchFamily="18" charset="0"/>
                <a:cs typeface="Times New Roman" panose="02020603050405020304" pitchFamily="18" charset="0"/>
              </a:rPr>
              <a:t>pattern</a:t>
            </a:r>
            <a:r>
              <a:rPr sz="2206" spc="-35" dirty="0">
                <a:solidFill>
                  <a:srgbClr val="009A9A"/>
                </a:solidFill>
                <a:latin typeface="Times New Roman" panose="02020603050405020304" pitchFamily="18" charset="0"/>
                <a:cs typeface="Times New Roman" panose="02020603050405020304" pitchFamily="18" charset="0"/>
              </a:rPr>
              <a:t> </a:t>
            </a:r>
            <a:r>
              <a:rPr sz="2206" dirty="0">
                <a:solidFill>
                  <a:srgbClr val="009A9A"/>
                </a:solidFill>
                <a:latin typeface="Times New Roman" panose="02020603050405020304" pitchFamily="18" charset="0"/>
                <a:cs typeface="Times New Roman" panose="02020603050405020304" pitchFamily="18" charset="0"/>
              </a:rPr>
              <a:t>growth</a:t>
            </a:r>
            <a:r>
              <a:rPr sz="2206" spc="-45" dirty="0">
                <a:solidFill>
                  <a:srgbClr val="009A9A"/>
                </a:solidFill>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is</a:t>
            </a:r>
            <a:r>
              <a:rPr sz="2206" spc="-3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achieved</a:t>
            </a:r>
            <a:r>
              <a:rPr sz="2206" spc="-4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by</a:t>
            </a:r>
            <a:r>
              <a:rPr sz="2206" spc="-3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concatenation</a:t>
            </a:r>
            <a:r>
              <a:rPr sz="2206" spc="-3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of</a:t>
            </a:r>
            <a:r>
              <a:rPr sz="2206" spc="-40" dirty="0">
                <a:latin typeface="Times New Roman" panose="02020603050405020304" pitchFamily="18" charset="0"/>
                <a:cs typeface="Times New Roman" panose="02020603050405020304" pitchFamily="18" charset="0"/>
              </a:rPr>
              <a:t> </a:t>
            </a:r>
            <a:r>
              <a:rPr sz="2206" spc="-25" dirty="0">
                <a:latin typeface="Times New Roman" panose="02020603050405020304" pitchFamily="18" charset="0"/>
                <a:cs typeface="Times New Roman" panose="02020603050405020304" pitchFamily="18" charset="0"/>
              </a:rPr>
              <a:t>the </a:t>
            </a:r>
            <a:r>
              <a:rPr sz="2206" dirty="0">
                <a:latin typeface="Times New Roman" panose="02020603050405020304" pitchFamily="18" charset="0"/>
                <a:cs typeface="Times New Roman" panose="02020603050405020304" pitchFamily="18" charset="0"/>
              </a:rPr>
              <a:t>suffix</a:t>
            </a:r>
            <a:r>
              <a:rPr sz="2206" spc="-5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pattern</a:t>
            </a:r>
            <a:r>
              <a:rPr sz="2206" spc="-5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with</a:t>
            </a:r>
            <a:r>
              <a:rPr sz="2206" spc="-5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the</a:t>
            </a:r>
            <a:r>
              <a:rPr sz="2206" spc="-5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frequent</a:t>
            </a:r>
            <a:r>
              <a:rPr sz="2206" spc="-5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patterns</a:t>
            </a:r>
            <a:r>
              <a:rPr sz="2206" spc="-5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generated</a:t>
            </a:r>
            <a:r>
              <a:rPr sz="2206" spc="-5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from</a:t>
            </a:r>
            <a:r>
              <a:rPr sz="2206" spc="-50" dirty="0">
                <a:latin typeface="Times New Roman" panose="02020603050405020304" pitchFamily="18" charset="0"/>
                <a:cs typeface="Times New Roman" panose="02020603050405020304" pitchFamily="18" charset="0"/>
              </a:rPr>
              <a:t> a </a:t>
            </a:r>
            <a:r>
              <a:rPr sz="2206" dirty="0">
                <a:latin typeface="Times New Roman" panose="02020603050405020304" pitchFamily="18" charset="0"/>
                <a:cs typeface="Times New Roman" panose="02020603050405020304" pitchFamily="18" charset="0"/>
              </a:rPr>
              <a:t>conditional</a:t>
            </a:r>
            <a:r>
              <a:rPr sz="2206" spc="15" dirty="0">
                <a:latin typeface="Times New Roman" panose="02020603050405020304" pitchFamily="18" charset="0"/>
                <a:cs typeface="Times New Roman" panose="02020603050405020304" pitchFamily="18" charset="0"/>
              </a:rPr>
              <a:t> </a:t>
            </a:r>
            <a:r>
              <a:rPr sz="2206" spc="-20" dirty="0">
                <a:latin typeface="Times New Roman" panose="02020603050405020304" pitchFamily="18" charset="0"/>
                <a:cs typeface="Times New Roman" panose="02020603050405020304" pitchFamily="18" charset="0"/>
              </a:rPr>
              <a:t>FP-</a:t>
            </a:r>
            <a:r>
              <a:rPr sz="2206" spc="-10" dirty="0">
                <a:latin typeface="Times New Roman" panose="02020603050405020304" pitchFamily="18" charset="0"/>
                <a:cs typeface="Times New Roman" panose="02020603050405020304" pitchFamily="18" charset="0"/>
              </a:rPr>
              <a:t>Tree.</a:t>
            </a:r>
            <a:endParaRPr sz="2206" dirty="0">
              <a:latin typeface="Times New Roman" panose="02020603050405020304" pitchFamily="18" charset="0"/>
              <a:cs typeface="Times New Roman" panose="02020603050405020304" pitchFamily="18" charset="0"/>
            </a:endParaRPr>
          </a:p>
          <a:p>
            <a:pPr marL="624042" marR="520248" indent="-611944">
              <a:lnSpc>
                <a:spcPts val="2387"/>
              </a:lnSpc>
              <a:spcBef>
                <a:spcPts val="510"/>
              </a:spcBef>
              <a:buAutoNum type="arabicPeriod"/>
              <a:tabLst>
                <a:tab pos="624042" algn="l"/>
              </a:tabLst>
            </a:pPr>
            <a:r>
              <a:rPr sz="2206" dirty="0">
                <a:latin typeface="Times New Roman" panose="02020603050405020304" pitchFamily="18" charset="0"/>
                <a:cs typeface="Times New Roman" panose="02020603050405020304" pitchFamily="18" charset="0"/>
              </a:rPr>
              <a:t>The</a:t>
            </a:r>
            <a:r>
              <a:rPr sz="2206" spc="-4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union</a:t>
            </a:r>
            <a:r>
              <a:rPr sz="2206" spc="-4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of</a:t>
            </a:r>
            <a:r>
              <a:rPr sz="2206" spc="-4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all</a:t>
            </a:r>
            <a:r>
              <a:rPr sz="2206" spc="-4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frequent</a:t>
            </a:r>
            <a:r>
              <a:rPr sz="2206" spc="-4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patterns</a:t>
            </a:r>
            <a:r>
              <a:rPr sz="2206" spc="-4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(generated</a:t>
            </a:r>
            <a:r>
              <a:rPr sz="2206" spc="-4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by</a:t>
            </a:r>
            <a:r>
              <a:rPr sz="2206" spc="-40"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step</a:t>
            </a:r>
            <a:r>
              <a:rPr sz="2206" spc="-45" dirty="0">
                <a:latin typeface="Times New Roman" panose="02020603050405020304" pitchFamily="18" charset="0"/>
                <a:cs typeface="Times New Roman" panose="02020603050405020304" pitchFamily="18" charset="0"/>
              </a:rPr>
              <a:t> </a:t>
            </a:r>
            <a:r>
              <a:rPr sz="2206" spc="-25" dirty="0">
                <a:latin typeface="Times New Roman" panose="02020603050405020304" pitchFamily="18" charset="0"/>
                <a:cs typeface="Times New Roman" panose="02020603050405020304" pitchFamily="18" charset="0"/>
              </a:rPr>
              <a:t>4) </a:t>
            </a:r>
            <a:r>
              <a:rPr sz="2206" dirty="0">
                <a:latin typeface="Times New Roman" panose="02020603050405020304" pitchFamily="18" charset="0"/>
                <a:cs typeface="Times New Roman" panose="02020603050405020304" pitchFamily="18" charset="0"/>
              </a:rPr>
              <a:t>gives</a:t>
            </a:r>
            <a:r>
              <a:rPr sz="2206" spc="-60" dirty="0">
                <a:latin typeface="Times New Roman" panose="02020603050405020304" pitchFamily="18" charset="0"/>
                <a:cs typeface="Times New Roman" panose="02020603050405020304" pitchFamily="18" charset="0"/>
              </a:rPr>
              <a:t> </a:t>
            </a:r>
            <a:r>
              <a:rPr sz="2206" dirty="0">
                <a:solidFill>
                  <a:srgbClr val="009A9A"/>
                </a:solidFill>
                <a:latin typeface="Times New Roman" panose="02020603050405020304" pitchFamily="18" charset="0"/>
                <a:cs typeface="Times New Roman" panose="02020603050405020304" pitchFamily="18" charset="0"/>
              </a:rPr>
              <a:t>the</a:t>
            </a:r>
            <a:r>
              <a:rPr sz="2206" spc="-50" dirty="0">
                <a:solidFill>
                  <a:srgbClr val="009A9A"/>
                </a:solidFill>
                <a:latin typeface="Times New Roman" panose="02020603050405020304" pitchFamily="18" charset="0"/>
                <a:cs typeface="Times New Roman" panose="02020603050405020304" pitchFamily="18" charset="0"/>
              </a:rPr>
              <a:t> </a:t>
            </a:r>
            <a:r>
              <a:rPr sz="2206" dirty="0">
                <a:solidFill>
                  <a:srgbClr val="009A9A"/>
                </a:solidFill>
                <a:latin typeface="Times New Roman" panose="02020603050405020304" pitchFamily="18" charset="0"/>
                <a:cs typeface="Times New Roman" panose="02020603050405020304" pitchFamily="18" charset="0"/>
              </a:rPr>
              <a:t>required</a:t>
            </a:r>
            <a:r>
              <a:rPr sz="2206" spc="-45" dirty="0">
                <a:solidFill>
                  <a:srgbClr val="009A9A"/>
                </a:solidFill>
                <a:latin typeface="Times New Roman" panose="02020603050405020304" pitchFamily="18" charset="0"/>
                <a:cs typeface="Times New Roman" panose="02020603050405020304" pitchFamily="18" charset="0"/>
              </a:rPr>
              <a:t> </a:t>
            </a:r>
            <a:r>
              <a:rPr sz="2206" dirty="0">
                <a:solidFill>
                  <a:srgbClr val="009A9A"/>
                </a:solidFill>
                <a:latin typeface="Times New Roman" panose="02020603050405020304" pitchFamily="18" charset="0"/>
                <a:cs typeface="Times New Roman" panose="02020603050405020304" pitchFamily="18" charset="0"/>
              </a:rPr>
              <a:t>frequent</a:t>
            </a:r>
            <a:r>
              <a:rPr sz="2206" spc="-50" dirty="0">
                <a:solidFill>
                  <a:srgbClr val="009A9A"/>
                </a:solidFill>
                <a:latin typeface="Times New Roman" panose="02020603050405020304" pitchFamily="18" charset="0"/>
                <a:cs typeface="Times New Roman" panose="02020603050405020304" pitchFamily="18" charset="0"/>
              </a:rPr>
              <a:t> </a:t>
            </a:r>
            <a:r>
              <a:rPr sz="2206" spc="-10" dirty="0">
                <a:solidFill>
                  <a:srgbClr val="009A9A"/>
                </a:solidFill>
                <a:latin typeface="Times New Roman" panose="02020603050405020304" pitchFamily="18" charset="0"/>
                <a:cs typeface="Times New Roman" panose="02020603050405020304" pitchFamily="18" charset="0"/>
              </a:rPr>
              <a:t>itemset.</a:t>
            </a:r>
            <a:endParaRPr sz="2206"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91739" y="66861"/>
            <a:ext cx="8321295" cy="736606"/>
          </a:xfrm>
          <a:prstGeom prst="rect">
            <a:avLst/>
          </a:prstGeom>
        </p:spPr>
        <p:txBody>
          <a:bodyPr vert="horz" wrap="square" lIns="0" tIns="240444" rIns="0" bIns="0" rtlCol="0" anchor="ctr">
            <a:spAutoFit/>
            <a:scene3d>
              <a:camera prst="orthographicFront"/>
              <a:lightRig rig="soft" dir="t"/>
            </a:scene3d>
            <a:sp3d prstMaterial="softEdge">
              <a:bevelT w="25400" h="25400"/>
            </a:sp3d>
          </a:bodyPr>
          <a:lstStyle/>
          <a:p>
            <a:pPr marL="1332776">
              <a:spcBef>
                <a:spcPts val="100"/>
              </a:spcBef>
            </a:pPr>
            <a:r>
              <a:rPr sz="3209" spc="-10" dirty="0">
                <a:solidFill>
                  <a:srgbClr val="002060"/>
                </a:solidFill>
                <a:latin typeface="Times New Roman" panose="02020603050405020304" pitchFamily="18" charset="0"/>
                <a:cs typeface="Times New Roman" panose="02020603050405020304" pitchFamily="18" charset="0"/>
              </a:rPr>
              <a:t>FP-</a:t>
            </a:r>
            <a:r>
              <a:rPr sz="3209" dirty="0">
                <a:solidFill>
                  <a:srgbClr val="002060"/>
                </a:solidFill>
                <a:latin typeface="Times New Roman" panose="02020603050405020304" pitchFamily="18" charset="0"/>
                <a:cs typeface="Times New Roman" panose="02020603050405020304" pitchFamily="18" charset="0"/>
              </a:rPr>
              <a:t>Tree</a:t>
            </a:r>
            <a:r>
              <a:rPr sz="3209" spc="-15" dirty="0">
                <a:solidFill>
                  <a:srgbClr val="002060"/>
                </a:solidFill>
                <a:latin typeface="Times New Roman" panose="02020603050405020304" pitchFamily="18" charset="0"/>
                <a:cs typeface="Times New Roman" panose="02020603050405020304" pitchFamily="18" charset="0"/>
              </a:rPr>
              <a:t> </a:t>
            </a:r>
            <a:r>
              <a:rPr sz="3209" dirty="0">
                <a:solidFill>
                  <a:srgbClr val="002060"/>
                </a:solidFill>
                <a:latin typeface="Times New Roman" panose="02020603050405020304" pitchFamily="18" charset="0"/>
                <a:cs typeface="Times New Roman" panose="02020603050405020304" pitchFamily="18" charset="0"/>
              </a:rPr>
              <a:t>Example</a:t>
            </a:r>
            <a:r>
              <a:rPr sz="3209" spc="-15" dirty="0">
                <a:solidFill>
                  <a:srgbClr val="002060"/>
                </a:solidFill>
                <a:latin typeface="Times New Roman" panose="02020603050405020304" pitchFamily="18" charset="0"/>
                <a:cs typeface="Times New Roman" panose="02020603050405020304" pitchFamily="18" charset="0"/>
              </a:rPr>
              <a:t> </a:t>
            </a:r>
            <a:r>
              <a:rPr sz="3209" spc="-10" dirty="0">
                <a:solidFill>
                  <a:srgbClr val="002060"/>
                </a:solidFill>
                <a:latin typeface="Times New Roman" panose="02020603050405020304" pitchFamily="18" charset="0"/>
                <a:cs typeface="Times New Roman" panose="02020603050405020304" pitchFamily="18" charset="0"/>
              </a:rPr>
              <a:t>Continued</a:t>
            </a:r>
          </a:p>
        </p:txBody>
      </p:sp>
      <p:graphicFrame>
        <p:nvGraphicFramePr>
          <p:cNvPr id="3" name="object 3"/>
          <p:cNvGraphicFramePr>
            <a:graphicFrameLocks noGrp="1"/>
          </p:cNvGraphicFramePr>
          <p:nvPr/>
        </p:nvGraphicFramePr>
        <p:xfrm>
          <a:off x="507822" y="1351542"/>
          <a:ext cx="8252524" cy="2653415"/>
        </p:xfrm>
        <a:graphic>
          <a:graphicData uri="http://schemas.openxmlformats.org/drawingml/2006/table">
            <a:tbl>
              <a:tblPr firstRow="1" bandRow="1">
                <a:tableStyleId>{2D5ABB26-0587-4C30-8999-92F81FD0307C}</a:tableStyleId>
              </a:tblPr>
              <a:tblGrid>
                <a:gridCol w="764123">
                  <a:extLst>
                    <a:ext uri="{9D8B030D-6E8A-4147-A177-3AD203B41FA5}">
                      <a16:colId xmlns:a16="http://schemas.microsoft.com/office/drawing/2014/main" val="20000"/>
                    </a:ext>
                  </a:extLst>
                </a:gridCol>
                <a:gridCol w="2598017">
                  <a:extLst>
                    <a:ext uri="{9D8B030D-6E8A-4147-A177-3AD203B41FA5}">
                      <a16:colId xmlns:a16="http://schemas.microsoft.com/office/drawing/2014/main" val="20001"/>
                    </a:ext>
                  </a:extLst>
                </a:gridCol>
                <a:gridCol w="2139543">
                  <a:extLst>
                    <a:ext uri="{9D8B030D-6E8A-4147-A177-3AD203B41FA5}">
                      <a16:colId xmlns:a16="http://schemas.microsoft.com/office/drawing/2014/main" val="20002"/>
                    </a:ext>
                  </a:extLst>
                </a:gridCol>
                <a:gridCol w="2750841">
                  <a:extLst>
                    <a:ext uri="{9D8B030D-6E8A-4147-A177-3AD203B41FA5}">
                      <a16:colId xmlns:a16="http://schemas.microsoft.com/office/drawing/2014/main" val="20003"/>
                    </a:ext>
                  </a:extLst>
                </a:gridCol>
              </a:tblGrid>
              <a:tr h="696625">
                <a:tc>
                  <a:txBody>
                    <a:bodyPr/>
                    <a:lstStyle/>
                    <a:p>
                      <a:pPr marL="92075">
                        <a:lnSpc>
                          <a:spcPct val="100000"/>
                        </a:lnSpc>
                        <a:spcBef>
                          <a:spcPts val="310"/>
                        </a:spcBef>
                      </a:pPr>
                      <a:r>
                        <a:rPr sz="1800" spc="-20" dirty="0">
                          <a:latin typeface="Times New Roman" panose="02020603050405020304" pitchFamily="18" charset="0"/>
                          <a:cs typeface="Times New Roman" panose="02020603050405020304" pitchFamily="18" charset="0"/>
                        </a:rPr>
                        <a:t>Item</a:t>
                      </a:r>
                      <a:endParaRPr sz="1800">
                        <a:latin typeface="Times New Roman" panose="02020603050405020304" pitchFamily="18" charset="0"/>
                        <a:cs typeface="Times New Roman" panose="02020603050405020304" pitchFamily="18" charset="0"/>
                      </a:endParaRPr>
                    </a:p>
                  </a:txBody>
                  <a:tcPr marL="0" marR="0" marT="3948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2075" marR="574040">
                        <a:lnSpc>
                          <a:spcPct val="100000"/>
                        </a:lnSpc>
                        <a:spcBef>
                          <a:spcPts val="310"/>
                        </a:spcBef>
                      </a:pPr>
                      <a:r>
                        <a:rPr sz="1800" dirty="0">
                          <a:latin typeface="Times New Roman" panose="02020603050405020304" pitchFamily="18" charset="0"/>
                          <a:cs typeface="Times New Roman" panose="02020603050405020304" pitchFamily="18" charset="0"/>
                        </a:rPr>
                        <a:t>Conditional</a:t>
                      </a:r>
                      <a:r>
                        <a:rPr sz="1800" spc="-6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pattern </a:t>
                      </a:r>
                      <a:r>
                        <a:rPr sz="1800" spc="-20" dirty="0">
                          <a:latin typeface="Times New Roman" panose="02020603050405020304" pitchFamily="18" charset="0"/>
                          <a:cs typeface="Times New Roman" panose="02020603050405020304" pitchFamily="18" charset="0"/>
                        </a:rPr>
                        <a:t>base</a:t>
                      </a:r>
                      <a:endParaRPr sz="1800">
                        <a:latin typeface="Times New Roman" panose="02020603050405020304" pitchFamily="18" charset="0"/>
                        <a:cs typeface="Times New Roman" panose="02020603050405020304" pitchFamily="18" charset="0"/>
                      </a:endParaRPr>
                    </a:p>
                  </a:txBody>
                  <a:tcPr marL="0" marR="0" marT="3948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2075" marR="890269">
                        <a:lnSpc>
                          <a:spcPts val="2600"/>
                        </a:lnSpc>
                        <a:spcBef>
                          <a:spcPts val="30"/>
                        </a:spcBef>
                      </a:pPr>
                      <a:r>
                        <a:rPr sz="1800" spc="-10" dirty="0">
                          <a:latin typeface="Times New Roman" panose="02020603050405020304" pitchFamily="18" charset="0"/>
                          <a:cs typeface="Times New Roman" panose="02020603050405020304" pitchFamily="18" charset="0"/>
                        </a:rPr>
                        <a:t>Conditional FP-</a:t>
                      </a:r>
                      <a:r>
                        <a:rPr sz="1800" spc="-20" dirty="0">
                          <a:latin typeface="Times New Roman" panose="02020603050405020304" pitchFamily="18" charset="0"/>
                          <a:cs typeface="Times New Roman" panose="02020603050405020304" pitchFamily="18" charset="0"/>
                        </a:rPr>
                        <a:t>Tree</a:t>
                      </a:r>
                      <a:endParaRPr sz="1800">
                        <a:latin typeface="Times New Roman" panose="02020603050405020304" pitchFamily="18" charset="0"/>
                        <a:cs typeface="Times New Roman" panose="02020603050405020304" pitchFamily="18" charset="0"/>
                      </a:endParaRPr>
                    </a:p>
                  </a:txBody>
                  <a:tcPr marL="0" marR="0" marT="3821"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2075" marR="953769">
                        <a:lnSpc>
                          <a:spcPct val="100000"/>
                        </a:lnSpc>
                        <a:spcBef>
                          <a:spcPts val="310"/>
                        </a:spcBef>
                      </a:pPr>
                      <a:r>
                        <a:rPr sz="1800" dirty="0">
                          <a:latin typeface="Times New Roman" panose="02020603050405020304" pitchFamily="18" charset="0"/>
                          <a:cs typeface="Times New Roman" panose="02020603050405020304" pitchFamily="18" charset="0"/>
                        </a:rPr>
                        <a:t>Frequent</a:t>
                      </a:r>
                      <a:r>
                        <a:rPr sz="1800" spc="-4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pattern generated</a:t>
                      </a:r>
                      <a:endParaRPr sz="1800">
                        <a:latin typeface="Times New Roman" panose="02020603050405020304" pitchFamily="18" charset="0"/>
                        <a:cs typeface="Times New Roman" panose="02020603050405020304" pitchFamily="18" charset="0"/>
                      </a:endParaRPr>
                    </a:p>
                  </a:txBody>
                  <a:tcPr marL="0" marR="0" marT="39480"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39370">
                <a:tc>
                  <a:txBody>
                    <a:bodyPr/>
                    <a:lstStyle/>
                    <a:p>
                      <a:pPr marL="92075">
                        <a:lnSpc>
                          <a:spcPct val="100000"/>
                        </a:lnSpc>
                        <a:spcBef>
                          <a:spcPts val="310"/>
                        </a:spcBef>
                      </a:pPr>
                      <a:r>
                        <a:rPr sz="1800" spc="-25" dirty="0">
                          <a:latin typeface="Times New Roman" panose="02020603050405020304" pitchFamily="18" charset="0"/>
                          <a:cs typeface="Times New Roman" panose="02020603050405020304" pitchFamily="18" charset="0"/>
                        </a:rPr>
                        <a:t>I5</a:t>
                      </a:r>
                      <a:endParaRPr sz="1800">
                        <a:latin typeface="Times New Roman" panose="02020603050405020304" pitchFamily="18" charset="0"/>
                        <a:cs typeface="Times New Roman" panose="02020603050405020304" pitchFamily="18" charset="0"/>
                      </a:endParaRPr>
                    </a:p>
                  </a:txBody>
                  <a:tcPr marL="0" marR="0" marT="3948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0"/>
                        </a:spcBef>
                      </a:pPr>
                      <a:r>
                        <a:rPr sz="1800" dirty="0">
                          <a:latin typeface="Times New Roman" panose="02020603050405020304" pitchFamily="18" charset="0"/>
                          <a:cs typeface="Times New Roman" panose="02020603050405020304" pitchFamily="18" charset="0"/>
                        </a:rPr>
                        <a:t>{(I2</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I1:</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1),(I2</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I1</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I3:</a:t>
                      </a:r>
                      <a:r>
                        <a:rPr sz="1800" spc="-1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1)}</a:t>
                      </a:r>
                      <a:endParaRPr sz="1800">
                        <a:latin typeface="Times New Roman" panose="02020603050405020304" pitchFamily="18" charset="0"/>
                        <a:cs typeface="Times New Roman" panose="02020603050405020304" pitchFamily="18" charset="0"/>
                      </a:endParaRPr>
                    </a:p>
                  </a:txBody>
                  <a:tcPr marL="0" marR="0" marT="39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170">
                        <a:lnSpc>
                          <a:spcPct val="100000"/>
                        </a:lnSpc>
                        <a:spcBef>
                          <a:spcPts val="310"/>
                        </a:spcBef>
                      </a:pPr>
                      <a:r>
                        <a:rPr sz="1800" dirty="0">
                          <a:latin typeface="Times New Roman" panose="02020603050405020304" pitchFamily="18" charset="0"/>
                          <a:cs typeface="Times New Roman" panose="02020603050405020304" pitchFamily="18" charset="0"/>
                        </a:rPr>
                        <a:t>&lt;I2:2</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5"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I1:2&gt;</a:t>
                      </a:r>
                      <a:endParaRPr sz="1800">
                        <a:latin typeface="Times New Roman" panose="02020603050405020304" pitchFamily="18" charset="0"/>
                        <a:cs typeface="Times New Roman" panose="02020603050405020304" pitchFamily="18" charset="0"/>
                      </a:endParaRPr>
                    </a:p>
                  </a:txBody>
                  <a:tcPr marL="0" marR="0" marT="39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10"/>
                        </a:spcBef>
                      </a:pPr>
                      <a:r>
                        <a:rPr sz="1800" dirty="0">
                          <a:latin typeface="Times New Roman" panose="02020603050405020304" pitchFamily="18" charset="0"/>
                          <a:cs typeface="Times New Roman" panose="02020603050405020304" pitchFamily="18" charset="0"/>
                        </a:rPr>
                        <a:t>I2</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I5:2,</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I1</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I5:2,</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I2</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I1</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I5:</a:t>
                      </a:r>
                      <a:r>
                        <a:rPr sz="1800" spc="-15" dirty="0">
                          <a:latin typeface="Times New Roman" panose="02020603050405020304" pitchFamily="18" charset="0"/>
                          <a:cs typeface="Times New Roman" panose="02020603050405020304" pitchFamily="18" charset="0"/>
                        </a:rPr>
                        <a:t> </a:t>
                      </a:r>
                      <a:r>
                        <a:rPr sz="1800" spc="-50" dirty="0">
                          <a:latin typeface="Times New Roman" panose="02020603050405020304" pitchFamily="18" charset="0"/>
                          <a:cs typeface="Times New Roman" panose="02020603050405020304" pitchFamily="18" charset="0"/>
                        </a:rPr>
                        <a:t>2</a:t>
                      </a:r>
                      <a:endParaRPr sz="1800">
                        <a:latin typeface="Times New Roman" panose="02020603050405020304" pitchFamily="18" charset="0"/>
                        <a:cs typeface="Times New Roman" panose="02020603050405020304" pitchFamily="18" charset="0"/>
                      </a:endParaRPr>
                    </a:p>
                  </a:txBody>
                  <a:tcPr marL="0" marR="0" marT="3948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37460">
                <a:tc>
                  <a:txBody>
                    <a:bodyPr/>
                    <a:lstStyle/>
                    <a:p>
                      <a:pPr marL="92075">
                        <a:lnSpc>
                          <a:spcPct val="100000"/>
                        </a:lnSpc>
                        <a:spcBef>
                          <a:spcPts val="310"/>
                        </a:spcBef>
                      </a:pPr>
                      <a:r>
                        <a:rPr sz="1800" spc="-25" dirty="0">
                          <a:latin typeface="Times New Roman" panose="02020603050405020304" pitchFamily="18" charset="0"/>
                          <a:cs typeface="Times New Roman" panose="02020603050405020304" pitchFamily="18" charset="0"/>
                        </a:rPr>
                        <a:t>I4</a:t>
                      </a:r>
                      <a:endParaRPr sz="1800">
                        <a:latin typeface="Times New Roman" panose="02020603050405020304" pitchFamily="18" charset="0"/>
                        <a:cs typeface="Times New Roman" panose="02020603050405020304" pitchFamily="18" charset="0"/>
                      </a:endParaRPr>
                    </a:p>
                  </a:txBody>
                  <a:tcPr marL="0" marR="0" marT="3948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0"/>
                        </a:spcBef>
                      </a:pPr>
                      <a:r>
                        <a:rPr sz="1800" dirty="0">
                          <a:latin typeface="Times New Roman" panose="02020603050405020304" pitchFamily="18" charset="0"/>
                          <a:cs typeface="Times New Roman" panose="02020603050405020304" pitchFamily="18" charset="0"/>
                        </a:rPr>
                        <a:t>{(I2</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I1:</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1),(I2:</a:t>
                      </a:r>
                      <a:r>
                        <a:rPr sz="1800" spc="-2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1)}</a:t>
                      </a:r>
                      <a:endParaRPr sz="1800">
                        <a:latin typeface="Times New Roman" panose="02020603050405020304" pitchFamily="18" charset="0"/>
                        <a:cs typeface="Times New Roman" panose="02020603050405020304" pitchFamily="18" charset="0"/>
                      </a:endParaRPr>
                    </a:p>
                  </a:txBody>
                  <a:tcPr marL="0" marR="0" marT="39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170">
                        <a:lnSpc>
                          <a:spcPct val="100000"/>
                        </a:lnSpc>
                        <a:spcBef>
                          <a:spcPts val="310"/>
                        </a:spcBef>
                      </a:pPr>
                      <a:r>
                        <a:rPr sz="1800" dirty="0">
                          <a:latin typeface="Times New Roman" panose="02020603050405020304" pitchFamily="18" charset="0"/>
                          <a:cs typeface="Times New Roman" panose="02020603050405020304" pitchFamily="18" charset="0"/>
                        </a:rPr>
                        <a:t>&lt;I2:</a:t>
                      </a:r>
                      <a:r>
                        <a:rPr sz="1800" spc="-2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2&gt;</a:t>
                      </a:r>
                      <a:endParaRPr sz="1800">
                        <a:latin typeface="Times New Roman" panose="02020603050405020304" pitchFamily="18" charset="0"/>
                        <a:cs typeface="Times New Roman" panose="02020603050405020304" pitchFamily="18" charset="0"/>
                      </a:endParaRPr>
                    </a:p>
                  </a:txBody>
                  <a:tcPr marL="0" marR="0" marT="39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10"/>
                        </a:spcBef>
                      </a:pPr>
                      <a:r>
                        <a:rPr sz="1800" dirty="0">
                          <a:latin typeface="Times New Roman" panose="02020603050405020304" pitchFamily="18" charset="0"/>
                          <a:cs typeface="Times New Roman" panose="02020603050405020304" pitchFamily="18" charset="0"/>
                        </a:rPr>
                        <a:t>I2</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I4:</a:t>
                      </a:r>
                      <a:r>
                        <a:rPr sz="1800" spc="-10" dirty="0">
                          <a:latin typeface="Times New Roman" panose="02020603050405020304" pitchFamily="18" charset="0"/>
                          <a:cs typeface="Times New Roman" panose="02020603050405020304" pitchFamily="18" charset="0"/>
                        </a:rPr>
                        <a:t> </a:t>
                      </a:r>
                      <a:r>
                        <a:rPr sz="1800" spc="-50" dirty="0">
                          <a:latin typeface="Times New Roman" panose="02020603050405020304" pitchFamily="18" charset="0"/>
                          <a:cs typeface="Times New Roman" panose="02020603050405020304" pitchFamily="18" charset="0"/>
                        </a:rPr>
                        <a:t>2</a:t>
                      </a:r>
                      <a:endParaRPr sz="1800">
                        <a:latin typeface="Times New Roman" panose="02020603050405020304" pitchFamily="18" charset="0"/>
                        <a:cs typeface="Times New Roman" panose="02020603050405020304" pitchFamily="18" charset="0"/>
                      </a:endParaRPr>
                    </a:p>
                  </a:txBody>
                  <a:tcPr marL="0" marR="0" marT="3948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41226">
                <a:tc>
                  <a:txBody>
                    <a:bodyPr/>
                    <a:lstStyle/>
                    <a:p>
                      <a:pPr marL="92075">
                        <a:lnSpc>
                          <a:spcPct val="100000"/>
                        </a:lnSpc>
                        <a:spcBef>
                          <a:spcPts val="310"/>
                        </a:spcBef>
                      </a:pPr>
                      <a:r>
                        <a:rPr sz="1800" spc="-25" dirty="0">
                          <a:latin typeface="Times New Roman" panose="02020603050405020304" pitchFamily="18" charset="0"/>
                          <a:cs typeface="Times New Roman" panose="02020603050405020304" pitchFamily="18" charset="0"/>
                        </a:rPr>
                        <a:t>I3</a:t>
                      </a:r>
                      <a:endParaRPr sz="1800">
                        <a:latin typeface="Times New Roman" panose="02020603050405020304" pitchFamily="18" charset="0"/>
                        <a:cs typeface="Times New Roman" panose="02020603050405020304" pitchFamily="18" charset="0"/>
                      </a:endParaRPr>
                    </a:p>
                  </a:txBody>
                  <a:tcPr marL="0" marR="0" marT="3948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0"/>
                        </a:spcBef>
                      </a:pPr>
                      <a:r>
                        <a:rPr sz="1800" dirty="0">
                          <a:latin typeface="Times New Roman" panose="02020603050405020304" pitchFamily="18" charset="0"/>
                          <a:cs typeface="Times New Roman" panose="02020603050405020304" pitchFamily="18" charset="0"/>
                        </a:rPr>
                        <a:t>{(I2</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I1:</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1),(I2:</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2),</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(I1:</a:t>
                      </a:r>
                      <a:r>
                        <a:rPr sz="1800" spc="-1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2)}</a:t>
                      </a:r>
                      <a:endParaRPr sz="1800">
                        <a:latin typeface="Times New Roman" panose="02020603050405020304" pitchFamily="18" charset="0"/>
                        <a:cs typeface="Times New Roman" panose="02020603050405020304" pitchFamily="18" charset="0"/>
                      </a:endParaRPr>
                    </a:p>
                  </a:txBody>
                  <a:tcPr marL="0" marR="0" marT="39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061720" indent="-1270">
                        <a:lnSpc>
                          <a:spcPct val="100000"/>
                        </a:lnSpc>
                        <a:spcBef>
                          <a:spcPts val="310"/>
                        </a:spcBef>
                      </a:pPr>
                      <a:r>
                        <a:rPr sz="1800" dirty="0">
                          <a:latin typeface="Times New Roman" panose="02020603050405020304" pitchFamily="18" charset="0"/>
                          <a:cs typeface="Times New Roman" panose="02020603050405020304" pitchFamily="18" charset="0"/>
                        </a:rPr>
                        <a:t>&lt;I2:</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4,</a:t>
                      </a:r>
                      <a:r>
                        <a:rPr sz="1800" spc="-1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I1: </a:t>
                      </a:r>
                      <a:r>
                        <a:rPr sz="1800" spc="-10" dirty="0">
                          <a:latin typeface="Times New Roman" panose="02020603050405020304" pitchFamily="18" charset="0"/>
                          <a:cs typeface="Times New Roman" panose="02020603050405020304" pitchFamily="18" charset="0"/>
                        </a:rPr>
                        <a:t>2&gt;,&lt;I1:2&gt;</a:t>
                      </a:r>
                      <a:endParaRPr sz="1800">
                        <a:latin typeface="Times New Roman" panose="02020603050405020304" pitchFamily="18" charset="0"/>
                        <a:cs typeface="Times New Roman" panose="02020603050405020304" pitchFamily="18" charset="0"/>
                      </a:endParaRPr>
                    </a:p>
                  </a:txBody>
                  <a:tcPr marL="0" marR="0" marT="39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65735">
                        <a:lnSpc>
                          <a:spcPct val="100000"/>
                        </a:lnSpc>
                        <a:spcBef>
                          <a:spcPts val="310"/>
                        </a:spcBef>
                      </a:pPr>
                      <a:r>
                        <a:rPr sz="1800" dirty="0">
                          <a:latin typeface="Times New Roman" panose="02020603050405020304" pitchFamily="18" charset="0"/>
                          <a:cs typeface="Times New Roman" panose="02020603050405020304" pitchFamily="18" charset="0"/>
                        </a:rPr>
                        <a:t>I2</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I3:4,</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I1,</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I3:</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2</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I2</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I1</a:t>
                      </a:r>
                      <a:r>
                        <a:rPr sz="1800" spc="-1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I3: </a:t>
                      </a:r>
                      <a:r>
                        <a:rPr sz="1800" spc="-50" dirty="0">
                          <a:latin typeface="Times New Roman" panose="02020603050405020304" pitchFamily="18" charset="0"/>
                          <a:cs typeface="Times New Roman" panose="02020603050405020304" pitchFamily="18" charset="0"/>
                        </a:rPr>
                        <a:t>2</a:t>
                      </a:r>
                      <a:endParaRPr sz="1800">
                        <a:latin typeface="Times New Roman" panose="02020603050405020304" pitchFamily="18" charset="0"/>
                        <a:cs typeface="Times New Roman" panose="02020603050405020304" pitchFamily="18" charset="0"/>
                      </a:endParaRPr>
                    </a:p>
                  </a:txBody>
                  <a:tcPr marL="0" marR="0" marT="3948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38734">
                <a:tc>
                  <a:txBody>
                    <a:bodyPr/>
                    <a:lstStyle/>
                    <a:p>
                      <a:pPr marL="92075">
                        <a:lnSpc>
                          <a:spcPct val="100000"/>
                        </a:lnSpc>
                        <a:spcBef>
                          <a:spcPts val="310"/>
                        </a:spcBef>
                      </a:pPr>
                      <a:r>
                        <a:rPr sz="1800" spc="-25" dirty="0">
                          <a:latin typeface="Times New Roman" panose="02020603050405020304" pitchFamily="18" charset="0"/>
                          <a:cs typeface="Times New Roman" panose="02020603050405020304" pitchFamily="18" charset="0"/>
                        </a:rPr>
                        <a:t>I2</a:t>
                      </a:r>
                      <a:endParaRPr sz="1800">
                        <a:latin typeface="Times New Roman" panose="02020603050405020304" pitchFamily="18" charset="0"/>
                        <a:cs typeface="Times New Roman" panose="02020603050405020304" pitchFamily="18" charset="0"/>
                      </a:endParaRPr>
                    </a:p>
                  </a:txBody>
                  <a:tcPr marL="0" marR="0" marT="3948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2075">
                        <a:lnSpc>
                          <a:spcPct val="100000"/>
                        </a:lnSpc>
                        <a:spcBef>
                          <a:spcPts val="310"/>
                        </a:spcBef>
                      </a:pPr>
                      <a:r>
                        <a:rPr sz="1800" dirty="0">
                          <a:latin typeface="Times New Roman" panose="02020603050405020304" pitchFamily="18" charset="0"/>
                          <a:cs typeface="Times New Roman" panose="02020603050405020304" pitchFamily="18" charset="0"/>
                        </a:rPr>
                        <a:t>{(I2:</a:t>
                      </a:r>
                      <a:r>
                        <a:rPr sz="1800" spc="-25" dirty="0">
                          <a:latin typeface="Times New Roman" panose="02020603050405020304" pitchFamily="18" charset="0"/>
                          <a:cs typeface="Times New Roman" panose="02020603050405020304" pitchFamily="18" charset="0"/>
                        </a:rPr>
                        <a:t> 4)}</a:t>
                      </a:r>
                      <a:endParaRPr sz="1800">
                        <a:latin typeface="Times New Roman" panose="02020603050405020304" pitchFamily="18" charset="0"/>
                        <a:cs typeface="Times New Roman" panose="02020603050405020304" pitchFamily="18" charset="0"/>
                      </a:endParaRPr>
                    </a:p>
                  </a:txBody>
                  <a:tcPr marL="0" marR="0" marT="394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1440">
                        <a:lnSpc>
                          <a:spcPct val="100000"/>
                        </a:lnSpc>
                        <a:spcBef>
                          <a:spcPts val="310"/>
                        </a:spcBef>
                      </a:pPr>
                      <a:r>
                        <a:rPr sz="1800" dirty="0">
                          <a:latin typeface="Times New Roman" panose="02020603050405020304" pitchFamily="18" charset="0"/>
                          <a:cs typeface="Times New Roman" panose="02020603050405020304" pitchFamily="18" charset="0"/>
                        </a:rPr>
                        <a:t>&lt;I2:</a:t>
                      </a:r>
                      <a:r>
                        <a:rPr sz="1800" spc="-20"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4&gt;</a:t>
                      </a:r>
                      <a:endParaRPr sz="1800" dirty="0">
                        <a:latin typeface="Times New Roman" panose="02020603050405020304" pitchFamily="18" charset="0"/>
                        <a:cs typeface="Times New Roman" panose="02020603050405020304" pitchFamily="18" charset="0"/>
                      </a:endParaRPr>
                    </a:p>
                  </a:txBody>
                  <a:tcPr marL="0" marR="0" marT="3948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1440">
                        <a:lnSpc>
                          <a:spcPct val="100000"/>
                        </a:lnSpc>
                        <a:spcBef>
                          <a:spcPts val="310"/>
                        </a:spcBef>
                      </a:pPr>
                      <a:r>
                        <a:rPr sz="1800" dirty="0">
                          <a:latin typeface="Times New Roman" panose="02020603050405020304" pitchFamily="18" charset="0"/>
                          <a:cs typeface="Times New Roman" panose="02020603050405020304" pitchFamily="18" charset="0"/>
                        </a:rPr>
                        <a:t>I2</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I1:</a:t>
                      </a:r>
                      <a:r>
                        <a:rPr sz="1800" spc="-10" dirty="0">
                          <a:latin typeface="Times New Roman" panose="02020603050405020304" pitchFamily="18" charset="0"/>
                          <a:cs typeface="Times New Roman" panose="02020603050405020304" pitchFamily="18" charset="0"/>
                        </a:rPr>
                        <a:t> </a:t>
                      </a:r>
                      <a:r>
                        <a:rPr sz="1800" spc="-50" dirty="0">
                          <a:latin typeface="Times New Roman" panose="02020603050405020304" pitchFamily="18" charset="0"/>
                          <a:cs typeface="Times New Roman" panose="02020603050405020304" pitchFamily="18" charset="0"/>
                        </a:rPr>
                        <a:t>4</a:t>
                      </a:r>
                      <a:endParaRPr sz="1800" dirty="0">
                        <a:latin typeface="Times New Roman" panose="02020603050405020304" pitchFamily="18" charset="0"/>
                        <a:cs typeface="Times New Roman" panose="02020603050405020304" pitchFamily="18" charset="0"/>
                      </a:endParaRPr>
                    </a:p>
                  </a:txBody>
                  <a:tcPr marL="0" marR="0" marT="3948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bl>
          </a:graphicData>
        </a:graphic>
      </p:graphicFrame>
      <p:sp>
        <p:nvSpPr>
          <p:cNvPr id="4" name="object 4"/>
          <p:cNvSpPr txBox="1"/>
          <p:nvPr/>
        </p:nvSpPr>
        <p:spPr>
          <a:xfrm>
            <a:off x="525461" y="3983243"/>
            <a:ext cx="8187573" cy="2042128"/>
          </a:xfrm>
          <a:prstGeom prst="rect">
            <a:avLst/>
          </a:prstGeom>
        </p:spPr>
        <p:txBody>
          <a:bodyPr vert="horz" wrap="square" lIns="0" tIns="173201" rIns="0" bIns="0" rtlCol="0">
            <a:spAutoFit/>
          </a:bodyPr>
          <a:lstStyle/>
          <a:p>
            <a:pPr marL="562275">
              <a:spcBef>
                <a:spcPts val="1364"/>
              </a:spcBef>
            </a:pPr>
            <a:r>
              <a:rPr sz="1805" b="1" dirty="0">
                <a:latin typeface="Times New Roman" panose="02020603050405020304" pitchFamily="18" charset="0"/>
                <a:cs typeface="Times New Roman" panose="02020603050405020304" pitchFamily="18" charset="0"/>
              </a:rPr>
              <a:t>Mining</a:t>
            </a:r>
            <a:r>
              <a:rPr sz="1805" b="1" spc="-20" dirty="0">
                <a:latin typeface="Times New Roman" panose="02020603050405020304" pitchFamily="18" charset="0"/>
                <a:cs typeface="Times New Roman" panose="02020603050405020304" pitchFamily="18" charset="0"/>
              </a:rPr>
              <a:t> </a:t>
            </a:r>
            <a:r>
              <a:rPr sz="1805" b="1" dirty="0">
                <a:latin typeface="Times New Roman" panose="02020603050405020304" pitchFamily="18" charset="0"/>
                <a:cs typeface="Times New Roman" panose="02020603050405020304" pitchFamily="18" charset="0"/>
              </a:rPr>
              <a:t>the</a:t>
            </a:r>
            <a:r>
              <a:rPr sz="1805" b="1" spc="-20" dirty="0">
                <a:latin typeface="Times New Roman" panose="02020603050405020304" pitchFamily="18" charset="0"/>
                <a:cs typeface="Times New Roman" panose="02020603050405020304" pitchFamily="18" charset="0"/>
              </a:rPr>
              <a:t> </a:t>
            </a:r>
            <a:r>
              <a:rPr sz="1805" b="1" dirty="0">
                <a:latin typeface="Times New Roman" panose="02020603050405020304" pitchFamily="18" charset="0"/>
                <a:cs typeface="Times New Roman" panose="02020603050405020304" pitchFamily="18" charset="0"/>
              </a:rPr>
              <a:t>FP-Tree</a:t>
            </a:r>
            <a:r>
              <a:rPr sz="1805" b="1" spc="-15" dirty="0">
                <a:latin typeface="Times New Roman" panose="02020603050405020304" pitchFamily="18" charset="0"/>
                <a:cs typeface="Times New Roman" panose="02020603050405020304" pitchFamily="18" charset="0"/>
              </a:rPr>
              <a:t> </a:t>
            </a:r>
            <a:r>
              <a:rPr sz="1805" b="1" dirty="0">
                <a:latin typeface="Times New Roman" panose="02020603050405020304" pitchFamily="18" charset="0"/>
                <a:cs typeface="Times New Roman" panose="02020603050405020304" pitchFamily="18" charset="0"/>
              </a:rPr>
              <a:t>by</a:t>
            </a:r>
            <a:r>
              <a:rPr sz="1805" b="1" spc="-20" dirty="0">
                <a:latin typeface="Times New Roman" panose="02020603050405020304" pitchFamily="18" charset="0"/>
                <a:cs typeface="Times New Roman" panose="02020603050405020304" pitchFamily="18" charset="0"/>
              </a:rPr>
              <a:t> </a:t>
            </a:r>
            <a:r>
              <a:rPr sz="1805" b="1" dirty="0">
                <a:latin typeface="Times New Roman" panose="02020603050405020304" pitchFamily="18" charset="0"/>
                <a:cs typeface="Times New Roman" panose="02020603050405020304" pitchFamily="18" charset="0"/>
              </a:rPr>
              <a:t>creating</a:t>
            </a:r>
            <a:r>
              <a:rPr sz="1805" b="1" spc="-15" dirty="0">
                <a:latin typeface="Times New Roman" panose="02020603050405020304" pitchFamily="18" charset="0"/>
                <a:cs typeface="Times New Roman" panose="02020603050405020304" pitchFamily="18" charset="0"/>
              </a:rPr>
              <a:t> </a:t>
            </a:r>
            <a:r>
              <a:rPr sz="1805" b="1" dirty="0">
                <a:latin typeface="Times New Roman" panose="02020603050405020304" pitchFamily="18" charset="0"/>
                <a:cs typeface="Times New Roman" panose="02020603050405020304" pitchFamily="18" charset="0"/>
              </a:rPr>
              <a:t>conditional</a:t>
            </a:r>
            <a:r>
              <a:rPr sz="1805" b="1" spc="-20" dirty="0">
                <a:latin typeface="Times New Roman" panose="02020603050405020304" pitchFamily="18" charset="0"/>
                <a:cs typeface="Times New Roman" panose="02020603050405020304" pitchFamily="18" charset="0"/>
              </a:rPr>
              <a:t> </a:t>
            </a:r>
            <a:r>
              <a:rPr sz="1805" b="1" dirty="0">
                <a:latin typeface="Times New Roman" panose="02020603050405020304" pitchFamily="18" charset="0"/>
                <a:cs typeface="Times New Roman" panose="02020603050405020304" pitchFamily="18" charset="0"/>
              </a:rPr>
              <a:t>(sub)</a:t>
            </a:r>
            <a:r>
              <a:rPr sz="1805" b="1" spc="-15" dirty="0">
                <a:latin typeface="Times New Roman" panose="02020603050405020304" pitchFamily="18" charset="0"/>
                <a:cs typeface="Times New Roman" panose="02020603050405020304" pitchFamily="18" charset="0"/>
              </a:rPr>
              <a:t> </a:t>
            </a:r>
            <a:r>
              <a:rPr sz="1805" b="1" dirty="0">
                <a:latin typeface="Times New Roman" panose="02020603050405020304" pitchFamily="18" charset="0"/>
                <a:cs typeface="Times New Roman" panose="02020603050405020304" pitchFamily="18" charset="0"/>
              </a:rPr>
              <a:t>pattern</a:t>
            </a:r>
            <a:r>
              <a:rPr sz="1805" b="1" spc="-20" dirty="0">
                <a:latin typeface="Times New Roman" panose="02020603050405020304" pitchFamily="18" charset="0"/>
                <a:cs typeface="Times New Roman" panose="02020603050405020304" pitchFamily="18" charset="0"/>
              </a:rPr>
              <a:t> </a:t>
            </a:r>
            <a:r>
              <a:rPr sz="1805" b="1" spc="-10" dirty="0">
                <a:latin typeface="Times New Roman" panose="02020603050405020304" pitchFamily="18" charset="0"/>
                <a:cs typeface="Times New Roman" panose="02020603050405020304" pitchFamily="18" charset="0"/>
              </a:rPr>
              <a:t>bases</a:t>
            </a:r>
            <a:endParaRPr sz="1805" dirty="0">
              <a:latin typeface="Times New Roman" panose="02020603050405020304" pitchFamily="18" charset="0"/>
              <a:cs typeface="Times New Roman" panose="02020603050405020304" pitchFamily="18" charset="0"/>
            </a:endParaRPr>
          </a:p>
          <a:p>
            <a:pPr marL="12736">
              <a:spcBef>
                <a:spcPts val="1264"/>
              </a:spcBef>
            </a:pPr>
            <a:r>
              <a:rPr sz="1805" dirty="0">
                <a:latin typeface="Times New Roman" panose="02020603050405020304" pitchFamily="18" charset="0"/>
                <a:cs typeface="Times New Roman" panose="02020603050405020304" pitchFamily="18" charset="0"/>
              </a:rPr>
              <a:t>Now,</a:t>
            </a:r>
            <a:r>
              <a:rPr sz="1805" spc="-3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Following</a:t>
            </a:r>
            <a:r>
              <a:rPr sz="1805" spc="-2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the</a:t>
            </a:r>
            <a:r>
              <a:rPr sz="1805" spc="-3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above</a:t>
            </a:r>
            <a:r>
              <a:rPr sz="1805" spc="-2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mentioned</a:t>
            </a:r>
            <a:r>
              <a:rPr sz="1805" spc="-25" dirty="0">
                <a:latin typeface="Times New Roman" panose="02020603050405020304" pitchFamily="18" charset="0"/>
                <a:cs typeface="Times New Roman" panose="02020603050405020304" pitchFamily="18" charset="0"/>
              </a:rPr>
              <a:t> </a:t>
            </a:r>
            <a:r>
              <a:rPr sz="1805" spc="-10" dirty="0">
                <a:latin typeface="Times New Roman" panose="02020603050405020304" pitchFamily="18" charset="0"/>
                <a:cs typeface="Times New Roman" panose="02020603050405020304" pitchFamily="18" charset="0"/>
              </a:rPr>
              <a:t>steps:</a:t>
            </a:r>
            <a:endParaRPr sz="1805" dirty="0">
              <a:latin typeface="Times New Roman" panose="02020603050405020304" pitchFamily="18" charset="0"/>
              <a:cs typeface="Times New Roman" panose="02020603050405020304" pitchFamily="18" charset="0"/>
            </a:endParaRPr>
          </a:p>
          <a:p>
            <a:pPr marL="356596" marR="5094" indent="-343860">
              <a:lnSpc>
                <a:spcPts val="1955"/>
              </a:lnSpc>
              <a:spcBef>
                <a:spcPts val="466"/>
              </a:spcBef>
              <a:buChar char="•"/>
              <a:tabLst>
                <a:tab pos="356596" algn="l"/>
              </a:tabLst>
            </a:pPr>
            <a:r>
              <a:rPr sz="1805" dirty="0">
                <a:latin typeface="Times New Roman" panose="02020603050405020304" pitchFamily="18" charset="0"/>
                <a:cs typeface="Times New Roman" panose="02020603050405020304" pitchFamily="18" charset="0"/>
              </a:rPr>
              <a:t>Lets</a:t>
            </a:r>
            <a:r>
              <a:rPr sz="1805" spc="-3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start</a:t>
            </a:r>
            <a:r>
              <a:rPr sz="1805" spc="-1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from</a:t>
            </a:r>
            <a:r>
              <a:rPr sz="1805" spc="-1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I5.</a:t>
            </a:r>
            <a:r>
              <a:rPr sz="1805" spc="-1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The</a:t>
            </a:r>
            <a:r>
              <a:rPr sz="1805" spc="-1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I5</a:t>
            </a:r>
            <a:r>
              <a:rPr sz="1805" spc="-1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is</a:t>
            </a:r>
            <a:r>
              <a:rPr sz="1805" spc="-1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involved</a:t>
            </a:r>
            <a:r>
              <a:rPr sz="1805" spc="-1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in</a:t>
            </a:r>
            <a:r>
              <a:rPr sz="1805" spc="-2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2</a:t>
            </a:r>
            <a:r>
              <a:rPr sz="1805" spc="-1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branches</a:t>
            </a:r>
            <a:r>
              <a:rPr sz="1805" spc="-1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namely</a:t>
            </a:r>
            <a:r>
              <a:rPr sz="1805" spc="-1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{I2</a:t>
            </a:r>
            <a:r>
              <a:rPr sz="1805" spc="-1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I1</a:t>
            </a:r>
            <a:r>
              <a:rPr sz="1805" spc="-1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I5:</a:t>
            </a:r>
            <a:r>
              <a:rPr sz="1805" spc="-1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1}</a:t>
            </a:r>
            <a:r>
              <a:rPr sz="1805" spc="-1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and</a:t>
            </a:r>
            <a:r>
              <a:rPr sz="1805" spc="-15" dirty="0">
                <a:latin typeface="Times New Roman" panose="02020603050405020304" pitchFamily="18" charset="0"/>
                <a:cs typeface="Times New Roman" panose="02020603050405020304" pitchFamily="18" charset="0"/>
              </a:rPr>
              <a:t> </a:t>
            </a:r>
            <a:r>
              <a:rPr sz="1805" spc="-25" dirty="0">
                <a:latin typeface="Times New Roman" panose="02020603050405020304" pitchFamily="18" charset="0"/>
                <a:cs typeface="Times New Roman" panose="02020603050405020304" pitchFamily="18" charset="0"/>
              </a:rPr>
              <a:t>{I2 </a:t>
            </a:r>
            <a:r>
              <a:rPr sz="1805" dirty="0">
                <a:latin typeface="Times New Roman" panose="02020603050405020304" pitchFamily="18" charset="0"/>
                <a:cs typeface="Times New Roman" panose="02020603050405020304" pitchFamily="18" charset="0"/>
              </a:rPr>
              <a:t>I1</a:t>
            </a:r>
            <a:r>
              <a:rPr sz="1805" spc="-1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I3</a:t>
            </a:r>
            <a:r>
              <a:rPr sz="1805" spc="-1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I5:</a:t>
            </a:r>
            <a:r>
              <a:rPr sz="1805" spc="-5" dirty="0">
                <a:latin typeface="Times New Roman" panose="02020603050405020304" pitchFamily="18" charset="0"/>
                <a:cs typeface="Times New Roman" panose="02020603050405020304" pitchFamily="18" charset="0"/>
              </a:rPr>
              <a:t> </a:t>
            </a:r>
            <a:r>
              <a:rPr sz="1805" spc="-25" dirty="0">
                <a:latin typeface="Times New Roman" panose="02020603050405020304" pitchFamily="18" charset="0"/>
                <a:cs typeface="Times New Roman" panose="02020603050405020304" pitchFamily="18" charset="0"/>
              </a:rPr>
              <a:t>1}.</a:t>
            </a:r>
            <a:endParaRPr sz="1805" dirty="0">
              <a:latin typeface="Times New Roman" panose="02020603050405020304" pitchFamily="18" charset="0"/>
              <a:cs typeface="Times New Roman" panose="02020603050405020304" pitchFamily="18" charset="0"/>
            </a:endParaRPr>
          </a:p>
          <a:p>
            <a:pPr marL="355959" indent="-343223">
              <a:lnSpc>
                <a:spcPts val="2061"/>
              </a:lnSpc>
              <a:spcBef>
                <a:spcPts val="201"/>
              </a:spcBef>
              <a:buChar char="•"/>
              <a:tabLst>
                <a:tab pos="355959" algn="l"/>
              </a:tabLst>
            </a:pPr>
            <a:r>
              <a:rPr sz="1805" dirty="0">
                <a:latin typeface="Times New Roman" panose="02020603050405020304" pitchFamily="18" charset="0"/>
                <a:cs typeface="Times New Roman" panose="02020603050405020304" pitchFamily="18" charset="0"/>
              </a:rPr>
              <a:t>Therefore</a:t>
            </a:r>
            <a:r>
              <a:rPr sz="1805" spc="-3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considering</a:t>
            </a:r>
            <a:r>
              <a:rPr sz="1805" spc="-2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I5</a:t>
            </a:r>
            <a:r>
              <a:rPr sz="1805" spc="-3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as</a:t>
            </a:r>
            <a:r>
              <a:rPr sz="1805" spc="-2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suffix,</a:t>
            </a:r>
            <a:r>
              <a:rPr sz="1805" spc="-3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its</a:t>
            </a:r>
            <a:r>
              <a:rPr sz="1805" spc="-2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2</a:t>
            </a:r>
            <a:r>
              <a:rPr sz="1805" spc="-3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corresponding</a:t>
            </a:r>
            <a:r>
              <a:rPr sz="1805" spc="-2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prefix</a:t>
            </a:r>
            <a:r>
              <a:rPr sz="1805" spc="-3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paths</a:t>
            </a:r>
            <a:r>
              <a:rPr sz="1805" spc="-2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would</a:t>
            </a:r>
            <a:r>
              <a:rPr sz="1805" spc="-30" dirty="0">
                <a:latin typeface="Times New Roman" panose="02020603050405020304" pitchFamily="18" charset="0"/>
                <a:cs typeface="Times New Roman" panose="02020603050405020304" pitchFamily="18" charset="0"/>
              </a:rPr>
              <a:t> </a:t>
            </a:r>
            <a:r>
              <a:rPr sz="1805" spc="-25" dirty="0">
                <a:latin typeface="Times New Roman" panose="02020603050405020304" pitchFamily="18" charset="0"/>
                <a:cs typeface="Times New Roman" panose="02020603050405020304" pitchFamily="18" charset="0"/>
              </a:rPr>
              <a:t>be</a:t>
            </a:r>
            <a:endParaRPr sz="1805" dirty="0">
              <a:latin typeface="Times New Roman" panose="02020603050405020304" pitchFamily="18" charset="0"/>
              <a:cs typeface="Times New Roman" panose="02020603050405020304" pitchFamily="18" charset="0"/>
            </a:endParaRPr>
          </a:p>
          <a:p>
            <a:pPr marL="356596">
              <a:lnSpc>
                <a:spcPts val="2061"/>
              </a:lnSpc>
            </a:pPr>
            <a:r>
              <a:rPr sz="1805" dirty="0">
                <a:latin typeface="Times New Roman" panose="02020603050405020304" pitchFamily="18" charset="0"/>
                <a:cs typeface="Times New Roman" panose="02020603050405020304" pitchFamily="18" charset="0"/>
              </a:rPr>
              <a:t>{I2</a:t>
            </a:r>
            <a:r>
              <a:rPr sz="1805" spc="-35"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I1:</a:t>
            </a:r>
            <a:r>
              <a:rPr sz="1805" spc="-2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1}</a:t>
            </a:r>
            <a:r>
              <a:rPr sz="1805" spc="-2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and</a:t>
            </a:r>
            <a:r>
              <a:rPr sz="1805" spc="-2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{I2</a:t>
            </a:r>
            <a:r>
              <a:rPr sz="1805" spc="-2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I1</a:t>
            </a:r>
            <a:r>
              <a:rPr sz="1805" spc="-2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I3:</a:t>
            </a:r>
            <a:r>
              <a:rPr sz="1805" spc="-2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1},</a:t>
            </a:r>
            <a:r>
              <a:rPr sz="1805" spc="-2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which</a:t>
            </a:r>
            <a:r>
              <a:rPr sz="1805" spc="-2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forms</a:t>
            </a:r>
            <a:r>
              <a:rPr sz="1805" spc="-2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its</a:t>
            </a:r>
            <a:r>
              <a:rPr sz="1805" spc="-2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conditional</a:t>
            </a:r>
            <a:r>
              <a:rPr sz="1805" spc="-20" dirty="0">
                <a:latin typeface="Times New Roman" panose="02020603050405020304" pitchFamily="18" charset="0"/>
                <a:cs typeface="Times New Roman" panose="02020603050405020304" pitchFamily="18" charset="0"/>
              </a:rPr>
              <a:t> </a:t>
            </a:r>
            <a:r>
              <a:rPr sz="1805" dirty="0">
                <a:latin typeface="Times New Roman" panose="02020603050405020304" pitchFamily="18" charset="0"/>
                <a:cs typeface="Times New Roman" panose="02020603050405020304" pitchFamily="18" charset="0"/>
              </a:rPr>
              <a:t>pattern</a:t>
            </a:r>
            <a:r>
              <a:rPr sz="1805" spc="-20" dirty="0">
                <a:latin typeface="Times New Roman" panose="02020603050405020304" pitchFamily="18" charset="0"/>
                <a:cs typeface="Times New Roman" panose="02020603050405020304" pitchFamily="18" charset="0"/>
              </a:rPr>
              <a:t> </a:t>
            </a:r>
            <a:r>
              <a:rPr sz="1805" spc="-10" dirty="0">
                <a:latin typeface="Times New Roman" panose="02020603050405020304" pitchFamily="18" charset="0"/>
                <a:cs typeface="Times New Roman" panose="02020603050405020304" pitchFamily="18" charset="0"/>
              </a:rPr>
              <a:t>base.</a:t>
            </a:r>
            <a:endParaRPr sz="1805"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65605" y="66861"/>
            <a:ext cx="8321295" cy="736606"/>
          </a:xfrm>
          <a:prstGeom prst="rect">
            <a:avLst/>
          </a:prstGeom>
        </p:spPr>
        <p:txBody>
          <a:bodyPr vert="horz" wrap="square" lIns="0" tIns="240444" rIns="0" bIns="0" rtlCol="0" anchor="ctr">
            <a:spAutoFit/>
            <a:scene3d>
              <a:camera prst="orthographicFront"/>
              <a:lightRig rig="soft" dir="t"/>
            </a:scene3d>
            <a:sp3d prstMaterial="softEdge">
              <a:bevelT w="25400" h="25400"/>
            </a:sp3d>
          </a:bodyPr>
          <a:lstStyle/>
          <a:p>
            <a:pPr marL="1332776" algn="ctr">
              <a:spcBef>
                <a:spcPts val="100"/>
              </a:spcBef>
            </a:pPr>
            <a:r>
              <a:rPr sz="3209" spc="-10" dirty="0">
                <a:latin typeface="Times New Roman" panose="02020603050405020304" pitchFamily="18" charset="0"/>
                <a:cs typeface="Times New Roman" panose="02020603050405020304" pitchFamily="18" charset="0"/>
              </a:rPr>
              <a:t>FP-</a:t>
            </a:r>
            <a:r>
              <a:rPr sz="3209" dirty="0">
                <a:latin typeface="Times New Roman" panose="02020603050405020304" pitchFamily="18" charset="0"/>
                <a:cs typeface="Times New Roman" panose="02020603050405020304" pitchFamily="18" charset="0"/>
              </a:rPr>
              <a:t>Tree</a:t>
            </a:r>
            <a:r>
              <a:rPr sz="3209" spc="-15" dirty="0">
                <a:latin typeface="Times New Roman" panose="02020603050405020304" pitchFamily="18" charset="0"/>
                <a:cs typeface="Times New Roman" panose="02020603050405020304" pitchFamily="18" charset="0"/>
              </a:rPr>
              <a:t> </a:t>
            </a:r>
            <a:r>
              <a:rPr sz="3209" dirty="0">
                <a:latin typeface="Times New Roman" panose="02020603050405020304" pitchFamily="18" charset="0"/>
                <a:cs typeface="Times New Roman" panose="02020603050405020304" pitchFamily="18" charset="0"/>
              </a:rPr>
              <a:t>Example</a:t>
            </a:r>
            <a:r>
              <a:rPr sz="3209" spc="-15" dirty="0">
                <a:latin typeface="Times New Roman" panose="02020603050405020304" pitchFamily="18" charset="0"/>
                <a:cs typeface="Times New Roman" panose="02020603050405020304" pitchFamily="18" charset="0"/>
              </a:rPr>
              <a:t> </a:t>
            </a:r>
            <a:r>
              <a:rPr sz="3209" spc="-10" dirty="0">
                <a:latin typeface="Times New Roman" panose="02020603050405020304" pitchFamily="18" charset="0"/>
                <a:cs typeface="Times New Roman" panose="02020603050405020304" pitchFamily="18" charset="0"/>
              </a:rPr>
              <a:t>Continued</a:t>
            </a:r>
          </a:p>
        </p:txBody>
      </p:sp>
      <p:sp>
        <p:nvSpPr>
          <p:cNvPr id="3" name="object 3"/>
          <p:cNvSpPr txBox="1">
            <a:spLocks noGrp="1"/>
          </p:cNvSpPr>
          <p:nvPr>
            <p:ph type="body" idx="1"/>
          </p:nvPr>
        </p:nvSpPr>
        <p:spPr>
          <a:xfrm>
            <a:off x="525435" y="983808"/>
            <a:ext cx="8001636" cy="8724951"/>
          </a:xfrm>
          <a:prstGeom prst="rect">
            <a:avLst/>
          </a:prstGeom>
        </p:spPr>
        <p:txBody>
          <a:bodyPr vert="horz" wrap="square" lIns="0" tIns="12099" rIns="0" bIns="0" rtlCol="0">
            <a:spAutoFit/>
          </a:bodyPr>
          <a:lstStyle/>
          <a:p>
            <a:pPr marL="352138" marR="529799" indent="-340039" algn="just">
              <a:spcBef>
                <a:spcPts val="95"/>
              </a:spcBef>
              <a:buChar char="•"/>
              <a:tabLst>
                <a:tab pos="356596" algn="l"/>
              </a:tabLst>
            </a:pPr>
            <a:r>
              <a:rPr dirty="0">
                <a:latin typeface="Times New Roman" panose="02020603050405020304" pitchFamily="18" charset="0"/>
                <a:cs typeface="Times New Roman" panose="02020603050405020304" pitchFamily="18" charset="0"/>
              </a:rPr>
              <a:t>Out</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these,</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Only</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I1</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&amp;</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I2</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is</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selected</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2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conditional</a:t>
            </a:r>
            <a:r>
              <a:rPr spc="-25" dirty="0">
                <a:latin typeface="Times New Roman" panose="02020603050405020304" pitchFamily="18" charset="0"/>
                <a:cs typeface="Times New Roman" panose="02020603050405020304" pitchFamily="18" charset="0"/>
              </a:rPr>
              <a:t> FP-</a:t>
            </a:r>
            <a:r>
              <a:rPr spc="-20" dirty="0">
                <a:latin typeface="Times New Roman" panose="02020603050405020304" pitchFamily="18" charset="0"/>
                <a:cs typeface="Times New Roman" panose="02020603050405020304" pitchFamily="18" charset="0"/>
              </a:rPr>
              <a:t>Tree 	</a:t>
            </a:r>
            <a:r>
              <a:rPr dirty="0">
                <a:latin typeface="Times New Roman" panose="02020603050405020304" pitchFamily="18" charset="0"/>
                <a:cs typeface="Times New Roman" panose="02020603050405020304" pitchFamily="18" charset="0"/>
              </a:rPr>
              <a:t>because</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I3</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is</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not</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satisfying</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minimum</a:t>
            </a:r>
            <a:r>
              <a:rPr spc="-6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support</a:t>
            </a:r>
            <a:r>
              <a:rPr spc="-5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count.</a:t>
            </a:r>
            <a:endParaRPr lang="en-IN" spc="-10" dirty="0">
              <a:latin typeface="Times New Roman" panose="02020603050405020304" pitchFamily="18" charset="0"/>
              <a:cs typeface="Times New Roman" panose="02020603050405020304" pitchFamily="18" charset="0"/>
            </a:endParaRPr>
          </a:p>
          <a:p>
            <a:pPr marL="352138" marR="529799" indent="-340039" algn="just">
              <a:spcBef>
                <a:spcPts val="95"/>
              </a:spcBef>
              <a:buChar char="•"/>
              <a:tabLst>
                <a:tab pos="356596" algn="l"/>
              </a:tabLst>
            </a:pPr>
            <a:endParaRPr spc="-10" dirty="0">
              <a:latin typeface="Times New Roman" panose="02020603050405020304" pitchFamily="18" charset="0"/>
              <a:cs typeface="Times New Roman" panose="02020603050405020304" pitchFamily="18" charset="0"/>
            </a:endParaRPr>
          </a:p>
          <a:p>
            <a:pPr marL="356596" marR="890852" algn="just">
              <a:lnSpc>
                <a:spcPct val="119700"/>
              </a:lnSpc>
              <a:spcBef>
                <a:spcPts val="10"/>
              </a:spcBef>
            </a:pPr>
            <a:r>
              <a:rPr dirty="0">
                <a:latin typeface="Times New Roman" panose="02020603050405020304" pitchFamily="18" charset="0"/>
                <a:cs typeface="Times New Roman" panose="02020603050405020304" pitchFamily="18" charset="0"/>
              </a:rPr>
              <a:t>For</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I1</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support</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count</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a:t>
            </a:r>
            <a:r>
              <a:rPr spc="-2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conditional</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pattern</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base</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1</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1</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25"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2 </a:t>
            </a:r>
            <a:r>
              <a:rPr dirty="0">
                <a:latin typeface="Times New Roman" panose="02020603050405020304" pitchFamily="18" charset="0"/>
                <a:cs typeface="Times New Roman" panose="02020603050405020304" pitchFamily="18" charset="0"/>
              </a:rPr>
              <a:t>For</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I2</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support</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count</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a:t>
            </a:r>
            <a:r>
              <a:rPr spc="-2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conditional</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pattern</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base</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1</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1</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25"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2 </a:t>
            </a:r>
            <a:r>
              <a:rPr dirty="0">
                <a:solidFill>
                  <a:srgbClr val="009A9A"/>
                </a:solidFill>
                <a:latin typeface="Times New Roman" panose="02020603050405020304" pitchFamily="18" charset="0"/>
                <a:cs typeface="Times New Roman" panose="02020603050405020304" pitchFamily="18" charset="0"/>
              </a:rPr>
              <a:t>For</a:t>
            </a:r>
            <a:r>
              <a:rPr spc="-35"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I3,</a:t>
            </a:r>
            <a:r>
              <a:rPr spc="-3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support</a:t>
            </a:r>
            <a:r>
              <a:rPr spc="-3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count</a:t>
            </a:r>
            <a:r>
              <a:rPr spc="-35"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in</a:t>
            </a:r>
            <a:r>
              <a:rPr spc="-30" dirty="0">
                <a:solidFill>
                  <a:srgbClr val="009A9A"/>
                </a:solidFill>
                <a:latin typeface="Times New Roman" panose="02020603050405020304" pitchFamily="18" charset="0"/>
                <a:cs typeface="Times New Roman" panose="02020603050405020304" pitchFamily="18" charset="0"/>
              </a:rPr>
              <a:t> </a:t>
            </a:r>
            <a:r>
              <a:rPr spc="-10" dirty="0">
                <a:solidFill>
                  <a:srgbClr val="009A9A"/>
                </a:solidFill>
                <a:latin typeface="Times New Roman" panose="02020603050405020304" pitchFamily="18" charset="0"/>
                <a:cs typeface="Times New Roman" panose="02020603050405020304" pitchFamily="18" charset="0"/>
              </a:rPr>
              <a:t>conditional</a:t>
            </a:r>
            <a:r>
              <a:rPr spc="-25"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pattern</a:t>
            </a:r>
            <a:r>
              <a:rPr spc="-3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base</a:t>
            </a:r>
            <a:r>
              <a:rPr spc="-25"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a:t>
            </a:r>
            <a:r>
              <a:rPr spc="-25" dirty="0">
                <a:solidFill>
                  <a:srgbClr val="009A9A"/>
                </a:solidFill>
                <a:latin typeface="Times New Roman" panose="02020603050405020304" pitchFamily="18" charset="0"/>
                <a:cs typeface="Times New Roman" panose="02020603050405020304" pitchFamily="18" charset="0"/>
              </a:rPr>
              <a:t> </a:t>
            </a:r>
            <a:r>
              <a:rPr spc="-50" dirty="0">
                <a:solidFill>
                  <a:srgbClr val="009A9A"/>
                </a:solidFill>
                <a:latin typeface="Times New Roman" panose="02020603050405020304" pitchFamily="18" charset="0"/>
                <a:cs typeface="Times New Roman" panose="02020603050405020304" pitchFamily="18" charset="0"/>
              </a:rPr>
              <a:t>1</a:t>
            </a:r>
          </a:p>
          <a:p>
            <a:pPr marL="356596" marR="240065" algn="just">
              <a:spcBef>
                <a:spcPts val="476"/>
              </a:spcBef>
            </a:pPr>
            <a:r>
              <a:rPr dirty="0">
                <a:latin typeface="Times New Roman" panose="02020603050405020304" pitchFamily="18" charset="0"/>
                <a:cs typeface="Times New Roman" panose="02020603050405020304" pitchFamily="18" charset="0"/>
              </a:rPr>
              <a:t>Thus</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support</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count</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for</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I3</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is</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less</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than</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required</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min_sup</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which</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is</a:t>
            </a:r>
            <a:r>
              <a:rPr spc="-35" dirty="0">
                <a:latin typeface="Times New Roman" panose="02020603050405020304" pitchFamily="18" charset="0"/>
                <a:cs typeface="Times New Roman" panose="02020603050405020304" pitchFamily="18" charset="0"/>
              </a:rPr>
              <a:t> </a:t>
            </a:r>
            <a:r>
              <a:rPr spc="-50" dirty="0">
                <a:latin typeface="Times New Roman" panose="02020603050405020304" pitchFamily="18" charset="0"/>
                <a:cs typeface="Times New Roman" panose="02020603050405020304" pitchFamily="18" charset="0"/>
              </a:rPr>
              <a:t>2 </a:t>
            </a:r>
            <a:r>
              <a:rPr spc="-10" dirty="0">
                <a:latin typeface="Times New Roman" panose="02020603050405020304" pitchFamily="18" charset="0"/>
                <a:cs typeface="Times New Roman" panose="02020603050405020304" pitchFamily="18" charset="0"/>
              </a:rPr>
              <a:t>here.</a:t>
            </a:r>
            <a:endParaRPr lang="en-IN" spc="-10" dirty="0">
              <a:latin typeface="Times New Roman" panose="02020603050405020304" pitchFamily="18" charset="0"/>
              <a:cs typeface="Times New Roman" panose="02020603050405020304" pitchFamily="18" charset="0"/>
            </a:endParaRPr>
          </a:p>
          <a:p>
            <a:pPr marL="356596" marR="240065" algn="just">
              <a:spcBef>
                <a:spcPts val="476"/>
              </a:spcBef>
            </a:pPr>
            <a:endParaRPr spc="-10" dirty="0">
              <a:latin typeface="Times New Roman" panose="02020603050405020304" pitchFamily="18" charset="0"/>
              <a:cs typeface="Times New Roman" panose="02020603050405020304" pitchFamily="18" charset="0"/>
            </a:endParaRPr>
          </a:p>
          <a:p>
            <a:pPr marL="355959" indent="-343223">
              <a:spcBef>
                <a:spcPts val="471"/>
              </a:spcBef>
              <a:buChar char="•"/>
              <a:tabLst>
                <a:tab pos="355959" algn="l"/>
              </a:tabLst>
            </a:pPr>
            <a:r>
              <a:rPr dirty="0">
                <a:latin typeface="Times New Roman" panose="02020603050405020304" pitchFamily="18" charset="0"/>
                <a:cs typeface="Times New Roman" panose="02020603050405020304" pitchFamily="18" charset="0"/>
              </a:rPr>
              <a:t>Now</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We</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have</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conditional</a:t>
            </a:r>
            <a:r>
              <a:rPr spc="-35" dirty="0">
                <a:latin typeface="Times New Roman" panose="02020603050405020304" pitchFamily="18" charset="0"/>
                <a:cs typeface="Times New Roman" panose="02020603050405020304" pitchFamily="18" charset="0"/>
              </a:rPr>
              <a:t> </a:t>
            </a:r>
            <a:r>
              <a:rPr spc="-20" dirty="0">
                <a:latin typeface="Times New Roman" panose="02020603050405020304" pitchFamily="18" charset="0"/>
                <a:cs typeface="Times New Roman" panose="02020603050405020304" pitchFamily="18" charset="0"/>
              </a:rPr>
              <a:t>FP-</a:t>
            </a:r>
            <a:r>
              <a:rPr dirty="0">
                <a:latin typeface="Times New Roman" panose="02020603050405020304" pitchFamily="18" charset="0"/>
                <a:cs typeface="Times New Roman" panose="02020603050405020304" pitchFamily="18" charset="0"/>
              </a:rPr>
              <a:t>Tree</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with</a:t>
            </a:r>
            <a:r>
              <a:rPr spc="-35"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us.</a:t>
            </a:r>
          </a:p>
          <a:p>
            <a:pPr marL="355959" marR="5094" indent="-343860">
              <a:spcBef>
                <a:spcPts val="476"/>
              </a:spcBef>
              <a:buChar char="•"/>
              <a:tabLst>
                <a:tab pos="355959" algn="l"/>
              </a:tabLst>
            </a:pPr>
            <a:r>
              <a:rPr dirty="0">
                <a:solidFill>
                  <a:srgbClr val="009A9A"/>
                </a:solidFill>
                <a:latin typeface="Times New Roman" panose="02020603050405020304" pitchFamily="18" charset="0"/>
                <a:cs typeface="Times New Roman" panose="02020603050405020304" pitchFamily="18" charset="0"/>
              </a:rPr>
              <a:t>All</a:t>
            </a:r>
            <a:r>
              <a:rPr spc="-45"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frequent</a:t>
            </a:r>
            <a:r>
              <a:rPr spc="-4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pattern</a:t>
            </a:r>
            <a:r>
              <a:rPr spc="-40" dirty="0">
                <a:solidFill>
                  <a:srgbClr val="009A9A"/>
                </a:solidFill>
                <a:latin typeface="Times New Roman" panose="02020603050405020304" pitchFamily="18" charset="0"/>
                <a:cs typeface="Times New Roman" panose="02020603050405020304" pitchFamily="18" charset="0"/>
              </a:rPr>
              <a:t> </a:t>
            </a:r>
            <a:r>
              <a:rPr spc="-10" dirty="0">
                <a:solidFill>
                  <a:srgbClr val="009A9A"/>
                </a:solidFill>
                <a:latin typeface="Times New Roman" panose="02020603050405020304" pitchFamily="18" charset="0"/>
                <a:cs typeface="Times New Roman" panose="02020603050405020304" pitchFamily="18" charset="0"/>
              </a:rPr>
              <a:t>corresponding</a:t>
            </a:r>
            <a:r>
              <a:rPr spc="-4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to</a:t>
            </a:r>
            <a:r>
              <a:rPr spc="-4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suffix</a:t>
            </a:r>
            <a:r>
              <a:rPr spc="-4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I5</a:t>
            </a:r>
            <a:r>
              <a:rPr spc="-4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are</a:t>
            </a:r>
            <a:r>
              <a:rPr spc="-4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generated</a:t>
            </a:r>
            <a:r>
              <a:rPr spc="-40" dirty="0">
                <a:solidFill>
                  <a:srgbClr val="009A9A"/>
                </a:solidFill>
                <a:latin typeface="Times New Roman" panose="02020603050405020304" pitchFamily="18" charset="0"/>
                <a:cs typeface="Times New Roman" panose="02020603050405020304" pitchFamily="18" charset="0"/>
              </a:rPr>
              <a:t> </a:t>
            </a:r>
            <a:r>
              <a:rPr spc="-25" dirty="0">
                <a:solidFill>
                  <a:srgbClr val="009A9A"/>
                </a:solidFill>
                <a:latin typeface="Times New Roman" panose="02020603050405020304" pitchFamily="18" charset="0"/>
                <a:cs typeface="Times New Roman" panose="02020603050405020304" pitchFamily="18" charset="0"/>
              </a:rPr>
              <a:t>by </a:t>
            </a:r>
            <a:r>
              <a:rPr dirty="0">
                <a:solidFill>
                  <a:srgbClr val="009A9A"/>
                </a:solidFill>
                <a:latin typeface="Times New Roman" panose="02020603050405020304" pitchFamily="18" charset="0"/>
                <a:cs typeface="Times New Roman" panose="02020603050405020304" pitchFamily="18" charset="0"/>
              </a:rPr>
              <a:t>considering</a:t>
            </a:r>
            <a:r>
              <a:rPr spc="-5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all</a:t>
            </a:r>
            <a:r>
              <a:rPr spc="-55"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possible</a:t>
            </a:r>
            <a:r>
              <a:rPr spc="-5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combinations</a:t>
            </a:r>
            <a:r>
              <a:rPr spc="-5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of</a:t>
            </a:r>
            <a:r>
              <a:rPr spc="-5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I5</a:t>
            </a:r>
            <a:r>
              <a:rPr spc="-5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and</a:t>
            </a:r>
            <a:r>
              <a:rPr spc="-50" dirty="0">
                <a:solidFill>
                  <a:srgbClr val="009A9A"/>
                </a:solidFill>
                <a:latin typeface="Times New Roman" panose="02020603050405020304" pitchFamily="18" charset="0"/>
                <a:cs typeface="Times New Roman" panose="02020603050405020304" pitchFamily="18" charset="0"/>
              </a:rPr>
              <a:t> </a:t>
            </a:r>
            <a:r>
              <a:rPr dirty="0">
                <a:solidFill>
                  <a:srgbClr val="009A9A"/>
                </a:solidFill>
                <a:latin typeface="Times New Roman" panose="02020603050405020304" pitchFamily="18" charset="0"/>
                <a:cs typeface="Times New Roman" panose="02020603050405020304" pitchFamily="18" charset="0"/>
              </a:rPr>
              <a:t>conditional</a:t>
            </a:r>
            <a:r>
              <a:rPr spc="-50" dirty="0">
                <a:solidFill>
                  <a:srgbClr val="009A9A"/>
                </a:solidFill>
                <a:latin typeface="Times New Roman" panose="02020603050405020304" pitchFamily="18" charset="0"/>
                <a:cs typeface="Times New Roman" panose="02020603050405020304" pitchFamily="18" charset="0"/>
              </a:rPr>
              <a:t> </a:t>
            </a:r>
            <a:r>
              <a:rPr spc="-20" dirty="0">
                <a:solidFill>
                  <a:srgbClr val="009A9A"/>
                </a:solidFill>
                <a:latin typeface="Times New Roman" panose="02020603050405020304" pitchFamily="18" charset="0"/>
                <a:cs typeface="Times New Roman" panose="02020603050405020304" pitchFamily="18" charset="0"/>
              </a:rPr>
              <a:t>FP-</a:t>
            </a:r>
            <a:r>
              <a:rPr spc="-10" dirty="0">
                <a:solidFill>
                  <a:srgbClr val="009A9A"/>
                </a:solidFill>
                <a:latin typeface="Times New Roman" panose="02020603050405020304" pitchFamily="18" charset="0"/>
                <a:cs typeface="Times New Roman" panose="02020603050405020304" pitchFamily="18" charset="0"/>
              </a:rPr>
              <a:t>Tree.</a:t>
            </a:r>
            <a:endParaRPr lang="en-IN" spc="-10" dirty="0">
              <a:solidFill>
                <a:srgbClr val="009A9A"/>
              </a:solidFill>
              <a:latin typeface="Times New Roman" panose="02020603050405020304" pitchFamily="18" charset="0"/>
              <a:cs typeface="Times New Roman" panose="02020603050405020304" pitchFamily="18" charset="0"/>
            </a:endParaRPr>
          </a:p>
          <a:p>
            <a:pPr marL="355959" marR="5094" indent="-343860">
              <a:spcBef>
                <a:spcPts val="476"/>
              </a:spcBef>
              <a:buChar char="•"/>
              <a:tabLst>
                <a:tab pos="355959" algn="l"/>
              </a:tabLst>
            </a:pPr>
            <a:endParaRPr spc="-10" dirty="0">
              <a:solidFill>
                <a:srgbClr val="009A9A"/>
              </a:solidFill>
              <a:latin typeface="Times New Roman" panose="02020603050405020304" pitchFamily="18" charset="0"/>
              <a:cs typeface="Times New Roman" panose="02020603050405020304" pitchFamily="18" charset="0"/>
            </a:endParaRPr>
          </a:p>
          <a:p>
            <a:pPr marL="355959" indent="-343223">
              <a:spcBef>
                <a:spcPts val="481"/>
              </a:spcBef>
              <a:buChar char="•"/>
              <a:tabLst>
                <a:tab pos="355959" algn="l"/>
              </a:tabLst>
            </a:pPr>
            <a:r>
              <a:rPr dirty="0">
                <a:latin typeface="Times New Roman" panose="02020603050405020304" pitchFamily="18" charset="0"/>
                <a:cs typeface="Times New Roman" panose="02020603050405020304" pitchFamily="18" charset="0"/>
              </a:rPr>
              <a:t>The</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same</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procedure</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is</a:t>
            </a:r>
            <a:r>
              <a:rPr spc="-5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applied</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to</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suffixes</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I4,</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I3</a:t>
            </a:r>
            <a:r>
              <a:rPr spc="-5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and</a:t>
            </a:r>
            <a:r>
              <a:rPr spc="-55" dirty="0">
                <a:latin typeface="Times New Roman" panose="02020603050405020304" pitchFamily="18" charset="0"/>
                <a:cs typeface="Times New Roman" panose="02020603050405020304" pitchFamily="18" charset="0"/>
              </a:rPr>
              <a:t> </a:t>
            </a:r>
            <a:r>
              <a:rPr spc="-25" dirty="0">
                <a:latin typeface="Times New Roman" panose="02020603050405020304" pitchFamily="18" charset="0"/>
                <a:cs typeface="Times New Roman" panose="02020603050405020304" pitchFamily="18" charset="0"/>
              </a:rPr>
              <a:t>I1.</a:t>
            </a:r>
          </a:p>
          <a:p>
            <a:pPr marL="355959" marR="157284" indent="-343860">
              <a:spcBef>
                <a:spcPts val="476"/>
              </a:spcBef>
              <a:buChar char="•"/>
              <a:tabLst>
                <a:tab pos="355959" algn="l"/>
              </a:tabLst>
            </a:pPr>
            <a:r>
              <a:rPr dirty="0">
                <a:solidFill>
                  <a:srgbClr val="009A9A"/>
                </a:solidFill>
                <a:latin typeface="Times New Roman" panose="02020603050405020304" pitchFamily="18" charset="0"/>
                <a:cs typeface="Times New Roman" panose="02020603050405020304" pitchFamily="18" charset="0"/>
              </a:rPr>
              <a:t>Note:</a:t>
            </a:r>
            <a:r>
              <a:rPr spc="-40" dirty="0">
                <a:solidFill>
                  <a:srgbClr val="009A9A"/>
                </a:solidFill>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I2</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is</a:t>
            </a:r>
            <a:r>
              <a:rPr spc="-2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not</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taken</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into</a:t>
            </a:r>
            <a:r>
              <a:rPr spc="-2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consideration</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for</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suffix</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because</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it</a:t>
            </a:r>
            <a:r>
              <a:rPr spc="-3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doesn’t </a:t>
            </a:r>
            <a:r>
              <a:rPr dirty="0">
                <a:latin typeface="Times New Roman" panose="02020603050405020304" pitchFamily="18" charset="0"/>
                <a:cs typeface="Times New Roman" panose="02020603050405020304" pitchFamily="18" charset="0"/>
              </a:rPr>
              <a:t>have</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any</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prefix</a:t>
            </a:r>
            <a:r>
              <a:rPr spc="-4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at</a:t>
            </a:r>
            <a:r>
              <a:rPr spc="-40" dirty="0">
                <a:latin typeface="Times New Roman" panose="02020603050405020304" pitchFamily="18" charset="0"/>
                <a:cs typeface="Times New Roman" panose="02020603050405020304" pitchFamily="18" charset="0"/>
              </a:rPr>
              <a:t> </a:t>
            </a:r>
            <a:r>
              <a:rPr spc="-20" dirty="0">
                <a:latin typeface="Times New Roman" panose="02020603050405020304" pitchFamily="18" charset="0"/>
                <a:cs typeface="Times New Roman" panose="02020603050405020304" pitchFamily="18" charset="0"/>
              </a:rPr>
              <a:t>all.</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34431" y="310106"/>
            <a:ext cx="8321295" cy="736606"/>
          </a:xfrm>
          <a:prstGeom prst="rect">
            <a:avLst/>
          </a:prstGeom>
        </p:spPr>
        <p:txBody>
          <a:bodyPr vert="horz" wrap="square" lIns="0" tIns="240444" rIns="0" bIns="0" rtlCol="0" anchor="ctr">
            <a:spAutoFit/>
            <a:scene3d>
              <a:camera prst="orthographicFront"/>
              <a:lightRig rig="soft" dir="t"/>
            </a:scene3d>
            <a:sp3d prstMaterial="softEdge">
              <a:bevelT w="25400" h="25400"/>
            </a:sp3d>
          </a:bodyPr>
          <a:lstStyle/>
          <a:p>
            <a:pPr marL="492866" algn="ctr">
              <a:spcBef>
                <a:spcPts val="100"/>
              </a:spcBef>
            </a:pPr>
            <a:r>
              <a:rPr sz="3209" dirty="0">
                <a:latin typeface="Times New Roman" panose="02020603050405020304" pitchFamily="18" charset="0"/>
                <a:cs typeface="Times New Roman" panose="02020603050405020304" pitchFamily="18" charset="0"/>
              </a:rPr>
              <a:t>Why</a:t>
            </a:r>
            <a:r>
              <a:rPr sz="3209" spc="-15" dirty="0">
                <a:latin typeface="Times New Roman" panose="02020603050405020304" pitchFamily="18" charset="0"/>
                <a:cs typeface="Times New Roman" panose="02020603050405020304" pitchFamily="18" charset="0"/>
              </a:rPr>
              <a:t> </a:t>
            </a:r>
            <a:r>
              <a:rPr sz="3209" dirty="0">
                <a:latin typeface="Times New Roman" panose="02020603050405020304" pitchFamily="18" charset="0"/>
                <a:cs typeface="Times New Roman" panose="02020603050405020304" pitchFamily="18" charset="0"/>
              </a:rPr>
              <a:t>Frequent</a:t>
            </a:r>
            <a:r>
              <a:rPr sz="3209" spc="-15" dirty="0">
                <a:latin typeface="Times New Roman" panose="02020603050405020304" pitchFamily="18" charset="0"/>
                <a:cs typeface="Times New Roman" panose="02020603050405020304" pitchFamily="18" charset="0"/>
              </a:rPr>
              <a:t> </a:t>
            </a:r>
            <a:r>
              <a:rPr sz="3209" dirty="0">
                <a:latin typeface="Times New Roman" panose="02020603050405020304" pitchFamily="18" charset="0"/>
                <a:cs typeface="Times New Roman" panose="02020603050405020304" pitchFamily="18" charset="0"/>
              </a:rPr>
              <a:t>Pattern</a:t>
            </a:r>
            <a:r>
              <a:rPr sz="3209" spc="-10" dirty="0">
                <a:latin typeface="Times New Roman" panose="02020603050405020304" pitchFamily="18" charset="0"/>
                <a:cs typeface="Times New Roman" panose="02020603050405020304" pitchFamily="18" charset="0"/>
              </a:rPr>
              <a:t> </a:t>
            </a:r>
            <a:r>
              <a:rPr sz="3209" dirty="0">
                <a:latin typeface="Times New Roman" panose="02020603050405020304" pitchFamily="18" charset="0"/>
                <a:cs typeface="Times New Roman" panose="02020603050405020304" pitchFamily="18" charset="0"/>
              </a:rPr>
              <a:t>Growth</a:t>
            </a:r>
            <a:r>
              <a:rPr sz="3209" spc="-15" dirty="0">
                <a:latin typeface="Times New Roman" panose="02020603050405020304" pitchFamily="18" charset="0"/>
                <a:cs typeface="Times New Roman" panose="02020603050405020304" pitchFamily="18" charset="0"/>
              </a:rPr>
              <a:t> </a:t>
            </a:r>
            <a:r>
              <a:rPr sz="3209" dirty="0">
                <a:latin typeface="Times New Roman" panose="02020603050405020304" pitchFamily="18" charset="0"/>
                <a:cs typeface="Times New Roman" panose="02020603050405020304" pitchFamily="18" charset="0"/>
              </a:rPr>
              <a:t>Fast</a:t>
            </a:r>
            <a:r>
              <a:rPr sz="3209" spc="-10" dirty="0">
                <a:latin typeface="Times New Roman" panose="02020603050405020304" pitchFamily="18" charset="0"/>
                <a:cs typeface="Times New Roman" panose="02020603050405020304" pitchFamily="18" charset="0"/>
              </a:rPr>
              <a:t> </a:t>
            </a:r>
            <a:r>
              <a:rPr sz="3209" spc="-50" dirty="0">
                <a:latin typeface="Times New Roman" panose="02020603050405020304" pitchFamily="18" charset="0"/>
                <a:cs typeface="Times New Roman" panose="02020603050405020304" pitchFamily="18" charset="0"/>
              </a:rPr>
              <a:t>?</a:t>
            </a:r>
          </a:p>
        </p:txBody>
      </p:sp>
      <p:sp>
        <p:nvSpPr>
          <p:cNvPr id="3" name="object 3"/>
          <p:cNvSpPr txBox="1"/>
          <p:nvPr/>
        </p:nvSpPr>
        <p:spPr>
          <a:xfrm>
            <a:off x="525461" y="1534192"/>
            <a:ext cx="7818884" cy="4123078"/>
          </a:xfrm>
          <a:prstGeom prst="rect">
            <a:avLst/>
          </a:prstGeom>
        </p:spPr>
        <p:txBody>
          <a:bodyPr vert="horz" wrap="square" lIns="0" tIns="180206" rIns="0" bIns="0" rtlCol="0">
            <a:spAutoFit/>
          </a:bodyPr>
          <a:lstStyle/>
          <a:p>
            <a:pPr marL="355959" indent="-343223">
              <a:spcBef>
                <a:spcPts val="1419"/>
              </a:spcBef>
              <a:buChar char="•"/>
              <a:tabLst>
                <a:tab pos="355959" algn="l"/>
              </a:tabLst>
            </a:pPr>
            <a:r>
              <a:rPr sz="2206" spc="-10" dirty="0">
                <a:latin typeface="Times New Roman" panose="02020603050405020304" pitchFamily="18" charset="0"/>
                <a:cs typeface="Times New Roman" panose="02020603050405020304" pitchFamily="18" charset="0"/>
              </a:rPr>
              <a:t>Performance</a:t>
            </a:r>
            <a:r>
              <a:rPr sz="2206" spc="-35" dirty="0">
                <a:latin typeface="Times New Roman" panose="02020603050405020304" pitchFamily="18" charset="0"/>
                <a:cs typeface="Times New Roman" panose="02020603050405020304" pitchFamily="18" charset="0"/>
              </a:rPr>
              <a:t> </a:t>
            </a:r>
            <a:r>
              <a:rPr sz="2206" dirty="0">
                <a:latin typeface="Times New Roman" panose="02020603050405020304" pitchFamily="18" charset="0"/>
                <a:cs typeface="Times New Roman" panose="02020603050405020304" pitchFamily="18" charset="0"/>
              </a:rPr>
              <a:t>study</a:t>
            </a:r>
            <a:r>
              <a:rPr sz="2206" spc="-35" dirty="0">
                <a:latin typeface="Times New Roman" panose="02020603050405020304" pitchFamily="18" charset="0"/>
                <a:cs typeface="Times New Roman" panose="02020603050405020304" pitchFamily="18" charset="0"/>
              </a:rPr>
              <a:t> </a:t>
            </a:r>
            <a:r>
              <a:rPr sz="2206" spc="-20" dirty="0">
                <a:latin typeface="Times New Roman" panose="02020603050405020304" pitchFamily="18" charset="0"/>
                <a:cs typeface="Times New Roman" panose="02020603050405020304" pitchFamily="18" charset="0"/>
              </a:rPr>
              <a:t>shows</a:t>
            </a:r>
            <a:endParaRPr sz="2206" dirty="0">
              <a:latin typeface="Times New Roman" panose="02020603050405020304" pitchFamily="18" charset="0"/>
              <a:cs typeface="Times New Roman" panose="02020603050405020304" pitchFamily="18" charset="0"/>
            </a:endParaRPr>
          </a:p>
          <a:p>
            <a:pPr marL="755855" marR="5094" lvl="1" indent="-285277">
              <a:lnSpc>
                <a:spcPct val="130000"/>
              </a:lnSpc>
              <a:spcBef>
                <a:spcPts val="542"/>
              </a:spcBef>
              <a:buChar char="–"/>
              <a:tabLst>
                <a:tab pos="757129" algn="l"/>
              </a:tabLst>
            </a:pPr>
            <a:r>
              <a:rPr sz="2306" spc="-10" dirty="0">
                <a:latin typeface="Times New Roman" panose="02020603050405020304" pitchFamily="18" charset="0"/>
                <a:cs typeface="Times New Roman" panose="02020603050405020304" pitchFamily="18" charset="0"/>
              </a:rPr>
              <a:t>FP-</a:t>
            </a:r>
            <a:r>
              <a:rPr sz="2306" dirty="0">
                <a:latin typeface="Times New Roman" panose="02020603050405020304" pitchFamily="18" charset="0"/>
                <a:cs typeface="Times New Roman" panose="02020603050405020304" pitchFamily="18" charset="0"/>
              </a:rPr>
              <a:t>growth</a:t>
            </a:r>
            <a:r>
              <a:rPr sz="2306" spc="-30"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is</a:t>
            </a:r>
            <a:r>
              <a:rPr sz="2306" spc="-30"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an</a:t>
            </a:r>
            <a:r>
              <a:rPr sz="2306" spc="-25"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order</a:t>
            </a:r>
            <a:r>
              <a:rPr sz="2306" spc="-30"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of</a:t>
            </a:r>
            <a:r>
              <a:rPr sz="2306" spc="-25"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magnitude</a:t>
            </a:r>
            <a:r>
              <a:rPr sz="2306" spc="-25"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faster</a:t>
            </a:r>
            <a:r>
              <a:rPr sz="2306" spc="-20"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than</a:t>
            </a:r>
            <a:r>
              <a:rPr sz="2306" spc="-25" dirty="0">
                <a:latin typeface="Times New Roman" panose="02020603050405020304" pitchFamily="18" charset="0"/>
                <a:cs typeface="Times New Roman" panose="02020603050405020304" pitchFamily="18" charset="0"/>
              </a:rPr>
              <a:t> </a:t>
            </a:r>
            <a:r>
              <a:rPr sz="2306" spc="-10" dirty="0">
                <a:latin typeface="Times New Roman" panose="02020603050405020304" pitchFamily="18" charset="0"/>
                <a:cs typeface="Times New Roman" panose="02020603050405020304" pitchFamily="18" charset="0"/>
              </a:rPr>
              <a:t>Apriori, 	</a:t>
            </a:r>
            <a:r>
              <a:rPr sz="2306" dirty="0">
                <a:latin typeface="Times New Roman" panose="02020603050405020304" pitchFamily="18" charset="0"/>
                <a:cs typeface="Times New Roman" panose="02020603050405020304" pitchFamily="18" charset="0"/>
              </a:rPr>
              <a:t>and</a:t>
            </a:r>
            <a:r>
              <a:rPr sz="2306" spc="-25"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is</a:t>
            </a:r>
            <a:r>
              <a:rPr sz="2306" spc="-15"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also</a:t>
            </a:r>
            <a:r>
              <a:rPr sz="2306" spc="-25"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faster</a:t>
            </a:r>
            <a:r>
              <a:rPr sz="2306" spc="-15"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than</a:t>
            </a:r>
            <a:r>
              <a:rPr sz="2306" spc="-25" dirty="0">
                <a:latin typeface="Times New Roman" panose="02020603050405020304" pitchFamily="18" charset="0"/>
                <a:cs typeface="Times New Roman" panose="02020603050405020304" pitchFamily="18" charset="0"/>
              </a:rPr>
              <a:t> </a:t>
            </a:r>
            <a:r>
              <a:rPr sz="2306" spc="-10" dirty="0">
                <a:latin typeface="Times New Roman" panose="02020603050405020304" pitchFamily="18" charset="0"/>
                <a:cs typeface="Times New Roman" panose="02020603050405020304" pitchFamily="18" charset="0"/>
              </a:rPr>
              <a:t>tree-projection</a:t>
            </a:r>
            <a:endParaRPr sz="2306" dirty="0">
              <a:latin typeface="Times New Roman" panose="02020603050405020304" pitchFamily="18" charset="0"/>
              <a:cs typeface="Times New Roman" panose="02020603050405020304" pitchFamily="18" charset="0"/>
            </a:endParaRPr>
          </a:p>
          <a:p>
            <a:pPr marL="355959" indent="-343223">
              <a:spcBef>
                <a:spcPts val="1324"/>
              </a:spcBef>
              <a:buChar char="•"/>
              <a:tabLst>
                <a:tab pos="355959" algn="l"/>
              </a:tabLst>
            </a:pPr>
            <a:r>
              <a:rPr sz="2206" spc="-10" dirty="0">
                <a:solidFill>
                  <a:srgbClr val="009A9A"/>
                </a:solidFill>
                <a:latin typeface="Times New Roman" panose="02020603050405020304" pitchFamily="18" charset="0"/>
                <a:cs typeface="Times New Roman" panose="02020603050405020304" pitchFamily="18" charset="0"/>
              </a:rPr>
              <a:t>Reasoning</a:t>
            </a:r>
            <a:endParaRPr sz="2206" dirty="0">
              <a:latin typeface="Times New Roman" panose="02020603050405020304" pitchFamily="18" charset="0"/>
              <a:cs typeface="Times New Roman" panose="02020603050405020304" pitchFamily="18" charset="0"/>
            </a:endParaRPr>
          </a:p>
          <a:p>
            <a:pPr marL="756492" lvl="1" indent="-285277">
              <a:spcBef>
                <a:spcPts val="1374"/>
              </a:spcBef>
              <a:buChar char="–"/>
              <a:tabLst>
                <a:tab pos="756492" algn="l"/>
              </a:tabLst>
            </a:pPr>
            <a:r>
              <a:rPr sz="2306" dirty="0">
                <a:latin typeface="Times New Roman" panose="02020603050405020304" pitchFamily="18" charset="0"/>
                <a:cs typeface="Times New Roman" panose="02020603050405020304" pitchFamily="18" charset="0"/>
              </a:rPr>
              <a:t>No</a:t>
            </a:r>
            <a:r>
              <a:rPr sz="2306" spc="-40"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candidate</a:t>
            </a:r>
            <a:r>
              <a:rPr sz="2306" spc="-35"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generation,</a:t>
            </a:r>
            <a:r>
              <a:rPr sz="2306" spc="-35"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no</a:t>
            </a:r>
            <a:r>
              <a:rPr sz="2306" spc="-35"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candidate</a:t>
            </a:r>
            <a:r>
              <a:rPr sz="2306" spc="-35" dirty="0">
                <a:latin typeface="Times New Roman" panose="02020603050405020304" pitchFamily="18" charset="0"/>
                <a:cs typeface="Times New Roman" panose="02020603050405020304" pitchFamily="18" charset="0"/>
              </a:rPr>
              <a:t> </a:t>
            </a:r>
            <a:r>
              <a:rPr sz="2306" spc="-20" dirty="0">
                <a:latin typeface="Times New Roman" panose="02020603050405020304" pitchFamily="18" charset="0"/>
                <a:cs typeface="Times New Roman" panose="02020603050405020304" pitchFamily="18" charset="0"/>
              </a:rPr>
              <a:t>test</a:t>
            </a:r>
            <a:endParaRPr sz="2306" dirty="0">
              <a:latin typeface="Times New Roman" panose="02020603050405020304" pitchFamily="18" charset="0"/>
              <a:cs typeface="Times New Roman" panose="02020603050405020304" pitchFamily="18" charset="0"/>
            </a:endParaRPr>
          </a:p>
          <a:p>
            <a:pPr marL="756492" lvl="1" indent="-285277">
              <a:spcBef>
                <a:spcPts val="1379"/>
              </a:spcBef>
              <a:buChar char="–"/>
              <a:tabLst>
                <a:tab pos="756492" algn="l"/>
              </a:tabLst>
            </a:pPr>
            <a:r>
              <a:rPr sz="2306" dirty="0">
                <a:latin typeface="Times New Roman" panose="02020603050405020304" pitchFamily="18" charset="0"/>
                <a:cs typeface="Times New Roman" panose="02020603050405020304" pitchFamily="18" charset="0"/>
              </a:rPr>
              <a:t>Use</a:t>
            </a:r>
            <a:r>
              <a:rPr sz="2306" spc="-30"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compact</a:t>
            </a:r>
            <a:r>
              <a:rPr sz="2306" spc="-25"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data</a:t>
            </a:r>
            <a:r>
              <a:rPr sz="2306" spc="-30" dirty="0">
                <a:latin typeface="Times New Roman" panose="02020603050405020304" pitchFamily="18" charset="0"/>
                <a:cs typeface="Times New Roman" panose="02020603050405020304" pitchFamily="18" charset="0"/>
              </a:rPr>
              <a:t> </a:t>
            </a:r>
            <a:r>
              <a:rPr sz="2306" spc="-10" dirty="0">
                <a:latin typeface="Times New Roman" panose="02020603050405020304" pitchFamily="18" charset="0"/>
                <a:cs typeface="Times New Roman" panose="02020603050405020304" pitchFamily="18" charset="0"/>
              </a:rPr>
              <a:t>structure</a:t>
            </a:r>
            <a:endParaRPr sz="2306" dirty="0">
              <a:latin typeface="Times New Roman" panose="02020603050405020304" pitchFamily="18" charset="0"/>
              <a:cs typeface="Times New Roman" panose="02020603050405020304" pitchFamily="18" charset="0"/>
            </a:endParaRPr>
          </a:p>
          <a:p>
            <a:pPr marL="756492" lvl="1" indent="-285277">
              <a:spcBef>
                <a:spcPts val="1384"/>
              </a:spcBef>
              <a:buChar char="–"/>
              <a:tabLst>
                <a:tab pos="756492" algn="l"/>
              </a:tabLst>
            </a:pPr>
            <a:r>
              <a:rPr sz="2306" dirty="0">
                <a:latin typeface="Times New Roman" panose="02020603050405020304" pitchFamily="18" charset="0"/>
                <a:cs typeface="Times New Roman" panose="02020603050405020304" pitchFamily="18" charset="0"/>
              </a:rPr>
              <a:t>Eliminate</a:t>
            </a:r>
            <a:r>
              <a:rPr sz="2306" spc="-55"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repeated</a:t>
            </a:r>
            <a:r>
              <a:rPr sz="2306" spc="-50"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database</a:t>
            </a:r>
            <a:r>
              <a:rPr sz="2306" spc="-50" dirty="0">
                <a:latin typeface="Times New Roman" panose="02020603050405020304" pitchFamily="18" charset="0"/>
                <a:cs typeface="Times New Roman" panose="02020603050405020304" pitchFamily="18" charset="0"/>
              </a:rPr>
              <a:t> </a:t>
            </a:r>
            <a:r>
              <a:rPr sz="2306" spc="-20" dirty="0">
                <a:latin typeface="Times New Roman" panose="02020603050405020304" pitchFamily="18" charset="0"/>
                <a:cs typeface="Times New Roman" panose="02020603050405020304" pitchFamily="18" charset="0"/>
              </a:rPr>
              <a:t>scan</a:t>
            </a:r>
            <a:endParaRPr sz="2306" dirty="0">
              <a:latin typeface="Times New Roman" panose="02020603050405020304" pitchFamily="18" charset="0"/>
              <a:cs typeface="Times New Roman" panose="02020603050405020304" pitchFamily="18" charset="0"/>
            </a:endParaRPr>
          </a:p>
          <a:p>
            <a:pPr marL="756492" lvl="1" indent="-285277">
              <a:spcBef>
                <a:spcPts val="1379"/>
              </a:spcBef>
              <a:buChar char="–"/>
              <a:tabLst>
                <a:tab pos="756492" algn="l"/>
              </a:tabLst>
            </a:pPr>
            <a:r>
              <a:rPr sz="2306" dirty="0">
                <a:latin typeface="Times New Roman" panose="02020603050405020304" pitchFamily="18" charset="0"/>
                <a:cs typeface="Times New Roman" panose="02020603050405020304" pitchFamily="18" charset="0"/>
              </a:rPr>
              <a:t>Basic</a:t>
            </a:r>
            <a:r>
              <a:rPr sz="2306" spc="-40"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operation</a:t>
            </a:r>
            <a:r>
              <a:rPr sz="2306" spc="-40"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is</a:t>
            </a:r>
            <a:r>
              <a:rPr sz="2306" spc="-35"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counting</a:t>
            </a:r>
            <a:r>
              <a:rPr sz="2306" spc="-40" dirty="0">
                <a:latin typeface="Times New Roman" panose="02020603050405020304" pitchFamily="18" charset="0"/>
                <a:cs typeface="Times New Roman" panose="02020603050405020304" pitchFamily="18" charset="0"/>
              </a:rPr>
              <a:t> </a:t>
            </a:r>
            <a:r>
              <a:rPr sz="2306" dirty="0">
                <a:latin typeface="Times New Roman" panose="02020603050405020304" pitchFamily="18" charset="0"/>
                <a:cs typeface="Times New Roman" panose="02020603050405020304" pitchFamily="18" charset="0"/>
              </a:rPr>
              <a:t>and</a:t>
            </a:r>
            <a:r>
              <a:rPr sz="2306" spc="-40" dirty="0">
                <a:latin typeface="Times New Roman" panose="02020603050405020304" pitchFamily="18" charset="0"/>
                <a:cs typeface="Times New Roman" panose="02020603050405020304" pitchFamily="18" charset="0"/>
              </a:rPr>
              <a:t> </a:t>
            </a:r>
            <a:r>
              <a:rPr sz="2306" spc="-10" dirty="0">
                <a:latin typeface="Times New Roman" panose="02020603050405020304" pitchFamily="18" charset="0"/>
                <a:cs typeface="Times New Roman" panose="02020603050405020304" pitchFamily="18" charset="0"/>
              </a:rPr>
              <a:t>FP-</a:t>
            </a:r>
            <a:r>
              <a:rPr sz="2306" dirty="0">
                <a:latin typeface="Times New Roman" panose="02020603050405020304" pitchFamily="18" charset="0"/>
                <a:cs typeface="Times New Roman" panose="02020603050405020304" pitchFamily="18" charset="0"/>
              </a:rPr>
              <a:t>tree</a:t>
            </a:r>
            <a:r>
              <a:rPr sz="2306" spc="-40" dirty="0">
                <a:latin typeface="Times New Roman" panose="02020603050405020304" pitchFamily="18" charset="0"/>
                <a:cs typeface="Times New Roman" panose="02020603050405020304" pitchFamily="18" charset="0"/>
              </a:rPr>
              <a:t> </a:t>
            </a:r>
            <a:r>
              <a:rPr sz="2306" spc="-10" dirty="0">
                <a:latin typeface="Times New Roman" panose="02020603050405020304" pitchFamily="18" charset="0"/>
                <a:cs typeface="Times New Roman" panose="02020603050405020304" pitchFamily="18" charset="0"/>
              </a:rPr>
              <a:t>building</a:t>
            </a:r>
            <a:endParaRPr sz="2306"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33600" y="2514600"/>
            <a:ext cx="4953000" cy="1143000"/>
          </a:xfrm>
        </p:spPr>
        <p:txBody>
          <a:bodyPr>
            <a:normAutofit/>
          </a:bodyPr>
          <a:lstStyle/>
          <a:p>
            <a:r>
              <a:rPr lang="en-US" sz="5400" dirty="0">
                <a:latin typeface="Times New Roman" pitchFamily="18" charset="0"/>
                <a:cs typeface="Times New Roman"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Concourse</Template>
  <TotalTime>30546</TotalTime>
  <Words>6028</Words>
  <Application>Microsoft Office PowerPoint</Application>
  <PresentationFormat>On-screen Show (4:3)</PresentationFormat>
  <Paragraphs>847</Paragraphs>
  <Slides>51</Slides>
  <Notes>20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51</vt:i4>
      </vt:variant>
    </vt:vector>
  </HeadingPairs>
  <TitlesOfParts>
    <vt:vector size="63" baseType="lpstr">
      <vt:lpstr>Aptos</vt:lpstr>
      <vt:lpstr>Arial</vt:lpstr>
      <vt:lpstr>Arial MT</vt:lpstr>
      <vt:lpstr>Lucida Sans Unicode</vt:lpstr>
      <vt:lpstr>Palatino Linotype</vt:lpstr>
      <vt:lpstr>Tahoma</vt:lpstr>
      <vt:lpstr>Times New Roman</vt:lpstr>
      <vt:lpstr>Verdana</vt:lpstr>
      <vt:lpstr>Wingdings</vt:lpstr>
      <vt:lpstr>Wingdings 2</vt:lpstr>
      <vt:lpstr>Wingdings 3</vt:lpstr>
      <vt:lpstr>Concourse</vt:lpstr>
      <vt:lpstr>Data Mining Unit-II: Association Analysis</vt:lpstr>
      <vt:lpstr>Course Overview</vt:lpstr>
      <vt:lpstr>Data Mining Syllabus</vt:lpstr>
      <vt:lpstr>PowerPoint Presentation</vt:lpstr>
      <vt:lpstr>UNIT – II: Association Analysis</vt:lpstr>
      <vt:lpstr>Frequent itemset mining</vt:lpstr>
      <vt:lpstr>Market Basket Analysis</vt:lpstr>
      <vt:lpstr>Market Basket Analysis</vt:lpstr>
      <vt:lpstr>Market Basket Analysis Contd..</vt:lpstr>
      <vt:lpstr>Market Basket Analysis Contd..</vt:lpstr>
      <vt:lpstr>What Is Frequent Pattern Analysis?</vt:lpstr>
      <vt:lpstr>What Is Frequent Pattern Analysis?</vt:lpstr>
      <vt:lpstr>Why Is Freq. Pattern Mining Important?</vt:lpstr>
      <vt:lpstr>Basic Concepts: Frequent Patterns</vt:lpstr>
      <vt:lpstr>Basic Concepts: Association Rules</vt:lpstr>
      <vt:lpstr>Scalable Frequent Itemset Mining Methods</vt:lpstr>
      <vt:lpstr>Apriori: A Candidate Generation &amp; Test Approach</vt:lpstr>
      <vt:lpstr>The Apriori Algorithm—An Example </vt:lpstr>
      <vt:lpstr>The Apriori Algorithm (Pseudo-Code)</vt:lpstr>
      <vt:lpstr>Implementation of Apriori</vt:lpstr>
      <vt:lpstr>The Apriori Algorithm: Example</vt:lpstr>
      <vt:lpstr>Step 1: Generating 1-itemset Frequent Pattern</vt:lpstr>
      <vt:lpstr>Step 2: Generating 2-itemset Frequent Pattern</vt:lpstr>
      <vt:lpstr>Step 2: Generating 2-itemset Frequent Pattern</vt:lpstr>
      <vt:lpstr>Step 3: Generating 3-itemset Frequent Pattern</vt:lpstr>
      <vt:lpstr>Step 3: Generating 3-itemset Frequent Pattern</vt:lpstr>
      <vt:lpstr>Step 4: Generating 4-itemset Frequent Pattern</vt:lpstr>
      <vt:lpstr>Step 5: Generating Association Rules from Frequent Itemsets</vt:lpstr>
      <vt:lpstr>Step 5: Generating Association Rules from Frequent Itemsets</vt:lpstr>
      <vt:lpstr>Step 5: Generating Association Rules from Frequent Itemsets</vt:lpstr>
      <vt:lpstr>Methods to Improve Apriori’s Efficiency</vt:lpstr>
      <vt:lpstr>How to Count Supports of Candidates?</vt:lpstr>
      <vt:lpstr>Pattern-Growth Approach: Mining Frequent Patterns Without Candidate Generation</vt:lpstr>
      <vt:lpstr>Construct FP-tree from a Transaction Database</vt:lpstr>
      <vt:lpstr>Construct FP-tree from a Transaction Database</vt:lpstr>
      <vt:lpstr>Partition Patterns and Databases</vt:lpstr>
      <vt:lpstr>Find Patterns Having P From P-conditional Database</vt:lpstr>
      <vt:lpstr>From Conditional Pattern-bases to Conditional FP-trees </vt:lpstr>
      <vt:lpstr>PowerPoint Presentation</vt:lpstr>
      <vt:lpstr>Benefits of the FP-tree Structure</vt:lpstr>
      <vt:lpstr>The Frequent Pattern Growth Mining Method</vt:lpstr>
      <vt:lpstr>Scaling FP-growth by Database Projection</vt:lpstr>
      <vt:lpstr>Mining Frequent Patterns Without Candidate Generation</vt:lpstr>
      <vt:lpstr>FP-Growth Method : An Example</vt:lpstr>
      <vt:lpstr>FP-Growth Method: Construction of FP-Tree</vt:lpstr>
      <vt:lpstr>FP-Growth Method: Construction of FP-Tree</vt:lpstr>
      <vt:lpstr>Mining the FP-Tree by Creating Conditional (sub) pattern bases</vt:lpstr>
      <vt:lpstr>FP-Tree Example Continued</vt:lpstr>
      <vt:lpstr>FP-Tree Example Continued</vt:lpstr>
      <vt:lpstr>Why Frequent Pattern Growth Fast ?</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Modeling 27-02-2024</dc:title>
  <dc:creator>CRRao AIMSCS</dc:creator>
  <cp:lastModifiedBy>padmavathi</cp:lastModifiedBy>
  <cp:revision>34</cp:revision>
  <dcterms:created xsi:type="dcterms:W3CDTF">2024-02-25T13:29:34Z</dcterms:created>
  <dcterms:modified xsi:type="dcterms:W3CDTF">2026-08-04T14:52:10Z</dcterms:modified>
</cp:coreProperties>
</file>