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97" r:id="rId3"/>
    <p:sldId id="300" r:id="rId4"/>
    <p:sldId id="301" r:id="rId5"/>
    <p:sldId id="302" r:id="rId6"/>
    <p:sldId id="953" r:id="rId7"/>
    <p:sldId id="1153" r:id="rId8"/>
    <p:sldId id="1349" r:id="rId9"/>
    <p:sldId id="369" r:id="rId10"/>
    <p:sldId id="370" r:id="rId11"/>
    <p:sldId id="527" r:id="rId12"/>
    <p:sldId id="528" r:id="rId13"/>
    <p:sldId id="529" r:id="rId14"/>
    <p:sldId id="530" r:id="rId15"/>
    <p:sldId id="531" r:id="rId16"/>
    <p:sldId id="532" r:id="rId17"/>
    <p:sldId id="533" r:id="rId18"/>
    <p:sldId id="1154" r:id="rId19"/>
    <p:sldId id="1156" r:id="rId20"/>
    <p:sldId id="1348" r:id="rId21"/>
    <p:sldId id="1351" r:id="rId22"/>
    <p:sldId id="1157" r:id="rId23"/>
    <p:sldId id="1350" r:id="rId24"/>
    <p:sldId id="1158" r:id="rId25"/>
    <p:sldId id="1352" r:id="rId26"/>
    <p:sldId id="1353" r:id="rId27"/>
    <p:sldId id="1354" r:id="rId28"/>
    <p:sldId id="1355" r:id="rId29"/>
    <p:sldId id="1356" r:id="rId30"/>
    <p:sldId id="1357" r:id="rId31"/>
    <p:sldId id="1358" r:id="rId32"/>
    <p:sldId id="1359" r:id="rId33"/>
    <p:sldId id="1360" r:id="rId34"/>
    <p:sldId id="1361" r:id="rId35"/>
    <p:sldId id="1362" r:id="rId36"/>
    <p:sldId id="1363" r:id="rId37"/>
    <p:sldId id="1347" r:id="rId38"/>
    <p:sldId id="1159" r:id="rId39"/>
    <p:sldId id="29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8" d="100"/>
          <a:sy n="78" d="100"/>
        </p:scale>
        <p:origin x="162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24-08-2026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EB10306B-B1E0-6019-BCFC-B067AEC78E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FF62D27-B91E-416E-A4F3-1335CE4D2829}"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82AEA6B3-DD11-C1B1-0D24-1A9547333F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8A49486-86DA-4E71-9B87-DB3662196204}"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117763" name="Rectangle 2">
            <a:extLst>
              <a:ext uri="{FF2B5EF4-FFF2-40B4-BE49-F238E27FC236}">
                <a16:creationId xmlns:a16="http://schemas.microsoft.com/office/drawing/2014/main" id="{0EC7D78A-5C96-5D5E-667D-DE641A28EE59}"/>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D849ACA-133E-23F9-E259-1CF8D3BD2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3D398FD2-A999-79CC-0B16-89C793BD50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AA69DEC-C534-4D80-91FB-D007FB0F6F17}"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118787" name="Rectangle 2">
            <a:extLst>
              <a:ext uri="{FF2B5EF4-FFF2-40B4-BE49-F238E27FC236}">
                <a16:creationId xmlns:a16="http://schemas.microsoft.com/office/drawing/2014/main" id="{9B94DD16-C42F-D33E-1568-708388187160}"/>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3270CBB6-9AC5-33D7-AD24-AC37A26657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598A1C0E-B422-8E39-AA8A-FDCCD44CF8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5247D69-B5B5-44F8-9F47-6B661D672AD7}"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119811" name="Rectangle 2">
            <a:extLst>
              <a:ext uri="{FF2B5EF4-FFF2-40B4-BE49-F238E27FC236}">
                <a16:creationId xmlns:a16="http://schemas.microsoft.com/office/drawing/2014/main" id="{0662A79F-43D9-C171-EEF4-3DF5730D83F8}"/>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2122D2CC-D29B-83A1-FE38-C946DF8AC7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0ED17BDB-1CD0-4922-8E13-6A6AF2ED4D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175F267-AC64-46BD-8295-D76552C1539A}"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120835" name="Rectangle 2">
            <a:extLst>
              <a:ext uri="{FF2B5EF4-FFF2-40B4-BE49-F238E27FC236}">
                <a16:creationId xmlns:a16="http://schemas.microsoft.com/office/drawing/2014/main" id="{40284F36-DA81-2DF9-DF8B-9463F2D81B87}"/>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311F7F25-8D0B-A030-04A7-090A66C335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C09947AB-6A50-E8C5-0D2F-7532B85EB6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2B6C86F-4396-43F7-B501-8286ECCB8612}"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121859" name="Rectangle 2">
            <a:extLst>
              <a:ext uri="{FF2B5EF4-FFF2-40B4-BE49-F238E27FC236}">
                <a16:creationId xmlns:a16="http://schemas.microsoft.com/office/drawing/2014/main" id="{5B936A52-028A-3712-C5B4-D0F49710BBB8}"/>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55998296-0107-6349-5A9A-DE257E1BF9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67770-3531-1723-F79B-7B1B1CC0C757}"/>
            </a:ext>
          </a:extLst>
        </p:cNvPr>
        <p:cNvGrpSpPr/>
        <p:nvPr/>
      </p:nvGrpSpPr>
      <p:grpSpPr>
        <a:xfrm>
          <a:off x="0" y="0"/>
          <a:ext cx="0" cy="0"/>
          <a:chOff x="0" y="0"/>
          <a:chExt cx="0" cy="0"/>
        </a:xfrm>
      </p:grpSpPr>
      <p:sp>
        <p:nvSpPr>
          <p:cNvPr id="122882" name="Rectangle 7">
            <a:extLst>
              <a:ext uri="{FF2B5EF4-FFF2-40B4-BE49-F238E27FC236}">
                <a16:creationId xmlns:a16="http://schemas.microsoft.com/office/drawing/2014/main" id="{E2AE17D1-EFB1-C52C-15E3-56DB96856B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3216DAE-D29D-4A41-B054-17B46EE52E5A}"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122883" name="Rectangle 2">
            <a:extLst>
              <a:ext uri="{FF2B5EF4-FFF2-40B4-BE49-F238E27FC236}">
                <a16:creationId xmlns:a16="http://schemas.microsoft.com/office/drawing/2014/main" id="{D83E670F-9775-5CAC-971E-EC894DAEC338}"/>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86E1E7D6-820C-BC62-D79B-409D58A881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5890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FED3331C-091A-F37F-9D08-BE973292FF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3216DAE-D29D-4A41-B054-17B46EE52E5A}"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122883" name="Rectangle 2">
            <a:extLst>
              <a:ext uri="{FF2B5EF4-FFF2-40B4-BE49-F238E27FC236}">
                <a16:creationId xmlns:a16="http://schemas.microsoft.com/office/drawing/2014/main" id="{C0A08868-B358-83B0-C1F4-EC45224C6A16}"/>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222F3011-AB3D-76D6-903C-9E626C6594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8BA83405-FC88-7CE5-97E6-856A4C5B95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374A8F5-FA50-48C7-A5C8-2CA06085A57A}"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123907" name="Rectangle 2">
            <a:extLst>
              <a:ext uri="{FF2B5EF4-FFF2-40B4-BE49-F238E27FC236}">
                <a16:creationId xmlns:a16="http://schemas.microsoft.com/office/drawing/2014/main" id="{57D113D9-3183-62C2-12CB-81B77F9DDC1D}"/>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0D8CCCD2-CCF0-C7BE-2B1D-B1D7370B47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CFE36350-E5BB-8367-042C-946DF13041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1939419-3847-4D96-9182-7051A58BFC63}"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124931" name="Rectangle 2">
            <a:extLst>
              <a:ext uri="{FF2B5EF4-FFF2-40B4-BE49-F238E27FC236}">
                <a16:creationId xmlns:a16="http://schemas.microsoft.com/office/drawing/2014/main" id="{76CD17FE-0B4E-A671-5EE0-67305202E01D}"/>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848339CC-770F-1990-7F5F-9D21C1B47A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8/24/2026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8/24/2026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Text Placeholder 2"/>
          <p:cNvSpPr>
            <a:spLocks noGrp="1"/>
          </p:cNvSpPr>
          <p:nvPr>
            <p:ph type="body"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10100" y="13716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10100" y="40005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a:extLst>
              <a:ext uri="{FF2B5EF4-FFF2-40B4-BE49-F238E27FC236}">
                <a16:creationId xmlns:a16="http://schemas.microsoft.com/office/drawing/2014/main" id="{2385C411-4CE4-5159-1AF6-CFAA77AAE2E1}"/>
              </a:ext>
            </a:extLst>
          </p:cNvPr>
          <p:cNvSpPr>
            <a:spLocks noGrp="1" noChangeArrowheads="1"/>
          </p:cNvSpPr>
          <p:nvPr>
            <p:ph type="sldNum" sz="quarter" idx="10"/>
          </p:nvPr>
        </p:nvSpPr>
        <p:spPr>
          <a:ln/>
        </p:spPr>
        <p:txBody>
          <a:bodyPr/>
          <a:lstStyle>
            <a:lvl1pPr>
              <a:defRPr/>
            </a:lvl1pPr>
          </a:lstStyle>
          <a:p>
            <a:fld id="{8AF0374C-7D22-453B-9EDF-D873B0EADA8D}" type="slidenum">
              <a:rPr lang="en-US" altLang="en-US"/>
              <a:pPr/>
              <a:t>‹#›</a:t>
            </a:fld>
            <a:endParaRPr lang="en-US" altLang="en-US"/>
          </a:p>
        </p:txBody>
      </p:sp>
    </p:spTree>
    <p:extLst>
      <p:ext uri="{BB962C8B-B14F-4D97-AF65-F5344CB8AC3E}">
        <p14:creationId xmlns:p14="http://schemas.microsoft.com/office/powerpoint/2010/main" val="1457892901"/>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Text Placeholder 2"/>
          <p:cNvSpPr>
            <a:spLocks noGrp="1"/>
          </p:cNvSpPr>
          <p:nvPr>
            <p:ph type="body"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a:extLst>
              <a:ext uri="{FF2B5EF4-FFF2-40B4-BE49-F238E27FC236}">
                <a16:creationId xmlns:a16="http://schemas.microsoft.com/office/drawing/2014/main" id="{82E707A1-779D-E5BC-A7F2-C38FCF4DB1B7}"/>
              </a:ext>
            </a:extLst>
          </p:cNvPr>
          <p:cNvSpPr>
            <a:spLocks noGrp="1" noChangeArrowheads="1"/>
          </p:cNvSpPr>
          <p:nvPr>
            <p:ph type="sldNum" sz="quarter" idx="10"/>
          </p:nvPr>
        </p:nvSpPr>
        <p:spPr>
          <a:ln/>
        </p:spPr>
        <p:txBody>
          <a:bodyPr/>
          <a:lstStyle>
            <a:lvl1pPr>
              <a:defRPr/>
            </a:lvl1pPr>
          </a:lstStyle>
          <a:p>
            <a:fld id="{1415E097-674A-458B-85D5-25B0634476C3}" type="slidenum">
              <a:rPr lang="en-US" altLang="en-US"/>
              <a:pPr/>
              <a:t>‹#›</a:t>
            </a:fld>
            <a:endParaRPr lang="en-US" altLang="en-US"/>
          </a:p>
        </p:txBody>
      </p:sp>
    </p:spTree>
    <p:extLst>
      <p:ext uri="{BB962C8B-B14F-4D97-AF65-F5344CB8AC3E}">
        <p14:creationId xmlns:p14="http://schemas.microsoft.com/office/powerpoint/2010/main" val="420738400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5">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8/24/2026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wmf"/><Relationship Id="rId5" Type="http://schemas.openxmlformats.org/officeDocument/2006/relationships/oleObject" Target="../embeddings/oleObject5.bin"/><Relationship Id="rId4" Type="http://schemas.openxmlformats.org/officeDocument/2006/relationships/image" Target="../media/image7.wmf"/></Relationships>
</file>

<file path=ppt/slides/_rels/slide2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wmf"/><Relationship Id="rId5" Type="http://schemas.openxmlformats.org/officeDocument/2006/relationships/oleObject" Target="../embeddings/oleObject7.bin"/><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1.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Unit-II: </a:t>
            </a:r>
            <a:r>
              <a:rPr lang="en-US" sz="2400" dirty="0">
                <a:solidFill>
                  <a:srgbClr val="002060"/>
                </a:solidFill>
                <a:latin typeface="Times New Roman" panose="02020603050405020304" pitchFamily="18" charset="0"/>
                <a:cs typeface="Times New Roman" panose="02020603050405020304" pitchFamily="18" charset="0"/>
              </a:rPr>
              <a:t>Association Analysis</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6B06F-0944-6F71-AF05-3698C0B1CFD6}"/>
              </a:ext>
            </a:extLst>
          </p:cNvPr>
          <p:cNvSpPr>
            <a:spLocks noGrp="1"/>
          </p:cNvSpPr>
          <p:nvPr>
            <p:ph idx="1"/>
          </p:nvPr>
        </p:nvSpPr>
        <p:spPr>
          <a:xfrm>
            <a:off x="914400" y="1219200"/>
            <a:ext cx="6781800" cy="4525963"/>
          </a:xfrm>
        </p:spPr>
        <p:txBody>
          <a:bodyPr/>
          <a:lstStyle/>
          <a:p>
            <a:r>
              <a:rPr lang="en-US" sz="2400" dirty="0">
                <a:latin typeface="Times New Roman" panose="02020603050405020304" pitchFamily="18" charset="0"/>
                <a:cs typeface="Times New Roman" panose="02020603050405020304" pitchFamily="18" charset="0"/>
              </a:rPr>
              <a:t>Classification: Basic Concepts</a:t>
            </a:r>
          </a:p>
          <a:p>
            <a:r>
              <a:rPr lang="en-US" sz="2400" dirty="0">
                <a:latin typeface="Times New Roman" panose="02020603050405020304" pitchFamily="18" charset="0"/>
                <a:cs typeface="Times New Roman" panose="02020603050405020304" pitchFamily="18" charset="0"/>
              </a:rPr>
              <a:t>Bayes Classification Methods</a:t>
            </a:r>
          </a:p>
          <a:p>
            <a:r>
              <a:rPr lang="en-US" sz="2400" dirty="0">
                <a:latin typeface="Times New Roman" panose="02020603050405020304" pitchFamily="18" charset="0"/>
                <a:cs typeface="Times New Roman" panose="02020603050405020304" pitchFamily="18" charset="0"/>
              </a:rPr>
              <a:t>Decision Tree Induction</a:t>
            </a:r>
          </a:p>
          <a:p>
            <a:r>
              <a:rPr lang="en-US" sz="2400" dirty="0">
                <a:latin typeface="Times New Roman" panose="02020603050405020304" pitchFamily="18" charset="0"/>
                <a:cs typeface="Times New Roman" panose="02020603050405020304" pitchFamily="18" charset="0"/>
              </a:rPr>
              <a:t> Rule-Based Classification</a:t>
            </a:r>
          </a:p>
          <a:p>
            <a:r>
              <a:rPr lang="en-US" sz="2400" dirty="0">
                <a:latin typeface="Times New Roman" panose="02020603050405020304" pitchFamily="18" charset="0"/>
                <a:cs typeface="Times New Roman" panose="02020603050405020304" pitchFamily="18" charset="0"/>
              </a:rPr>
              <a:t> Metrics for Evaluating Classifier Performance </a:t>
            </a:r>
          </a:p>
          <a:p>
            <a:r>
              <a:rPr lang="en-US" sz="2400" dirty="0">
                <a:latin typeface="Times New Roman" panose="02020603050405020304" pitchFamily="18" charset="0"/>
                <a:cs typeface="Times New Roman" panose="02020603050405020304" pitchFamily="18" charset="0"/>
              </a:rPr>
              <a:t>Ensemble Methods </a:t>
            </a:r>
          </a:p>
          <a:p>
            <a:r>
              <a:rPr lang="en-US" sz="2400" dirty="0">
                <a:latin typeface="Times New Roman" panose="02020603050405020304" pitchFamily="18" charset="0"/>
                <a:cs typeface="Times New Roman" panose="02020603050405020304" pitchFamily="18" charset="0"/>
              </a:rPr>
              <a:t>Multilayer Feed- Forward Neural Network</a:t>
            </a:r>
          </a:p>
          <a:p>
            <a:r>
              <a:rPr lang="en-US" sz="2400" dirty="0">
                <a:latin typeface="Times New Roman" panose="02020603050405020304" pitchFamily="18" charset="0"/>
                <a:cs typeface="Times New Roman" panose="02020603050405020304" pitchFamily="18" charset="0"/>
              </a:rPr>
              <a:t> Support Vector Machines</a:t>
            </a:r>
          </a:p>
          <a:p>
            <a:r>
              <a:rPr lang="en-US" sz="2400" dirty="0">
                <a:latin typeface="Times New Roman" panose="02020603050405020304" pitchFamily="18" charset="0"/>
                <a:cs typeface="Times New Roman" panose="02020603050405020304" pitchFamily="18" charset="0"/>
              </a:rPr>
              <a:t> k-Nearest-Neighbor Classifiers</a:t>
            </a:r>
            <a:endParaRPr lang="en-IN" sz="2400"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58E87388-470C-7DEE-22B9-3D7515416BB0}"/>
              </a:ext>
            </a:extLst>
          </p:cNvPr>
          <p:cNvSpPr>
            <a:spLocks noGrp="1"/>
          </p:cNvSpPr>
          <p:nvPr>
            <p:ph type="title"/>
          </p:nvPr>
        </p:nvSpPr>
        <p:spPr>
          <a:xfrm>
            <a:off x="457200" y="274638"/>
            <a:ext cx="8229600" cy="576071"/>
          </a:xfrm>
        </p:spPr>
        <p:txBody>
          <a:bodyPr>
            <a:noAutofit/>
          </a:bodyPr>
          <a:lstStyle/>
          <a:p>
            <a:pPr marL="109728" algn="ctr"/>
            <a:r>
              <a:rPr lang="en-US" sz="3200" dirty="0">
                <a:solidFill>
                  <a:srgbClr val="002060"/>
                </a:solidFill>
                <a:effectLst/>
                <a:latin typeface="Times New Roman" panose="02020603050405020304" pitchFamily="18" charset="0"/>
                <a:cs typeface="Times New Roman" panose="02020603050405020304" pitchFamily="18" charset="0"/>
              </a:rPr>
              <a:t>UNIT – III Classification</a:t>
            </a:r>
            <a:endParaRPr lang="en-IN" sz="3200" dirty="0">
              <a:solidFill>
                <a:srgbClr val="002060"/>
              </a:solidFill>
              <a:effectLst/>
            </a:endParaRPr>
          </a:p>
        </p:txBody>
      </p:sp>
    </p:spTree>
    <p:extLst>
      <p:ext uri="{BB962C8B-B14F-4D97-AF65-F5344CB8AC3E}">
        <p14:creationId xmlns:p14="http://schemas.microsoft.com/office/powerpoint/2010/main" val="109076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095666B6-3A1C-B7CC-2F99-2174552119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C58ABF9-63E7-4893-AF59-17E34813B7E8}" type="slidenum">
              <a:rPr lang="en-US" altLang="en-US">
                <a:latin typeface="Times New Roman" panose="02020603050405020304" pitchFamily="18" charset="0"/>
                <a:cs typeface="Times New Roman" panose="02020603050405020304" pitchFamily="18" charset="0"/>
              </a:rPr>
              <a:pPr eaLnBrk="1" hangingPunct="1"/>
              <a:t>6</a:t>
            </a:fld>
            <a:endParaRPr lang="en-US" altLang="en-US">
              <a:latin typeface="Times New Roman" panose="02020603050405020304" pitchFamily="18" charset="0"/>
              <a:cs typeface="Times New Roman" panose="02020603050405020304" pitchFamily="18" charset="0"/>
            </a:endParaRPr>
          </a:p>
        </p:txBody>
      </p:sp>
      <p:sp>
        <p:nvSpPr>
          <p:cNvPr id="33795" name="Rectangle 2">
            <a:extLst>
              <a:ext uri="{FF2B5EF4-FFF2-40B4-BE49-F238E27FC236}">
                <a16:creationId xmlns:a16="http://schemas.microsoft.com/office/drawing/2014/main" id="{FC6A2FB6-062F-1ADD-4E61-AAEAE4EBDBFC}"/>
              </a:ext>
            </a:extLst>
          </p:cNvPr>
          <p:cNvSpPr>
            <a:spLocks noGrp="1" noChangeArrowheads="1"/>
          </p:cNvSpPr>
          <p:nvPr>
            <p:ph type="title"/>
          </p:nvPr>
        </p:nvSpPr>
        <p:spPr>
          <a:xfrm>
            <a:off x="609600" y="228600"/>
            <a:ext cx="7696200" cy="685800"/>
          </a:xfrm>
          <a:noFill/>
        </p:spPr>
        <p:txBody>
          <a:bodyPr lIns="92075" tIns="46038" rIns="92075" bIns="46038" anchor="ctr">
            <a:normAutofit fontScale="90000"/>
          </a:bodyPr>
          <a:lstStyle/>
          <a:p>
            <a:pPr eaLnBrk="1" hangingPunct="1"/>
            <a:r>
              <a:rPr lang="en-US" altLang="en-US">
                <a:latin typeface="Times New Roman" panose="02020603050405020304" pitchFamily="18" charset="0"/>
                <a:cs typeface="Times New Roman" panose="02020603050405020304" pitchFamily="18" charset="0"/>
              </a:rPr>
              <a:t>Bayesian Classification: Why?</a:t>
            </a:r>
            <a:endParaRPr lang="en-US" altLang="en-US" sz="2400">
              <a:latin typeface="Times New Roman" panose="02020603050405020304" pitchFamily="18" charset="0"/>
              <a:cs typeface="Times New Roman" panose="02020603050405020304" pitchFamily="18" charset="0"/>
            </a:endParaRPr>
          </a:p>
        </p:txBody>
      </p:sp>
      <p:sp>
        <p:nvSpPr>
          <p:cNvPr id="33796" name="Rectangle 3">
            <a:extLst>
              <a:ext uri="{FF2B5EF4-FFF2-40B4-BE49-F238E27FC236}">
                <a16:creationId xmlns:a16="http://schemas.microsoft.com/office/drawing/2014/main" id="{6363FC4B-D1D5-8314-279E-752364EA2051}"/>
              </a:ext>
            </a:extLst>
          </p:cNvPr>
          <p:cNvSpPr>
            <a:spLocks noGrp="1" noChangeArrowheads="1"/>
          </p:cNvSpPr>
          <p:nvPr>
            <p:ph type="body" idx="1"/>
          </p:nvPr>
        </p:nvSpPr>
        <p:spPr>
          <a:xfrm>
            <a:off x="381000" y="1219200"/>
            <a:ext cx="8458200" cy="5257800"/>
          </a:xfrm>
          <a:noFill/>
        </p:spPr>
        <p:txBody>
          <a:bodyPr lIns="92075" tIns="46038" rIns="92075" bIns="46038">
            <a:normAutofit/>
          </a:bodyPr>
          <a:lstStyle/>
          <a:p>
            <a:pPr eaLnBrk="1" hangingPunct="1">
              <a:lnSpc>
                <a:spcPct val="110000"/>
              </a:lnSpc>
            </a:pPr>
            <a:r>
              <a:rPr lang="en-US" altLang="en-US" sz="2400" u="sng">
                <a:latin typeface="Times New Roman" panose="02020603050405020304" pitchFamily="18" charset="0"/>
                <a:cs typeface="Times New Roman" panose="02020603050405020304" pitchFamily="18" charset="0"/>
              </a:rPr>
              <a:t>A statistical classifier</a:t>
            </a:r>
            <a:r>
              <a:rPr lang="en-US" altLang="en-US" sz="2400">
                <a:latin typeface="Times New Roman" panose="02020603050405020304" pitchFamily="18" charset="0"/>
                <a:cs typeface="Times New Roman" panose="02020603050405020304" pitchFamily="18" charset="0"/>
              </a:rPr>
              <a:t>: performs </a:t>
            </a:r>
            <a:r>
              <a:rPr lang="en-US" altLang="en-US" sz="2400" i="1">
                <a:latin typeface="Times New Roman" panose="02020603050405020304" pitchFamily="18" charset="0"/>
                <a:cs typeface="Times New Roman" panose="02020603050405020304" pitchFamily="18" charset="0"/>
              </a:rPr>
              <a:t>probabilistic prediction, i.e.,</a:t>
            </a:r>
            <a:r>
              <a:rPr lang="en-US" altLang="en-US" sz="2400">
                <a:latin typeface="Times New Roman" panose="02020603050405020304" pitchFamily="18" charset="0"/>
                <a:cs typeface="Times New Roman" panose="02020603050405020304" pitchFamily="18" charset="0"/>
              </a:rPr>
              <a:t> predicts class membership probabilities</a:t>
            </a:r>
          </a:p>
          <a:p>
            <a:pPr eaLnBrk="1" hangingPunct="1">
              <a:lnSpc>
                <a:spcPct val="110000"/>
              </a:lnSpc>
            </a:pPr>
            <a:r>
              <a:rPr lang="en-US" altLang="en-US" sz="2400" u="sng">
                <a:latin typeface="Times New Roman" panose="02020603050405020304" pitchFamily="18" charset="0"/>
                <a:cs typeface="Times New Roman" panose="02020603050405020304" pitchFamily="18" charset="0"/>
              </a:rPr>
              <a:t>Foundation:</a:t>
            </a:r>
            <a:r>
              <a:rPr lang="en-US" altLang="en-US" sz="2400">
                <a:latin typeface="Times New Roman" panose="02020603050405020304" pitchFamily="18" charset="0"/>
                <a:cs typeface="Times New Roman" panose="02020603050405020304" pitchFamily="18" charset="0"/>
              </a:rPr>
              <a:t> Based on Bayes’ Theorem. </a:t>
            </a:r>
          </a:p>
          <a:p>
            <a:pPr eaLnBrk="1" hangingPunct="1">
              <a:lnSpc>
                <a:spcPct val="110000"/>
              </a:lnSpc>
            </a:pPr>
            <a:r>
              <a:rPr lang="en-US" altLang="en-US" sz="2400" u="sng">
                <a:latin typeface="Times New Roman" panose="02020603050405020304" pitchFamily="18" charset="0"/>
                <a:cs typeface="Times New Roman" panose="02020603050405020304" pitchFamily="18" charset="0"/>
              </a:rPr>
              <a:t>Performance:</a:t>
            </a:r>
            <a:r>
              <a:rPr lang="en-US" altLang="en-US" sz="2400">
                <a:latin typeface="Times New Roman" panose="02020603050405020304" pitchFamily="18" charset="0"/>
                <a:cs typeface="Times New Roman" panose="02020603050405020304" pitchFamily="18" charset="0"/>
              </a:rPr>
              <a:t> A simple Bayesian classifier, </a:t>
            </a:r>
            <a:r>
              <a:rPr lang="en-US" altLang="en-US" sz="2400" i="1">
                <a:latin typeface="Times New Roman" panose="02020603050405020304" pitchFamily="18" charset="0"/>
                <a:cs typeface="Times New Roman" panose="02020603050405020304" pitchFamily="18" charset="0"/>
              </a:rPr>
              <a:t>naïve Bayesian classifier</a:t>
            </a:r>
            <a:r>
              <a:rPr lang="en-US" altLang="en-US" sz="2400">
                <a:latin typeface="Times New Roman" panose="02020603050405020304" pitchFamily="18" charset="0"/>
                <a:cs typeface="Times New Roman" panose="02020603050405020304" pitchFamily="18" charset="0"/>
              </a:rPr>
              <a:t>, has comparable performance with decision tree and selected neural network classifiers</a:t>
            </a:r>
          </a:p>
          <a:p>
            <a:pPr eaLnBrk="1" hangingPunct="1">
              <a:lnSpc>
                <a:spcPct val="110000"/>
              </a:lnSpc>
            </a:pPr>
            <a:r>
              <a:rPr lang="en-US" altLang="en-US" sz="2400" u="sng">
                <a:latin typeface="Times New Roman" panose="02020603050405020304" pitchFamily="18" charset="0"/>
                <a:cs typeface="Times New Roman" panose="02020603050405020304" pitchFamily="18" charset="0"/>
              </a:rPr>
              <a:t>Incremental</a:t>
            </a:r>
            <a:r>
              <a:rPr lang="en-US" altLang="en-US" sz="2400">
                <a:latin typeface="Times New Roman" panose="02020603050405020304" pitchFamily="18" charset="0"/>
                <a:cs typeface="Times New Roman" panose="02020603050405020304" pitchFamily="18" charset="0"/>
              </a:rPr>
              <a:t>: Each training example can incrementally increase/decrease the probability that a hypothesis is correct — prior knowledge can be combined with observed data</a:t>
            </a:r>
          </a:p>
          <a:p>
            <a:pPr eaLnBrk="1" hangingPunct="1">
              <a:lnSpc>
                <a:spcPct val="110000"/>
              </a:lnSpc>
            </a:pPr>
            <a:r>
              <a:rPr lang="en-US" altLang="en-US" sz="2400" u="sng">
                <a:latin typeface="Times New Roman" panose="02020603050405020304" pitchFamily="18" charset="0"/>
                <a:cs typeface="Times New Roman" panose="02020603050405020304" pitchFamily="18" charset="0"/>
              </a:rPr>
              <a:t>Standard</a:t>
            </a:r>
            <a:r>
              <a:rPr lang="en-US" altLang="en-US" sz="2400">
                <a:latin typeface="Times New Roman" panose="02020603050405020304" pitchFamily="18" charset="0"/>
                <a:cs typeface="Times New Roman" panose="02020603050405020304" pitchFamily="18" charset="0"/>
              </a:rPr>
              <a:t>: Even when Bayesian methods are computationally intractable, they can provide a standard of optimal decision making against which other methods can be measured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67149A40-1B85-F2BB-994A-B36A7DFE4E9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B0911D5B-3D29-406F-A715-621D2D50349B}" type="slidenum">
              <a:rPr lang="en-US" altLang="en-US">
                <a:latin typeface="Times New Roman" panose="02020603050405020304" pitchFamily="18" charset="0"/>
                <a:cs typeface="Times New Roman" panose="02020603050405020304" pitchFamily="18" charset="0"/>
              </a:rPr>
              <a:pPr eaLnBrk="1" hangingPunct="1"/>
              <a:t>7</a:t>
            </a:fld>
            <a:endParaRPr lang="en-US" altLang="en-US">
              <a:latin typeface="Times New Roman" panose="02020603050405020304" pitchFamily="18" charset="0"/>
              <a:cs typeface="Times New Roman" panose="02020603050405020304" pitchFamily="18" charset="0"/>
            </a:endParaRPr>
          </a:p>
        </p:txBody>
      </p:sp>
      <p:sp>
        <p:nvSpPr>
          <p:cNvPr id="34819" name="Rectangle 2">
            <a:extLst>
              <a:ext uri="{FF2B5EF4-FFF2-40B4-BE49-F238E27FC236}">
                <a16:creationId xmlns:a16="http://schemas.microsoft.com/office/drawing/2014/main" id="{09F514CA-1B8E-9B02-0CFC-30CB7D9D25D1}"/>
              </a:ext>
            </a:extLst>
          </p:cNvPr>
          <p:cNvSpPr>
            <a:spLocks noGrp="1" noChangeArrowheads="1"/>
          </p:cNvSpPr>
          <p:nvPr>
            <p:ph type="title"/>
          </p:nvPr>
        </p:nvSpPr>
        <p:spPr>
          <a:xfrm>
            <a:off x="609600" y="152400"/>
            <a:ext cx="7848600" cy="762000"/>
          </a:xfrm>
        </p:spPr>
        <p:txBody>
          <a:bodyPr/>
          <a:lstStyle/>
          <a:p>
            <a:pPr eaLnBrk="1" hangingPunct="1"/>
            <a:r>
              <a:rPr lang="en-US" altLang="en-US">
                <a:latin typeface="Times New Roman" panose="02020603050405020304" pitchFamily="18" charset="0"/>
                <a:cs typeface="Times New Roman" panose="02020603050405020304" pitchFamily="18" charset="0"/>
              </a:rPr>
              <a:t>Bayes’ Theorem: Basics</a:t>
            </a:r>
          </a:p>
        </p:txBody>
      </p:sp>
      <p:sp>
        <p:nvSpPr>
          <p:cNvPr id="34820" name="Rectangle 3">
            <a:extLst>
              <a:ext uri="{FF2B5EF4-FFF2-40B4-BE49-F238E27FC236}">
                <a16:creationId xmlns:a16="http://schemas.microsoft.com/office/drawing/2014/main" id="{6654C11B-C263-7FAF-A786-4EEE003E9056}"/>
              </a:ext>
            </a:extLst>
          </p:cNvPr>
          <p:cNvSpPr>
            <a:spLocks noGrp="1" noChangeArrowheads="1"/>
          </p:cNvSpPr>
          <p:nvPr>
            <p:ph type="body" idx="1"/>
          </p:nvPr>
        </p:nvSpPr>
        <p:spPr>
          <a:xfrm>
            <a:off x="304800" y="1219200"/>
            <a:ext cx="8610600" cy="5410200"/>
          </a:xfrm>
        </p:spPr>
        <p:txBody>
          <a:bodyPr>
            <a:normAutofit/>
          </a:bodyPr>
          <a:lstStyle/>
          <a:p>
            <a:pPr eaLnBrk="1" hangingPunct="1"/>
            <a:r>
              <a:rPr lang="en-US" altLang="en-US" sz="2000" dirty="0">
                <a:latin typeface="Times New Roman" panose="02020603050405020304" pitchFamily="18" charset="0"/>
                <a:cs typeface="Times New Roman" panose="02020603050405020304" pitchFamily="18" charset="0"/>
              </a:rPr>
              <a:t>Total probability Theorem:</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Bayes’ Theorem:</a:t>
            </a:r>
          </a:p>
          <a:p>
            <a:pPr eaLnBrk="1" hangingPunct="1"/>
            <a:endParaRPr lang="en-US" altLang="en-US" sz="2000" dirty="0">
              <a:latin typeface="Times New Roman" panose="02020603050405020304" pitchFamily="18" charset="0"/>
              <a:cs typeface="Times New Roman" panose="02020603050405020304" pitchFamily="18" charset="0"/>
            </a:endParaRPr>
          </a:p>
          <a:p>
            <a:pPr lvl="1" eaLnBrk="1" hangingPunct="1"/>
            <a:r>
              <a:rPr lang="en-US" altLang="en-US" sz="2000" dirty="0">
                <a:latin typeface="Times New Roman" panose="02020603050405020304" pitchFamily="18" charset="0"/>
                <a:cs typeface="Times New Roman" panose="02020603050405020304" pitchFamily="18" charset="0"/>
              </a:rPr>
              <a:t>Let </a:t>
            </a:r>
            <a:r>
              <a:rPr lang="en-US" altLang="en-US" sz="2000" b="1" dirty="0">
                <a:latin typeface="Times New Roman" panose="02020603050405020304" pitchFamily="18" charset="0"/>
                <a:cs typeface="Times New Roman" panose="02020603050405020304" pitchFamily="18" charset="0"/>
              </a:rPr>
              <a:t>X</a:t>
            </a:r>
            <a:r>
              <a:rPr lang="en-US" altLang="en-US" sz="2000" dirty="0">
                <a:latin typeface="Times New Roman" panose="02020603050405020304" pitchFamily="18" charset="0"/>
                <a:cs typeface="Times New Roman" panose="02020603050405020304" pitchFamily="18" charset="0"/>
              </a:rPr>
              <a:t> be a data sample (“</a:t>
            </a:r>
            <a:r>
              <a:rPr lang="en-US" altLang="en-US" sz="2000" i="1" dirty="0">
                <a:latin typeface="Times New Roman" panose="02020603050405020304" pitchFamily="18" charset="0"/>
                <a:cs typeface="Times New Roman" panose="02020603050405020304" pitchFamily="18" charset="0"/>
              </a:rPr>
              <a:t>evidence</a:t>
            </a:r>
            <a:r>
              <a:rPr lang="en-US" altLang="en-US" sz="2000" dirty="0">
                <a:latin typeface="Times New Roman" panose="02020603050405020304" pitchFamily="18" charset="0"/>
                <a:cs typeface="Times New Roman" panose="02020603050405020304" pitchFamily="18" charset="0"/>
              </a:rPr>
              <a:t>”): class label is unknown</a:t>
            </a:r>
          </a:p>
          <a:p>
            <a:pPr lvl="1" eaLnBrk="1" hangingPunct="1"/>
            <a:r>
              <a:rPr lang="en-US" altLang="en-US" sz="2000" dirty="0">
                <a:latin typeface="Times New Roman" panose="02020603050405020304" pitchFamily="18" charset="0"/>
                <a:cs typeface="Times New Roman" panose="02020603050405020304" pitchFamily="18" charset="0"/>
              </a:rPr>
              <a:t>Let H be a </a:t>
            </a:r>
            <a:r>
              <a:rPr lang="en-US" altLang="en-US" sz="2000" i="1" dirty="0">
                <a:latin typeface="Times New Roman" panose="02020603050405020304" pitchFamily="18" charset="0"/>
                <a:cs typeface="Times New Roman" panose="02020603050405020304" pitchFamily="18" charset="0"/>
              </a:rPr>
              <a:t>hypothesis</a:t>
            </a:r>
            <a:r>
              <a:rPr lang="en-US" altLang="en-US" sz="2000" dirty="0">
                <a:latin typeface="Times New Roman" panose="02020603050405020304" pitchFamily="18" charset="0"/>
                <a:cs typeface="Times New Roman" panose="02020603050405020304" pitchFamily="18" charset="0"/>
              </a:rPr>
              <a:t> that X belongs to class C </a:t>
            </a:r>
          </a:p>
          <a:p>
            <a:pPr lvl="1" eaLnBrk="1" hangingPunct="1"/>
            <a:r>
              <a:rPr lang="en-US" altLang="en-US" sz="2000" dirty="0">
                <a:latin typeface="Times New Roman" panose="02020603050405020304" pitchFamily="18" charset="0"/>
                <a:cs typeface="Times New Roman" panose="02020603050405020304" pitchFamily="18" charset="0"/>
              </a:rPr>
              <a:t>Classification is to determine P(H|</a:t>
            </a:r>
            <a:r>
              <a:rPr lang="en-US" altLang="en-US" sz="2000" b="1" dirty="0">
                <a:latin typeface="Times New Roman" panose="02020603050405020304" pitchFamily="18" charset="0"/>
                <a:cs typeface="Times New Roman" panose="02020603050405020304" pitchFamily="18" charset="0"/>
              </a:rPr>
              <a:t>X</a:t>
            </a:r>
            <a:r>
              <a:rPr lang="en-US" altLang="en-US" sz="2000" dirty="0">
                <a:latin typeface="Times New Roman" panose="02020603050405020304" pitchFamily="18" charset="0"/>
                <a:cs typeface="Times New Roman" panose="02020603050405020304" pitchFamily="18" charset="0"/>
              </a:rPr>
              <a:t>), (i.e., </a:t>
            </a:r>
            <a:r>
              <a:rPr lang="en-US" altLang="en-US" sz="2000" i="1" dirty="0">
                <a:latin typeface="Times New Roman" panose="02020603050405020304" pitchFamily="18" charset="0"/>
                <a:cs typeface="Times New Roman" panose="02020603050405020304" pitchFamily="18" charset="0"/>
              </a:rPr>
              <a:t>posteriori probability): </a:t>
            </a:r>
            <a:r>
              <a:rPr lang="en-US" altLang="en-US" sz="2000" dirty="0">
                <a:latin typeface="Times New Roman" panose="02020603050405020304" pitchFamily="18" charset="0"/>
                <a:cs typeface="Times New Roman" panose="02020603050405020304" pitchFamily="18" charset="0"/>
              </a:rPr>
              <a:t> the probability that the hypothesis holds given the observed data sample </a:t>
            </a:r>
            <a:r>
              <a:rPr lang="en-US" altLang="en-US" sz="2000" b="1" dirty="0">
                <a:latin typeface="Times New Roman" panose="02020603050405020304" pitchFamily="18" charset="0"/>
                <a:cs typeface="Times New Roman" panose="02020603050405020304" pitchFamily="18" charset="0"/>
              </a:rPr>
              <a:t>X</a:t>
            </a:r>
          </a:p>
          <a:p>
            <a:pPr lvl="1" eaLnBrk="1" hangingPunct="1"/>
            <a:r>
              <a:rPr lang="en-US" altLang="en-US" sz="2000" dirty="0">
                <a:latin typeface="Times New Roman" panose="02020603050405020304" pitchFamily="18" charset="0"/>
                <a:cs typeface="Times New Roman" panose="02020603050405020304" pitchFamily="18" charset="0"/>
              </a:rPr>
              <a:t>P(H) (</a:t>
            </a:r>
            <a:r>
              <a:rPr lang="en-US" altLang="en-US" sz="2000" i="1" dirty="0">
                <a:latin typeface="Times New Roman" panose="02020603050405020304" pitchFamily="18" charset="0"/>
                <a:cs typeface="Times New Roman" panose="02020603050405020304" pitchFamily="18" charset="0"/>
              </a:rPr>
              <a:t>prior probability</a:t>
            </a:r>
            <a:r>
              <a:rPr lang="en-US" altLang="en-US" sz="2000" dirty="0">
                <a:latin typeface="Times New Roman" panose="02020603050405020304" pitchFamily="18" charset="0"/>
                <a:cs typeface="Times New Roman" panose="02020603050405020304" pitchFamily="18" charset="0"/>
              </a:rPr>
              <a:t>): the initial probability</a:t>
            </a:r>
          </a:p>
          <a:p>
            <a:pPr lvl="2" eaLnBrk="1" hangingPunct="1"/>
            <a:r>
              <a:rPr lang="en-US" altLang="en-US" sz="2000" dirty="0">
                <a:latin typeface="Times New Roman" panose="02020603050405020304" pitchFamily="18" charset="0"/>
                <a:cs typeface="Times New Roman" panose="02020603050405020304" pitchFamily="18" charset="0"/>
              </a:rPr>
              <a:t>E.g.,</a:t>
            </a:r>
            <a:r>
              <a:rPr lang="en-US" altLang="en-US" sz="2000" b="1" dirty="0">
                <a:latin typeface="Times New Roman" panose="02020603050405020304" pitchFamily="18" charset="0"/>
                <a:cs typeface="Times New Roman" panose="02020603050405020304" pitchFamily="18" charset="0"/>
              </a:rPr>
              <a:t> X</a:t>
            </a:r>
            <a:r>
              <a:rPr lang="en-US" altLang="en-US" sz="2000" dirty="0">
                <a:latin typeface="Times New Roman" panose="02020603050405020304" pitchFamily="18" charset="0"/>
                <a:cs typeface="Times New Roman" panose="02020603050405020304" pitchFamily="18" charset="0"/>
              </a:rPr>
              <a:t> will buy computer, regardless of age, income, …</a:t>
            </a:r>
          </a:p>
          <a:p>
            <a:pPr lvl="1" eaLnBrk="1" hangingPunct="1"/>
            <a:r>
              <a:rPr lang="en-US" altLang="en-US" sz="2000" dirty="0">
                <a:latin typeface="Times New Roman" panose="02020603050405020304" pitchFamily="18" charset="0"/>
                <a:cs typeface="Times New Roman" panose="02020603050405020304" pitchFamily="18" charset="0"/>
              </a:rPr>
              <a:t>P(</a:t>
            </a:r>
            <a:r>
              <a:rPr lang="en-US" altLang="en-US" sz="2000" b="1" dirty="0">
                <a:latin typeface="Times New Roman" panose="02020603050405020304" pitchFamily="18" charset="0"/>
                <a:cs typeface="Times New Roman" panose="02020603050405020304" pitchFamily="18" charset="0"/>
              </a:rPr>
              <a:t>X</a:t>
            </a:r>
            <a:r>
              <a:rPr lang="en-US" altLang="en-US" sz="2000" dirty="0">
                <a:latin typeface="Times New Roman" panose="02020603050405020304" pitchFamily="18" charset="0"/>
                <a:cs typeface="Times New Roman" panose="02020603050405020304" pitchFamily="18" charset="0"/>
              </a:rPr>
              <a:t>): probability that sample data is observed</a:t>
            </a:r>
          </a:p>
          <a:p>
            <a:pPr lvl="1" eaLnBrk="1" hangingPunct="1"/>
            <a:r>
              <a:rPr lang="en-US" altLang="en-US" sz="2000" dirty="0">
                <a:latin typeface="Times New Roman" panose="02020603050405020304" pitchFamily="18" charset="0"/>
                <a:cs typeface="Times New Roman" panose="02020603050405020304" pitchFamily="18" charset="0"/>
              </a:rPr>
              <a:t>P(</a:t>
            </a:r>
            <a:r>
              <a:rPr lang="en-US" altLang="en-US" sz="2000" b="1" dirty="0">
                <a:latin typeface="Times New Roman" panose="02020603050405020304" pitchFamily="18" charset="0"/>
                <a:cs typeface="Times New Roman" panose="02020603050405020304" pitchFamily="18" charset="0"/>
              </a:rPr>
              <a:t>X</a:t>
            </a:r>
            <a:r>
              <a:rPr lang="en-US" altLang="en-US" sz="2000" dirty="0">
                <a:latin typeface="Times New Roman" panose="02020603050405020304" pitchFamily="18" charset="0"/>
                <a:cs typeface="Times New Roman" panose="02020603050405020304" pitchFamily="18" charset="0"/>
              </a:rPr>
              <a:t>|H) (likelihood): the probability of observing the sample </a:t>
            </a:r>
            <a:r>
              <a:rPr lang="en-US" altLang="en-US" sz="2000" b="1" dirty="0">
                <a:latin typeface="Times New Roman" panose="02020603050405020304" pitchFamily="18" charset="0"/>
                <a:cs typeface="Times New Roman" panose="02020603050405020304" pitchFamily="18" charset="0"/>
              </a:rPr>
              <a:t>X</a:t>
            </a:r>
            <a:r>
              <a:rPr lang="en-US" altLang="en-US" sz="2000" dirty="0">
                <a:latin typeface="Times New Roman" panose="02020603050405020304" pitchFamily="18" charset="0"/>
                <a:cs typeface="Times New Roman" panose="02020603050405020304" pitchFamily="18" charset="0"/>
              </a:rPr>
              <a:t>, given that the hypothesis holds</a:t>
            </a:r>
          </a:p>
          <a:p>
            <a:pPr lvl="2" eaLnBrk="1" hangingPunct="1"/>
            <a:r>
              <a:rPr lang="en-US" altLang="en-US" sz="2000" dirty="0">
                <a:latin typeface="Times New Roman" panose="02020603050405020304" pitchFamily="18" charset="0"/>
                <a:cs typeface="Times New Roman" panose="02020603050405020304" pitchFamily="18" charset="0"/>
              </a:rPr>
              <a:t>E.g.,</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Given that</a:t>
            </a:r>
            <a:r>
              <a:rPr lang="en-US" altLang="en-US" sz="2000" b="1" dirty="0">
                <a:latin typeface="Times New Roman" panose="02020603050405020304" pitchFamily="18" charset="0"/>
                <a:cs typeface="Times New Roman" panose="02020603050405020304" pitchFamily="18" charset="0"/>
              </a:rPr>
              <a:t> X</a:t>
            </a:r>
            <a:r>
              <a:rPr lang="en-US" altLang="en-US" sz="2000" dirty="0">
                <a:latin typeface="Times New Roman" panose="02020603050405020304" pitchFamily="18" charset="0"/>
                <a:cs typeface="Times New Roman" panose="02020603050405020304" pitchFamily="18" charset="0"/>
              </a:rPr>
              <a:t> will buy computer, the prob. that X is 31..40, medium income</a:t>
            </a:r>
          </a:p>
        </p:txBody>
      </p:sp>
      <p:graphicFrame>
        <p:nvGraphicFramePr>
          <p:cNvPr id="34821" name="Object 1">
            <a:extLst>
              <a:ext uri="{FF2B5EF4-FFF2-40B4-BE49-F238E27FC236}">
                <a16:creationId xmlns:a16="http://schemas.microsoft.com/office/drawing/2014/main" id="{323AB00A-50C9-577C-F962-8A1B9FE82244}"/>
              </a:ext>
            </a:extLst>
          </p:cNvPr>
          <p:cNvGraphicFramePr>
            <a:graphicFrameLocks noChangeAspect="1"/>
          </p:cNvGraphicFramePr>
          <p:nvPr>
            <p:extLst>
              <p:ext uri="{D42A27DB-BD31-4B8C-83A1-F6EECF244321}">
                <p14:modId xmlns:p14="http://schemas.microsoft.com/office/powerpoint/2010/main" val="2520442404"/>
              </p:ext>
            </p:extLst>
          </p:nvPr>
        </p:nvGraphicFramePr>
        <p:xfrm>
          <a:off x="3657600" y="1143000"/>
          <a:ext cx="2165350" cy="600075"/>
        </p:xfrm>
        <a:graphic>
          <a:graphicData uri="http://schemas.openxmlformats.org/presentationml/2006/ole">
            <mc:AlternateContent xmlns:mc="http://schemas.openxmlformats.org/markup-compatibility/2006">
              <mc:Choice xmlns:v="urn:schemas-microsoft-com:vml" Requires="v">
                <p:oleObj name="Equation" r:id="rId3" imgW="2476500" imgH="685800" progId="Equation.3">
                  <p:embed/>
                </p:oleObj>
              </mc:Choice>
              <mc:Fallback>
                <p:oleObj name="Equation" r:id="rId3" imgW="2476500" imgH="685800" progId="Equation.3">
                  <p:embed/>
                  <p:pic>
                    <p:nvPicPr>
                      <p:cNvPr id="34821" name="Object 1">
                        <a:extLst>
                          <a:ext uri="{FF2B5EF4-FFF2-40B4-BE49-F238E27FC236}">
                            <a16:creationId xmlns:a16="http://schemas.microsoft.com/office/drawing/2014/main" id="{323AB00A-50C9-577C-F962-8A1B9FE822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1143000"/>
                        <a:ext cx="21653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2" name="Object 1">
            <a:extLst>
              <a:ext uri="{FF2B5EF4-FFF2-40B4-BE49-F238E27FC236}">
                <a16:creationId xmlns:a16="http://schemas.microsoft.com/office/drawing/2014/main" id="{D486EFD7-3CB3-5013-E9F0-9F289F79E4A3}"/>
              </a:ext>
            </a:extLst>
          </p:cNvPr>
          <p:cNvGraphicFramePr>
            <a:graphicFrameLocks noChangeAspect="1"/>
          </p:cNvGraphicFramePr>
          <p:nvPr>
            <p:extLst>
              <p:ext uri="{D42A27DB-BD31-4B8C-83A1-F6EECF244321}">
                <p14:modId xmlns:p14="http://schemas.microsoft.com/office/powerpoint/2010/main" val="173365121"/>
              </p:ext>
            </p:extLst>
          </p:nvPr>
        </p:nvGraphicFramePr>
        <p:xfrm>
          <a:off x="2667000" y="1981200"/>
          <a:ext cx="6080125" cy="615950"/>
        </p:xfrm>
        <a:graphic>
          <a:graphicData uri="http://schemas.openxmlformats.org/presentationml/2006/ole">
            <mc:AlternateContent xmlns:mc="http://schemas.openxmlformats.org/markup-compatibility/2006">
              <mc:Choice xmlns:v="urn:schemas-microsoft-com:vml" Requires="v">
                <p:oleObj name="Equation" r:id="rId5" imgW="4813300" imgH="558800" progId="Equation.3">
                  <p:embed/>
                </p:oleObj>
              </mc:Choice>
              <mc:Fallback>
                <p:oleObj name="Equation" r:id="rId5" imgW="4813300" imgH="558800" progId="Equation.3">
                  <p:embed/>
                  <p:pic>
                    <p:nvPicPr>
                      <p:cNvPr id="34822" name="Object 1">
                        <a:extLst>
                          <a:ext uri="{FF2B5EF4-FFF2-40B4-BE49-F238E27FC236}">
                            <a16:creationId xmlns:a16="http://schemas.microsoft.com/office/drawing/2014/main" id="{D486EFD7-3CB3-5013-E9F0-9F289F79E4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1981200"/>
                        <a:ext cx="60801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659E2-3713-F868-6D3C-D078489A0E73}"/>
              </a:ext>
            </a:extLst>
          </p:cNvPr>
          <p:cNvSpPr>
            <a:spLocks noGrp="1"/>
          </p:cNvSpPr>
          <p:nvPr>
            <p:ph type="title"/>
          </p:nvPr>
        </p:nvSpPr>
        <p:spPr>
          <a:xfrm>
            <a:off x="539933" y="34977"/>
            <a:ext cx="4032067" cy="879423"/>
          </a:xfrm>
        </p:spPr>
        <p:txBody>
          <a:bodyPr/>
          <a:lstStyle/>
          <a:p>
            <a:pPr>
              <a:defRPr/>
            </a:pPr>
            <a:r>
              <a:rPr lang="en-US" dirty="0"/>
              <a:t>Bayes Theorem</a:t>
            </a:r>
          </a:p>
        </p:txBody>
      </p:sp>
      <p:graphicFrame>
        <p:nvGraphicFramePr>
          <p:cNvPr id="106499" name="Object 2">
            <a:extLst>
              <a:ext uri="{FF2B5EF4-FFF2-40B4-BE49-F238E27FC236}">
                <a16:creationId xmlns:a16="http://schemas.microsoft.com/office/drawing/2014/main" id="{DD103FEC-72EC-057B-4F9B-F2EA04772788}"/>
              </a:ext>
            </a:extLst>
          </p:cNvPr>
          <p:cNvGraphicFramePr>
            <a:graphicFrameLocks noChangeAspect="1"/>
          </p:cNvGraphicFramePr>
          <p:nvPr/>
        </p:nvGraphicFramePr>
        <p:xfrm>
          <a:off x="914400" y="1219200"/>
          <a:ext cx="8334375" cy="4876800"/>
        </p:xfrm>
        <a:graphic>
          <a:graphicData uri="http://schemas.openxmlformats.org/presentationml/2006/ole">
            <mc:AlternateContent xmlns:mc="http://schemas.openxmlformats.org/markup-compatibility/2006">
              <mc:Choice xmlns:v="urn:schemas-microsoft-com:vml" Requires="v">
                <p:oleObj name="Equation" r:id="rId2" imgW="4406900" imgH="2540000" progId="Equation.DSMT4">
                  <p:embed/>
                </p:oleObj>
              </mc:Choice>
              <mc:Fallback>
                <p:oleObj name="Equation" r:id="rId2" imgW="4406900" imgH="2540000" progId="Equation.DSMT4">
                  <p:embed/>
                  <p:pic>
                    <p:nvPicPr>
                      <p:cNvPr id="106499" name="Object 2">
                        <a:extLst>
                          <a:ext uri="{FF2B5EF4-FFF2-40B4-BE49-F238E27FC236}">
                            <a16:creationId xmlns:a16="http://schemas.microsoft.com/office/drawing/2014/main" id="{DD103FEC-72EC-057B-4F9B-F2EA04772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19200"/>
                        <a:ext cx="833437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a:extLst>
              <a:ext uri="{FF2B5EF4-FFF2-40B4-BE49-F238E27FC236}">
                <a16:creationId xmlns:a16="http://schemas.microsoft.com/office/drawing/2014/main" id="{E26D82F3-CEF2-054B-4851-52412F357CD0}"/>
              </a:ext>
            </a:extLst>
          </p:cNvPr>
          <p:cNvSpPr>
            <a:spLocks noChangeArrowheads="1"/>
          </p:cNvSpPr>
          <p:nvPr/>
        </p:nvSpPr>
        <p:spPr bwMode="auto">
          <a:xfrm>
            <a:off x="533400" y="838200"/>
            <a:ext cx="777240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07000"/>
              </a:lnSpc>
              <a:spcAft>
                <a:spcPts val="800"/>
              </a:spcAft>
            </a:pPr>
            <a:r>
              <a:rPr lang="en-US" altLang="en-US" dirty="0">
                <a:latin typeface="Times New Roman" panose="02020603050405020304" pitchFamily="18" charset="0"/>
                <a:ea typeface="Calibri" panose="020F0502020204030204" pitchFamily="34" charset="0"/>
                <a:cs typeface="Times New Roman" panose="02020603050405020304" pitchFamily="18" charset="0"/>
              </a:rPr>
              <a:t>Companies B1, B2, B3 produce 30%, 45% and 25% of the cars respectively. If it is known that 2%, 3% and 2% of the cars produced from B1, B2 and B3 are defective. If a car purchased is found to be defective.  What is the probability that their car is produced by company B1, B2 and B3?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4A5BE675-D28C-C522-6D55-DE906E25736F}"/>
              </a:ext>
            </a:extLst>
          </p:cNvPr>
          <p:cNvSpPr>
            <a:spLocks noChangeArrowheads="1"/>
          </p:cNvSpPr>
          <p:nvPr/>
        </p:nvSpPr>
        <p:spPr bwMode="auto">
          <a:xfrm>
            <a:off x="304800" y="457200"/>
            <a:ext cx="777240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07000"/>
              </a:lnSpc>
              <a:spcAft>
                <a:spcPts val="800"/>
              </a:spcAft>
            </a:pPr>
            <a:r>
              <a:rPr lang="en-US" altLang="en-US">
                <a:latin typeface="Times New Roman" panose="02020603050405020304" pitchFamily="18" charset="0"/>
                <a:ea typeface="Calibri" panose="020F0502020204030204" pitchFamily="34" charset="0"/>
                <a:cs typeface="Times New Roman" panose="02020603050405020304" pitchFamily="18" charset="0"/>
              </a:rPr>
              <a:t>Companies B1, B2, B3 produce 30%, 45% and 25% of the cars respectively. If it is known that 2%, 3% and 2% of the cars produced from B1, B2 and B3 are defective. If a car purchased is found to be defective.  What is the probability that their car is produced by company B1, B2 and B3?</a:t>
            </a:r>
          </a:p>
        </p:txBody>
      </p:sp>
      <p:graphicFrame>
        <p:nvGraphicFramePr>
          <p:cNvPr id="7" name="Table 6">
            <a:extLst>
              <a:ext uri="{FF2B5EF4-FFF2-40B4-BE49-F238E27FC236}">
                <a16:creationId xmlns:a16="http://schemas.microsoft.com/office/drawing/2014/main" id="{B4983586-36EB-B85C-2C3F-2BD265B205C2}"/>
              </a:ext>
            </a:extLst>
          </p:cNvPr>
          <p:cNvGraphicFramePr>
            <a:graphicFrameLocks noGrp="1"/>
          </p:cNvGraphicFramePr>
          <p:nvPr/>
        </p:nvGraphicFramePr>
        <p:xfrm>
          <a:off x="1219200" y="2647950"/>
          <a:ext cx="6858000" cy="207645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15290">
                <a:tc>
                  <a:txBody>
                    <a:bodyPr/>
                    <a:lstStyle/>
                    <a:p>
                      <a:pPr algn="l" fontAlgn="t"/>
                      <a:r>
                        <a:rPr lang="en-US" sz="2000" u="none" strike="noStrike" dirty="0">
                          <a:effectLst/>
                          <a:latin typeface="Times New Roman" panose="02020603050405020304" pitchFamily="18" charset="0"/>
                          <a:cs typeface="Times New Roman" panose="02020603050405020304" pitchFamily="18" charset="0"/>
                        </a:rPr>
                        <a:t> </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P(Bi),i=1,2,3</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P(D/Bi)</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P(Bi) P(D/Bi)</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b"/>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0000"/>
                  </a:ext>
                </a:extLst>
              </a:tr>
              <a:tr h="415290">
                <a:tc>
                  <a:txBody>
                    <a:bodyPr/>
                    <a:lstStyle/>
                    <a:p>
                      <a:pPr algn="l" rtl="0" fontAlgn="ctr"/>
                      <a:r>
                        <a:rPr lang="en-US" sz="2000" u="none" strike="noStrike" dirty="0">
                          <a:effectLst/>
                          <a:latin typeface="Times New Roman" panose="02020603050405020304" pitchFamily="18" charset="0"/>
                          <a:cs typeface="Times New Roman" panose="02020603050405020304" pitchFamily="18" charset="0"/>
                        </a:rPr>
                        <a:t>B1</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dirty="0">
                          <a:effectLst/>
                          <a:latin typeface="Times New Roman" panose="02020603050405020304" pitchFamily="18" charset="0"/>
                          <a:cs typeface="Times New Roman" panose="02020603050405020304" pitchFamily="18" charset="0"/>
                        </a:rPr>
                        <a:t>0.3</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dirty="0">
                          <a:effectLst/>
                          <a:latin typeface="Times New Roman" panose="02020603050405020304" pitchFamily="18" charset="0"/>
                          <a:cs typeface="Times New Roman" panose="02020603050405020304" pitchFamily="18" charset="0"/>
                        </a:rPr>
                        <a:t>0.02</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r" fontAlgn="t"/>
                      <a:r>
                        <a:rPr lang="en-US" sz="2000" u="none" strike="noStrike">
                          <a:effectLst/>
                          <a:latin typeface="Times New Roman" panose="02020603050405020304" pitchFamily="18" charset="0"/>
                          <a:cs typeface="Times New Roman" panose="02020603050405020304" pitchFamily="18" charset="0"/>
                        </a:rPr>
                        <a:t>0.006</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0.2449</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0001"/>
                  </a:ext>
                </a:extLst>
              </a:tr>
              <a:tr h="415290">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B2</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0.45</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dirty="0">
                          <a:effectLst/>
                          <a:latin typeface="Times New Roman" panose="02020603050405020304" pitchFamily="18" charset="0"/>
                          <a:cs typeface="Times New Roman" panose="02020603050405020304" pitchFamily="18" charset="0"/>
                        </a:rPr>
                        <a:t>0.03</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r" fontAlgn="t"/>
                      <a:r>
                        <a:rPr lang="en-US" sz="2000" u="none" strike="noStrike" dirty="0">
                          <a:effectLst/>
                          <a:latin typeface="Times New Roman" panose="02020603050405020304" pitchFamily="18" charset="0"/>
                          <a:cs typeface="Times New Roman" panose="02020603050405020304" pitchFamily="18" charset="0"/>
                        </a:rPr>
                        <a:t>0.0135</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0.55102</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0002"/>
                  </a:ext>
                </a:extLst>
              </a:tr>
              <a:tr h="415290">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B3</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0.25</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rtl="0" fontAlgn="ctr"/>
                      <a:r>
                        <a:rPr lang="en-US" sz="2000" u="none" strike="noStrike">
                          <a:effectLst/>
                          <a:latin typeface="Times New Roman" panose="02020603050405020304" pitchFamily="18" charset="0"/>
                          <a:cs typeface="Times New Roman" panose="02020603050405020304" pitchFamily="18" charset="0"/>
                        </a:rPr>
                        <a:t>0.02</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r" fontAlgn="t"/>
                      <a:r>
                        <a:rPr lang="en-US" sz="2000" u="none" strike="noStrike" dirty="0">
                          <a:effectLst/>
                          <a:latin typeface="Times New Roman" panose="02020603050405020304" pitchFamily="18" charset="0"/>
                          <a:cs typeface="Times New Roman" panose="02020603050405020304" pitchFamily="18" charset="0"/>
                        </a:rPr>
                        <a:t>0.005</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0.20408</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0003"/>
                  </a:ext>
                </a:extLst>
              </a:tr>
              <a:tr h="415290">
                <a:tc>
                  <a:txBody>
                    <a:bodyPr/>
                    <a:lstStyle/>
                    <a:p>
                      <a:pPr algn="l" fontAlgn="t"/>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l" fontAlgn="t"/>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l" fontAlgn="t"/>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r" fontAlgn="t"/>
                      <a:r>
                        <a:rPr lang="en-US" sz="2000" u="none" strike="noStrike">
                          <a:effectLst/>
                          <a:latin typeface="Times New Roman" panose="02020603050405020304" pitchFamily="18" charset="0"/>
                          <a:cs typeface="Times New Roman" panose="02020603050405020304" pitchFamily="18" charset="0"/>
                        </a:rPr>
                        <a:t>0.0245</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7620" marR="7620" marT="7620" marB="0"/>
                </a:tc>
                <a:tc>
                  <a:txBody>
                    <a:bodyPr/>
                    <a:lstStyle/>
                    <a:p>
                      <a:pPr algn="r" fontAlgn="t"/>
                      <a:r>
                        <a:rPr lang="en-US" sz="2000" u="none" strike="noStrike" dirty="0">
                          <a:effectLst/>
                          <a:latin typeface="Times New Roman" panose="02020603050405020304" pitchFamily="18" charset="0"/>
                          <a:cs typeface="Times New Roman" panose="02020603050405020304" pitchFamily="18" charset="0"/>
                        </a:rPr>
                        <a:t>1</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620" marR="7620" marT="7620" marB="0"/>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0854CD-2FF3-8D95-578F-D0FE00729EB2}"/>
              </a:ext>
            </a:extLst>
          </p:cNvPr>
          <p:cNvSpPr>
            <a:spLocks noGrp="1"/>
          </p:cNvSpPr>
          <p:nvPr>
            <p:ph idx="1"/>
          </p:nvPr>
        </p:nvSpPr>
        <p:spPr>
          <a:xfrm>
            <a:off x="457200" y="1166019"/>
            <a:ext cx="8229600" cy="3177382"/>
          </a:xfrm>
        </p:spPr>
        <p:txBody>
          <a:bodyPr/>
          <a:lstStyle/>
          <a:p>
            <a:pPr marL="109537" indent="0" algn="just">
              <a:buNone/>
            </a:pPr>
            <a:r>
              <a:rPr lang="en-US" sz="2400" b="1" dirty="0">
                <a:latin typeface="Times New Roman" panose="02020603050405020304" pitchFamily="18" charset="0"/>
                <a:cs typeface="Times New Roman" panose="02020603050405020304" pitchFamily="18" charset="0"/>
              </a:rPr>
              <a:t>Problem 1: </a:t>
            </a:r>
            <a:r>
              <a:rPr lang="en-US" sz="2400" dirty="0">
                <a:latin typeface="Times New Roman" panose="02020603050405020304" pitchFamily="18" charset="0"/>
                <a:cs typeface="Times New Roman" panose="02020603050405020304" pitchFamily="18" charset="0"/>
              </a:rPr>
              <a:t>Let’s work on a simple NLP problem with Bayes Theorem. By using NLP, I can detect spam e-mails in my inbox. Assume that the word ‘offer’ occurs in 80% of the spam messages in my account. Also, let’s assume ‘offer’ occurs in 10% of my desired e-mails. If 30% of the received e-mails are considered as a spam, and I will receive a new message which contains ‘offer’, what is the probability that it is spam?</a:t>
            </a:r>
          </a:p>
        </p:txBody>
      </p:sp>
      <p:sp>
        <p:nvSpPr>
          <p:cNvPr id="3" name="Title 2">
            <a:extLst>
              <a:ext uri="{FF2B5EF4-FFF2-40B4-BE49-F238E27FC236}">
                <a16:creationId xmlns:a16="http://schemas.microsoft.com/office/drawing/2014/main" id="{8EF43547-F9C0-24C4-9317-77D2982592CB}"/>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Bayes Theorem Problem</a:t>
            </a:r>
          </a:p>
        </p:txBody>
      </p:sp>
    </p:spTree>
    <p:extLst>
      <p:ext uri="{BB962C8B-B14F-4D97-AF65-F5344CB8AC3E}">
        <p14:creationId xmlns:p14="http://schemas.microsoft.com/office/powerpoint/2010/main" val="2932652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11299-A1DE-4F88-ED95-F00407BF09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007E70-47F4-A857-435C-83D3E24A4DEA}"/>
              </a:ext>
            </a:extLst>
          </p:cNvPr>
          <p:cNvSpPr>
            <a:spLocks noGrp="1"/>
          </p:cNvSpPr>
          <p:nvPr>
            <p:ph idx="1"/>
          </p:nvPr>
        </p:nvSpPr>
        <p:spPr>
          <a:xfrm>
            <a:off x="457200" y="1166018"/>
            <a:ext cx="8229600" cy="4777581"/>
          </a:xfrm>
        </p:spPr>
        <p:txBody>
          <a:bodyPr>
            <a:normAutofit fontScale="92500" lnSpcReduction="10000"/>
          </a:bodyPr>
          <a:lstStyle/>
          <a:p>
            <a:pPr marL="109537" indent="0">
              <a:buNone/>
            </a:pPr>
            <a:r>
              <a:rPr lang="en-US" sz="1800" b="1" dirty="0">
                <a:latin typeface="Times New Roman" panose="02020603050405020304" pitchFamily="18" charset="0"/>
                <a:cs typeface="Times New Roman" panose="02020603050405020304" pitchFamily="18" charset="0"/>
              </a:rPr>
              <a:t>Problem 1:</a:t>
            </a:r>
          </a:p>
          <a:p>
            <a:r>
              <a:rPr lang="en-US" sz="1800" dirty="0">
                <a:latin typeface="Times New Roman" panose="02020603050405020304" pitchFamily="18" charset="0"/>
                <a:cs typeface="Times New Roman" panose="02020603050405020304" pitchFamily="18" charset="0"/>
              </a:rPr>
              <a:t>Let’s work on a simple NLP problem with Bayes Theorem. By using NLP, I can detect spam e-mails in my inbox. Assume that the word ‘offer’ occurs in 80% of the spam messages in my account. Also, let’s assume ‘offer’ occurs in 10% of my desired e-mails. If 30% of the received e-mails are considered as a scam, and I will receive a new message which contains ‘offer’, what is the probability that it is spam?</a:t>
            </a:r>
          </a:p>
          <a:p>
            <a:r>
              <a:rPr lang="en-US" sz="1800" dirty="0">
                <a:latin typeface="Times New Roman" panose="02020603050405020304" pitchFamily="18" charset="0"/>
                <a:cs typeface="Times New Roman" panose="02020603050405020304" pitchFamily="18" charset="0"/>
              </a:rPr>
              <a:t>Now, I assume that I received 100 e-mails. The percentage of spam in the whole e-mail is 30%. So, I have 30 spam e-mails and 70 desired e-mails in 100 e-mails. The percentage of the word ‘offer’ that occurs in spam e-mails is 80%. It means 80% of 30 e-mail and it makes 24.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Now, I know that 30 e-mails of 100 are spam and 24 of them contain ‘offer’ where 6 of them not contains ‘offer’.</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percentage of the word ‘offer’ that occurs in the desired e-mails is 10%. It means 7 of them (10% of 70 desired e-mails) contain the word ‘offer’ and 63 of them </a:t>
            </a:r>
            <a:r>
              <a:rPr lang="en-US" sz="1800" dirty="0" err="1">
                <a:latin typeface="Times New Roman" panose="02020603050405020304" pitchFamily="18" charset="0"/>
                <a:cs typeface="Times New Roman" panose="02020603050405020304" pitchFamily="18" charset="0"/>
              </a:rPr>
              <a:t>not.Now</a:t>
            </a:r>
            <a:r>
              <a:rPr lang="en-US" sz="1800" dirty="0">
                <a:latin typeface="Times New Roman" panose="02020603050405020304" pitchFamily="18" charset="0"/>
                <a:cs typeface="Times New Roman" panose="02020603050405020304" pitchFamily="18" charset="0"/>
              </a:rPr>
              <a:t>, we can see this logic in a simple chart.</a:t>
            </a:r>
          </a:p>
          <a:p>
            <a:pPr marL="109537" indent="0">
              <a:buNone/>
            </a:pP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2A84AF84-8045-E8FD-90A4-94A26C58C38E}"/>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Bayes Theorem Problem</a:t>
            </a:r>
          </a:p>
        </p:txBody>
      </p:sp>
    </p:spTree>
    <p:extLst>
      <p:ext uri="{BB962C8B-B14F-4D97-AF65-F5344CB8AC3E}">
        <p14:creationId xmlns:p14="http://schemas.microsoft.com/office/powerpoint/2010/main" val="3732985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071-1035-F63E-F4BF-572BBA75C8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70C048-252B-7AD6-2A2F-5914F0C97E0F}"/>
              </a:ext>
            </a:extLst>
          </p:cNvPr>
          <p:cNvSpPr>
            <a:spLocks noGrp="1"/>
          </p:cNvSpPr>
          <p:nvPr>
            <p:ph idx="1"/>
          </p:nvPr>
        </p:nvSpPr>
        <p:spPr>
          <a:xfrm>
            <a:off x="457200" y="1166019"/>
            <a:ext cx="8229600" cy="2339182"/>
          </a:xfrm>
        </p:spPr>
        <p:txBody>
          <a:bodyPr/>
          <a:lstStyle/>
          <a:p>
            <a:pPr marL="109537" indent="0">
              <a:buNone/>
            </a:pPr>
            <a:r>
              <a:rPr lang="en-US" sz="1800" b="1" dirty="0">
                <a:latin typeface="Times New Roman" panose="02020603050405020304" pitchFamily="18" charset="0"/>
                <a:cs typeface="Times New Roman" panose="02020603050405020304" pitchFamily="18" charset="0"/>
              </a:rPr>
              <a:t>Problem 1:</a:t>
            </a:r>
          </a:p>
          <a:p>
            <a:r>
              <a:rPr lang="en-US" sz="1800" dirty="0">
                <a:latin typeface="Times New Roman" panose="02020603050405020304" pitchFamily="18" charset="0"/>
                <a:cs typeface="Times New Roman" panose="02020603050405020304" pitchFamily="18" charset="0"/>
              </a:rPr>
              <a:t>Let’s work on a simple NLP problem with Bayes Theorem. By using NLP, I can detect spam e-mails in my inbox. Assume that the word ‘offer’ occurs in 80% of the spam messages in my account. Also, let’s assume ‘offer’ occurs in 10% of my desired e-mails. If 30% of the received e-mails are considered as a scam, and I will receive a new message which contains ‘offer’, what is the probability that it is spam?</a:t>
            </a:r>
          </a:p>
          <a:p>
            <a:pPr marL="109537" indent="0">
              <a:buNone/>
            </a:pP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562742FC-5CEA-D34C-FF54-55FE4D713A8B}"/>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Bayes Theorem Problem</a:t>
            </a:r>
          </a:p>
        </p:txBody>
      </p:sp>
      <p:pic>
        <p:nvPicPr>
          <p:cNvPr id="1026" name="Picture 2" descr="image by author">
            <a:extLst>
              <a:ext uri="{FF2B5EF4-FFF2-40B4-BE49-F238E27FC236}">
                <a16:creationId xmlns:a16="http://schemas.microsoft.com/office/drawing/2014/main" id="{C936731C-50BB-DADC-54BF-06210D2032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160380"/>
            <a:ext cx="6019800" cy="3386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553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by author">
            <a:extLst>
              <a:ext uri="{FF2B5EF4-FFF2-40B4-BE49-F238E27FC236}">
                <a16:creationId xmlns:a16="http://schemas.microsoft.com/office/drawing/2014/main" id="{4E5D90DE-6353-C04F-F7DD-EFACC4833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2862"/>
            <a:ext cx="6019800" cy="33861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1E4831F1-DD0B-588D-4AD6-8DFF0BD21B31}"/>
              </a:ext>
            </a:extLst>
          </p:cNvPr>
          <p:cNvGraphicFramePr>
            <a:graphicFrameLocks noGrp="1"/>
          </p:cNvGraphicFramePr>
          <p:nvPr>
            <p:extLst>
              <p:ext uri="{D42A27DB-BD31-4B8C-83A1-F6EECF244321}">
                <p14:modId xmlns:p14="http://schemas.microsoft.com/office/powerpoint/2010/main" val="2176303079"/>
              </p:ext>
            </p:extLst>
          </p:nvPr>
        </p:nvGraphicFramePr>
        <p:xfrm>
          <a:off x="904770" y="3276600"/>
          <a:ext cx="6791430" cy="169164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576687425"/>
                    </a:ext>
                  </a:extLst>
                </a:gridCol>
                <a:gridCol w="1524000">
                  <a:extLst>
                    <a:ext uri="{9D8B030D-6E8A-4147-A177-3AD203B41FA5}">
                      <a16:colId xmlns:a16="http://schemas.microsoft.com/office/drawing/2014/main" val="1406851255"/>
                    </a:ext>
                  </a:extLst>
                </a:gridCol>
                <a:gridCol w="1838430">
                  <a:extLst>
                    <a:ext uri="{9D8B030D-6E8A-4147-A177-3AD203B41FA5}">
                      <a16:colId xmlns:a16="http://schemas.microsoft.com/office/drawing/2014/main" val="815769544"/>
                    </a:ext>
                  </a:extLst>
                </a:gridCol>
                <a:gridCol w="1905000">
                  <a:extLst>
                    <a:ext uri="{9D8B030D-6E8A-4147-A177-3AD203B41FA5}">
                      <a16:colId xmlns:a16="http://schemas.microsoft.com/office/drawing/2014/main" val="283132722"/>
                    </a:ext>
                  </a:extLst>
                </a:gridCol>
              </a:tblGrid>
              <a:tr h="370840">
                <a:tc>
                  <a:txBody>
                    <a:bodyPr/>
                    <a:lstStyle/>
                    <a:p>
                      <a:r>
                        <a:rPr lang="en-IN" sz="1600" dirty="0">
                          <a:latin typeface="Times New Roman" panose="02020603050405020304" pitchFamily="18" charset="0"/>
                          <a:cs typeface="Times New Roman" panose="02020603050405020304" pitchFamily="18" charset="0"/>
                        </a:rPr>
                        <a:t>Spam-A1</a:t>
                      </a:r>
                    </a:p>
                    <a:p>
                      <a:r>
                        <a:rPr lang="en-IN" sz="1600" dirty="0">
                          <a:latin typeface="Times New Roman" panose="02020603050405020304" pitchFamily="18" charset="0"/>
                          <a:cs typeface="Times New Roman" panose="02020603050405020304" pitchFamily="18" charset="0"/>
                        </a:rPr>
                        <a:t>Desired-A2</a:t>
                      </a:r>
                    </a:p>
                  </a:txBody>
                  <a:tcPr/>
                </a:tc>
                <a:tc>
                  <a:txBody>
                    <a:bodyPr/>
                    <a:lstStyle/>
                    <a:p>
                      <a:r>
                        <a:rPr lang="en-IN" sz="1600" dirty="0">
                          <a:latin typeface="Times New Roman" panose="02020603050405020304" pitchFamily="18" charset="0"/>
                          <a:cs typeface="Times New Roman" panose="02020603050405020304" pitchFamily="18" charset="0"/>
                        </a:rPr>
                        <a:t>Offer-O</a:t>
                      </a:r>
                    </a:p>
                    <a:p>
                      <a:r>
                        <a:rPr lang="en-IN" sz="1600" dirty="0">
                          <a:latin typeface="Times New Roman" panose="02020603050405020304" pitchFamily="18" charset="0"/>
                          <a:cs typeface="Times New Roman" panose="02020603050405020304" pitchFamily="18" charset="0"/>
                        </a:rPr>
                        <a:t>P(O/Ai)</a:t>
                      </a:r>
                    </a:p>
                  </a:txBody>
                  <a:tcPr/>
                </a:tc>
                <a:tc>
                  <a:txBody>
                    <a:bodyPr/>
                    <a:lstStyle/>
                    <a:p>
                      <a:r>
                        <a:rPr lang="en-IN" sz="1600" dirty="0">
                          <a:latin typeface="Times New Roman" panose="02020603050405020304" pitchFamily="18" charset="0"/>
                          <a:cs typeface="Times New Roman" panose="02020603050405020304" pitchFamily="18" charset="0"/>
                        </a:rPr>
                        <a:t>P(Ai)*P(O/Ai)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[P(Ai)*P(O/Ai)]/P(O)</a:t>
                      </a:r>
                    </a:p>
                  </a:txBody>
                  <a:tcPr/>
                </a:tc>
                <a:extLst>
                  <a:ext uri="{0D108BD9-81ED-4DB2-BD59-A6C34878D82A}">
                    <a16:rowId xmlns:a16="http://schemas.microsoft.com/office/drawing/2014/main" val="2043212807"/>
                  </a:ext>
                </a:extLst>
              </a:tr>
              <a:tr h="370840">
                <a:tc>
                  <a:txBody>
                    <a:bodyPr/>
                    <a:lstStyle/>
                    <a:p>
                      <a:r>
                        <a:rPr lang="en-IN" sz="1600" dirty="0">
                          <a:latin typeface="Times New Roman" panose="02020603050405020304" pitchFamily="18" charset="0"/>
                          <a:cs typeface="Times New Roman" panose="02020603050405020304" pitchFamily="18" charset="0"/>
                        </a:rPr>
                        <a:t>P(A1)=0.3</a:t>
                      </a:r>
                    </a:p>
                  </a:txBody>
                  <a:tcPr/>
                </a:tc>
                <a:tc>
                  <a:txBody>
                    <a:bodyPr/>
                    <a:lstStyle/>
                    <a:p>
                      <a:r>
                        <a:rPr lang="en-IN" sz="1600" dirty="0">
                          <a:latin typeface="Times New Roman" panose="02020603050405020304" pitchFamily="18" charset="0"/>
                          <a:cs typeface="Times New Roman" panose="02020603050405020304" pitchFamily="18" charset="0"/>
                        </a:rPr>
                        <a:t>P(O/A1)=0.8</a:t>
                      </a:r>
                    </a:p>
                  </a:txBody>
                  <a:tcPr/>
                </a:tc>
                <a:tc>
                  <a:txBody>
                    <a:bodyPr/>
                    <a:lstStyle/>
                    <a:p>
                      <a:r>
                        <a:rPr lang="en-IN" sz="1600" dirty="0">
                          <a:latin typeface="Times New Roman" panose="02020603050405020304" pitchFamily="18" charset="0"/>
                          <a:cs typeface="Times New Roman" panose="02020603050405020304" pitchFamily="18" charset="0"/>
                        </a:rPr>
                        <a:t>(0.3)(0.8)=0.24</a:t>
                      </a:r>
                    </a:p>
                  </a:txBody>
                  <a:tcPr/>
                </a:tc>
                <a:tc>
                  <a:txBody>
                    <a:bodyPr/>
                    <a:lstStyle/>
                    <a:p>
                      <a:r>
                        <a:rPr lang="en-IN" sz="1600" dirty="0">
                          <a:latin typeface="Times New Roman" panose="02020603050405020304" pitchFamily="18" charset="0"/>
                          <a:cs typeface="Times New Roman" panose="02020603050405020304" pitchFamily="18" charset="0"/>
                        </a:rPr>
                        <a:t>0.24/0.31=0.7741</a:t>
                      </a:r>
                    </a:p>
                  </a:txBody>
                  <a:tcPr/>
                </a:tc>
                <a:extLst>
                  <a:ext uri="{0D108BD9-81ED-4DB2-BD59-A6C34878D82A}">
                    <a16:rowId xmlns:a16="http://schemas.microsoft.com/office/drawing/2014/main" val="3628989194"/>
                  </a:ext>
                </a:extLst>
              </a:tr>
              <a:tr h="370840">
                <a:tc>
                  <a:txBody>
                    <a:bodyPr/>
                    <a:lstStyle/>
                    <a:p>
                      <a:r>
                        <a:rPr lang="en-IN" sz="1600" dirty="0">
                          <a:latin typeface="Times New Roman" panose="02020603050405020304" pitchFamily="18" charset="0"/>
                          <a:cs typeface="Times New Roman" panose="02020603050405020304" pitchFamily="18" charset="0"/>
                        </a:rPr>
                        <a:t>P(A2)=0.7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P(O/A2)=0.1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(0.7)(0.1)=0.07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0.07/0.31=0.225</a:t>
                      </a:r>
                    </a:p>
                  </a:txBody>
                  <a:tcPr/>
                </a:tc>
                <a:extLst>
                  <a:ext uri="{0D108BD9-81ED-4DB2-BD59-A6C34878D82A}">
                    <a16:rowId xmlns:a16="http://schemas.microsoft.com/office/drawing/2014/main" val="1691490225"/>
                  </a:ext>
                </a:extLst>
              </a:tr>
              <a:tr h="370840">
                <a:tc gridSpan="2">
                  <a:txBody>
                    <a:bodyPr/>
                    <a:lstStyle/>
                    <a:p>
                      <a:r>
                        <a:rPr lang="en-IN" sz="1600" dirty="0">
                          <a:latin typeface="Times New Roman" panose="02020603050405020304" pitchFamily="18" charset="0"/>
                          <a:cs typeface="Times New Roman" panose="02020603050405020304" pitchFamily="18" charset="0"/>
                        </a:rPr>
                        <a:t>Total</a:t>
                      </a:r>
                    </a:p>
                  </a:txBody>
                  <a:tcPr/>
                </a:tc>
                <a:tc hMerge="1">
                  <a:txBody>
                    <a:bodyPr/>
                    <a:lstStyle/>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P(O)=0.31</a:t>
                      </a: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8983450"/>
                  </a:ext>
                </a:extLst>
              </a:tr>
            </a:tbl>
          </a:graphicData>
        </a:graphic>
      </p:graphicFrame>
    </p:spTree>
    <p:extLst>
      <p:ext uri="{BB962C8B-B14F-4D97-AF65-F5344CB8AC3E}">
        <p14:creationId xmlns:p14="http://schemas.microsoft.com/office/powerpoint/2010/main" val="1312832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64ED93-0E57-8A6F-C49E-125D90BC3738}"/>
              </a:ext>
            </a:extLst>
          </p:cNvPr>
          <p:cNvSpPr>
            <a:spLocks noGrp="1"/>
          </p:cNvSpPr>
          <p:nvPr>
            <p:ph idx="1"/>
          </p:nvPr>
        </p:nvSpPr>
        <p:spPr>
          <a:xfrm>
            <a:off x="381000" y="304800"/>
            <a:ext cx="8229600" cy="1828800"/>
          </a:xfrm>
        </p:spPr>
        <p:txBody>
          <a:bodyPr/>
          <a:lstStyle/>
          <a:p>
            <a:r>
              <a:rPr lang="en-US" sz="2000" dirty="0">
                <a:latin typeface="Times New Roman" panose="02020603050405020304" pitchFamily="18" charset="0"/>
                <a:cs typeface="Times New Roman" panose="02020603050405020304" pitchFamily="18" charset="0"/>
              </a:rPr>
              <a:t>As you know, Covid-19 tests are common nowadays, but some results of tests are not true. Let’s assume; a diagnostic test has 99% accuracy and 60% of all people have Covid-19. If a patient tests positive, what is the probability that they actually have the disease?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432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ADBC-D42C-FF29-09A6-FE0DBCD23B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B6B571-7920-98F4-2776-AFBBB993C5DB}"/>
              </a:ext>
            </a:extLst>
          </p:cNvPr>
          <p:cNvSpPr>
            <a:spLocks noGrp="1"/>
          </p:cNvSpPr>
          <p:nvPr>
            <p:ph idx="1"/>
          </p:nvPr>
        </p:nvSpPr>
        <p:spPr>
          <a:xfrm>
            <a:off x="381000" y="304800"/>
            <a:ext cx="8229600" cy="1371600"/>
          </a:xfrm>
        </p:spPr>
        <p:txBody>
          <a:bodyPr/>
          <a:lstStyle/>
          <a:p>
            <a:r>
              <a:rPr lang="en-US" sz="2000" dirty="0">
                <a:latin typeface="Times New Roman" panose="02020603050405020304" pitchFamily="18" charset="0"/>
                <a:cs typeface="Times New Roman" panose="02020603050405020304" pitchFamily="18" charset="0"/>
              </a:rPr>
              <a:t>As you know, Covid-19 tests are common nowadays, but some results of tests are not true. Let’s assume; a diagnostic test has 99% accuracy and 60% of all people have Covid-19. If a patient tests positive, what is the probability that they actually have the disease?</a:t>
            </a:r>
            <a:endParaRPr lang="en-IN" sz="2000" dirty="0">
              <a:latin typeface="Times New Roman" panose="02020603050405020304" pitchFamily="18" charset="0"/>
              <a:cs typeface="Times New Roman" panose="02020603050405020304" pitchFamily="18" charset="0"/>
            </a:endParaRPr>
          </a:p>
        </p:txBody>
      </p:sp>
      <p:pic>
        <p:nvPicPr>
          <p:cNvPr id="2050" name="Picture 2" descr="image by author">
            <a:extLst>
              <a:ext uri="{FF2B5EF4-FFF2-40B4-BE49-F238E27FC236}">
                <a16:creationId xmlns:a16="http://schemas.microsoft.com/office/drawing/2014/main" id="{B20FD224-DB50-01FB-7BCE-6B4B44B0D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098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1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49378-71CE-FE04-95C2-42434C6D348B}"/>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427003B-D0A3-E3AA-5396-848DFCB927A7}"/>
              </a:ext>
            </a:extLst>
          </p:cNvPr>
          <p:cNvGraphicFramePr>
            <a:graphicFrameLocks noGrp="1"/>
          </p:cNvGraphicFramePr>
          <p:nvPr/>
        </p:nvGraphicFramePr>
        <p:xfrm>
          <a:off x="990600" y="3276600"/>
          <a:ext cx="7772399" cy="1961002"/>
        </p:xfrm>
        <a:graphic>
          <a:graphicData uri="http://schemas.openxmlformats.org/drawingml/2006/table">
            <a:tbl>
              <a:tblPr firstRow="1" bandRow="1">
                <a:tableStyleId>{5940675A-B579-460E-94D1-54222C63F5DA}</a:tableStyleId>
              </a:tblPr>
              <a:tblGrid>
                <a:gridCol w="1677560">
                  <a:extLst>
                    <a:ext uri="{9D8B030D-6E8A-4147-A177-3AD203B41FA5}">
                      <a16:colId xmlns:a16="http://schemas.microsoft.com/office/drawing/2014/main" val="576687425"/>
                    </a:ext>
                  </a:extLst>
                </a:gridCol>
                <a:gridCol w="1763390">
                  <a:extLst>
                    <a:ext uri="{9D8B030D-6E8A-4147-A177-3AD203B41FA5}">
                      <a16:colId xmlns:a16="http://schemas.microsoft.com/office/drawing/2014/main" val="1406851255"/>
                    </a:ext>
                  </a:extLst>
                </a:gridCol>
                <a:gridCol w="2197850">
                  <a:extLst>
                    <a:ext uri="{9D8B030D-6E8A-4147-A177-3AD203B41FA5}">
                      <a16:colId xmlns:a16="http://schemas.microsoft.com/office/drawing/2014/main" val="815769544"/>
                    </a:ext>
                  </a:extLst>
                </a:gridCol>
                <a:gridCol w="2133599">
                  <a:extLst>
                    <a:ext uri="{9D8B030D-6E8A-4147-A177-3AD203B41FA5}">
                      <a16:colId xmlns:a16="http://schemas.microsoft.com/office/drawing/2014/main" val="283132722"/>
                    </a:ext>
                  </a:extLst>
                </a:gridCol>
              </a:tblGrid>
              <a:tr h="523301">
                <a:tc>
                  <a:txBody>
                    <a:bodyPr/>
                    <a:lstStyle/>
                    <a:p>
                      <a:r>
                        <a:rPr lang="en-IN" sz="1600" dirty="0">
                          <a:latin typeface="Times New Roman" panose="02020603050405020304" pitchFamily="18" charset="0"/>
                          <a:cs typeface="Times New Roman" panose="02020603050405020304" pitchFamily="18" charset="0"/>
                        </a:rPr>
                        <a:t>Covid-A1</a:t>
                      </a:r>
                    </a:p>
                    <a:p>
                      <a:r>
                        <a:rPr lang="en-IN" sz="1600" dirty="0">
                          <a:latin typeface="Times New Roman" panose="02020603050405020304" pitchFamily="18" charset="0"/>
                          <a:cs typeface="Times New Roman" panose="02020603050405020304" pitchFamily="18" charset="0"/>
                        </a:rPr>
                        <a:t>Not Covid-A2</a:t>
                      </a:r>
                    </a:p>
                  </a:txBody>
                  <a:tcPr/>
                </a:tc>
                <a:tc>
                  <a:txBody>
                    <a:bodyPr/>
                    <a:lstStyle/>
                    <a:p>
                      <a:r>
                        <a:rPr lang="en-IN" sz="1600" dirty="0">
                          <a:latin typeface="Times New Roman" panose="02020603050405020304" pitchFamily="18" charset="0"/>
                          <a:cs typeface="Times New Roman" panose="02020603050405020304" pitchFamily="18" charset="0"/>
                        </a:rPr>
                        <a:t>Positive -P</a:t>
                      </a:r>
                    </a:p>
                  </a:txBody>
                  <a:tcPr/>
                </a:tc>
                <a:tc>
                  <a:txBody>
                    <a:bodyPr/>
                    <a:lstStyle/>
                    <a:p>
                      <a:r>
                        <a:rPr lang="en-IN" sz="1600" dirty="0">
                          <a:latin typeface="Times New Roman" panose="02020603050405020304" pitchFamily="18" charset="0"/>
                          <a:cs typeface="Times New Roman" panose="02020603050405020304" pitchFamily="18" charset="0"/>
                        </a:rPr>
                        <a:t>P(Ai)*P(O/Ai)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[P(Ai)*P(O/Ai)]/P(O)</a:t>
                      </a:r>
                    </a:p>
                  </a:txBody>
                  <a:tcPr/>
                </a:tc>
                <a:extLst>
                  <a:ext uri="{0D108BD9-81ED-4DB2-BD59-A6C34878D82A}">
                    <a16:rowId xmlns:a16="http://schemas.microsoft.com/office/drawing/2014/main" val="2043212807"/>
                  </a:ext>
                </a:extLst>
              </a:tr>
              <a:tr h="523301">
                <a:tc>
                  <a:txBody>
                    <a:bodyPr/>
                    <a:lstStyle/>
                    <a:p>
                      <a:r>
                        <a:rPr lang="en-IN" sz="1600" dirty="0">
                          <a:latin typeface="Times New Roman" panose="02020603050405020304" pitchFamily="18" charset="0"/>
                          <a:cs typeface="Times New Roman" panose="02020603050405020304" pitchFamily="18" charset="0"/>
                        </a:rPr>
                        <a:t>P(A1)=0.6</a:t>
                      </a:r>
                    </a:p>
                  </a:txBody>
                  <a:tcPr/>
                </a:tc>
                <a:tc>
                  <a:txBody>
                    <a:bodyPr/>
                    <a:lstStyle/>
                    <a:p>
                      <a:r>
                        <a:rPr lang="en-IN" sz="1600" dirty="0">
                          <a:latin typeface="Times New Roman" panose="02020603050405020304" pitchFamily="18" charset="0"/>
                          <a:cs typeface="Times New Roman" panose="02020603050405020304" pitchFamily="18" charset="0"/>
                        </a:rPr>
                        <a:t>P(P/A1)=0.99</a:t>
                      </a:r>
                    </a:p>
                  </a:txBody>
                  <a:tcPr/>
                </a:tc>
                <a:tc>
                  <a:txBody>
                    <a:bodyPr/>
                    <a:lstStyle/>
                    <a:p>
                      <a:r>
                        <a:rPr lang="en-IN" sz="1600" dirty="0">
                          <a:latin typeface="Times New Roman" panose="02020603050405020304" pitchFamily="18" charset="0"/>
                          <a:cs typeface="Times New Roman" panose="02020603050405020304" pitchFamily="18" charset="0"/>
                        </a:rPr>
                        <a:t>(0.6)(0.99)=0.594</a:t>
                      </a:r>
                    </a:p>
                  </a:txBody>
                  <a:tcPr/>
                </a:tc>
                <a:tc>
                  <a:txBody>
                    <a:bodyPr/>
                    <a:lstStyle/>
                    <a:p>
                      <a:r>
                        <a:rPr lang="en-IN" sz="1600" dirty="0">
                          <a:latin typeface="Times New Roman" panose="02020603050405020304" pitchFamily="18" charset="0"/>
                          <a:cs typeface="Times New Roman" panose="02020603050405020304" pitchFamily="18" charset="0"/>
                        </a:rPr>
                        <a:t>0.594/0.598=0.993</a:t>
                      </a:r>
                    </a:p>
                  </a:txBody>
                  <a:tcPr/>
                </a:tc>
                <a:extLst>
                  <a:ext uri="{0D108BD9-81ED-4DB2-BD59-A6C34878D82A}">
                    <a16:rowId xmlns:a16="http://schemas.microsoft.com/office/drawing/2014/main" val="3628989194"/>
                  </a:ext>
                </a:extLst>
              </a:tr>
              <a:tr h="523301">
                <a:tc>
                  <a:txBody>
                    <a:bodyPr/>
                    <a:lstStyle/>
                    <a:p>
                      <a:r>
                        <a:rPr lang="en-IN" sz="1600" dirty="0">
                          <a:latin typeface="Times New Roman" panose="02020603050405020304" pitchFamily="18" charset="0"/>
                          <a:cs typeface="Times New Roman" panose="02020603050405020304" pitchFamily="18" charset="0"/>
                        </a:rPr>
                        <a:t>P(A2)=0.4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P(P/A2)=0.01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(0.4)(0.01)=0.004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0.004/0.598=0.00668</a:t>
                      </a:r>
                    </a:p>
                  </a:txBody>
                  <a:tcPr/>
                </a:tc>
                <a:extLst>
                  <a:ext uri="{0D108BD9-81ED-4DB2-BD59-A6C34878D82A}">
                    <a16:rowId xmlns:a16="http://schemas.microsoft.com/office/drawing/2014/main" val="1691490225"/>
                  </a:ext>
                </a:extLst>
              </a:tr>
              <a:tr h="335096">
                <a:tc gridSpan="2">
                  <a:txBody>
                    <a:bodyPr/>
                    <a:lstStyle/>
                    <a:p>
                      <a:r>
                        <a:rPr lang="en-IN" sz="1600" dirty="0">
                          <a:latin typeface="Times New Roman" panose="02020603050405020304" pitchFamily="18" charset="0"/>
                          <a:cs typeface="Times New Roman" panose="02020603050405020304" pitchFamily="18" charset="0"/>
                        </a:rPr>
                        <a:t>Total</a:t>
                      </a:r>
                    </a:p>
                  </a:txBody>
                  <a:tcPr/>
                </a:tc>
                <a:tc hMerge="1">
                  <a:txBody>
                    <a:bodyPr/>
                    <a:lstStyle/>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P(O)=0.598</a:t>
                      </a:r>
                    </a:p>
                  </a:txBody>
                  <a:tcPr/>
                </a:tc>
                <a:tc>
                  <a:txBody>
                    <a:bodyPr/>
                    <a:lstStyle/>
                    <a:p>
                      <a:r>
                        <a:rPr lang="en-IN" sz="1600" dirty="0">
                          <a:latin typeface="Times New Roman" panose="02020603050405020304" pitchFamily="18" charset="0"/>
                          <a:cs typeface="Times New Roman" panose="02020603050405020304" pitchFamily="18" charset="0"/>
                        </a:rPr>
                        <a:t>0.99968</a:t>
                      </a:r>
                    </a:p>
                  </a:txBody>
                  <a:tcPr/>
                </a:tc>
                <a:extLst>
                  <a:ext uri="{0D108BD9-81ED-4DB2-BD59-A6C34878D82A}">
                    <a16:rowId xmlns:a16="http://schemas.microsoft.com/office/drawing/2014/main" val="3868983450"/>
                  </a:ext>
                </a:extLst>
              </a:tr>
            </a:tbl>
          </a:graphicData>
        </a:graphic>
      </p:graphicFrame>
      <p:pic>
        <p:nvPicPr>
          <p:cNvPr id="2" name="Picture 2" descr="image by author">
            <a:extLst>
              <a:ext uri="{FF2B5EF4-FFF2-40B4-BE49-F238E27FC236}">
                <a16:creationId xmlns:a16="http://schemas.microsoft.com/office/drawing/2014/main" id="{B67EED3F-1BE0-5EA9-10ED-D02166C8D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2401"/>
            <a:ext cx="5410200" cy="3043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255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0C0148A4-C575-9F4D-D80A-08E7FA8ED3F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07A8793A-2786-429D-9957-9252AD43AC13}" type="slidenum">
              <a:rPr lang="en-US" altLang="en-US">
                <a:latin typeface="Times New Roman" panose="02020603050405020304" pitchFamily="18" charset="0"/>
                <a:cs typeface="Times New Roman" panose="02020603050405020304" pitchFamily="18" charset="0"/>
              </a:rPr>
              <a:pPr eaLnBrk="1" hangingPunct="1"/>
              <a:t>18</a:t>
            </a:fld>
            <a:endParaRPr lang="en-US" altLang="en-US">
              <a:latin typeface="Times New Roman" panose="02020603050405020304" pitchFamily="18" charset="0"/>
              <a:cs typeface="Times New Roman" panose="02020603050405020304" pitchFamily="18" charset="0"/>
            </a:endParaRPr>
          </a:p>
        </p:txBody>
      </p:sp>
      <p:sp>
        <p:nvSpPr>
          <p:cNvPr id="35843" name="Rectangle 2">
            <a:extLst>
              <a:ext uri="{FF2B5EF4-FFF2-40B4-BE49-F238E27FC236}">
                <a16:creationId xmlns:a16="http://schemas.microsoft.com/office/drawing/2014/main" id="{B9620D83-2C24-5BED-A185-C9D53D463497}"/>
              </a:ext>
            </a:extLst>
          </p:cNvPr>
          <p:cNvSpPr>
            <a:spLocks noGrp="1" noChangeArrowheads="1"/>
          </p:cNvSpPr>
          <p:nvPr>
            <p:ph type="title"/>
          </p:nvPr>
        </p:nvSpPr>
        <p:spPr>
          <a:xfrm>
            <a:off x="0" y="304800"/>
            <a:ext cx="9144000" cy="609600"/>
          </a:xfrm>
        </p:spPr>
        <p:txBody>
          <a:bodyPr>
            <a:normAutofit fontScale="90000"/>
          </a:bodyPr>
          <a:lstStyle/>
          <a:p>
            <a:pPr eaLnBrk="1" hangingPunct="1"/>
            <a:r>
              <a:rPr lang="en-US" altLang="en-US">
                <a:latin typeface="Times New Roman" panose="02020603050405020304" pitchFamily="18" charset="0"/>
                <a:cs typeface="Times New Roman" panose="02020603050405020304" pitchFamily="18" charset="0"/>
              </a:rPr>
              <a:t>Prediction Based on Bayes’ Theorem</a:t>
            </a:r>
          </a:p>
        </p:txBody>
      </p:sp>
      <p:sp>
        <p:nvSpPr>
          <p:cNvPr id="35844" name="Rectangle 3">
            <a:extLst>
              <a:ext uri="{FF2B5EF4-FFF2-40B4-BE49-F238E27FC236}">
                <a16:creationId xmlns:a16="http://schemas.microsoft.com/office/drawing/2014/main" id="{1691AA94-9591-D252-5C9E-5F2695C6013A}"/>
              </a:ext>
            </a:extLst>
          </p:cNvPr>
          <p:cNvSpPr>
            <a:spLocks noGrp="1" noChangeArrowheads="1"/>
          </p:cNvSpPr>
          <p:nvPr>
            <p:ph type="body" idx="1"/>
          </p:nvPr>
        </p:nvSpPr>
        <p:spPr>
          <a:xfrm>
            <a:off x="304800" y="1295400"/>
            <a:ext cx="8458200" cy="5029200"/>
          </a:xfrm>
        </p:spPr>
        <p:txBody>
          <a:bodyPr>
            <a:normAutofit/>
          </a:bodyPr>
          <a:lstStyle/>
          <a:p>
            <a:pPr eaLnBrk="1" hangingPunct="1">
              <a:lnSpc>
                <a:spcPct val="120000"/>
              </a:lnSpc>
            </a:pPr>
            <a:r>
              <a:rPr lang="en-US" altLang="en-US" sz="2400" dirty="0">
                <a:latin typeface="Times New Roman" panose="02020603050405020304" pitchFamily="18" charset="0"/>
                <a:cs typeface="Times New Roman" panose="02020603050405020304" pitchFamily="18" charset="0"/>
              </a:rPr>
              <a:t>Given training data</a:t>
            </a:r>
            <a:r>
              <a:rPr lang="en-US" altLang="en-US" sz="2400" i="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X</a:t>
            </a:r>
            <a:r>
              <a:rPr lang="en-US" altLang="en-US" sz="2400" i="1" dirty="0">
                <a:latin typeface="Times New Roman" panose="02020603050405020304" pitchFamily="18" charset="0"/>
                <a:cs typeface="Times New Roman" panose="02020603050405020304" pitchFamily="18" charset="0"/>
              </a:rPr>
              <a:t>, posteriori probability of a hypothesis </a:t>
            </a:r>
            <a:r>
              <a:rPr lang="en-US" altLang="en-US" sz="2400" dirty="0">
                <a:latin typeface="Times New Roman" panose="02020603050405020304" pitchFamily="18" charset="0"/>
                <a:cs typeface="Times New Roman" panose="02020603050405020304" pitchFamily="18" charset="0"/>
              </a:rPr>
              <a:t>H</a:t>
            </a:r>
            <a:r>
              <a:rPr lang="en-US" altLang="en-US" sz="2400" i="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P(H|</a:t>
            </a:r>
            <a:r>
              <a:rPr lang="en-US" altLang="en-US" sz="2400" b="1" dirty="0">
                <a:latin typeface="Times New Roman" panose="02020603050405020304" pitchFamily="18" charset="0"/>
                <a:cs typeface="Times New Roman" panose="02020603050405020304" pitchFamily="18" charset="0"/>
              </a:rPr>
              <a:t>X</a:t>
            </a:r>
            <a:r>
              <a:rPr lang="en-US" altLang="en-US" sz="2400" dirty="0">
                <a:latin typeface="Times New Roman" panose="02020603050405020304" pitchFamily="18" charset="0"/>
                <a:cs typeface="Times New Roman" panose="02020603050405020304" pitchFamily="18" charset="0"/>
              </a:rPr>
              <a:t>)</a:t>
            </a:r>
            <a:r>
              <a:rPr lang="en-US" altLang="en-US" sz="2400" i="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follows the Bayes’ theorem</a:t>
            </a:r>
          </a:p>
          <a:p>
            <a:pPr eaLnBrk="1" hangingPunct="1">
              <a:lnSpc>
                <a:spcPct val="12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a:t>
            </a:r>
          </a:p>
          <a:p>
            <a:pPr eaLnBrk="1" hangingPunct="1">
              <a:lnSpc>
                <a:spcPct val="120000"/>
              </a:lnSpc>
            </a:pPr>
            <a:endParaRPr lang="en-US" altLang="en-US" sz="2400" dirty="0">
              <a:latin typeface="Times New Roman" panose="02020603050405020304" pitchFamily="18" charset="0"/>
              <a:cs typeface="Times New Roman" panose="02020603050405020304" pitchFamily="18" charset="0"/>
            </a:endParaRPr>
          </a:p>
          <a:p>
            <a:pPr eaLnBrk="1" hangingPunct="1">
              <a:lnSpc>
                <a:spcPct val="120000"/>
              </a:lnSpc>
            </a:pPr>
            <a:r>
              <a:rPr lang="en-US" altLang="en-US" sz="2400" dirty="0">
                <a:latin typeface="Times New Roman" panose="02020603050405020304" pitchFamily="18" charset="0"/>
                <a:cs typeface="Times New Roman" panose="02020603050405020304" pitchFamily="18" charset="0"/>
              </a:rPr>
              <a:t>Informally, this can be viewed as </a:t>
            </a:r>
          </a:p>
          <a:p>
            <a:pPr lvl="1" eaLnBrk="1" hangingPunct="1">
              <a:lnSpc>
                <a:spcPct val="12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posteriori = likelihood x prior/evidence</a:t>
            </a:r>
          </a:p>
          <a:p>
            <a:pPr eaLnBrk="1" hangingPunct="1">
              <a:lnSpc>
                <a:spcPct val="120000"/>
              </a:lnSpc>
            </a:pPr>
            <a:r>
              <a:rPr lang="en-US" altLang="en-US" sz="2400" dirty="0">
                <a:latin typeface="Times New Roman" panose="02020603050405020304" pitchFamily="18" charset="0"/>
                <a:cs typeface="Times New Roman" panose="02020603050405020304" pitchFamily="18" charset="0"/>
              </a:rPr>
              <a:t>Predicts </a:t>
            </a:r>
            <a:r>
              <a:rPr lang="en-US" altLang="en-US" sz="2400" b="1" dirty="0">
                <a:latin typeface="Times New Roman" panose="02020603050405020304" pitchFamily="18" charset="0"/>
                <a:cs typeface="Times New Roman" panose="02020603050405020304" pitchFamily="18" charset="0"/>
              </a:rPr>
              <a:t>X</a:t>
            </a:r>
            <a:r>
              <a:rPr lang="en-US" altLang="en-US" sz="2400" dirty="0">
                <a:latin typeface="Times New Roman" panose="02020603050405020304" pitchFamily="18" charset="0"/>
                <a:cs typeface="Times New Roman" panose="02020603050405020304" pitchFamily="18" charset="0"/>
              </a:rPr>
              <a:t> belongs to C</a:t>
            </a:r>
            <a:r>
              <a:rPr lang="en-US" altLang="en-US" sz="2400" baseline="-25000" dirty="0">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iff</a:t>
            </a:r>
            <a:r>
              <a:rPr lang="en-US" altLang="en-US" sz="2400" dirty="0">
                <a:latin typeface="Times New Roman" panose="02020603050405020304" pitchFamily="18" charset="0"/>
                <a:cs typeface="Times New Roman" panose="02020603050405020304" pitchFamily="18" charset="0"/>
              </a:rPr>
              <a:t> the probability P(</a:t>
            </a:r>
            <a:r>
              <a:rPr lang="en-US" altLang="en-US" sz="2400" dirty="0" err="1">
                <a:latin typeface="Times New Roman" panose="02020603050405020304" pitchFamily="18" charset="0"/>
                <a:cs typeface="Times New Roman" panose="02020603050405020304" pitchFamily="18" charset="0"/>
              </a:rPr>
              <a:t>C</a:t>
            </a:r>
            <a:r>
              <a:rPr lang="en-US" altLang="en-US" sz="2400" baseline="-25000" dirty="0" err="1">
                <a:latin typeface="Times New Roman" panose="02020603050405020304" pitchFamily="18" charset="0"/>
                <a:cs typeface="Times New Roman" panose="02020603050405020304" pitchFamily="18" charset="0"/>
              </a:rPr>
              <a:t>i</a:t>
            </a:r>
            <a:r>
              <a:rPr lang="en-US" altLang="en-US" sz="2400" dirty="0" err="1">
                <a:latin typeface="Times New Roman" panose="02020603050405020304" pitchFamily="18" charset="0"/>
                <a:cs typeface="Times New Roman" panose="02020603050405020304" pitchFamily="18" charset="0"/>
              </a:rPr>
              <a:t>|</a:t>
            </a:r>
            <a:r>
              <a:rPr lang="en-US" altLang="en-US" sz="2400" b="1" dirty="0" err="1">
                <a:latin typeface="Times New Roman" panose="02020603050405020304" pitchFamily="18" charset="0"/>
                <a:cs typeface="Times New Roman" panose="02020603050405020304" pitchFamily="18" charset="0"/>
              </a:rPr>
              <a:t>X</a:t>
            </a:r>
            <a:r>
              <a:rPr lang="en-US" altLang="en-US" sz="2400" dirty="0">
                <a:latin typeface="Times New Roman" panose="02020603050405020304" pitchFamily="18" charset="0"/>
                <a:cs typeface="Times New Roman" panose="02020603050405020304" pitchFamily="18" charset="0"/>
              </a:rPr>
              <a:t>) is the highest among all the P(</a:t>
            </a:r>
            <a:r>
              <a:rPr lang="en-US" altLang="en-US" sz="2400" dirty="0" err="1">
                <a:latin typeface="Times New Roman" panose="02020603050405020304" pitchFamily="18" charset="0"/>
                <a:cs typeface="Times New Roman" panose="02020603050405020304" pitchFamily="18" charset="0"/>
              </a:rPr>
              <a:t>C</a:t>
            </a:r>
            <a:r>
              <a:rPr lang="en-US" altLang="en-US" sz="2400" baseline="-25000" dirty="0" err="1">
                <a:latin typeface="Times New Roman" panose="02020603050405020304" pitchFamily="18" charset="0"/>
                <a:cs typeface="Times New Roman" panose="02020603050405020304" pitchFamily="18" charset="0"/>
              </a:rPr>
              <a:t>k</a:t>
            </a:r>
            <a:r>
              <a:rPr lang="en-US" altLang="en-US" sz="2400" dirty="0" err="1">
                <a:latin typeface="Times New Roman" panose="02020603050405020304" pitchFamily="18" charset="0"/>
                <a:cs typeface="Times New Roman" panose="02020603050405020304" pitchFamily="18" charset="0"/>
              </a:rPr>
              <a:t>|X</a:t>
            </a:r>
            <a:r>
              <a:rPr lang="en-US" altLang="en-US" sz="2400" dirty="0">
                <a:latin typeface="Times New Roman" panose="02020603050405020304" pitchFamily="18" charset="0"/>
                <a:cs typeface="Times New Roman" panose="02020603050405020304" pitchFamily="18" charset="0"/>
              </a:rPr>
              <a:t>) for all the </a:t>
            </a:r>
            <a:r>
              <a:rPr lang="en-US" altLang="en-US" sz="2400" i="1" dirty="0">
                <a:latin typeface="Times New Roman" panose="02020603050405020304" pitchFamily="18" charset="0"/>
                <a:cs typeface="Times New Roman" panose="02020603050405020304" pitchFamily="18" charset="0"/>
              </a:rPr>
              <a:t>k</a:t>
            </a:r>
            <a:r>
              <a:rPr lang="en-US" altLang="en-US" sz="2400" dirty="0">
                <a:latin typeface="Times New Roman" panose="02020603050405020304" pitchFamily="18" charset="0"/>
                <a:cs typeface="Times New Roman" panose="02020603050405020304" pitchFamily="18" charset="0"/>
              </a:rPr>
              <a:t> classes</a:t>
            </a:r>
          </a:p>
          <a:p>
            <a:pPr eaLnBrk="1" hangingPunct="1">
              <a:lnSpc>
                <a:spcPct val="120000"/>
              </a:lnSpc>
            </a:pPr>
            <a:r>
              <a:rPr lang="en-US" altLang="en-US" sz="2400" dirty="0">
                <a:latin typeface="Times New Roman" panose="02020603050405020304" pitchFamily="18" charset="0"/>
                <a:cs typeface="Times New Roman" panose="02020603050405020304" pitchFamily="18" charset="0"/>
              </a:rPr>
              <a:t>Practical difficulty:  It requires initial knowledge of many probabilities, involving significant computational cost</a:t>
            </a:r>
          </a:p>
        </p:txBody>
      </p:sp>
      <p:graphicFrame>
        <p:nvGraphicFramePr>
          <p:cNvPr id="35845" name="Object 4">
            <a:extLst>
              <a:ext uri="{FF2B5EF4-FFF2-40B4-BE49-F238E27FC236}">
                <a16:creationId xmlns:a16="http://schemas.microsoft.com/office/drawing/2014/main" id="{A438551E-6C26-4422-F454-87EC83C38944}"/>
              </a:ext>
            </a:extLst>
          </p:cNvPr>
          <p:cNvGraphicFramePr>
            <a:graphicFrameLocks noChangeAspect="1"/>
          </p:cNvGraphicFramePr>
          <p:nvPr>
            <p:extLst>
              <p:ext uri="{D42A27DB-BD31-4B8C-83A1-F6EECF244321}">
                <p14:modId xmlns:p14="http://schemas.microsoft.com/office/powerpoint/2010/main" val="2940546824"/>
              </p:ext>
            </p:extLst>
          </p:nvPr>
        </p:nvGraphicFramePr>
        <p:xfrm>
          <a:off x="990600" y="2438400"/>
          <a:ext cx="7585075" cy="768350"/>
        </p:xfrm>
        <a:graphic>
          <a:graphicData uri="http://schemas.openxmlformats.org/presentationml/2006/ole">
            <mc:AlternateContent xmlns:mc="http://schemas.openxmlformats.org/markup-compatibility/2006">
              <mc:Choice xmlns:v="urn:schemas-microsoft-com:vml" Requires="v">
                <p:oleObj name="Equation" r:id="rId3" imgW="4813300" imgH="558800" progId="Equation.3">
                  <p:embed/>
                </p:oleObj>
              </mc:Choice>
              <mc:Fallback>
                <p:oleObj name="Equation" r:id="rId3" imgW="4813300" imgH="558800" progId="Equation.3">
                  <p:embed/>
                  <p:pic>
                    <p:nvPicPr>
                      <p:cNvPr id="35845" name="Object 4">
                        <a:extLst>
                          <a:ext uri="{FF2B5EF4-FFF2-40B4-BE49-F238E27FC236}">
                            <a16:creationId xmlns:a16="http://schemas.microsoft.com/office/drawing/2014/main" id="{A438551E-6C26-4422-F454-87EC83C38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438400"/>
                        <a:ext cx="7585075"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7">
            <a:extLst>
              <a:ext uri="{FF2B5EF4-FFF2-40B4-BE49-F238E27FC236}">
                <a16:creationId xmlns:a16="http://schemas.microsoft.com/office/drawing/2014/main" id="{83675BA9-EB44-94FB-F05D-30A151E8FAA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90C8EEC3-EEE2-4C69-BB7A-74EBB9B16325}" type="slidenum">
              <a:rPr lang="en-US" altLang="en-US">
                <a:latin typeface="Times New Roman" panose="02020603050405020304" pitchFamily="18" charset="0"/>
                <a:cs typeface="Times New Roman" panose="02020603050405020304" pitchFamily="18" charset="0"/>
              </a:rPr>
              <a:pPr eaLnBrk="1" hangingPunct="1"/>
              <a:t>19</a:t>
            </a:fld>
            <a:endParaRPr lang="en-US" altLang="en-US">
              <a:latin typeface="Times New Roman" panose="02020603050405020304" pitchFamily="18" charset="0"/>
              <a:cs typeface="Times New Roman" panose="02020603050405020304" pitchFamily="18" charset="0"/>
            </a:endParaRPr>
          </a:p>
        </p:txBody>
      </p:sp>
      <p:sp>
        <p:nvSpPr>
          <p:cNvPr id="36867" name="Rectangle 2">
            <a:extLst>
              <a:ext uri="{FF2B5EF4-FFF2-40B4-BE49-F238E27FC236}">
                <a16:creationId xmlns:a16="http://schemas.microsoft.com/office/drawing/2014/main" id="{2F781C32-414F-1799-648A-CEA6D6C9A007}"/>
              </a:ext>
            </a:extLst>
          </p:cNvPr>
          <p:cNvSpPr>
            <a:spLocks noGrp="1" noChangeArrowheads="1"/>
          </p:cNvSpPr>
          <p:nvPr>
            <p:ph type="title"/>
          </p:nvPr>
        </p:nvSpPr>
        <p:spPr>
          <a:xfrm>
            <a:off x="-228600" y="304800"/>
            <a:ext cx="9601200" cy="609600"/>
          </a:xfrm>
        </p:spPr>
        <p:txBody>
          <a:bodyPr>
            <a:normAutofit/>
          </a:bodyPr>
          <a:lstStyle/>
          <a:p>
            <a:pPr eaLnBrk="1" hangingPunct="1"/>
            <a:r>
              <a:rPr lang="en-US" altLang="en-US" sz="3200">
                <a:latin typeface="Times New Roman" panose="02020603050405020304" pitchFamily="18" charset="0"/>
                <a:cs typeface="Times New Roman" panose="02020603050405020304" pitchFamily="18" charset="0"/>
              </a:rPr>
              <a:t>Classification Is to Derive the Maximum Posteriori</a:t>
            </a:r>
          </a:p>
        </p:txBody>
      </p:sp>
      <p:sp>
        <p:nvSpPr>
          <p:cNvPr id="36868" name="Rectangle 3">
            <a:extLst>
              <a:ext uri="{FF2B5EF4-FFF2-40B4-BE49-F238E27FC236}">
                <a16:creationId xmlns:a16="http://schemas.microsoft.com/office/drawing/2014/main" id="{500F9250-428C-0348-9332-593971A67753}"/>
              </a:ext>
            </a:extLst>
          </p:cNvPr>
          <p:cNvSpPr>
            <a:spLocks noGrp="1" noChangeArrowheads="1"/>
          </p:cNvSpPr>
          <p:nvPr>
            <p:ph type="body" sz="half" idx="1"/>
          </p:nvPr>
        </p:nvSpPr>
        <p:spPr>
          <a:xfrm>
            <a:off x="381000" y="1219200"/>
            <a:ext cx="8458200" cy="5181600"/>
          </a:xfrm>
        </p:spPr>
        <p:txBody>
          <a:bodyPr/>
          <a:lstStyle/>
          <a:p>
            <a:pPr eaLnBrk="1" hangingPunct="1"/>
            <a:r>
              <a:rPr lang="en-US" altLang="en-US" sz="2400">
                <a:latin typeface="Times New Roman" panose="02020603050405020304" pitchFamily="18" charset="0"/>
                <a:cs typeface="Times New Roman" panose="02020603050405020304" pitchFamily="18" charset="0"/>
              </a:rPr>
              <a:t>Let D be a training set of tuples and their associated class labels, and each tuple is represented by an n-D attribute vector </a:t>
            </a:r>
            <a:r>
              <a:rPr lang="en-US" altLang="en-US" sz="2400" b="1">
                <a:latin typeface="Times New Roman" panose="02020603050405020304" pitchFamily="18" charset="0"/>
                <a:cs typeface="Times New Roman" panose="02020603050405020304" pitchFamily="18" charset="0"/>
              </a:rPr>
              <a:t>X</a:t>
            </a:r>
            <a:r>
              <a:rPr lang="en-US" altLang="en-US" sz="2400">
                <a:latin typeface="Times New Roman" panose="02020603050405020304" pitchFamily="18" charset="0"/>
                <a:cs typeface="Times New Roman" panose="02020603050405020304" pitchFamily="18" charset="0"/>
              </a:rPr>
              <a:t> = (x</a:t>
            </a:r>
            <a:r>
              <a:rPr lang="en-US" altLang="en-US" sz="2400" baseline="-25000">
                <a:latin typeface="Times New Roman" panose="02020603050405020304" pitchFamily="18" charset="0"/>
                <a:cs typeface="Times New Roman" panose="02020603050405020304" pitchFamily="18" charset="0"/>
              </a:rPr>
              <a:t>1</a:t>
            </a:r>
            <a:r>
              <a:rPr lang="en-US" altLang="en-US" sz="2400">
                <a:latin typeface="Times New Roman" panose="02020603050405020304" pitchFamily="18" charset="0"/>
                <a:cs typeface="Times New Roman" panose="02020603050405020304" pitchFamily="18" charset="0"/>
              </a:rPr>
              <a:t>, x</a:t>
            </a:r>
            <a:r>
              <a:rPr lang="en-US" altLang="en-US" sz="2400" baseline="-25000">
                <a:latin typeface="Times New Roman" panose="02020603050405020304" pitchFamily="18" charset="0"/>
                <a:cs typeface="Times New Roman" panose="02020603050405020304" pitchFamily="18" charset="0"/>
              </a:rPr>
              <a:t>2</a:t>
            </a:r>
            <a:r>
              <a:rPr lang="en-US" altLang="en-US" sz="2400">
                <a:latin typeface="Times New Roman" panose="02020603050405020304" pitchFamily="18" charset="0"/>
                <a:cs typeface="Times New Roman" panose="02020603050405020304" pitchFamily="18" charset="0"/>
              </a:rPr>
              <a:t>, …, x</a:t>
            </a:r>
            <a:r>
              <a:rPr lang="en-US" altLang="en-US" sz="2400" baseline="-25000">
                <a:latin typeface="Times New Roman" panose="02020603050405020304" pitchFamily="18" charset="0"/>
                <a:cs typeface="Times New Roman" panose="02020603050405020304" pitchFamily="18" charset="0"/>
              </a:rPr>
              <a:t>n</a:t>
            </a:r>
            <a:r>
              <a:rPr lang="en-US" altLang="en-US" sz="2400">
                <a:latin typeface="Times New Roman" panose="02020603050405020304" pitchFamily="18" charset="0"/>
                <a:cs typeface="Times New Roman" panose="02020603050405020304" pitchFamily="18" charset="0"/>
              </a:rPr>
              <a:t>)</a:t>
            </a:r>
          </a:p>
          <a:p>
            <a:pPr eaLnBrk="1" hangingPunct="1"/>
            <a:r>
              <a:rPr lang="en-US" altLang="en-US" sz="2400">
                <a:latin typeface="Times New Roman" panose="02020603050405020304" pitchFamily="18" charset="0"/>
                <a:cs typeface="Times New Roman" panose="02020603050405020304" pitchFamily="18" charset="0"/>
              </a:rPr>
              <a:t>Suppose there are </a:t>
            </a:r>
            <a:r>
              <a:rPr lang="en-US" altLang="en-US" sz="2400" i="1">
                <a:latin typeface="Times New Roman" panose="02020603050405020304" pitchFamily="18" charset="0"/>
                <a:cs typeface="Times New Roman" panose="02020603050405020304" pitchFamily="18" charset="0"/>
              </a:rPr>
              <a:t>m</a:t>
            </a:r>
            <a:r>
              <a:rPr lang="en-US" altLang="en-US" sz="2400">
                <a:latin typeface="Times New Roman" panose="02020603050405020304" pitchFamily="18" charset="0"/>
                <a:cs typeface="Times New Roman" panose="02020603050405020304" pitchFamily="18" charset="0"/>
              </a:rPr>
              <a:t> classes C</a:t>
            </a:r>
            <a:r>
              <a:rPr lang="en-US" altLang="en-US" sz="2400" baseline="-25000">
                <a:latin typeface="Times New Roman" panose="02020603050405020304" pitchFamily="18" charset="0"/>
                <a:cs typeface="Times New Roman" panose="02020603050405020304" pitchFamily="18" charset="0"/>
              </a:rPr>
              <a:t>1</a:t>
            </a:r>
            <a:r>
              <a:rPr lang="en-US" altLang="en-US" sz="2400">
                <a:latin typeface="Times New Roman" panose="02020603050405020304" pitchFamily="18" charset="0"/>
                <a:cs typeface="Times New Roman" panose="02020603050405020304" pitchFamily="18" charset="0"/>
              </a:rPr>
              <a:t>, C</a:t>
            </a:r>
            <a:r>
              <a:rPr lang="en-US" altLang="en-US" sz="2400" baseline="-25000">
                <a:latin typeface="Times New Roman" panose="02020603050405020304" pitchFamily="18" charset="0"/>
                <a:cs typeface="Times New Roman" panose="02020603050405020304" pitchFamily="18" charset="0"/>
              </a:rPr>
              <a:t>2</a:t>
            </a:r>
            <a:r>
              <a:rPr lang="en-US" altLang="en-US" sz="2400">
                <a:latin typeface="Times New Roman" panose="02020603050405020304" pitchFamily="18" charset="0"/>
                <a:cs typeface="Times New Roman" panose="02020603050405020304" pitchFamily="18" charset="0"/>
              </a:rPr>
              <a:t>, …, C</a:t>
            </a:r>
            <a:r>
              <a:rPr lang="en-US" altLang="en-US" sz="2400" baseline="-25000">
                <a:latin typeface="Times New Roman" panose="02020603050405020304" pitchFamily="18" charset="0"/>
                <a:cs typeface="Times New Roman" panose="02020603050405020304" pitchFamily="18" charset="0"/>
              </a:rPr>
              <a:t>m</a:t>
            </a:r>
            <a:r>
              <a:rPr lang="en-US" altLang="en-US" sz="2400">
                <a:latin typeface="Times New Roman" panose="02020603050405020304" pitchFamily="18" charset="0"/>
                <a:cs typeface="Times New Roman" panose="02020603050405020304" pitchFamily="18" charset="0"/>
              </a:rPr>
              <a:t>.</a:t>
            </a:r>
          </a:p>
          <a:p>
            <a:pPr eaLnBrk="1" hangingPunct="1">
              <a:lnSpc>
                <a:spcPct val="90000"/>
              </a:lnSpc>
            </a:pPr>
            <a:r>
              <a:rPr lang="en-US" altLang="en-US" sz="2400">
                <a:latin typeface="Times New Roman" panose="02020603050405020304" pitchFamily="18" charset="0"/>
                <a:cs typeface="Times New Roman" panose="02020603050405020304" pitchFamily="18" charset="0"/>
              </a:rPr>
              <a:t>Classification is to derive the maximum posteriori, i.e., the maximal P(C</a:t>
            </a:r>
            <a:r>
              <a:rPr lang="en-US" altLang="en-US" sz="2400" baseline="-25000">
                <a:latin typeface="Times New Roman" panose="02020603050405020304" pitchFamily="18" charset="0"/>
                <a:cs typeface="Times New Roman" panose="02020603050405020304" pitchFamily="18" charset="0"/>
              </a:rPr>
              <a:t>i</a:t>
            </a:r>
            <a:r>
              <a:rPr lang="en-US" altLang="en-US" sz="2400">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X</a:t>
            </a:r>
            <a:r>
              <a:rPr lang="en-US" altLang="en-US" sz="2400">
                <a:latin typeface="Times New Roman" panose="02020603050405020304" pitchFamily="18" charset="0"/>
                <a:cs typeface="Times New Roman" panose="02020603050405020304" pitchFamily="18" charset="0"/>
              </a:rPr>
              <a:t>)</a:t>
            </a:r>
          </a:p>
          <a:p>
            <a:pPr eaLnBrk="1" hangingPunct="1">
              <a:lnSpc>
                <a:spcPct val="90000"/>
              </a:lnSpc>
            </a:pPr>
            <a:r>
              <a:rPr lang="en-US" altLang="en-US" sz="2400">
                <a:latin typeface="Times New Roman" panose="02020603050405020304" pitchFamily="18" charset="0"/>
                <a:cs typeface="Times New Roman" panose="02020603050405020304" pitchFamily="18" charset="0"/>
              </a:rPr>
              <a:t>This can be derived from Bayes’ theorem</a:t>
            </a:r>
          </a:p>
          <a:p>
            <a:pPr eaLnBrk="1" hangingPunct="1">
              <a:lnSpc>
                <a:spcPct val="90000"/>
              </a:lnSpc>
            </a:pPr>
            <a:endParaRPr lang="en-US" altLang="en-US" sz="2400">
              <a:latin typeface="Times New Roman" panose="02020603050405020304" pitchFamily="18" charset="0"/>
              <a:cs typeface="Times New Roman" panose="02020603050405020304" pitchFamily="18" charset="0"/>
            </a:endParaRPr>
          </a:p>
          <a:p>
            <a:pPr eaLnBrk="1" hangingPunct="1">
              <a:lnSpc>
                <a:spcPct val="90000"/>
              </a:lnSpc>
            </a:pPr>
            <a:endParaRPr lang="en-US" altLang="en-US" sz="2400">
              <a:latin typeface="Times New Roman" panose="02020603050405020304" pitchFamily="18" charset="0"/>
              <a:cs typeface="Times New Roman" panose="02020603050405020304" pitchFamily="18" charset="0"/>
            </a:endParaRPr>
          </a:p>
          <a:p>
            <a:pPr eaLnBrk="1" hangingPunct="1">
              <a:lnSpc>
                <a:spcPct val="90000"/>
              </a:lnSpc>
            </a:pPr>
            <a:r>
              <a:rPr lang="en-US" altLang="en-US" sz="2400">
                <a:latin typeface="Times New Roman" panose="02020603050405020304" pitchFamily="18" charset="0"/>
                <a:cs typeface="Times New Roman" panose="02020603050405020304" pitchFamily="18" charset="0"/>
              </a:rPr>
              <a:t>Since P(X) is constant for all classes, only                                        </a:t>
            </a:r>
          </a:p>
          <a:p>
            <a:pPr eaLnBrk="1" hangingPunct="1">
              <a:lnSpc>
                <a:spcPct val="90000"/>
              </a:lnSpc>
            </a:pPr>
            <a:endParaRPr lang="en-US" altLang="en-US" sz="240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None/>
            </a:pPr>
            <a:r>
              <a:rPr lang="en-US" altLang="en-US" sz="2400">
                <a:latin typeface="Times New Roman" panose="02020603050405020304" pitchFamily="18" charset="0"/>
                <a:cs typeface="Times New Roman" panose="02020603050405020304" pitchFamily="18" charset="0"/>
              </a:rPr>
              <a:t>needs to be maximized</a:t>
            </a:r>
          </a:p>
        </p:txBody>
      </p:sp>
      <p:graphicFrame>
        <p:nvGraphicFramePr>
          <p:cNvPr id="36869" name="Object 5">
            <a:extLst>
              <a:ext uri="{FF2B5EF4-FFF2-40B4-BE49-F238E27FC236}">
                <a16:creationId xmlns:a16="http://schemas.microsoft.com/office/drawing/2014/main" id="{40225E5E-7727-9E54-9AD5-B06FF342746F}"/>
              </a:ext>
            </a:extLst>
          </p:cNvPr>
          <p:cNvGraphicFramePr>
            <a:graphicFrameLocks noGrp="1" noChangeAspect="1"/>
          </p:cNvGraphicFramePr>
          <p:nvPr>
            <p:ph sz="quarter" idx="2"/>
            <p:extLst>
              <p:ext uri="{D42A27DB-BD31-4B8C-83A1-F6EECF244321}">
                <p14:modId xmlns:p14="http://schemas.microsoft.com/office/powerpoint/2010/main" val="1912125974"/>
              </p:ext>
            </p:extLst>
          </p:nvPr>
        </p:nvGraphicFramePr>
        <p:xfrm>
          <a:off x="4648200" y="3962400"/>
          <a:ext cx="2743200" cy="709613"/>
        </p:xfrm>
        <a:graphic>
          <a:graphicData uri="http://schemas.openxmlformats.org/presentationml/2006/ole">
            <mc:AlternateContent xmlns:mc="http://schemas.openxmlformats.org/markup-compatibility/2006">
              <mc:Choice xmlns:v="urn:schemas-microsoft-com:vml" Requires="v">
                <p:oleObj name="Equation" r:id="rId3" imgW="2501900" imgH="647700" progId="Equation.3">
                  <p:embed/>
                </p:oleObj>
              </mc:Choice>
              <mc:Fallback>
                <p:oleObj name="Equation" r:id="rId3" imgW="2501900" imgH="647700" progId="Equation.3">
                  <p:embed/>
                  <p:pic>
                    <p:nvPicPr>
                      <p:cNvPr id="36869" name="Object 5">
                        <a:extLst>
                          <a:ext uri="{FF2B5EF4-FFF2-40B4-BE49-F238E27FC236}">
                            <a16:creationId xmlns:a16="http://schemas.microsoft.com/office/drawing/2014/main" id="{40225E5E-7727-9E54-9AD5-B06FF34274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3962400"/>
                        <a:ext cx="27432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7">
            <a:extLst>
              <a:ext uri="{FF2B5EF4-FFF2-40B4-BE49-F238E27FC236}">
                <a16:creationId xmlns:a16="http://schemas.microsoft.com/office/drawing/2014/main" id="{9DFA92FF-49D9-AEC2-70D7-66AC2FFB0A9E}"/>
              </a:ext>
            </a:extLst>
          </p:cNvPr>
          <p:cNvGraphicFramePr>
            <a:graphicFrameLocks noGrp="1" noChangeAspect="1"/>
          </p:cNvGraphicFramePr>
          <p:nvPr>
            <p:ph sz="quarter" idx="3"/>
            <p:extLst>
              <p:ext uri="{D42A27DB-BD31-4B8C-83A1-F6EECF244321}">
                <p14:modId xmlns:p14="http://schemas.microsoft.com/office/powerpoint/2010/main" val="2894875938"/>
              </p:ext>
            </p:extLst>
          </p:nvPr>
        </p:nvGraphicFramePr>
        <p:xfrm>
          <a:off x="4191000" y="5181600"/>
          <a:ext cx="2895600" cy="446088"/>
        </p:xfrm>
        <a:graphic>
          <a:graphicData uri="http://schemas.openxmlformats.org/presentationml/2006/ole">
            <mc:AlternateContent xmlns:mc="http://schemas.openxmlformats.org/markup-compatibility/2006">
              <mc:Choice xmlns:v="urn:schemas-microsoft-com:vml" Requires="v">
                <p:oleObj name="Equation" r:id="rId5" imgW="2476500" imgH="381000" progId="Equation.3">
                  <p:embed/>
                </p:oleObj>
              </mc:Choice>
              <mc:Fallback>
                <p:oleObj name="Equation" r:id="rId5" imgW="2476500" imgH="381000" progId="Equation.3">
                  <p:embed/>
                  <p:pic>
                    <p:nvPicPr>
                      <p:cNvPr id="36870" name="Object 7">
                        <a:extLst>
                          <a:ext uri="{FF2B5EF4-FFF2-40B4-BE49-F238E27FC236}">
                            <a16:creationId xmlns:a16="http://schemas.microsoft.com/office/drawing/2014/main" id="{9DFA92FF-49D9-AEC2-70D7-66AC2FFB0A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5181600"/>
                        <a:ext cx="28956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7">
            <a:extLst>
              <a:ext uri="{FF2B5EF4-FFF2-40B4-BE49-F238E27FC236}">
                <a16:creationId xmlns:a16="http://schemas.microsoft.com/office/drawing/2014/main" id="{E912DDE5-E493-8412-82F6-974C499CCFA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FD6ADBAA-0EF2-45ED-ABDB-DAE96A957F25}" type="slidenum">
              <a:rPr lang="en-US" altLang="en-US">
                <a:latin typeface="Times New Roman" panose="02020603050405020304" pitchFamily="18" charset="0"/>
                <a:cs typeface="Times New Roman" panose="02020603050405020304" pitchFamily="18" charset="0"/>
              </a:rPr>
              <a:pPr eaLnBrk="1" hangingPunct="1"/>
              <a:t>20</a:t>
            </a:fld>
            <a:endParaRPr lang="en-US" altLang="en-US">
              <a:latin typeface="Times New Roman" panose="02020603050405020304" pitchFamily="18" charset="0"/>
              <a:cs typeface="Times New Roman" panose="02020603050405020304" pitchFamily="18" charset="0"/>
            </a:endParaRPr>
          </a:p>
        </p:txBody>
      </p:sp>
      <p:sp>
        <p:nvSpPr>
          <p:cNvPr id="37891" name="Rectangle 2">
            <a:extLst>
              <a:ext uri="{FF2B5EF4-FFF2-40B4-BE49-F238E27FC236}">
                <a16:creationId xmlns:a16="http://schemas.microsoft.com/office/drawing/2014/main" id="{523C8752-6AA4-C276-CCD1-5F7BF582BD42}"/>
              </a:ext>
            </a:extLst>
          </p:cNvPr>
          <p:cNvSpPr>
            <a:spLocks noGrp="1" noChangeArrowheads="1"/>
          </p:cNvSpPr>
          <p:nvPr>
            <p:ph type="title"/>
          </p:nvPr>
        </p:nvSpPr>
        <p:spPr>
          <a:xfrm>
            <a:off x="304800" y="381000"/>
            <a:ext cx="8402638" cy="533400"/>
          </a:xfrm>
        </p:spPr>
        <p:txBody>
          <a:bodyPr>
            <a:normAutofit fontScale="90000"/>
          </a:bodyPr>
          <a:lstStyle/>
          <a:p>
            <a:pPr eaLnBrk="1" hangingPunct="1"/>
            <a:r>
              <a:rPr lang="en-US" altLang="en-US">
                <a:latin typeface="Times New Roman" panose="02020603050405020304" pitchFamily="18" charset="0"/>
                <a:cs typeface="Times New Roman" panose="02020603050405020304" pitchFamily="18" charset="0"/>
              </a:rPr>
              <a:t>Naïve Bayes Classifier </a:t>
            </a:r>
          </a:p>
        </p:txBody>
      </p:sp>
      <p:sp>
        <p:nvSpPr>
          <p:cNvPr id="37892" name="Rectangle 3">
            <a:extLst>
              <a:ext uri="{FF2B5EF4-FFF2-40B4-BE49-F238E27FC236}">
                <a16:creationId xmlns:a16="http://schemas.microsoft.com/office/drawing/2014/main" id="{919752D8-7392-ADA1-F43A-02530FFD4DCD}"/>
              </a:ext>
            </a:extLst>
          </p:cNvPr>
          <p:cNvSpPr>
            <a:spLocks noGrp="1" noChangeArrowheads="1"/>
          </p:cNvSpPr>
          <p:nvPr>
            <p:ph type="body" sz="half" idx="1"/>
          </p:nvPr>
        </p:nvSpPr>
        <p:spPr>
          <a:xfrm>
            <a:off x="304800" y="1295400"/>
            <a:ext cx="8382000" cy="5105400"/>
          </a:xfrm>
        </p:spPr>
        <p:txBody>
          <a:bodyPr/>
          <a:lstStyle/>
          <a:p>
            <a:pPr eaLnBrk="1" hangingPunct="1">
              <a:lnSpc>
                <a:spcPct val="90000"/>
              </a:lnSpc>
            </a:pPr>
            <a:r>
              <a:rPr lang="en-US" altLang="en-US" sz="2400" dirty="0">
                <a:latin typeface="Times New Roman" panose="02020603050405020304" pitchFamily="18" charset="0"/>
                <a:cs typeface="Times New Roman" panose="02020603050405020304" pitchFamily="18" charset="0"/>
              </a:rPr>
              <a:t>A simplified assumption: attributes are conditionally independent (i.e., no dependence relation between attributes):</a:t>
            </a:r>
          </a:p>
          <a:p>
            <a:pPr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a:p>
            <a:pPr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This greatly reduces the computation cost: Only counts the class distribution</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If A</a:t>
            </a:r>
            <a:r>
              <a:rPr lang="en-US" altLang="en-US" sz="2400" baseline="-25000" dirty="0">
                <a:latin typeface="Times New Roman" panose="02020603050405020304" pitchFamily="18" charset="0"/>
                <a:cs typeface="Times New Roman" panose="02020603050405020304" pitchFamily="18" charset="0"/>
              </a:rPr>
              <a:t>k</a:t>
            </a:r>
            <a:r>
              <a:rPr lang="en-US" altLang="en-US" sz="2400" dirty="0">
                <a:latin typeface="Times New Roman" panose="02020603050405020304" pitchFamily="18" charset="0"/>
                <a:cs typeface="Times New Roman" panose="02020603050405020304" pitchFamily="18" charset="0"/>
              </a:rPr>
              <a:t> is categorical, P(</a:t>
            </a:r>
            <a:r>
              <a:rPr lang="en-US" altLang="en-US" sz="2400" dirty="0" err="1">
                <a:latin typeface="Times New Roman" panose="02020603050405020304" pitchFamily="18" charset="0"/>
                <a:cs typeface="Times New Roman" panose="02020603050405020304" pitchFamily="18" charset="0"/>
              </a:rPr>
              <a:t>x</a:t>
            </a:r>
            <a:r>
              <a:rPr lang="en-US" altLang="en-US" sz="2400" baseline="-25000" dirty="0" err="1">
                <a:latin typeface="Times New Roman" panose="02020603050405020304" pitchFamily="18" charset="0"/>
                <a:cs typeface="Times New Roman" panose="02020603050405020304" pitchFamily="18" charset="0"/>
              </a:rPr>
              <a:t>k</a:t>
            </a:r>
            <a:r>
              <a:rPr lang="en-US" altLang="en-US" sz="2400" dirty="0" err="1">
                <a:latin typeface="Times New Roman" panose="02020603050405020304" pitchFamily="18" charset="0"/>
                <a:cs typeface="Times New Roman" panose="02020603050405020304" pitchFamily="18" charset="0"/>
              </a:rPr>
              <a:t>|C</a:t>
            </a:r>
            <a:r>
              <a:rPr lang="en-US" altLang="en-US" sz="2400" baseline="-250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is the # of tuples in C</a:t>
            </a:r>
            <a:r>
              <a:rPr lang="en-US" altLang="en-US" sz="2400" baseline="-25000" dirty="0">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having value </a:t>
            </a:r>
            <a:r>
              <a:rPr lang="en-US" altLang="en-US" sz="2400" dirty="0" err="1">
                <a:latin typeface="Times New Roman" panose="02020603050405020304" pitchFamily="18" charset="0"/>
                <a:cs typeface="Times New Roman" panose="02020603050405020304" pitchFamily="18" charset="0"/>
              </a:rPr>
              <a:t>x</a:t>
            </a:r>
            <a:r>
              <a:rPr lang="en-US" altLang="en-US" sz="2400" baseline="-25000" dirty="0" err="1">
                <a:latin typeface="Times New Roman" panose="02020603050405020304" pitchFamily="18" charset="0"/>
                <a:cs typeface="Times New Roman" panose="02020603050405020304" pitchFamily="18" charset="0"/>
              </a:rPr>
              <a:t>k</a:t>
            </a:r>
            <a:r>
              <a:rPr lang="en-US" altLang="en-US" sz="2400" dirty="0">
                <a:latin typeface="Times New Roman" panose="02020603050405020304" pitchFamily="18" charset="0"/>
                <a:cs typeface="Times New Roman" panose="02020603050405020304" pitchFamily="18" charset="0"/>
              </a:rPr>
              <a:t> for A</a:t>
            </a:r>
            <a:r>
              <a:rPr lang="en-US" altLang="en-US" sz="2400" baseline="-25000" dirty="0">
                <a:latin typeface="Times New Roman" panose="02020603050405020304" pitchFamily="18" charset="0"/>
                <a:cs typeface="Times New Roman" panose="02020603050405020304" pitchFamily="18" charset="0"/>
              </a:rPr>
              <a:t>k</a:t>
            </a:r>
            <a:r>
              <a:rPr lang="en-US" altLang="en-US" sz="2400" dirty="0">
                <a:latin typeface="Times New Roman" panose="02020603050405020304" pitchFamily="18" charset="0"/>
                <a:cs typeface="Times New Roman" panose="02020603050405020304" pitchFamily="18" charset="0"/>
              </a:rPr>
              <a:t> divided by |C</a:t>
            </a:r>
            <a:r>
              <a:rPr lang="en-US" altLang="en-US" sz="2400" baseline="-25000" dirty="0">
                <a:latin typeface="Times New Roman" panose="02020603050405020304" pitchFamily="18" charset="0"/>
                <a:cs typeface="Times New Roman" panose="02020603050405020304" pitchFamily="18" charset="0"/>
              </a:rPr>
              <a:t>i, D</a:t>
            </a:r>
            <a:r>
              <a:rPr lang="en-US" altLang="en-US" sz="2400" dirty="0">
                <a:latin typeface="Times New Roman" panose="02020603050405020304" pitchFamily="18" charset="0"/>
                <a:cs typeface="Times New Roman" panose="02020603050405020304" pitchFamily="18" charset="0"/>
              </a:rPr>
              <a:t>| (# of tuples of C</a:t>
            </a:r>
            <a:r>
              <a:rPr lang="en-US" altLang="en-US" sz="2400" baseline="-25000" dirty="0">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in D)</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If A</a:t>
            </a:r>
            <a:r>
              <a:rPr lang="en-US" altLang="en-US" sz="2400" baseline="-25000" dirty="0">
                <a:latin typeface="Times New Roman" panose="02020603050405020304" pitchFamily="18" charset="0"/>
                <a:cs typeface="Times New Roman" panose="02020603050405020304" pitchFamily="18" charset="0"/>
              </a:rPr>
              <a:t>k</a:t>
            </a:r>
            <a:r>
              <a:rPr lang="en-US" altLang="en-US" sz="2400" dirty="0">
                <a:latin typeface="Times New Roman" panose="02020603050405020304" pitchFamily="18" charset="0"/>
                <a:cs typeface="Times New Roman" panose="02020603050405020304" pitchFamily="18" charset="0"/>
              </a:rPr>
              <a:t> is </a:t>
            </a:r>
            <a:r>
              <a:rPr lang="en-US" altLang="en-US" sz="2400" dirty="0" err="1">
                <a:latin typeface="Times New Roman" panose="02020603050405020304" pitchFamily="18" charset="0"/>
                <a:cs typeface="Times New Roman" panose="02020603050405020304" pitchFamily="18" charset="0"/>
              </a:rPr>
              <a:t>continous</a:t>
            </a:r>
            <a:r>
              <a:rPr lang="en-US" altLang="en-US" sz="2400" dirty="0">
                <a:latin typeface="Times New Roman" panose="02020603050405020304" pitchFamily="18" charset="0"/>
                <a:cs typeface="Times New Roman" panose="02020603050405020304" pitchFamily="18" charset="0"/>
              </a:rPr>
              <a:t>-valued, P(</a:t>
            </a:r>
            <a:r>
              <a:rPr lang="en-US" altLang="en-US" sz="2400" dirty="0" err="1">
                <a:latin typeface="Times New Roman" panose="02020603050405020304" pitchFamily="18" charset="0"/>
                <a:cs typeface="Times New Roman" panose="02020603050405020304" pitchFamily="18" charset="0"/>
              </a:rPr>
              <a:t>x</a:t>
            </a:r>
            <a:r>
              <a:rPr lang="en-US" altLang="en-US" sz="2400" baseline="-25000" dirty="0" err="1">
                <a:latin typeface="Times New Roman" panose="02020603050405020304" pitchFamily="18" charset="0"/>
                <a:cs typeface="Times New Roman" panose="02020603050405020304" pitchFamily="18" charset="0"/>
              </a:rPr>
              <a:t>k</a:t>
            </a:r>
            <a:r>
              <a:rPr lang="en-US" altLang="en-US" sz="2400" dirty="0" err="1">
                <a:latin typeface="Times New Roman" panose="02020603050405020304" pitchFamily="18" charset="0"/>
                <a:cs typeface="Times New Roman" panose="02020603050405020304" pitchFamily="18" charset="0"/>
              </a:rPr>
              <a:t>|C</a:t>
            </a:r>
            <a:r>
              <a:rPr lang="en-US" altLang="en-US" sz="2400" baseline="-250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is usually computed based on Gaussian distribution with a mean </a:t>
            </a:r>
            <a:r>
              <a:rPr lang="el-GR" altLang="en-US" sz="2400" dirty="0">
                <a:latin typeface="Times New Roman" panose="02020603050405020304" pitchFamily="18" charset="0"/>
                <a:cs typeface="Times New Roman" panose="02020603050405020304" pitchFamily="18" charset="0"/>
              </a:rPr>
              <a:t>μ</a:t>
            </a:r>
            <a:r>
              <a:rPr lang="en-US" altLang="en-US" sz="2400" dirty="0">
                <a:latin typeface="Times New Roman" panose="02020603050405020304" pitchFamily="18" charset="0"/>
                <a:cs typeface="Times New Roman" panose="02020603050405020304" pitchFamily="18" charset="0"/>
              </a:rPr>
              <a:t> and standard deviation </a:t>
            </a:r>
            <a:r>
              <a:rPr lang="el-GR" altLang="en-US" sz="2400" dirty="0">
                <a:latin typeface="Times New Roman" panose="02020603050405020304" pitchFamily="18" charset="0"/>
                <a:cs typeface="Times New Roman" panose="02020603050405020304" pitchFamily="18" charset="0"/>
              </a:rPr>
              <a:t>σ</a:t>
            </a:r>
          </a:p>
          <a:p>
            <a:pPr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and P(</a:t>
            </a:r>
            <a:r>
              <a:rPr lang="en-US" altLang="en-US" sz="2400" dirty="0" err="1">
                <a:latin typeface="Times New Roman" panose="02020603050405020304" pitchFamily="18" charset="0"/>
                <a:cs typeface="Times New Roman" panose="02020603050405020304" pitchFamily="18" charset="0"/>
              </a:rPr>
              <a:t>x</a:t>
            </a:r>
            <a:r>
              <a:rPr lang="en-US" altLang="en-US" sz="2400" baseline="-25000" dirty="0" err="1">
                <a:latin typeface="Times New Roman" panose="02020603050405020304" pitchFamily="18" charset="0"/>
                <a:cs typeface="Times New Roman" panose="02020603050405020304" pitchFamily="18" charset="0"/>
              </a:rPr>
              <a:t>k</a:t>
            </a:r>
            <a:r>
              <a:rPr lang="en-US" altLang="en-US" sz="2400" dirty="0" err="1">
                <a:latin typeface="Times New Roman" panose="02020603050405020304" pitchFamily="18" charset="0"/>
                <a:cs typeface="Times New Roman" panose="02020603050405020304" pitchFamily="18" charset="0"/>
              </a:rPr>
              <a:t>|C</a:t>
            </a:r>
            <a:r>
              <a:rPr lang="en-US" altLang="en-US" sz="2400" baseline="-250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is </a:t>
            </a:r>
          </a:p>
          <a:p>
            <a:pPr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p:txBody>
      </p:sp>
      <p:graphicFrame>
        <p:nvGraphicFramePr>
          <p:cNvPr id="37893" name="Object 10">
            <a:extLst>
              <a:ext uri="{FF2B5EF4-FFF2-40B4-BE49-F238E27FC236}">
                <a16:creationId xmlns:a16="http://schemas.microsoft.com/office/drawing/2014/main" id="{3700C014-BA4B-C1CB-B1C6-E699C493C719}"/>
              </a:ext>
            </a:extLst>
          </p:cNvPr>
          <p:cNvGraphicFramePr>
            <a:graphicFrameLocks noGrp="1"/>
          </p:cNvGraphicFramePr>
          <p:nvPr>
            <p:ph sz="quarter" idx="2"/>
            <p:extLst>
              <p:ext uri="{D42A27DB-BD31-4B8C-83A1-F6EECF244321}">
                <p14:modId xmlns:p14="http://schemas.microsoft.com/office/powerpoint/2010/main" val="3511661213"/>
              </p:ext>
            </p:extLst>
          </p:nvPr>
        </p:nvGraphicFramePr>
        <p:xfrm>
          <a:off x="2438400" y="1905000"/>
          <a:ext cx="6172200" cy="898525"/>
        </p:xfrm>
        <a:graphic>
          <a:graphicData uri="http://schemas.openxmlformats.org/presentationml/2006/ole">
            <mc:AlternateContent xmlns:mc="http://schemas.openxmlformats.org/markup-compatibility/2006">
              <mc:Choice xmlns:v="urn:schemas-microsoft-com:vml" Requires="v">
                <p:oleObj name="Equation" r:id="rId3" imgW="4089400" imgH="508000" progId="Equation.3">
                  <p:embed/>
                </p:oleObj>
              </mc:Choice>
              <mc:Fallback>
                <p:oleObj name="Equation" r:id="rId3" imgW="4089400" imgH="508000" progId="Equation.3">
                  <p:embed/>
                  <p:pic>
                    <p:nvPicPr>
                      <p:cNvPr id="37893" name="Object 10">
                        <a:extLst>
                          <a:ext uri="{FF2B5EF4-FFF2-40B4-BE49-F238E27FC236}">
                            <a16:creationId xmlns:a16="http://schemas.microsoft.com/office/drawing/2014/main" id="{3700C014-BA4B-C1CB-B1C6-E699C493C719}"/>
                          </a:ext>
                        </a:extLst>
                      </p:cNvPr>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905000"/>
                        <a:ext cx="617220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4" name="Object 12">
            <a:extLst>
              <a:ext uri="{FF2B5EF4-FFF2-40B4-BE49-F238E27FC236}">
                <a16:creationId xmlns:a16="http://schemas.microsoft.com/office/drawing/2014/main" id="{4BE403C0-604A-90C6-91E3-02B80A29E3B6}"/>
              </a:ext>
            </a:extLst>
          </p:cNvPr>
          <p:cNvGraphicFramePr>
            <a:graphicFrameLocks noGrp="1"/>
          </p:cNvGraphicFramePr>
          <p:nvPr>
            <p:ph sz="quarter" idx="3"/>
            <p:extLst>
              <p:ext uri="{D42A27DB-BD31-4B8C-83A1-F6EECF244321}">
                <p14:modId xmlns:p14="http://schemas.microsoft.com/office/powerpoint/2010/main" val="2642538792"/>
              </p:ext>
            </p:extLst>
          </p:nvPr>
        </p:nvGraphicFramePr>
        <p:xfrm>
          <a:off x="4191000" y="4953000"/>
          <a:ext cx="3276600" cy="838200"/>
        </p:xfrm>
        <a:graphic>
          <a:graphicData uri="http://schemas.openxmlformats.org/presentationml/2006/ole">
            <mc:AlternateContent xmlns:mc="http://schemas.openxmlformats.org/markup-compatibility/2006">
              <mc:Choice xmlns:v="urn:schemas-microsoft-com:vml" Requires="v">
                <p:oleObj name="Equation" r:id="rId5" imgW="1663700" imgH="482600" progId="Equation.3">
                  <p:embed/>
                </p:oleObj>
              </mc:Choice>
              <mc:Fallback>
                <p:oleObj name="Equation" r:id="rId5" imgW="1663700" imgH="482600" progId="Equation.3">
                  <p:embed/>
                  <p:pic>
                    <p:nvPicPr>
                      <p:cNvPr id="37894" name="Object 12">
                        <a:extLst>
                          <a:ext uri="{FF2B5EF4-FFF2-40B4-BE49-F238E27FC236}">
                            <a16:creationId xmlns:a16="http://schemas.microsoft.com/office/drawing/2014/main" id="{4BE403C0-604A-90C6-91E3-02B80A29E3B6}"/>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4953000"/>
                        <a:ext cx="3276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5" name="Object 14">
            <a:extLst>
              <a:ext uri="{FF2B5EF4-FFF2-40B4-BE49-F238E27FC236}">
                <a16:creationId xmlns:a16="http://schemas.microsoft.com/office/drawing/2014/main" id="{D144B266-C333-46B0-0500-8EACF5D95AA2}"/>
              </a:ext>
            </a:extLst>
          </p:cNvPr>
          <p:cNvGraphicFramePr>
            <a:graphicFrameLocks/>
          </p:cNvGraphicFramePr>
          <p:nvPr>
            <p:extLst>
              <p:ext uri="{D42A27DB-BD31-4B8C-83A1-F6EECF244321}">
                <p14:modId xmlns:p14="http://schemas.microsoft.com/office/powerpoint/2010/main" val="4123316471"/>
              </p:ext>
            </p:extLst>
          </p:nvPr>
        </p:nvGraphicFramePr>
        <p:xfrm>
          <a:off x="4191000" y="5943600"/>
          <a:ext cx="2819400" cy="533400"/>
        </p:xfrm>
        <a:graphic>
          <a:graphicData uri="http://schemas.openxmlformats.org/presentationml/2006/ole">
            <mc:AlternateContent xmlns:mc="http://schemas.openxmlformats.org/markup-compatibility/2006">
              <mc:Choice xmlns:v="urn:schemas-microsoft-com:vml" Requires="v">
                <p:oleObj name="Equation" r:id="rId7" imgW="1625600" imgH="241300" progId="Equation.3">
                  <p:embed/>
                </p:oleObj>
              </mc:Choice>
              <mc:Fallback>
                <p:oleObj name="Equation" r:id="rId7" imgW="1625600" imgH="241300" progId="Equation.3">
                  <p:embed/>
                  <p:pic>
                    <p:nvPicPr>
                      <p:cNvPr id="37895" name="Object 14">
                        <a:extLst>
                          <a:ext uri="{FF2B5EF4-FFF2-40B4-BE49-F238E27FC236}">
                            <a16:creationId xmlns:a16="http://schemas.microsoft.com/office/drawing/2014/main" id="{D144B266-C333-46B0-0500-8EACF5D95AA2}"/>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5943600"/>
                        <a:ext cx="2819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A230CF2C-6064-61EC-5CAC-055F7E4DA57D}"/>
              </a:ext>
            </a:extLst>
          </p:cNvPr>
          <p:cNvGraphicFramePr>
            <a:graphicFrameLocks/>
          </p:cNvGraphicFramePr>
          <p:nvPr>
            <p:extLst>
              <p:ext uri="{D42A27DB-BD31-4B8C-83A1-F6EECF244321}">
                <p14:modId xmlns:p14="http://schemas.microsoft.com/office/powerpoint/2010/main" val="2365739256"/>
              </p:ext>
            </p:extLst>
          </p:nvPr>
        </p:nvGraphicFramePr>
        <p:xfrm>
          <a:off x="1066800" y="457200"/>
          <a:ext cx="7853363" cy="6096000"/>
        </p:xfrm>
        <a:graphic>
          <a:graphicData uri="http://schemas.openxmlformats.org/presentationml/2006/ole">
            <mc:AlternateContent xmlns:mc="http://schemas.openxmlformats.org/markup-compatibility/2006">
              <mc:Choice xmlns:v="urn:schemas-microsoft-com:vml" Requires="v">
                <p:oleObj name="Worksheet" r:id="rId2" imgW="4324438" imgH="4457652" progId="Excel.Sheet.8">
                  <p:embed/>
                </p:oleObj>
              </mc:Choice>
              <mc:Fallback>
                <p:oleObj name="Worksheet" r:id="rId2" imgW="4324438" imgH="4457652" progId="Excel.Sheet.8">
                  <p:embed/>
                  <p:pic>
                    <p:nvPicPr>
                      <p:cNvPr id="38917" name="Object 5">
                        <a:extLst>
                          <a:ext uri="{FF2B5EF4-FFF2-40B4-BE49-F238E27FC236}">
                            <a16:creationId xmlns:a16="http://schemas.microsoft.com/office/drawing/2014/main" id="{92D8A4F3-53C2-BC31-56AF-30AC170E314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57200"/>
                        <a:ext cx="7853363" cy="6096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788377351"/>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B1E33778-DFBA-12F8-50F7-8686668224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34BB69A4-3C55-4317-8E74-223F61D80C0C}" type="slidenum">
              <a:rPr lang="en-US" altLang="en-US">
                <a:latin typeface="Times New Roman" panose="02020603050405020304" pitchFamily="18" charset="0"/>
                <a:cs typeface="Times New Roman" panose="02020603050405020304" pitchFamily="18" charset="0"/>
              </a:rPr>
              <a:pPr eaLnBrk="1" hangingPunct="1"/>
              <a:t>22</a:t>
            </a:fld>
            <a:endParaRPr lang="en-US" altLang="en-US">
              <a:latin typeface="Times New Roman" panose="02020603050405020304" pitchFamily="18" charset="0"/>
              <a:cs typeface="Times New Roman" panose="02020603050405020304" pitchFamily="18" charset="0"/>
            </a:endParaRPr>
          </a:p>
        </p:txBody>
      </p:sp>
      <p:sp>
        <p:nvSpPr>
          <p:cNvPr id="38915" name="Rectangle 2">
            <a:extLst>
              <a:ext uri="{FF2B5EF4-FFF2-40B4-BE49-F238E27FC236}">
                <a16:creationId xmlns:a16="http://schemas.microsoft.com/office/drawing/2014/main" id="{AD6C2E5B-9C75-7A36-03B2-CFD8DA57E201}"/>
              </a:ext>
            </a:extLst>
          </p:cNvPr>
          <p:cNvSpPr>
            <a:spLocks noGrp="1" noChangeArrowheads="1"/>
          </p:cNvSpPr>
          <p:nvPr>
            <p:ph type="title"/>
          </p:nvPr>
        </p:nvSpPr>
        <p:spPr>
          <a:xfrm>
            <a:off x="0" y="304800"/>
            <a:ext cx="9144000" cy="609600"/>
          </a:xfrm>
        </p:spPr>
        <p:txBody>
          <a:bodyPr>
            <a:normAutofit fontScale="90000"/>
          </a:bodyPr>
          <a:lstStyle/>
          <a:p>
            <a:pPr eaLnBrk="1" hangingPunct="1"/>
            <a:r>
              <a:rPr lang="en-US" altLang="en-US">
                <a:latin typeface="Times New Roman" panose="02020603050405020304" pitchFamily="18" charset="0"/>
                <a:cs typeface="Times New Roman" panose="02020603050405020304" pitchFamily="18" charset="0"/>
              </a:rPr>
              <a:t>Naïve Bayes Classifier: Training Dataset</a:t>
            </a:r>
          </a:p>
        </p:txBody>
      </p:sp>
      <p:sp>
        <p:nvSpPr>
          <p:cNvPr id="38916" name="Text Box 4">
            <a:extLst>
              <a:ext uri="{FF2B5EF4-FFF2-40B4-BE49-F238E27FC236}">
                <a16:creationId xmlns:a16="http://schemas.microsoft.com/office/drawing/2014/main" id="{89521B82-DC35-FDC5-9AB3-CA1F46535009}"/>
              </a:ext>
            </a:extLst>
          </p:cNvPr>
          <p:cNvSpPr txBox="1">
            <a:spLocks noChangeArrowheads="1"/>
          </p:cNvSpPr>
          <p:nvPr/>
        </p:nvSpPr>
        <p:spPr bwMode="auto">
          <a:xfrm>
            <a:off x="152400" y="1828800"/>
            <a:ext cx="3429000" cy="412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110000"/>
              </a:lnSpc>
            </a:pPr>
            <a:r>
              <a:rPr lang="en-US" altLang="en-US" sz="2400">
                <a:latin typeface="Times New Roman" panose="02020603050405020304" pitchFamily="18" charset="0"/>
                <a:cs typeface="Times New Roman" panose="02020603050405020304" pitchFamily="18" charset="0"/>
              </a:rPr>
              <a:t>Class:</a:t>
            </a:r>
          </a:p>
          <a:p>
            <a:pPr eaLnBrk="1" hangingPunct="1">
              <a:lnSpc>
                <a:spcPct val="110000"/>
              </a:lnSpc>
            </a:pPr>
            <a:r>
              <a:rPr lang="en-US" altLang="en-US" sz="2400">
                <a:latin typeface="Times New Roman" panose="02020603050405020304" pitchFamily="18" charset="0"/>
                <a:cs typeface="Times New Roman" panose="02020603050405020304" pitchFamily="18" charset="0"/>
              </a:rPr>
              <a:t>C1:buys_computer = ‘yes’</a:t>
            </a:r>
          </a:p>
          <a:p>
            <a:pPr eaLnBrk="1" hangingPunct="1">
              <a:lnSpc>
                <a:spcPct val="110000"/>
              </a:lnSpc>
            </a:pPr>
            <a:r>
              <a:rPr lang="en-US" altLang="en-US" sz="2400">
                <a:latin typeface="Times New Roman" panose="02020603050405020304" pitchFamily="18" charset="0"/>
                <a:cs typeface="Times New Roman" panose="02020603050405020304" pitchFamily="18" charset="0"/>
              </a:rPr>
              <a:t>C2:buys_computer = ‘no’</a:t>
            </a:r>
          </a:p>
          <a:p>
            <a:pPr eaLnBrk="1" hangingPunct="1">
              <a:lnSpc>
                <a:spcPct val="110000"/>
              </a:lnSpc>
            </a:pPr>
            <a:endParaRPr lang="en-US" altLang="en-US" sz="2400">
              <a:latin typeface="Times New Roman" panose="02020603050405020304" pitchFamily="18" charset="0"/>
              <a:cs typeface="Times New Roman" panose="02020603050405020304" pitchFamily="18" charset="0"/>
            </a:endParaRPr>
          </a:p>
          <a:p>
            <a:pPr eaLnBrk="1" hangingPunct="1">
              <a:lnSpc>
                <a:spcPct val="110000"/>
              </a:lnSpc>
            </a:pPr>
            <a:r>
              <a:rPr lang="en-US" altLang="en-US" sz="2400">
                <a:latin typeface="Times New Roman" panose="02020603050405020304" pitchFamily="18" charset="0"/>
                <a:cs typeface="Times New Roman" panose="02020603050405020304" pitchFamily="18" charset="0"/>
              </a:rPr>
              <a:t>Data to be classified: </a:t>
            </a:r>
          </a:p>
          <a:p>
            <a:pPr eaLnBrk="1" hangingPunct="1">
              <a:lnSpc>
                <a:spcPct val="110000"/>
              </a:lnSpc>
            </a:pPr>
            <a:r>
              <a:rPr lang="en-US" altLang="en-US" sz="2400">
                <a:latin typeface="Times New Roman" panose="02020603050405020304" pitchFamily="18" charset="0"/>
                <a:cs typeface="Times New Roman" panose="02020603050405020304" pitchFamily="18" charset="0"/>
              </a:rPr>
              <a:t>X = (age &lt;=30, </a:t>
            </a:r>
          </a:p>
          <a:p>
            <a:pPr eaLnBrk="1" hangingPunct="1">
              <a:lnSpc>
                <a:spcPct val="110000"/>
              </a:lnSpc>
            </a:pPr>
            <a:r>
              <a:rPr lang="en-US" altLang="en-US" sz="2400">
                <a:latin typeface="Times New Roman" panose="02020603050405020304" pitchFamily="18" charset="0"/>
                <a:cs typeface="Times New Roman" panose="02020603050405020304" pitchFamily="18" charset="0"/>
              </a:rPr>
              <a:t>Income = medium,</a:t>
            </a:r>
          </a:p>
          <a:p>
            <a:pPr eaLnBrk="1" hangingPunct="1">
              <a:lnSpc>
                <a:spcPct val="110000"/>
              </a:lnSpc>
            </a:pPr>
            <a:r>
              <a:rPr lang="en-US" altLang="en-US" sz="2400">
                <a:latin typeface="Times New Roman" panose="02020603050405020304" pitchFamily="18" charset="0"/>
                <a:cs typeface="Times New Roman" panose="02020603050405020304" pitchFamily="18" charset="0"/>
              </a:rPr>
              <a:t>Student = yes</a:t>
            </a:r>
          </a:p>
          <a:p>
            <a:pPr eaLnBrk="1" hangingPunct="1">
              <a:lnSpc>
                <a:spcPct val="110000"/>
              </a:lnSpc>
            </a:pPr>
            <a:r>
              <a:rPr lang="en-US" altLang="en-US" sz="2400">
                <a:latin typeface="Times New Roman" panose="02020603050405020304" pitchFamily="18" charset="0"/>
                <a:cs typeface="Times New Roman" panose="02020603050405020304" pitchFamily="18" charset="0"/>
              </a:rPr>
              <a:t>Credit_rating = Fair)</a:t>
            </a:r>
          </a:p>
        </p:txBody>
      </p:sp>
      <p:graphicFrame>
        <p:nvGraphicFramePr>
          <p:cNvPr id="38917" name="Object 5">
            <a:extLst>
              <a:ext uri="{FF2B5EF4-FFF2-40B4-BE49-F238E27FC236}">
                <a16:creationId xmlns:a16="http://schemas.microsoft.com/office/drawing/2014/main" id="{92D8A4F3-53C2-BC31-56AF-30AC170E3144}"/>
              </a:ext>
            </a:extLst>
          </p:cNvPr>
          <p:cNvGraphicFramePr>
            <a:graphicFrameLocks noGrp="1"/>
          </p:cNvGraphicFramePr>
          <p:nvPr>
            <p:ph idx="1"/>
            <p:extLst>
              <p:ext uri="{D42A27DB-BD31-4B8C-83A1-F6EECF244321}">
                <p14:modId xmlns:p14="http://schemas.microsoft.com/office/powerpoint/2010/main" val="4274556341"/>
              </p:ext>
            </p:extLst>
          </p:nvPr>
        </p:nvGraphicFramePr>
        <p:xfrm>
          <a:off x="3581400" y="1295400"/>
          <a:ext cx="5338763" cy="5257800"/>
        </p:xfrm>
        <a:graphic>
          <a:graphicData uri="http://schemas.openxmlformats.org/presentationml/2006/ole">
            <mc:AlternateContent xmlns:mc="http://schemas.openxmlformats.org/markup-compatibility/2006">
              <mc:Choice xmlns:v="urn:schemas-microsoft-com:vml" Requires="v">
                <p:oleObj name="Worksheet" r:id="rId3" imgW="4324438" imgH="4457652" progId="Excel.Sheet.8">
                  <p:embed/>
                </p:oleObj>
              </mc:Choice>
              <mc:Fallback>
                <p:oleObj name="Worksheet" r:id="rId3" imgW="4324438" imgH="4457652" progId="Excel.Sheet.8">
                  <p:embed/>
                  <p:pic>
                    <p:nvPicPr>
                      <p:cNvPr id="38917" name="Object 5">
                        <a:extLst>
                          <a:ext uri="{FF2B5EF4-FFF2-40B4-BE49-F238E27FC236}">
                            <a16:creationId xmlns:a16="http://schemas.microsoft.com/office/drawing/2014/main" id="{92D8A4F3-53C2-BC31-56AF-30AC170E314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1295400"/>
                        <a:ext cx="5338763" cy="5257800"/>
                      </a:xfrm>
                      <a:prstGeom prst="rect">
                        <a:avLst/>
                      </a:prstGeom>
                      <a:noFill/>
                      <a:ln>
                        <a:noFill/>
                      </a:ln>
                      <a:effec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AD2BE-DD87-DE6C-9786-BD09D0B9C29B}"/>
            </a:ext>
          </a:extLst>
        </p:cNvPr>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1E41B2AA-1713-E43B-EDF2-D629451F81A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F29E08A-2B3E-4F0C-A6C4-E96B23C4B2B3}" type="slidenum">
              <a:rPr lang="en-US" altLang="en-US"/>
              <a:pPr eaLnBrk="1" hangingPunct="1"/>
              <a:t>23</a:t>
            </a:fld>
            <a:endParaRPr lang="en-US" altLang="en-US"/>
          </a:p>
        </p:txBody>
      </p:sp>
      <p:sp>
        <p:nvSpPr>
          <p:cNvPr id="39939" name="Rectangle 2">
            <a:extLst>
              <a:ext uri="{FF2B5EF4-FFF2-40B4-BE49-F238E27FC236}">
                <a16:creationId xmlns:a16="http://schemas.microsoft.com/office/drawing/2014/main" id="{45B33520-EAD1-0A58-1FD5-B941AC9D7AB5}"/>
              </a:ext>
            </a:extLst>
          </p:cNvPr>
          <p:cNvSpPr>
            <a:spLocks noGrp="1" noChangeArrowheads="1"/>
          </p:cNvSpPr>
          <p:nvPr>
            <p:ph type="title"/>
          </p:nvPr>
        </p:nvSpPr>
        <p:spPr>
          <a:xfrm>
            <a:off x="76200" y="152400"/>
            <a:ext cx="9067800" cy="609600"/>
          </a:xfrm>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Naïve Bayes Classifier: An Example</a:t>
            </a:r>
          </a:p>
        </p:txBody>
      </p:sp>
      <p:sp>
        <p:nvSpPr>
          <p:cNvPr id="39940" name="Rectangle 3">
            <a:extLst>
              <a:ext uri="{FF2B5EF4-FFF2-40B4-BE49-F238E27FC236}">
                <a16:creationId xmlns:a16="http://schemas.microsoft.com/office/drawing/2014/main" id="{C90324A1-FA13-5838-25C3-7956AC367092}"/>
              </a:ext>
            </a:extLst>
          </p:cNvPr>
          <p:cNvSpPr>
            <a:spLocks noGrp="1" noChangeArrowheads="1"/>
          </p:cNvSpPr>
          <p:nvPr>
            <p:ph type="body" idx="1"/>
          </p:nvPr>
        </p:nvSpPr>
        <p:spPr>
          <a:xfrm>
            <a:off x="57457" y="993288"/>
            <a:ext cx="5772150" cy="5112544"/>
          </a:xfrm>
        </p:spPr>
        <p:txBody>
          <a:bodyPr>
            <a:normAutofit/>
          </a:bodyPr>
          <a:lstStyle/>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P(C</a:t>
            </a:r>
            <a:r>
              <a:rPr lang="en-US" altLang="en-US" sz="1800" baseline="-25000" dirty="0">
                <a:latin typeface="Times New Roman" panose="02020603050405020304" pitchFamily="18" charset="0"/>
                <a:cs typeface="Times New Roman" panose="02020603050405020304" pitchFamily="18" charset="0"/>
              </a:rPr>
              <a:t>i</a:t>
            </a:r>
            <a:r>
              <a:rPr lang="en-US" altLang="en-US" sz="1800" dirty="0">
                <a:latin typeface="Times New Roman" panose="02020603050405020304" pitchFamily="18" charset="0"/>
                <a:cs typeface="Times New Roman" panose="02020603050405020304" pitchFamily="18" charset="0"/>
              </a:rPr>
              <a:t>):    P(</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“yes”)  = 9/14 = 0.643</a:t>
            </a:r>
          </a:p>
          <a:p>
            <a:pPr marL="109728" indent="0">
              <a:lnSpc>
                <a:spcPct val="90000"/>
              </a:lnSpc>
              <a:buNone/>
            </a:pPr>
            <a:r>
              <a:rPr lang="en-US" altLang="en-US" sz="1800" dirty="0">
                <a:latin typeface="Times New Roman" panose="02020603050405020304" pitchFamily="18" charset="0"/>
                <a:cs typeface="Times New Roman" panose="02020603050405020304" pitchFamily="18" charset="0"/>
              </a:rPr>
              <a:t>                   P(</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“no”) = 5/14= 0.357</a:t>
            </a:r>
          </a:p>
          <a:p>
            <a:pPr marL="109728" indent="0">
              <a:lnSpc>
                <a:spcPct val="90000"/>
              </a:lnSpc>
              <a:buNone/>
            </a:pPr>
            <a:endParaRPr lang="en-US" altLang="en-US" sz="1800" dirty="0">
              <a:latin typeface="Times New Roman" panose="02020603050405020304" pitchFamily="18" charset="0"/>
              <a:cs typeface="Times New Roman" panose="02020603050405020304" pitchFamily="18" charset="0"/>
            </a:endParaRP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Compute P(</a:t>
            </a:r>
            <a:r>
              <a:rPr lang="en-US" altLang="en-US" sz="1800" dirty="0" err="1">
                <a:latin typeface="Times New Roman" panose="02020603050405020304" pitchFamily="18" charset="0"/>
                <a:cs typeface="Times New Roman" panose="02020603050405020304" pitchFamily="18" charset="0"/>
              </a:rPr>
              <a:t>X|C</a:t>
            </a:r>
            <a:r>
              <a:rPr lang="en-US" altLang="en-US" sz="1800" baseline="-25000" dirty="0" err="1">
                <a:latin typeface="Times New Roman" panose="02020603050405020304" pitchFamily="18" charset="0"/>
                <a:cs typeface="Times New Roman" panose="02020603050405020304" pitchFamily="18" charset="0"/>
              </a:rPr>
              <a:t>i</a:t>
            </a:r>
            <a:r>
              <a:rPr lang="en-US" altLang="en-US" sz="1800" dirty="0">
                <a:latin typeface="Times New Roman" panose="02020603050405020304" pitchFamily="18" charset="0"/>
                <a:cs typeface="Times New Roman" panose="02020603050405020304" pitchFamily="18" charset="0"/>
              </a:rPr>
              <a:t>) for each class</a:t>
            </a:r>
          </a:p>
          <a:p>
            <a:pPr marL="109728" indent="0" eaLnBrk="1" hangingPunct="1">
              <a:lnSpc>
                <a:spcPct val="90000"/>
              </a:lnSpc>
              <a:buNone/>
            </a:pPr>
            <a:endParaRPr lang="en-US" altLang="en-US" sz="1800" dirty="0">
              <a:latin typeface="Times New Roman" panose="02020603050405020304" pitchFamily="18" charset="0"/>
              <a:cs typeface="Times New Roman" panose="02020603050405020304" pitchFamily="18" charset="0"/>
            </a:endParaRP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P(age = “&lt;=30”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“yes”)  = 2/9 = 0.222</a:t>
            </a: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P(age = “&lt;= 30”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“no”) = 3/5 = 0.6</a:t>
            </a: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P(income = “medium”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“yes”) = 4/9 = 0.444</a:t>
            </a: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P(income = “medium”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“no”) = 2/5 = 0.4</a:t>
            </a: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P(student = “yes”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“yes) = 6/9 = 0.667</a:t>
            </a: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 P(student = “yes”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“no”) = 1/5 = 0.2</a:t>
            </a: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a:t>
            </a:r>
            <a:r>
              <a:rPr lang="en-US" altLang="en-US" sz="1800" dirty="0" err="1">
                <a:latin typeface="Times New Roman" panose="02020603050405020304" pitchFamily="18" charset="0"/>
                <a:cs typeface="Times New Roman" panose="02020603050405020304" pitchFamily="18" charset="0"/>
              </a:rPr>
              <a:t>credit_rating</a:t>
            </a:r>
            <a:r>
              <a:rPr lang="en-US" altLang="en-US" sz="1800" dirty="0">
                <a:latin typeface="Times New Roman" panose="02020603050405020304" pitchFamily="18" charset="0"/>
                <a:cs typeface="Times New Roman" panose="02020603050405020304" pitchFamily="18" charset="0"/>
              </a:rPr>
              <a:t> = “fair”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“yes”) = 6/9 = 0.667</a:t>
            </a:r>
          </a:p>
          <a:p>
            <a:pPr marL="109728" indent="0" eaLnBrk="1" hangingPunct="1">
              <a:lnSpc>
                <a:spcPct val="90000"/>
              </a:lnSpc>
              <a:buNone/>
            </a:pPr>
            <a:r>
              <a:rPr lang="en-US" altLang="en-US" sz="1800" dirty="0">
                <a:latin typeface="Times New Roman" panose="02020603050405020304" pitchFamily="18" charset="0"/>
                <a:cs typeface="Times New Roman" panose="02020603050405020304" pitchFamily="18" charset="0"/>
              </a:rPr>
              <a:t>P(</a:t>
            </a:r>
            <a:r>
              <a:rPr lang="en-US" altLang="en-US" sz="1800" dirty="0" err="1">
                <a:latin typeface="Times New Roman" panose="02020603050405020304" pitchFamily="18" charset="0"/>
                <a:cs typeface="Times New Roman" panose="02020603050405020304" pitchFamily="18" charset="0"/>
              </a:rPr>
              <a:t>credit_rating</a:t>
            </a:r>
            <a:r>
              <a:rPr lang="en-US" altLang="en-US" sz="1800" dirty="0">
                <a:latin typeface="Times New Roman" panose="02020603050405020304" pitchFamily="18" charset="0"/>
                <a:cs typeface="Times New Roman" panose="02020603050405020304" pitchFamily="18" charset="0"/>
              </a:rPr>
              <a:t> = “fair” | </a:t>
            </a:r>
            <a:r>
              <a:rPr lang="en-US" altLang="en-US" sz="1800" dirty="0" err="1">
                <a:latin typeface="Times New Roman" panose="02020603050405020304" pitchFamily="18" charset="0"/>
                <a:cs typeface="Times New Roman" panose="02020603050405020304" pitchFamily="18" charset="0"/>
              </a:rPr>
              <a:t>buys_computer</a:t>
            </a:r>
            <a:r>
              <a:rPr lang="en-US" altLang="en-US" sz="1800" dirty="0">
                <a:latin typeface="Times New Roman" panose="02020603050405020304" pitchFamily="18" charset="0"/>
                <a:cs typeface="Times New Roman" panose="02020603050405020304" pitchFamily="18" charset="0"/>
              </a:rPr>
              <a:t> = “no”) = 2/5 = 0.4</a:t>
            </a:r>
            <a:r>
              <a:rPr lang="en-US" altLang="en-US" sz="1800" b="1" dirty="0">
                <a:latin typeface="Times New Roman" panose="02020603050405020304" pitchFamily="18" charset="0"/>
                <a:cs typeface="Times New Roman" panose="02020603050405020304" pitchFamily="18" charset="0"/>
              </a:rPr>
              <a:t>	</a:t>
            </a:r>
          </a:p>
        </p:txBody>
      </p:sp>
      <p:graphicFrame>
        <p:nvGraphicFramePr>
          <p:cNvPr id="39941" name="Object 1">
            <a:extLst>
              <a:ext uri="{FF2B5EF4-FFF2-40B4-BE49-F238E27FC236}">
                <a16:creationId xmlns:a16="http://schemas.microsoft.com/office/drawing/2014/main" id="{EBD7B8EC-4CF2-5E69-DF63-6C0AC0DE9046}"/>
              </a:ext>
            </a:extLst>
          </p:cNvPr>
          <p:cNvGraphicFramePr>
            <a:graphicFrameLocks/>
          </p:cNvGraphicFramePr>
          <p:nvPr/>
        </p:nvGraphicFramePr>
        <p:xfrm>
          <a:off x="5791200" y="762000"/>
          <a:ext cx="3333750" cy="3886200"/>
        </p:xfrm>
        <a:graphic>
          <a:graphicData uri="http://schemas.openxmlformats.org/presentationml/2006/ole">
            <mc:AlternateContent xmlns:mc="http://schemas.openxmlformats.org/markup-compatibility/2006">
              <mc:Choice xmlns:v="urn:schemas-microsoft-com:vml" Requires="v">
                <p:oleObj name="Worksheet" r:id="rId3" imgW="4324438" imgH="4457652" progId="Excel.Sheet.8">
                  <p:embed/>
                </p:oleObj>
              </mc:Choice>
              <mc:Fallback>
                <p:oleObj name="Worksheet" r:id="rId3" imgW="4324438" imgH="4457652" progId="Excel.Sheet.8">
                  <p:embed/>
                  <p:pic>
                    <p:nvPicPr>
                      <p:cNvPr id="39941" name="Object 1">
                        <a:extLst>
                          <a:ext uri="{FF2B5EF4-FFF2-40B4-BE49-F238E27FC236}">
                            <a16:creationId xmlns:a16="http://schemas.microsoft.com/office/drawing/2014/main" id="{EBD7B8EC-4CF2-5E69-DF63-6C0AC0DE904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762000"/>
                        <a:ext cx="3333750" cy="38862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425555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69A2A2D3-FB18-E08F-0A67-E0576335EB0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F29E08A-2B3E-4F0C-A6C4-E96B23C4B2B3}" type="slidenum">
              <a:rPr lang="en-US" altLang="en-US"/>
              <a:pPr eaLnBrk="1" hangingPunct="1"/>
              <a:t>24</a:t>
            </a:fld>
            <a:endParaRPr lang="en-US" altLang="en-US"/>
          </a:p>
        </p:txBody>
      </p:sp>
      <p:sp>
        <p:nvSpPr>
          <p:cNvPr id="39939" name="Rectangle 2">
            <a:extLst>
              <a:ext uri="{FF2B5EF4-FFF2-40B4-BE49-F238E27FC236}">
                <a16:creationId xmlns:a16="http://schemas.microsoft.com/office/drawing/2014/main" id="{6A15D96F-55B6-7515-666F-D678657C7846}"/>
              </a:ext>
            </a:extLst>
          </p:cNvPr>
          <p:cNvSpPr>
            <a:spLocks noGrp="1" noChangeArrowheads="1"/>
          </p:cNvSpPr>
          <p:nvPr>
            <p:ph type="title"/>
          </p:nvPr>
        </p:nvSpPr>
        <p:spPr>
          <a:xfrm>
            <a:off x="76200" y="152400"/>
            <a:ext cx="9067800" cy="609600"/>
          </a:xfrm>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Naïve Bayes Classifier: An Example</a:t>
            </a:r>
          </a:p>
        </p:txBody>
      </p:sp>
      <p:sp>
        <p:nvSpPr>
          <p:cNvPr id="39940" name="Rectangle 3">
            <a:extLst>
              <a:ext uri="{FF2B5EF4-FFF2-40B4-BE49-F238E27FC236}">
                <a16:creationId xmlns:a16="http://schemas.microsoft.com/office/drawing/2014/main" id="{453175C4-2966-9D5E-9378-8DA0FA792B81}"/>
              </a:ext>
            </a:extLst>
          </p:cNvPr>
          <p:cNvSpPr>
            <a:spLocks noGrp="1" noChangeArrowheads="1"/>
          </p:cNvSpPr>
          <p:nvPr>
            <p:ph type="body" idx="1"/>
          </p:nvPr>
        </p:nvSpPr>
        <p:spPr>
          <a:xfrm>
            <a:off x="228600" y="1152525"/>
            <a:ext cx="8686800" cy="5715000"/>
          </a:xfrm>
        </p:spPr>
        <p:txBody>
          <a:bodyPr>
            <a:normAutofit lnSpcReduction="10000"/>
          </a:bodyPr>
          <a:lstStyle/>
          <a:p>
            <a:pPr eaLnBrk="1" hangingPunct="1">
              <a:lnSpc>
                <a:spcPct val="90000"/>
              </a:lnSpc>
            </a:pPr>
            <a:r>
              <a:rPr lang="en-US" altLang="en-US" sz="2000" dirty="0">
                <a:latin typeface="Times New Roman" panose="02020603050405020304" pitchFamily="18" charset="0"/>
                <a:cs typeface="Times New Roman" panose="02020603050405020304" pitchFamily="18" charset="0"/>
              </a:rPr>
              <a:t>P(C</a:t>
            </a:r>
            <a:r>
              <a:rPr lang="en-US" altLang="en-US" sz="2000" baseline="-25000" dirty="0">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    P(</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“yes”)  = 9/14 = 0.643</a:t>
            </a:r>
          </a:p>
          <a:p>
            <a:pPr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“no”) = 5/14= 0.357</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Compute P(</a:t>
            </a:r>
            <a:r>
              <a:rPr lang="en-US" altLang="en-US" sz="2000" dirty="0" err="1">
                <a:latin typeface="Times New Roman" panose="02020603050405020304" pitchFamily="18" charset="0"/>
                <a:cs typeface="Times New Roman" panose="02020603050405020304" pitchFamily="18" charset="0"/>
              </a:rPr>
              <a:t>X|C</a:t>
            </a:r>
            <a:r>
              <a:rPr lang="en-US" altLang="en-US" sz="2000" baseline="-25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 for each class</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P(age = “&lt;=30”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“yes”)  = 2/9 = 0.222</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P(age = “&lt;= 30”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“no”) = 3/5 = 0.6</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P(income = “medium”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“yes”) = 4/9 = 0.444</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P(income = “medium”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“no”) = 2/5 = 0.4</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P(student = “yes”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“yes) = 6/9 = 0.667</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P(student = “yes”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“no”) = 1/5 = 0.2</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a:t>
            </a:r>
            <a:r>
              <a:rPr lang="en-US" altLang="en-US" sz="2000" dirty="0" err="1">
                <a:latin typeface="Times New Roman" panose="02020603050405020304" pitchFamily="18" charset="0"/>
                <a:cs typeface="Times New Roman" panose="02020603050405020304" pitchFamily="18" charset="0"/>
              </a:rPr>
              <a:t>credit_rating</a:t>
            </a:r>
            <a:r>
              <a:rPr lang="en-US" altLang="en-US" sz="2000" dirty="0">
                <a:latin typeface="Times New Roman" panose="02020603050405020304" pitchFamily="18" charset="0"/>
                <a:cs typeface="Times New Roman" panose="02020603050405020304" pitchFamily="18" charset="0"/>
              </a:rPr>
              <a:t> = “fair”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“yes”) = 6/9 = 0.667</a:t>
            </a:r>
          </a:p>
          <a:p>
            <a:pPr lvl="1"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a:t>
            </a:r>
            <a:r>
              <a:rPr lang="en-US" altLang="en-US" sz="2000" dirty="0" err="1">
                <a:latin typeface="Times New Roman" panose="02020603050405020304" pitchFamily="18" charset="0"/>
                <a:cs typeface="Times New Roman" panose="02020603050405020304" pitchFamily="18" charset="0"/>
              </a:rPr>
              <a:t>credit_rating</a:t>
            </a:r>
            <a:r>
              <a:rPr lang="en-US" altLang="en-US" sz="2000" dirty="0">
                <a:latin typeface="Times New Roman" panose="02020603050405020304" pitchFamily="18" charset="0"/>
                <a:cs typeface="Times New Roman" panose="02020603050405020304" pitchFamily="18" charset="0"/>
              </a:rPr>
              <a:t> = “fair” | </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“no”) = 2/5 = 0.4</a:t>
            </a:r>
          </a:p>
          <a:p>
            <a:pPr eaLnBrk="1" hangingPunct="1">
              <a:lnSpc>
                <a:spcPct val="90000"/>
              </a:lnSpc>
            </a:pPr>
            <a:r>
              <a:rPr lang="en-US" altLang="en-US" sz="2000" b="1" dirty="0">
                <a:latin typeface="Times New Roman" panose="02020603050405020304" pitchFamily="18" charset="0"/>
                <a:cs typeface="Times New Roman" panose="02020603050405020304" pitchFamily="18" charset="0"/>
              </a:rPr>
              <a:t> X = (age &lt;= 30 , income = medium, student = yes, </a:t>
            </a:r>
            <a:r>
              <a:rPr lang="en-US" altLang="en-US" sz="2000" b="1" dirty="0" err="1">
                <a:latin typeface="Times New Roman" panose="02020603050405020304" pitchFamily="18" charset="0"/>
                <a:cs typeface="Times New Roman" panose="02020603050405020304" pitchFamily="18" charset="0"/>
              </a:rPr>
              <a:t>credit_rating</a:t>
            </a:r>
            <a:r>
              <a:rPr lang="en-US" altLang="en-US" sz="2000" b="1" dirty="0">
                <a:latin typeface="Times New Roman" panose="02020603050405020304" pitchFamily="18" charset="0"/>
                <a:cs typeface="Times New Roman" panose="02020603050405020304" pitchFamily="18" charset="0"/>
              </a:rPr>
              <a:t> = fair)</a:t>
            </a:r>
          </a:p>
          <a:p>
            <a:pPr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t>
            </a:r>
            <a:r>
              <a:rPr lang="en-US" altLang="en-US" sz="2000" b="1" dirty="0" err="1">
                <a:latin typeface="Times New Roman" panose="02020603050405020304" pitchFamily="18" charset="0"/>
                <a:cs typeface="Times New Roman" panose="02020603050405020304" pitchFamily="18" charset="0"/>
              </a:rPr>
              <a:t>X|C</a:t>
            </a:r>
            <a:r>
              <a:rPr lang="en-US" altLang="en-US" sz="2000" b="1" baseline="-25000" dirty="0" err="1">
                <a:latin typeface="Times New Roman" panose="02020603050405020304" pitchFamily="18" charset="0"/>
                <a:cs typeface="Times New Roman" panose="02020603050405020304" pitchFamily="18" charset="0"/>
              </a:rPr>
              <a:t>i</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P(</a:t>
            </a:r>
            <a:r>
              <a:rPr lang="en-US" altLang="en-US" sz="2000" dirty="0" err="1">
                <a:latin typeface="Times New Roman" panose="02020603050405020304" pitchFamily="18" charset="0"/>
                <a:cs typeface="Times New Roman" panose="02020603050405020304" pitchFamily="18" charset="0"/>
              </a:rPr>
              <a:t>X|buys_computer</a:t>
            </a:r>
            <a:r>
              <a:rPr lang="en-US" altLang="en-US" sz="2000" dirty="0">
                <a:latin typeface="Times New Roman" panose="02020603050405020304" pitchFamily="18" charset="0"/>
                <a:cs typeface="Times New Roman" panose="02020603050405020304" pitchFamily="18" charset="0"/>
              </a:rPr>
              <a:t> = “yes”) = 0.222 x 0.444 x 0.667 x 0.667 = 0.044</a:t>
            </a:r>
          </a:p>
          <a:p>
            <a:pPr eaLnBrk="1" hangingPunct="1">
              <a:lnSpc>
                <a:spcPct val="90000"/>
              </a:lnSpc>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a:t>
            </a:r>
            <a:r>
              <a:rPr lang="en-US" altLang="en-US" sz="2000" dirty="0" err="1">
                <a:latin typeface="Times New Roman" panose="02020603050405020304" pitchFamily="18" charset="0"/>
                <a:cs typeface="Times New Roman" panose="02020603050405020304" pitchFamily="18" charset="0"/>
              </a:rPr>
              <a:t>X|buys_computer</a:t>
            </a:r>
            <a:r>
              <a:rPr lang="en-US" altLang="en-US" sz="2000" dirty="0">
                <a:latin typeface="Times New Roman" panose="02020603050405020304" pitchFamily="18" charset="0"/>
                <a:cs typeface="Times New Roman" panose="02020603050405020304" pitchFamily="18" charset="0"/>
              </a:rPr>
              <a:t> = “no”) = 0.6 x 0.4 x 0.2 x 0.4 = 0.019</a:t>
            </a:r>
          </a:p>
          <a:p>
            <a:pPr eaLnBrk="1" hangingPunct="1">
              <a:lnSpc>
                <a:spcPct val="90000"/>
              </a:lnSpc>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P(</a:t>
            </a:r>
            <a:r>
              <a:rPr lang="en-US" altLang="en-US" sz="2000" b="1" dirty="0" err="1">
                <a:latin typeface="Times New Roman" panose="02020603050405020304" pitchFamily="18" charset="0"/>
                <a:cs typeface="Times New Roman" panose="02020603050405020304" pitchFamily="18" charset="0"/>
              </a:rPr>
              <a:t>X|C</a:t>
            </a:r>
            <a:r>
              <a:rPr lang="en-US" altLang="en-US" sz="2000" b="1" baseline="-25000" dirty="0" err="1">
                <a:latin typeface="Times New Roman" panose="02020603050405020304" pitchFamily="18" charset="0"/>
                <a:cs typeface="Times New Roman" panose="02020603050405020304" pitchFamily="18" charset="0"/>
              </a:rPr>
              <a:t>i</a:t>
            </a:r>
            <a:r>
              <a:rPr lang="en-US" altLang="en-US" sz="2000" b="1" dirty="0">
                <a:latin typeface="Times New Roman" panose="02020603050405020304" pitchFamily="18" charset="0"/>
                <a:cs typeface="Times New Roman" panose="02020603050405020304" pitchFamily="18" charset="0"/>
              </a:rPr>
              <a:t>)*P(C</a:t>
            </a:r>
            <a:r>
              <a:rPr lang="en-US" altLang="en-US" sz="2000" b="1" baseline="-25000" dirty="0">
                <a:latin typeface="Times New Roman" panose="02020603050405020304" pitchFamily="18" charset="0"/>
                <a:cs typeface="Times New Roman" panose="02020603050405020304" pitchFamily="18" charset="0"/>
              </a:rPr>
              <a:t>i</a:t>
            </a:r>
            <a:r>
              <a:rPr lang="en-US" altLang="en-US" sz="2000" b="1" dirty="0">
                <a:latin typeface="Times New Roman" panose="02020603050405020304" pitchFamily="18" charset="0"/>
                <a:cs typeface="Times New Roman" panose="02020603050405020304" pitchFamily="18" charset="0"/>
              </a:rPr>
              <a:t>) : </a:t>
            </a:r>
            <a:r>
              <a:rPr lang="en-US" altLang="en-US" sz="2000" dirty="0">
                <a:latin typeface="Times New Roman" panose="02020603050405020304" pitchFamily="18" charset="0"/>
                <a:cs typeface="Times New Roman" panose="02020603050405020304" pitchFamily="18" charset="0"/>
              </a:rPr>
              <a:t>P(</a:t>
            </a:r>
            <a:r>
              <a:rPr lang="en-US" altLang="en-US" sz="2000" dirty="0" err="1">
                <a:latin typeface="Times New Roman" panose="02020603050405020304" pitchFamily="18" charset="0"/>
                <a:cs typeface="Times New Roman" panose="02020603050405020304" pitchFamily="18" charset="0"/>
              </a:rPr>
              <a:t>X|buys_computer</a:t>
            </a:r>
            <a:r>
              <a:rPr lang="en-US" altLang="en-US" sz="2000" dirty="0">
                <a:latin typeface="Times New Roman" panose="02020603050405020304" pitchFamily="18" charset="0"/>
                <a:cs typeface="Times New Roman" panose="02020603050405020304" pitchFamily="18" charset="0"/>
              </a:rPr>
              <a:t> = “yes”) * P(</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“yes”) = 0.028</a:t>
            </a:r>
          </a:p>
          <a:p>
            <a:pPr eaLnBrk="1" hangingPunct="1">
              <a:lnSpc>
                <a:spcPct val="90000"/>
              </a:lnSpc>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P(</a:t>
            </a:r>
            <a:r>
              <a:rPr lang="en-US" altLang="en-US" sz="2000" dirty="0" err="1">
                <a:latin typeface="Times New Roman" panose="02020603050405020304" pitchFamily="18" charset="0"/>
                <a:cs typeface="Times New Roman" panose="02020603050405020304" pitchFamily="18" charset="0"/>
              </a:rPr>
              <a:t>X|buys_computer</a:t>
            </a:r>
            <a:r>
              <a:rPr lang="en-US" altLang="en-US" sz="2000" dirty="0">
                <a:latin typeface="Times New Roman" panose="02020603050405020304" pitchFamily="18" charset="0"/>
                <a:cs typeface="Times New Roman" panose="02020603050405020304" pitchFamily="18" charset="0"/>
              </a:rPr>
              <a:t> = “no”) * P(</a:t>
            </a:r>
            <a:r>
              <a:rPr lang="en-US" altLang="en-US" sz="2000" dirty="0" err="1">
                <a:latin typeface="Times New Roman" panose="02020603050405020304" pitchFamily="18" charset="0"/>
                <a:cs typeface="Times New Roman" panose="02020603050405020304" pitchFamily="18" charset="0"/>
              </a:rPr>
              <a:t>buys_computer</a:t>
            </a:r>
            <a:r>
              <a:rPr lang="en-US" altLang="en-US" sz="2000" dirty="0">
                <a:latin typeface="Times New Roman" panose="02020603050405020304" pitchFamily="18" charset="0"/>
                <a:cs typeface="Times New Roman" panose="02020603050405020304" pitchFamily="18" charset="0"/>
              </a:rPr>
              <a:t> = “no”) = 0.007</a:t>
            </a:r>
            <a:endParaRPr lang="en-US" altLang="en-US" sz="2000" b="1" dirty="0">
              <a:latin typeface="Times New Roman" panose="02020603050405020304" pitchFamily="18" charset="0"/>
              <a:cs typeface="Times New Roman" panose="02020603050405020304" pitchFamily="18" charset="0"/>
            </a:endParaRPr>
          </a:p>
          <a:p>
            <a:pPr eaLnBrk="1" hangingPunct="1">
              <a:lnSpc>
                <a:spcPct val="90000"/>
              </a:lnSpc>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Therefore,  X belongs to class (“</a:t>
            </a:r>
            <a:r>
              <a:rPr lang="en-US" altLang="en-US" sz="2000" b="1" dirty="0" err="1">
                <a:latin typeface="Times New Roman" panose="02020603050405020304" pitchFamily="18" charset="0"/>
                <a:cs typeface="Times New Roman" panose="02020603050405020304" pitchFamily="18" charset="0"/>
              </a:rPr>
              <a:t>buys_computer</a:t>
            </a:r>
            <a:r>
              <a:rPr lang="en-US" altLang="en-US" sz="2000" b="1" dirty="0">
                <a:latin typeface="Times New Roman" panose="02020603050405020304" pitchFamily="18" charset="0"/>
                <a:cs typeface="Times New Roman" panose="02020603050405020304" pitchFamily="18" charset="0"/>
              </a:rPr>
              <a:t> = yes”)	</a:t>
            </a:r>
            <a:r>
              <a:rPr lang="en-US" altLang="en-US" sz="1800" b="1" dirty="0">
                <a:latin typeface="Times New Roman" panose="02020603050405020304" pitchFamily="18" charset="0"/>
                <a:cs typeface="Times New Roman" panose="02020603050405020304" pitchFamily="18" charset="0"/>
              </a:rPr>
              <a:t>	</a:t>
            </a:r>
          </a:p>
        </p:txBody>
      </p:sp>
      <p:graphicFrame>
        <p:nvGraphicFramePr>
          <p:cNvPr id="39941" name="Object 1">
            <a:extLst>
              <a:ext uri="{FF2B5EF4-FFF2-40B4-BE49-F238E27FC236}">
                <a16:creationId xmlns:a16="http://schemas.microsoft.com/office/drawing/2014/main" id="{CB513751-E5BB-187C-A447-C7B1CF45B303}"/>
              </a:ext>
            </a:extLst>
          </p:cNvPr>
          <p:cNvGraphicFramePr>
            <a:graphicFrameLocks/>
          </p:cNvGraphicFramePr>
          <p:nvPr/>
        </p:nvGraphicFramePr>
        <p:xfrm>
          <a:off x="7062788" y="762000"/>
          <a:ext cx="2062162" cy="1752600"/>
        </p:xfrm>
        <a:graphic>
          <a:graphicData uri="http://schemas.openxmlformats.org/presentationml/2006/ole">
            <mc:AlternateContent xmlns:mc="http://schemas.openxmlformats.org/markup-compatibility/2006">
              <mc:Choice xmlns:v="urn:schemas-microsoft-com:vml" Requires="v">
                <p:oleObj name="Worksheet" r:id="rId3" imgW="4324438" imgH="4457652" progId="Excel.Sheet.8">
                  <p:embed/>
                </p:oleObj>
              </mc:Choice>
              <mc:Fallback>
                <p:oleObj name="Worksheet" r:id="rId3" imgW="4324438" imgH="4457652" progId="Excel.Sheet.8">
                  <p:embed/>
                  <p:pic>
                    <p:nvPicPr>
                      <p:cNvPr id="39941" name="Object 1">
                        <a:extLst>
                          <a:ext uri="{FF2B5EF4-FFF2-40B4-BE49-F238E27FC236}">
                            <a16:creationId xmlns:a16="http://schemas.microsoft.com/office/drawing/2014/main" id="{CB513751-E5BB-187C-A447-C7B1CF45B30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2788" y="762000"/>
                        <a:ext cx="206216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B2F2FD-73EC-F3F0-66C6-978B98165BD6}"/>
              </a:ext>
            </a:extLst>
          </p:cNvPr>
          <p:cNvSpPr>
            <a:spLocks noGrp="1"/>
          </p:cNvSpPr>
          <p:nvPr>
            <p:ph idx="1"/>
          </p:nvPr>
        </p:nvSpPr>
        <p:spPr/>
        <p:txBody>
          <a:bodyPr>
            <a:normAutofit fontScale="77500" lnSpcReduction="20000"/>
          </a:bodyPr>
          <a:lstStyle/>
          <a:p>
            <a:pPr algn="just" fontAlgn="base"/>
            <a:r>
              <a:rPr lang="en-IN" dirty="0">
                <a:latin typeface="Times New Roman" panose="02020603050405020304" pitchFamily="18" charset="0"/>
                <a:cs typeface="Times New Roman" panose="02020603050405020304" pitchFamily="18" charset="0"/>
              </a:rPr>
              <a:t>The main idea behind the Naive Bayes classifier is to use Bayes' Theorem to classify data based on the probabilities of different classes given the features of the data. It is used mostly in high-dimensional text classification</a:t>
            </a:r>
          </a:p>
          <a:p>
            <a:pPr algn="just" fontAlgn="base"/>
            <a:endParaRPr lang="en-IN" dirty="0">
              <a:latin typeface="Times New Roman" panose="02020603050405020304" pitchFamily="18" charset="0"/>
              <a:cs typeface="Times New Roman" panose="02020603050405020304" pitchFamily="18" charset="0"/>
            </a:endParaRPr>
          </a:p>
          <a:p>
            <a:pPr lvl="0" algn="just" fontAlgn="base"/>
            <a:r>
              <a:rPr lang="en-IN" dirty="0">
                <a:latin typeface="Times New Roman" panose="02020603050405020304" pitchFamily="18" charset="0"/>
                <a:cs typeface="Times New Roman" panose="02020603050405020304" pitchFamily="18" charset="0"/>
              </a:rPr>
              <a:t>The Naive Bayes Classifier is a simple probabilistic classifier and it has very few number of parameters which are used to build the ML models that can predict at a faster speed than other classification algorithms.</a:t>
            </a:r>
          </a:p>
          <a:p>
            <a:pPr lvl="0" algn="just" fontAlgn="base"/>
            <a:endParaRPr lang="en-IN" dirty="0">
              <a:latin typeface="Times New Roman" panose="02020603050405020304" pitchFamily="18" charset="0"/>
              <a:cs typeface="Times New Roman" panose="02020603050405020304" pitchFamily="18" charset="0"/>
            </a:endParaRPr>
          </a:p>
          <a:p>
            <a:pPr lvl="0" algn="just" fontAlgn="base"/>
            <a:r>
              <a:rPr lang="en-IN" dirty="0">
                <a:latin typeface="Times New Roman" panose="02020603050405020304" pitchFamily="18" charset="0"/>
                <a:cs typeface="Times New Roman" panose="02020603050405020304" pitchFamily="18" charset="0"/>
              </a:rPr>
              <a:t>It is a probabilistic classifier because it assumes that one feature in the model is independent of existence of another feature. In other words, each feature contributes to the predictions with no relation between each other.</a:t>
            </a:r>
          </a:p>
          <a:p>
            <a:pPr lvl="0" algn="just" fontAlgn="base"/>
            <a:endParaRPr lang="en-IN" dirty="0">
              <a:latin typeface="Times New Roman" panose="02020603050405020304" pitchFamily="18" charset="0"/>
              <a:cs typeface="Times New Roman" panose="02020603050405020304" pitchFamily="18" charset="0"/>
            </a:endParaRPr>
          </a:p>
          <a:p>
            <a:pPr lvl="0" algn="just" fontAlgn="base"/>
            <a:r>
              <a:rPr lang="en-IN" dirty="0">
                <a:latin typeface="Times New Roman" panose="02020603050405020304" pitchFamily="18" charset="0"/>
                <a:cs typeface="Times New Roman" panose="02020603050405020304" pitchFamily="18" charset="0"/>
              </a:rPr>
              <a:t>Naive Bayes Algorithm is used in spam filtration, Sentimental analysis, classifying articles and many more.</a:t>
            </a:r>
          </a:p>
          <a:p>
            <a:pPr algn="just"/>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E211B7C-B407-A790-6484-696139DBA45E}"/>
              </a:ext>
            </a:extLst>
          </p:cNvPr>
          <p:cNvSpPr>
            <a:spLocks noGrp="1"/>
          </p:cNvSpPr>
          <p:nvPr>
            <p:ph type="title"/>
          </p:nvPr>
        </p:nvSpPr>
        <p:spPr>
          <a:xfrm>
            <a:off x="457200" y="274638"/>
            <a:ext cx="8229600" cy="715962"/>
          </a:xfrm>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Key Features of Naive Bayes Classifiers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10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893B79-C12A-BED8-C5DF-17B606CC664B}"/>
              </a:ext>
            </a:extLst>
          </p:cNvPr>
          <p:cNvSpPr>
            <a:spLocks noGrp="1"/>
          </p:cNvSpPr>
          <p:nvPr>
            <p:ph idx="1"/>
          </p:nvPr>
        </p:nvSpPr>
        <p:spPr/>
        <p:txBody>
          <a:bodyPr/>
          <a:lstStyle/>
          <a:p>
            <a:pPr marL="109728" indent="0" fontAlgn="base">
              <a:buNone/>
            </a:pPr>
            <a:r>
              <a:rPr lang="en-IN" b="1" dirty="0">
                <a:latin typeface="Times New Roman" panose="02020603050405020304" pitchFamily="18" charset="0"/>
                <a:cs typeface="Times New Roman" panose="02020603050405020304" pitchFamily="18" charset="0"/>
              </a:rPr>
              <a:t>Why it is Called Naive Bayes?</a:t>
            </a:r>
          </a:p>
          <a:p>
            <a:pPr marL="109728" indent="0" fontAlgn="base">
              <a:buNone/>
            </a:pPr>
            <a:endParaRPr lang="en-IN" b="1" dirty="0">
              <a:latin typeface="Times New Roman" panose="02020603050405020304" pitchFamily="18" charset="0"/>
              <a:cs typeface="Times New Roman" panose="02020603050405020304" pitchFamily="18" charset="0"/>
            </a:endParaRPr>
          </a:p>
          <a:p>
            <a:pPr algn="just" fontAlgn="base"/>
            <a:r>
              <a:rPr lang="en-IN" dirty="0">
                <a:latin typeface="Times New Roman" panose="02020603050405020304" pitchFamily="18" charset="0"/>
                <a:cs typeface="Times New Roman" panose="02020603050405020304" pitchFamily="18" charset="0"/>
              </a:rPr>
              <a:t>It is named as "Naive" because it assumes the presence of one feature does not affect other features. The "Bayes" part of the name refers to its basis in Bayes’ Theorem.</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894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0A9F27-6EEF-D29F-3AB8-670211632F39}"/>
              </a:ext>
            </a:extLst>
          </p:cNvPr>
          <p:cNvSpPr>
            <a:spLocks noGrp="1"/>
          </p:cNvSpPr>
          <p:nvPr>
            <p:ph type="title"/>
          </p:nvPr>
        </p:nvSpPr>
        <p:spPr>
          <a:xfrm>
            <a:off x="304800" y="152400"/>
            <a:ext cx="8229600" cy="868362"/>
          </a:xfrm>
        </p:spPr>
        <p:txBody>
          <a:bodyPr>
            <a:noAutofit/>
          </a:bodyPr>
          <a:lstStyle/>
          <a:p>
            <a:r>
              <a:rPr lang="en-IN" sz="1600" dirty="0">
                <a:effectLst/>
                <a:latin typeface="Times New Roman" panose="02020603050405020304" pitchFamily="18" charset="0"/>
                <a:cs typeface="Times New Roman" panose="02020603050405020304" pitchFamily="18" charset="0"/>
              </a:rPr>
              <a:t>Consider a fictional dataset that describes the weather conditions for playing a game of golf. Given the weather conditions, each tuple classifies the conditions as fit(“Yes”) or unfit(“No”) for playing golf. Here is a tabular representation of our dataset.</a:t>
            </a:r>
            <a:endParaRPr lang="en-IN" sz="16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F432D3A-FF0C-7E5F-CC30-47FF5B41DA26}"/>
              </a:ext>
            </a:extLst>
          </p:cNvPr>
          <p:cNvGraphicFramePr>
            <a:graphicFrameLocks noGrp="1"/>
          </p:cNvGraphicFramePr>
          <p:nvPr>
            <p:extLst>
              <p:ext uri="{D42A27DB-BD31-4B8C-83A1-F6EECF244321}">
                <p14:modId xmlns:p14="http://schemas.microsoft.com/office/powerpoint/2010/main" val="248642851"/>
              </p:ext>
            </p:extLst>
          </p:nvPr>
        </p:nvGraphicFramePr>
        <p:xfrm>
          <a:off x="3124200" y="1143000"/>
          <a:ext cx="5638800" cy="5618800"/>
        </p:xfrm>
        <a:graphic>
          <a:graphicData uri="http://schemas.openxmlformats.org/drawingml/2006/table">
            <a:tbl>
              <a:tblPr firstRow="1" firstCol="1" bandRow="1">
                <a:tableStyleId>{5940675A-B579-460E-94D1-54222C63F5DA}</a:tableStyleId>
              </a:tblPr>
              <a:tblGrid>
                <a:gridCol w="609600">
                  <a:extLst>
                    <a:ext uri="{9D8B030D-6E8A-4147-A177-3AD203B41FA5}">
                      <a16:colId xmlns:a16="http://schemas.microsoft.com/office/drawing/2014/main" val="1829540756"/>
                    </a:ext>
                  </a:extLst>
                </a:gridCol>
                <a:gridCol w="914400">
                  <a:extLst>
                    <a:ext uri="{9D8B030D-6E8A-4147-A177-3AD203B41FA5}">
                      <a16:colId xmlns:a16="http://schemas.microsoft.com/office/drawing/2014/main" val="750372810"/>
                    </a:ext>
                  </a:extLst>
                </a:gridCol>
                <a:gridCol w="1295400">
                  <a:extLst>
                    <a:ext uri="{9D8B030D-6E8A-4147-A177-3AD203B41FA5}">
                      <a16:colId xmlns:a16="http://schemas.microsoft.com/office/drawing/2014/main" val="364597087"/>
                    </a:ext>
                  </a:extLst>
                </a:gridCol>
                <a:gridCol w="939800">
                  <a:extLst>
                    <a:ext uri="{9D8B030D-6E8A-4147-A177-3AD203B41FA5}">
                      <a16:colId xmlns:a16="http://schemas.microsoft.com/office/drawing/2014/main" val="3567983005"/>
                    </a:ext>
                  </a:extLst>
                </a:gridCol>
                <a:gridCol w="939800">
                  <a:extLst>
                    <a:ext uri="{9D8B030D-6E8A-4147-A177-3AD203B41FA5}">
                      <a16:colId xmlns:a16="http://schemas.microsoft.com/office/drawing/2014/main" val="3187652330"/>
                    </a:ext>
                  </a:extLst>
                </a:gridCol>
                <a:gridCol w="939800">
                  <a:extLst>
                    <a:ext uri="{9D8B030D-6E8A-4147-A177-3AD203B41FA5}">
                      <a16:colId xmlns:a16="http://schemas.microsoft.com/office/drawing/2014/main" val="173579423"/>
                    </a:ext>
                  </a:extLst>
                </a:gridCol>
              </a:tblGrid>
              <a:tr h="469838">
                <a:tc>
                  <a:txBody>
                    <a:bodyPr/>
                    <a:lstStyle/>
                    <a:p>
                      <a:pPr>
                        <a:lnSpc>
                          <a:spcPct val="115000"/>
                        </a:lnSpc>
                        <a:buNone/>
                      </a:pPr>
                      <a:endParaRPr lang="en-IN" sz="1200" kern="100">
                        <a:effectLst/>
                        <a:latin typeface="Times New Roman" panose="02020603050405020304" pitchFamily="18" charset="0"/>
                        <a:cs typeface="Times New Roman" panose="02020603050405020304" pitchFamily="18" charset="0"/>
                      </a:endParaRPr>
                    </a:p>
                  </a:txBody>
                  <a:tcPr marL="24909" marR="24909"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Outlook</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Temperature</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Humidity</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Windy</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Play Golf</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extLst>
                  <a:ext uri="{0D108BD9-81ED-4DB2-BD59-A6C34878D82A}">
                    <a16:rowId xmlns:a16="http://schemas.microsoft.com/office/drawing/2014/main" val="2406525919"/>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991480034"/>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943669714"/>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568256987"/>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744836952"/>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2961838060"/>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Sunny</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985938348"/>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6</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017401667"/>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7</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2096059043"/>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8</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3631252071"/>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9</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2300676786"/>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325328476"/>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11</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08476361"/>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12</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3149356656"/>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13</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539339590"/>
                  </a:ext>
                </a:extLst>
              </a:tr>
            </a:tbl>
          </a:graphicData>
        </a:graphic>
      </p:graphicFrame>
      <p:sp>
        <p:nvSpPr>
          <p:cNvPr id="7" name="TextBox 6">
            <a:extLst>
              <a:ext uri="{FF2B5EF4-FFF2-40B4-BE49-F238E27FC236}">
                <a16:creationId xmlns:a16="http://schemas.microsoft.com/office/drawing/2014/main" id="{37DC62FB-83A1-1E28-3C19-BA227B2BAE5A}"/>
              </a:ext>
            </a:extLst>
          </p:cNvPr>
          <p:cNvSpPr txBox="1"/>
          <p:nvPr/>
        </p:nvSpPr>
        <p:spPr>
          <a:xfrm>
            <a:off x="533400" y="1905000"/>
            <a:ext cx="2133600" cy="361637"/>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IN" sz="2000" b="1" i="0" spc="12" dirty="0">
                <a:solidFill>
                  <a:srgbClr val="273239"/>
                </a:solidFill>
                <a:effectLst/>
                <a:latin typeface="Times New Roman" panose="02020603050405020304" pitchFamily="18" charset="0"/>
                <a:cs typeface="Times New Roman" panose="02020603050405020304" pitchFamily="18" charset="0"/>
              </a:rPr>
              <a:t>Weather Dataset</a:t>
            </a:r>
            <a:endParaRPr lang="en-IN" sz="2000" b="1" i="0" spc="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2476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B16795-A016-2B99-B11C-A7D3ACB2E91F}"/>
              </a:ext>
            </a:extLst>
          </p:cNvPr>
          <p:cNvSpPr txBox="1"/>
          <p:nvPr/>
        </p:nvSpPr>
        <p:spPr>
          <a:xfrm>
            <a:off x="609600" y="609600"/>
            <a:ext cx="7162800" cy="2641749"/>
          </a:xfrm>
          <a:prstGeom prst="rect">
            <a:avLst/>
          </a:prstGeom>
          <a:noFill/>
        </p:spPr>
        <p:txBody>
          <a:bodyPr wrap="square">
            <a:spAutoFit/>
          </a:bodyPr>
          <a:lstStyle/>
          <a:p>
            <a:pPr marL="0" marR="0" indent="0" algn="just" rtl="0" fontAlgn="base">
              <a:spcAft>
                <a:spcPts val="750"/>
              </a:spcAft>
              <a:buNone/>
            </a:pPr>
            <a:r>
              <a:rPr lang="en-IN" b="0" i="0" spc="12" dirty="0">
                <a:solidFill>
                  <a:srgbClr val="273239"/>
                </a:solidFill>
                <a:effectLst/>
                <a:latin typeface="Times New Roman" panose="02020603050405020304" pitchFamily="18" charset="0"/>
                <a:cs typeface="Times New Roman" panose="02020603050405020304" pitchFamily="18" charset="0"/>
              </a:rPr>
              <a:t>The dataset is divided into two parts </a:t>
            </a:r>
            <a:r>
              <a:rPr lang="en-IN" b="0" i="0" spc="12" dirty="0" err="1">
                <a:solidFill>
                  <a:srgbClr val="273239"/>
                </a:solidFill>
                <a:effectLst/>
                <a:latin typeface="Times New Roman" panose="02020603050405020304" pitchFamily="18" charset="0"/>
                <a:cs typeface="Times New Roman" panose="02020603050405020304" pitchFamily="18" charset="0"/>
              </a:rPr>
              <a:t>i.e</a:t>
            </a:r>
            <a:r>
              <a:rPr lang="en-IN" b="0" i="0" spc="12" dirty="0">
                <a:solidFill>
                  <a:srgbClr val="273239"/>
                </a:solidFill>
                <a:effectLst/>
                <a:latin typeface="Times New Roman" panose="02020603050405020304" pitchFamily="18" charset="0"/>
                <a:cs typeface="Times New Roman" panose="02020603050405020304" pitchFamily="18" charset="0"/>
              </a:rPr>
              <a:t> feature matrix and the response vector.</a:t>
            </a:r>
            <a:endParaRPr lang="en-IN"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r>
              <a:rPr lang="en-IN" b="0" i="0" spc="12" dirty="0">
                <a:solidFill>
                  <a:srgbClr val="273239"/>
                </a:solidFill>
                <a:effectLst/>
                <a:latin typeface="Times New Roman" panose="02020603050405020304" pitchFamily="18" charset="0"/>
                <a:cs typeface="Times New Roman" panose="02020603050405020304" pitchFamily="18" charset="0"/>
              </a:rPr>
              <a:t>Feature matrix contains all the vectors(rows) of dataset in which each vector consists of the value of dependent features. In above dataset, features are ‘Outlook’, ‘Temperature’, ‘Humidity’ and ‘Windy’.</a:t>
            </a:r>
            <a:endParaRPr lang="en-IN"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r>
              <a:rPr lang="en-IN" b="0" i="0" spc="12" dirty="0">
                <a:solidFill>
                  <a:srgbClr val="273239"/>
                </a:solidFill>
                <a:effectLst/>
                <a:latin typeface="Times New Roman" panose="02020603050405020304" pitchFamily="18" charset="0"/>
                <a:cs typeface="Times New Roman" panose="02020603050405020304" pitchFamily="18" charset="0"/>
              </a:rPr>
              <a:t>Response vector contains the value of class variable (prediction or output) for each row of feature matrix. In above dataset, the class variable name is ‘Play golf’.</a:t>
            </a:r>
            <a:endParaRPr lang="en-IN" b="0" i="0" spc="1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388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A7B9CC-D1CE-DA3A-E824-AB844E0F15F3}"/>
              </a:ext>
            </a:extLst>
          </p:cNvPr>
          <p:cNvSpPr>
            <a:spLocks noGrp="1"/>
          </p:cNvSpPr>
          <p:nvPr>
            <p:ph idx="1"/>
          </p:nvPr>
        </p:nvSpPr>
        <p:spPr/>
        <p:txBody>
          <a:bodyPr>
            <a:normAutofit fontScale="77500" lnSpcReduction="20000"/>
          </a:bodyPr>
          <a:lstStyle/>
          <a:p>
            <a:pPr marL="109728" indent="0" fontAlgn="base">
              <a:buNone/>
            </a:pPr>
            <a:r>
              <a:rPr lang="en-IN" dirty="0">
                <a:latin typeface="Times New Roman" panose="02020603050405020304" pitchFamily="18" charset="0"/>
                <a:cs typeface="Times New Roman" panose="02020603050405020304" pitchFamily="18" charset="0"/>
              </a:rPr>
              <a:t>The fundamental Naive Bayes assumption is that each feature makes an:</a:t>
            </a:r>
          </a:p>
          <a:p>
            <a:pPr lvl="0" fontAlgn="base"/>
            <a:r>
              <a:rPr lang="en-IN" b="1" dirty="0">
                <a:latin typeface="Times New Roman" panose="02020603050405020304" pitchFamily="18" charset="0"/>
                <a:cs typeface="Times New Roman" panose="02020603050405020304" pitchFamily="18" charset="0"/>
              </a:rPr>
              <a:t>Feature independence:</a:t>
            </a:r>
            <a:r>
              <a:rPr lang="en-IN" dirty="0">
                <a:latin typeface="Times New Roman" panose="02020603050405020304" pitchFamily="18" charset="0"/>
                <a:cs typeface="Times New Roman" panose="02020603050405020304" pitchFamily="18" charset="0"/>
              </a:rPr>
              <a:t> This means that when we are trying to classify something, we assume that each feature (or piece of information) in the data does not affect any other feature.</a:t>
            </a:r>
          </a:p>
          <a:p>
            <a:pPr lvl="0" fontAlgn="base"/>
            <a:r>
              <a:rPr lang="en-IN" b="1" dirty="0">
                <a:latin typeface="Times New Roman" panose="02020603050405020304" pitchFamily="18" charset="0"/>
                <a:cs typeface="Times New Roman" panose="02020603050405020304" pitchFamily="18" charset="0"/>
              </a:rPr>
              <a:t>Continuous features are normally distributed:</a:t>
            </a:r>
            <a:r>
              <a:rPr lang="en-IN" dirty="0">
                <a:latin typeface="Times New Roman" panose="02020603050405020304" pitchFamily="18" charset="0"/>
                <a:cs typeface="Times New Roman" panose="02020603050405020304" pitchFamily="18" charset="0"/>
              </a:rPr>
              <a:t> If a feature is continuous, then it is assumed to be normally distributed within each class.</a:t>
            </a:r>
          </a:p>
          <a:p>
            <a:pPr lvl="0" fontAlgn="base"/>
            <a:r>
              <a:rPr lang="en-IN" b="1" dirty="0">
                <a:latin typeface="Times New Roman" panose="02020603050405020304" pitchFamily="18" charset="0"/>
                <a:cs typeface="Times New Roman" panose="02020603050405020304" pitchFamily="18" charset="0"/>
              </a:rPr>
              <a:t>Discrete features have multinomial distributions:</a:t>
            </a:r>
            <a:r>
              <a:rPr lang="en-IN" dirty="0">
                <a:latin typeface="Times New Roman" panose="02020603050405020304" pitchFamily="18" charset="0"/>
                <a:cs typeface="Times New Roman" panose="02020603050405020304" pitchFamily="18" charset="0"/>
              </a:rPr>
              <a:t> If a feature is discrete, then it is assumed to have a multinomial distribution within each class.</a:t>
            </a:r>
          </a:p>
          <a:p>
            <a:pPr lvl="0" fontAlgn="base"/>
            <a:r>
              <a:rPr lang="en-IN" b="1" dirty="0">
                <a:latin typeface="Times New Roman" panose="02020603050405020304" pitchFamily="18" charset="0"/>
                <a:cs typeface="Times New Roman" panose="02020603050405020304" pitchFamily="18" charset="0"/>
              </a:rPr>
              <a:t>Features are equally important:</a:t>
            </a:r>
            <a:r>
              <a:rPr lang="en-IN" dirty="0">
                <a:latin typeface="Times New Roman" panose="02020603050405020304" pitchFamily="18" charset="0"/>
                <a:cs typeface="Times New Roman" panose="02020603050405020304" pitchFamily="18" charset="0"/>
              </a:rPr>
              <a:t> All features are assumed to contribute equally to the prediction of the class label.</a:t>
            </a:r>
          </a:p>
          <a:p>
            <a:pPr lvl="0" fontAlgn="base"/>
            <a:r>
              <a:rPr lang="en-IN" b="1" dirty="0">
                <a:latin typeface="Times New Roman" panose="02020603050405020304" pitchFamily="18" charset="0"/>
                <a:cs typeface="Times New Roman" panose="02020603050405020304" pitchFamily="18" charset="0"/>
              </a:rPr>
              <a:t>No missing data:</a:t>
            </a:r>
            <a:r>
              <a:rPr lang="en-IN" dirty="0">
                <a:latin typeface="Times New Roman" panose="02020603050405020304" pitchFamily="18" charset="0"/>
                <a:cs typeface="Times New Roman" panose="02020603050405020304" pitchFamily="18" charset="0"/>
              </a:rPr>
              <a:t> The data should not contain any missing values.</a:t>
            </a: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5C3DDAC-44B5-F106-F478-8A46BAF6AAFF}"/>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Assumption of Naive Bayes</a:t>
            </a:r>
            <a:endParaRPr lang="en-IN" dirty="0"/>
          </a:p>
        </p:txBody>
      </p:sp>
    </p:spTree>
    <p:extLst>
      <p:ext uri="{BB962C8B-B14F-4D97-AF65-F5344CB8AC3E}">
        <p14:creationId xmlns:p14="http://schemas.microsoft.com/office/powerpoint/2010/main" val="4067161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3D0610D-B5D2-883F-26E2-E09ED5A70F6D}"/>
                  </a:ext>
                </a:extLst>
              </p:cNvPr>
              <p:cNvSpPr>
                <a:spLocks noGrp="1"/>
              </p:cNvSpPr>
              <p:nvPr>
                <p:ph idx="1"/>
              </p:nvPr>
            </p:nvSpPr>
            <p:spPr>
              <a:xfrm>
                <a:off x="457200" y="762000"/>
                <a:ext cx="8229600" cy="4525963"/>
              </a:xfrm>
            </p:spPr>
            <p:txBody>
              <a:bodyPr>
                <a:normAutofit lnSpcReduction="10000"/>
              </a:bodyPr>
              <a:lstStyle/>
              <a:p>
                <a:pPr fontAlgn="base"/>
                <a:r>
                  <a:rPr lang="en-IN" b="1" dirty="0">
                    <a:latin typeface="Times New Roman" panose="02020603050405020304" pitchFamily="18" charset="0"/>
                    <a:cs typeface="Times New Roman" panose="02020603050405020304" pitchFamily="18" charset="0"/>
                  </a:rPr>
                  <a:t>Bayes’ Theorem</a:t>
                </a:r>
                <a:r>
                  <a:rPr lang="en-IN" dirty="0">
                    <a:latin typeface="Times New Roman" panose="02020603050405020304" pitchFamily="18" charset="0"/>
                    <a:cs typeface="Times New Roman" panose="02020603050405020304" pitchFamily="18" charset="0"/>
                  </a:rPr>
                  <a:t> provides a principled way to reverse conditional probabilities. It is defined as:</a:t>
                </a:r>
              </a:p>
              <a:p>
                <a:pPr fontAlgn="base"/>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𝑋</m:t>
                        </m:r>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𝑋</m:t>
                            </m:r>
                            <m:r>
                              <a:rPr lang="en-IN">
                                <a:latin typeface="Cambria Math" panose="02040503050406030204" pitchFamily="18" charset="0"/>
                              </a:rPr>
                              <m:t>∣</m:t>
                            </m:r>
                            <m:r>
                              <a:rPr lang="en-IN" i="1">
                                <a:latin typeface="Cambria Math" panose="02040503050406030204" pitchFamily="18" charset="0"/>
                              </a:rPr>
                              <m:t>𝑦</m:t>
                            </m:r>
                          </m:e>
                        </m:d>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𝑦</m:t>
                            </m:r>
                          </m:e>
                        </m:d>
                      </m:num>
                      <m:den>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𝑋</m:t>
                            </m:r>
                          </m:e>
                        </m:d>
                      </m:den>
                    </m:f>
                  </m:oMath>
                </a14:m>
                <a:endParaRPr lang="en-IN" i="1"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Where:</a:t>
                </a:r>
              </a:p>
              <a:p>
                <a:pPr lvl="0" fontAlgn="base"/>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𝑋</m:t>
                        </m:r>
                      </m:e>
                    </m:d>
                  </m:oMath>
                </a14:m>
                <a:r>
                  <a:rPr lang="en-IN" dirty="0">
                    <a:latin typeface="Times New Roman" panose="02020603050405020304" pitchFamily="18" charset="0"/>
                    <a:cs typeface="Times New Roman" panose="02020603050405020304" pitchFamily="18" charset="0"/>
                  </a:rPr>
                  <a:t>: Posterior probability, probability of class </a:t>
                </a:r>
                <a14:m>
                  <m:oMath xmlns:m="http://schemas.openxmlformats.org/officeDocument/2006/math">
                    <m:r>
                      <a:rPr lang="en-IN" i="1">
                        <a:latin typeface="Cambria Math" panose="02040503050406030204" pitchFamily="18" charset="0"/>
                      </a:rPr>
                      <m:t>𝑦</m:t>
                    </m:r>
                  </m:oMath>
                </a14:m>
                <a:r>
                  <a:rPr lang="en-IN" dirty="0">
                    <a:latin typeface="Times New Roman" panose="02020603050405020304" pitchFamily="18" charset="0"/>
                    <a:cs typeface="Times New Roman" panose="02020603050405020304" pitchFamily="18" charset="0"/>
                  </a:rPr>
                  <a:t> given features </a:t>
                </a:r>
                <a14:m>
                  <m:oMath xmlns:m="http://schemas.openxmlformats.org/officeDocument/2006/math">
                    <m:r>
                      <a:rPr lang="en-IN" i="1">
                        <a:latin typeface="Cambria Math" panose="02040503050406030204" pitchFamily="18" charset="0"/>
                      </a:rPr>
                      <m:t>𝑋</m:t>
                    </m:r>
                  </m:oMath>
                </a14:m>
                <a:endParaRPr lang="en-IN" dirty="0">
                  <a:latin typeface="Times New Roman" panose="02020603050405020304" pitchFamily="18" charset="0"/>
                  <a:cs typeface="Times New Roman" panose="02020603050405020304" pitchFamily="18" charset="0"/>
                </a:endParaRPr>
              </a:p>
              <a:p>
                <a:pPr lvl="0" fontAlgn="base"/>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𝑋</m:t>
                        </m:r>
                        <m:r>
                          <a:rPr lang="en-IN">
                            <a:latin typeface="Cambria Math" panose="02040503050406030204" pitchFamily="18" charset="0"/>
                          </a:rPr>
                          <m:t>∣</m:t>
                        </m:r>
                        <m:r>
                          <a:rPr lang="en-IN" i="1">
                            <a:latin typeface="Cambria Math" panose="02040503050406030204" pitchFamily="18" charset="0"/>
                          </a:rPr>
                          <m:t>𝑦</m:t>
                        </m:r>
                      </m:e>
                    </m:d>
                  </m:oMath>
                </a14:m>
                <a:r>
                  <a:rPr lang="en-IN" dirty="0">
                    <a:latin typeface="Times New Roman" panose="02020603050405020304" pitchFamily="18" charset="0"/>
                    <a:cs typeface="Times New Roman" panose="02020603050405020304" pitchFamily="18" charset="0"/>
                  </a:rPr>
                  <a:t>: Likelihood, probability of features </a:t>
                </a:r>
                <a14:m>
                  <m:oMath xmlns:m="http://schemas.openxmlformats.org/officeDocument/2006/math">
                    <m:r>
                      <a:rPr lang="en-IN" i="1">
                        <a:latin typeface="Cambria Math" panose="02040503050406030204" pitchFamily="18" charset="0"/>
                      </a:rPr>
                      <m:t>𝑋</m:t>
                    </m:r>
                  </m:oMath>
                </a14:m>
                <a:r>
                  <a:rPr lang="en-IN" dirty="0">
                    <a:latin typeface="Times New Roman" panose="02020603050405020304" pitchFamily="18" charset="0"/>
                    <a:cs typeface="Times New Roman" panose="02020603050405020304" pitchFamily="18" charset="0"/>
                  </a:rPr>
                  <a:t> given class </a:t>
                </a:r>
                <a14:m>
                  <m:oMath xmlns:m="http://schemas.openxmlformats.org/officeDocument/2006/math">
                    <m:r>
                      <a:rPr lang="en-IN" i="1">
                        <a:latin typeface="Cambria Math" panose="02040503050406030204" pitchFamily="18" charset="0"/>
                      </a:rPr>
                      <m:t>𝑦</m:t>
                    </m:r>
                  </m:oMath>
                </a14:m>
                <a:endParaRPr lang="en-IN" dirty="0">
                  <a:latin typeface="Times New Roman" panose="02020603050405020304" pitchFamily="18" charset="0"/>
                  <a:cs typeface="Times New Roman" panose="02020603050405020304" pitchFamily="18" charset="0"/>
                </a:endParaRPr>
              </a:p>
              <a:p>
                <a:pPr lvl="0" fontAlgn="base"/>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𝑦</m:t>
                        </m:r>
                      </m:e>
                    </m:d>
                  </m:oMath>
                </a14:m>
                <a:r>
                  <a:rPr lang="en-IN" dirty="0">
                    <a:latin typeface="Times New Roman" panose="02020603050405020304" pitchFamily="18" charset="0"/>
                    <a:cs typeface="Times New Roman" panose="02020603050405020304" pitchFamily="18" charset="0"/>
                  </a:rPr>
                  <a:t>: Prior probability of class </a:t>
                </a:r>
                <a14:m>
                  <m:oMath xmlns:m="http://schemas.openxmlformats.org/officeDocument/2006/math">
                    <m:r>
                      <a:rPr lang="en-IN" i="1">
                        <a:latin typeface="Cambria Math" panose="02040503050406030204" pitchFamily="18" charset="0"/>
                      </a:rPr>
                      <m:t>𝑦</m:t>
                    </m:r>
                  </m:oMath>
                </a14:m>
                <a:endParaRPr lang="en-IN" dirty="0">
                  <a:latin typeface="Times New Roman" panose="02020603050405020304" pitchFamily="18" charset="0"/>
                  <a:cs typeface="Times New Roman" panose="02020603050405020304" pitchFamily="18" charset="0"/>
                </a:endParaRPr>
              </a:p>
              <a:p>
                <a:pPr lvl="0" fontAlgn="base"/>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𝑋</m:t>
                        </m:r>
                      </m:e>
                    </m:d>
                  </m:oMath>
                </a14:m>
                <a:r>
                  <a:rPr lang="en-IN" dirty="0">
                    <a:latin typeface="Times New Roman" panose="02020603050405020304" pitchFamily="18" charset="0"/>
                    <a:cs typeface="Times New Roman" panose="02020603050405020304" pitchFamily="18" charset="0"/>
                  </a:rPr>
                  <a:t>: Marginal likelihood or evidence</a:t>
                </a:r>
              </a:p>
              <a:p>
                <a:endParaRPr lang="en-IN" dirty="0">
                  <a:latin typeface="Times New Roman" panose="02020603050405020304" pitchFamily="18" charset="0"/>
                  <a:cs typeface="Times New Roman" panose="02020603050405020304" pitchFamily="18" charset="0"/>
                </a:endParaRPr>
              </a:p>
            </p:txBody>
          </p:sp>
        </mc:Choice>
        <mc:Fallback xmlns="">
          <p:sp>
            <p:nvSpPr>
              <p:cNvPr id="2" name="Content Placeholder 1">
                <a:extLst>
                  <a:ext uri="{FF2B5EF4-FFF2-40B4-BE49-F238E27FC236}">
                    <a16:creationId xmlns:a16="http://schemas.microsoft.com/office/drawing/2014/main" id="{13D0610D-B5D2-883F-26E2-E09ED5A70F6D}"/>
                  </a:ext>
                </a:extLst>
              </p:cNvPr>
              <p:cNvSpPr>
                <a:spLocks noGrp="1" noRot="1" noChangeAspect="1" noMove="1" noResize="1" noEditPoints="1" noAdjustHandles="1" noChangeArrowheads="1" noChangeShapeType="1" noTextEdit="1"/>
              </p:cNvSpPr>
              <p:nvPr>
                <p:ph idx="1"/>
              </p:nvPr>
            </p:nvSpPr>
            <p:spPr>
              <a:xfrm>
                <a:off x="457200" y="762000"/>
                <a:ext cx="8229600" cy="4525963"/>
              </a:xfrm>
              <a:blipFill>
                <a:blip r:embed="rId2"/>
                <a:stretch>
                  <a:fillRect t="-2156" b="-404"/>
                </a:stretch>
              </a:blipFill>
            </p:spPr>
            <p:txBody>
              <a:bodyPr/>
              <a:lstStyle/>
              <a:p>
                <a:r>
                  <a:rPr lang="en-IN">
                    <a:noFill/>
                  </a:rPr>
                  <a:t> </a:t>
                </a:r>
              </a:p>
            </p:txBody>
          </p:sp>
        </mc:Fallback>
      </mc:AlternateContent>
    </p:spTree>
    <p:extLst>
      <p:ext uri="{BB962C8B-B14F-4D97-AF65-F5344CB8AC3E}">
        <p14:creationId xmlns:p14="http://schemas.microsoft.com/office/powerpoint/2010/main" val="1143811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F826102-9E11-8732-14E0-B7D0473D1116}"/>
                  </a:ext>
                </a:extLst>
              </p:cNvPr>
              <p:cNvSpPr>
                <a:spLocks noGrp="1"/>
              </p:cNvSpPr>
              <p:nvPr>
                <p:ph idx="1"/>
              </p:nvPr>
            </p:nvSpPr>
            <p:spPr>
              <a:xfrm>
                <a:off x="457200" y="609600"/>
                <a:ext cx="8229600" cy="4525963"/>
              </a:xfrm>
            </p:spPr>
            <p:txBody>
              <a:bodyPr>
                <a:normAutofit fontScale="85000" lnSpcReduction="10000"/>
              </a:bodyPr>
              <a:lstStyle/>
              <a:p>
                <a:pPr marL="109728" indent="0" fontAlgn="base">
                  <a:buNone/>
                </a:pPr>
                <a:r>
                  <a:rPr lang="en-IN" dirty="0">
                    <a:latin typeface="Times New Roman" panose="02020603050405020304" pitchFamily="18" charset="0"/>
                    <a:cs typeface="Times New Roman" panose="02020603050405020304" pitchFamily="18" charset="0"/>
                  </a:rPr>
                  <a:t>Consider a classification problem (like predicting if someone plays golf based on weather).</a:t>
                </a:r>
              </a:p>
              <a:p>
                <a:pPr marL="109728" indent="0" fontAlgn="base">
                  <a:buNone/>
                </a:pPr>
                <a:r>
                  <a:rPr lang="en-IN" dirty="0">
                    <a:latin typeface="Times New Roman" panose="02020603050405020304" pitchFamily="18" charset="0"/>
                    <a:cs typeface="Times New Roman" panose="02020603050405020304" pitchFamily="18" charset="0"/>
                  </a:rPr>
                  <a:t> Then:</a:t>
                </a:r>
              </a:p>
              <a:p>
                <a:pPr lvl="0" fontAlgn="base"/>
                <a14:m>
                  <m:oMath xmlns:m="http://schemas.openxmlformats.org/officeDocument/2006/math">
                    <m:r>
                      <a:rPr lang="en-IN" i="1">
                        <a:latin typeface="Cambria Math" panose="02040503050406030204" pitchFamily="18" charset="0"/>
                      </a:rPr>
                      <m:t>𝑦</m:t>
                    </m:r>
                  </m:oMath>
                </a14:m>
                <a:r>
                  <a:rPr lang="en-IN" dirty="0">
                    <a:latin typeface="Times New Roman" panose="02020603050405020304" pitchFamily="18" charset="0"/>
                    <a:cs typeface="Times New Roman" panose="02020603050405020304" pitchFamily="18" charset="0"/>
                  </a:rPr>
                  <a:t> is the class label (e.g. "Yes" or "No" for playing golf)</a:t>
                </a:r>
              </a:p>
              <a:p>
                <a:pPr lvl="0" fontAlgn="base"/>
                <a14:m>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m:t>
                    </m:r>
                    <m:d>
                      <m:dPr>
                        <m:sep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e>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e>
                      <m:e>
                        <m:r>
                          <a:rPr lang="en-IN">
                            <a:latin typeface="Cambria Math" panose="02040503050406030204" pitchFamily="18" charset="0"/>
                          </a:rPr>
                          <m:t>.</m:t>
                        </m:r>
                      </m:e>
                      <m:e>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e>
                    </m:d>
                  </m:oMath>
                </a14:m>
                <a:r>
                  <a:rPr lang="en-IN" dirty="0">
                    <a:latin typeface="Times New Roman" panose="02020603050405020304" pitchFamily="18" charset="0"/>
                    <a:cs typeface="Times New Roman" panose="02020603050405020304" pitchFamily="18" charset="0"/>
                  </a:rPr>
                  <a:t> is the feature vector (e.g. Outlook, Temperature, Humidity, Wind)</a:t>
                </a:r>
              </a:p>
              <a:p>
                <a:pPr marL="109728" indent="0" fontAlgn="base">
                  <a:buNone/>
                </a:pPr>
                <a:r>
                  <a:rPr lang="en-IN" dirty="0">
                    <a:latin typeface="Times New Roman" panose="02020603050405020304" pitchFamily="18" charset="0"/>
                    <a:cs typeface="Times New Roman" panose="02020603050405020304" pitchFamily="18" charset="0"/>
                  </a:rPr>
                  <a:t>A sample row from the dataset:</a:t>
                </a:r>
              </a:p>
              <a:p>
                <a:pPr fontAlgn="base"/>
                <a14:m>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m:t>
                    </m:r>
                    <m:r>
                      <m:rPr>
                        <m:nor/>
                      </m:rPr>
                      <a:rPr lang="en-IN" i="0">
                        <a:latin typeface="Times New Roman" panose="02020603050405020304" pitchFamily="18" charset="0"/>
                        <a:cs typeface="Times New Roman" panose="02020603050405020304" pitchFamily="18" charset="0"/>
                      </a:rPr>
                      <m:t>(Rainy, Hot, High, False)</m:t>
                    </m:r>
                    <m:r>
                      <a:rPr lang="en-IN">
                        <a:latin typeface="Cambria Math" panose="02040503050406030204" pitchFamily="18" charset="0"/>
                      </a:rPr>
                      <m:t>, </m:t>
                    </m:r>
                    <m:r>
                      <a:rPr lang="en-IN" i="1">
                        <a:latin typeface="Cambria Math" panose="02040503050406030204" pitchFamily="18" charset="0"/>
                      </a:rPr>
                      <m:t>𝑦</m:t>
                    </m:r>
                    <m:r>
                      <a:rPr lang="en-IN">
                        <a:latin typeface="Cambria Math" panose="02040503050406030204" pitchFamily="18" charset="0"/>
                      </a:rPr>
                      <m:t>=</m:t>
                    </m:r>
                    <m:r>
                      <m:rPr>
                        <m:nor/>
                      </m:rPr>
                      <a:rPr lang="en-IN" i="0">
                        <a:latin typeface="Times New Roman" panose="02020603050405020304" pitchFamily="18" charset="0"/>
                        <a:cs typeface="Times New Roman" panose="02020603050405020304" pitchFamily="18" charset="0"/>
                      </a:rPr>
                      <m:t>No</m:t>
                    </m:r>
                  </m:oMath>
                </a14:m>
                <a:endParaRPr lang="en-IN" i="1"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This represents:</a:t>
                </a:r>
              </a:p>
              <a:p>
                <a:pPr fontAlgn="base"/>
                <a:endParaRPr lang="en-IN" dirty="0">
                  <a:latin typeface="Times New Roman" panose="02020603050405020304" pitchFamily="18" charset="0"/>
                  <a:cs typeface="Times New Roman" panose="02020603050405020304" pitchFamily="18" charset="0"/>
                </a:endParaRPr>
              </a:p>
              <a:p>
                <a:pPr marL="109728" indent="0" fontAlgn="base">
                  <a:buNone/>
                </a:pPr>
                <a:r>
                  <a:rPr lang="en-IN" b="1" i="1" dirty="0">
                    <a:latin typeface="Times New Roman" panose="02020603050405020304" pitchFamily="18" charset="0"/>
                    <a:cs typeface="Times New Roman" panose="02020603050405020304" pitchFamily="18" charset="0"/>
                  </a:rPr>
                  <a:t>Problem :</a:t>
                </a:r>
                <a:r>
                  <a:rPr lang="en-IN" i="1" dirty="0">
                    <a:latin typeface="Times New Roman" panose="02020603050405020304" pitchFamily="18" charset="0"/>
                    <a:cs typeface="Times New Roman" panose="02020603050405020304" pitchFamily="18" charset="0"/>
                  </a:rPr>
                  <a:t>What is the probability that someone will not play golf given that the weather is Rainy, Hot, High humidity and No wind?</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xmlns="">
          <p:sp>
            <p:nvSpPr>
              <p:cNvPr id="2" name="Content Placeholder 1">
                <a:extLst>
                  <a:ext uri="{FF2B5EF4-FFF2-40B4-BE49-F238E27FC236}">
                    <a16:creationId xmlns:a16="http://schemas.microsoft.com/office/drawing/2014/main" id="{9F826102-9E11-8732-14E0-B7D0473D1116}"/>
                  </a:ext>
                </a:extLst>
              </p:cNvPr>
              <p:cNvSpPr>
                <a:spLocks noGrp="1" noRot="1" noChangeAspect="1" noMove="1" noResize="1" noEditPoints="1" noAdjustHandles="1" noChangeArrowheads="1" noChangeShapeType="1" noTextEdit="1"/>
              </p:cNvSpPr>
              <p:nvPr>
                <p:ph idx="1"/>
              </p:nvPr>
            </p:nvSpPr>
            <p:spPr>
              <a:xfrm>
                <a:off x="457200" y="609600"/>
                <a:ext cx="8229600" cy="4525963"/>
              </a:xfrm>
              <a:blipFill>
                <a:blip r:embed="rId2"/>
                <a:stretch>
                  <a:fillRect t="-1752" r="-741"/>
                </a:stretch>
              </a:blipFill>
            </p:spPr>
            <p:txBody>
              <a:bodyPr/>
              <a:lstStyle/>
              <a:p>
                <a:r>
                  <a:rPr lang="en-IN">
                    <a:noFill/>
                  </a:rPr>
                  <a:t> </a:t>
                </a:r>
              </a:p>
            </p:txBody>
          </p:sp>
        </mc:Fallback>
      </mc:AlternateContent>
    </p:spTree>
    <p:extLst>
      <p:ext uri="{BB962C8B-B14F-4D97-AF65-F5344CB8AC3E}">
        <p14:creationId xmlns:p14="http://schemas.microsoft.com/office/powerpoint/2010/main" val="3540258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1B94CC2-03CD-C29E-3DEE-BAF04FEA89E1}"/>
                  </a:ext>
                </a:extLst>
              </p:cNvPr>
              <p:cNvSpPr>
                <a:spLocks noGrp="1"/>
              </p:cNvSpPr>
              <p:nvPr>
                <p:ph idx="1"/>
              </p:nvPr>
            </p:nvSpPr>
            <p:spPr/>
            <p:txBody>
              <a:bodyPr>
                <a:normAutofit lnSpcReduction="10000"/>
              </a:bodyPr>
              <a:lstStyle/>
              <a:p>
                <a:pPr fontAlgn="base"/>
                <a:r>
                  <a:rPr lang="en-IN" dirty="0">
                    <a:latin typeface="Times New Roman" panose="02020603050405020304" pitchFamily="18" charset="0"/>
                    <a:cs typeface="Times New Roman" panose="02020603050405020304" pitchFamily="18" charset="0"/>
                  </a:rPr>
                  <a:t>The "naive" in Naive Bayes comes from the assumption that all features are independent given the class. That is:</a:t>
                </a:r>
              </a:p>
              <a:p>
                <a:pPr fontAlgn="base"/>
                <a14:m>
                  <m:oMath xmlns:m="http://schemas.openxmlformats.org/officeDocument/2006/math">
                    <m:r>
                      <a:rPr lang="en-IN" i="1">
                        <a:latin typeface="Cambria Math" panose="02040503050406030204" pitchFamily="18" charset="0"/>
                      </a:rPr>
                      <m:t>𝑃</m:t>
                    </m:r>
                    <m:d>
                      <m:dPr>
                        <m:sep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e>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e>
                      <m:e>
                        <m:r>
                          <a:rPr lang="en-IN">
                            <a:latin typeface="Cambria Math" panose="02040503050406030204" pitchFamily="18" charset="0"/>
                          </a:rPr>
                          <m:t>.</m:t>
                        </m:r>
                      </m:e>
                      <m:e>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a:latin typeface="Cambria Math" panose="02040503050406030204" pitchFamily="18" charset="0"/>
                          </a:rPr>
                          <m:t>∣</m:t>
                        </m:r>
                        <m:r>
                          <a:rPr lang="en-IN" i="1">
                            <a:latin typeface="Cambria Math" panose="02040503050406030204" pitchFamily="18" charset="0"/>
                          </a:rPr>
                          <m:t>𝑦</m:t>
                        </m:r>
                      </m:e>
                    </m:d>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r>
                          <a:rPr lang="en-IN" i="1">
                            <a:latin typeface="Cambria Math" panose="02040503050406030204" pitchFamily="18" charset="0"/>
                          </a:rPr>
                          <m:t>𝑦</m:t>
                        </m:r>
                      </m:e>
                    </m:d>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𝑦</m:t>
                        </m:r>
                      </m:e>
                    </m:d>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a:latin typeface="Cambria Math" panose="02040503050406030204" pitchFamily="18" charset="0"/>
                          </a:rPr>
                          <m:t>∣</m:t>
                        </m:r>
                        <m:r>
                          <a:rPr lang="en-IN" i="1">
                            <a:latin typeface="Cambria Math" panose="02040503050406030204" pitchFamily="18" charset="0"/>
                          </a:rPr>
                          <m:t>𝑦</m:t>
                        </m:r>
                      </m:e>
                    </m:d>
                  </m:oMath>
                </a14:m>
                <a:endParaRPr lang="en-IN" i="1"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Thus, Bayes' theorem becomes:</a:t>
                </a:r>
              </a:p>
              <a:p>
                <a:pPr fontAlgn="base"/>
                <a14:m>
                  <m:oMath xmlns:m="http://schemas.openxmlformats.org/officeDocument/2006/math">
                    <m:r>
                      <a:rPr lang="en-IN" i="1">
                        <a:latin typeface="Cambria Math" panose="02040503050406030204" pitchFamily="18" charset="0"/>
                      </a:rPr>
                      <m:t>𝑃</m:t>
                    </m:r>
                    <m:d>
                      <m:dPr>
                        <m:sepChr m:val=","/>
                        <m:ctrlPr>
                          <a:rPr lang="en-IN" i="1">
                            <a:latin typeface="Cambria Math" panose="02040503050406030204" pitchFamily="18" charset="0"/>
                          </a:rPr>
                        </m:ctrlPr>
                      </m:dPr>
                      <m:e>
                        <m:r>
                          <a:rPr lang="en-IN" i="1">
                            <a:latin typeface="Cambria Math" panose="02040503050406030204" pitchFamily="18" charset="0"/>
                          </a:rPr>
                          <m:t>𝑦</m:t>
                        </m:r>
                      </m:e>
                      <m:e>
                        <m:r>
                          <a:rPr lang="en-IN">
                            <a:latin typeface="Cambria Math" panose="02040503050406030204" pitchFamily="18" charset="0"/>
                          </a:rPr>
                          <m:t>∣</m:t>
                        </m:r>
                      </m:e>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𝑦</m:t>
                            </m:r>
                          </m:e>
                        </m:d>
                        <m:r>
                          <a:rPr lang="en-IN">
                            <a:latin typeface="Cambria Math" panose="02040503050406030204" pitchFamily="18" charset="0"/>
                          </a:rPr>
                          <m:t>⋅</m:t>
                        </m:r>
                        <m:nary>
                          <m:naryPr>
                            <m:chr m:val="∏"/>
                            <m:limLoc m:val="subSup"/>
                            <m:grow m:val="on"/>
                            <m:ctrlPr>
                              <a:rPr lang="en-IN" i="1">
                                <a:latin typeface="Cambria Math" panose="02040503050406030204" pitchFamily="18" charset="0"/>
                              </a:rPr>
                            </m:ctrlPr>
                          </m:naryPr>
                          <m:sub>
                            <m:r>
                              <a:rPr lang="en-IN" i="1">
                                <a:latin typeface="Cambria Math" panose="02040503050406030204" pitchFamily="18" charset="0"/>
                              </a:rPr>
                              <m:t>𝑖</m:t>
                            </m:r>
                            <m:r>
                              <a:rPr lang="en-IN">
                                <a:latin typeface="Cambria Math" panose="02040503050406030204" pitchFamily="18" charset="0"/>
                              </a:rPr>
                              <m:t>=1</m:t>
                            </m:r>
                          </m:sub>
                          <m:sup>
                            <m:r>
                              <a:rPr lang="en-IN" i="1">
                                <a:latin typeface="Cambria Math" panose="02040503050406030204" pitchFamily="18" charset="0"/>
                              </a:rPr>
                              <m:t>𝑛</m:t>
                            </m:r>
                          </m:sup>
                          <m:e>
                            <m:r>
                              <a:rPr lang="en-IN" i="1">
                                <a:latin typeface="Cambria Math" panose="02040503050406030204" pitchFamily="18" charset="0"/>
                              </a:rPr>
                              <m:t>𝑃</m:t>
                            </m:r>
                          </m:e>
                        </m:nary>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𝑖</m:t>
                                </m:r>
                              </m:sub>
                            </m:sSub>
                            <m:r>
                              <a:rPr lang="en-IN">
                                <a:latin typeface="Cambria Math" panose="02040503050406030204" pitchFamily="18" charset="0"/>
                              </a:rPr>
                              <m:t>∣</m:t>
                            </m:r>
                            <m:r>
                              <a:rPr lang="en-IN" i="1">
                                <a:latin typeface="Cambria Math" panose="02040503050406030204" pitchFamily="18" charset="0"/>
                              </a:rPr>
                              <m:t>𝑦</m:t>
                            </m:r>
                          </m:e>
                        </m:d>
                      </m:num>
                      <m:den>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𝑋</m:t>
                            </m:r>
                          </m:e>
                        </m:d>
                      </m:den>
                    </m:f>
                  </m:oMath>
                </a14:m>
                <a:endParaRPr lang="en-IN" i="1"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Since the denominator is constant for a given input, we can write:</a:t>
                </a:r>
              </a:p>
              <a:p>
                <a:pPr fontAlgn="base"/>
                <a14:m>
                  <m:oMath xmlns:m="http://schemas.openxmlformats.org/officeDocument/2006/math">
                    <m:r>
                      <a:rPr lang="en-IN" i="1">
                        <a:latin typeface="Cambria Math" panose="02040503050406030204" pitchFamily="18" charset="0"/>
                      </a:rPr>
                      <m:t>𝑃</m:t>
                    </m:r>
                    <m:d>
                      <m:dPr>
                        <m:sepChr m:val=","/>
                        <m:ctrlPr>
                          <a:rPr lang="en-IN" i="1">
                            <a:latin typeface="Cambria Math" panose="02040503050406030204" pitchFamily="18" charset="0"/>
                          </a:rPr>
                        </m:ctrlPr>
                      </m:dPr>
                      <m:e>
                        <m:r>
                          <a:rPr lang="en-IN" i="1">
                            <a:latin typeface="Cambria Math" panose="02040503050406030204" pitchFamily="18" charset="0"/>
                          </a:rPr>
                          <m:t>𝑦</m:t>
                        </m:r>
                      </m:e>
                      <m:e>
                        <m:r>
                          <a:rPr lang="en-IN">
                            <a:latin typeface="Cambria Math" panose="02040503050406030204" pitchFamily="18" charset="0"/>
                          </a:rPr>
                          <m:t>∣</m:t>
                        </m:r>
                      </m:e>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e>
                    </m:d>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𝑦</m:t>
                        </m:r>
                      </m:e>
                    </m:d>
                    <m:r>
                      <a:rPr lang="en-IN">
                        <a:latin typeface="Cambria Math" panose="02040503050406030204" pitchFamily="18" charset="0"/>
                      </a:rPr>
                      <m:t>⋅</m:t>
                    </m:r>
                    <m:nary>
                      <m:naryPr>
                        <m:chr m:val="∏"/>
                        <m:limLoc m:val="subSup"/>
                        <m:grow m:val="on"/>
                        <m:ctrlPr>
                          <a:rPr lang="en-IN" i="1">
                            <a:latin typeface="Cambria Math" panose="02040503050406030204" pitchFamily="18" charset="0"/>
                          </a:rPr>
                        </m:ctrlPr>
                      </m:naryPr>
                      <m:sub>
                        <m:r>
                          <a:rPr lang="en-IN" i="1">
                            <a:latin typeface="Cambria Math" panose="02040503050406030204" pitchFamily="18" charset="0"/>
                          </a:rPr>
                          <m:t>𝑖</m:t>
                        </m:r>
                        <m:r>
                          <a:rPr lang="en-IN">
                            <a:latin typeface="Cambria Math" panose="02040503050406030204" pitchFamily="18" charset="0"/>
                          </a:rPr>
                          <m:t>=1</m:t>
                        </m:r>
                      </m:sub>
                      <m:sup>
                        <m:r>
                          <a:rPr lang="en-IN" i="1">
                            <a:latin typeface="Cambria Math" panose="02040503050406030204" pitchFamily="18" charset="0"/>
                          </a:rPr>
                          <m:t>𝑛</m:t>
                        </m:r>
                      </m:sup>
                      <m:e>
                        <m:r>
                          <a:rPr lang="en-IN" i="1">
                            <a:latin typeface="Cambria Math" panose="02040503050406030204" pitchFamily="18" charset="0"/>
                          </a:rPr>
                          <m:t>𝑃</m:t>
                        </m:r>
                      </m:e>
                    </m:nary>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𝑖</m:t>
                            </m:r>
                          </m:sub>
                        </m:sSub>
                        <m:r>
                          <a:rPr lang="en-IN">
                            <a:latin typeface="Cambria Math" panose="02040503050406030204" pitchFamily="18" charset="0"/>
                          </a:rPr>
                          <m:t>∣</m:t>
                        </m:r>
                        <m:r>
                          <a:rPr lang="en-IN" i="1">
                            <a:latin typeface="Cambria Math" panose="02040503050406030204" pitchFamily="18" charset="0"/>
                          </a:rPr>
                          <m:t>𝑦</m:t>
                        </m:r>
                      </m:e>
                    </m:d>
                  </m:oMath>
                </a14:m>
                <a:endParaRPr lang="en-IN" i="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xmlns="">
          <p:sp>
            <p:nvSpPr>
              <p:cNvPr id="2" name="Content Placeholder 1">
                <a:extLst>
                  <a:ext uri="{FF2B5EF4-FFF2-40B4-BE49-F238E27FC236}">
                    <a16:creationId xmlns:a16="http://schemas.microsoft.com/office/drawing/2014/main" id="{E1B94CC2-03CD-C29E-3DEE-BAF04FEA89E1}"/>
                  </a:ext>
                </a:extLst>
              </p:cNvPr>
              <p:cNvSpPr>
                <a:spLocks noGrp="1" noRot="1" noChangeAspect="1" noMove="1" noResize="1" noEditPoints="1" noAdjustHandles="1" noChangeArrowheads="1" noChangeShapeType="1" noTextEdit="1"/>
              </p:cNvSpPr>
              <p:nvPr>
                <p:ph idx="1"/>
              </p:nvPr>
            </p:nvSpPr>
            <p:spPr>
              <a:blipFill>
                <a:blip r:embed="rId2"/>
                <a:stretch>
                  <a:fillRect t="-2156" r="-1037"/>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7940CEAB-5882-9363-6A62-97B88F4F52C8}"/>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4155294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01A2784-FBB9-42CA-5AC6-0B9676E59EB2}"/>
                  </a:ext>
                </a:extLst>
              </p:cNvPr>
              <p:cNvSpPr>
                <a:spLocks noGrp="1"/>
              </p:cNvSpPr>
              <p:nvPr>
                <p:ph idx="1"/>
              </p:nvPr>
            </p:nvSpPr>
            <p:spPr>
              <a:xfrm>
                <a:off x="457200" y="1828800"/>
                <a:ext cx="8229600" cy="3001963"/>
              </a:xfrm>
            </p:spPr>
            <p:txBody>
              <a:bodyPr/>
              <a:lstStyle/>
              <a:p>
                <a:pPr fontAlgn="base"/>
                <a:r>
                  <a:rPr lang="en-IN" dirty="0">
                    <a:latin typeface="Times New Roman" panose="02020603050405020304" pitchFamily="18" charset="0"/>
                    <a:cs typeface="Times New Roman" panose="02020603050405020304" pitchFamily="18" charset="0"/>
                  </a:rPr>
                  <a:t>We compute the posterior for each class </a:t>
                </a:r>
                <a14:m>
                  <m:oMath xmlns:m="http://schemas.openxmlformats.org/officeDocument/2006/math">
                    <m:r>
                      <a:rPr lang="en-IN" i="1">
                        <a:latin typeface="Cambria Math" panose="02040503050406030204" pitchFamily="18" charset="0"/>
                      </a:rPr>
                      <m:t>𝑦</m:t>
                    </m:r>
                  </m:oMath>
                </a14:m>
                <a:r>
                  <a:rPr lang="en-IN" dirty="0">
                    <a:latin typeface="Times New Roman" panose="02020603050405020304" pitchFamily="18" charset="0"/>
                    <a:cs typeface="Times New Roman" panose="02020603050405020304" pitchFamily="18" charset="0"/>
                  </a:rPr>
                  <a:t> and choose the class with the highest probability:</a:t>
                </a:r>
              </a:p>
              <a:p>
                <a:pPr fontAlgn="base"/>
                <a14:m>
                  <m:oMath xmlns:m="http://schemas.openxmlformats.org/officeDocument/2006/math">
                    <m:acc>
                      <m:accPr>
                        <m:chr m:val="̂"/>
                        <m:ctrlPr>
                          <a:rPr lang="en-IN" i="1">
                            <a:latin typeface="Cambria Math" panose="02040503050406030204" pitchFamily="18" charset="0"/>
                          </a:rPr>
                        </m:ctrlPr>
                      </m:accPr>
                      <m:e>
                        <m:r>
                          <a:rPr lang="en-IN" i="1">
                            <a:latin typeface="Cambria Math" panose="02040503050406030204" pitchFamily="18" charset="0"/>
                          </a:rPr>
                          <m:t>𝑦</m:t>
                        </m:r>
                      </m:e>
                    </m:acc>
                    <m:r>
                      <a:rPr lang="en-IN">
                        <a:latin typeface="Cambria Math" panose="02040503050406030204" pitchFamily="18" charset="0"/>
                      </a:rPr>
                      <m:t>=</m:t>
                    </m:r>
                    <m:func>
                      <m:funcPr>
                        <m:ctrlPr>
                          <a:rPr lang="en-IN">
                            <a:latin typeface="Cambria Math" panose="02040503050406030204" pitchFamily="18" charset="0"/>
                          </a:rPr>
                        </m:ctrlPr>
                      </m:funcPr>
                      <m:fName>
                        <m:r>
                          <m:rPr>
                            <m:sty m:val="p"/>
                          </m:rPr>
                          <a:rPr lang="en-IN">
                            <a:latin typeface="Cambria Math" panose="02040503050406030204" pitchFamily="18" charset="0"/>
                          </a:rPr>
                          <m:t>arg</m:t>
                        </m:r>
                      </m:fName>
                      <m:e>
                        <m:sSub>
                          <m:sSubPr>
                            <m:ctrlPr>
                              <a:rPr lang="en-IN">
                                <a:latin typeface="Cambria Math" panose="02040503050406030204" pitchFamily="18" charset="0"/>
                              </a:rPr>
                            </m:ctrlPr>
                          </m:sSubPr>
                          <m:e>
                            <m:r>
                              <m:rPr>
                                <m:sty m:val="p"/>
                              </m:rPr>
                              <a:rPr lang="en-IN">
                                <a:latin typeface="Cambria Math" panose="02040503050406030204" pitchFamily="18" charset="0"/>
                              </a:rPr>
                              <m:t>max</m:t>
                            </m:r>
                          </m:e>
                          <m:sub>
                            <m:r>
                              <a:rPr lang="en-IN" i="1">
                                <a:latin typeface="Cambria Math" panose="02040503050406030204" pitchFamily="18" charset="0"/>
                              </a:rPr>
                              <m:t>𝑦</m:t>
                            </m:r>
                          </m:sub>
                        </m:sSub>
                      </m:e>
                    </m:func>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𝑦</m:t>
                        </m:r>
                      </m:e>
                    </m:d>
                    <m:r>
                      <a:rPr lang="en-IN">
                        <a:latin typeface="Cambria Math" panose="02040503050406030204" pitchFamily="18" charset="0"/>
                      </a:rPr>
                      <m:t>⋅</m:t>
                    </m:r>
                    <m:nary>
                      <m:naryPr>
                        <m:chr m:val="∏"/>
                        <m:limLoc m:val="subSup"/>
                        <m:grow m:val="on"/>
                        <m:ctrlPr>
                          <a:rPr lang="en-IN" i="1">
                            <a:latin typeface="Cambria Math" panose="02040503050406030204" pitchFamily="18" charset="0"/>
                          </a:rPr>
                        </m:ctrlPr>
                      </m:naryPr>
                      <m:sub>
                        <m:r>
                          <a:rPr lang="en-IN" i="1">
                            <a:latin typeface="Cambria Math" panose="02040503050406030204" pitchFamily="18" charset="0"/>
                          </a:rPr>
                          <m:t>𝑖</m:t>
                        </m:r>
                        <m:r>
                          <a:rPr lang="en-IN">
                            <a:latin typeface="Cambria Math" panose="02040503050406030204" pitchFamily="18" charset="0"/>
                          </a:rPr>
                          <m:t>=1</m:t>
                        </m:r>
                      </m:sub>
                      <m:sup>
                        <m:r>
                          <a:rPr lang="en-IN" i="1">
                            <a:latin typeface="Cambria Math" panose="02040503050406030204" pitchFamily="18" charset="0"/>
                          </a:rPr>
                          <m:t>𝑛</m:t>
                        </m:r>
                      </m:sup>
                      <m:e>
                        <m:r>
                          <a:rPr lang="en-IN" i="1">
                            <a:latin typeface="Cambria Math" panose="02040503050406030204" pitchFamily="18" charset="0"/>
                          </a:rPr>
                          <m:t>𝑃</m:t>
                        </m:r>
                      </m:e>
                    </m:nary>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𝑖</m:t>
                            </m:r>
                          </m:sub>
                        </m:sSub>
                        <m:r>
                          <a:rPr lang="en-IN">
                            <a:latin typeface="Cambria Math" panose="02040503050406030204" pitchFamily="18" charset="0"/>
                          </a:rPr>
                          <m:t>∣</m:t>
                        </m:r>
                        <m:r>
                          <a:rPr lang="en-IN" i="1">
                            <a:latin typeface="Cambria Math" panose="02040503050406030204" pitchFamily="18" charset="0"/>
                          </a:rPr>
                          <m:t>𝑦</m:t>
                        </m:r>
                      </m:e>
                    </m:d>
                  </m:oMath>
                </a14:m>
                <a:endParaRPr lang="en-IN" i="1"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This becomes our Naive Bayes classifier.</a:t>
                </a:r>
              </a:p>
              <a:p>
                <a:endParaRPr lang="en-IN" dirty="0">
                  <a:latin typeface="Times New Roman" panose="02020603050405020304" pitchFamily="18" charset="0"/>
                  <a:cs typeface="Times New Roman" panose="02020603050405020304" pitchFamily="18" charset="0"/>
                </a:endParaRPr>
              </a:p>
            </p:txBody>
          </p:sp>
        </mc:Choice>
        <mc:Fallback xmlns="">
          <p:sp>
            <p:nvSpPr>
              <p:cNvPr id="2" name="Content Placeholder 1">
                <a:extLst>
                  <a:ext uri="{FF2B5EF4-FFF2-40B4-BE49-F238E27FC236}">
                    <a16:creationId xmlns:a16="http://schemas.microsoft.com/office/drawing/2014/main" id="{801A2784-FBB9-42CA-5AC6-0B9676E59EB2}"/>
                  </a:ext>
                </a:extLst>
              </p:cNvPr>
              <p:cNvSpPr>
                <a:spLocks noGrp="1" noRot="1" noChangeAspect="1" noMove="1" noResize="1" noEditPoints="1" noAdjustHandles="1" noChangeArrowheads="1" noChangeShapeType="1" noTextEdit="1"/>
              </p:cNvSpPr>
              <p:nvPr>
                <p:ph idx="1"/>
              </p:nvPr>
            </p:nvSpPr>
            <p:spPr>
              <a:xfrm>
                <a:off x="457200" y="1828800"/>
                <a:ext cx="8229600" cy="3001963"/>
              </a:xfrm>
              <a:blipFill>
                <a:blip r:embed="rId2"/>
                <a:stretch>
                  <a:fillRect t="-2033"/>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286B2B58-F6B1-3AAB-A963-18458132B944}"/>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Constructing the Naive Bayes Classifier</a:t>
            </a:r>
            <a:endParaRPr lang="en-IN" dirty="0"/>
          </a:p>
        </p:txBody>
      </p:sp>
    </p:spTree>
    <p:extLst>
      <p:ext uri="{BB962C8B-B14F-4D97-AF65-F5344CB8AC3E}">
        <p14:creationId xmlns:p14="http://schemas.microsoft.com/office/powerpoint/2010/main" val="3423125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796B2-EB8A-EA8D-571B-711A2EDE6A57}"/>
              </a:ext>
            </a:extLst>
          </p:cNvPr>
          <p:cNvSpPr>
            <a:spLocks noGrp="1"/>
          </p:cNvSpPr>
          <p:nvPr>
            <p:ph idx="1"/>
          </p:nvPr>
        </p:nvSpPr>
        <p:spPr>
          <a:xfrm>
            <a:off x="304800" y="304800"/>
            <a:ext cx="2743200" cy="4525963"/>
          </a:xfrm>
        </p:spPr>
        <p:txBody>
          <a:bodyPr>
            <a:normAutofit/>
          </a:bodyPr>
          <a:lstStyle/>
          <a:p>
            <a:pPr fontAlgn="base"/>
            <a:r>
              <a:rPr lang="en-IN" sz="2000" b="1" dirty="0">
                <a:latin typeface="Times New Roman" panose="02020603050405020304" pitchFamily="18" charset="0"/>
                <a:cs typeface="Times New Roman" panose="02020603050405020304" pitchFamily="18" charset="0"/>
              </a:rPr>
              <a:t>Example: Weather Dataset</a:t>
            </a:r>
          </a:p>
          <a:p>
            <a:pPr fontAlgn="base"/>
            <a:r>
              <a:rPr lang="en-IN" sz="2000" dirty="0">
                <a:latin typeface="Times New Roman" panose="02020603050405020304" pitchFamily="18" charset="0"/>
                <a:cs typeface="Times New Roman" panose="02020603050405020304" pitchFamily="18" charset="0"/>
              </a:rPr>
              <a:t>Let’s take a dataset used for predicting if golf is played based on:</a:t>
            </a:r>
          </a:p>
          <a:p>
            <a:pPr lvl="0" fontAlgn="base"/>
            <a:r>
              <a:rPr lang="en-IN" sz="2000" b="1" dirty="0">
                <a:latin typeface="Times New Roman" panose="02020603050405020304" pitchFamily="18" charset="0"/>
                <a:cs typeface="Times New Roman" panose="02020603050405020304" pitchFamily="18" charset="0"/>
              </a:rPr>
              <a:t>Outlook</a:t>
            </a:r>
            <a:r>
              <a:rPr lang="en-IN" sz="2000" dirty="0">
                <a:latin typeface="Times New Roman" panose="02020603050405020304" pitchFamily="18" charset="0"/>
                <a:cs typeface="Times New Roman" panose="02020603050405020304" pitchFamily="18" charset="0"/>
              </a:rPr>
              <a:t>: Sunny, Rainy, Overcast</a:t>
            </a:r>
          </a:p>
          <a:p>
            <a:pPr lvl="0" fontAlgn="base"/>
            <a:r>
              <a:rPr lang="en-IN" sz="2000" b="1" dirty="0">
                <a:latin typeface="Times New Roman" panose="02020603050405020304" pitchFamily="18" charset="0"/>
                <a:cs typeface="Times New Roman" panose="02020603050405020304" pitchFamily="18" charset="0"/>
              </a:rPr>
              <a:t>Temperature</a:t>
            </a:r>
            <a:r>
              <a:rPr lang="en-IN" sz="2000" dirty="0">
                <a:latin typeface="Times New Roman" panose="02020603050405020304" pitchFamily="18" charset="0"/>
                <a:cs typeface="Times New Roman" panose="02020603050405020304" pitchFamily="18" charset="0"/>
              </a:rPr>
              <a:t>: Hot, Mild, Cool</a:t>
            </a:r>
          </a:p>
          <a:p>
            <a:pPr lvl="0" fontAlgn="base"/>
            <a:r>
              <a:rPr lang="en-IN" sz="2000" b="1" dirty="0">
                <a:latin typeface="Times New Roman" panose="02020603050405020304" pitchFamily="18" charset="0"/>
                <a:cs typeface="Times New Roman" panose="02020603050405020304" pitchFamily="18" charset="0"/>
              </a:rPr>
              <a:t>Humidity</a:t>
            </a:r>
            <a:r>
              <a:rPr lang="en-IN" sz="2000" dirty="0">
                <a:latin typeface="Times New Roman" panose="02020603050405020304" pitchFamily="18" charset="0"/>
                <a:cs typeface="Times New Roman" panose="02020603050405020304" pitchFamily="18" charset="0"/>
              </a:rPr>
              <a:t>: High, Normal</a:t>
            </a:r>
          </a:p>
          <a:p>
            <a:pPr lvl="0" fontAlgn="base"/>
            <a:r>
              <a:rPr lang="en-IN" sz="2000" b="1" dirty="0">
                <a:latin typeface="Times New Roman" panose="02020603050405020304" pitchFamily="18" charset="0"/>
                <a:cs typeface="Times New Roman" panose="02020603050405020304" pitchFamily="18" charset="0"/>
              </a:rPr>
              <a:t>Wind</a:t>
            </a:r>
            <a:r>
              <a:rPr lang="en-IN" sz="2000" dirty="0">
                <a:latin typeface="Times New Roman" panose="02020603050405020304" pitchFamily="18" charset="0"/>
                <a:cs typeface="Times New Roman" panose="02020603050405020304" pitchFamily="18" charset="0"/>
              </a:rPr>
              <a:t>: True, False</a:t>
            </a:r>
          </a:p>
          <a:p>
            <a:endParaRPr lang="en-IN" sz="20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F576DDD-D573-BC1E-CB28-274C469B8C24}"/>
              </a:ext>
            </a:extLst>
          </p:cNvPr>
          <p:cNvGraphicFramePr>
            <a:graphicFrameLocks noGrp="1"/>
          </p:cNvGraphicFramePr>
          <p:nvPr>
            <p:extLst>
              <p:ext uri="{D42A27DB-BD31-4B8C-83A1-F6EECF244321}">
                <p14:modId xmlns:p14="http://schemas.microsoft.com/office/powerpoint/2010/main" val="2398776471"/>
              </p:ext>
            </p:extLst>
          </p:nvPr>
        </p:nvGraphicFramePr>
        <p:xfrm>
          <a:off x="3429000" y="152400"/>
          <a:ext cx="5638800" cy="5618800"/>
        </p:xfrm>
        <a:graphic>
          <a:graphicData uri="http://schemas.openxmlformats.org/drawingml/2006/table">
            <a:tbl>
              <a:tblPr firstRow="1" firstCol="1" bandRow="1">
                <a:tableStyleId>{5940675A-B579-460E-94D1-54222C63F5DA}</a:tableStyleId>
              </a:tblPr>
              <a:tblGrid>
                <a:gridCol w="609600">
                  <a:extLst>
                    <a:ext uri="{9D8B030D-6E8A-4147-A177-3AD203B41FA5}">
                      <a16:colId xmlns:a16="http://schemas.microsoft.com/office/drawing/2014/main" val="1829540756"/>
                    </a:ext>
                  </a:extLst>
                </a:gridCol>
                <a:gridCol w="914400">
                  <a:extLst>
                    <a:ext uri="{9D8B030D-6E8A-4147-A177-3AD203B41FA5}">
                      <a16:colId xmlns:a16="http://schemas.microsoft.com/office/drawing/2014/main" val="750372810"/>
                    </a:ext>
                  </a:extLst>
                </a:gridCol>
                <a:gridCol w="1295400">
                  <a:extLst>
                    <a:ext uri="{9D8B030D-6E8A-4147-A177-3AD203B41FA5}">
                      <a16:colId xmlns:a16="http://schemas.microsoft.com/office/drawing/2014/main" val="364597087"/>
                    </a:ext>
                  </a:extLst>
                </a:gridCol>
                <a:gridCol w="939800">
                  <a:extLst>
                    <a:ext uri="{9D8B030D-6E8A-4147-A177-3AD203B41FA5}">
                      <a16:colId xmlns:a16="http://schemas.microsoft.com/office/drawing/2014/main" val="3567983005"/>
                    </a:ext>
                  </a:extLst>
                </a:gridCol>
                <a:gridCol w="939800">
                  <a:extLst>
                    <a:ext uri="{9D8B030D-6E8A-4147-A177-3AD203B41FA5}">
                      <a16:colId xmlns:a16="http://schemas.microsoft.com/office/drawing/2014/main" val="3187652330"/>
                    </a:ext>
                  </a:extLst>
                </a:gridCol>
                <a:gridCol w="939800">
                  <a:extLst>
                    <a:ext uri="{9D8B030D-6E8A-4147-A177-3AD203B41FA5}">
                      <a16:colId xmlns:a16="http://schemas.microsoft.com/office/drawing/2014/main" val="173579423"/>
                    </a:ext>
                  </a:extLst>
                </a:gridCol>
              </a:tblGrid>
              <a:tr h="469838">
                <a:tc>
                  <a:txBody>
                    <a:bodyPr/>
                    <a:lstStyle/>
                    <a:p>
                      <a:pPr>
                        <a:lnSpc>
                          <a:spcPct val="115000"/>
                        </a:lnSpc>
                        <a:buNone/>
                      </a:pPr>
                      <a:endParaRPr lang="en-IN" sz="1200" kern="100">
                        <a:effectLst/>
                        <a:latin typeface="Times New Roman" panose="02020603050405020304" pitchFamily="18" charset="0"/>
                        <a:cs typeface="Times New Roman" panose="02020603050405020304" pitchFamily="18" charset="0"/>
                      </a:endParaRPr>
                    </a:p>
                  </a:txBody>
                  <a:tcPr marL="24909" marR="24909"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Outlook</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Temperature</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Humidity</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Windy</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tc>
                  <a:txBody>
                    <a:bodyPr/>
                    <a:lstStyle/>
                    <a:p>
                      <a:pPr>
                        <a:lnSpc>
                          <a:spcPct val="115000"/>
                        </a:lnSpc>
                        <a:spcAft>
                          <a:spcPts val="800"/>
                        </a:spcAft>
                        <a:buNone/>
                      </a:pPr>
                      <a:r>
                        <a:rPr lang="en-IN" sz="1200" b="1" kern="100" dirty="0">
                          <a:effectLst/>
                          <a:latin typeface="Times New Roman" panose="02020603050405020304" pitchFamily="18" charset="0"/>
                          <a:cs typeface="Times New Roman" panose="02020603050405020304" pitchFamily="18" charset="0"/>
                        </a:rPr>
                        <a:t>Play Golf</a:t>
                      </a:r>
                      <a:endParaRPr lang="en-IN"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62272" marB="62272" anchor="b"/>
                </a:tc>
                <a:extLst>
                  <a:ext uri="{0D108BD9-81ED-4DB2-BD59-A6C34878D82A}">
                    <a16:rowId xmlns:a16="http://schemas.microsoft.com/office/drawing/2014/main" val="2406525919"/>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0</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991480034"/>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943669714"/>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High</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568256987"/>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744836952"/>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2961838060"/>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Sunny</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985938348"/>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6</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017401667"/>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7</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2096059043"/>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8</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Cool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3631252071"/>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9</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2300676786"/>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Rainy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325328476"/>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11</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08476361"/>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12</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Overcast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Hot</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Normal</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False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Yes</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3149356656"/>
                  </a:ext>
                </a:extLst>
              </a:tr>
              <a:tr h="363769">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13</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Sunny</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Mild</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High</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True</a:t>
                      </a:r>
                      <a:endParaRPr lang="en-IN"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tc>
                  <a:txBody>
                    <a:bodyPr/>
                    <a:lstStyle/>
                    <a:p>
                      <a:pP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a:t>
                      </a:r>
                      <a:endParaRPr lang="en-IN"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2272" marR="62272" marT="87181" marB="87181" anchor="ctr"/>
                </a:tc>
                <a:extLst>
                  <a:ext uri="{0D108BD9-81ED-4DB2-BD59-A6C34878D82A}">
                    <a16:rowId xmlns:a16="http://schemas.microsoft.com/office/drawing/2014/main" val="1539339590"/>
                  </a:ext>
                </a:extLst>
              </a:tr>
            </a:tbl>
          </a:graphicData>
        </a:graphic>
      </p:graphicFrame>
      <mc:AlternateContent xmlns:mc="http://schemas.openxmlformats.org/markup-compatibility/2006" xmlns:a14="http://schemas.microsoft.com/office/drawing/2010/main">
        <mc:Choice Requires="a14">
          <p:sp>
            <p:nvSpPr>
              <p:cNvPr id="6" name="Content Placeholder 1">
                <a:extLst>
                  <a:ext uri="{FF2B5EF4-FFF2-40B4-BE49-F238E27FC236}">
                    <a16:creationId xmlns:a16="http://schemas.microsoft.com/office/drawing/2014/main" id="{51AB34B6-DC84-8145-713B-63A491FD1B52}"/>
                  </a:ext>
                </a:extLst>
              </p:cNvPr>
              <p:cNvSpPr txBox="1">
                <a:spLocks/>
              </p:cNvSpPr>
              <p:nvPr/>
            </p:nvSpPr>
            <p:spPr>
              <a:xfrm>
                <a:off x="3048000" y="5891981"/>
                <a:ext cx="6744929" cy="99060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fontAlgn="base"/>
                <a:r>
                  <a:rPr lang="en-IN" sz="2000" b="1" dirty="0">
                    <a:latin typeface="Times New Roman" panose="02020603050405020304" pitchFamily="18" charset="0"/>
                    <a:cs typeface="Times New Roman" panose="02020603050405020304" pitchFamily="18" charset="0"/>
                  </a:rPr>
                  <a:t>Input: </a:t>
                </a:r>
                <a14:m>
                  <m:oMath xmlns:m="http://schemas.openxmlformats.org/officeDocument/2006/math">
                    <m:r>
                      <a:rPr lang="en-IN" sz="2000" i="1">
                        <a:latin typeface="Cambria Math" panose="02040503050406030204" pitchFamily="18" charset="0"/>
                      </a:rPr>
                      <m:t>𝑋</m:t>
                    </m:r>
                    <m:r>
                      <a:rPr lang="en-IN" sz="2000">
                        <a:latin typeface="Cambria Math" panose="02040503050406030204" pitchFamily="18" charset="0"/>
                      </a:rPr>
                      <m:t>=</m:t>
                    </m:r>
                    <m:r>
                      <a:rPr lang="en-IN" sz="2000" i="1" smtClean="0">
                        <a:latin typeface="Cambria Math" panose="02040503050406030204" pitchFamily="18" charset="0"/>
                      </a:rPr>
                      <m:t>(</m:t>
                    </m:r>
                  </m:oMath>
                </a14:m>
                <a:r>
                  <a:rPr lang="en-IN" sz="2000" dirty="0">
                    <a:latin typeface="Times New Roman" panose="02020603050405020304" pitchFamily="18" charset="0"/>
                    <a:cs typeface="Times New Roman" panose="02020603050405020304" pitchFamily="18" charset="0"/>
                  </a:rPr>
                  <a:t>Sunny, Hot, Normal, False)</a:t>
                </a:r>
              </a:p>
              <a:p>
                <a:pPr fontAlgn="base"/>
                <a:r>
                  <a:rPr lang="en-IN" sz="2000" b="1" dirty="0">
                    <a:latin typeface="Times New Roman" panose="02020603050405020304" pitchFamily="18" charset="0"/>
                    <a:cs typeface="Times New Roman" panose="02020603050405020304" pitchFamily="18" charset="0"/>
                  </a:rPr>
                  <a:t>Goal:</a:t>
                </a:r>
                <a:r>
                  <a:rPr lang="en-IN" sz="2000" dirty="0">
                    <a:latin typeface="Times New Roman" panose="02020603050405020304" pitchFamily="18" charset="0"/>
                    <a:cs typeface="Times New Roman" panose="02020603050405020304" pitchFamily="18" charset="0"/>
                  </a:rPr>
                  <a:t> Predict if golf will be played (Yes or No).</a:t>
                </a:r>
              </a:p>
            </p:txBody>
          </p:sp>
        </mc:Choice>
        <mc:Fallback xmlns="">
          <p:sp>
            <p:nvSpPr>
              <p:cNvPr id="6" name="Content Placeholder 1">
                <a:extLst>
                  <a:ext uri="{FF2B5EF4-FFF2-40B4-BE49-F238E27FC236}">
                    <a16:creationId xmlns:a16="http://schemas.microsoft.com/office/drawing/2014/main" id="{51AB34B6-DC84-8145-713B-63A491FD1B52}"/>
                  </a:ext>
                </a:extLst>
              </p:cNvPr>
              <p:cNvSpPr txBox="1">
                <a:spLocks noRot="1" noChangeAspect="1" noMove="1" noResize="1" noEditPoints="1" noAdjustHandles="1" noChangeArrowheads="1" noChangeShapeType="1" noTextEdit="1"/>
              </p:cNvSpPr>
              <p:nvPr/>
            </p:nvSpPr>
            <p:spPr>
              <a:xfrm>
                <a:off x="3048000" y="5891981"/>
                <a:ext cx="6744929" cy="990600"/>
              </a:xfrm>
              <a:prstGeom prst="rect">
                <a:avLst/>
              </a:prstGeom>
              <a:blipFill>
                <a:blip r:embed="rId2"/>
                <a:stretch>
                  <a:fillRect t="-3704"/>
                </a:stretch>
              </a:blipFill>
            </p:spPr>
            <p:txBody>
              <a:bodyPr/>
              <a:lstStyle/>
              <a:p>
                <a:r>
                  <a:rPr lang="en-IN">
                    <a:noFill/>
                  </a:rPr>
                  <a:t> </a:t>
                </a:r>
              </a:p>
            </p:txBody>
          </p:sp>
        </mc:Fallback>
      </mc:AlternateContent>
    </p:spTree>
    <p:extLst>
      <p:ext uri="{BB962C8B-B14F-4D97-AF65-F5344CB8AC3E}">
        <p14:creationId xmlns:p14="http://schemas.microsoft.com/office/powerpoint/2010/main" val="95201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F10269C-F272-301C-E57F-C03EBBDE0640}"/>
                  </a:ext>
                </a:extLst>
              </p:cNvPr>
              <p:cNvSpPr>
                <a:spLocks noGrp="1"/>
              </p:cNvSpPr>
              <p:nvPr>
                <p:ph idx="1"/>
              </p:nvPr>
            </p:nvSpPr>
            <p:spPr>
              <a:xfrm>
                <a:off x="422787" y="381000"/>
                <a:ext cx="8229600" cy="1338072"/>
              </a:xfrm>
            </p:spPr>
            <p:txBody>
              <a:bodyPr/>
              <a:lstStyle/>
              <a:p>
                <a:pPr fontAlgn="base"/>
                <a:r>
                  <a:rPr lang="en-IN" b="1" dirty="0"/>
                  <a:t>Example Input: </a:t>
                </a:r>
                <a14:m>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m:t>
                    </m:r>
                    <m:r>
                      <a:rPr lang="en-IN" b="0" i="1" smtClean="0">
                        <a:latin typeface="Cambria Math" panose="02040503050406030204" pitchFamily="18" charset="0"/>
                      </a:rPr>
                      <m:t>(</m:t>
                    </m:r>
                  </m:oMath>
                </a14:m>
                <a:r>
                  <a:rPr lang="en-IN" sz="2800" dirty="0">
                    <a:latin typeface="Times New Roman" panose="02020603050405020304" pitchFamily="18" charset="0"/>
                    <a:cs typeface="Times New Roman" panose="02020603050405020304" pitchFamily="18" charset="0"/>
                  </a:rPr>
                  <a:t>Sunny, Hot, Normal, False)</a:t>
                </a:r>
                <a:endParaRPr lang="en-IN" dirty="0"/>
              </a:p>
              <a:p>
                <a:pPr fontAlgn="base"/>
                <a:r>
                  <a:rPr lang="en-IN" b="1" dirty="0"/>
                  <a:t>Goal:</a:t>
                </a:r>
                <a:r>
                  <a:rPr lang="en-IN" dirty="0"/>
                  <a:t> Predict if golf will be played (Yes or No).</a:t>
                </a:r>
              </a:p>
              <a:p>
                <a:endParaRPr lang="en-IN" dirty="0"/>
              </a:p>
            </p:txBody>
          </p:sp>
        </mc:Choice>
        <mc:Fallback xmlns="">
          <p:sp>
            <p:nvSpPr>
              <p:cNvPr id="2" name="Content Placeholder 1">
                <a:extLst>
                  <a:ext uri="{FF2B5EF4-FFF2-40B4-BE49-F238E27FC236}">
                    <a16:creationId xmlns:a16="http://schemas.microsoft.com/office/drawing/2014/main" id="{9F10269C-F272-301C-E57F-C03EBBDE0640}"/>
                  </a:ext>
                </a:extLst>
              </p:cNvPr>
              <p:cNvSpPr>
                <a:spLocks noGrp="1" noRot="1" noChangeAspect="1" noMove="1" noResize="1" noEditPoints="1" noAdjustHandles="1" noChangeArrowheads="1" noChangeShapeType="1" noTextEdit="1"/>
              </p:cNvSpPr>
              <p:nvPr>
                <p:ph idx="1"/>
              </p:nvPr>
            </p:nvSpPr>
            <p:spPr>
              <a:xfrm>
                <a:off x="422787" y="381000"/>
                <a:ext cx="8229600" cy="1338072"/>
              </a:xfrm>
              <a:blipFill>
                <a:blip r:embed="rId2"/>
                <a:stretch>
                  <a:fillRect t="-6849" r="-5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A688C2-4476-6166-37B6-C69343F604B4}"/>
                  </a:ext>
                </a:extLst>
              </p:cNvPr>
              <p:cNvSpPr txBox="1"/>
              <p:nvPr/>
            </p:nvSpPr>
            <p:spPr>
              <a:xfrm>
                <a:off x="304800" y="1720745"/>
                <a:ext cx="2598174" cy="2654509"/>
              </a:xfrm>
              <a:prstGeom prst="rect">
                <a:avLst/>
              </a:prstGeom>
              <a:noFill/>
            </p:spPr>
            <p:txBody>
              <a:bodyPr wrap="square">
                <a:spAutoFit/>
              </a:bodyPr>
              <a:lstStyle/>
              <a:p>
                <a:pPr marL="0" marR="0" indent="0" algn="l" rtl="0" fontAlgn="base">
                  <a:spcAft>
                    <a:spcPts val="750"/>
                  </a:spcAft>
                  <a:buNone/>
                </a:pPr>
                <a:r>
                  <a:rPr lang="en-IN" b="1" i="0" spc="10" dirty="0">
                    <a:solidFill>
                      <a:srgbClr val="273239"/>
                    </a:solidFill>
                    <a:effectLst/>
                    <a:latin typeface="Times New Roman" panose="02020603050405020304" pitchFamily="18" charset="0"/>
                    <a:cs typeface="Times New Roman" panose="02020603050405020304" pitchFamily="18" charset="0"/>
                  </a:rPr>
                  <a:t>Class Probabilities:</a:t>
                </a:r>
                <a:endParaRPr lang="en-IN" b="0" i="0" spc="10" dirty="0">
                  <a:solidFill>
                    <a:srgbClr val="273239"/>
                  </a:solidFill>
                  <a:effectLst/>
                  <a:latin typeface="Times New Roman" panose="02020603050405020304" pitchFamily="18" charset="0"/>
                  <a:cs typeface="Times New Roman" panose="02020603050405020304" pitchFamily="18" charset="0"/>
                </a:endParaRPr>
              </a:p>
              <a:p>
                <a:pPr marL="0" marR="0" indent="0" algn="l" rtl="0" fontAlgn="base">
                  <a:spcAft>
                    <a:spcPts val="750"/>
                  </a:spcAft>
                  <a:buNone/>
                </a:pPr>
                <a:r>
                  <a:rPr lang="en-IN" b="0" i="0" spc="12" dirty="0">
                    <a:solidFill>
                      <a:srgbClr val="273239"/>
                    </a:solidFill>
                    <a:effectLst/>
                    <a:latin typeface="Times New Roman" panose="02020603050405020304" pitchFamily="18" charset="0"/>
                    <a:cs typeface="Times New Roman" panose="02020603050405020304" pitchFamily="18" charset="0"/>
                  </a:rPr>
                  <a:t>From dataset of 14 rows:</a:t>
                </a:r>
                <a:endParaRPr lang="en-IN"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14:m>
                  <m:oMath xmlns:m="http://schemas.openxmlformats.org/officeDocument/2006/math">
                    <m:r>
                      <a:rPr lang="en-IN" i="1">
                        <a:latin typeface="Cambria Math" panose="02040503050406030204" pitchFamily="18" charset="0"/>
                      </a:rPr>
                      <m:t>𝑃</m:t>
                    </m:r>
                    <m:d>
                      <m:dPr>
                        <m:ctrlPr>
                          <a:rPr lang="en-IN" b="0" i="0">
                            <a:latin typeface="Times New Roman" panose="020206030504050203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Yes</m:t>
                        </m:r>
                      </m:e>
                    </m:d>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9</m:t>
                        </m:r>
                      </m:num>
                      <m:den>
                        <m:r>
                          <a:rPr lang="en-IN" b="0" i="0">
                            <a:latin typeface="Cambria Math" panose="02040503050406030204" pitchFamily="18" charset="0"/>
                          </a:rPr>
                          <m:t>14</m:t>
                        </m:r>
                      </m:den>
                    </m:f>
                  </m:oMath>
                </a14:m>
                <a:endParaRPr lang="en-IN" b="0" i="0" spc="10" dirty="0">
                  <a:solidFill>
                    <a:srgbClr val="273239"/>
                  </a:solidFill>
                  <a:effectLst/>
                  <a:latin typeface="Times New Roman" panose="02020603050405020304" pitchFamily="18" charset="0"/>
                  <a:cs typeface="Times New Roman" panose="02020603050405020304" pitchFamily="18" charset="0"/>
                </a:endParaRPr>
              </a:p>
              <a:p>
                <a:pPr marL="342900" marR="0" lvl="0" indent="-342900" algn="l" fontAlgn="base">
                  <a:spcAft>
                    <a:spcPts val="1800"/>
                  </a:spcAft>
                  <a:buFont typeface="Arial" panose="020B0604020202020204" pitchFamily="34" charset="0"/>
                  <a:buChar char="•"/>
                </a:pPr>
                <a14:m>
                  <m:oMath xmlns:m="http://schemas.openxmlformats.org/officeDocument/2006/math">
                    <m:r>
                      <a:rPr lang="en-IN" i="1">
                        <a:latin typeface="Cambria Math" panose="02040503050406030204" pitchFamily="18" charset="0"/>
                      </a:rPr>
                      <m:t>𝑃</m:t>
                    </m:r>
                    <m:d>
                      <m:dPr>
                        <m:ctrlPr>
                          <a:rPr lang="en-IN" b="0" i="0">
                            <a:latin typeface="Times New Roman" panose="020206030504050203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No</m:t>
                        </m:r>
                      </m:e>
                    </m:d>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5</m:t>
                        </m:r>
                      </m:num>
                      <m:den>
                        <m:r>
                          <a:rPr lang="en-IN" b="0" i="0">
                            <a:latin typeface="Cambria Math" panose="02040503050406030204" pitchFamily="18" charset="0"/>
                          </a:rPr>
                          <m:t>14</m:t>
                        </m:r>
                      </m:den>
                    </m:f>
                  </m:oMath>
                </a14:m>
                <a:endParaRPr lang="en-IN" b="0" i="0" spc="10" dirty="0">
                  <a:solidFill>
                    <a:srgbClr val="273239"/>
                  </a:solidFill>
                  <a:effectLst/>
                  <a:latin typeface="Times New Roman" panose="02020603050405020304" pitchFamily="18" charset="0"/>
                  <a:cs typeface="Times New Roman" panose="02020603050405020304" pitchFamily="18" charset="0"/>
                </a:endParaRPr>
              </a:p>
              <a:p>
                <a:pPr>
                  <a:buNone/>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39A688C2-4476-6166-37B6-C69343F604B4}"/>
                  </a:ext>
                </a:extLst>
              </p:cNvPr>
              <p:cNvSpPr txBox="1">
                <a:spLocks noRot="1" noChangeAspect="1" noMove="1" noResize="1" noEditPoints="1" noAdjustHandles="1" noChangeArrowheads="1" noChangeShapeType="1" noTextEdit="1"/>
              </p:cNvSpPr>
              <p:nvPr/>
            </p:nvSpPr>
            <p:spPr>
              <a:xfrm>
                <a:off x="304800" y="1720745"/>
                <a:ext cx="2598174" cy="2654509"/>
              </a:xfrm>
              <a:prstGeom prst="rect">
                <a:avLst/>
              </a:prstGeom>
              <a:blipFill>
                <a:blip r:embed="rId3"/>
                <a:stretch>
                  <a:fillRect l="-1878" t="-1147"/>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3F55E242-5E07-4952-4D0E-F2AF4A7787BF}"/>
              </a:ext>
            </a:extLst>
          </p:cNvPr>
          <p:cNvPicPr>
            <a:picLocks noChangeAspect="1"/>
          </p:cNvPicPr>
          <p:nvPr/>
        </p:nvPicPr>
        <p:blipFill>
          <a:blip r:embed="rId4"/>
          <a:stretch>
            <a:fillRect/>
          </a:stretch>
        </p:blipFill>
        <p:spPr>
          <a:xfrm>
            <a:off x="3012302" y="3048000"/>
            <a:ext cx="5640085" cy="2985180"/>
          </a:xfrm>
          <a:prstGeom prst="rect">
            <a:avLst/>
          </a:prstGeom>
        </p:spPr>
      </p:pic>
    </p:spTree>
    <p:extLst>
      <p:ext uri="{BB962C8B-B14F-4D97-AF65-F5344CB8AC3E}">
        <p14:creationId xmlns:p14="http://schemas.microsoft.com/office/powerpoint/2010/main" val="890240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D09C8B-83B1-68F4-B664-500267277F42}"/>
                  </a:ext>
                </a:extLst>
              </p:cNvPr>
              <p:cNvSpPr txBox="1"/>
              <p:nvPr/>
            </p:nvSpPr>
            <p:spPr>
              <a:xfrm>
                <a:off x="152400" y="381000"/>
                <a:ext cx="4267200" cy="3223959"/>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IN" sz="1500" b="1" i="0" spc="12" dirty="0">
                    <a:solidFill>
                      <a:srgbClr val="273239"/>
                    </a:solidFill>
                    <a:effectLst/>
                    <a:latin typeface="Nunito" pitchFamily="2" charset="0"/>
                  </a:rPr>
                  <a:t>Calculate Posterior Probabilities</a:t>
                </a:r>
                <a:endParaRPr lang="en-IN" sz="1500" b="1" i="0" spc="0" dirty="0">
                  <a:solidFill>
                    <a:srgbClr val="273239"/>
                  </a:solidFill>
                  <a:effectLst/>
                  <a:latin typeface="Nunito" pitchFamily="2" charset="0"/>
                </a:endParaRPr>
              </a:p>
              <a:p>
                <a:pPr marL="0" marR="0" indent="0" algn="l" rtl="0" fontAlgn="base">
                  <a:spcAft>
                    <a:spcPts val="750"/>
                  </a:spcAft>
                  <a:buNone/>
                </a:pPr>
                <a:r>
                  <a:rPr lang="en-IN" sz="1350" b="1" i="0" spc="10" dirty="0">
                    <a:solidFill>
                      <a:srgbClr val="273239"/>
                    </a:solidFill>
                    <a:effectLst/>
                    <a:latin typeface="Nunito" pitchFamily="2" charset="0"/>
                  </a:rPr>
                  <a:t>For Class = Yes:</a:t>
                </a:r>
                <a:endParaRPr lang="en-IN" sz="1350" b="0" i="0" spc="10" dirty="0">
                  <a:solidFill>
                    <a:srgbClr val="273239"/>
                  </a:solidFill>
                  <a:effectLst/>
                  <a:latin typeface="Nunito" pitchFamily="2" charset="0"/>
                </a:endParaRPr>
              </a:p>
              <a:p>
                <a:pPr marL="0" marR="0" indent="0" algn="l" rtl="0" fontAlgn="base">
                  <a:spcBef>
                    <a:spcPts val="750"/>
                  </a:spcBef>
                  <a:spcAft>
                    <a:spcPts val="750"/>
                  </a:spcAft>
                  <a:buNone/>
                </a:pPr>
                <a14:m>
                  <m:oMathPara xmlns:m="http://schemas.openxmlformats.org/officeDocument/2006/math">
                    <m:oMath>
                      <m:r>
                        <a:rPr lang="en-IN" i="1">
                          <a:latin typeface="Cambria Math" panose="02040503050406030204" pitchFamily="18" charset="0"/>
                        </a:rPr>
                        <m:t>𝑃</m:t>
                      </m:r>
                      <m:d>
                        <m:dPr>
                          <m:ctrlPr>
                            <a:rPr lang="en-IN" b="0" i="0">
                              <a:latin typeface="Cambria Math" panose="02040503050406030204" pitchFamily="18" charset="0"/>
                            </a:rPr>
                          </m:ctrlPr>
                        </m:dPr>
                        <m:e>
                          <m:r>
                            <m:rPr>
                              <m:nor/>
                            </m:rPr>
                            <a:rPr lang="en-IN" b="0" i="0">
                              <a:latin typeface="Cambria Math" panose="02040503050406030204" pitchFamily="18" charset="0"/>
                            </a:rPr>
                            <m:t>Yes | today</m:t>
                          </m:r>
                        </m:e>
                      </m:d>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2</m:t>
                          </m:r>
                        </m:num>
                        <m:den>
                          <m:r>
                            <a:rPr lang="en-IN" b="0" i="0">
                              <a:latin typeface="Cambria Math" panose="02040503050406030204" pitchFamily="18" charset="0"/>
                            </a:rPr>
                            <m:t>9</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2</m:t>
                          </m:r>
                        </m:num>
                        <m:den>
                          <m:r>
                            <a:rPr lang="en-IN" b="0" i="0">
                              <a:latin typeface="Cambria Math" panose="02040503050406030204" pitchFamily="18" charset="0"/>
                            </a:rPr>
                            <m:t>9</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6</m:t>
                          </m:r>
                        </m:num>
                        <m:den>
                          <m:r>
                            <a:rPr lang="en-IN" b="0" i="0">
                              <a:latin typeface="Cambria Math" panose="02040503050406030204" pitchFamily="18" charset="0"/>
                            </a:rPr>
                            <m:t>9</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6</m:t>
                          </m:r>
                        </m:num>
                        <m:den>
                          <m:r>
                            <a:rPr lang="en-IN" b="0" i="0">
                              <a:latin typeface="Cambria Math" panose="02040503050406030204" pitchFamily="18" charset="0"/>
                            </a:rPr>
                            <m:t>9</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9</m:t>
                          </m:r>
                        </m:num>
                        <m:den>
                          <m:r>
                            <a:rPr lang="en-IN" b="0" i="0">
                              <a:latin typeface="Cambria Math" panose="02040503050406030204" pitchFamily="18" charset="0"/>
                            </a:rPr>
                            <m:t>14</m:t>
                          </m:r>
                        </m:den>
                      </m:f>
                    </m:oMath>
                  </m:oMathPara>
                </a14:m>
                <a:endParaRPr lang="en-IN" sz="1350" b="0" i="1" spc="10" dirty="0">
                  <a:solidFill>
                    <a:srgbClr val="273239"/>
                  </a:solidFill>
                  <a:effectLst/>
                  <a:latin typeface="Nunito" pitchFamily="2" charset="0"/>
                </a:endParaRPr>
              </a:p>
              <a:p>
                <a:pPr marL="0" marR="0" indent="0" algn="l" rtl="0" fontAlgn="base">
                  <a:spcBef>
                    <a:spcPts val="750"/>
                  </a:spcBef>
                  <a:spcAft>
                    <a:spcPts val="750"/>
                  </a:spcAft>
                  <a:buNone/>
                </a:pPr>
                <a14:m>
                  <m:oMathPara xmlns:m="http://schemas.openxmlformats.org/officeDocument/2006/math">
                    <m:oMath>
                      <m:r>
                        <a:rPr lang="en-IN" i="1">
                          <a:latin typeface="Cambria Math" panose="02040503050406030204" pitchFamily="18" charset="0"/>
                        </a:rPr>
                        <m:t>𝑃</m:t>
                      </m:r>
                      <m:d>
                        <m:dPr>
                          <m:ctrlPr>
                            <a:rPr lang="en-IN" b="0" i="0">
                              <a:latin typeface="Cambria Math" panose="02040503050406030204" pitchFamily="18" charset="0"/>
                            </a:rPr>
                          </m:ctrlPr>
                        </m:dPr>
                        <m:e>
                          <m:r>
                            <m:rPr>
                              <m:nor/>
                            </m:rPr>
                            <a:rPr lang="en-IN" b="0" i="0">
                              <a:latin typeface="Cambria Math" panose="02040503050406030204" pitchFamily="18" charset="0"/>
                            </a:rPr>
                            <m:t>Yes | today</m:t>
                          </m:r>
                        </m:e>
                      </m:d>
                      <m:r>
                        <a:rPr lang="en-IN" b="0" i="0">
                          <a:latin typeface="Cambria Math" panose="02040503050406030204" pitchFamily="18" charset="0"/>
                        </a:rPr>
                        <m:t>≈0.02116</m:t>
                      </m:r>
                    </m:oMath>
                  </m:oMathPara>
                </a14:m>
                <a:endParaRPr lang="en-IN" sz="1350" b="0" i="1" spc="10" dirty="0">
                  <a:solidFill>
                    <a:srgbClr val="273239"/>
                  </a:solidFill>
                  <a:effectLst/>
                  <a:latin typeface="Nunito" pitchFamily="2" charset="0"/>
                </a:endParaRPr>
              </a:p>
              <a:p>
                <a:pPr marL="0" marR="0" indent="0" algn="l" rtl="0" fontAlgn="base">
                  <a:spcAft>
                    <a:spcPts val="750"/>
                  </a:spcAft>
                  <a:buNone/>
                </a:pPr>
                <a:r>
                  <a:rPr lang="en-IN" sz="1350" b="1" i="0" spc="10" dirty="0">
                    <a:solidFill>
                      <a:srgbClr val="273239"/>
                    </a:solidFill>
                    <a:effectLst/>
                    <a:latin typeface="Nunito" pitchFamily="2" charset="0"/>
                  </a:rPr>
                  <a:t>For Class = No:</a:t>
                </a:r>
                <a:endParaRPr lang="en-IN" sz="1350" b="0" i="0" spc="10" dirty="0">
                  <a:solidFill>
                    <a:srgbClr val="273239"/>
                  </a:solidFill>
                  <a:effectLst/>
                  <a:latin typeface="Nunito" pitchFamily="2" charset="0"/>
                </a:endParaRPr>
              </a:p>
              <a:p>
                <a:pPr marL="0" marR="0" indent="0" algn="l" rtl="0" fontAlgn="base">
                  <a:spcBef>
                    <a:spcPts val="750"/>
                  </a:spcBef>
                  <a:spcAft>
                    <a:spcPts val="750"/>
                  </a:spcAft>
                  <a:buNone/>
                </a:pPr>
                <a14:m>
                  <m:oMathPara xmlns:m="http://schemas.openxmlformats.org/officeDocument/2006/math">
                    <m:oMath>
                      <m:r>
                        <a:rPr lang="en-IN" i="1">
                          <a:latin typeface="Cambria Math" panose="02040503050406030204" pitchFamily="18" charset="0"/>
                        </a:rPr>
                        <m:t>𝑃</m:t>
                      </m:r>
                      <m:d>
                        <m:dPr>
                          <m:ctrlPr>
                            <a:rPr lang="en-IN" b="0" i="0">
                              <a:latin typeface="Cambria Math" panose="02040503050406030204" pitchFamily="18" charset="0"/>
                            </a:rPr>
                          </m:ctrlPr>
                        </m:dPr>
                        <m:e>
                          <m:r>
                            <m:rPr>
                              <m:nor/>
                            </m:rPr>
                            <a:rPr lang="en-IN" b="0" i="0">
                              <a:latin typeface="Cambria Math" panose="02040503050406030204" pitchFamily="18" charset="0"/>
                            </a:rPr>
                            <m:t>No | today</m:t>
                          </m:r>
                        </m:e>
                      </m:d>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3</m:t>
                          </m:r>
                        </m:num>
                        <m:den>
                          <m:r>
                            <a:rPr lang="en-IN" b="0" i="0">
                              <a:latin typeface="Cambria Math" panose="02040503050406030204" pitchFamily="18" charset="0"/>
                            </a:rPr>
                            <m:t>5</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2</m:t>
                          </m:r>
                        </m:num>
                        <m:den>
                          <m:r>
                            <a:rPr lang="en-IN" b="0" i="0">
                              <a:latin typeface="Cambria Math" panose="02040503050406030204" pitchFamily="18" charset="0"/>
                            </a:rPr>
                            <m:t>5</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1</m:t>
                          </m:r>
                        </m:num>
                        <m:den>
                          <m:r>
                            <a:rPr lang="en-IN" b="0" i="0">
                              <a:latin typeface="Cambria Math" panose="02040503050406030204" pitchFamily="18" charset="0"/>
                            </a:rPr>
                            <m:t>5</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2</m:t>
                          </m:r>
                        </m:num>
                        <m:den>
                          <m:r>
                            <a:rPr lang="en-IN" b="0" i="0">
                              <a:latin typeface="Cambria Math" panose="02040503050406030204" pitchFamily="18" charset="0"/>
                            </a:rPr>
                            <m:t>5</m:t>
                          </m:r>
                        </m:den>
                      </m:f>
                      <m:r>
                        <a:rPr lang="en-IN" b="0" i="0">
                          <a:latin typeface="Cambria Math" panose="02040503050406030204" pitchFamily="18" charset="0"/>
                        </a:rPr>
                        <m:t>⋅</m:t>
                      </m:r>
                      <m:f>
                        <m:fPr>
                          <m:ctrlPr>
                            <a:rPr lang="en-IN" b="0" i="0">
                              <a:latin typeface="Cambria Math" panose="02040503050406030204" pitchFamily="18" charset="0"/>
                            </a:rPr>
                          </m:ctrlPr>
                        </m:fPr>
                        <m:num>
                          <m:r>
                            <a:rPr lang="en-IN" b="0" i="0">
                              <a:latin typeface="Cambria Math" panose="02040503050406030204" pitchFamily="18" charset="0"/>
                            </a:rPr>
                            <m:t>5</m:t>
                          </m:r>
                        </m:num>
                        <m:den>
                          <m:r>
                            <a:rPr lang="en-IN" b="0" i="0">
                              <a:latin typeface="Cambria Math" panose="02040503050406030204" pitchFamily="18" charset="0"/>
                            </a:rPr>
                            <m:t>14</m:t>
                          </m:r>
                        </m:den>
                      </m:f>
                    </m:oMath>
                  </m:oMathPara>
                </a14:m>
                <a:endParaRPr lang="en-IN" sz="1350" b="0" i="1" spc="10" dirty="0">
                  <a:solidFill>
                    <a:srgbClr val="273239"/>
                  </a:solidFill>
                  <a:effectLst/>
                  <a:latin typeface="Nunito" pitchFamily="2" charset="0"/>
                </a:endParaRPr>
              </a:p>
              <a:p>
                <a:pPr marL="0" marR="0" indent="0" algn="l" rtl="0" fontAlgn="base">
                  <a:spcBef>
                    <a:spcPts val="750"/>
                  </a:spcBef>
                  <a:spcAft>
                    <a:spcPts val="750"/>
                  </a:spcAft>
                  <a:buNone/>
                </a:pPr>
                <a14:m>
                  <m:oMathPara xmlns:m="http://schemas.openxmlformats.org/officeDocument/2006/math">
                    <m:oMath>
                      <m:r>
                        <a:rPr lang="en-IN" i="1">
                          <a:latin typeface="Cambria Math" panose="02040503050406030204" pitchFamily="18" charset="0"/>
                        </a:rPr>
                        <m:t>𝑃</m:t>
                      </m:r>
                      <m:d>
                        <m:dPr>
                          <m:ctrlPr>
                            <a:rPr lang="en-IN" b="0" i="0">
                              <a:latin typeface="Cambria Math" panose="02040503050406030204" pitchFamily="18" charset="0"/>
                            </a:rPr>
                          </m:ctrlPr>
                        </m:dPr>
                        <m:e>
                          <m:r>
                            <m:rPr>
                              <m:nor/>
                            </m:rPr>
                            <a:rPr lang="en-IN" b="0" i="0">
                              <a:latin typeface="Cambria Math" panose="02040503050406030204" pitchFamily="18" charset="0"/>
                            </a:rPr>
                            <m:t>No | today</m:t>
                          </m:r>
                        </m:e>
                      </m:d>
                      <m:r>
                        <a:rPr lang="en-IN" b="0" i="0">
                          <a:latin typeface="Cambria Math" panose="02040503050406030204" pitchFamily="18" charset="0"/>
                        </a:rPr>
                        <m:t>≈0.0068</m:t>
                      </m:r>
                    </m:oMath>
                  </m:oMathPara>
                </a14:m>
                <a:endParaRPr lang="en-IN" sz="1350" b="0" i="1" spc="10" dirty="0">
                  <a:solidFill>
                    <a:srgbClr val="273239"/>
                  </a:solidFill>
                  <a:effectLst/>
                  <a:latin typeface="Nunito" pitchFamily="2" charset="0"/>
                </a:endParaRPr>
              </a:p>
            </p:txBody>
          </p:sp>
        </mc:Choice>
        <mc:Fallback xmlns="">
          <p:sp>
            <p:nvSpPr>
              <p:cNvPr id="5" name="TextBox 4">
                <a:extLst>
                  <a:ext uri="{FF2B5EF4-FFF2-40B4-BE49-F238E27FC236}">
                    <a16:creationId xmlns:a16="http://schemas.microsoft.com/office/drawing/2014/main" id="{F1D09C8B-83B1-68F4-B664-500267277F42}"/>
                  </a:ext>
                </a:extLst>
              </p:cNvPr>
              <p:cNvSpPr txBox="1">
                <a:spLocks noRot="1" noChangeAspect="1" noMove="1" noResize="1" noEditPoints="1" noAdjustHandles="1" noChangeArrowheads="1" noChangeShapeType="1" noTextEdit="1"/>
              </p:cNvSpPr>
              <p:nvPr/>
            </p:nvSpPr>
            <p:spPr>
              <a:xfrm>
                <a:off x="152400" y="381000"/>
                <a:ext cx="4267200" cy="3223959"/>
              </a:xfrm>
              <a:prstGeom prst="rect">
                <a:avLst/>
              </a:prstGeom>
              <a:blipFill>
                <a:blip r:embed="rId2"/>
                <a:stretch>
                  <a:fillRect l="-5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AF6FCE-4802-8DC4-FCAA-67B03628A3CB}"/>
                  </a:ext>
                </a:extLst>
              </p:cNvPr>
              <p:cNvSpPr txBox="1"/>
              <p:nvPr/>
            </p:nvSpPr>
            <p:spPr>
              <a:xfrm>
                <a:off x="4805516" y="533400"/>
                <a:ext cx="4267200" cy="4443268"/>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IN" sz="1500" b="1" i="0" spc="12" dirty="0">
                    <a:solidFill>
                      <a:srgbClr val="273239"/>
                    </a:solidFill>
                    <a:effectLst/>
                    <a:latin typeface="Nunito" pitchFamily="2" charset="0"/>
                  </a:rPr>
                  <a:t>Normalize Probabilities</a:t>
                </a:r>
                <a:endParaRPr lang="en-IN" sz="1500" b="1" i="0" spc="0" dirty="0">
                  <a:solidFill>
                    <a:srgbClr val="273239"/>
                  </a:solidFill>
                  <a:effectLst/>
                  <a:latin typeface="Nunito" pitchFamily="2" charset="0"/>
                </a:endParaRPr>
              </a:p>
              <a:p>
                <a:pPr marL="0" marR="0" indent="0" algn="l" rtl="0" fontAlgn="base">
                  <a:spcAft>
                    <a:spcPts val="750"/>
                  </a:spcAft>
                  <a:buNone/>
                </a:pPr>
                <a:r>
                  <a:rPr lang="en-IN" sz="1350" b="0" i="0" spc="12" dirty="0">
                    <a:solidFill>
                      <a:srgbClr val="273239"/>
                    </a:solidFill>
                    <a:effectLst/>
                    <a:latin typeface="Nunito" pitchFamily="2" charset="0"/>
                  </a:rPr>
                  <a:t>To compare:</a:t>
                </a:r>
                <a:endParaRPr lang="en-IN" sz="1350" b="0" i="0" spc="10" dirty="0">
                  <a:solidFill>
                    <a:srgbClr val="273239"/>
                  </a:solidFill>
                  <a:effectLst/>
                  <a:latin typeface="Nunito" pitchFamily="2" charset="0"/>
                </a:endParaRPr>
              </a:p>
              <a:p>
                <a:pPr marL="0" marR="0" indent="0" algn="l" rtl="0" fontAlgn="base">
                  <a:spcBef>
                    <a:spcPts val="750"/>
                  </a:spcBef>
                  <a:spcAft>
                    <a:spcPts val="750"/>
                  </a:spcAft>
                  <a:buNone/>
                </a:pPr>
                <a14:m>
                  <m:oMathPara xmlns:m="http://schemas.openxmlformats.org/officeDocument/2006/math">
                    <m:oMath>
                      <m:r>
                        <a:rPr lang="en-IN" sz="1800" i="1">
                          <a:latin typeface="Cambria Math" panose="02040503050406030204" pitchFamily="18" charset="0"/>
                        </a:rPr>
                        <m:t>𝑃</m:t>
                      </m:r>
                      <m:d>
                        <m:dPr>
                          <m:ctrlPr>
                            <a:rPr lang="en-IN" sz="1800" b="0" i="0">
                              <a:latin typeface="Cambria Math" panose="02040503050406030204" pitchFamily="18" charset="0"/>
                            </a:rPr>
                          </m:ctrlPr>
                        </m:dPr>
                        <m:e>
                          <m:r>
                            <m:rPr>
                              <m:nor/>
                            </m:rPr>
                            <a:rPr lang="en-IN" sz="1800" b="0" i="0">
                              <a:latin typeface="Cambria Math" panose="02040503050406030204" pitchFamily="18" charset="0"/>
                            </a:rPr>
                            <m:t>Yes | today</m:t>
                          </m:r>
                        </m:e>
                      </m:d>
                      <m:r>
                        <a:rPr lang="en-IN" sz="1800" b="0" i="0">
                          <a:latin typeface="Cambria Math" panose="02040503050406030204" pitchFamily="18" charset="0"/>
                        </a:rPr>
                        <m:t>=</m:t>
                      </m:r>
                      <m:f>
                        <m:fPr>
                          <m:ctrlPr>
                            <a:rPr lang="en-IN" sz="1800" b="0" i="0">
                              <a:latin typeface="Cambria Math" panose="02040503050406030204" pitchFamily="18" charset="0"/>
                            </a:rPr>
                          </m:ctrlPr>
                        </m:fPr>
                        <m:num>
                          <m:r>
                            <a:rPr lang="en-IN" sz="1800" b="0" i="0">
                              <a:latin typeface="Cambria Math" panose="02040503050406030204" pitchFamily="18" charset="0"/>
                            </a:rPr>
                            <m:t>0.02116</m:t>
                          </m:r>
                        </m:num>
                        <m:den>
                          <m:r>
                            <a:rPr lang="en-IN" sz="1800" b="0" i="0">
                              <a:latin typeface="Cambria Math" panose="02040503050406030204" pitchFamily="18" charset="0"/>
                            </a:rPr>
                            <m:t>0.02116+0.0068</m:t>
                          </m:r>
                        </m:den>
                      </m:f>
                      <m:r>
                        <a:rPr lang="en-IN" sz="1800" b="0" i="0">
                          <a:latin typeface="Cambria Math" panose="02040503050406030204" pitchFamily="18" charset="0"/>
                        </a:rPr>
                        <m:t>≈0.756</m:t>
                      </m:r>
                    </m:oMath>
                  </m:oMathPara>
                </a14:m>
                <a:endParaRPr lang="en-IN" sz="1350" b="0" i="1" spc="10" dirty="0">
                  <a:solidFill>
                    <a:srgbClr val="273239"/>
                  </a:solidFill>
                  <a:effectLst/>
                  <a:latin typeface="Nunito" pitchFamily="2" charset="0"/>
                </a:endParaRPr>
              </a:p>
              <a:p>
                <a:pPr marL="0" marR="0" indent="0" algn="l" rtl="0" fontAlgn="base">
                  <a:spcBef>
                    <a:spcPts val="750"/>
                  </a:spcBef>
                  <a:spcAft>
                    <a:spcPts val="750"/>
                  </a:spcAft>
                  <a:buNone/>
                </a:pPr>
                <a14:m>
                  <m:oMathPara xmlns:m="http://schemas.openxmlformats.org/officeDocument/2006/math">
                    <m:oMath>
                      <m:r>
                        <a:rPr lang="en-IN" sz="1800" i="1">
                          <a:latin typeface="Cambria Math" panose="02040503050406030204" pitchFamily="18" charset="0"/>
                        </a:rPr>
                        <m:t>𝑃</m:t>
                      </m:r>
                      <m:d>
                        <m:dPr>
                          <m:ctrlPr>
                            <a:rPr lang="en-IN" sz="1800" b="0" i="0">
                              <a:latin typeface="Cambria Math" panose="02040503050406030204" pitchFamily="18" charset="0"/>
                            </a:rPr>
                          </m:ctrlPr>
                        </m:dPr>
                        <m:e>
                          <m:r>
                            <m:rPr>
                              <m:nor/>
                            </m:rPr>
                            <a:rPr lang="en-IN" sz="1800" b="0" i="0">
                              <a:latin typeface="Cambria Math" panose="02040503050406030204" pitchFamily="18" charset="0"/>
                            </a:rPr>
                            <m:t>No | today</m:t>
                          </m:r>
                        </m:e>
                      </m:d>
                      <m:r>
                        <a:rPr lang="en-IN" sz="1800" b="0" i="0">
                          <a:latin typeface="Cambria Math" panose="02040503050406030204" pitchFamily="18" charset="0"/>
                        </a:rPr>
                        <m:t>=</m:t>
                      </m:r>
                      <m:f>
                        <m:fPr>
                          <m:ctrlPr>
                            <a:rPr lang="en-IN" sz="1800" b="0" i="0">
                              <a:latin typeface="Cambria Math" panose="02040503050406030204" pitchFamily="18" charset="0"/>
                            </a:rPr>
                          </m:ctrlPr>
                        </m:fPr>
                        <m:num>
                          <m:r>
                            <a:rPr lang="en-IN" sz="1800" b="0" i="0">
                              <a:latin typeface="Cambria Math" panose="02040503050406030204" pitchFamily="18" charset="0"/>
                            </a:rPr>
                            <m:t>0.0068</m:t>
                          </m:r>
                        </m:num>
                        <m:den>
                          <m:r>
                            <a:rPr lang="en-IN" sz="1800" b="0" i="0">
                              <a:latin typeface="Cambria Math" panose="02040503050406030204" pitchFamily="18" charset="0"/>
                            </a:rPr>
                            <m:t>0.02116+0.0068</m:t>
                          </m:r>
                        </m:den>
                      </m:f>
                      <m:r>
                        <a:rPr lang="en-IN" sz="1800" b="0" i="0">
                          <a:latin typeface="Cambria Math" panose="02040503050406030204" pitchFamily="18" charset="0"/>
                        </a:rPr>
                        <m:t>≈0.244</m:t>
                      </m:r>
                    </m:oMath>
                  </m:oMathPara>
                </a14:m>
                <a:endParaRPr lang="en-IN" sz="1350" b="0" i="1" spc="10" dirty="0">
                  <a:solidFill>
                    <a:srgbClr val="273239"/>
                  </a:solidFill>
                  <a:effectLst/>
                  <a:latin typeface="Nunito" pitchFamily="2" charset="0"/>
                </a:endParaRPr>
              </a:p>
              <a:p>
                <a:pPr marL="0" marR="0" indent="0" algn="l" fontAlgn="base">
                  <a:lnSpc>
                    <a:spcPts val="2100"/>
                  </a:lnSpc>
                  <a:spcBef>
                    <a:spcPts val="1800"/>
                  </a:spcBef>
                  <a:spcAft>
                    <a:spcPts val="1800"/>
                  </a:spcAft>
                  <a:buNone/>
                </a:pPr>
                <a:r>
                  <a:rPr lang="en-IN" sz="1500" b="1" i="0" spc="12" dirty="0">
                    <a:solidFill>
                      <a:srgbClr val="273239"/>
                    </a:solidFill>
                    <a:effectLst/>
                    <a:latin typeface="Nunito" pitchFamily="2" charset="0"/>
                  </a:rPr>
                  <a:t> Final Prediction</a:t>
                </a:r>
                <a:endParaRPr lang="en-IN" sz="1500" b="1" i="0" spc="0" dirty="0">
                  <a:solidFill>
                    <a:srgbClr val="273239"/>
                  </a:solidFill>
                  <a:effectLst/>
                  <a:latin typeface="Nunito" pitchFamily="2" charset="0"/>
                </a:endParaRPr>
              </a:p>
              <a:p>
                <a:pPr marL="0" marR="0" indent="0" algn="l" rtl="0" fontAlgn="base">
                  <a:spcAft>
                    <a:spcPts val="750"/>
                  </a:spcAft>
                  <a:buNone/>
                </a:pPr>
                <a:r>
                  <a:rPr lang="en-IN" sz="1350" b="0" i="0" spc="12" dirty="0">
                    <a:solidFill>
                      <a:srgbClr val="273239"/>
                    </a:solidFill>
                    <a:effectLst/>
                    <a:latin typeface="Nunito" pitchFamily="2" charset="0"/>
                  </a:rPr>
                  <a:t>Since:</a:t>
                </a:r>
                <a:endParaRPr lang="en-IN" sz="1350" b="0" i="0" spc="10" dirty="0">
                  <a:solidFill>
                    <a:srgbClr val="273239"/>
                  </a:solidFill>
                  <a:effectLst/>
                  <a:latin typeface="Nunito" pitchFamily="2" charset="0"/>
                </a:endParaRPr>
              </a:p>
              <a:p>
                <a:pPr marL="0" marR="0" indent="0" algn="l" rtl="0" fontAlgn="base">
                  <a:spcBef>
                    <a:spcPts val="750"/>
                  </a:spcBef>
                  <a:spcAft>
                    <a:spcPts val="750"/>
                  </a:spcAft>
                  <a:buNone/>
                </a:pPr>
                <a14:m>
                  <m:oMathPara xmlns:m="http://schemas.openxmlformats.org/officeDocument/2006/math">
                    <m:oMath>
                      <m:r>
                        <a:rPr lang="en-IN" sz="1800" i="1">
                          <a:latin typeface="Cambria Math" panose="02040503050406030204" pitchFamily="18" charset="0"/>
                        </a:rPr>
                        <m:t>𝑃</m:t>
                      </m:r>
                      <m:d>
                        <m:dPr>
                          <m:ctrlPr>
                            <a:rPr lang="en-IN" sz="1800" b="0" i="0">
                              <a:latin typeface="Cambria Math" panose="02040503050406030204" pitchFamily="18" charset="0"/>
                            </a:rPr>
                          </m:ctrlPr>
                        </m:dPr>
                        <m:e>
                          <m:r>
                            <m:rPr>
                              <m:nor/>
                            </m:rPr>
                            <a:rPr lang="en-IN" sz="1800" b="0" i="0">
                              <a:latin typeface="Cambria Math" panose="02040503050406030204" pitchFamily="18" charset="0"/>
                            </a:rPr>
                            <m:t>Yes | today</m:t>
                          </m:r>
                        </m:e>
                      </m:d>
                      <m:r>
                        <a:rPr lang="en-IN" sz="1800" b="0" i="0">
                          <a:latin typeface="Cambria Math" panose="02040503050406030204" pitchFamily="18" charset="0"/>
                        </a:rPr>
                        <m:t>&gt;</m:t>
                      </m:r>
                      <m:r>
                        <a:rPr lang="en-IN" sz="1800" b="0" i="1">
                          <a:latin typeface="Cambria Math" panose="02040503050406030204" pitchFamily="18" charset="0"/>
                        </a:rPr>
                        <m:t>𝑃</m:t>
                      </m:r>
                      <m:d>
                        <m:dPr>
                          <m:ctrlPr>
                            <a:rPr lang="en-IN" sz="1800" b="0" i="0">
                              <a:latin typeface="Cambria Math" panose="02040503050406030204" pitchFamily="18" charset="0"/>
                            </a:rPr>
                          </m:ctrlPr>
                        </m:dPr>
                        <m:e>
                          <m:r>
                            <m:rPr>
                              <m:nor/>
                            </m:rPr>
                            <a:rPr lang="en-IN" sz="1800" b="0" i="0">
                              <a:latin typeface="Cambria Math" panose="02040503050406030204" pitchFamily="18" charset="0"/>
                            </a:rPr>
                            <m:t>No | today</m:t>
                          </m:r>
                        </m:e>
                      </m:d>
                    </m:oMath>
                  </m:oMathPara>
                </a14:m>
                <a:endParaRPr lang="en-IN" sz="1350" b="0" i="1" spc="10" dirty="0">
                  <a:solidFill>
                    <a:srgbClr val="273239"/>
                  </a:solidFill>
                  <a:effectLst/>
                  <a:latin typeface="Nunito" pitchFamily="2" charset="0"/>
                </a:endParaRPr>
              </a:p>
              <a:p>
                <a:pPr marL="0" marR="0" indent="0" algn="l" rtl="0" fontAlgn="base">
                  <a:spcBef>
                    <a:spcPts val="750"/>
                  </a:spcBef>
                  <a:spcAft>
                    <a:spcPts val="750"/>
                  </a:spcAft>
                  <a:buNone/>
                </a:pPr>
                <a:r>
                  <a:rPr lang="en-IN" sz="1350" b="0" i="1" spc="12" dirty="0">
                    <a:solidFill>
                      <a:srgbClr val="273239"/>
                    </a:solidFill>
                    <a:effectLst/>
                    <a:latin typeface="Nunito" pitchFamily="2" charset="0"/>
                  </a:rPr>
                  <a:t>The model predicts: </a:t>
                </a:r>
                <a:r>
                  <a:rPr lang="en-IN" sz="1350" b="1" i="1" spc="10" dirty="0">
                    <a:solidFill>
                      <a:srgbClr val="273239"/>
                    </a:solidFill>
                    <a:effectLst/>
                    <a:latin typeface="Nunito" pitchFamily="2" charset="0"/>
                  </a:rPr>
                  <a:t>Yes (Play Golf)</a:t>
                </a:r>
                <a:endParaRPr lang="en-IN" sz="1350" b="0" i="1" spc="10" dirty="0">
                  <a:solidFill>
                    <a:srgbClr val="273239"/>
                  </a:solidFill>
                  <a:effectLst/>
                  <a:latin typeface="Nunito" pitchFamily="2" charset="0"/>
                </a:endParaRPr>
              </a:p>
            </p:txBody>
          </p:sp>
        </mc:Choice>
        <mc:Fallback xmlns="">
          <p:sp>
            <p:nvSpPr>
              <p:cNvPr id="7" name="TextBox 6">
                <a:extLst>
                  <a:ext uri="{FF2B5EF4-FFF2-40B4-BE49-F238E27FC236}">
                    <a16:creationId xmlns:a16="http://schemas.microsoft.com/office/drawing/2014/main" id="{D4AF6FCE-4802-8DC4-FCAA-67B03628A3CB}"/>
                  </a:ext>
                </a:extLst>
              </p:cNvPr>
              <p:cNvSpPr txBox="1">
                <a:spLocks noRot="1" noChangeAspect="1" noMove="1" noResize="1" noEditPoints="1" noAdjustHandles="1" noChangeArrowheads="1" noChangeShapeType="1" noTextEdit="1"/>
              </p:cNvSpPr>
              <p:nvPr/>
            </p:nvSpPr>
            <p:spPr>
              <a:xfrm>
                <a:off x="4805516" y="533400"/>
                <a:ext cx="4267200" cy="4443268"/>
              </a:xfrm>
              <a:prstGeom prst="rect">
                <a:avLst/>
              </a:prstGeom>
              <a:blipFill>
                <a:blip r:embed="rId3"/>
                <a:stretch>
                  <a:fillRect l="-571" b="-412"/>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7A4DA199-128B-14A5-7D20-216C395084EE}"/>
              </a:ext>
            </a:extLst>
          </p:cNvPr>
          <p:cNvSpPr txBox="1"/>
          <p:nvPr/>
        </p:nvSpPr>
        <p:spPr>
          <a:xfrm>
            <a:off x="1447800" y="5695475"/>
            <a:ext cx="6477000" cy="646331"/>
          </a:xfrm>
          <a:prstGeom prst="rect">
            <a:avLst/>
          </a:prstGeom>
          <a:noFill/>
        </p:spPr>
        <p:txBody>
          <a:bodyPr wrap="square">
            <a:spAutoFit/>
          </a:bodyPr>
          <a:lstStyle/>
          <a:p>
            <a:r>
              <a:rPr lang="en-IN" dirty="0"/>
              <a:t>https://www.geeksforgeeks.org/machine-learning/naive-bayes-classifiers/</a:t>
            </a:r>
          </a:p>
        </p:txBody>
      </p:sp>
    </p:spTree>
    <p:extLst>
      <p:ext uri="{BB962C8B-B14F-4D97-AF65-F5344CB8AC3E}">
        <p14:creationId xmlns:p14="http://schemas.microsoft.com/office/powerpoint/2010/main" val="3450733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6">
            <a:extLst>
              <a:ext uri="{FF2B5EF4-FFF2-40B4-BE49-F238E27FC236}">
                <a16:creationId xmlns:a16="http://schemas.microsoft.com/office/drawing/2014/main" id="{F738C141-A171-4941-4375-67CF11F8B14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EAE7C0D-405F-43CB-B7FC-B3FDB839C2ED}" type="slidenum">
              <a:rPr lang="en-US" altLang="en-US">
                <a:latin typeface="Times New Roman" panose="02020603050405020304" pitchFamily="18" charset="0"/>
                <a:cs typeface="Times New Roman" panose="02020603050405020304" pitchFamily="18" charset="0"/>
              </a:rPr>
              <a:pPr eaLnBrk="1" hangingPunct="1"/>
              <a:t>37</a:t>
            </a:fld>
            <a:endParaRPr lang="en-US" altLang="en-US">
              <a:latin typeface="Times New Roman" panose="02020603050405020304" pitchFamily="18" charset="0"/>
              <a:cs typeface="Times New Roman" panose="02020603050405020304" pitchFamily="18" charset="0"/>
            </a:endParaRPr>
          </a:p>
        </p:txBody>
      </p:sp>
      <p:sp>
        <p:nvSpPr>
          <p:cNvPr id="40963" name="Rectangle 2">
            <a:extLst>
              <a:ext uri="{FF2B5EF4-FFF2-40B4-BE49-F238E27FC236}">
                <a16:creationId xmlns:a16="http://schemas.microsoft.com/office/drawing/2014/main" id="{D3080B49-23EA-B14D-FB0C-8827B0289E56}"/>
              </a:ext>
            </a:extLst>
          </p:cNvPr>
          <p:cNvSpPr>
            <a:spLocks noGrp="1" noChangeArrowheads="1"/>
          </p:cNvSpPr>
          <p:nvPr>
            <p:ph type="title"/>
          </p:nvPr>
        </p:nvSpPr>
        <p:spPr>
          <a:xfrm>
            <a:off x="381000" y="304800"/>
            <a:ext cx="8402638" cy="609600"/>
          </a:xfrm>
        </p:spPr>
        <p:txBody>
          <a:bodyPr>
            <a:normAutofit fontScale="90000"/>
          </a:bodyPr>
          <a:lstStyle/>
          <a:p>
            <a:pPr eaLnBrk="1" hangingPunct="1"/>
            <a:r>
              <a:rPr lang="en-US" altLang="en-US">
                <a:latin typeface="Times New Roman" panose="02020603050405020304" pitchFamily="18" charset="0"/>
                <a:cs typeface="Times New Roman" panose="02020603050405020304" pitchFamily="18" charset="0"/>
              </a:rPr>
              <a:t>Avoiding the Zero-Probability Problem</a:t>
            </a:r>
          </a:p>
        </p:txBody>
      </p:sp>
      <p:sp>
        <p:nvSpPr>
          <p:cNvPr id="40964" name="Rectangle 3">
            <a:extLst>
              <a:ext uri="{FF2B5EF4-FFF2-40B4-BE49-F238E27FC236}">
                <a16:creationId xmlns:a16="http://schemas.microsoft.com/office/drawing/2014/main" id="{8E8C1670-5F58-D2ED-6F2F-A8FA8D29505A}"/>
              </a:ext>
            </a:extLst>
          </p:cNvPr>
          <p:cNvSpPr>
            <a:spLocks noGrp="1" noChangeArrowheads="1"/>
          </p:cNvSpPr>
          <p:nvPr>
            <p:ph type="body" sz="half" idx="1"/>
          </p:nvPr>
        </p:nvSpPr>
        <p:spPr>
          <a:xfrm>
            <a:off x="304800" y="1219200"/>
            <a:ext cx="8382000" cy="54864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Naïve Bayesian prediction requires each conditional prob. be </a:t>
            </a:r>
            <a:r>
              <a:rPr lang="en-US" altLang="en-US" sz="2400" b="1" dirty="0">
                <a:latin typeface="Times New Roman" panose="02020603050405020304" pitchFamily="18" charset="0"/>
                <a:cs typeface="Times New Roman" panose="02020603050405020304" pitchFamily="18" charset="0"/>
              </a:rPr>
              <a:t>non-zero</a:t>
            </a:r>
            <a:r>
              <a:rPr lang="en-US" altLang="en-US" sz="2400" dirty="0">
                <a:latin typeface="Times New Roman" panose="02020603050405020304" pitchFamily="18" charset="0"/>
                <a:cs typeface="Times New Roman" panose="02020603050405020304" pitchFamily="18" charset="0"/>
              </a:rPr>
              <a:t>.  Otherwise, the predicted prob. will be zero</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en-US" sz="2400" b="1" dirty="0">
                <a:latin typeface="Times New Roman" panose="02020603050405020304" pitchFamily="18" charset="0"/>
                <a:cs typeface="Times New Roman" panose="02020603050405020304" pitchFamily="18" charset="0"/>
              </a:rPr>
              <a:t>	</a:t>
            </a:r>
          </a:p>
          <a:p>
            <a:pPr eaLnBrk="1" hangingPunct="1"/>
            <a:r>
              <a:rPr lang="en-US" altLang="en-US" sz="2400" dirty="0">
                <a:latin typeface="Times New Roman" panose="02020603050405020304" pitchFamily="18" charset="0"/>
                <a:cs typeface="Times New Roman" panose="02020603050405020304" pitchFamily="18" charset="0"/>
              </a:rPr>
              <a:t>Ex. Suppose a dataset with 1000 tuples, income=low (0), income= medium (990), and income = high (10)</a:t>
            </a:r>
          </a:p>
          <a:p>
            <a:pPr eaLnBrk="1" hangingPunct="1"/>
            <a:r>
              <a:rPr lang="en-US" altLang="en-US" sz="2400" dirty="0">
                <a:latin typeface="Times New Roman" panose="02020603050405020304" pitchFamily="18" charset="0"/>
                <a:cs typeface="Times New Roman" panose="02020603050405020304" pitchFamily="18" charset="0"/>
              </a:rPr>
              <a:t>Use </a:t>
            </a:r>
            <a:r>
              <a:rPr lang="en-US" altLang="en-US" sz="2400" b="1" dirty="0">
                <a:latin typeface="Times New Roman" panose="02020603050405020304" pitchFamily="18" charset="0"/>
                <a:cs typeface="Times New Roman" panose="02020603050405020304" pitchFamily="18" charset="0"/>
              </a:rPr>
              <a:t>Laplacian correction</a:t>
            </a:r>
            <a:r>
              <a:rPr lang="en-US" altLang="en-US" sz="2400" dirty="0">
                <a:latin typeface="Times New Roman" panose="02020603050405020304" pitchFamily="18" charset="0"/>
                <a:cs typeface="Times New Roman" panose="02020603050405020304" pitchFamily="18" charset="0"/>
              </a:rPr>
              <a:t> (or Laplacian estimator)</a:t>
            </a:r>
          </a:p>
          <a:p>
            <a:pPr lvl="1" eaLnBrk="1" hangingPunct="1"/>
            <a:r>
              <a:rPr lang="en-US" altLang="en-US" sz="2400" i="1" dirty="0">
                <a:latin typeface="Times New Roman" panose="02020603050405020304" pitchFamily="18" charset="0"/>
                <a:cs typeface="Times New Roman" panose="02020603050405020304" pitchFamily="18" charset="0"/>
              </a:rPr>
              <a:t>Adding 1 to each case</a:t>
            </a:r>
          </a:p>
          <a:p>
            <a:pPr lvl="2" eaLnBrk="1" hangingPunct="1">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Prob(income = low) = 1/1003</a:t>
            </a:r>
          </a:p>
          <a:p>
            <a:pPr lvl="2" eaLnBrk="1" hangingPunct="1">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Prob(income = medium) = 991/1003</a:t>
            </a:r>
          </a:p>
          <a:p>
            <a:pPr lvl="2" eaLnBrk="1" hangingPunct="1">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Prob(income = high) = 11/1003</a:t>
            </a:r>
          </a:p>
          <a:p>
            <a:pPr lvl="1" eaLnBrk="1" hangingPunct="1"/>
            <a:r>
              <a:rPr lang="en-US" altLang="en-US" sz="2400" dirty="0">
                <a:latin typeface="Times New Roman" panose="02020603050405020304" pitchFamily="18" charset="0"/>
                <a:cs typeface="Times New Roman" panose="02020603050405020304" pitchFamily="18" charset="0"/>
              </a:rPr>
              <a:t>The “corrected” prob. estimates are close to their “uncorrected” counterparts</a:t>
            </a:r>
          </a:p>
        </p:txBody>
      </p:sp>
      <p:graphicFrame>
        <p:nvGraphicFramePr>
          <p:cNvPr id="40965" name="Object 4">
            <a:extLst>
              <a:ext uri="{FF2B5EF4-FFF2-40B4-BE49-F238E27FC236}">
                <a16:creationId xmlns:a16="http://schemas.microsoft.com/office/drawing/2014/main" id="{D327EA39-DA60-C2D5-73E6-B38AF6F80FAB}"/>
              </a:ext>
            </a:extLst>
          </p:cNvPr>
          <p:cNvGraphicFramePr>
            <a:graphicFrameLocks noGrp="1"/>
          </p:cNvGraphicFramePr>
          <p:nvPr>
            <p:ph sz="half" idx="2"/>
            <p:extLst>
              <p:ext uri="{D42A27DB-BD31-4B8C-83A1-F6EECF244321}">
                <p14:modId xmlns:p14="http://schemas.microsoft.com/office/powerpoint/2010/main" val="1019707353"/>
              </p:ext>
            </p:extLst>
          </p:nvPr>
        </p:nvGraphicFramePr>
        <p:xfrm>
          <a:off x="2209800" y="1981200"/>
          <a:ext cx="4038600" cy="838200"/>
        </p:xfrm>
        <a:graphic>
          <a:graphicData uri="http://schemas.openxmlformats.org/presentationml/2006/ole">
            <mc:AlternateContent xmlns:mc="http://schemas.openxmlformats.org/markup-compatibility/2006">
              <mc:Choice xmlns:v="urn:schemas-microsoft-com:vml" Requires="v">
                <p:oleObj name="Equation" r:id="rId3" imgW="1765300" imgH="508000" progId="Equation.3">
                  <p:embed/>
                </p:oleObj>
              </mc:Choice>
              <mc:Fallback>
                <p:oleObj name="Equation" r:id="rId3" imgW="1765300" imgH="508000" progId="Equation.3">
                  <p:embed/>
                  <p:pic>
                    <p:nvPicPr>
                      <p:cNvPr id="40965" name="Object 4">
                        <a:extLst>
                          <a:ext uri="{FF2B5EF4-FFF2-40B4-BE49-F238E27FC236}">
                            <a16:creationId xmlns:a16="http://schemas.microsoft.com/office/drawing/2014/main" id="{D327EA39-DA60-C2D5-73E6-B38AF6F80FA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981200"/>
                        <a:ext cx="4038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69B4305D-7C5E-A236-DF5B-9351DDC8E6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8E52C863-6B9E-4B5D-8FFF-3B74B47F7D97}" type="slidenum">
              <a:rPr lang="en-US" altLang="en-US">
                <a:latin typeface="Times New Roman" panose="02020603050405020304" pitchFamily="18" charset="0"/>
                <a:cs typeface="Times New Roman" panose="02020603050405020304" pitchFamily="18" charset="0"/>
              </a:rPr>
              <a:pPr eaLnBrk="1" hangingPunct="1"/>
              <a:t>38</a:t>
            </a:fld>
            <a:endParaRPr lang="en-US" altLang="en-US">
              <a:latin typeface="Times New Roman" panose="02020603050405020304" pitchFamily="18" charset="0"/>
              <a:cs typeface="Times New Roman" panose="02020603050405020304" pitchFamily="18" charset="0"/>
            </a:endParaRPr>
          </a:p>
        </p:txBody>
      </p:sp>
      <p:sp>
        <p:nvSpPr>
          <p:cNvPr id="41987" name="Rectangle 2">
            <a:extLst>
              <a:ext uri="{FF2B5EF4-FFF2-40B4-BE49-F238E27FC236}">
                <a16:creationId xmlns:a16="http://schemas.microsoft.com/office/drawing/2014/main" id="{9A6CCDB7-FDA4-14EE-0FEC-3A2D048A3837}"/>
              </a:ext>
            </a:extLst>
          </p:cNvPr>
          <p:cNvSpPr>
            <a:spLocks noGrp="1" noChangeArrowheads="1"/>
          </p:cNvSpPr>
          <p:nvPr>
            <p:ph type="title"/>
          </p:nvPr>
        </p:nvSpPr>
        <p:spPr>
          <a:xfrm>
            <a:off x="9525" y="304800"/>
            <a:ext cx="9144000" cy="609600"/>
          </a:xfrm>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Naïve Bayes Classifier: Comments</a:t>
            </a:r>
          </a:p>
        </p:txBody>
      </p:sp>
      <p:sp>
        <p:nvSpPr>
          <p:cNvPr id="41988" name="Rectangle 3">
            <a:extLst>
              <a:ext uri="{FF2B5EF4-FFF2-40B4-BE49-F238E27FC236}">
                <a16:creationId xmlns:a16="http://schemas.microsoft.com/office/drawing/2014/main" id="{7791E70A-97C0-ED6B-B993-A71E70E5DD46}"/>
              </a:ext>
            </a:extLst>
          </p:cNvPr>
          <p:cNvSpPr>
            <a:spLocks noGrp="1" noChangeArrowheads="1"/>
          </p:cNvSpPr>
          <p:nvPr>
            <p:ph type="body" idx="1"/>
          </p:nvPr>
        </p:nvSpPr>
        <p:spPr>
          <a:xfrm>
            <a:off x="304800" y="1295400"/>
            <a:ext cx="8610600" cy="5105400"/>
          </a:xfrm>
        </p:spPr>
        <p:txBody>
          <a:bodyPr/>
          <a:lstStyle/>
          <a:p>
            <a:pPr eaLnBrk="1" hangingPunct="1">
              <a:lnSpc>
                <a:spcPct val="90000"/>
              </a:lnSpc>
            </a:pPr>
            <a:r>
              <a:rPr lang="en-US" altLang="en-US" sz="2400" dirty="0">
                <a:latin typeface="Times New Roman" panose="02020603050405020304" pitchFamily="18" charset="0"/>
                <a:cs typeface="Times New Roman" panose="02020603050405020304" pitchFamily="18" charset="0"/>
              </a:rPr>
              <a:t>Advantages </a:t>
            </a:r>
          </a:p>
          <a:p>
            <a:pPr lvl="1" eaLnBrk="1" hangingPunct="1">
              <a:lnSpc>
                <a:spcPct val="90000"/>
              </a:lnSpc>
            </a:pPr>
            <a:r>
              <a:rPr lang="en-US" altLang="en-US" sz="2400" dirty="0">
                <a:latin typeface="Times New Roman" panose="02020603050405020304" pitchFamily="18" charset="0"/>
                <a:cs typeface="Times New Roman" panose="02020603050405020304" pitchFamily="18" charset="0"/>
              </a:rPr>
              <a:t>Easy to implement </a:t>
            </a:r>
          </a:p>
          <a:p>
            <a:pPr lvl="1" eaLnBrk="1" hangingPunct="1">
              <a:lnSpc>
                <a:spcPct val="90000"/>
              </a:lnSpc>
            </a:pPr>
            <a:r>
              <a:rPr lang="en-US" altLang="en-US" sz="2400" dirty="0">
                <a:latin typeface="Times New Roman" panose="02020603050405020304" pitchFamily="18" charset="0"/>
                <a:cs typeface="Times New Roman" panose="02020603050405020304" pitchFamily="18" charset="0"/>
              </a:rPr>
              <a:t>Good results obtained in most of the cases</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Disadvantages</a:t>
            </a:r>
          </a:p>
          <a:p>
            <a:pPr lvl="1" eaLnBrk="1" hangingPunct="1">
              <a:lnSpc>
                <a:spcPct val="90000"/>
              </a:lnSpc>
            </a:pPr>
            <a:r>
              <a:rPr lang="en-US" altLang="en-US" sz="2400" dirty="0">
                <a:latin typeface="Times New Roman" panose="02020603050405020304" pitchFamily="18" charset="0"/>
                <a:cs typeface="Times New Roman" panose="02020603050405020304" pitchFamily="18" charset="0"/>
              </a:rPr>
              <a:t>Assumption: class conditional independence, therefore loss of accuracy</a:t>
            </a:r>
          </a:p>
          <a:p>
            <a:pPr lvl="1" eaLnBrk="1" hangingPunct="1">
              <a:lnSpc>
                <a:spcPct val="90000"/>
              </a:lnSpc>
            </a:pPr>
            <a:r>
              <a:rPr lang="en-US" altLang="en-US" sz="2400" dirty="0">
                <a:latin typeface="Times New Roman" panose="02020603050405020304" pitchFamily="18" charset="0"/>
                <a:cs typeface="Times New Roman" panose="02020603050405020304" pitchFamily="18" charset="0"/>
              </a:rPr>
              <a:t>Practically, dependencies exist among variables </a:t>
            </a:r>
          </a:p>
          <a:p>
            <a:pPr lvl="2" eaLnBrk="1" hangingPunct="1">
              <a:lnSpc>
                <a:spcPct val="90000"/>
              </a:lnSpc>
            </a:pPr>
            <a:r>
              <a:rPr lang="en-US" altLang="en-US" dirty="0">
                <a:latin typeface="Times New Roman" panose="02020603050405020304" pitchFamily="18" charset="0"/>
                <a:cs typeface="Times New Roman" panose="02020603050405020304" pitchFamily="18" charset="0"/>
              </a:rPr>
              <a:t>E.g.,  hospitals: patients: Profile: age, family history, etc. </a:t>
            </a:r>
          </a:p>
          <a:p>
            <a:pPr lvl="3" eaLnBrk="1" hangingPunct="1">
              <a:lnSpc>
                <a:spcPct val="9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Symptoms: fever, cough etc., Disease: lung cancer, diabetes, etc. </a:t>
            </a:r>
          </a:p>
          <a:p>
            <a:pPr lvl="2" eaLnBrk="1" hangingPunct="1">
              <a:lnSpc>
                <a:spcPct val="90000"/>
              </a:lnSpc>
            </a:pPr>
            <a:r>
              <a:rPr lang="en-US" altLang="en-US" dirty="0">
                <a:latin typeface="Times New Roman" panose="02020603050405020304" pitchFamily="18" charset="0"/>
                <a:cs typeface="Times New Roman" panose="02020603050405020304" pitchFamily="18" charset="0"/>
              </a:rPr>
              <a:t>Dependencies among these cannot be modeled by Naïve Bayes Classifier</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How to deal with these dependencies? Bayesian Belief Networks (Chapter 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27537</TotalTime>
  <Words>3860</Words>
  <Application>Microsoft Office PowerPoint</Application>
  <PresentationFormat>On-screen Show (4:3)</PresentationFormat>
  <Paragraphs>504</Paragraphs>
  <Slides>39</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52" baseType="lpstr">
      <vt:lpstr>Aptos</vt:lpstr>
      <vt:lpstr>Arial</vt:lpstr>
      <vt:lpstr>Cambria Math</vt:lpstr>
      <vt:lpstr>Lucida Sans Unicode</vt:lpstr>
      <vt:lpstr>Nunito</vt:lpstr>
      <vt:lpstr>Times New Roman</vt:lpstr>
      <vt:lpstr>Verdana</vt:lpstr>
      <vt:lpstr>Wingdings</vt:lpstr>
      <vt:lpstr>Wingdings 2</vt:lpstr>
      <vt:lpstr>Wingdings 3</vt:lpstr>
      <vt:lpstr>Concourse</vt:lpstr>
      <vt:lpstr>Equation</vt:lpstr>
      <vt:lpstr>Worksheet</vt:lpstr>
      <vt:lpstr>Data Mining Unit-II: Association Analysis</vt:lpstr>
      <vt:lpstr>Course Overview</vt:lpstr>
      <vt:lpstr>Data Mining Syllabus</vt:lpstr>
      <vt:lpstr>PowerPoint Presentation</vt:lpstr>
      <vt:lpstr>UNIT – III Classification</vt:lpstr>
      <vt:lpstr>Bayesian Classification: Why?</vt:lpstr>
      <vt:lpstr>Bayes’ Theorem: Basics</vt:lpstr>
      <vt:lpstr>Bayes Theorem</vt:lpstr>
      <vt:lpstr>PowerPoint Presentation</vt:lpstr>
      <vt:lpstr>PowerPoint Presentation</vt:lpstr>
      <vt:lpstr>Bayes Theorem Problem</vt:lpstr>
      <vt:lpstr>Bayes Theorem Problem</vt:lpstr>
      <vt:lpstr>Bayes Theorem Problem</vt:lpstr>
      <vt:lpstr>PowerPoint Presentation</vt:lpstr>
      <vt:lpstr>PowerPoint Presentation</vt:lpstr>
      <vt:lpstr>PowerPoint Presentation</vt:lpstr>
      <vt:lpstr>PowerPoint Presentation</vt:lpstr>
      <vt:lpstr>Prediction Based on Bayes’ Theorem</vt:lpstr>
      <vt:lpstr>Classification Is to Derive the Maximum Posteriori</vt:lpstr>
      <vt:lpstr>Naïve Bayes Classifier </vt:lpstr>
      <vt:lpstr>PowerPoint Presentation</vt:lpstr>
      <vt:lpstr>Naïve Bayes Classifier: Training Dataset</vt:lpstr>
      <vt:lpstr>Naïve Bayes Classifier: An Example</vt:lpstr>
      <vt:lpstr>Naïve Bayes Classifier: An Example</vt:lpstr>
      <vt:lpstr> Key Features of Naive Bayes Classifiers </vt:lpstr>
      <vt:lpstr>PowerPoint Presentation</vt:lpstr>
      <vt:lpstr>Consider a fictional dataset that describes the weather conditions for playing a game of golf. Given the weather conditions, each tuple classifies the conditions as fit(“Yes”) or unfit(“No”) for playing golf. Here is a tabular representation of our dataset.</vt:lpstr>
      <vt:lpstr>PowerPoint Presentation</vt:lpstr>
      <vt:lpstr>Assumption of Naive Bayes</vt:lpstr>
      <vt:lpstr>PowerPoint Presentation</vt:lpstr>
      <vt:lpstr>PowerPoint Presentation</vt:lpstr>
      <vt:lpstr>PowerPoint Presentation</vt:lpstr>
      <vt:lpstr>Constructing the Naive Bayes Classifier</vt:lpstr>
      <vt:lpstr>PowerPoint Presentation</vt:lpstr>
      <vt:lpstr>PowerPoint Presentation</vt:lpstr>
      <vt:lpstr>PowerPoint Presentation</vt:lpstr>
      <vt:lpstr>Avoiding the Zero-Probability Problem</vt:lpstr>
      <vt:lpstr>Naïve Bayes Classifier: Comments</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36</cp:revision>
  <dcterms:created xsi:type="dcterms:W3CDTF">2024-02-25T13:29:34Z</dcterms:created>
  <dcterms:modified xsi:type="dcterms:W3CDTF">2026-08-24T08:38:45Z</dcterms:modified>
</cp:coreProperties>
</file>