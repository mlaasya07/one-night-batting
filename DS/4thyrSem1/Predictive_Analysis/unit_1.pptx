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6" r:id="rId2"/>
    <p:sldId id="262" r:id="rId3"/>
    <p:sldId id="263" r:id="rId4"/>
    <p:sldId id="264" r:id="rId5"/>
    <p:sldId id="265" r:id="rId6"/>
    <p:sldId id="274" r:id="rId7"/>
    <p:sldId id="266" r:id="rId8"/>
    <p:sldId id="267" r:id="rId9"/>
    <p:sldId id="268" r:id="rId10"/>
    <p:sldId id="269" r:id="rId11"/>
    <p:sldId id="273" r:id="rId12"/>
    <p:sldId id="275" r:id="rId13"/>
    <p:sldId id="272" r:id="rId14"/>
    <p:sldId id="276" r:id="rId15"/>
    <p:sldId id="278" r:id="rId16"/>
    <p:sldId id="279" r:id="rId17"/>
    <p:sldId id="299" r:id="rId18"/>
    <p:sldId id="280" r:id="rId19"/>
    <p:sldId id="281" r:id="rId20"/>
    <p:sldId id="277" r:id="rId21"/>
    <p:sldId id="270" r:id="rId22"/>
    <p:sldId id="271" r:id="rId23"/>
    <p:sldId id="259" r:id="rId24"/>
    <p:sldId id="282" r:id="rId25"/>
    <p:sldId id="283" r:id="rId26"/>
    <p:sldId id="284" r:id="rId27"/>
    <p:sldId id="285" r:id="rId28"/>
    <p:sldId id="288" r:id="rId29"/>
    <p:sldId id="289" r:id="rId30"/>
    <p:sldId id="290" r:id="rId31"/>
    <p:sldId id="291" r:id="rId32"/>
    <p:sldId id="292" r:id="rId33"/>
    <p:sldId id="293" r:id="rId34"/>
    <p:sldId id="294" r:id="rId35"/>
    <p:sldId id="295" r:id="rId36"/>
    <p:sldId id="296" r:id="rId37"/>
    <p:sldId id="286" r:id="rId38"/>
    <p:sldId id="297" r:id="rId39"/>
    <p:sldId id="300" r:id="rId40"/>
    <p:sldId id="298" r:id="rId41"/>
    <p:sldId id="287"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7" d="100"/>
          <a:sy n="57" d="100"/>
        </p:scale>
        <p:origin x="92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95BB33-F497-45EC-8218-6871C2BF7E44}" type="datetimeFigureOut">
              <a:rPr lang="en-IN" smtClean="0"/>
              <a:t>15-07-2026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83A331-072E-4E19-A035-A909B61906D6}" type="slidenum">
              <a:rPr lang="en-IN" smtClean="0"/>
              <a:t>‹#›</a:t>
            </a:fld>
            <a:endParaRPr lang="en-IN"/>
          </a:p>
        </p:txBody>
      </p:sp>
    </p:spTree>
    <p:extLst>
      <p:ext uri="{BB962C8B-B14F-4D97-AF65-F5344CB8AC3E}">
        <p14:creationId xmlns:p14="http://schemas.microsoft.com/office/powerpoint/2010/main" val="222683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Velocity speed at which data is generated, collected, and processed</a:t>
            </a:r>
            <a:r>
              <a:rPr lang="en-IN" dirty="0"/>
              <a:t>.  </a:t>
            </a:r>
            <a:r>
              <a:rPr lang="en-IN" b="1" dirty="0"/>
              <a:t>Example:</a:t>
            </a:r>
            <a:endParaRPr lang="en-IN" dirty="0"/>
          </a:p>
          <a:p>
            <a:r>
              <a:rPr lang="en-IN" dirty="0"/>
              <a:t>Users watch, pause, search, and rate movies every second.  Netflix updates recommendations quickly.</a:t>
            </a:r>
          </a:p>
          <a:p>
            <a:endParaRPr lang="en-IN" dirty="0"/>
          </a:p>
        </p:txBody>
      </p:sp>
      <p:sp>
        <p:nvSpPr>
          <p:cNvPr id="4" name="Slide Number Placeholder 3"/>
          <p:cNvSpPr>
            <a:spLocks noGrp="1"/>
          </p:cNvSpPr>
          <p:nvPr>
            <p:ph type="sldNum" sz="quarter" idx="5"/>
          </p:nvPr>
        </p:nvSpPr>
        <p:spPr/>
        <p:txBody>
          <a:bodyPr/>
          <a:lstStyle/>
          <a:p>
            <a:fld id="{E683A331-072E-4E19-A035-A909B61906D6}" type="slidenum">
              <a:rPr lang="en-IN" smtClean="0"/>
              <a:t>2</a:t>
            </a:fld>
            <a:endParaRPr lang="en-IN"/>
          </a:p>
        </p:txBody>
      </p:sp>
    </p:spTree>
    <p:extLst>
      <p:ext uri="{BB962C8B-B14F-4D97-AF65-F5344CB8AC3E}">
        <p14:creationId xmlns:p14="http://schemas.microsoft.com/office/powerpoint/2010/main" val="4382901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After understanding what happened (descriptive analytics) and why it happened (diagnostic analytics), predictive analytics helps answer what may happen next. Businesses can use these future predictions to make smarter decisions and improve their strategies.</a:t>
            </a:r>
          </a:p>
        </p:txBody>
      </p:sp>
      <p:sp>
        <p:nvSpPr>
          <p:cNvPr id="4" name="Slide Number Placeholder 3"/>
          <p:cNvSpPr>
            <a:spLocks noGrp="1"/>
          </p:cNvSpPr>
          <p:nvPr>
            <p:ph type="sldNum" sz="quarter" idx="5"/>
          </p:nvPr>
        </p:nvSpPr>
        <p:spPr/>
        <p:txBody>
          <a:bodyPr/>
          <a:lstStyle/>
          <a:p>
            <a:fld id="{E683A331-072E-4E19-A035-A909B61906D6}" type="slidenum">
              <a:rPr lang="en-IN" smtClean="0"/>
              <a:t>10</a:t>
            </a:fld>
            <a:endParaRPr lang="en-IN"/>
          </a:p>
        </p:txBody>
      </p:sp>
    </p:spTree>
    <p:extLst>
      <p:ext uri="{BB962C8B-B14F-4D97-AF65-F5344CB8AC3E}">
        <p14:creationId xmlns:p14="http://schemas.microsoft.com/office/powerpoint/2010/main" val="26991562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683A331-072E-4E19-A035-A909B61906D6}" type="slidenum">
              <a:rPr lang="en-IN" smtClean="0"/>
              <a:t>11</a:t>
            </a:fld>
            <a:endParaRPr lang="en-IN"/>
          </a:p>
        </p:txBody>
      </p:sp>
    </p:spTree>
    <p:extLst>
      <p:ext uri="{BB962C8B-B14F-4D97-AF65-F5344CB8AC3E}">
        <p14:creationId xmlns:p14="http://schemas.microsoft.com/office/powerpoint/2010/main" val="17118481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683A331-072E-4E19-A035-A909B61906D6}" type="slidenum">
              <a:rPr lang="en-IN" smtClean="0"/>
              <a:t>27</a:t>
            </a:fld>
            <a:endParaRPr lang="en-IN"/>
          </a:p>
        </p:txBody>
      </p:sp>
    </p:spTree>
    <p:extLst>
      <p:ext uri="{BB962C8B-B14F-4D97-AF65-F5344CB8AC3E}">
        <p14:creationId xmlns:p14="http://schemas.microsoft.com/office/powerpoint/2010/main" val="197996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8D2E8-DEB8-411D-704A-E6895CF3D67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028E4BE-83B9-6153-97AF-B816F2CCB4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4D6A607-EEC7-A588-EEEC-D312ADD326B0}"/>
              </a:ext>
            </a:extLst>
          </p:cNvPr>
          <p:cNvSpPr>
            <a:spLocks noGrp="1"/>
          </p:cNvSpPr>
          <p:nvPr>
            <p:ph type="dt" sz="half" idx="10"/>
          </p:nvPr>
        </p:nvSpPr>
        <p:spPr/>
        <p:txBody>
          <a:bodyPr/>
          <a:lstStyle/>
          <a:p>
            <a:fld id="{52EBD9ED-2BA1-4D40-8565-89B183B3B424}" type="datetimeFigureOut">
              <a:rPr lang="en-IN" smtClean="0"/>
              <a:t>15-07-2026</a:t>
            </a:fld>
            <a:endParaRPr lang="en-IN"/>
          </a:p>
        </p:txBody>
      </p:sp>
      <p:sp>
        <p:nvSpPr>
          <p:cNvPr id="5" name="Footer Placeholder 4">
            <a:extLst>
              <a:ext uri="{FF2B5EF4-FFF2-40B4-BE49-F238E27FC236}">
                <a16:creationId xmlns:a16="http://schemas.microsoft.com/office/drawing/2014/main" id="{4EC427A0-2A7F-B0C8-9BAC-C2617FD1CE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331B02-112E-EFC1-0D39-D17E425FFED3}"/>
              </a:ext>
            </a:extLst>
          </p:cNvPr>
          <p:cNvSpPr>
            <a:spLocks noGrp="1"/>
          </p:cNvSpPr>
          <p:nvPr>
            <p:ph type="sldNum" sz="quarter" idx="12"/>
          </p:nvPr>
        </p:nvSpPr>
        <p:spPr/>
        <p:txBody>
          <a:bodyPr/>
          <a:lstStyle/>
          <a:p>
            <a:fld id="{CF81E188-E594-41FE-99D5-33275BA385AA}" type="slidenum">
              <a:rPr lang="en-IN" smtClean="0"/>
              <a:t>‹#›</a:t>
            </a:fld>
            <a:endParaRPr lang="en-IN"/>
          </a:p>
        </p:txBody>
      </p:sp>
    </p:spTree>
    <p:extLst>
      <p:ext uri="{BB962C8B-B14F-4D97-AF65-F5344CB8AC3E}">
        <p14:creationId xmlns:p14="http://schemas.microsoft.com/office/powerpoint/2010/main" val="647864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7DFCD-675E-3C2E-0BB4-0027EF2E050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F24DBAC-BCED-68BD-BD9F-A6CD63ADCE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3ED875-36FF-12DF-1ED5-C5D7D8C3F797}"/>
              </a:ext>
            </a:extLst>
          </p:cNvPr>
          <p:cNvSpPr>
            <a:spLocks noGrp="1"/>
          </p:cNvSpPr>
          <p:nvPr>
            <p:ph type="dt" sz="half" idx="10"/>
          </p:nvPr>
        </p:nvSpPr>
        <p:spPr/>
        <p:txBody>
          <a:bodyPr/>
          <a:lstStyle/>
          <a:p>
            <a:fld id="{52EBD9ED-2BA1-4D40-8565-89B183B3B424}" type="datetimeFigureOut">
              <a:rPr lang="en-IN" smtClean="0"/>
              <a:t>15-07-2026</a:t>
            </a:fld>
            <a:endParaRPr lang="en-IN"/>
          </a:p>
        </p:txBody>
      </p:sp>
      <p:sp>
        <p:nvSpPr>
          <p:cNvPr id="5" name="Footer Placeholder 4">
            <a:extLst>
              <a:ext uri="{FF2B5EF4-FFF2-40B4-BE49-F238E27FC236}">
                <a16:creationId xmlns:a16="http://schemas.microsoft.com/office/drawing/2014/main" id="{1A127FBF-D6EC-EE8B-FE23-C85F9129B8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BFCEB6-B61C-41BD-07B8-C3A9DEC3DB0B}"/>
              </a:ext>
            </a:extLst>
          </p:cNvPr>
          <p:cNvSpPr>
            <a:spLocks noGrp="1"/>
          </p:cNvSpPr>
          <p:nvPr>
            <p:ph type="sldNum" sz="quarter" idx="12"/>
          </p:nvPr>
        </p:nvSpPr>
        <p:spPr/>
        <p:txBody>
          <a:bodyPr/>
          <a:lstStyle/>
          <a:p>
            <a:fld id="{CF81E188-E594-41FE-99D5-33275BA385AA}" type="slidenum">
              <a:rPr lang="en-IN" smtClean="0"/>
              <a:t>‹#›</a:t>
            </a:fld>
            <a:endParaRPr lang="en-IN"/>
          </a:p>
        </p:txBody>
      </p:sp>
    </p:spTree>
    <p:extLst>
      <p:ext uri="{BB962C8B-B14F-4D97-AF65-F5344CB8AC3E}">
        <p14:creationId xmlns:p14="http://schemas.microsoft.com/office/powerpoint/2010/main" val="3386575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CF84C-CA3A-6FF1-BBCE-07D7D0A2B1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B1A19CF-AD19-761D-55D1-60E59A6F6AF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FA0239-60BA-305B-0542-ADE07F0FBBFD}"/>
              </a:ext>
            </a:extLst>
          </p:cNvPr>
          <p:cNvSpPr>
            <a:spLocks noGrp="1"/>
          </p:cNvSpPr>
          <p:nvPr>
            <p:ph type="dt" sz="half" idx="10"/>
          </p:nvPr>
        </p:nvSpPr>
        <p:spPr/>
        <p:txBody>
          <a:bodyPr/>
          <a:lstStyle/>
          <a:p>
            <a:fld id="{52EBD9ED-2BA1-4D40-8565-89B183B3B424}" type="datetimeFigureOut">
              <a:rPr lang="en-IN" smtClean="0"/>
              <a:t>15-07-2026</a:t>
            </a:fld>
            <a:endParaRPr lang="en-IN"/>
          </a:p>
        </p:txBody>
      </p:sp>
      <p:sp>
        <p:nvSpPr>
          <p:cNvPr id="5" name="Footer Placeholder 4">
            <a:extLst>
              <a:ext uri="{FF2B5EF4-FFF2-40B4-BE49-F238E27FC236}">
                <a16:creationId xmlns:a16="http://schemas.microsoft.com/office/drawing/2014/main" id="{B8E66C39-52D7-633B-8284-2173743F3E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E30FB5-E2A0-993E-46EE-130A99217FA0}"/>
              </a:ext>
            </a:extLst>
          </p:cNvPr>
          <p:cNvSpPr>
            <a:spLocks noGrp="1"/>
          </p:cNvSpPr>
          <p:nvPr>
            <p:ph type="sldNum" sz="quarter" idx="12"/>
          </p:nvPr>
        </p:nvSpPr>
        <p:spPr/>
        <p:txBody>
          <a:bodyPr/>
          <a:lstStyle/>
          <a:p>
            <a:fld id="{CF81E188-E594-41FE-99D5-33275BA385AA}" type="slidenum">
              <a:rPr lang="en-IN" smtClean="0"/>
              <a:t>‹#›</a:t>
            </a:fld>
            <a:endParaRPr lang="en-IN"/>
          </a:p>
        </p:txBody>
      </p:sp>
    </p:spTree>
    <p:extLst>
      <p:ext uri="{BB962C8B-B14F-4D97-AF65-F5344CB8AC3E}">
        <p14:creationId xmlns:p14="http://schemas.microsoft.com/office/powerpoint/2010/main" val="3466534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4E2C4-6A34-121C-BB4F-B19C0889C4E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2A4B251-033D-8363-10A5-F7FACCFA4E4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5366615-6395-434D-FF39-FD159D1B99B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B70D6C8-FB3B-7D44-EADD-E1A90723F381}"/>
              </a:ext>
            </a:extLst>
          </p:cNvPr>
          <p:cNvSpPr>
            <a:spLocks noGrp="1"/>
          </p:cNvSpPr>
          <p:nvPr>
            <p:ph type="dt" sz="half" idx="10"/>
          </p:nvPr>
        </p:nvSpPr>
        <p:spPr/>
        <p:txBody>
          <a:bodyPr/>
          <a:lstStyle/>
          <a:p>
            <a:fld id="{52EBD9ED-2BA1-4D40-8565-89B183B3B424}" type="datetimeFigureOut">
              <a:rPr lang="en-IN" smtClean="0"/>
              <a:t>15-07-2026</a:t>
            </a:fld>
            <a:endParaRPr lang="en-IN"/>
          </a:p>
        </p:txBody>
      </p:sp>
      <p:sp>
        <p:nvSpPr>
          <p:cNvPr id="6" name="Footer Placeholder 5">
            <a:extLst>
              <a:ext uri="{FF2B5EF4-FFF2-40B4-BE49-F238E27FC236}">
                <a16:creationId xmlns:a16="http://schemas.microsoft.com/office/drawing/2014/main" id="{528E4BEA-3C86-E5A5-8F1C-1439381D4C5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E6FA7C6-A88D-4CF8-1B93-09481E0ABFBF}"/>
              </a:ext>
            </a:extLst>
          </p:cNvPr>
          <p:cNvSpPr>
            <a:spLocks noGrp="1"/>
          </p:cNvSpPr>
          <p:nvPr>
            <p:ph type="sldNum" sz="quarter" idx="12"/>
          </p:nvPr>
        </p:nvSpPr>
        <p:spPr/>
        <p:txBody>
          <a:bodyPr/>
          <a:lstStyle/>
          <a:p>
            <a:fld id="{CF81E188-E594-41FE-99D5-33275BA385AA}" type="slidenum">
              <a:rPr lang="en-IN" smtClean="0"/>
              <a:t>‹#›</a:t>
            </a:fld>
            <a:endParaRPr lang="en-IN"/>
          </a:p>
        </p:txBody>
      </p:sp>
    </p:spTree>
    <p:extLst>
      <p:ext uri="{BB962C8B-B14F-4D97-AF65-F5344CB8AC3E}">
        <p14:creationId xmlns:p14="http://schemas.microsoft.com/office/powerpoint/2010/main" val="26734821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AF233-E882-B767-206B-621C5904903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0CE89C4-94D4-5B5B-7090-61D51219EA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6B47E7B-395E-9646-049E-5055F306E39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A1FBADF-A384-86AE-C46E-676BEF0D41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714E84-A59E-74CA-D2B6-E193797A82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E790A5C-EB6A-E0F3-CFD8-024927697EA8}"/>
              </a:ext>
            </a:extLst>
          </p:cNvPr>
          <p:cNvSpPr>
            <a:spLocks noGrp="1"/>
          </p:cNvSpPr>
          <p:nvPr>
            <p:ph type="dt" sz="half" idx="10"/>
          </p:nvPr>
        </p:nvSpPr>
        <p:spPr/>
        <p:txBody>
          <a:bodyPr/>
          <a:lstStyle/>
          <a:p>
            <a:fld id="{52EBD9ED-2BA1-4D40-8565-89B183B3B424}" type="datetimeFigureOut">
              <a:rPr lang="en-IN" smtClean="0"/>
              <a:t>15-07-2026</a:t>
            </a:fld>
            <a:endParaRPr lang="en-IN"/>
          </a:p>
        </p:txBody>
      </p:sp>
      <p:sp>
        <p:nvSpPr>
          <p:cNvPr id="8" name="Footer Placeholder 7">
            <a:extLst>
              <a:ext uri="{FF2B5EF4-FFF2-40B4-BE49-F238E27FC236}">
                <a16:creationId xmlns:a16="http://schemas.microsoft.com/office/drawing/2014/main" id="{333AE8AB-DA65-D644-E80A-112DCCA2CF6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CC25112-9057-B44C-1BF1-9AE03436A549}"/>
              </a:ext>
            </a:extLst>
          </p:cNvPr>
          <p:cNvSpPr>
            <a:spLocks noGrp="1"/>
          </p:cNvSpPr>
          <p:nvPr>
            <p:ph type="sldNum" sz="quarter" idx="12"/>
          </p:nvPr>
        </p:nvSpPr>
        <p:spPr/>
        <p:txBody>
          <a:bodyPr/>
          <a:lstStyle/>
          <a:p>
            <a:fld id="{CF81E188-E594-41FE-99D5-33275BA385AA}" type="slidenum">
              <a:rPr lang="en-IN" smtClean="0"/>
              <a:t>‹#›</a:t>
            </a:fld>
            <a:endParaRPr lang="en-IN"/>
          </a:p>
        </p:txBody>
      </p:sp>
    </p:spTree>
    <p:extLst>
      <p:ext uri="{BB962C8B-B14F-4D97-AF65-F5344CB8AC3E}">
        <p14:creationId xmlns:p14="http://schemas.microsoft.com/office/powerpoint/2010/main" val="25835982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154EF-A086-FEBC-0086-449138AEAC7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71C1A6E-78C6-B01C-94C9-74405586C0CF}"/>
              </a:ext>
            </a:extLst>
          </p:cNvPr>
          <p:cNvSpPr>
            <a:spLocks noGrp="1"/>
          </p:cNvSpPr>
          <p:nvPr>
            <p:ph type="dt" sz="half" idx="10"/>
          </p:nvPr>
        </p:nvSpPr>
        <p:spPr/>
        <p:txBody>
          <a:bodyPr/>
          <a:lstStyle/>
          <a:p>
            <a:fld id="{52EBD9ED-2BA1-4D40-8565-89B183B3B424}" type="datetimeFigureOut">
              <a:rPr lang="en-IN" smtClean="0"/>
              <a:t>15-07-2026</a:t>
            </a:fld>
            <a:endParaRPr lang="en-IN"/>
          </a:p>
        </p:txBody>
      </p:sp>
      <p:sp>
        <p:nvSpPr>
          <p:cNvPr id="4" name="Footer Placeholder 3">
            <a:extLst>
              <a:ext uri="{FF2B5EF4-FFF2-40B4-BE49-F238E27FC236}">
                <a16:creationId xmlns:a16="http://schemas.microsoft.com/office/drawing/2014/main" id="{B2558A5F-6F8B-7D8B-9428-59099699F0E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87D0169-9783-818E-84FA-0B47407446F6}"/>
              </a:ext>
            </a:extLst>
          </p:cNvPr>
          <p:cNvSpPr>
            <a:spLocks noGrp="1"/>
          </p:cNvSpPr>
          <p:nvPr>
            <p:ph type="sldNum" sz="quarter" idx="12"/>
          </p:nvPr>
        </p:nvSpPr>
        <p:spPr/>
        <p:txBody>
          <a:bodyPr/>
          <a:lstStyle/>
          <a:p>
            <a:fld id="{CF81E188-E594-41FE-99D5-33275BA385AA}" type="slidenum">
              <a:rPr lang="en-IN" smtClean="0"/>
              <a:t>‹#›</a:t>
            </a:fld>
            <a:endParaRPr lang="en-IN"/>
          </a:p>
        </p:txBody>
      </p:sp>
    </p:spTree>
    <p:extLst>
      <p:ext uri="{BB962C8B-B14F-4D97-AF65-F5344CB8AC3E}">
        <p14:creationId xmlns:p14="http://schemas.microsoft.com/office/powerpoint/2010/main" val="11724690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10D8C7-22C8-C7E2-1ACF-6ED90DB9C83B}"/>
              </a:ext>
            </a:extLst>
          </p:cNvPr>
          <p:cNvSpPr>
            <a:spLocks noGrp="1"/>
          </p:cNvSpPr>
          <p:nvPr>
            <p:ph type="dt" sz="half" idx="10"/>
          </p:nvPr>
        </p:nvSpPr>
        <p:spPr/>
        <p:txBody>
          <a:bodyPr/>
          <a:lstStyle/>
          <a:p>
            <a:fld id="{52EBD9ED-2BA1-4D40-8565-89B183B3B424}" type="datetimeFigureOut">
              <a:rPr lang="en-IN" smtClean="0"/>
              <a:t>15-07-2026</a:t>
            </a:fld>
            <a:endParaRPr lang="en-IN"/>
          </a:p>
        </p:txBody>
      </p:sp>
      <p:sp>
        <p:nvSpPr>
          <p:cNvPr id="3" name="Footer Placeholder 2">
            <a:extLst>
              <a:ext uri="{FF2B5EF4-FFF2-40B4-BE49-F238E27FC236}">
                <a16:creationId xmlns:a16="http://schemas.microsoft.com/office/drawing/2014/main" id="{56ED82C6-B203-9129-B374-1BE94F0B057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292DCDE-CD8F-5C40-C00E-BD22B367936A}"/>
              </a:ext>
            </a:extLst>
          </p:cNvPr>
          <p:cNvSpPr>
            <a:spLocks noGrp="1"/>
          </p:cNvSpPr>
          <p:nvPr>
            <p:ph type="sldNum" sz="quarter" idx="12"/>
          </p:nvPr>
        </p:nvSpPr>
        <p:spPr/>
        <p:txBody>
          <a:bodyPr/>
          <a:lstStyle/>
          <a:p>
            <a:fld id="{CF81E188-E594-41FE-99D5-33275BA385AA}" type="slidenum">
              <a:rPr lang="en-IN" smtClean="0"/>
              <a:t>‹#›</a:t>
            </a:fld>
            <a:endParaRPr lang="en-IN"/>
          </a:p>
        </p:txBody>
      </p:sp>
    </p:spTree>
    <p:extLst>
      <p:ext uri="{BB962C8B-B14F-4D97-AF65-F5344CB8AC3E}">
        <p14:creationId xmlns:p14="http://schemas.microsoft.com/office/powerpoint/2010/main" val="2502758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A1A17-7FC6-C597-3DF5-57DAF06CD8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BB2D64C-1C11-C4F9-DB4D-AD4E96BFAC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BE52C23-5010-17A9-B78E-5D8AB54A79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ABB5F9-FD1A-28DA-79D3-FD32EE887721}"/>
              </a:ext>
            </a:extLst>
          </p:cNvPr>
          <p:cNvSpPr>
            <a:spLocks noGrp="1"/>
          </p:cNvSpPr>
          <p:nvPr>
            <p:ph type="dt" sz="half" idx="10"/>
          </p:nvPr>
        </p:nvSpPr>
        <p:spPr/>
        <p:txBody>
          <a:bodyPr/>
          <a:lstStyle/>
          <a:p>
            <a:fld id="{52EBD9ED-2BA1-4D40-8565-89B183B3B424}" type="datetimeFigureOut">
              <a:rPr lang="en-IN" smtClean="0"/>
              <a:t>15-07-2026</a:t>
            </a:fld>
            <a:endParaRPr lang="en-IN"/>
          </a:p>
        </p:txBody>
      </p:sp>
      <p:sp>
        <p:nvSpPr>
          <p:cNvPr id="6" name="Footer Placeholder 5">
            <a:extLst>
              <a:ext uri="{FF2B5EF4-FFF2-40B4-BE49-F238E27FC236}">
                <a16:creationId xmlns:a16="http://schemas.microsoft.com/office/drawing/2014/main" id="{217D4E7E-299B-992F-BDA7-7A44C6617C6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298FB1D-F098-B166-8F71-FEEBC841B365}"/>
              </a:ext>
            </a:extLst>
          </p:cNvPr>
          <p:cNvSpPr>
            <a:spLocks noGrp="1"/>
          </p:cNvSpPr>
          <p:nvPr>
            <p:ph type="sldNum" sz="quarter" idx="12"/>
          </p:nvPr>
        </p:nvSpPr>
        <p:spPr/>
        <p:txBody>
          <a:bodyPr/>
          <a:lstStyle/>
          <a:p>
            <a:fld id="{CF81E188-E594-41FE-99D5-33275BA385AA}" type="slidenum">
              <a:rPr lang="en-IN" smtClean="0"/>
              <a:t>‹#›</a:t>
            </a:fld>
            <a:endParaRPr lang="en-IN"/>
          </a:p>
        </p:txBody>
      </p:sp>
    </p:spTree>
    <p:extLst>
      <p:ext uri="{BB962C8B-B14F-4D97-AF65-F5344CB8AC3E}">
        <p14:creationId xmlns:p14="http://schemas.microsoft.com/office/powerpoint/2010/main" val="3949516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4A45A-DCF5-10E5-DE2D-54630784FA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A32B357-E09D-F23A-6AE3-8B299A034E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399CD30-059C-619C-6605-C1B2856ADF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B2EFB0-1B20-CB74-71F8-2B1C7FB8B48A}"/>
              </a:ext>
            </a:extLst>
          </p:cNvPr>
          <p:cNvSpPr>
            <a:spLocks noGrp="1"/>
          </p:cNvSpPr>
          <p:nvPr>
            <p:ph type="dt" sz="half" idx="10"/>
          </p:nvPr>
        </p:nvSpPr>
        <p:spPr/>
        <p:txBody>
          <a:bodyPr/>
          <a:lstStyle/>
          <a:p>
            <a:fld id="{52EBD9ED-2BA1-4D40-8565-89B183B3B424}" type="datetimeFigureOut">
              <a:rPr lang="en-IN" smtClean="0"/>
              <a:t>15-07-2026</a:t>
            </a:fld>
            <a:endParaRPr lang="en-IN"/>
          </a:p>
        </p:txBody>
      </p:sp>
      <p:sp>
        <p:nvSpPr>
          <p:cNvPr id="6" name="Footer Placeholder 5">
            <a:extLst>
              <a:ext uri="{FF2B5EF4-FFF2-40B4-BE49-F238E27FC236}">
                <a16:creationId xmlns:a16="http://schemas.microsoft.com/office/drawing/2014/main" id="{15AB5D43-6E73-764B-2633-A13D08550E5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FE37A9-1E58-677B-5031-C36D672E5ABD}"/>
              </a:ext>
            </a:extLst>
          </p:cNvPr>
          <p:cNvSpPr>
            <a:spLocks noGrp="1"/>
          </p:cNvSpPr>
          <p:nvPr>
            <p:ph type="sldNum" sz="quarter" idx="12"/>
          </p:nvPr>
        </p:nvSpPr>
        <p:spPr/>
        <p:txBody>
          <a:bodyPr/>
          <a:lstStyle/>
          <a:p>
            <a:fld id="{CF81E188-E594-41FE-99D5-33275BA385AA}" type="slidenum">
              <a:rPr lang="en-IN" smtClean="0"/>
              <a:t>‹#›</a:t>
            </a:fld>
            <a:endParaRPr lang="en-IN"/>
          </a:p>
        </p:txBody>
      </p:sp>
    </p:spTree>
    <p:extLst>
      <p:ext uri="{BB962C8B-B14F-4D97-AF65-F5344CB8AC3E}">
        <p14:creationId xmlns:p14="http://schemas.microsoft.com/office/powerpoint/2010/main" val="846111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78183-A07C-6F1E-047D-FA0AD94B5A2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D96FAC9-E99F-3C54-3C45-E0708B0E60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A620AC-B52B-4F75-7393-D3B4FAA0124B}"/>
              </a:ext>
            </a:extLst>
          </p:cNvPr>
          <p:cNvSpPr>
            <a:spLocks noGrp="1"/>
          </p:cNvSpPr>
          <p:nvPr>
            <p:ph type="dt" sz="half" idx="10"/>
          </p:nvPr>
        </p:nvSpPr>
        <p:spPr/>
        <p:txBody>
          <a:bodyPr/>
          <a:lstStyle/>
          <a:p>
            <a:fld id="{52EBD9ED-2BA1-4D40-8565-89B183B3B424}" type="datetimeFigureOut">
              <a:rPr lang="en-IN" smtClean="0"/>
              <a:t>15-07-2026</a:t>
            </a:fld>
            <a:endParaRPr lang="en-IN"/>
          </a:p>
        </p:txBody>
      </p:sp>
      <p:sp>
        <p:nvSpPr>
          <p:cNvPr id="5" name="Footer Placeholder 4">
            <a:extLst>
              <a:ext uri="{FF2B5EF4-FFF2-40B4-BE49-F238E27FC236}">
                <a16:creationId xmlns:a16="http://schemas.microsoft.com/office/drawing/2014/main" id="{7B0FB5F4-EFAC-DBC8-D5A9-B6A2F05CD2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32A097-220F-C3BC-A809-95735BC0AB26}"/>
              </a:ext>
            </a:extLst>
          </p:cNvPr>
          <p:cNvSpPr>
            <a:spLocks noGrp="1"/>
          </p:cNvSpPr>
          <p:nvPr>
            <p:ph type="sldNum" sz="quarter" idx="12"/>
          </p:nvPr>
        </p:nvSpPr>
        <p:spPr/>
        <p:txBody>
          <a:bodyPr/>
          <a:lstStyle/>
          <a:p>
            <a:fld id="{CF81E188-E594-41FE-99D5-33275BA385AA}" type="slidenum">
              <a:rPr lang="en-IN" smtClean="0"/>
              <a:t>‹#›</a:t>
            </a:fld>
            <a:endParaRPr lang="en-IN"/>
          </a:p>
        </p:txBody>
      </p:sp>
    </p:spTree>
    <p:extLst>
      <p:ext uri="{BB962C8B-B14F-4D97-AF65-F5344CB8AC3E}">
        <p14:creationId xmlns:p14="http://schemas.microsoft.com/office/powerpoint/2010/main" val="2979157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A4F7C0-D231-927A-526E-5F5581C47EE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5D6AAA8-D4A7-4364-0691-064B2F2AF6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6B524C-7A58-6231-1F89-0E02FB0A69BC}"/>
              </a:ext>
            </a:extLst>
          </p:cNvPr>
          <p:cNvSpPr>
            <a:spLocks noGrp="1"/>
          </p:cNvSpPr>
          <p:nvPr>
            <p:ph type="dt" sz="half" idx="10"/>
          </p:nvPr>
        </p:nvSpPr>
        <p:spPr/>
        <p:txBody>
          <a:bodyPr/>
          <a:lstStyle/>
          <a:p>
            <a:fld id="{52EBD9ED-2BA1-4D40-8565-89B183B3B424}" type="datetimeFigureOut">
              <a:rPr lang="en-IN" smtClean="0"/>
              <a:t>15-07-2026</a:t>
            </a:fld>
            <a:endParaRPr lang="en-IN"/>
          </a:p>
        </p:txBody>
      </p:sp>
      <p:sp>
        <p:nvSpPr>
          <p:cNvPr id="5" name="Footer Placeholder 4">
            <a:extLst>
              <a:ext uri="{FF2B5EF4-FFF2-40B4-BE49-F238E27FC236}">
                <a16:creationId xmlns:a16="http://schemas.microsoft.com/office/drawing/2014/main" id="{20E1A65C-69AF-BFA7-AF2B-90779E8A8F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524448-3BF0-1095-EA8F-4DC4128678B2}"/>
              </a:ext>
            </a:extLst>
          </p:cNvPr>
          <p:cNvSpPr>
            <a:spLocks noGrp="1"/>
          </p:cNvSpPr>
          <p:nvPr>
            <p:ph type="sldNum" sz="quarter" idx="12"/>
          </p:nvPr>
        </p:nvSpPr>
        <p:spPr/>
        <p:txBody>
          <a:bodyPr/>
          <a:lstStyle/>
          <a:p>
            <a:fld id="{CF81E188-E594-41FE-99D5-33275BA385AA}" type="slidenum">
              <a:rPr lang="en-IN" smtClean="0"/>
              <a:t>‹#›</a:t>
            </a:fld>
            <a:endParaRPr lang="en-IN"/>
          </a:p>
        </p:txBody>
      </p:sp>
    </p:spTree>
    <p:extLst>
      <p:ext uri="{BB962C8B-B14F-4D97-AF65-F5344CB8AC3E}">
        <p14:creationId xmlns:p14="http://schemas.microsoft.com/office/powerpoint/2010/main" val="18220776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689F0B-4F96-6CED-1DD1-152807983B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E2EE05E-1E8D-A83E-AFE8-E367DF6566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152436-4C4C-D610-DE2E-8F976F436F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2EBD9ED-2BA1-4D40-8565-89B183B3B424}" type="datetimeFigureOut">
              <a:rPr lang="en-IN" smtClean="0"/>
              <a:t>15-07-2026</a:t>
            </a:fld>
            <a:endParaRPr lang="en-IN"/>
          </a:p>
        </p:txBody>
      </p:sp>
      <p:sp>
        <p:nvSpPr>
          <p:cNvPr id="5" name="Footer Placeholder 4">
            <a:extLst>
              <a:ext uri="{FF2B5EF4-FFF2-40B4-BE49-F238E27FC236}">
                <a16:creationId xmlns:a16="http://schemas.microsoft.com/office/drawing/2014/main" id="{FE293A9D-DB65-70FD-83F8-566534A7BC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293BF73-AF07-E398-77B6-F937041000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F81E188-E594-41FE-99D5-33275BA385AA}" type="slidenum">
              <a:rPr lang="en-IN" smtClean="0"/>
              <a:t>‹#›</a:t>
            </a:fld>
            <a:endParaRPr lang="en-IN"/>
          </a:p>
        </p:txBody>
      </p:sp>
    </p:spTree>
    <p:extLst>
      <p:ext uri="{BB962C8B-B14F-4D97-AF65-F5344CB8AC3E}">
        <p14:creationId xmlns:p14="http://schemas.microsoft.com/office/powerpoint/2010/main" val="28263343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9F13D0F-794F-D15E-CEFB-740A47D27669}"/>
              </a:ext>
            </a:extLst>
          </p:cNvPr>
          <p:cNvSpPr>
            <a:spLocks noGrp="1"/>
          </p:cNvSpPr>
          <p:nvPr>
            <p:ph type="ctrTitle"/>
          </p:nvPr>
        </p:nvSpPr>
        <p:spPr>
          <a:xfrm>
            <a:off x="873512" y="765524"/>
            <a:ext cx="9794488" cy="2306637"/>
          </a:xfrm>
        </p:spPr>
        <p:txBody>
          <a:bodyPr>
            <a:normAutofit/>
          </a:bodyPr>
          <a:lstStyle/>
          <a:p>
            <a:br>
              <a:rPr lang="en-IN" sz="2400" b="1" dirty="0"/>
            </a:br>
            <a:r>
              <a:rPr lang="en-US" sz="2400" dirty="0"/>
              <a:t>Introduction – types of analytics, applications of predictive analytics, overview of predictive analytics. Setting up the problem - processing steps, business understanding, objectives, data for predictive modeling, columns as measures, target variables, measures of success for prediction</a:t>
            </a:r>
            <a:endParaRPr lang="en-IN" sz="2400" dirty="0"/>
          </a:p>
        </p:txBody>
      </p:sp>
      <p:sp>
        <p:nvSpPr>
          <p:cNvPr id="5" name="Subtitle 4">
            <a:extLst>
              <a:ext uri="{FF2B5EF4-FFF2-40B4-BE49-F238E27FC236}">
                <a16:creationId xmlns:a16="http://schemas.microsoft.com/office/drawing/2014/main" id="{5EDBD7B6-8CFC-6EC7-9119-5DB251F577B6}"/>
              </a:ext>
            </a:extLst>
          </p:cNvPr>
          <p:cNvSpPr>
            <a:spLocks noGrp="1"/>
          </p:cNvSpPr>
          <p:nvPr>
            <p:ph type="subTitle" idx="1"/>
          </p:nvPr>
        </p:nvSpPr>
        <p:spPr/>
        <p:txBody>
          <a:bodyPr/>
          <a:lstStyle/>
          <a:p>
            <a:r>
              <a:rPr lang="en-US" dirty="0"/>
              <a:t>book: </a:t>
            </a:r>
            <a:r>
              <a:rPr lang="en-IN" dirty="0"/>
              <a:t>Applied Predictive Analytics by Dean Abbott </a:t>
            </a:r>
          </a:p>
        </p:txBody>
      </p:sp>
    </p:spTree>
    <p:extLst>
      <p:ext uri="{BB962C8B-B14F-4D97-AF65-F5344CB8AC3E}">
        <p14:creationId xmlns:p14="http://schemas.microsoft.com/office/powerpoint/2010/main" val="25501292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41C06-2B08-FA01-026F-539E1759E74D}"/>
              </a:ext>
            </a:extLst>
          </p:cNvPr>
          <p:cNvSpPr>
            <a:spLocks noGrp="1"/>
          </p:cNvSpPr>
          <p:nvPr>
            <p:ph type="title"/>
          </p:nvPr>
        </p:nvSpPr>
        <p:spPr/>
        <p:txBody>
          <a:bodyPr/>
          <a:lstStyle/>
          <a:p>
            <a:endParaRPr lang="en-IN" dirty="0"/>
          </a:p>
        </p:txBody>
      </p:sp>
      <p:pic>
        <p:nvPicPr>
          <p:cNvPr id="9" name="Content Placeholder 8">
            <a:extLst>
              <a:ext uri="{FF2B5EF4-FFF2-40B4-BE49-F238E27FC236}">
                <a16:creationId xmlns:a16="http://schemas.microsoft.com/office/drawing/2014/main" id="{F17C2E7D-DDB3-DFF9-1D4F-B988AEA98EF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53218" y="0"/>
            <a:ext cx="9602362" cy="7201772"/>
          </a:xfrm>
          <a:prstGeom prst="rect">
            <a:avLst/>
          </a:prstGeom>
        </p:spPr>
      </p:pic>
      <p:sp>
        <p:nvSpPr>
          <p:cNvPr id="15" name="TextBox 14">
            <a:extLst>
              <a:ext uri="{FF2B5EF4-FFF2-40B4-BE49-F238E27FC236}">
                <a16:creationId xmlns:a16="http://schemas.microsoft.com/office/drawing/2014/main" id="{C8955DD1-F512-BD4D-BB4A-F2B724E82160}"/>
              </a:ext>
            </a:extLst>
          </p:cNvPr>
          <p:cNvSpPr txBox="1"/>
          <p:nvPr/>
        </p:nvSpPr>
        <p:spPr>
          <a:xfrm>
            <a:off x="8876371" y="5410342"/>
            <a:ext cx="3315629" cy="1477328"/>
          </a:xfrm>
          <a:prstGeom prst="rect">
            <a:avLst/>
          </a:prstGeom>
          <a:noFill/>
        </p:spPr>
        <p:txBody>
          <a:bodyPr wrap="square">
            <a:spAutoFit/>
          </a:bodyPr>
          <a:lstStyle/>
          <a:p>
            <a:r>
              <a:rPr lang="en-IN" b="1" dirty="0"/>
              <a:t>Provides huge data and complex data</a:t>
            </a:r>
          </a:p>
          <a:p>
            <a:r>
              <a:rPr lang="en-IN" b="1" dirty="0" err="1"/>
              <a:t>ie</a:t>
            </a:r>
            <a:r>
              <a:rPr lang="en-IN" b="1" dirty="0"/>
              <a:t>   </a:t>
            </a:r>
            <a:r>
              <a:rPr lang="en-IN" dirty="0"/>
              <a:t>Logs from mobile, Sensors,  Social Media, Transactions,  Images, videos, etc.</a:t>
            </a:r>
          </a:p>
        </p:txBody>
      </p:sp>
      <p:cxnSp>
        <p:nvCxnSpPr>
          <p:cNvPr id="17" name="Straight Arrow Connector 16">
            <a:extLst>
              <a:ext uri="{FF2B5EF4-FFF2-40B4-BE49-F238E27FC236}">
                <a16:creationId xmlns:a16="http://schemas.microsoft.com/office/drawing/2014/main" id="{71F4E168-6D23-61F8-7A75-C70AA8597689}"/>
              </a:ext>
            </a:extLst>
          </p:cNvPr>
          <p:cNvCxnSpPr/>
          <p:nvPr/>
        </p:nvCxnSpPr>
        <p:spPr>
          <a:xfrm>
            <a:off x="7694341" y="6043236"/>
            <a:ext cx="122663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C752189A-83FB-7A5B-4422-18663C040C98}"/>
              </a:ext>
            </a:extLst>
          </p:cNvPr>
          <p:cNvSpPr txBox="1"/>
          <p:nvPr/>
        </p:nvSpPr>
        <p:spPr>
          <a:xfrm>
            <a:off x="7077693" y="193885"/>
            <a:ext cx="3077861" cy="923330"/>
          </a:xfrm>
          <a:prstGeom prst="rect">
            <a:avLst/>
          </a:prstGeom>
          <a:noFill/>
        </p:spPr>
        <p:txBody>
          <a:bodyPr wrap="square">
            <a:spAutoFit/>
          </a:bodyPr>
          <a:lstStyle/>
          <a:p>
            <a:r>
              <a:rPr lang="en-IN" b="1" dirty="0"/>
              <a:t>                                                           </a:t>
            </a:r>
            <a:r>
              <a:rPr lang="en-IN" dirty="0"/>
              <a:t>combines all these methods to solve real-world problems</a:t>
            </a:r>
          </a:p>
        </p:txBody>
      </p:sp>
      <p:cxnSp>
        <p:nvCxnSpPr>
          <p:cNvPr id="21" name="Straight Arrow Connector 20">
            <a:extLst>
              <a:ext uri="{FF2B5EF4-FFF2-40B4-BE49-F238E27FC236}">
                <a16:creationId xmlns:a16="http://schemas.microsoft.com/office/drawing/2014/main" id="{14995446-2A44-DB01-9615-456F6BE02A2F}"/>
              </a:ext>
            </a:extLst>
          </p:cNvPr>
          <p:cNvCxnSpPr/>
          <p:nvPr/>
        </p:nvCxnSpPr>
        <p:spPr>
          <a:xfrm>
            <a:off x="6096000" y="802887"/>
            <a:ext cx="89581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A1D7FCB6-6714-FAB9-22FA-CF157B812620}"/>
              </a:ext>
            </a:extLst>
          </p:cNvPr>
          <p:cNvCxnSpPr/>
          <p:nvPr/>
        </p:nvCxnSpPr>
        <p:spPr>
          <a:xfrm>
            <a:off x="6177776" y="2375210"/>
            <a:ext cx="27432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E8DAAC72-4F1B-3C0A-3418-7897381E984D}"/>
              </a:ext>
            </a:extLst>
          </p:cNvPr>
          <p:cNvCxnSpPr/>
          <p:nvPr/>
        </p:nvCxnSpPr>
        <p:spPr>
          <a:xfrm>
            <a:off x="6445405" y="3429000"/>
            <a:ext cx="243096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7D01C616-3F7E-0F4C-7A39-CFFE5ACA08C8}"/>
              </a:ext>
            </a:extLst>
          </p:cNvPr>
          <p:cNvCxnSpPr/>
          <p:nvPr/>
        </p:nvCxnSpPr>
        <p:spPr>
          <a:xfrm>
            <a:off x="9601200" y="5051502"/>
            <a:ext cx="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84A928F5-075B-6817-97B8-2DCC728149E0}"/>
              </a:ext>
            </a:extLst>
          </p:cNvPr>
          <p:cNvCxnSpPr/>
          <p:nvPr/>
        </p:nvCxnSpPr>
        <p:spPr>
          <a:xfrm>
            <a:off x="6597805" y="5109118"/>
            <a:ext cx="243096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5FAF493D-1B43-92B0-6423-881044D4FE16}"/>
              </a:ext>
            </a:extLst>
          </p:cNvPr>
          <p:cNvSpPr txBox="1"/>
          <p:nvPr/>
        </p:nvSpPr>
        <p:spPr>
          <a:xfrm>
            <a:off x="8964739" y="4933744"/>
            <a:ext cx="6272560" cy="369332"/>
          </a:xfrm>
          <a:prstGeom prst="rect">
            <a:avLst/>
          </a:prstGeom>
          <a:noFill/>
        </p:spPr>
        <p:txBody>
          <a:bodyPr wrap="square">
            <a:spAutoFit/>
          </a:bodyPr>
          <a:lstStyle/>
          <a:p>
            <a:r>
              <a:rPr lang="en-IN" b="1" dirty="0"/>
              <a:t>Find useful/hidden patterns</a:t>
            </a:r>
            <a:endParaRPr lang="en-IN" dirty="0"/>
          </a:p>
        </p:txBody>
      </p:sp>
      <p:sp>
        <p:nvSpPr>
          <p:cNvPr id="32" name="TextBox 31">
            <a:extLst>
              <a:ext uri="{FF2B5EF4-FFF2-40B4-BE49-F238E27FC236}">
                <a16:creationId xmlns:a16="http://schemas.microsoft.com/office/drawing/2014/main" id="{5CE715EF-842C-384B-589B-A4A3500FD933}"/>
              </a:ext>
            </a:extLst>
          </p:cNvPr>
          <p:cNvSpPr txBox="1"/>
          <p:nvPr/>
        </p:nvSpPr>
        <p:spPr>
          <a:xfrm>
            <a:off x="8898666" y="2190546"/>
            <a:ext cx="7828156" cy="646331"/>
          </a:xfrm>
          <a:prstGeom prst="rect">
            <a:avLst/>
          </a:prstGeom>
          <a:noFill/>
        </p:spPr>
        <p:txBody>
          <a:bodyPr wrap="square">
            <a:spAutoFit/>
          </a:bodyPr>
          <a:lstStyle/>
          <a:p>
            <a:r>
              <a:rPr lang="en-IN" b="1" dirty="0"/>
              <a:t>Learns from patterns to </a:t>
            </a:r>
          </a:p>
          <a:p>
            <a:r>
              <a:rPr lang="en-IN" b="1" dirty="0"/>
              <a:t>Build models</a:t>
            </a:r>
            <a:r>
              <a:rPr lang="en-IN" dirty="0"/>
              <a:t> </a:t>
            </a:r>
          </a:p>
        </p:txBody>
      </p:sp>
      <p:sp>
        <p:nvSpPr>
          <p:cNvPr id="34" name="TextBox 33">
            <a:extLst>
              <a:ext uri="{FF2B5EF4-FFF2-40B4-BE49-F238E27FC236}">
                <a16:creationId xmlns:a16="http://schemas.microsoft.com/office/drawing/2014/main" id="{38DD5E5F-99B9-AB34-DC5D-DECB5103D934}"/>
              </a:ext>
            </a:extLst>
          </p:cNvPr>
          <p:cNvSpPr txBox="1"/>
          <p:nvPr/>
        </p:nvSpPr>
        <p:spPr>
          <a:xfrm>
            <a:off x="8851166" y="3239050"/>
            <a:ext cx="8541834" cy="369332"/>
          </a:xfrm>
          <a:prstGeom prst="rect">
            <a:avLst/>
          </a:prstGeom>
          <a:noFill/>
        </p:spPr>
        <p:txBody>
          <a:bodyPr wrap="square">
            <a:spAutoFit/>
          </a:bodyPr>
          <a:lstStyle/>
          <a:p>
            <a:r>
              <a:rPr lang="en-IN" b="1" dirty="0"/>
              <a:t>Predict future events/outcome</a:t>
            </a:r>
            <a:endParaRPr lang="en-IN" dirty="0"/>
          </a:p>
        </p:txBody>
      </p:sp>
    </p:spTree>
    <p:extLst>
      <p:ext uri="{BB962C8B-B14F-4D97-AF65-F5344CB8AC3E}">
        <p14:creationId xmlns:p14="http://schemas.microsoft.com/office/powerpoint/2010/main" val="34422381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04B77-C0C2-79AE-B261-46426F79249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9800A51-522B-F622-B8C5-6B0F3E3FB80F}"/>
              </a:ext>
            </a:extLst>
          </p:cNvPr>
          <p:cNvSpPr>
            <a:spLocks noGrp="1"/>
          </p:cNvSpPr>
          <p:nvPr>
            <p:ph idx="1"/>
          </p:nvPr>
        </p:nvSpPr>
        <p:spPr/>
        <p:txBody>
          <a:bodyPr/>
          <a:lstStyle/>
          <a:p>
            <a:endParaRPr lang="en-IN"/>
          </a:p>
        </p:txBody>
      </p:sp>
      <p:pic>
        <p:nvPicPr>
          <p:cNvPr id="7" name="Picture 6">
            <a:extLst>
              <a:ext uri="{FF2B5EF4-FFF2-40B4-BE49-F238E27FC236}">
                <a16:creationId xmlns:a16="http://schemas.microsoft.com/office/drawing/2014/main" id="{1D42DE92-9583-2A9A-49EA-176327E11452}"/>
              </a:ext>
            </a:extLst>
          </p:cNvPr>
          <p:cNvPicPr>
            <a:picLocks noChangeAspect="1"/>
          </p:cNvPicPr>
          <p:nvPr/>
        </p:nvPicPr>
        <p:blipFill>
          <a:blip r:embed="rId2"/>
          <a:stretch>
            <a:fillRect/>
          </a:stretch>
        </p:blipFill>
        <p:spPr>
          <a:xfrm>
            <a:off x="3217418" y="89211"/>
            <a:ext cx="5904279" cy="6701883"/>
          </a:xfrm>
          <a:prstGeom prst="rect">
            <a:avLst/>
          </a:prstGeom>
        </p:spPr>
      </p:pic>
    </p:spTree>
    <p:extLst>
      <p:ext uri="{BB962C8B-B14F-4D97-AF65-F5344CB8AC3E}">
        <p14:creationId xmlns:p14="http://schemas.microsoft.com/office/powerpoint/2010/main" val="30626077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34091-2E11-5032-EA51-7D467B07E81F}"/>
              </a:ext>
            </a:extLst>
          </p:cNvPr>
          <p:cNvSpPr>
            <a:spLocks noGrp="1"/>
          </p:cNvSpPr>
          <p:nvPr>
            <p:ph type="title"/>
          </p:nvPr>
        </p:nvSpPr>
        <p:spPr>
          <a:xfrm>
            <a:off x="128649" y="-340607"/>
            <a:ext cx="11934701" cy="1876300"/>
          </a:xfrm>
        </p:spPr>
        <p:txBody>
          <a:bodyPr>
            <a:normAutofit/>
          </a:bodyPr>
          <a:lstStyle/>
          <a:p>
            <a:r>
              <a:rPr lang="en-IN" sz="2800" dirty="0">
                <a:solidFill>
                  <a:srgbClr val="FF0000"/>
                </a:solidFill>
                <a:latin typeface="Times New Roman" panose="02020603050405020304" pitchFamily="18" charset="0"/>
                <a:cs typeface="Times New Roman" panose="02020603050405020304" pitchFamily="18" charset="0"/>
              </a:rPr>
              <a:t>Uber ride-pricing </a:t>
            </a:r>
            <a:r>
              <a:rPr lang="en-IN" sz="2200" dirty="0">
                <a:latin typeface="Times New Roman" panose="02020603050405020304" pitchFamily="18" charset="0"/>
                <a:cs typeface="Times New Roman" panose="02020603050405020304" pitchFamily="18" charset="0"/>
              </a:rPr>
              <a:t>(how uber uses predictive analytics to predict the best fare before the ride starts.)</a:t>
            </a:r>
            <a:br>
              <a:rPr lang="en-IN" sz="22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Big Data → Data Mining → Machine Learning → Predictive Analytics → Price Decision</a:t>
            </a:r>
          </a:p>
        </p:txBody>
      </p:sp>
      <p:sp>
        <p:nvSpPr>
          <p:cNvPr id="3" name="Content Placeholder 2">
            <a:extLst>
              <a:ext uri="{FF2B5EF4-FFF2-40B4-BE49-F238E27FC236}">
                <a16:creationId xmlns:a16="http://schemas.microsoft.com/office/drawing/2014/main" id="{7C5FC422-7F57-2C19-8124-D853D23DF478}"/>
              </a:ext>
            </a:extLst>
          </p:cNvPr>
          <p:cNvSpPr>
            <a:spLocks noGrp="1"/>
          </p:cNvSpPr>
          <p:nvPr>
            <p:ph idx="1"/>
          </p:nvPr>
        </p:nvSpPr>
        <p:spPr>
          <a:xfrm>
            <a:off x="91045" y="1326994"/>
            <a:ext cx="12100955" cy="5531005"/>
          </a:xfrm>
        </p:spPr>
        <p:txBody>
          <a:bodyPr>
            <a:normAutofit fontScale="92500"/>
          </a:bodyPr>
          <a:lstStyle/>
          <a:p>
            <a:pPr marL="457200" indent="-457200">
              <a:buAutoNum type="arabicPeriod"/>
            </a:pPr>
            <a:r>
              <a:rPr lang="en-IN" sz="2600" b="1" dirty="0">
                <a:latin typeface="Times New Roman" panose="02020603050405020304" pitchFamily="18" charset="0"/>
                <a:ea typeface="+mj-ea"/>
                <a:cs typeface="Times New Roman" panose="02020603050405020304" pitchFamily="18" charset="0"/>
              </a:rPr>
              <a:t>Big Data (Collect Huge Data) </a:t>
            </a:r>
            <a:r>
              <a:rPr lang="en-IN" sz="2600" dirty="0">
                <a:latin typeface="Times New Roman" panose="02020603050405020304" pitchFamily="18" charset="0"/>
                <a:ea typeface="+mj-ea"/>
                <a:cs typeface="Times New Roman" panose="02020603050405020304" pitchFamily="18" charset="0"/>
              </a:rPr>
              <a:t>: Uber collects millions of records using  Ride Data like Pickup location , Drop location , Distance , Traffic condition , Time of day , Weather , Number of drivers nearby , Customer demand,  Past ride prices</a:t>
            </a:r>
          </a:p>
          <a:p>
            <a:pPr marL="0" indent="0">
              <a:buNone/>
            </a:pPr>
            <a:r>
              <a:rPr lang="en-IN" sz="2600" dirty="0"/>
              <a:t>Eg: (Distance, Time, Traffic, Demand, Price) –   (5 km,10 AM,Low,Normal,₹120)</a:t>
            </a:r>
            <a:br>
              <a:rPr lang="en-IN" sz="2600" dirty="0"/>
            </a:br>
            <a:r>
              <a:rPr lang="en-IN" sz="2600" dirty="0"/>
              <a:t>						  (5 km,6 PM, High, High,₹250)                      	             	will become training data</a:t>
            </a:r>
          </a:p>
          <a:p>
            <a:pPr marL="0" indent="0">
              <a:buNone/>
            </a:pPr>
            <a:r>
              <a:rPr lang="en-IN" sz="2600" b="1" dirty="0">
                <a:latin typeface="Times New Roman" panose="02020603050405020304" pitchFamily="18" charset="0"/>
                <a:ea typeface="+mj-ea"/>
                <a:cs typeface="Times New Roman" panose="02020603050405020304" pitchFamily="18" charset="0"/>
              </a:rPr>
              <a:t>2. Data Mining (Discover Patterns)</a:t>
            </a:r>
            <a:r>
              <a:rPr lang="en-IN" sz="2600" dirty="0">
                <a:latin typeface="Times New Roman" panose="02020603050405020304" pitchFamily="18" charset="0"/>
                <a:ea typeface="+mj-ea"/>
                <a:cs typeface="Times New Roman" panose="02020603050405020304" pitchFamily="18" charset="0"/>
              </a:rPr>
              <a:t>: Uber finds hidden relationships. </a:t>
            </a:r>
          </a:p>
          <a:p>
            <a:pPr marL="0" indent="0">
              <a:buNone/>
              <a:tabLst>
                <a:tab pos="534988" algn="l"/>
              </a:tabLst>
            </a:pPr>
            <a:r>
              <a:rPr lang="en-IN" sz="2600" dirty="0">
                <a:latin typeface="Times New Roman" panose="02020603050405020304" pitchFamily="18" charset="0"/>
                <a:ea typeface="+mj-ea"/>
                <a:cs typeface="Times New Roman" panose="02020603050405020304" pitchFamily="18" charset="0"/>
              </a:rPr>
              <a:t>Eg: Pattern 1:  Office time (6 PM) + Heavy traffic+ More customers  </a:t>
            </a:r>
            <a:r>
              <a:rPr lang="en-IN" sz="2600" dirty="0">
                <a:latin typeface="Times New Roman" panose="02020603050405020304" pitchFamily="18" charset="0"/>
                <a:ea typeface="+mj-ea"/>
                <a:cs typeface="Times New Roman" panose="02020603050405020304" pitchFamily="18" charset="0"/>
                <a:sym typeface="Wingdings" panose="05000000000000000000" pitchFamily="2" charset="2"/>
              </a:rPr>
              <a:t></a:t>
            </a:r>
            <a:r>
              <a:rPr lang="en-IN" sz="2600" dirty="0">
                <a:latin typeface="Times New Roman" panose="02020603050405020304" pitchFamily="18" charset="0"/>
                <a:ea typeface="+mj-ea"/>
                <a:cs typeface="Times New Roman" panose="02020603050405020304" pitchFamily="18" charset="0"/>
              </a:rPr>
              <a:t>Higher price                       	Pattern 2:  Rainy weather -&gt;More ride requests -&gt;Price increases</a:t>
            </a:r>
          </a:p>
          <a:p>
            <a:pPr marL="457200" indent="-457200">
              <a:buAutoNum type="arabicPeriod" startAt="3"/>
              <a:tabLst>
                <a:tab pos="534988" algn="l"/>
              </a:tabLst>
            </a:pPr>
            <a:r>
              <a:rPr lang="en-IN" sz="2600" b="1" dirty="0">
                <a:latin typeface="Times New Roman" panose="02020603050405020304" pitchFamily="18" charset="0"/>
                <a:ea typeface="+mj-ea"/>
                <a:cs typeface="Times New Roman" panose="02020603050405020304" pitchFamily="18" charset="0"/>
              </a:rPr>
              <a:t>Machine Learning model learns</a:t>
            </a:r>
            <a:r>
              <a:rPr lang="en-IN" sz="2600" dirty="0">
                <a:latin typeface="Times New Roman" panose="02020603050405020304" pitchFamily="18" charset="0"/>
                <a:ea typeface="+mj-ea"/>
                <a:cs typeface="Times New Roman" panose="02020603050405020304" pitchFamily="18" charset="0"/>
              </a:rPr>
              <a:t>: ML algorithm learns from historical data.</a:t>
            </a:r>
          </a:p>
          <a:p>
            <a:pPr marL="0" indent="0">
              <a:buNone/>
              <a:tabLst>
                <a:tab pos="534988" algn="l"/>
              </a:tabLst>
            </a:pPr>
            <a:r>
              <a:rPr lang="en-IN" sz="2600" dirty="0">
                <a:solidFill>
                  <a:srgbClr val="FF0000"/>
                </a:solidFill>
                <a:latin typeface="Times New Roman" panose="02020603050405020304" pitchFamily="18" charset="0"/>
                <a:ea typeface="+mj-ea"/>
                <a:cs typeface="Times New Roman" panose="02020603050405020304" pitchFamily="18" charset="0"/>
              </a:rPr>
              <a:t>Input</a:t>
            </a:r>
            <a:r>
              <a:rPr lang="en-IN" sz="2600" dirty="0">
                <a:latin typeface="Times New Roman" panose="02020603050405020304" pitchFamily="18" charset="0"/>
                <a:ea typeface="+mj-ea"/>
                <a:cs typeface="Times New Roman" panose="02020603050405020304" pitchFamily="18" charset="0"/>
              </a:rPr>
              <a:t>: Distance = 10 km , Time = 8 PM,  Traffic = Heavy,  Demand = High, Drivers = Few</a:t>
            </a:r>
          </a:p>
          <a:p>
            <a:pPr marL="0" indent="0">
              <a:buNone/>
              <a:tabLst>
                <a:tab pos="534988" algn="l"/>
              </a:tabLst>
            </a:pPr>
            <a:r>
              <a:rPr lang="en-IN" sz="2600" dirty="0">
                <a:latin typeface="Times New Roman" panose="02020603050405020304" pitchFamily="18" charset="0"/>
                <a:ea typeface="+mj-ea"/>
                <a:cs typeface="Times New Roman" panose="02020603050405020304" pitchFamily="18" charset="0"/>
              </a:rPr>
              <a:t>ML models: Regression models/ Decision Trees/ Random Forest/ Neural Networks                         Model will learned from the past data trained using features then </a:t>
            </a:r>
            <a:r>
              <a:rPr lang="en-IN" sz="2600" dirty="0">
                <a:solidFill>
                  <a:srgbClr val="FF0000"/>
                </a:solidFill>
                <a:latin typeface="Times New Roman" panose="02020603050405020304" pitchFamily="18" charset="0"/>
                <a:ea typeface="+mj-ea"/>
                <a:cs typeface="Times New Roman" panose="02020603050405020304" pitchFamily="18" charset="0"/>
              </a:rPr>
              <a:t>input</a:t>
            </a:r>
            <a:r>
              <a:rPr lang="en-IN" sz="2600" dirty="0">
                <a:latin typeface="Times New Roman" panose="02020603050405020304" pitchFamily="18" charset="0"/>
                <a:ea typeface="+mj-ea"/>
                <a:cs typeface="Times New Roman" panose="02020603050405020304" pitchFamily="18" charset="0"/>
              </a:rPr>
              <a:t> given to ML model will predicts expected fare</a:t>
            </a:r>
          </a:p>
          <a:p>
            <a:pPr marL="0" indent="0">
              <a:buNone/>
            </a:pPr>
            <a:endParaRPr lang="en-IN" dirty="0"/>
          </a:p>
        </p:txBody>
      </p:sp>
    </p:spTree>
    <p:extLst>
      <p:ext uri="{BB962C8B-B14F-4D97-AF65-F5344CB8AC3E}">
        <p14:creationId xmlns:p14="http://schemas.microsoft.com/office/powerpoint/2010/main" val="407648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FC85FA-AC0E-2914-1639-683CC9B84790}"/>
              </a:ext>
            </a:extLst>
          </p:cNvPr>
          <p:cNvSpPr>
            <a:spLocks noGrp="1"/>
          </p:cNvSpPr>
          <p:nvPr>
            <p:ph idx="1"/>
          </p:nvPr>
        </p:nvSpPr>
        <p:spPr>
          <a:xfrm>
            <a:off x="312232" y="245327"/>
            <a:ext cx="7456452" cy="622238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4: </a:t>
            </a:r>
            <a:r>
              <a:rPr lang="en-US" sz="2400" b="1" dirty="0">
                <a:latin typeface="Times New Roman" panose="02020603050405020304" pitchFamily="18" charset="0"/>
                <a:cs typeface="Times New Roman" panose="02020603050405020304" pitchFamily="18" charset="0"/>
              </a:rPr>
              <a:t>Predictive Analytics</a:t>
            </a:r>
            <a:r>
              <a:rPr lang="en-US" sz="2400" dirty="0">
                <a:latin typeface="Times New Roman" panose="02020603050405020304" pitchFamily="18" charset="0"/>
                <a:cs typeface="Times New Roman" panose="02020603050405020304" pitchFamily="18" charset="0"/>
              </a:rPr>
              <a:t>: asks What will the ride price be now?</a:t>
            </a:r>
          </a:p>
          <a:p>
            <a:pPr marL="0" indent="0">
              <a:buNone/>
            </a:pPr>
            <a:r>
              <a:rPr lang="en-US" sz="2400" dirty="0">
                <a:latin typeface="Times New Roman" panose="02020603050405020304" pitchFamily="18" charset="0"/>
                <a:cs typeface="Times New Roman" panose="02020603050405020304" pitchFamily="18" charset="0"/>
              </a:rPr>
              <a:t>Current situation:  Customer opens Uber App gives </a:t>
            </a:r>
          </a:p>
          <a:p>
            <a:pPr marL="0" indent="0">
              <a:buNone/>
            </a:pPr>
            <a:r>
              <a:rPr lang="en-US" sz="2400" dirty="0">
                <a:latin typeface="Times New Roman" panose="02020603050405020304" pitchFamily="18" charset="0"/>
                <a:cs typeface="Times New Roman" panose="02020603050405020304" pitchFamily="18" charset="0"/>
              </a:rPr>
              <a:t>Location = Airport, Time = 7 PM</a:t>
            </a:r>
          </a:p>
          <a:p>
            <a:pPr marL="0" indent="0">
              <a:buNone/>
            </a:pPr>
            <a:r>
              <a:rPr lang="en-US" sz="2400" dirty="0">
                <a:latin typeface="Times New Roman" panose="02020603050405020304" pitchFamily="18" charset="0"/>
                <a:cs typeface="Times New Roman" panose="02020603050405020304" pitchFamily="18" charset="0"/>
              </a:rPr>
              <a:t> Traffic = Heavy, Drivers = Few </a:t>
            </a:r>
            <a:r>
              <a:rPr lang="en-US" sz="2400" dirty="0">
                <a:latin typeface="Times New Roman" panose="02020603050405020304" pitchFamily="18" charset="0"/>
                <a:cs typeface="Times New Roman" panose="02020603050405020304" pitchFamily="18" charset="0"/>
                <a:sym typeface="Wingdings" panose="05000000000000000000" pitchFamily="2" charset="2"/>
              </a:rPr>
              <a:t> </a:t>
            </a:r>
            <a:r>
              <a:rPr lang="en-US" sz="2400" dirty="0">
                <a:latin typeface="Times New Roman" panose="02020603050405020304" pitchFamily="18" charset="0"/>
                <a:cs typeface="Times New Roman" panose="02020603050405020304" pitchFamily="18" charset="0"/>
              </a:rPr>
              <a:t>Predictive Model </a:t>
            </a:r>
            <a:r>
              <a:rPr lang="en-US" sz="2400" dirty="0">
                <a:latin typeface="Times New Roman" panose="02020603050405020304" pitchFamily="18" charset="0"/>
                <a:cs typeface="Times New Roman" panose="02020603050405020304" pitchFamily="18" charset="0"/>
                <a:sym typeface="Wingdings" panose="05000000000000000000" pitchFamily="2" charset="2"/>
              </a:rPr>
              <a:t> </a:t>
            </a:r>
            <a:r>
              <a:rPr lang="en-US" sz="2400" dirty="0">
                <a:latin typeface="Times New Roman" panose="02020603050405020304" pitchFamily="18" charset="0"/>
                <a:cs typeface="Times New Roman" panose="02020603050405020304" pitchFamily="18" charset="0"/>
              </a:rPr>
              <a:t>Predicted Price = ₹850</a:t>
            </a:r>
          </a:p>
          <a:p>
            <a:pPr marL="0" indent="0">
              <a:buNone/>
            </a:pPr>
            <a:r>
              <a:rPr lang="en-US" sz="2400" dirty="0">
                <a:latin typeface="Times New Roman" panose="02020603050405020304" pitchFamily="18" charset="0"/>
                <a:cs typeface="Times New Roman" panose="02020603050405020304" pitchFamily="18" charset="0"/>
              </a:rPr>
              <a:t> 5: </a:t>
            </a:r>
            <a:r>
              <a:rPr lang="en-US" sz="2400" b="1" dirty="0">
                <a:latin typeface="Times New Roman" panose="02020603050405020304" pitchFamily="18" charset="0"/>
                <a:cs typeface="Times New Roman" panose="02020603050405020304" pitchFamily="18" charset="0"/>
              </a:rPr>
              <a:t>Dynamic Pricing Decision </a:t>
            </a:r>
            <a:r>
              <a:rPr lang="en-US" sz="2400" dirty="0">
                <a:latin typeface="Times New Roman" panose="02020603050405020304" pitchFamily="18" charset="0"/>
                <a:cs typeface="Times New Roman" panose="02020603050405020304" pitchFamily="18" charset="0"/>
              </a:rPr>
              <a:t>: Final price will be Base Fare + Distance Cost    + Time Cost  + Demand Prediction    +  Traffic Prediction </a:t>
            </a:r>
            <a:r>
              <a:rPr lang="en-US" sz="2400" dirty="0">
                <a:latin typeface="Times New Roman" panose="02020603050405020304" pitchFamily="18" charset="0"/>
                <a:cs typeface="Times New Roman" panose="02020603050405020304" pitchFamily="18" charset="0"/>
                <a:sym typeface="Wingdings" panose="05000000000000000000" pitchFamily="2" charset="2"/>
              </a:rPr>
              <a:t> </a:t>
            </a:r>
            <a:r>
              <a:rPr lang="en-US" sz="2400" dirty="0">
                <a:latin typeface="Times New Roman" panose="02020603050405020304" pitchFamily="18" charset="0"/>
                <a:cs typeface="Times New Roman" panose="02020603050405020304" pitchFamily="18" charset="0"/>
              </a:rPr>
              <a:t>Final Uber Fare</a:t>
            </a:r>
            <a:endParaRPr lang="en-IN" sz="24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F19B9D1E-64E0-C82B-D636-4F203E761F82}"/>
              </a:ext>
            </a:extLst>
          </p:cNvPr>
          <p:cNvPicPr>
            <a:picLocks noChangeAspect="1"/>
          </p:cNvPicPr>
          <p:nvPr/>
        </p:nvPicPr>
        <p:blipFill>
          <a:blip r:embed="rId2"/>
          <a:stretch>
            <a:fillRect/>
          </a:stretch>
        </p:blipFill>
        <p:spPr>
          <a:xfrm>
            <a:off x="7846741" y="122663"/>
            <a:ext cx="3954424" cy="5931636"/>
          </a:xfrm>
          <a:prstGeom prst="rect">
            <a:avLst/>
          </a:prstGeom>
        </p:spPr>
      </p:pic>
    </p:spTree>
    <p:extLst>
      <p:ext uri="{BB962C8B-B14F-4D97-AF65-F5344CB8AC3E}">
        <p14:creationId xmlns:p14="http://schemas.microsoft.com/office/powerpoint/2010/main" val="524462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25E42-7569-D934-FD79-922BA7E1518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Netflix Movie Recommendation</a:t>
            </a:r>
          </a:p>
        </p:txBody>
      </p:sp>
      <p:sp>
        <p:nvSpPr>
          <p:cNvPr id="3" name="Content Placeholder 2">
            <a:extLst>
              <a:ext uri="{FF2B5EF4-FFF2-40B4-BE49-F238E27FC236}">
                <a16:creationId xmlns:a16="http://schemas.microsoft.com/office/drawing/2014/main" id="{0D6AF702-D64E-016E-5870-F9906031C9A8}"/>
              </a:ext>
            </a:extLst>
          </p:cNvPr>
          <p:cNvSpPr>
            <a:spLocks noGrp="1"/>
          </p:cNvSpPr>
          <p:nvPr>
            <p:ph idx="1"/>
          </p:nvPr>
        </p:nvSpPr>
        <p:spPr>
          <a:xfrm>
            <a:off x="838199" y="1825625"/>
            <a:ext cx="10915185" cy="4351338"/>
          </a:xfrm>
        </p:spPr>
        <p:txBody>
          <a:bodyPr>
            <a:normAutofit/>
          </a:bodyPr>
          <a:lstStyle/>
          <a:p>
            <a:r>
              <a:rPr lang="en-IN" dirty="0">
                <a:latin typeface="Times New Roman" panose="02020603050405020304" pitchFamily="18" charset="0"/>
                <a:cs typeface="Times New Roman" panose="02020603050405020304" pitchFamily="18" charset="0"/>
              </a:rPr>
              <a:t>Big Data :  Millions of users, Movie ratings, Watch time, Search history, Likes/dislikes</a:t>
            </a:r>
          </a:p>
          <a:p>
            <a:r>
              <a:rPr lang="en-IN" dirty="0">
                <a:latin typeface="Times New Roman" panose="02020603050405020304" pitchFamily="18" charset="0"/>
                <a:cs typeface="Times New Roman" panose="02020603050405020304" pitchFamily="18" charset="0"/>
              </a:rPr>
              <a:t>Data Mining to finds hidden patterns : User A likes action movies,  Similar users watched Movie X</a:t>
            </a:r>
          </a:p>
          <a:p>
            <a:r>
              <a:rPr lang="en-IN" dirty="0">
                <a:latin typeface="Times New Roman" panose="02020603050405020304" pitchFamily="18" charset="0"/>
                <a:cs typeface="Times New Roman" panose="02020603050405020304" pitchFamily="18" charset="0"/>
              </a:rPr>
              <a:t>Machine Learning will Builds recommendation model using: Collaborative filtering, Neural networks</a:t>
            </a:r>
          </a:p>
          <a:p>
            <a:r>
              <a:rPr lang="en-IN" dirty="0">
                <a:latin typeface="Times New Roman" panose="02020603050405020304" pitchFamily="18" charset="0"/>
                <a:cs typeface="Times New Roman" panose="02020603050405020304" pitchFamily="18" charset="0"/>
              </a:rPr>
              <a:t>Predictive analytics will predicts this user has a 90% chance of liking this movie</a:t>
            </a:r>
          </a:p>
          <a:p>
            <a:r>
              <a:rPr lang="en-IN" dirty="0">
                <a:latin typeface="Times New Roman" panose="02020603050405020304" pitchFamily="18" charset="0"/>
                <a:cs typeface="Times New Roman" panose="02020603050405020304" pitchFamily="18" charset="0"/>
              </a:rPr>
              <a:t>Decision will recommend movies on the home page.</a:t>
            </a:r>
          </a:p>
        </p:txBody>
      </p:sp>
    </p:spTree>
    <p:extLst>
      <p:ext uri="{BB962C8B-B14F-4D97-AF65-F5344CB8AC3E}">
        <p14:creationId xmlns:p14="http://schemas.microsoft.com/office/powerpoint/2010/main" val="30699512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0ACDF-2151-F80F-134A-DFC831EE80D3}"/>
              </a:ext>
            </a:extLst>
          </p:cNvPr>
          <p:cNvSpPr>
            <a:spLocks noGrp="1"/>
          </p:cNvSpPr>
          <p:nvPr>
            <p:ph type="title"/>
          </p:nvPr>
        </p:nvSpPr>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35272412-F589-79E1-00D1-6F90D63F2B04}"/>
              </a:ext>
            </a:extLst>
          </p:cNvPr>
          <p:cNvSpPr>
            <a:spLocks noGrp="1"/>
          </p:cNvSpPr>
          <p:nvPr>
            <p:ph idx="1"/>
          </p:nvPr>
        </p:nvSpPr>
        <p:spPr>
          <a:xfrm>
            <a:off x="394010" y="1825625"/>
            <a:ext cx="11180956" cy="4667250"/>
          </a:xfrm>
        </p:spPr>
        <p:txBody>
          <a:bodyPr/>
          <a:lstStyle/>
          <a:p>
            <a:pPr algn="just"/>
            <a:r>
              <a:rPr lang="en-US" b="1" dirty="0"/>
              <a:t> </a:t>
            </a:r>
            <a:r>
              <a:rPr lang="en-IN" b="1" dirty="0"/>
              <a:t>Analytics </a:t>
            </a:r>
            <a:r>
              <a:rPr lang="en-IN" dirty="0"/>
              <a:t>is a term that includes a wide variety of analyses that can be done with data to gain insight. The purpose of analytics is to discover, interpret, and communicate findings to improve the performance ( affect decisions ) of an organization.</a:t>
            </a:r>
            <a:endParaRPr lang="en-US" dirty="0"/>
          </a:p>
          <a:p>
            <a:pPr algn="just"/>
            <a:r>
              <a:rPr lang="en-IN" b="1" dirty="0"/>
              <a:t>Predictive analytics </a:t>
            </a:r>
            <a:r>
              <a:rPr lang="en-IN" dirty="0"/>
              <a:t>collection of techniques (statistical or ML) that uses historical data to estimate unknown future outcomes so that humans or machines can make better decisions. </a:t>
            </a:r>
          </a:p>
          <a:p>
            <a:pPr marL="0" indent="0">
              <a:buNone/>
            </a:pPr>
            <a:endParaRPr lang="en-IN" dirty="0"/>
          </a:p>
        </p:txBody>
      </p:sp>
    </p:spTree>
    <p:extLst>
      <p:ext uri="{BB962C8B-B14F-4D97-AF65-F5344CB8AC3E}">
        <p14:creationId xmlns:p14="http://schemas.microsoft.com/office/powerpoint/2010/main" val="3129443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D19446-1979-A5FA-6B80-A27ED96F7D6D}"/>
              </a:ext>
            </a:extLst>
          </p:cNvPr>
          <p:cNvSpPr>
            <a:spLocks noGrp="1"/>
          </p:cNvSpPr>
          <p:nvPr>
            <p:ph idx="1"/>
          </p:nvPr>
        </p:nvSpPr>
        <p:spPr>
          <a:xfrm>
            <a:off x="111512" y="211872"/>
            <a:ext cx="12080488" cy="6534615"/>
          </a:xfrm>
        </p:spPr>
        <p:txBody>
          <a:bodyPr>
            <a:normAutofit fontScale="77500" lnSpcReduction="20000"/>
          </a:bodyPr>
          <a:lstStyle/>
          <a:p>
            <a:r>
              <a:rPr lang="en-US" dirty="0">
                <a:latin typeface="Times New Roman" panose="02020603050405020304" pitchFamily="18" charset="0"/>
                <a:cs typeface="Times New Roman" panose="02020603050405020304" pitchFamily="18" charset="0"/>
              </a:rPr>
              <a:t>Eg: </a:t>
            </a:r>
            <a:r>
              <a:rPr lang="en-US" b="1" dirty="0">
                <a:latin typeface="Times New Roman" panose="02020603050405020304" pitchFamily="18" charset="0"/>
                <a:cs typeface="Times New Roman" panose="02020603050405020304" pitchFamily="18" charset="0"/>
              </a:rPr>
              <a:t>Smart Bomb Guidance Problem </a:t>
            </a:r>
            <a:r>
              <a:rPr lang="en-US" dirty="0">
                <a:latin typeface="Times New Roman" panose="02020603050405020304" pitchFamily="18" charset="0"/>
                <a:cs typeface="Times New Roman" panose="02020603050405020304" pitchFamily="18" charset="0"/>
              </a:rPr>
              <a:t>: A bomb must reach a target accurately. The ideal path depends on: Current position, Speed, Distance to target, Direction, Control fin movements, earlier scientists used variational calculus to calculate the best path.</a:t>
            </a:r>
          </a:p>
          <a:p>
            <a:r>
              <a:rPr lang="en-US" dirty="0">
                <a:latin typeface="Times New Roman" panose="02020603050405020304" pitchFamily="18" charset="0"/>
                <a:cs typeface="Times New Roman" panose="02020603050405020304" pitchFamily="18" charset="0"/>
              </a:rPr>
              <a:t>Bomb position      +Speed      +Target location -&gt; Mathematical Optimization  -&gt;Best fin movements  -&gt;Hit the target accurately. The simulation worked well. </a:t>
            </a:r>
            <a:r>
              <a:rPr lang="en-US" dirty="0">
                <a:solidFill>
                  <a:schemeClr val="accent2"/>
                </a:solidFill>
                <a:latin typeface="Times New Roman" panose="02020603050405020304" pitchFamily="18" charset="0"/>
                <a:cs typeface="Times New Roman" panose="02020603050405020304" pitchFamily="18" charset="0"/>
              </a:rPr>
              <a:t>But problem is the calculation was too complex. The small computer inside the bomb could not calculate the best path quickly during flight. </a:t>
            </a:r>
          </a:p>
          <a:p>
            <a:r>
              <a:rPr lang="en-US" dirty="0">
                <a:latin typeface="Times New Roman" panose="02020603050405020304" pitchFamily="18" charset="0"/>
                <a:cs typeface="Times New Roman" panose="02020603050405020304" pitchFamily="18" charset="0"/>
              </a:rPr>
              <a:t>Complex calculation -&gt; Needs powerful computer -&gt;Bomb computer too small -&gt;Cannot run in real time  </a:t>
            </a:r>
          </a:p>
          <a:p>
            <a:r>
              <a:rPr lang="en-US" dirty="0">
                <a:solidFill>
                  <a:schemeClr val="accent2"/>
                </a:solidFill>
                <a:latin typeface="Times New Roman" panose="02020603050405020304" pitchFamily="18" charset="0"/>
                <a:cs typeface="Times New Roman" panose="02020603050405020304" pitchFamily="18" charset="0"/>
              </a:rPr>
              <a:t>Solution is using Predictive Model Instead of calculating the perfect answer every time Train a model using thousands of previous simulations. The model learns: Situation during flight when (position, speed, distance)  given to Predictive Model -&gt;Best control command</a:t>
            </a:r>
          </a:p>
          <a:p>
            <a:r>
              <a:rPr lang="en-US" dirty="0">
                <a:solidFill>
                  <a:schemeClr val="accent2"/>
                </a:solidFill>
                <a:latin typeface="Times New Roman" panose="02020603050405020304" pitchFamily="18" charset="0"/>
                <a:cs typeface="Times New Roman" panose="02020603050405020304" pitchFamily="18" charset="0"/>
              </a:rPr>
              <a:t>Now the bomb can quickly estimate the best movement. This is called Optimal Path-to-Go guidance</a:t>
            </a: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Eg 2: </a:t>
            </a:r>
            <a:r>
              <a:rPr lang="en-US" b="1" dirty="0">
                <a:latin typeface="Times New Roman" panose="02020603050405020304" pitchFamily="18" charset="0"/>
                <a:cs typeface="Times New Roman" panose="02020603050405020304" pitchFamily="18" charset="0"/>
              </a:rPr>
              <a:t>Marketing Prediction: </a:t>
            </a:r>
            <a:r>
              <a:rPr lang="en-US" dirty="0">
                <a:latin typeface="Times New Roman" panose="02020603050405020304" pitchFamily="18" charset="0"/>
                <a:cs typeface="Times New Roman" panose="02020603050405020304" pitchFamily="18" charset="0"/>
              </a:rPr>
              <a:t>A company wants to know "Will a customer buy/respond?              "Historical data: Customer age, Previous purchases, Interest level, Website activity    </a:t>
            </a:r>
            <a:r>
              <a:rPr lang="en-US" dirty="0">
                <a:latin typeface="Times New Roman" panose="02020603050405020304" pitchFamily="18" charset="0"/>
                <a:cs typeface="Times New Roman" panose="02020603050405020304" pitchFamily="18" charset="0"/>
                <a:sym typeface="Wingdings" panose="05000000000000000000" pitchFamily="2" charset="2"/>
              </a:rPr>
              <a:t></a:t>
            </a:r>
            <a:r>
              <a:rPr lang="en-US" dirty="0">
                <a:latin typeface="Times New Roman" panose="02020603050405020304" pitchFamily="18" charset="0"/>
                <a:cs typeface="Times New Roman" panose="02020603050405020304" pitchFamily="18" charset="0"/>
              </a:rPr>
              <a:t>       Predictive Model </a:t>
            </a:r>
            <a:r>
              <a:rPr lang="en-US" dirty="0">
                <a:latin typeface="Times New Roman" panose="02020603050405020304" pitchFamily="18" charset="0"/>
                <a:cs typeface="Times New Roman" panose="02020603050405020304" pitchFamily="18" charset="0"/>
                <a:sym typeface="Wingdings" panose="05000000000000000000" pitchFamily="2" charset="2"/>
              </a:rPr>
              <a:t></a:t>
            </a:r>
            <a:r>
              <a:rPr lang="en-US" dirty="0">
                <a:latin typeface="Times New Roman" panose="02020603050405020304" pitchFamily="18" charset="0"/>
                <a:cs typeface="Times New Roman" panose="02020603050405020304" pitchFamily="18" charset="0"/>
              </a:rPr>
              <a:t>Will customer </a:t>
            </a:r>
            <a:r>
              <a:rPr lang="en-US" dirty="0" err="1">
                <a:latin typeface="Times New Roman" panose="02020603050405020304" pitchFamily="18" charset="0"/>
                <a:cs typeface="Times New Roman" panose="02020603050405020304" pitchFamily="18" charset="0"/>
              </a:rPr>
              <a:t>respond?YES</a:t>
            </a:r>
            <a:r>
              <a:rPr lang="en-US" dirty="0">
                <a:latin typeface="Times New Roman" panose="02020603050405020304" pitchFamily="18" charset="0"/>
                <a:cs typeface="Times New Roman" panose="02020603050405020304" pitchFamily="18" charset="0"/>
              </a:rPr>
              <a:t> / NO . The company can send offers to the right customers.</a:t>
            </a:r>
          </a:p>
          <a:p>
            <a:r>
              <a:rPr lang="en-US" dirty="0">
                <a:latin typeface="Times New Roman" panose="02020603050405020304" pitchFamily="18" charset="0"/>
                <a:cs typeface="Times New Roman" panose="02020603050405020304" pitchFamily="18" charset="0"/>
              </a:rPr>
              <a:t>What is common between both examples?  </a:t>
            </a:r>
          </a:p>
          <a:p>
            <a:pPr marL="0" indent="0">
              <a:buNone/>
            </a:pPr>
            <a:r>
              <a:rPr lang="en-US" dirty="0">
                <a:latin typeface="Times New Roman" panose="02020603050405020304" pitchFamily="18" charset="0"/>
                <a:cs typeface="Times New Roman" panose="02020603050405020304" pitchFamily="18" charset="0"/>
              </a:rPr>
              <a:t>Although One predicts human behavior and another One predicts physical movement both follow the same process: Historical Data -&gt;Learn Patterns  -&gt;Create Predictive Model  -&gt;Predict Unknown Future Value -&gt;Make Better Decision .</a:t>
            </a:r>
          </a:p>
          <a:p>
            <a:pPr marL="0" indent="0">
              <a:buNone/>
            </a:pPr>
            <a:r>
              <a:rPr lang="en-US" b="1" dirty="0">
                <a:solidFill>
                  <a:srgbClr val="FF0000"/>
                </a:solidFill>
                <a:latin typeface="Times New Roman" panose="02020603050405020304" pitchFamily="18" charset="0"/>
                <a:cs typeface="Times New Roman" panose="02020603050405020304" pitchFamily="18" charset="0"/>
              </a:rPr>
              <a:t>Main Idea is Predictive analytics helps when We have past examples , Future value is unknown,  A decision must be made</a:t>
            </a:r>
            <a:endParaRPr lang="en-IN"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63486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3029B-5413-480E-E6F0-A70F3475BD60}"/>
              </a:ext>
            </a:extLst>
          </p:cNvPr>
          <p:cNvSpPr>
            <a:spLocks noGrp="1"/>
          </p:cNvSpPr>
          <p:nvPr>
            <p:ph type="title"/>
          </p:nvPr>
        </p:nvSpPr>
        <p:spPr>
          <a:xfrm>
            <a:off x="726688" y="108647"/>
            <a:ext cx="10515600" cy="783451"/>
          </a:xfrm>
        </p:spPr>
        <p:txBody>
          <a:bodyPr>
            <a:normAutofit/>
          </a:bodyPr>
          <a:lstStyle/>
          <a:p>
            <a:r>
              <a:rPr lang="en-US" sz="3200" dirty="0"/>
              <a:t>Business intelligence and how it differs from predictive analysis  </a:t>
            </a:r>
            <a:endParaRPr lang="en-IN" sz="3200" dirty="0"/>
          </a:p>
        </p:txBody>
      </p:sp>
      <p:sp>
        <p:nvSpPr>
          <p:cNvPr id="3" name="Content Placeholder 2">
            <a:extLst>
              <a:ext uri="{FF2B5EF4-FFF2-40B4-BE49-F238E27FC236}">
                <a16:creationId xmlns:a16="http://schemas.microsoft.com/office/drawing/2014/main" id="{692396E7-4B2C-1149-183E-E7591403AAE8}"/>
              </a:ext>
            </a:extLst>
          </p:cNvPr>
          <p:cNvSpPr>
            <a:spLocks noGrp="1"/>
          </p:cNvSpPr>
          <p:nvPr>
            <p:ph idx="1"/>
          </p:nvPr>
        </p:nvSpPr>
        <p:spPr>
          <a:xfrm>
            <a:off x="323385" y="1059366"/>
            <a:ext cx="11675327" cy="5117597"/>
          </a:xfrm>
        </p:spPr>
        <p:txBody>
          <a:bodyPr>
            <a:normAutofit fontScale="85000" lnSpcReduction="10000"/>
          </a:bodyPr>
          <a:lstStyle/>
          <a:p>
            <a:pPr algn="just"/>
            <a:r>
              <a:rPr lang="en-US" dirty="0"/>
              <a:t>BI analyzes existing data to understand business performance. It converts raw data into useful information through reports, summaries, and dashboards.BI provides Key Performance Indicators (KPIs) to support decision-making.</a:t>
            </a:r>
          </a:p>
          <a:p>
            <a:pPr algn="just"/>
            <a:r>
              <a:rPr lang="en-US" dirty="0"/>
              <a:t>BI mainly answers questions about the past and present (“What happened?”). It helps managers monitor trends, identify problems, and improve business operations. Examples: customer activity like </a:t>
            </a:r>
            <a:r>
              <a:rPr lang="en-IN" dirty="0"/>
              <a:t>Which product had the highest sales,</a:t>
            </a:r>
            <a:r>
              <a:rPr lang="en-US" dirty="0"/>
              <a:t> fraud statistics like</a:t>
            </a:r>
            <a:r>
              <a:rPr lang="en-IN" dirty="0"/>
              <a:t> How many fraudulent transactions occurred last month?</a:t>
            </a:r>
          </a:p>
          <a:p>
            <a:pPr algn="just"/>
            <a:r>
              <a:rPr lang="en-US" dirty="0">
                <a:solidFill>
                  <a:schemeClr val="accent2"/>
                </a:solidFill>
              </a:rPr>
              <a:t>BI is retrospective analysis</a:t>
            </a:r>
            <a:r>
              <a:rPr lang="en-US" dirty="0"/>
              <a:t>. It analyzes historical data. It explains what happened in the past. Output is usually Reports, Dashboards KPIs </a:t>
            </a:r>
          </a:p>
          <a:p>
            <a:pPr lvl="1" algn="just"/>
            <a:r>
              <a:rPr lang="en-US" dirty="0"/>
              <a:t>Example: How many customers purchased last month? What was last year's sales performance?</a:t>
            </a:r>
          </a:p>
          <a:p>
            <a:pPr algn="just"/>
            <a:r>
              <a:rPr lang="en-US" dirty="0">
                <a:solidFill>
                  <a:schemeClr val="accent2"/>
                </a:solidFill>
              </a:rPr>
              <a:t>Predictive analytics is prospective analysis</a:t>
            </a:r>
            <a:r>
              <a:rPr lang="en-US" dirty="0"/>
              <a:t>. It uses historical data to predict future behavior. It finds patterns in past data and applies them to future situations.</a:t>
            </a:r>
          </a:p>
          <a:p>
            <a:pPr lvl="1" algn="just"/>
            <a:r>
              <a:rPr lang="en-US" dirty="0"/>
              <a:t>Example: Which customer is likely to buy next month? Will a customer respond to an email campaign?</a:t>
            </a:r>
            <a:endParaRPr lang="en-IN" dirty="0"/>
          </a:p>
          <a:p>
            <a:endParaRPr lang="en-IN" dirty="0"/>
          </a:p>
        </p:txBody>
      </p:sp>
    </p:spTree>
    <p:extLst>
      <p:ext uri="{BB962C8B-B14F-4D97-AF65-F5344CB8AC3E}">
        <p14:creationId xmlns:p14="http://schemas.microsoft.com/office/powerpoint/2010/main" val="536334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5182-B465-214F-3A6E-22A4D906E5DE}"/>
              </a:ext>
            </a:extLst>
          </p:cNvPr>
          <p:cNvSpPr>
            <a:spLocks noGrp="1"/>
          </p:cNvSpPr>
          <p:nvPr>
            <p:ph type="title"/>
          </p:nvPr>
        </p:nvSpPr>
        <p:spPr>
          <a:xfrm>
            <a:off x="492512" y="243274"/>
            <a:ext cx="10515600" cy="437763"/>
          </a:xfrm>
        </p:spPr>
        <p:txBody>
          <a:bodyPr>
            <a:normAutofit fontScale="90000"/>
          </a:bodyPr>
          <a:lstStyle/>
          <a:p>
            <a:r>
              <a:rPr lang="en-US" dirty="0"/>
              <a:t>Types of analytics</a:t>
            </a:r>
            <a:endParaRPr lang="en-IN" dirty="0"/>
          </a:p>
        </p:txBody>
      </p:sp>
      <p:sp>
        <p:nvSpPr>
          <p:cNvPr id="3" name="Content Placeholder 2">
            <a:extLst>
              <a:ext uri="{FF2B5EF4-FFF2-40B4-BE49-F238E27FC236}">
                <a16:creationId xmlns:a16="http://schemas.microsoft.com/office/drawing/2014/main" id="{2FA68FF3-AFEA-EA19-5F7C-BF426723DDC0}"/>
              </a:ext>
            </a:extLst>
          </p:cNvPr>
          <p:cNvSpPr>
            <a:spLocks noGrp="1"/>
          </p:cNvSpPr>
          <p:nvPr>
            <p:ph idx="1"/>
          </p:nvPr>
        </p:nvSpPr>
        <p:spPr>
          <a:xfrm>
            <a:off x="459058" y="1097310"/>
            <a:ext cx="11495049" cy="5495926"/>
          </a:xfrm>
        </p:spPr>
        <p:txBody>
          <a:bodyPr>
            <a:normAutofit/>
          </a:bodyPr>
          <a:lstStyle/>
          <a:p>
            <a:pPr marL="0" indent="0">
              <a:buNone/>
            </a:pPr>
            <a:r>
              <a:rPr lang="en-IN" dirty="0"/>
              <a:t>Data analytics techniques are commonly described as part of four distinct categories: </a:t>
            </a:r>
            <a:r>
              <a:rPr lang="en-IN" dirty="0" err="1"/>
              <a:t>descriptive</a:t>
            </a:r>
            <a:r>
              <a:rPr lang="en-IN" dirty="0" err="1">
                <a:sym typeface="Wingdings" panose="05000000000000000000" pitchFamily="2" charset="2"/>
              </a:rPr>
              <a:t></a:t>
            </a:r>
            <a:r>
              <a:rPr lang="en-IN" dirty="0" err="1"/>
              <a:t>diagnostic</a:t>
            </a:r>
            <a:r>
              <a:rPr lang="en-IN" dirty="0" err="1">
                <a:sym typeface="Wingdings" panose="05000000000000000000" pitchFamily="2" charset="2"/>
              </a:rPr>
              <a:t></a:t>
            </a:r>
            <a:r>
              <a:rPr lang="en-IN" dirty="0" err="1"/>
              <a:t>predictive</a:t>
            </a:r>
            <a:r>
              <a:rPr lang="en-IN" dirty="0">
                <a:sym typeface="Wingdings" panose="05000000000000000000" pitchFamily="2" charset="2"/>
              </a:rPr>
              <a:t></a:t>
            </a:r>
            <a:r>
              <a:rPr lang="en-IN" dirty="0"/>
              <a:t> prescriptive</a:t>
            </a:r>
          </a:p>
          <a:p>
            <a:pPr marL="514350" indent="-514350">
              <a:buAutoNum type="arabicPeriod"/>
            </a:pPr>
            <a:r>
              <a:rPr lang="en-IN" b="1" dirty="0"/>
              <a:t>Descriptive</a:t>
            </a:r>
            <a:r>
              <a:rPr lang="en-IN" dirty="0"/>
              <a:t>: is basic of analytic like cleaning, relating, summarising visualizing  your data.  questions about </a:t>
            </a:r>
            <a:r>
              <a:rPr lang="en-IN" dirty="0">
                <a:solidFill>
                  <a:schemeClr val="accent2"/>
                </a:solidFill>
              </a:rPr>
              <a:t>what is happening </a:t>
            </a:r>
            <a:r>
              <a:rPr lang="en-IN" dirty="0"/>
              <a:t>in business </a:t>
            </a:r>
          </a:p>
          <a:p>
            <a:pPr marL="514350" indent="-514350">
              <a:buFont typeface="Arial" panose="020B0604020202020204" pitchFamily="34" charset="0"/>
              <a:buAutoNum type="arabicPeriod"/>
            </a:pPr>
            <a:r>
              <a:rPr lang="en-IN" b="1" dirty="0"/>
              <a:t>Diagnostic</a:t>
            </a:r>
            <a:r>
              <a:rPr lang="en-IN" dirty="0"/>
              <a:t> : getting down to </a:t>
            </a:r>
            <a:r>
              <a:rPr lang="en-IN" dirty="0">
                <a:solidFill>
                  <a:schemeClr val="accent2"/>
                </a:solidFill>
              </a:rPr>
              <a:t>why things are happening</a:t>
            </a:r>
            <a:r>
              <a:rPr lang="en-IN" dirty="0"/>
              <a:t>. What's causing  revenue to decline or to increase? How are things related? </a:t>
            </a:r>
          </a:p>
          <a:p>
            <a:pPr marL="514350" indent="-514350">
              <a:buFont typeface="Arial" panose="020B0604020202020204" pitchFamily="34" charset="0"/>
              <a:buAutoNum type="arabicPeriod"/>
            </a:pPr>
            <a:r>
              <a:rPr lang="en-IN" b="1" dirty="0"/>
              <a:t>Predictive </a:t>
            </a:r>
            <a:r>
              <a:rPr lang="en-IN" dirty="0">
                <a:solidFill>
                  <a:schemeClr val="accent2"/>
                </a:solidFill>
              </a:rPr>
              <a:t>what’s is going to happen in the future</a:t>
            </a:r>
            <a:r>
              <a:rPr lang="en-IN" dirty="0"/>
              <a:t>. If you are a business professional and want to make effective business decisions, having an understanding of what might happen in the future can help you ask better questions and make more accurate decisions.</a:t>
            </a:r>
          </a:p>
          <a:p>
            <a:pPr marL="514350" indent="-514350">
              <a:buFont typeface="Arial" panose="020B0604020202020204" pitchFamily="34" charset="0"/>
              <a:buAutoNum type="arabicPeriod"/>
            </a:pPr>
            <a:r>
              <a:rPr lang="en-IN" b="1" dirty="0"/>
              <a:t>Prescriptive</a:t>
            </a:r>
            <a:r>
              <a:rPr lang="en-IN" dirty="0"/>
              <a:t> what is our course of action </a:t>
            </a:r>
          </a:p>
          <a:p>
            <a:pPr marL="514350" indent="-514350">
              <a:buAutoNum type="arabicPeriod"/>
            </a:pPr>
            <a:endParaRPr lang="en-IN" dirty="0"/>
          </a:p>
          <a:p>
            <a:pPr marL="514350" indent="-514350">
              <a:buAutoNum type="arabicPeriod"/>
            </a:pPr>
            <a:endParaRPr lang="en-IN" dirty="0"/>
          </a:p>
        </p:txBody>
      </p:sp>
    </p:spTree>
    <p:extLst>
      <p:ext uri="{BB962C8B-B14F-4D97-AF65-F5344CB8AC3E}">
        <p14:creationId xmlns:p14="http://schemas.microsoft.com/office/powerpoint/2010/main" val="26152020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205DB-A9BB-047E-57A7-34C669817439}"/>
              </a:ext>
            </a:extLst>
          </p:cNvPr>
          <p:cNvSpPr>
            <a:spLocks noGrp="1"/>
          </p:cNvSpPr>
          <p:nvPr>
            <p:ph type="title"/>
          </p:nvPr>
        </p:nvSpPr>
        <p:spPr>
          <a:xfrm>
            <a:off x="29737" y="-4665"/>
            <a:ext cx="10515600" cy="515821"/>
          </a:xfrm>
        </p:spPr>
        <p:txBody>
          <a:bodyPr>
            <a:normAutofit fontScale="90000"/>
          </a:bodyPr>
          <a:lstStyle/>
          <a:p>
            <a:r>
              <a:rPr lang="en-IN" sz="1800" dirty="0"/>
              <a:t>Predictive Analytics Example –</a:t>
            </a:r>
            <a:br>
              <a:rPr lang="en-IN" sz="1800" dirty="0"/>
            </a:br>
            <a:r>
              <a:rPr lang="en-IN" sz="1800" dirty="0"/>
              <a:t>Grocery Store owners</a:t>
            </a:r>
          </a:p>
        </p:txBody>
      </p:sp>
      <p:sp>
        <p:nvSpPr>
          <p:cNvPr id="9" name="Content Placeholder 8">
            <a:extLst>
              <a:ext uri="{FF2B5EF4-FFF2-40B4-BE49-F238E27FC236}">
                <a16:creationId xmlns:a16="http://schemas.microsoft.com/office/drawing/2014/main" id="{9293C9C1-B00A-F8F4-5EFE-402DA2F6E536}"/>
              </a:ext>
            </a:extLst>
          </p:cNvPr>
          <p:cNvSpPr>
            <a:spLocks noGrp="1"/>
          </p:cNvSpPr>
          <p:nvPr>
            <p:ph idx="1"/>
          </p:nvPr>
        </p:nvSpPr>
        <p:spPr>
          <a:xfrm>
            <a:off x="419100" y="2487974"/>
            <a:ext cx="11353800" cy="5166190"/>
          </a:xfrm>
        </p:spPr>
        <p:txBody>
          <a:bodyPr>
            <a:normAutofit fontScale="47500" lnSpcReduction="20000"/>
          </a:bodyPr>
          <a:lstStyle/>
          <a:p>
            <a:endParaRPr lang="en-US" dirty="0"/>
          </a:p>
          <a:p>
            <a:r>
              <a:rPr lang="en-IN" sz="4200" dirty="0">
                <a:latin typeface="Times New Roman" panose="02020603050405020304" pitchFamily="18" charset="0"/>
                <a:cs typeface="Times New Roman" panose="02020603050405020304" pitchFamily="18" charset="0"/>
              </a:rPr>
              <a:t>A grocery store  uses </a:t>
            </a:r>
            <a:r>
              <a:rPr lang="en-IN" sz="4200" b="1" dirty="0">
                <a:latin typeface="Times New Roman" panose="02020603050405020304" pitchFamily="18" charset="0"/>
                <a:cs typeface="Times New Roman" panose="02020603050405020304" pitchFamily="18" charset="0"/>
              </a:rPr>
              <a:t>descriptive analytics</a:t>
            </a:r>
            <a:r>
              <a:rPr lang="en-IN" sz="4200" dirty="0">
                <a:latin typeface="Times New Roman" panose="02020603050405020304" pitchFamily="18" charset="0"/>
                <a:cs typeface="Times New Roman" panose="02020603050405020304" pitchFamily="18" charset="0"/>
              </a:rPr>
              <a:t> to understand current business performance using dashboards and reports for Sales by department (vegetables, fruits, bakery items) [</a:t>
            </a:r>
            <a:r>
              <a:rPr lang="en-IN" sz="4200" dirty="0">
                <a:solidFill>
                  <a:srgbClr val="00B050"/>
                </a:solidFill>
                <a:latin typeface="Times New Roman" panose="02020603050405020304" pitchFamily="18" charset="0"/>
                <a:cs typeface="Times New Roman" panose="02020603050405020304" pitchFamily="18" charset="0"/>
              </a:rPr>
              <a:t>what is happening</a:t>
            </a:r>
            <a:r>
              <a:rPr lang="en-IN" sz="4200" dirty="0">
                <a:latin typeface="Times New Roman" panose="02020603050405020304" pitchFamily="18" charset="0"/>
                <a:cs typeface="Times New Roman" panose="02020603050405020304" pitchFamily="18" charset="0"/>
              </a:rPr>
              <a:t>], to see Revenue trends  and  Product performance (product sells more or less)  [</a:t>
            </a:r>
            <a:r>
              <a:rPr lang="en-IN" sz="4200" dirty="0">
                <a:solidFill>
                  <a:srgbClr val="00B050"/>
                </a:solidFill>
              </a:rPr>
              <a:t>Why did it happen</a:t>
            </a:r>
            <a:r>
              <a:rPr lang="en-IN" sz="4200" dirty="0"/>
              <a:t>?]</a:t>
            </a:r>
            <a:endParaRPr lang="en-IN" sz="4200" dirty="0">
              <a:latin typeface="Times New Roman" panose="02020603050405020304" pitchFamily="18" charset="0"/>
              <a:cs typeface="Times New Roman" panose="02020603050405020304" pitchFamily="18" charset="0"/>
            </a:endParaRPr>
          </a:p>
          <a:p>
            <a:r>
              <a:rPr lang="en-IN" sz="4200" dirty="0">
                <a:latin typeface="Times New Roman" panose="02020603050405020304" pitchFamily="18" charset="0"/>
                <a:cs typeface="Times New Roman" panose="02020603050405020304" pitchFamily="18" charset="0"/>
              </a:rPr>
              <a:t>The store wants to know or predict </a:t>
            </a:r>
            <a:r>
              <a:rPr lang="en-IN" sz="4200" b="1" dirty="0">
                <a:solidFill>
                  <a:srgbClr val="00B050"/>
                </a:solidFill>
                <a:latin typeface="Times New Roman" panose="02020603050405020304" pitchFamily="18" charset="0"/>
                <a:cs typeface="Times New Roman" panose="02020603050405020304" pitchFamily="18" charset="0"/>
              </a:rPr>
              <a:t>what will happen in the future</a:t>
            </a:r>
            <a:r>
              <a:rPr lang="en-IN" sz="4200" b="1" dirty="0">
                <a:latin typeface="Times New Roman" panose="02020603050405020304" pitchFamily="18" charset="0"/>
                <a:cs typeface="Times New Roman" panose="02020603050405020304" pitchFamily="18" charset="0"/>
              </a:rPr>
              <a:t>? </a:t>
            </a:r>
            <a:r>
              <a:rPr lang="en-IN" sz="4200" dirty="0">
                <a:latin typeface="Times New Roman" panose="02020603050405020304" pitchFamily="18" charset="0"/>
                <a:cs typeface="Times New Roman" panose="02020603050405020304" pitchFamily="18" charset="0"/>
              </a:rPr>
              <a:t>like</a:t>
            </a:r>
            <a:r>
              <a:rPr lang="en-IN" sz="4200" b="1" dirty="0">
                <a:latin typeface="Times New Roman" panose="02020603050405020304" pitchFamily="18" charset="0"/>
                <a:cs typeface="Times New Roman" panose="02020603050405020304" pitchFamily="18" charset="0"/>
              </a:rPr>
              <a:t> </a:t>
            </a:r>
            <a:r>
              <a:rPr lang="en-IN" sz="4200" dirty="0">
                <a:latin typeface="Times New Roman" panose="02020603050405020304" pitchFamily="18" charset="0"/>
                <a:cs typeface="Times New Roman" panose="02020603050405020304" pitchFamily="18" charset="0"/>
              </a:rPr>
              <a:t>How many units of each product will each store sell?  Which  helps in Inventory planning , supply chain management, Profit management </a:t>
            </a:r>
          </a:p>
          <a:p>
            <a:r>
              <a:rPr lang="en-IN" sz="4200" dirty="0">
                <a:latin typeface="Times New Roman" panose="02020603050405020304" pitchFamily="18" charset="0"/>
                <a:cs typeface="Times New Roman" panose="02020603050405020304" pitchFamily="18" charset="0"/>
              </a:rPr>
              <a:t>Building the Predictive Model by Collecting  historical sales data from previous years.  </a:t>
            </a:r>
            <a:r>
              <a:rPr lang="en-IN" sz="4200" dirty="0" err="1">
                <a:latin typeface="Times New Roman" panose="02020603050405020304" pitchFamily="18" charset="0"/>
                <a:cs typeface="Times New Roman" panose="02020603050405020304" pitchFamily="18" charset="0"/>
              </a:rPr>
              <a:t>Analyze</a:t>
            </a:r>
            <a:r>
              <a:rPr lang="en-IN" sz="4200" dirty="0">
                <a:latin typeface="Times New Roman" panose="02020603050405020304" pitchFamily="18" charset="0"/>
                <a:cs typeface="Times New Roman" panose="02020603050405020304" pitchFamily="18" charset="0"/>
              </a:rPr>
              <a:t> past sales patterns and Combine clean data with Mathematical models and  Machine learning algorithms</a:t>
            </a:r>
          </a:p>
          <a:p>
            <a:r>
              <a:rPr lang="en-IN" sz="4200" dirty="0">
                <a:latin typeface="Times New Roman" panose="02020603050405020304" pitchFamily="18" charset="0"/>
                <a:cs typeface="Times New Roman" panose="02020603050405020304" pitchFamily="18" charset="0"/>
              </a:rPr>
              <a:t>Using Prediction Results the business can decide whether to  increase product stock if demand will rise, plan resources better, Improve profit strategies.</a:t>
            </a:r>
            <a:r>
              <a:rPr lang="en-IN" sz="4200" dirty="0"/>
              <a:t> [</a:t>
            </a:r>
            <a:r>
              <a:rPr lang="en-IN" sz="4200" dirty="0">
                <a:solidFill>
                  <a:srgbClr val="00B050"/>
                </a:solidFill>
              </a:rPr>
              <a:t>What action should be taken?]</a:t>
            </a:r>
            <a:endParaRPr lang="en-IN" sz="4200" dirty="0">
              <a:solidFill>
                <a:srgbClr val="00B050"/>
              </a:solidFill>
              <a:latin typeface="Times New Roman" panose="02020603050405020304" pitchFamily="18" charset="0"/>
              <a:cs typeface="Times New Roman" panose="02020603050405020304" pitchFamily="18" charset="0"/>
            </a:endParaRPr>
          </a:p>
          <a:p>
            <a:r>
              <a:rPr lang="en-US" sz="4200" dirty="0">
                <a:latin typeface="Times New Roman" panose="02020603050405020304" pitchFamily="18" charset="0"/>
                <a:cs typeface="Times New Roman" panose="02020603050405020304" pitchFamily="18" charset="0"/>
              </a:rPr>
              <a:t>Model Evaluation : After using the model Compare Predicted Sales (green) vs   Actual Sales (black) . If predictions are wrong Identify missing factors, Improve the data/model and Retrain and redeploy. </a:t>
            </a:r>
            <a:r>
              <a:rPr lang="en-US" sz="4200" dirty="0">
                <a:solidFill>
                  <a:schemeClr val="accent2"/>
                </a:solidFill>
                <a:latin typeface="Times New Roman" panose="02020603050405020304" pitchFamily="18" charset="0"/>
                <a:cs typeface="Times New Roman" panose="02020603050405020304" pitchFamily="18" charset="0"/>
              </a:rPr>
              <a:t>If difference is high add more data and retrain model</a:t>
            </a:r>
          </a:p>
          <a:p>
            <a:pPr algn="just"/>
            <a:r>
              <a:rPr lang="en-IN" sz="4200" dirty="0">
                <a:latin typeface="Times New Roman" panose="02020603050405020304" pitchFamily="18" charset="0"/>
                <a:cs typeface="Times New Roman" panose="02020603050405020304" pitchFamily="18" charset="0"/>
              </a:rPr>
              <a:t>Conclusion: A business person can </a:t>
            </a:r>
            <a:r>
              <a:rPr lang="en-IN" sz="4200" dirty="0" err="1">
                <a:latin typeface="Times New Roman" panose="02020603050405020304" pitchFamily="18" charset="0"/>
                <a:cs typeface="Times New Roman" panose="02020603050405020304" pitchFamily="18" charset="0"/>
              </a:rPr>
              <a:t>analyze</a:t>
            </a:r>
            <a:r>
              <a:rPr lang="en-IN" sz="4200" dirty="0">
                <a:latin typeface="Times New Roman" panose="02020603050405020304" pitchFamily="18" charset="0"/>
                <a:cs typeface="Times New Roman" panose="02020603050405020304" pitchFamily="18" charset="0"/>
              </a:rPr>
              <a:t> the prediction chart and make better decisions. </a:t>
            </a:r>
            <a:r>
              <a:rPr lang="en-IN" sz="4200" dirty="0" err="1">
                <a:latin typeface="Times New Roman" panose="02020603050405020304" pitchFamily="18" charset="0"/>
                <a:cs typeface="Times New Roman" panose="02020603050405020304" pitchFamily="18" charset="0"/>
              </a:rPr>
              <a:t>ie</a:t>
            </a:r>
            <a:r>
              <a:rPr lang="en-IN" sz="4200" dirty="0">
                <a:latin typeface="Times New Roman" panose="02020603050405020304" pitchFamily="18" charset="0"/>
                <a:cs typeface="Times New Roman" panose="02020603050405020304" pitchFamily="18" charset="0"/>
              </a:rPr>
              <a:t>, if the model predicts that sales will increase, the store can add more products to meet future customer demand. If the prediction shows higher profit than expected, the company can invest in new programs or expand services. Hence predictive analytics helps businesses make smarter and more innovative decisions.</a:t>
            </a:r>
          </a:p>
          <a:p>
            <a:pPr marL="0" indent="0">
              <a:buNone/>
            </a:pPr>
            <a:endParaRPr lang="en-IN" sz="32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dirty="0"/>
          </a:p>
          <a:p>
            <a:endParaRPr lang="en-IN" dirty="0"/>
          </a:p>
        </p:txBody>
      </p:sp>
      <p:pic>
        <p:nvPicPr>
          <p:cNvPr id="13" name="Picture 12">
            <a:extLst>
              <a:ext uri="{FF2B5EF4-FFF2-40B4-BE49-F238E27FC236}">
                <a16:creationId xmlns:a16="http://schemas.microsoft.com/office/drawing/2014/main" id="{8E6A982D-6407-FD5C-C4B3-A7B63A4DF26E}"/>
              </a:ext>
            </a:extLst>
          </p:cNvPr>
          <p:cNvPicPr>
            <a:picLocks noChangeAspect="1"/>
          </p:cNvPicPr>
          <p:nvPr/>
        </p:nvPicPr>
        <p:blipFill>
          <a:blip r:embed="rId3"/>
          <a:stretch>
            <a:fillRect/>
          </a:stretch>
        </p:blipFill>
        <p:spPr>
          <a:xfrm>
            <a:off x="2943922" y="79377"/>
            <a:ext cx="5237652" cy="2468318"/>
          </a:xfrm>
          <a:prstGeom prst="rect">
            <a:avLst/>
          </a:prstGeom>
        </p:spPr>
      </p:pic>
      <p:pic>
        <p:nvPicPr>
          <p:cNvPr id="17" name="Picture 16">
            <a:extLst>
              <a:ext uri="{FF2B5EF4-FFF2-40B4-BE49-F238E27FC236}">
                <a16:creationId xmlns:a16="http://schemas.microsoft.com/office/drawing/2014/main" id="{A42F1587-BFC9-328A-D82A-0E0C9349D155}"/>
              </a:ext>
            </a:extLst>
          </p:cNvPr>
          <p:cNvPicPr>
            <a:picLocks noChangeAspect="1"/>
          </p:cNvPicPr>
          <p:nvPr/>
        </p:nvPicPr>
        <p:blipFill>
          <a:blip r:embed="rId4"/>
          <a:stretch>
            <a:fillRect/>
          </a:stretch>
        </p:blipFill>
        <p:spPr>
          <a:xfrm>
            <a:off x="8757450" y="-96472"/>
            <a:ext cx="2540112" cy="2817370"/>
          </a:xfrm>
          <a:prstGeom prst="rect">
            <a:avLst/>
          </a:prstGeom>
        </p:spPr>
      </p:pic>
    </p:spTree>
    <p:extLst>
      <p:ext uri="{BB962C8B-B14F-4D97-AF65-F5344CB8AC3E}">
        <p14:creationId xmlns:p14="http://schemas.microsoft.com/office/powerpoint/2010/main" val="4435962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8AC10-4788-C870-4690-AADA5DF4D9F8}"/>
              </a:ext>
            </a:extLst>
          </p:cNvPr>
          <p:cNvSpPr>
            <a:spLocks noGrp="1"/>
          </p:cNvSpPr>
          <p:nvPr>
            <p:ph type="title"/>
          </p:nvPr>
        </p:nvSpPr>
        <p:spPr/>
        <p:txBody>
          <a:bodyPr/>
          <a:lstStyle/>
          <a:p>
            <a:r>
              <a:rPr lang="en-US" dirty="0" err="1">
                <a:latin typeface="Times New Roman" panose="02020603050405020304" pitchFamily="18" charset="0"/>
                <a:cs typeface="Times New Roman" panose="02020603050405020304" pitchFamily="18" charset="0"/>
              </a:rPr>
              <a:t>eg</a:t>
            </a:r>
            <a:r>
              <a:rPr lang="en-US" dirty="0">
                <a:latin typeface="Times New Roman" panose="02020603050405020304" pitchFamily="18" charset="0"/>
                <a:cs typeface="Times New Roman" panose="02020603050405020304" pitchFamily="18" charset="0"/>
              </a:rPr>
              <a:t> 2: Visiting doctor for annual check up</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F77128F-73C0-D93F-D313-AB2A2FD95E09}"/>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DESCRIPTIVE :Your cholesterol level is 215</a:t>
            </a:r>
          </a:p>
          <a:p>
            <a:r>
              <a:rPr lang="en-US" dirty="0">
                <a:latin typeface="Times New Roman" panose="02020603050405020304" pitchFamily="18" charset="0"/>
                <a:cs typeface="Times New Roman" panose="02020603050405020304" pitchFamily="18" charset="0"/>
              </a:rPr>
              <a:t>DIAGNOSTIC: Your cholesterol level is 215. This is on the high end and likely due to lack of exercise and too much saturated fat in your diet.</a:t>
            </a:r>
          </a:p>
          <a:p>
            <a:r>
              <a:rPr lang="en-US" dirty="0">
                <a:latin typeface="Times New Roman" panose="02020603050405020304" pitchFamily="18" charset="0"/>
                <a:cs typeface="Times New Roman" panose="02020603050405020304" pitchFamily="18" charset="0"/>
              </a:rPr>
              <a:t>PREDICTIVE: If you maintain your current diet and lifestyle, your cholesterol level will continue to rise and increase your risk of cardiovascular disease.</a:t>
            </a:r>
          </a:p>
          <a:p>
            <a:r>
              <a:rPr lang="en-US" dirty="0">
                <a:latin typeface="Times New Roman" panose="02020603050405020304" pitchFamily="18" charset="0"/>
                <a:cs typeface="Times New Roman" panose="02020603050405020304" pitchFamily="18" charset="0"/>
              </a:rPr>
              <a:t>PRESCRIPTIVE: Based on your test results, prescribed statins and recommended a new diet to lower your cholesterol and reduce the risk of heart disease.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21216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D4531-03A5-B98C-99E7-1E6129E04A42}"/>
              </a:ext>
            </a:extLst>
          </p:cNvPr>
          <p:cNvSpPr>
            <a:spLocks noGrp="1"/>
          </p:cNvSpPr>
          <p:nvPr>
            <p:ph type="title"/>
          </p:nvPr>
        </p:nvSpPr>
        <p:spPr>
          <a:xfrm>
            <a:off x="224882" y="-382008"/>
            <a:ext cx="10515600" cy="1325563"/>
          </a:xfrm>
        </p:spPr>
        <p:txBody>
          <a:bodyPr>
            <a:normAutofit/>
          </a:bodyPr>
          <a:lstStyle/>
          <a:p>
            <a:r>
              <a:rPr lang="en-US" sz="3200" dirty="0">
                <a:latin typeface="Times New Roman" panose="02020603050405020304" pitchFamily="18" charset="0"/>
                <a:cs typeface="Times New Roman" panose="02020603050405020304" pitchFamily="18" charset="0"/>
              </a:rPr>
              <a:t>Challenges in using Predictive analytics </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877917D-DD77-1976-6A25-18F32C453577}"/>
              </a:ext>
            </a:extLst>
          </p:cNvPr>
          <p:cNvSpPr>
            <a:spLocks noGrp="1"/>
          </p:cNvSpPr>
          <p:nvPr>
            <p:ph idx="1"/>
          </p:nvPr>
        </p:nvSpPr>
        <p:spPr>
          <a:xfrm>
            <a:off x="436756" y="621294"/>
            <a:ext cx="11530362" cy="5924472"/>
          </a:xfrm>
        </p:spPr>
        <p:txBody>
          <a:bodyPr>
            <a:normAutofit/>
          </a:bodyPr>
          <a:lstStyle/>
          <a:p>
            <a:r>
              <a:rPr lang="en-US" dirty="0">
                <a:latin typeface="Times New Roman" panose="02020603050405020304" pitchFamily="18" charset="0"/>
                <a:cs typeface="Times New Roman" panose="02020603050405020304" pitchFamily="18" charset="0"/>
              </a:rPr>
              <a:t>Predictive analytics can greatly improve efficiency, decision-making, and return on investment, but many predictive models fail to be successfully implemented in real-world operations </a:t>
            </a:r>
          </a:p>
          <a:p>
            <a:pPr marL="0" indent="0">
              <a:buNone/>
            </a:pPr>
            <a:r>
              <a:rPr lang="en-IN" dirty="0">
                <a:latin typeface="Times New Roman" panose="02020603050405020304" pitchFamily="18" charset="0"/>
                <a:cs typeface="Times New Roman" panose="02020603050405020304" pitchFamily="18" charset="0"/>
              </a:rPr>
              <a:t>The main reasons for failure include </a:t>
            </a:r>
          </a:p>
          <a:p>
            <a:pPr marL="0" indent="0" algn="just">
              <a:buNone/>
            </a:pPr>
            <a:r>
              <a:rPr lang="en-IN" b="1" dirty="0">
                <a:latin typeface="Times New Roman" panose="02020603050405020304" pitchFamily="18" charset="0"/>
                <a:cs typeface="Times New Roman" panose="02020603050405020304" pitchFamily="18" charset="0"/>
              </a:rPr>
              <a:t>1. Obstacles in management</a:t>
            </a:r>
            <a:r>
              <a:rPr lang="en-IN" dirty="0">
                <a:latin typeface="Times New Roman" panose="02020603050405020304" pitchFamily="18" charset="0"/>
                <a:cs typeface="Times New Roman" panose="02020603050405020304" pitchFamily="18" charset="0"/>
              </a:rPr>
              <a:t>: Here problems are related to people, planning, and business support. </a:t>
            </a:r>
            <a:r>
              <a:rPr lang="en-IN" dirty="0" err="1">
                <a:latin typeface="Times New Roman" panose="02020603050405020304" pitchFamily="18" charset="0"/>
                <a:cs typeface="Times New Roman" panose="02020603050405020304" pitchFamily="18" charset="0"/>
              </a:rPr>
              <a:t>ie</a:t>
            </a:r>
            <a:r>
              <a:rPr lang="en-IN" dirty="0">
                <a:latin typeface="Times New Roman" panose="02020603050405020304" pitchFamily="18" charset="0"/>
                <a:cs typeface="Times New Roman" panose="02020603050405020304" pitchFamily="18" charset="0"/>
              </a:rPr>
              <a:t>: Management does not clearly define the problem, No support from decision-makers, Predictions are not used in business decisions. </a:t>
            </a:r>
          </a:p>
          <a:p>
            <a:pPr lvl="1" algn="just"/>
            <a:r>
              <a:rPr lang="en-IN" sz="2800" dirty="0">
                <a:latin typeface="Times New Roman" panose="02020603050405020304" pitchFamily="18" charset="0"/>
                <a:cs typeface="Times New Roman" panose="02020603050405020304" pitchFamily="18" charset="0"/>
              </a:rPr>
              <a:t>Eg: Suppose an organisation is building a fraud detection model. </a:t>
            </a:r>
            <a:r>
              <a:rPr lang="en-US" sz="2800" dirty="0">
                <a:latin typeface="Times New Roman" panose="02020603050405020304" pitchFamily="18" charset="0"/>
                <a:cs typeface="Times New Roman" panose="02020603050405020304" pitchFamily="18" charset="0"/>
              </a:rPr>
              <a:t>A fraud detection model can identify 1,000 suspicious transactions every month that further require investigation. For the model to succeed, organizations need proper processes, investigator trust, and management support; otherwise, the predictions may not be used effectively.</a:t>
            </a:r>
            <a:endParaRPr lang="en-IN" sz="2800"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58917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027D1D-D197-EB39-ABB9-8D6575E65CF7}"/>
              </a:ext>
            </a:extLst>
          </p:cNvPr>
          <p:cNvSpPr>
            <a:spLocks noGrp="1"/>
          </p:cNvSpPr>
          <p:nvPr>
            <p:ph idx="1"/>
          </p:nvPr>
        </p:nvSpPr>
        <p:spPr>
          <a:xfrm>
            <a:off x="390293" y="479502"/>
            <a:ext cx="11630722" cy="6233532"/>
          </a:xfrm>
        </p:spPr>
        <p:txBody>
          <a:bodyPr>
            <a:normAutofit/>
          </a:bodyPr>
          <a:lstStyle/>
          <a:p>
            <a:pPr marL="0" indent="0">
              <a:buNone/>
            </a:pPr>
            <a:r>
              <a:rPr lang="en-IN" b="1" dirty="0">
                <a:latin typeface="Times New Roman" panose="02020603050405020304" pitchFamily="18" charset="0"/>
                <a:cs typeface="Times New Roman" panose="02020603050405020304" pitchFamily="18" charset="0"/>
              </a:rPr>
              <a:t>2. Obstacles with data </a:t>
            </a:r>
            <a:r>
              <a:rPr lang="en-IN"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Predictive models require data in a structured format with rows and columns (single table or flat file). Data is often stored in multiple transactional databases such as customer, sales, and payment tables. A common key/identifier is needed to combine data from different sources into one table. </a:t>
            </a:r>
            <a:r>
              <a:rPr lang="en-IN" sz="2400" dirty="0">
                <a:solidFill>
                  <a:srgbClr val="00B050"/>
                </a:solidFill>
                <a:latin typeface="Times New Roman" panose="02020603050405020304" pitchFamily="18" charset="0"/>
                <a:cs typeface="Times New Roman" panose="02020603050405020304" pitchFamily="18" charset="0"/>
              </a:rPr>
              <a:t>If proper keys are missing, data cannot be joined and the predictive </a:t>
            </a:r>
            <a:r>
              <a:rPr lang="en-IN" sz="2400" dirty="0" err="1">
                <a:solidFill>
                  <a:srgbClr val="00B050"/>
                </a:solidFill>
                <a:latin typeface="Times New Roman" panose="02020603050405020304" pitchFamily="18" charset="0"/>
                <a:cs typeface="Times New Roman" panose="02020603050405020304" pitchFamily="18" charset="0"/>
              </a:rPr>
              <a:t>modeling</a:t>
            </a:r>
            <a:r>
              <a:rPr lang="en-IN" sz="2400" dirty="0">
                <a:solidFill>
                  <a:srgbClr val="00B050"/>
                </a:solidFill>
                <a:latin typeface="Times New Roman" panose="02020603050405020304" pitchFamily="18" charset="0"/>
                <a:cs typeface="Times New Roman" panose="02020603050405020304" pitchFamily="18" charset="0"/>
              </a:rPr>
              <a:t> project may fail</a:t>
            </a:r>
            <a:r>
              <a:rPr lang="en-IN" sz="2400" dirty="0">
                <a:latin typeface="Times New Roman" panose="02020603050405020304" pitchFamily="18" charset="0"/>
                <a:cs typeface="Times New Roman" panose="02020603050405020304" pitchFamily="18" charset="0"/>
              </a:rPr>
              <a:t>. Even after combining data, the information must be Complete , Accurate , Consistent </a:t>
            </a:r>
          </a:p>
          <a:p>
            <a:r>
              <a:rPr lang="en-IN" sz="2400" dirty="0">
                <a:solidFill>
                  <a:srgbClr val="00B050"/>
                </a:solidFill>
                <a:latin typeface="Times New Roman" panose="02020603050405020304" pitchFamily="18" charset="0"/>
                <a:cs typeface="Times New Roman" panose="02020603050405020304" pitchFamily="18" charset="0"/>
              </a:rPr>
              <a:t>Missing or incorrectly stored input/output values make the data unreliable. Poor-quality data leads to inaccurate predictions.</a:t>
            </a:r>
          </a:p>
          <a:p>
            <a:r>
              <a:rPr lang="en-IN" sz="2400" dirty="0">
                <a:solidFill>
                  <a:srgbClr val="00B050"/>
                </a:solidFill>
                <a:latin typeface="Times New Roman" panose="02020603050405020304" pitchFamily="18" charset="0"/>
                <a:cs typeface="Times New Roman" panose="02020603050405020304" pitchFamily="18" charset="0"/>
              </a:rPr>
              <a:t>Eg: </a:t>
            </a:r>
            <a:r>
              <a:rPr lang="en-IN" sz="2400" dirty="0">
                <a:latin typeface="Times New Roman" panose="02020603050405020304" pitchFamily="18" charset="0"/>
                <a:cs typeface="Times New Roman" panose="02020603050405020304" pitchFamily="18" charset="0"/>
              </a:rPr>
              <a:t>data problem in predictive model building for a customer acquisition model.                  A company wants to predict: Which potential customer (lead) will become an actual customer?</a:t>
            </a:r>
          </a:p>
          <a:p>
            <a:pPr marL="0" indent="0">
              <a:buNone/>
            </a:pPr>
            <a:endParaRPr lang="en-IN" sz="2400" dirty="0">
              <a:solidFill>
                <a:srgbClr val="00B050"/>
              </a:solidFill>
              <a:latin typeface="Times New Roman" panose="02020603050405020304" pitchFamily="18" charset="0"/>
              <a:cs typeface="Times New Roman" panose="02020603050405020304" pitchFamily="18" charset="0"/>
            </a:endParaRPr>
          </a:p>
          <a:p>
            <a:endParaRPr lang="en-IN" dirty="0"/>
          </a:p>
        </p:txBody>
      </p:sp>
      <p:graphicFrame>
        <p:nvGraphicFramePr>
          <p:cNvPr id="4" name="Table 3">
            <a:extLst>
              <a:ext uri="{FF2B5EF4-FFF2-40B4-BE49-F238E27FC236}">
                <a16:creationId xmlns:a16="http://schemas.microsoft.com/office/drawing/2014/main" id="{3C156C84-83B9-8E27-EFA6-AFB76199D2D0}"/>
              </a:ext>
            </a:extLst>
          </p:cNvPr>
          <p:cNvGraphicFramePr>
            <a:graphicFrameLocks noGrp="1"/>
          </p:cNvGraphicFramePr>
          <p:nvPr>
            <p:extLst>
              <p:ext uri="{D42A27DB-BD31-4B8C-83A1-F6EECF244321}">
                <p14:modId xmlns:p14="http://schemas.microsoft.com/office/powerpoint/2010/main" val="3343615939"/>
              </p:ext>
            </p:extLst>
          </p:nvPr>
        </p:nvGraphicFramePr>
        <p:xfrm>
          <a:off x="1050074" y="5137972"/>
          <a:ext cx="10515600" cy="1463040"/>
        </p:xfrm>
        <a:graphic>
          <a:graphicData uri="http://schemas.openxmlformats.org/drawingml/2006/table">
            <a:tbl>
              <a:tblPr/>
              <a:tblGrid>
                <a:gridCol w="2103120">
                  <a:extLst>
                    <a:ext uri="{9D8B030D-6E8A-4147-A177-3AD203B41FA5}">
                      <a16:colId xmlns:a16="http://schemas.microsoft.com/office/drawing/2014/main" val="3727762192"/>
                    </a:ext>
                  </a:extLst>
                </a:gridCol>
                <a:gridCol w="2103120">
                  <a:extLst>
                    <a:ext uri="{9D8B030D-6E8A-4147-A177-3AD203B41FA5}">
                      <a16:colId xmlns:a16="http://schemas.microsoft.com/office/drawing/2014/main" val="1300108776"/>
                    </a:ext>
                  </a:extLst>
                </a:gridCol>
                <a:gridCol w="2103120">
                  <a:extLst>
                    <a:ext uri="{9D8B030D-6E8A-4147-A177-3AD203B41FA5}">
                      <a16:colId xmlns:a16="http://schemas.microsoft.com/office/drawing/2014/main" val="2941436086"/>
                    </a:ext>
                  </a:extLst>
                </a:gridCol>
                <a:gridCol w="2103120">
                  <a:extLst>
                    <a:ext uri="{9D8B030D-6E8A-4147-A177-3AD203B41FA5}">
                      <a16:colId xmlns:a16="http://schemas.microsoft.com/office/drawing/2014/main" val="4281814961"/>
                    </a:ext>
                  </a:extLst>
                </a:gridCol>
                <a:gridCol w="2103120">
                  <a:extLst>
                    <a:ext uri="{9D8B030D-6E8A-4147-A177-3AD203B41FA5}">
                      <a16:colId xmlns:a16="http://schemas.microsoft.com/office/drawing/2014/main" val="4086310016"/>
                    </a:ext>
                  </a:extLst>
                </a:gridCol>
              </a:tblGrid>
              <a:tr h="0">
                <a:tc>
                  <a:txBody>
                    <a:bodyPr/>
                    <a:lstStyle/>
                    <a:p>
                      <a:pPr>
                        <a:buNone/>
                      </a:pPr>
                      <a:r>
                        <a:rPr lang="en-IN" dirty="0">
                          <a:latin typeface="Times New Roman" panose="02020603050405020304" pitchFamily="18" charset="0"/>
                          <a:cs typeface="Times New Roman" panose="02020603050405020304" pitchFamily="18" charset="0"/>
                        </a:rPr>
                        <a:t>Lead ID</a:t>
                      </a:r>
                    </a:p>
                  </a:txBody>
                  <a:tcPr anchor="ctr">
                    <a:lnL>
                      <a:noFill/>
                    </a:lnL>
                    <a:lnR>
                      <a:noFill/>
                    </a:lnR>
                    <a:lnT>
                      <a:noFill/>
                    </a:lnT>
                    <a:lnB>
                      <a:noFill/>
                    </a:lnB>
                    <a:noFill/>
                  </a:tcPr>
                </a:tc>
                <a:tc>
                  <a:txBody>
                    <a:bodyPr/>
                    <a:lstStyle/>
                    <a:p>
                      <a:pPr>
                        <a:buNone/>
                      </a:pPr>
                      <a:r>
                        <a:rPr lang="en-IN" dirty="0">
                          <a:latin typeface="Times New Roman" panose="02020603050405020304" pitchFamily="18" charset="0"/>
                          <a:cs typeface="Times New Roman" panose="02020603050405020304" pitchFamily="18" charset="0"/>
                        </a:rPr>
                        <a:t>Age</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Income</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Campaign</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Response</a:t>
                      </a:r>
                    </a:p>
                  </a:txBody>
                  <a:tcPr anchor="ctr">
                    <a:lnL>
                      <a:noFill/>
                    </a:lnL>
                    <a:lnR>
                      <a:noFill/>
                    </a:lnR>
                    <a:lnT>
                      <a:noFill/>
                    </a:lnT>
                    <a:lnB>
                      <a:noFill/>
                    </a:lnB>
                    <a:noFill/>
                  </a:tcPr>
                </a:tc>
                <a:extLst>
                  <a:ext uri="{0D108BD9-81ED-4DB2-BD59-A6C34878D82A}">
                    <a16:rowId xmlns:a16="http://schemas.microsoft.com/office/drawing/2014/main" val="1193364709"/>
                  </a:ext>
                </a:extLst>
              </a:tr>
              <a:tr h="0">
                <a:tc>
                  <a:txBody>
                    <a:bodyPr/>
                    <a:lstStyle/>
                    <a:p>
                      <a:pPr>
                        <a:buNone/>
                      </a:pPr>
                      <a:r>
                        <a:rPr lang="en-IN" dirty="0">
                          <a:latin typeface="Times New Roman" panose="02020603050405020304" pitchFamily="18" charset="0"/>
                          <a:cs typeface="Times New Roman" panose="02020603050405020304" pitchFamily="18" charset="0"/>
                        </a:rPr>
                        <a:t>101</a:t>
                      </a:r>
                    </a:p>
                  </a:txBody>
                  <a:tcPr anchor="ctr">
                    <a:lnL>
                      <a:noFill/>
                    </a:lnL>
                    <a:lnR>
                      <a:noFill/>
                    </a:lnR>
                    <a:lnT>
                      <a:noFill/>
                    </a:lnT>
                    <a:lnB>
                      <a:noFill/>
                    </a:lnB>
                    <a:noFill/>
                  </a:tcPr>
                </a:tc>
                <a:tc>
                  <a:txBody>
                    <a:bodyPr/>
                    <a:lstStyle/>
                    <a:p>
                      <a:pPr>
                        <a:buNone/>
                      </a:pPr>
                      <a:r>
                        <a:rPr lang="en-IN" dirty="0">
                          <a:latin typeface="Times New Roman" panose="02020603050405020304" pitchFamily="18" charset="0"/>
                          <a:cs typeface="Times New Roman" panose="02020603050405020304" pitchFamily="18" charset="0"/>
                        </a:rPr>
                        <a:t>25</a:t>
                      </a:r>
                    </a:p>
                  </a:txBody>
                  <a:tcPr anchor="ctr">
                    <a:lnL>
                      <a:noFill/>
                    </a:lnL>
                    <a:lnR>
                      <a:noFill/>
                    </a:lnR>
                    <a:lnT>
                      <a:noFill/>
                    </a:lnT>
                    <a:lnB>
                      <a:noFill/>
                    </a:lnB>
                    <a:noFill/>
                  </a:tcPr>
                </a:tc>
                <a:tc>
                  <a:txBody>
                    <a:bodyPr/>
                    <a:lstStyle/>
                    <a:p>
                      <a:pPr>
                        <a:buNone/>
                      </a:pPr>
                      <a:r>
                        <a:rPr lang="en-IN" dirty="0">
                          <a:latin typeface="Times New Roman" panose="02020603050405020304" pitchFamily="18" charset="0"/>
                          <a:cs typeface="Times New Roman" panose="02020603050405020304" pitchFamily="18" charset="0"/>
                        </a:rPr>
                        <a:t>₹50,000</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Email offer</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Yes</a:t>
                      </a:r>
                    </a:p>
                  </a:txBody>
                  <a:tcPr anchor="ctr">
                    <a:lnL>
                      <a:noFill/>
                    </a:lnL>
                    <a:lnR>
                      <a:noFill/>
                    </a:lnR>
                    <a:lnT>
                      <a:noFill/>
                    </a:lnT>
                    <a:lnB>
                      <a:noFill/>
                    </a:lnB>
                    <a:noFill/>
                  </a:tcPr>
                </a:tc>
                <a:extLst>
                  <a:ext uri="{0D108BD9-81ED-4DB2-BD59-A6C34878D82A}">
                    <a16:rowId xmlns:a16="http://schemas.microsoft.com/office/drawing/2014/main" val="3263000755"/>
                  </a:ext>
                </a:extLst>
              </a:tr>
              <a:tr h="0">
                <a:tc>
                  <a:txBody>
                    <a:bodyPr/>
                    <a:lstStyle/>
                    <a:p>
                      <a:pPr>
                        <a:buNone/>
                      </a:pPr>
                      <a:r>
                        <a:rPr lang="en-IN">
                          <a:latin typeface="Times New Roman" panose="02020603050405020304" pitchFamily="18" charset="0"/>
                          <a:cs typeface="Times New Roman" panose="02020603050405020304" pitchFamily="18" charset="0"/>
                        </a:rPr>
                        <a:t>102</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40</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₹70,000</a:t>
                      </a:r>
                    </a:p>
                  </a:txBody>
                  <a:tcPr anchor="ctr">
                    <a:lnL>
                      <a:noFill/>
                    </a:lnL>
                    <a:lnR>
                      <a:noFill/>
                    </a:lnR>
                    <a:lnT>
                      <a:noFill/>
                    </a:lnT>
                    <a:lnB>
                      <a:noFill/>
                    </a:lnB>
                    <a:noFill/>
                  </a:tcPr>
                </a:tc>
                <a:tc>
                  <a:txBody>
                    <a:bodyPr/>
                    <a:lstStyle/>
                    <a:p>
                      <a:pPr>
                        <a:buNone/>
                      </a:pPr>
                      <a:r>
                        <a:rPr lang="en-IN" dirty="0">
                          <a:latin typeface="Times New Roman" panose="02020603050405020304" pitchFamily="18" charset="0"/>
                          <a:cs typeface="Times New Roman" panose="02020603050405020304" pitchFamily="18" charset="0"/>
                        </a:rPr>
                        <a:t>Email offer</a:t>
                      </a:r>
                    </a:p>
                  </a:txBody>
                  <a:tcPr anchor="ctr">
                    <a:lnL>
                      <a:noFill/>
                    </a:lnL>
                    <a:lnR>
                      <a:noFill/>
                    </a:lnR>
                    <a:lnT>
                      <a:noFill/>
                    </a:lnT>
                    <a:lnB>
                      <a:noFill/>
                    </a:lnB>
                    <a:noFill/>
                  </a:tcPr>
                </a:tc>
                <a:tc>
                  <a:txBody>
                    <a:bodyPr/>
                    <a:lstStyle/>
                    <a:p>
                      <a:pPr>
                        <a:buNone/>
                      </a:pPr>
                      <a:r>
                        <a:rPr lang="en-IN" dirty="0">
                          <a:latin typeface="Times New Roman" panose="02020603050405020304" pitchFamily="18" charset="0"/>
                          <a:cs typeface="Times New Roman" panose="02020603050405020304" pitchFamily="18" charset="0"/>
                        </a:rPr>
                        <a:t>No</a:t>
                      </a:r>
                    </a:p>
                  </a:txBody>
                  <a:tcPr anchor="ctr">
                    <a:lnL>
                      <a:noFill/>
                    </a:lnL>
                    <a:lnR>
                      <a:noFill/>
                    </a:lnR>
                    <a:lnT>
                      <a:noFill/>
                    </a:lnT>
                    <a:lnB>
                      <a:noFill/>
                    </a:lnB>
                    <a:noFill/>
                  </a:tcPr>
                </a:tc>
                <a:extLst>
                  <a:ext uri="{0D108BD9-81ED-4DB2-BD59-A6C34878D82A}">
                    <a16:rowId xmlns:a16="http://schemas.microsoft.com/office/drawing/2014/main" val="3402952908"/>
                  </a:ext>
                </a:extLst>
              </a:tr>
              <a:tr h="0">
                <a:tc>
                  <a:txBody>
                    <a:bodyPr/>
                    <a:lstStyle/>
                    <a:p>
                      <a:pPr>
                        <a:buNone/>
                      </a:pPr>
                      <a:r>
                        <a:rPr lang="en-IN">
                          <a:latin typeface="Times New Roman" panose="02020603050405020304" pitchFamily="18" charset="0"/>
                          <a:cs typeface="Times New Roman" panose="02020603050405020304" pitchFamily="18" charset="0"/>
                        </a:rPr>
                        <a:t>103</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30</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₹60,000</a:t>
                      </a:r>
                    </a:p>
                  </a:txBody>
                  <a:tcPr anchor="ctr">
                    <a:lnL>
                      <a:noFill/>
                    </a:lnL>
                    <a:lnR>
                      <a:noFill/>
                    </a:lnR>
                    <a:lnT>
                      <a:noFill/>
                    </a:lnT>
                    <a:lnB>
                      <a:noFill/>
                    </a:lnB>
                    <a:noFill/>
                  </a:tcPr>
                </a:tc>
                <a:tc>
                  <a:txBody>
                    <a:bodyPr/>
                    <a:lstStyle/>
                    <a:p>
                      <a:pPr>
                        <a:buNone/>
                      </a:pPr>
                      <a:r>
                        <a:rPr lang="en-IN" dirty="0">
                          <a:latin typeface="Times New Roman" panose="02020603050405020304" pitchFamily="18" charset="0"/>
                          <a:cs typeface="Times New Roman" panose="02020603050405020304" pitchFamily="18" charset="0"/>
                        </a:rPr>
                        <a:t>SMS offer</a:t>
                      </a:r>
                    </a:p>
                  </a:txBody>
                  <a:tcPr anchor="ctr">
                    <a:lnL>
                      <a:noFill/>
                    </a:lnL>
                    <a:lnR>
                      <a:noFill/>
                    </a:lnR>
                    <a:lnT>
                      <a:noFill/>
                    </a:lnT>
                    <a:lnB>
                      <a:noFill/>
                    </a:lnB>
                    <a:noFill/>
                  </a:tcPr>
                </a:tc>
                <a:tc>
                  <a:txBody>
                    <a:bodyPr/>
                    <a:lstStyle/>
                    <a:p>
                      <a:pPr>
                        <a:buNone/>
                      </a:pPr>
                      <a:r>
                        <a:rPr lang="en-IN" dirty="0">
                          <a:latin typeface="Times New Roman" panose="02020603050405020304" pitchFamily="18" charset="0"/>
                          <a:cs typeface="Times New Roman" panose="02020603050405020304" pitchFamily="18" charset="0"/>
                        </a:rPr>
                        <a:t>Yes</a:t>
                      </a:r>
                    </a:p>
                  </a:txBody>
                  <a:tcPr anchor="ctr">
                    <a:lnL>
                      <a:noFill/>
                    </a:lnL>
                    <a:lnR>
                      <a:noFill/>
                    </a:lnR>
                    <a:lnT>
                      <a:noFill/>
                    </a:lnT>
                    <a:lnB>
                      <a:noFill/>
                    </a:lnB>
                    <a:noFill/>
                  </a:tcPr>
                </a:tc>
                <a:extLst>
                  <a:ext uri="{0D108BD9-81ED-4DB2-BD59-A6C34878D82A}">
                    <a16:rowId xmlns:a16="http://schemas.microsoft.com/office/drawing/2014/main" val="3599739664"/>
                  </a:ext>
                </a:extLst>
              </a:tr>
            </a:tbl>
          </a:graphicData>
        </a:graphic>
      </p:graphicFrame>
      <p:sp>
        <p:nvSpPr>
          <p:cNvPr id="6" name="TextBox 5">
            <a:extLst>
              <a:ext uri="{FF2B5EF4-FFF2-40B4-BE49-F238E27FC236}">
                <a16:creationId xmlns:a16="http://schemas.microsoft.com/office/drawing/2014/main" id="{734204CA-102B-FA67-D41B-3BCDA8A23726}"/>
              </a:ext>
            </a:extLst>
          </p:cNvPr>
          <p:cNvSpPr txBox="1"/>
          <p:nvPr/>
        </p:nvSpPr>
        <p:spPr>
          <a:xfrm>
            <a:off x="2243253" y="4160156"/>
            <a:ext cx="9322421" cy="707886"/>
          </a:xfrm>
          <a:prstGeom prst="rect">
            <a:avLst/>
          </a:prstGeom>
          <a:noFill/>
        </p:spPr>
        <p:txBody>
          <a:bodyPr wrap="square">
            <a:spAutoFit/>
          </a:bodyPr>
          <a:lstStyle/>
          <a:p>
            <a:pPr>
              <a:buNone/>
            </a:pPr>
            <a:r>
              <a:rPr lang="en-IN" sz="2000" dirty="0">
                <a:solidFill>
                  <a:srgbClr val="FF0000"/>
                </a:solidFill>
                <a:latin typeface="Times New Roman" panose="02020603050405020304" pitchFamily="18" charset="0"/>
                <a:cs typeface="Times New Roman" panose="02020603050405020304" pitchFamily="18" charset="0"/>
              </a:rPr>
              <a:t>For training, the model needs both examples to learn patterns</a:t>
            </a:r>
          </a:p>
          <a:p>
            <a:r>
              <a:rPr lang="en-IN" sz="2000" dirty="0">
                <a:solidFill>
                  <a:srgbClr val="FF0000"/>
                </a:solidFill>
                <a:latin typeface="Times New Roman" panose="02020603050405020304" pitchFamily="18" charset="0"/>
                <a:cs typeface="Times New Roman" panose="02020603050405020304" pitchFamily="18" charset="0"/>
              </a:rPr>
              <a:t>(1) People contacted and became customers  and (2) People contacted but did not respond  </a:t>
            </a:r>
          </a:p>
        </p:txBody>
      </p:sp>
    </p:spTree>
    <p:extLst>
      <p:ext uri="{BB962C8B-B14F-4D97-AF65-F5344CB8AC3E}">
        <p14:creationId xmlns:p14="http://schemas.microsoft.com/office/powerpoint/2010/main" val="22801552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C290C70-4345-EE57-8297-2191F4525EE8}"/>
              </a:ext>
            </a:extLst>
          </p:cNvPr>
          <p:cNvGraphicFramePr>
            <a:graphicFrameLocks noGrp="1"/>
          </p:cNvGraphicFramePr>
          <p:nvPr>
            <p:ph idx="1"/>
            <p:extLst>
              <p:ext uri="{D42A27DB-BD31-4B8C-83A1-F6EECF244321}">
                <p14:modId xmlns:p14="http://schemas.microsoft.com/office/powerpoint/2010/main" val="2820164139"/>
              </p:ext>
            </p:extLst>
          </p:nvPr>
        </p:nvGraphicFramePr>
        <p:xfrm>
          <a:off x="1308410" y="1381303"/>
          <a:ext cx="10515600" cy="1097280"/>
        </p:xfrm>
        <a:graphic>
          <a:graphicData uri="http://schemas.openxmlformats.org/drawingml/2006/table">
            <a:tbl>
              <a:tblPr/>
              <a:tblGrid>
                <a:gridCol w="3505200">
                  <a:extLst>
                    <a:ext uri="{9D8B030D-6E8A-4147-A177-3AD203B41FA5}">
                      <a16:colId xmlns:a16="http://schemas.microsoft.com/office/drawing/2014/main" val="2693400585"/>
                    </a:ext>
                  </a:extLst>
                </a:gridCol>
                <a:gridCol w="3505200">
                  <a:extLst>
                    <a:ext uri="{9D8B030D-6E8A-4147-A177-3AD203B41FA5}">
                      <a16:colId xmlns:a16="http://schemas.microsoft.com/office/drawing/2014/main" val="3059319383"/>
                    </a:ext>
                  </a:extLst>
                </a:gridCol>
                <a:gridCol w="3505200">
                  <a:extLst>
                    <a:ext uri="{9D8B030D-6E8A-4147-A177-3AD203B41FA5}">
                      <a16:colId xmlns:a16="http://schemas.microsoft.com/office/drawing/2014/main" val="4072415615"/>
                    </a:ext>
                  </a:extLst>
                </a:gridCol>
              </a:tblGrid>
              <a:tr h="0">
                <a:tc>
                  <a:txBody>
                    <a:bodyPr/>
                    <a:lstStyle/>
                    <a:p>
                      <a:pPr>
                        <a:buNone/>
                      </a:pPr>
                      <a:r>
                        <a:rPr lang="en-IN" dirty="0"/>
                        <a:t>Lead ID</a:t>
                      </a:r>
                    </a:p>
                  </a:txBody>
                  <a:tcPr anchor="ctr">
                    <a:lnL>
                      <a:noFill/>
                    </a:lnL>
                    <a:lnR>
                      <a:noFill/>
                    </a:lnR>
                    <a:lnT>
                      <a:noFill/>
                    </a:lnT>
                    <a:lnB>
                      <a:noFill/>
                    </a:lnB>
                    <a:noFill/>
                  </a:tcPr>
                </a:tc>
                <a:tc>
                  <a:txBody>
                    <a:bodyPr/>
                    <a:lstStyle/>
                    <a:p>
                      <a:pPr>
                        <a:buNone/>
                      </a:pPr>
                      <a:r>
                        <a:rPr lang="en-IN"/>
                        <a:t>Campaign</a:t>
                      </a:r>
                    </a:p>
                  </a:txBody>
                  <a:tcPr anchor="ctr">
                    <a:lnL>
                      <a:noFill/>
                    </a:lnL>
                    <a:lnR>
                      <a:noFill/>
                    </a:lnR>
                    <a:lnT>
                      <a:noFill/>
                    </a:lnT>
                    <a:lnB>
                      <a:noFill/>
                    </a:lnB>
                    <a:noFill/>
                  </a:tcPr>
                </a:tc>
                <a:tc>
                  <a:txBody>
                    <a:bodyPr/>
                    <a:lstStyle/>
                    <a:p>
                      <a:pPr>
                        <a:buNone/>
                      </a:pPr>
                      <a:r>
                        <a:rPr lang="en-IN"/>
                        <a:t>Contacted</a:t>
                      </a:r>
                    </a:p>
                  </a:txBody>
                  <a:tcPr anchor="ctr">
                    <a:lnL>
                      <a:noFill/>
                    </a:lnL>
                    <a:lnR>
                      <a:noFill/>
                    </a:lnR>
                    <a:lnT>
                      <a:noFill/>
                    </a:lnT>
                    <a:lnB>
                      <a:noFill/>
                    </a:lnB>
                    <a:noFill/>
                  </a:tcPr>
                </a:tc>
                <a:extLst>
                  <a:ext uri="{0D108BD9-81ED-4DB2-BD59-A6C34878D82A}">
                    <a16:rowId xmlns:a16="http://schemas.microsoft.com/office/drawing/2014/main" val="854498367"/>
                  </a:ext>
                </a:extLst>
              </a:tr>
              <a:tr h="0">
                <a:tc>
                  <a:txBody>
                    <a:bodyPr/>
                    <a:lstStyle/>
                    <a:p>
                      <a:pPr>
                        <a:buNone/>
                      </a:pPr>
                      <a:r>
                        <a:rPr lang="en-IN" dirty="0"/>
                        <a:t>101</a:t>
                      </a:r>
                    </a:p>
                  </a:txBody>
                  <a:tcPr anchor="ctr">
                    <a:lnL>
                      <a:noFill/>
                    </a:lnL>
                    <a:lnR>
                      <a:noFill/>
                    </a:lnR>
                    <a:lnT>
                      <a:noFill/>
                    </a:lnT>
                    <a:lnB>
                      <a:noFill/>
                    </a:lnB>
                    <a:noFill/>
                  </a:tcPr>
                </a:tc>
                <a:tc>
                  <a:txBody>
                    <a:bodyPr/>
                    <a:lstStyle/>
                    <a:p>
                      <a:pPr>
                        <a:buNone/>
                      </a:pPr>
                      <a:r>
                        <a:rPr lang="en-IN" dirty="0"/>
                        <a:t>Email Offer</a:t>
                      </a:r>
                    </a:p>
                  </a:txBody>
                  <a:tcPr anchor="ctr">
                    <a:lnL>
                      <a:noFill/>
                    </a:lnL>
                    <a:lnR>
                      <a:noFill/>
                    </a:lnR>
                    <a:lnT>
                      <a:noFill/>
                    </a:lnT>
                    <a:lnB>
                      <a:noFill/>
                    </a:lnB>
                    <a:noFill/>
                  </a:tcPr>
                </a:tc>
                <a:tc>
                  <a:txBody>
                    <a:bodyPr/>
                    <a:lstStyle/>
                    <a:p>
                      <a:pPr>
                        <a:buNone/>
                      </a:pPr>
                      <a:r>
                        <a:rPr lang="en-IN"/>
                        <a:t>Yes</a:t>
                      </a:r>
                    </a:p>
                  </a:txBody>
                  <a:tcPr anchor="ctr">
                    <a:lnL>
                      <a:noFill/>
                    </a:lnL>
                    <a:lnR>
                      <a:noFill/>
                    </a:lnR>
                    <a:lnT>
                      <a:noFill/>
                    </a:lnT>
                    <a:lnB>
                      <a:noFill/>
                    </a:lnB>
                    <a:noFill/>
                  </a:tcPr>
                </a:tc>
                <a:extLst>
                  <a:ext uri="{0D108BD9-81ED-4DB2-BD59-A6C34878D82A}">
                    <a16:rowId xmlns:a16="http://schemas.microsoft.com/office/drawing/2014/main" val="281599321"/>
                  </a:ext>
                </a:extLst>
              </a:tr>
              <a:tr h="0">
                <a:tc>
                  <a:txBody>
                    <a:bodyPr/>
                    <a:lstStyle/>
                    <a:p>
                      <a:pPr>
                        <a:buNone/>
                      </a:pPr>
                      <a:r>
                        <a:rPr lang="en-IN"/>
                        <a:t>102</a:t>
                      </a:r>
                    </a:p>
                  </a:txBody>
                  <a:tcPr anchor="ctr">
                    <a:lnL>
                      <a:noFill/>
                    </a:lnL>
                    <a:lnR>
                      <a:noFill/>
                    </a:lnR>
                    <a:lnT>
                      <a:noFill/>
                    </a:lnT>
                    <a:lnB>
                      <a:noFill/>
                    </a:lnB>
                    <a:noFill/>
                  </a:tcPr>
                </a:tc>
                <a:tc>
                  <a:txBody>
                    <a:bodyPr/>
                    <a:lstStyle/>
                    <a:p>
                      <a:pPr>
                        <a:buNone/>
                      </a:pPr>
                      <a:r>
                        <a:rPr lang="en-IN"/>
                        <a:t>Email Offer</a:t>
                      </a:r>
                    </a:p>
                  </a:txBody>
                  <a:tcPr anchor="ctr">
                    <a:lnL>
                      <a:noFill/>
                    </a:lnL>
                    <a:lnR>
                      <a:noFill/>
                    </a:lnR>
                    <a:lnT>
                      <a:noFill/>
                    </a:lnT>
                    <a:lnB>
                      <a:noFill/>
                    </a:lnB>
                    <a:noFill/>
                  </a:tcPr>
                </a:tc>
                <a:tc>
                  <a:txBody>
                    <a:bodyPr/>
                    <a:lstStyle/>
                    <a:p>
                      <a:pPr>
                        <a:buNone/>
                      </a:pPr>
                      <a:r>
                        <a:rPr lang="en-IN" dirty="0"/>
                        <a:t>Yes</a:t>
                      </a:r>
                    </a:p>
                  </a:txBody>
                  <a:tcPr anchor="ctr">
                    <a:lnL>
                      <a:noFill/>
                    </a:lnL>
                    <a:lnR>
                      <a:noFill/>
                    </a:lnR>
                    <a:lnT>
                      <a:noFill/>
                    </a:lnT>
                    <a:lnB>
                      <a:noFill/>
                    </a:lnB>
                    <a:noFill/>
                  </a:tcPr>
                </a:tc>
                <a:extLst>
                  <a:ext uri="{0D108BD9-81ED-4DB2-BD59-A6C34878D82A}">
                    <a16:rowId xmlns:a16="http://schemas.microsoft.com/office/drawing/2014/main" val="3340932260"/>
                  </a:ext>
                </a:extLst>
              </a:tr>
            </a:tbl>
          </a:graphicData>
        </a:graphic>
      </p:graphicFrame>
      <p:graphicFrame>
        <p:nvGraphicFramePr>
          <p:cNvPr id="5" name="Table 4">
            <a:extLst>
              <a:ext uri="{FF2B5EF4-FFF2-40B4-BE49-F238E27FC236}">
                <a16:creationId xmlns:a16="http://schemas.microsoft.com/office/drawing/2014/main" id="{4F5B471F-6A7F-6D6B-C71E-DB2D1F6F7088}"/>
              </a:ext>
            </a:extLst>
          </p:cNvPr>
          <p:cNvGraphicFramePr>
            <a:graphicFrameLocks noGrp="1"/>
          </p:cNvGraphicFramePr>
          <p:nvPr>
            <p:extLst>
              <p:ext uri="{D42A27DB-BD31-4B8C-83A1-F6EECF244321}">
                <p14:modId xmlns:p14="http://schemas.microsoft.com/office/powerpoint/2010/main" val="1002814856"/>
              </p:ext>
            </p:extLst>
          </p:nvPr>
        </p:nvGraphicFramePr>
        <p:xfrm>
          <a:off x="1517262" y="3187798"/>
          <a:ext cx="10515600" cy="731520"/>
        </p:xfrm>
        <a:graphic>
          <a:graphicData uri="http://schemas.openxmlformats.org/drawingml/2006/table">
            <a:tbl>
              <a:tblPr/>
              <a:tblGrid>
                <a:gridCol w="5257800">
                  <a:extLst>
                    <a:ext uri="{9D8B030D-6E8A-4147-A177-3AD203B41FA5}">
                      <a16:colId xmlns:a16="http://schemas.microsoft.com/office/drawing/2014/main" val="1881522006"/>
                    </a:ext>
                  </a:extLst>
                </a:gridCol>
                <a:gridCol w="5257800">
                  <a:extLst>
                    <a:ext uri="{9D8B030D-6E8A-4147-A177-3AD203B41FA5}">
                      <a16:colId xmlns:a16="http://schemas.microsoft.com/office/drawing/2014/main" val="2465628715"/>
                    </a:ext>
                  </a:extLst>
                </a:gridCol>
              </a:tblGrid>
              <a:tr h="0">
                <a:tc>
                  <a:txBody>
                    <a:bodyPr/>
                    <a:lstStyle/>
                    <a:p>
                      <a:pPr>
                        <a:buNone/>
                      </a:pPr>
                      <a:r>
                        <a:rPr lang="en-IN" dirty="0"/>
                        <a:t>Customer ID</a:t>
                      </a:r>
                    </a:p>
                  </a:txBody>
                  <a:tcPr anchor="ctr">
                    <a:lnL>
                      <a:noFill/>
                    </a:lnL>
                    <a:lnR>
                      <a:noFill/>
                    </a:lnR>
                    <a:lnT>
                      <a:noFill/>
                    </a:lnT>
                    <a:lnB>
                      <a:noFill/>
                    </a:lnB>
                    <a:noFill/>
                  </a:tcPr>
                </a:tc>
                <a:tc>
                  <a:txBody>
                    <a:bodyPr/>
                    <a:lstStyle/>
                    <a:p>
                      <a:pPr>
                        <a:buNone/>
                      </a:pPr>
                      <a:r>
                        <a:rPr lang="en-IN"/>
                        <a:t>Name</a:t>
                      </a:r>
                    </a:p>
                  </a:txBody>
                  <a:tcPr anchor="ctr">
                    <a:lnL>
                      <a:noFill/>
                    </a:lnL>
                    <a:lnR>
                      <a:noFill/>
                    </a:lnR>
                    <a:lnT>
                      <a:noFill/>
                    </a:lnT>
                    <a:lnB>
                      <a:noFill/>
                    </a:lnB>
                    <a:noFill/>
                  </a:tcPr>
                </a:tc>
                <a:extLst>
                  <a:ext uri="{0D108BD9-81ED-4DB2-BD59-A6C34878D82A}">
                    <a16:rowId xmlns:a16="http://schemas.microsoft.com/office/drawing/2014/main" val="2519982869"/>
                  </a:ext>
                </a:extLst>
              </a:tr>
              <a:tr h="0">
                <a:tc>
                  <a:txBody>
                    <a:bodyPr/>
                    <a:lstStyle/>
                    <a:p>
                      <a:pPr>
                        <a:buNone/>
                      </a:pPr>
                      <a:r>
                        <a:rPr lang="en-IN"/>
                        <a:t>101</a:t>
                      </a:r>
                    </a:p>
                  </a:txBody>
                  <a:tcPr anchor="ctr">
                    <a:lnL>
                      <a:noFill/>
                    </a:lnL>
                    <a:lnR>
                      <a:noFill/>
                    </a:lnR>
                    <a:lnT>
                      <a:noFill/>
                    </a:lnT>
                    <a:lnB>
                      <a:noFill/>
                    </a:lnB>
                    <a:noFill/>
                  </a:tcPr>
                </a:tc>
                <a:tc>
                  <a:txBody>
                    <a:bodyPr/>
                    <a:lstStyle/>
                    <a:p>
                      <a:pPr>
                        <a:buNone/>
                      </a:pPr>
                      <a:r>
                        <a:rPr lang="en-IN" dirty="0"/>
                        <a:t>Ravi</a:t>
                      </a:r>
                    </a:p>
                  </a:txBody>
                  <a:tcPr anchor="ctr">
                    <a:lnL>
                      <a:noFill/>
                    </a:lnL>
                    <a:lnR>
                      <a:noFill/>
                    </a:lnR>
                    <a:lnT>
                      <a:noFill/>
                    </a:lnT>
                    <a:lnB>
                      <a:noFill/>
                    </a:lnB>
                    <a:noFill/>
                  </a:tcPr>
                </a:tc>
                <a:extLst>
                  <a:ext uri="{0D108BD9-81ED-4DB2-BD59-A6C34878D82A}">
                    <a16:rowId xmlns:a16="http://schemas.microsoft.com/office/drawing/2014/main" val="2117903229"/>
                  </a:ext>
                </a:extLst>
              </a:tr>
            </a:tbl>
          </a:graphicData>
        </a:graphic>
      </p:graphicFrame>
      <p:sp>
        <p:nvSpPr>
          <p:cNvPr id="7" name="TextBox 6">
            <a:extLst>
              <a:ext uri="{FF2B5EF4-FFF2-40B4-BE49-F238E27FC236}">
                <a16:creationId xmlns:a16="http://schemas.microsoft.com/office/drawing/2014/main" id="{6D68C2B9-930A-5795-AE81-A0170157F824}"/>
              </a:ext>
            </a:extLst>
          </p:cNvPr>
          <p:cNvSpPr txBox="1"/>
          <p:nvPr/>
        </p:nvSpPr>
        <p:spPr>
          <a:xfrm>
            <a:off x="457200" y="189572"/>
            <a:ext cx="10426390" cy="5078313"/>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Problem 1: Data stored in different tables</a:t>
            </a:r>
          </a:p>
          <a:p>
            <a:pPr>
              <a:buNone/>
            </a:pPr>
            <a:r>
              <a:rPr lang="en-IN" dirty="0">
                <a:latin typeface="Times New Roman" panose="02020603050405020304" pitchFamily="18" charset="0"/>
                <a:cs typeface="Times New Roman" panose="02020603050405020304" pitchFamily="18" charset="0"/>
              </a:rPr>
              <a:t>Companies may store data separately.</a:t>
            </a:r>
          </a:p>
          <a:p>
            <a:pPr>
              <a:buNone/>
            </a:pPr>
            <a:r>
              <a:rPr lang="en-IN" b="1" dirty="0">
                <a:latin typeface="Times New Roman" panose="02020603050405020304" pitchFamily="18" charset="0"/>
                <a:cs typeface="Times New Roman" panose="02020603050405020304" pitchFamily="18" charset="0"/>
              </a:rPr>
              <a:t>Marketing Leads Table</a:t>
            </a:r>
          </a:p>
          <a:p>
            <a:pPr>
              <a:buNone/>
            </a:pPr>
            <a:endParaRPr lang="en-IN" b="1" dirty="0">
              <a:latin typeface="Times New Roman" panose="02020603050405020304" pitchFamily="18" charset="0"/>
              <a:cs typeface="Times New Roman" panose="02020603050405020304" pitchFamily="18" charset="0"/>
            </a:endParaRPr>
          </a:p>
          <a:p>
            <a:pPr>
              <a:buNone/>
            </a:pPr>
            <a:endParaRPr lang="en-IN" b="1" dirty="0">
              <a:latin typeface="Times New Roman" panose="02020603050405020304" pitchFamily="18" charset="0"/>
              <a:cs typeface="Times New Roman" panose="02020603050405020304" pitchFamily="18" charset="0"/>
            </a:endParaRPr>
          </a:p>
          <a:p>
            <a:pPr>
              <a:buNone/>
            </a:pPr>
            <a:endParaRPr lang="en-IN" b="1" dirty="0">
              <a:latin typeface="Times New Roman" panose="02020603050405020304" pitchFamily="18" charset="0"/>
              <a:cs typeface="Times New Roman" panose="02020603050405020304" pitchFamily="18" charset="0"/>
            </a:endParaRPr>
          </a:p>
          <a:p>
            <a:pPr>
              <a:buNone/>
            </a:pPr>
            <a:endParaRPr lang="en-IN" b="1" dirty="0">
              <a:latin typeface="Times New Roman" panose="02020603050405020304" pitchFamily="18" charset="0"/>
              <a:cs typeface="Times New Roman" panose="02020603050405020304" pitchFamily="18" charset="0"/>
            </a:endParaRPr>
          </a:p>
          <a:p>
            <a:pPr>
              <a:buNone/>
            </a:pPr>
            <a:endParaRPr lang="en-IN" b="1" dirty="0">
              <a:latin typeface="Times New Roman" panose="02020603050405020304" pitchFamily="18" charset="0"/>
              <a:cs typeface="Times New Roman" panose="02020603050405020304" pitchFamily="18" charset="0"/>
            </a:endParaRPr>
          </a:p>
          <a:p>
            <a:pPr>
              <a:buNone/>
            </a:pPr>
            <a:endParaRPr lang="en-IN" b="1" dirty="0">
              <a:latin typeface="Times New Roman" panose="02020603050405020304" pitchFamily="18" charset="0"/>
              <a:cs typeface="Times New Roman" panose="02020603050405020304" pitchFamily="18" charset="0"/>
            </a:endParaRPr>
          </a:p>
          <a:p>
            <a:pPr>
              <a:buNone/>
            </a:pPr>
            <a:r>
              <a:rPr lang="en-IN" b="1" dirty="0">
                <a:latin typeface="Times New Roman" panose="02020603050405020304" pitchFamily="18" charset="0"/>
                <a:cs typeface="Times New Roman" panose="02020603050405020304" pitchFamily="18" charset="0"/>
              </a:rPr>
              <a:t>Customer Table</a:t>
            </a:r>
          </a:p>
          <a:p>
            <a:pPr>
              <a:buNone/>
            </a:pPr>
            <a:endParaRPr lang="en-IN" b="1" dirty="0">
              <a:latin typeface="Times New Roman" panose="02020603050405020304" pitchFamily="18" charset="0"/>
              <a:cs typeface="Times New Roman" panose="02020603050405020304" pitchFamily="18" charset="0"/>
            </a:endParaRPr>
          </a:p>
          <a:p>
            <a:pPr>
              <a:buNone/>
            </a:pPr>
            <a:endParaRPr lang="en-IN" b="1" dirty="0">
              <a:latin typeface="Times New Roman" panose="02020603050405020304" pitchFamily="18" charset="0"/>
              <a:cs typeface="Times New Roman" panose="02020603050405020304" pitchFamily="18" charset="0"/>
            </a:endParaRPr>
          </a:p>
          <a:p>
            <a:pPr>
              <a:buNone/>
            </a:pPr>
            <a:endParaRPr lang="en-IN" b="1" dirty="0">
              <a:latin typeface="Times New Roman" panose="02020603050405020304" pitchFamily="18" charset="0"/>
              <a:cs typeface="Times New Roman" panose="02020603050405020304" pitchFamily="18" charset="0"/>
            </a:endParaRPr>
          </a:p>
          <a:p>
            <a:pPr>
              <a:buNone/>
            </a:pPr>
            <a:endParaRPr lang="en-IN"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rPr>
              <a:t>Issues : If the customer table does not store </a:t>
            </a:r>
            <a:r>
              <a:rPr lang="en-IN" b="1" dirty="0">
                <a:latin typeface="Times New Roman" panose="02020603050405020304" pitchFamily="18" charset="0"/>
                <a:cs typeface="Times New Roman" panose="02020603050405020304" pitchFamily="18" charset="0"/>
              </a:rPr>
              <a:t>which campaign created that customer</a:t>
            </a:r>
            <a:r>
              <a:rPr lang="en-IN" dirty="0">
                <a:latin typeface="Times New Roman" panose="02020603050405020304" pitchFamily="18" charset="0"/>
                <a:cs typeface="Times New Roman" panose="02020603050405020304" pitchFamily="18" charset="0"/>
              </a:rPr>
              <a:t>, we cannot know:</a:t>
            </a:r>
          </a:p>
          <a:p>
            <a:pPr rtl="0">
              <a:buNone/>
            </a:pPr>
            <a:r>
              <a:rPr lang="en-IN" dirty="0">
                <a:latin typeface="Times New Roman" panose="02020603050405020304" pitchFamily="18" charset="0"/>
                <a:cs typeface="Times New Roman" panose="02020603050405020304" pitchFamily="18" charset="0"/>
              </a:rPr>
              <a:t>Which leads responded?</a:t>
            </a:r>
          </a:p>
          <a:p>
            <a:pPr rtl="0">
              <a:buNone/>
            </a:pPr>
            <a:r>
              <a:rPr lang="en-IN" dirty="0">
                <a:latin typeface="Times New Roman" panose="02020603050405020304" pitchFamily="18" charset="0"/>
                <a:cs typeface="Times New Roman" panose="02020603050405020304" pitchFamily="18" charset="0"/>
              </a:rPr>
              <a:t>Which leads ignored?</a:t>
            </a:r>
          </a:p>
          <a:p>
            <a:pPr>
              <a:buNone/>
            </a:pPr>
            <a:r>
              <a:rPr lang="en-IN" dirty="0">
                <a:latin typeface="Times New Roman" panose="02020603050405020304" pitchFamily="18" charset="0"/>
                <a:cs typeface="Times New Roman" panose="02020603050405020304" pitchFamily="18" charset="0"/>
              </a:rPr>
              <a:t>So training data cannot be created.</a:t>
            </a:r>
          </a:p>
        </p:txBody>
      </p:sp>
    </p:spTree>
    <p:extLst>
      <p:ext uri="{BB962C8B-B14F-4D97-AF65-F5344CB8AC3E}">
        <p14:creationId xmlns:p14="http://schemas.microsoft.com/office/powerpoint/2010/main" val="12885574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4A06440-A161-7BA5-0431-AA636A58B250}"/>
              </a:ext>
            </a:extLst>
          </p:cNvPr>
          <p:cNvGraphicFramePr>
            <a:graphicFrameLocks noGrp="1"/>
          </p:cNvGraphicFramePr>
          <p:nvPr>
            <p:ph idx="1"/>
            <p:extLst>
              <p:ext uri="{D42A27DB-BD31-4B8C-83A1-F6EECF244321}">
                <p14:modId xmlns:p14="http://schemas.microsoft.com/office/powerpoint/2010/main" val="454042975"/>
              </p:ext>
            </p:extLst>
          </p:nvPr>
        </p:nvGraphicFramePr>
        <p:xfrm>
          <a:off x="180278" y="628478"/>
          <a:ext cx="10515600" cy="792480"/>
        </p:xfrm>
        <a:graphic>
          <a:graphicData uri="http://schemas.openxmlformats.org/drawingml/2006/table">
            <a:tbl>
              <a:tblPr/>
              <a:tblGrid>
                <a:gridCol w="2628900">
                  <a:extLst>
                    <a:ext uri="{9D8B030D-6E8A-4147-A177-3AD203B41FA5}">
                      <a16:colId xmlns:a16="http://schemas.microsoft.com/office/drawing/2014/main" val="2599640884"/>
                    </a:ext>
                  </a:extLst>
                </a:gridCol>
                <a:gridCol w="2628900">
                  <a:extLst>
                    <a:ext uri="{9D8B030D-6E8A-4147-A177-3AD203B41FA5}">
                      <a16:colId xmlns:a16="http://schemas.microsoft.com/office/drawing/2014/main" val="2519288941"/>
                    </a:ext>
                  </a:extLst>
                </a:gridCol>
                <a:gridCol w="2628900">
                  <a:extLst>
                    <a:ext uri="{9D8B030D-6E8A-4147-A177-3AD203B41FA5}">
                      <a16:colId xmlns:a16="http://schemas.microsoft.com/office/drawing/2014/main" val="4011480982"/>
                    </a:ext>
                  </a:extLst>
                </a:gridCol>
                <a:gridCol w="2628900">
                  <a:extLst>
                    <a:ext uri="{9D8B030D-6E8A-4147-A177-3AD203B41FA5}">
                      <a16:colId xmlns:a16="http://schemas.microsoft.com/office/drawing/2014/main" val="1607199367"/>
                    </a:ext>
                  </a:extLst>
                </a:gridCol>
              </a:tblGrid>
              <a:tr h="0">
                <a:tc>
                  <a:txBody>
                    <a:bodyPr/>
                    <a:lstStyle/>
                    <a:p>
                      <a:pPr>
                        <a:buNone/>
                      </a:pPr>
                      <a:r>
                        <a:rPr lang="en-IN"/>
                        <a:t>Lead</a:t>
                      </a:r>
                    </a:p>
                  </a:txBody>
                  <a:tcPr anchor="ctr">
                    <a:lnL>
                      <a:noFill/>
                    </a:lnL>
                    <a:lnR>
                      <a:noFill/>
                    </a:lnR>
                    <a:lnT>
                      <a:noFill/>
                    </a:lnT>
                    <a:lnB>
                      <a:noFill/>
                    </a:lnB>
                    <a:noFill/>
                  </a:tcPr>
                </a:tc>
                <a:tc>
                  <a:txBody>
                    <a:bodyPr/>
                    <a:lstStyle/>
                    <a:p>
                      <a:pPr>
                        <a:buNone/>
                      </a:pPr>
                      <a:r>
                        <a:rPr lang="en-IN"/>
                        <a:t>Age</a:t>
                      </a:r>
                    </a:p>
                  </a:txBody>
                  <a:tcPr anchor="ctr">
                    <a:lnL>
                      <a:noFill/>
                    </a:lnL>
                    <a:lnR>
                      <a:noFill/>
                    </a:lnR>
                    <a:lnT>
                      <a:noFill/>
                    </a:lnT>
                    <a:lnB>
                      <a:noFill/>
                    </a:lnB>
                    <a:noFill/>
                  </a:tcPr>
                </a:tc>
                <a:tc>
                  <a:txBody>
                    <a:bodyPr/>
                    <a:lstStyle/>
                    <a:p>
                      <a:pPr>
                        <a:buNone/>
                      </a:pPr>
                      <a:r>
                        <a:rPr lang="en-IN"/>
                        <a:t>Income</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Phone</a:t>
                      </a:r>
                    </a:p>
                  </a:txBody>
                  <a:tcPr anchor="ctr">
                    <a:lnL>
                      <a:noFill/>
                    </a:lnL>
                    <a:lnR>
                      <a:noFill/>
                    </a:lnR>
                    <a:lnT>
                      <a:noFill/>
                    </a:lnT>
                    <a:lnB>
                      <a:noFill/>
                    </a:lnB>
                    <a:noFill/>
                  </a:tcPr>
                </a:tc>
                <a:extLst>
                  <a:ext uri="{0D108BD9-81ED-4DB2-BD59-A6C34878D82A}">
                    <a16:rowId xmlns:a16="http://schemas.microsoft.com/office/drawing/2014/main" val="108622737"/>
                  </a:ext>
                </a:extLst>
              </a:tr>
              <a:tr h="0">
                <a:tc>
                  <a:txBody>
                    <a:bodyPr/>
                    <a:lstStyle/>
                    <a:p>
                      <a:pPr>
                        <a:buNone/>
                      </a:pPr>
                      <a:r>
                        <a:rPr lang="en-IN"/>
                        <a:t>A</a:t>
                      </a:r>
                    </a:p>
                  </a:txBody>
                  <a:tcPr anchor="ctr">
                    <a:lnL>
                      <a:noFill/>
                    </a:lnL>
                    <a:lnR>
                      <a:noFill/>
                    </a:lnR>
                    <a:lnT>
                      <a:noFill/>
                    </a:lnT>
                    <a:lnB>
                      <a:noFill/>
                    </a:lnB>
                    <a:noFill/>
                  </a:tcPr>
                </a:tc>
                <a:tc>
                  <a:txBody>
                    <a:bodyPr/>
                    <a:lstStyle/>
                    <a:p>
                      <a:pPr>
                        <a:buNone/>
                      </a:pPr>
                      <a:r>
                        <a:rPr lang="en-IN"/>
                        <a:t>25</a:t>
                      </a:r>
                    </a:p>
                  </a:txBody>
                  <a:tcPr anchor="ctr">
                    <a:lnL>
                      <a:noFill/>
                    </a:lnL>
                    <a:lnR>
                      <a:noFill/>
                    </a:lnR>
                    <a:lnT>
                      <a:noFill/>
                    </a:lnT>
                    <a:lnB>
                      <a:noFill/>
                    </a:lnB>
                    <a:noFill/>
                  </a:tcPr>
                </a:tc>
                <a:tc>
                  <a:txBody>
                    <a:bodyPr/>
                    <a:lstStyle/>
                    <a:p>
                      <a:pPr>
                        <a:buNone/>
                      </a:pPr>
                      <a:r>
                        <a:rPr lang="en-IN"/>
                        <a:t>40000</a:t>
                      </a:r>
                    </a:p>
                  </a:txBody>
                  <a:tcPr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No phone</a:t>
                      </a:r>
                    </a:p>
                  </a:txBody>
                  <a:tcPr anchor="ctr">
                    <a:lnL>
                      <a:noFill/>
                    </a:lnL>
                    <a:lnR>
                      <a:noFill/>
                    </a:lnR>
                    <a:lnT>
                      <a:noFill/>
                    </a:lnT>
                    <a:lnB>
                      <a:noFill/>
                    </a:lnB>
                    <a:noFill/>
                  </a:tcPr>
                </a:tc>
                <a:extLst>
                  <a:ext uri="{0D108BD9-81ED-4DB2-BD59-A6C34878D82A}">
                    <a16:rowId xmlns:a16="http://schemas.microsoft.com/office/drawing/2014/main" val="1395290488"/>
                  </a:ext>
                </a:extLst>
              </a:tr>
            </a:tbl>
          </a:graphicData>
        </a:graphic>
      </p:graphicFrame>
      <p:graphicFrame>
        <p:nvGraphicFramePr>
          <p:cNvPr id="5" name="Table 4">
            <a:extLst>
              <a:ext uri="{FF2B5EF4-FFF2-40B4-BE49-F238E27FC236}">
                <a16:creationId xmlns:a16="http://schemas.microsoft.com/office/drawing/2014/main" id="{22CB4BD5-FA97-6D42-47DB-61F48DEC0210}"/>
              </a:ext>
            </a:extLst>
          </p:cNvPr>
          <p:cNvGraphicFramePr>
            <a:graphicFrameLocks noGrp="1"/>
          </p:cNvGraphicFramePr>
          <p:nvPr>
            <p:extLst>
              <p:ext uri="{D42A27DB-BD31-4B8C-83A1-F6EECF244321}">
                <p14:modId xmlns:p14="http://schemas.microsoft.com/office/powerpoint/2010/main" val="2778435601"/>
              </p:ext>
            </p:extLst>
          </p:nvPr>
        </p:nvGraphicFramePr>
        <p:xfrm>
          <a:off x="302941" y="2178577"/>
          <a:ext cx="10515600" cy="792480"/>
        </p:xfrm>
        <a:graphic>
          <a:graphicData uri="http://schemas.openxmlformats.org/drawingml/2006/table">
            <a:tbl>
              <a:tblPr/>
              <a:tblGrid>
                <a:gridCol w="2628900">
                  <a:extLst>
                    <a:ext uri="{9D8B030D-6E8A-4147-A177-3AD203B41FA5}">
                      <a16:colId xmlns:a16="http://schemas.microsoft.com/office/drawing/2014/main" val="3559873639"/>
                    </a:ext>
                  </a:extLst>
                </a:gridCol>
                <a:gridCol w="2628900">
                  <a:extLst>
                    <a:ext uri="{9D8B030D-6E8A-4147-A177-3AD203B41FA5}">
                      <a16:colId xmlns:a16="http://schemas.microsoft.com/office/drawing/2014/main" val="3509813298"/>
                    </a:ext>
                  </a:extLst>
                </a:gridCol>
                <a:gridCol w="2769219">
                  <a:extLst>
                    <a:ext uri="{9D8B030D-6E8A-4147-A177-3AD203B41FA5}">
                      <a16:colId xmlns:a16="http://schemas.microsoft.com/office/drawing/2014/main" val="1962756448"/>
                    </a:ext>
                  </a:extLst>
                </a:gridCol>
                <a:gridCol w="2488581">
                  <a:extLst>
                    <a:ext uri="{9D8B030D-6E8A-4147-A177-3AD203B41FA5}">
                      <a16:colId xmlns:a16="http://schemas.microsoft.com/office/drawing/2014/main" val="4174439141"/>
                    </a:ext>
                  </a:extLst>
                </a:gridCol>
              </a:tblGrid>
              <a:tr h="0">
                <a:tc>
                  <a:txBody>
                    <a:bodyPr/>
                    <a:lstStyle/>
                    <a:p>
                      <a:pPr>
                        <a:buNone/>
                      </a:pPr>
                      <a:r>
                        <a:rPr lang="en-IN" sz="2000" dirty="0">
                          <a:latin typeface="Times New Roman" panose="02020603050405020304" pitchFamily="18" charset="0"/>
                          <a:cs typeface="Times New Roman" panose="02020603050405020304" pitchFamily="18" charset="0"/>
                        </a:rPr>
                        <a:t>Customer</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Age</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Income</a:t>
                      </a:r>
                    </a:p>
                  </a:txBody>
                  <a:tcPr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Phone</a:t>
                      </a:r>
                    </a:p>
                  </a:txBody>
                  <a:tcPr anchor="ctr">
                    <a:lnL>
                      <a:noFill/>
                    </a:lnL>
                    <a:lnR>
                      <a:noFill/>
                    </a:lnR>
                    <a:lnT>
                      <a:noFill/>
                    </a:lnT>
                    <a:lnB>
                      <a:noFill/>
                    </a:lnB>
                    <a:noFill/>
                  </a:tcPr>
                </a:tc>
                <a:extLst>
                  <a:ext uri="{0D108BD9-81ED-4DB2-BD59-A6C34878D82A}">
                    <a16:rowId xmlns:a16="http://schemas.microsoft.com/office/drawing/2014/main" val="2149189135"/>
                  </a:ext>
                </a:extLst>
              </a:tr>
              <a:tr h="0">
                <a:tc>
                  <a:txBody>
                    <a:bodyPr/>
                    <a:lstStyle/>
                    <a:p>
                      <a:pPr>
                        <a:buNone/>
                      </a:pPr>
                      <a:r>
                        <a:rPr lang="en-IN" sz="2000">
                          <a:latin typeface="Times New Roman" panose="02020603050405020304" pitchFamily="18" charset="0"/>
                          <a:cs typeface="Times New Roman" panose="02020603050405020304" pitchFamily="18" charset="0"/>
                        </a:rPr>
                        <a:t>A</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26</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60000</a:t>
                      </a:r>
                    </a:p>
                  </a:txBody>
                  <a:tcPr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9876543210</a:t>
                      </a:r>
                    </a:p>
                  </a:txBody>
                  <a:tcPr anchor="ctr">
                    <a:lnL>
                      <a:noFill/>
                    </a:lnL>
                    <a:lnR>
                      <a:noFill/>
                    </a:lnR>
                    <a:lnT>
                      <a:noFill/>
                    </a:lnT>
                    <a:lnB>
                      <a:noFill/>
                    </a:lnB>
                    <a:noFill/>
                  </a:tcPr>
                </a:tc>
                <a:extLst>
                  <a:ext uri="{0D108BD9-81ED-4DB2-BD59-A6C34878D82A}">
                    <a16:rowId xmlns:a16="http://schemas.microsoft.com/office/drawing/2014/main" val="2767968776"/>
                  </a:ext>
                </a:extLst>
              </a:tr>
            </a:tbl>
          </a:graphicData>
        </a:graphic>
      </p:graphicFrame>
      <p:sp>
        <p:nvSpPr>
          <p:cNvPr id="7" name="TextBox 6">
            <a:extLst>
              <a:ext uri="{FF2B5EF4-FFF2-40B4-BE49-F238E27FC236}">
                <a16:creationId xmlns:a16="http://schemas.microsoft.com/office/drawing/2014/main" id="{A4137304-B578-213C-8965-C1629140CBE1}"/>
              </a:ext>
            </a:extLst>
          </p:cNvPr>
          <p:cNvSpPr txBox="1"/>
          <p:nvPr/>
        </p:nvSpPr>
        <p:spPr>
          <a:xfrm>
            <a:off x="180278" y="-129141"/>
            <a:ext cx="11831444" cy="3785652"/>
          </a:xfrm>
          <a:prstGeom prst="rect">
            <a:avLst/>
          </a:prstGeom>
          <a:noFill/>
        </p:spPr>
        <p:txBody>
          <a:bodyPr wrap="square">
            <a:spAutoFit/>
          </a:bodyPr>
          <a:lstStyle/>
          <a:p>
            <a:pPr>
              <a:buNone/>
            </a:pPr>
            <a:r>
              <a:rPr lang="en-IN" sz="2000" dirty="0">
                <a:latin typeface="Times New Roman" panose="02020603050405020304" pitchFamily="18" charset="0"/>
                <a:cs typeface="Times New Roman" panose="02020603050405020304" pitchFamily="18" charset="0"/>
              </a:rPr>
              <a:t>Problem 2: Updating old data removes history</a:t>
            </a:r>
          </a:p>
          <a:p>
            <a:pPr>
              <a:buNone/>
            </a:pPr>
            <a:r>
              <a:rPr lang="en-IN" sz="2000" dirty="0">
                <a:latin typeface="Times New Roman" panose="02020603050405020304" pitchFamily="18" charset="0"/>
                <a:cs typeface="Times New Roman" panose="02020603050405020304" pitchFamily="18" charset="0"/>
              </a:rPr>
              <a:t>During campaign:</a:t>
            </a:r>
          </a:p>
          <a:p>
            <a:pPr>
              <a:buNone/>
            </a:pPr>
            <a:endParaRPr lang="en-IN" sz="2000" dirty="0">
              <a:latin typeface="Times New Roman" panose="02020603050405020304" pitchFamily="18" charset="0"/>
              <a:cs typeface="Times New Roman" panose="02020603050405020304" pitchFamily="18" charset="0"/>
            </a:endParaRPr>
          </a:p>
          <a:p>
            <a:pPr>
              <a:buNone/>
            </a:pPr>
            <a:endParaRPr lang="en-IN" sz="2000" dirty="0">
              <a:latin typeface="Times New Roman" panose="02020603050405020304" pitchFamily="18" charset="0"/>
              <a:cs typeface="Times New Roman" panose="02020603050405020304" pitchFamily="18" charset="0"/>
            </a:endParaRPr>
          </a:p>
          <a:p>
            <a:pPr>
              <a:buNone/>
            </a:pPr>
            <a:endParaRPr lang="en-IN" sz="2000" dirty="0">
              <a:latin typeface="Times New Roman" panose="02020603050405020304" pitchFamily="18" charset="0"/>
              <a:cs typeface="Times New Roman" panose="02020603050405020304" pitchFamily="18" charset="0"/>
            </a:endParaRPr>
          </a:p>
          <a:p>
            <a:pPr>
              <a:buNone/>
            </a:pPr>
            <a:endParaRPr lang="en-IN" sz="2000" dirty="0">
              <a:latin typeface="Times New Roman" panose="02020603050405020304" pitchFamily="18" charset="0"/>
              <a:cs typeface="Times New Roman" panose="02020603050405020304" pitchFamily="18" charset="0"/>
            </a:endParaRPr>
          </a:p>
          <a:p>
            <a:pPr>
              <a:buNone/>
            </a:pPr>
            <a:r>
              <a:rPr lang="en-IN" sz="2000" dirty="0">
                <a:latin typeface="Times New Roman" panose="02020603050405020304" pitchFamily="18" charset="0"/>
                <a:cs typeface="Times New Roman" panose="02020603050405020304" pitchFamily="18" charset="0"/>
              </a:rPr>
              <a:t>Later after becoming customer:</a:t>
            </a:r>
          </a:p>
          <a:p>
            <a:pPr>
              <a:buNone/>
            </a:pPr>
            <a:endParaRPr lang="en-IN" sz="2000" dirty="0">
              <a:latin typeface="Times New Roman" panose="02020603050405020304" pitchFamily="18" charset="0"/>
              <a:cs typeface="Times New Roman" panose="02020603050405020304" pitchFamily="18" charset="0"/>
            </a:endParaRPr>
          </a:p>
          <a:p>
            <a:pPr>
              <a:buNone/>
            </a:pPr>
            <a:endParaRPr lang="en-IN" sz="2000" dirty="0">
              <a:latin typeface="Times New Roman" panose="02020603050405020304" pitchFamily="18" charset="0"/>
              <a:cs typeface="Times New Roman" panose="02020603050405020304" pitchFamily="18" charset="0"/>
            </a:endParaRPr>
          </a:p>
          <a:p>
            <a:pPr>
              <a:buNone/>
            </a:pPr>
            <a:endParaRPr lang="en-IN" sz="2000" dirty="0">
              <a:latin typeface="Times New Roman" panose="02020603050405020304" pitchFamily="18" charset="0"/>
              <a:cs typeface="Times New Roman" panose="02020603050405020304" pitchFamily="18" charset="0"/>
            </a:endParaRPr>
          </a:p>
          <a:p>
            <a:pPr>
              <a:buNone/>
            </a:pPr>
            <a:r>
              <a:rPr lang="en-IN" sz="2000" b="1" dirty="0">
                <a:latin typeface="Times New Roman" panose="02020603050405020304" pitchFamily="18" charset="0"/>
                <a:cs typeface="Times New Roman" panose="02020603050405020304" pitchFamily="18" charset="0"/>
              </a:rPr>
              <a:t>The original information is lost. </a:t>
            </a:r>
            <a:r>
              <a:rPr lang="en-IN" sz="2000" dirty="0">
                <a:latin typeface="Times New Roman" panose="02020603050405020304" pitchFamily="18" charset="0"/>
                <a:cs typeface="Times New Roman" panose="02020603050405020304" pitchFamily="18" charset="0"/>
              </a:rPr>
              <a:t>The model should learn from Data available before prediction is during the campaign, not after.</a:t>
            </a:r>
          </a:p>
        </p:txBody>
      </p:sp>
      <p:sp>
        <p:nvSpPr>
          <p:cNvPr id="10" name="TextBox 9">
            <a:extLst>
              <a:ext uri="{FF2B5EF4-FFF2-40B4-BE49-F238E27FC236}">
                <a16:creationId xmlns:a16="http://schemas.microsoft.com/office/drawing/2014/main" id="{E77E005C-F01C-27A5-C64E-6A4627ACE34A}"/>
              </a:ext>
            </a:extLst>
          </p:cNvPr>
          <p:cNvSpPr txBox="1"/>
          <p:nvPr/>
        </p:nvSpPr>
        <p:spPr>
          <a:xfrm>
            <a:off x="302941" y="3656511"/>
            <a:ext cx="10770219" cy="3217612"/>
          </a:xfrm>
          <a:prstGeom prst="rect">
            <a:avLst/>
          </a:prstGeom>
          <a:noFill/>
        </p:spPr>
        <p:txBody>
          <a:bodyPr wrap="square">
            <a:spAutoFit/>
          </a:bodyPr>
          <a:lstStyle/>
          <a:p>
            <a:pPr marL="457200">
              <a:lnSpc>
                <a:spcPct val="107000"/>
              </a:lnSpc>
              <a:spcAft>
                <a:spcPts val="800"/>
              </a:spcAft>
            </a:pPr>
            <a:r>
              <a:rPr lang="en-IN" sz="2000" kern="0" dirty="0">
                <a:effectLst/>
                <a:latin typeface="Times New Roman" panose="02020603050405020304" pitchFamily="18" charset="0"/>
                <a:ea typeface="Times New Roman" panose="02020603050405020304" pitchFamily="18" charset="0"/>
                <a:cs typeface="Times New Roman" panose="02020603050405020304" pitchFamily="18" charset="0"/>
              </a:rPr>
              <a:t>Problem 2: Data leakage means: Using future information that was not available at prediction time.</a:t>
            </a:r>
            <a:r>
              <a:rPr lang="en-IN"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2000" kern="0" dirty="0">
                <a:effectLst/>
                <a:latin typeface="Times New Roman" panose="02020603050405020304" pitchFamily="18" charset="0"/>
                <a:ea typeface="Times New Roman" panose="02020603050405020304" pitchFamily="18" charset="0"/>
                <a:cs typeface="Times New Roman" panose="02020603050405020304" pitchFamily="18" charset="0"/>
              </a:rPr>
              <a:t>The company gets phone numbers only after someone becomes a customer. Training data will become</a:t>
            </a:r>
          </a:p>
          <a:p>
            <a:pPr>
              <a:lnSpc>
                <a:spcPct val="107000"/>
              </a:lnSpc>
              <a:spcAft>
                <a:spcPts val="800"/>
              </a:spcAft>
              <a:buNone/>
            </a:pPr>
            <a:r>
              <a:rPr lang="en-US" sz="2000" kern="0" dirty="0">
                <a:latin typeface="Times New Roman" panose="02020603050405020304" pitchFamily="18" charset="0"/>
                <a:ea typeface="Aptos" panose="020B0004020202020204" pitchFamily="34" charset="0"/>
                <a:cs typeface="Times New Roman" panose="02020603050405020304" pitchFamily="18" charset="0"/>
              </a:rPr>
              <a:t>Lead	Phone Number	Became Customer</a:t>
            </a:r>
          </a:p>
          <a:p>
            <a:pPr>
              <a:lnSpc>
                <a:spcPct val="107000"/>
              </a:lnSpc>
              <a:spcAft>
                <a:spcPts val="800"/>
              </a:spcAft>
              <a:buNone/>
            </a:pPr>
            <a:r>
              <a:rPr lang="en-US" sz="2000" kern="0" dirty="0">
                <a:latin typeface="Times New Roman" panose="02020603050405020304" pitchFamily="18" charset="0"/>
                <a:ea typeface="Aptos" panose="020B0004020202020204" pitchFamily="34" charset="0"/>
                <a:cs typeface="Times New Roman" panose="02020603050405020304" pitchFamily="18" charset="0"/>
              </a:rPr>
              <a:t>A	Yes	                      Yes</a:t>
            </a:r>
          </a:p>
          <a:p>
            <a:pPr>
              <a:lnSpc>
                <a:spcPct val="107000"/>
              </a:lnSpc>
              <a:spcAft>
                <a:spcPts val="800"/>
              </a:spcAft>
              <a:buNone/>
            </a:pPr>
            <a:r>
              <a:rPr lang="en-US" sz="2000" kern="0" dirty="0">
                <a:latin typeface="Times New Roman" panose="02020603050405020304" pitchFamily="18" charset="0"/>
                <a:ea typeface="Aptos" panose="020B0004020202020204" pitchFamily="34" charset="0"/>
                <a:cs typeface="Times New Roman" panose="02020603050405020304" pitchFamily="18" charset="0"/>
              </a:rPr>
              <a:t>B	No	                       No</a:t>
            </a:r>
          </a:p>
          <a:p>
            <a:pPr>
              <a:lnSpc>
                <a:spcPct val="107000"/>
              </a:lnSpc>
              <a:spcAft>
                <a:spcPts val="800"/>
              </a:spcAft>
              <a:buNone/>
            </a:pPr>
            <a:r>
              <a:rPr lang="en-IN" sz="2000" kern="0" dirty="0">
                <a:effectLst/>
                <a:latin typeface="Times New Roman" panose="02020603050405020304" pitchFamily="18" charset="0"/>
                <a:ea typeface="Times New Roman" panose="02020603050405020304" pitchFamily="18" charset="0"/>
                <a:cs typeface="Times New Roman" panose="02020603050405020304" pitchFamily="18" charset="0"/>
              </a:rPr>
              <a:t>The model learns: Has phone number -&gt; Will become customer</a:t>
            </a:r>
            <a:endParaRPr lang="en-IN" sz="20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07000"/>
              </a:lnSpc>
              <a:spcAft>
                <a:spcPts val="800"/>
              </a:spcAft>
              <a:buNone/>
            </a:pPr>
            <a:r>
              <a:rPr lang="en-IN" sz="2000" kern="0" dirty="0">
                <a:effectLst/>
                <a:latin typeface="Times New Roman" panose="02020603050405020304" pitchFamily="18" charset="0"/>
                <a:ea typeface="Times New Roman" panose="02020603050405020304" pitchFamily="18" charset="0"/>
                <a:cs typeface="Times New Roman" panose="02020603050405020304" pitchFamily="18" charset="0"/>
              </a:rPr>
              <a:t>But this is wrong because the phone number came after conversion.</a:t>
            </a:r>
            <a:endParaRPr lang="en-IN" sz="2000"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6163958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99240-F033-1408-CE67-E0CFED4A91A1}"/>
              </a:ext>
            </a:extLst>
          </p:cNvPr>
          <p:cNvSpPr>
            <a:spLocks noGrp="1"/>
          </p:cNvSpPr>
          <p:nvPr>
            <p:ph type="title"/>
          </p:nvPr>
        </p:nvSpPr>
        <p:spPr/>
        <p:txBody>
          <a:bodyPr>
            <a:normAutofit/>
          </a:bodyPr>
          <a:lstStyle/>
          <a:p>
            <a:r>
              <a:rPr lang="en-US" sz="2800" dirty="0">
                <a:latin typeface="Times New Roman" panose="02020603050405020304" pitchFamily="18" charset="0"/>
                <a:cs typeface="Times New Roman" panose="02020603050405020304" pitchFamily="18" charset="0"/>
              </a:rPr>
              <a:t>Reason for obstacles in data which will lead to wrong prediction </a:t>
            </a:r>
            <a:endParaRPr lang="en-IN" sz="28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27E52C2-514B-36ED-6144-483475443230}"/>
              </a:ext>
            </a:extLst>
          </p:cNvPr>
          <p:cNvSpPr txBox="1"/>
          <p:nvPr/>
        </p:nvSpPr>
        <p:spPr>
          <a:xfrm>
            <a:off x="838200" y="1773683"/>
            <a:ext cx="10301868" cy="2215991"/>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Different Tables : </a:t>
            </a:r>
            <a:r>
              <a:rPr lang="en-IN" sz="2400" dirty="0">
                <a:latin typeface="Times New Roman" panose="02020603050405020304" pitchFamily="18" charset="0"/>
                <a:cs typeface="Times New Roman" panose="02020603050405020304" pitchFamily="18" charset="0"/>
              </a:rPr>
              <a:t>Data is stored separately and cannot be linked.</a:t>
            </a:r>
          </a:p>
          <a:p>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History Removed: </a:t>
            </a:r>
            <a:r>
              <a:rPr lang="en-IN" sz="2400" dirty="0">
                <a:latin typeface="Times New Roman" panose="02020603050405020304" pitchFamily="18" charset="0"/>
                <a:cs typeface="Times New Roman" panose="02020603050405020304" pitchFamily="18" charset="0"/>
              </a:rPr>
              <a:t>Old values are overwritten with new ones.</a:t>
            </a:r>
          </a:p>
          <a:p>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Data Leakage : </a:t>
            </a:r>
            <a:r>
              <a:rPr lang="en-IN" sz="2400" dirty="0">
                <a:latin typeface="Times New Roman" panose="02020603050405020304" pitchFamily="18" charset="0"/>
                <a:cs typeface="Times New Roman" panose="02020603050405020304" pitchFamily="18" charset="0"/>
              </a:rPr>
              <a:t>Future information is mistakenly used during training</a:t>
            </a:r>
          </a:p>
          <a:p>
            <a:pPr>
              <a:buNone/>
            </a:pPr>
            <a:endParaRPr lang="en-IN" sz="1800" dirty="0"/>
          </a:p>
        </p:txBody>
      </p:sp>
    </p:spTree>
    <p:extLst>
      <p:ext uri="{BB962C8B-B14F-4D97-AF65-F5344CB8AC3E}">
        <p14:creationId xmlns:p14="http://schemas.microsoft.com/office/powerpoint/2010/main" val="30729085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747F5F-5474-BBC7-30AA-14E22E3A2397}"/>
              </a:ext>
            </a:extLst>
          </p:cNvPr>
          <p:cNvSpPr>
            <a:spLocks noGrp="1"/>
          </p:cNvSpPr>
          <p:nvPr>
            <p:ph idx="1"/>
          </p:nvPr>
        </p:nvSpPr>
        <p:spPr>
          <a:xfrm>
            <a:off x="524107" y="189570"/>
            <a:ext cx="11474606" cy="6668430"/>
          </a:xfrm>
        </p:spPr>
        <p:txBody>
          <a:bodyPr>
            <a:normAutofit lnSpcReduction="10000"/>
          </a:bodyPr>
          <a:lstStyle/>
          <a:p>
            <a:pPr marL="0" indent="0">
              <a:buNone/>
            </a:pPr>
            <a:r>
              <a:rPr lang="en-IN" sz="2400" dirty="0">
                <a:latin typeface="Times New Roman" panose="02020603050405020304" pitchFamily="18" charset="0"/>
                <a:cs typeface="Times New Roman" panose="02020603050405020304" pitchFamily="18" charset="0"/>
              </a:rPr>
              <a:t>Predictive models fail when: Old campaign data cannot be reconstructed,  Important relationships between tables are missing. Updated data replaces historical values, Future information accidentally enters training data (data leakage).</a:t>
            </a:r>
          </a:p>
          <a:p>
            <a:r>
              <a:rPr lang="en-IN" dirty="0"/>
              <a:t> </a:t>
            </a:r>
            <a:r>
              <a:rPr lang="en-IN" b="1" dirty="0">
                <a:latin typeface="Times New Roman" panose="02020603050405020304" pitchFamily="18" charset="0"/>
                <a:cs typeface="Times New Roman" panose="02020603050405020304" pitchFamily="18" charset="0"/>
              </a:rPr>
              <a:t>Obstacles with modelling  </a:t>
            </a:r>
            <a:r>
              <a:rPr lang="en-IN" dirty="0">
                <a:latin typeface="Times New Roman" panose="02020603050405020304" pitchFamily="18" charset="0"/>
                <a:cs typeface="Times New Roman" panose="02020603050405020304" pitchFamily="18" charset="0"/>
              </a:rPr>
              <a:t>: </a:t>
            </a:r>
            <a:r>
              <a:rPr lang="en-IN" dirty="0">
                <a:solidFill>
                  <a:srgbClr val="FF0000"/>
                </a:solidFill>
                <a:latin typeface="Times New Roman" panose="02020603050405020304" pitchFamily="18" charset="0"/>
                <a:cs typeface="Times New Roman" panose="02020603050405020304" pitchFamily="18" charset="0"/>
              </a:rPr>
              <a:t>first challenges in building predictive models is overfitting</a:t>
            </a:r>
            <a:r>
              <a:rPr lang="en-IN" dirty="0">
                <a:latin typeface="Times New Roman" panose="02020603050405020304" pitchFamily="18" charset="0"/>
                <a:cs typeface="Times New Roman" panose="02020603050405020304" pitchFamily="18" charset="0"/>
              </a:rPr>
              <a:t>. Overfitting occurs when a model becomes too complex and memorizes the training data instead of learning general patterns. </a:t>
            </a:r>
          </a:p>
          <a:p>
            <a:pPr lvl="1"/>
            <a:r>
              <a:rPr lang="en-IN" dirty="0">
                <a:latin typeface="Times New Roman" panose="02020603050405020304" pitchFamily="18" charset="0"/>
                <a:cs typeface="Times New Roman" panose="02020603050405020304" pitchFamily="18" charset="0"/>
              </a:rPr>
              <a:t>An overfitted model gives very good results on training data but performs poorly on new/unseen data. The model’s predictions and interpretations become unreliable. </a:t>
            </a:r>
            <a:r>
              <a:rPr lang="en-IN" dirty="0">
                <a:solidFill>
                  <a:srgbClr val="00B050"/>
                </a:solidFill>
                <a:latin typeface="Times New Roman" panose="02020603050405020304" pitchFamily="18" charset="0"/>
                <a:cs typeface="Times New Roman" panose="02020603050405020304" pitchFamily="18" charset="0"/>
              </a:rPr>
              <a:t>If proper testing and validation are not performed during model development, overfitting may only be discovered after deployment. This can cause the predictive model to fail in real-world applications. </a:t>
            </a:r>
          </a:p>
          <a:p>
            <a:r>
              <a:rPr lang="en-IN" dirty="0">
                <a:solidFill>
                  <a:srgbClr val="FF0000"/>
                </a:solidFill>
                <a:latin typeface="Times New Roman" panose="02020603050405020304" pitchFamily="18" charset="0"/>
                <a:cs typeface="Times New Roman" panose="02020603050405020304" pitchFamily="18" charset="0"/>
              </a:rPr>
              <a:t>second challenge in predictive </a:t>
            </a:r>
            <a:r>
              <a:rPr lang="en-IN" dirty="0" err="1">
                <a:solidFill>
                  <a:srgbClr val="FF0000"/>
                </a:solidFill>
                <a:latin typeface="Times New Roman" panose="02020603050405020304" pitchFamily="18" charset="0"/>
                <a:cs typeface="Times New Roman" panose="02020603050405020304" pitchFamily="18" charset="0"/>
              </a:rPr>
              <a:t>modeling</a:t>
            </a:r>
            <a:r>
              <a:rPr lang="en-IN" dirty="0">
                <a:solidFill>
                  <a:srgbClr val="FF0000"/>
                </a:solidFill>
                <a:latin typeface="Times New Roman" panose="02020603050405020304" pitchFamily="18" charset="0"/>
                <a:cs typeface="Times New Roman" panose="02020603050405020304" pitchFamily="18" charset="0"/>
              </a:rPr>
              <a:t> is trying to build a model that is too complex or ambitious</a:t>
            </a:r>
            <a:r>
              <a:rPr lang="en-IN" dirty="0">
                <a:latin typeface="Times New Roman" panose="02020603050405020304" pitchFamily="18" charset="0"/>
                <a:cs typeface="Times New Roman" panose="02020603050405020304" pitchFamily="18" charset="0"/>
              </a:rPr>
              <a:t>. Analysts may attempt to create an advanced model without considering Available data, Project requirements , Time limitations </a:t>
            </a:r>
          </a:p>
          <a:p>
            <a:pPr lvl="1"/>
            <a:r>
              <a:rPr lang="en-IN" dirty="0">
                <a:latin typeface="Times New Roman" panose="02020603050405020304" pitchFamily="18" charset="0"/>
                <a:cs typeface="Times New Roman" panose="02020603050405020304" pitchFamily="18" charset="0"/>
              </a:rPr>
              <a:t>If the complex model cannot be completed on time, the project may fail and no model will be deployed. </a:t>
            </a:r>
            <a:r>
              <a:rPr lang="en-IN" dirty="0">
                <a:solidFill>
                  <a:srgbClr val="00B050"/>
                </a:solidFill>
                <a:latin typeface="Times New Roman" panose="02020603050405020304" pitchFamily="18" charset="0"/>
                <a:cs typeface="Times New Roman" panose="02020603050405020304" pitchFamily="18" charset="0"/>
              </a:rPr>
              <a:t>A better approach is to first develop a simple working model that provides useful predictions. The model can be improved later by adding More data , Better features , Advanced algorithms</a:t>
            </a:r>
          </a:p>
          <a:p>
            <a:pPr marL="457200" lvl="1" indent="0">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9590284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5B1DEA-7EBF-B4E6-755B-890C06A6596B}"/>
              </a:ext>
            </a:extLst>
          </p:cNvPr>
          <p:cNvSpPr>
            <a:spLocks noGrp="1"/>
          </p:cNvSpPr>
          <p:nvPr>
            <p:ph idx="1"/>
          </p:nvPr>
        </p:nvSpPr>
        <p:spPr>
          <a:xfrm>
            <a:off x="267629" y="167268"/>
            <a:ext cx="11641873" cy="45720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Eg: </a:t>
            </a:r>
            <a:r>
              <a:rPr lang="en-IN" sz="2400" dirty="0">
                <a:latin typeface="Times New Roman" panose="02020603050405020304" pitchFamily="18" charset="0"/>
                <a:cs typeface="Times New Roman" panose="02020603050405020304" pitchFamily="18" charset="0"/>
              </a:rPr>
              <a:t>Customer Retention Model Example </a:t>
            </a:r>
          </a:p>
          <a:p>
            <a:pPr marL="0" indent="0">
              <a:buNone/>
            </a:pPr>
            <a:r>
              <a:rPr lang="en-IN" sz="2400" dirty="0">
                <a:latin typeface="Times New Roman" panose="02020603050405020304" pitchFamily="18" charset="0"/>
                <a:cs typeface="Times New Roman" panose="02020603050405020304" pitchFamily="18" charset="0"/>
              </a:rPr>
              <a:t>Predict which customers may leave the company so actions can be taken to retain them.</a:t>
            </a:r>
          </a:p>
          <a:p>
            <a:r>
              <a:rPr lang="en-IN" sz="2400" dirty="0">
                <a:latin typeface="Times New Roman" panose="02020603050405020304" pitchFamily="18" charset="0"/>
                <a:cs typeface="Times New Roman" panose="02020603050405020304" pitchFamily="18" charset="0"/>
              </a:rPr>
              <a:t>A model developer may collect thousands of possible factors like Customer age ,Purchase history , Website visits ,Number of complaints ,Time spent on app ,Payment history ,Discounts used product ratings etc</a:t>
            </a:r>
          </a:p>
          <a:p>
            <a:r>
              <a:rPr lang="en-IN" sz="2400" dirty="0">
                <a:latin typeface="Times New Roman" panose="02020603050405020304" pitchFamily="18" charset="0"/>
                <a:cs typeface="Times New Roman" panose="02020603050405020304" pitchFamily="18" charset="0"/>
              </a:rPr>
              <a:t>The problem Processing thousands of variables takes more time,  Choosing the best combination becomes difficult, The model development may be delayed.</a:t>
            </a:r>
          </a:p>
          <a:p>
            <a:r>
              <a:rPr lang="en-IN" sz="2400" dirty="0">
                <a:latin typeface="Times New Roman" panose="02020603050405020304" pitchFamily="18" charset="0"/>
                <a:cs typeface="Times New Roman" panose="02020603050405020304" pitchFamily="18" charset="0"/>
              </a:rPr>
              <a:t>Better Approach is an experienced analyst already knows some important predictors so used important variables only.</a:t>
            </a:r>
          </a:p>
        </p:txBody>
      </p:sp>
      <p:graphicFrame>
        <p:nvGraphicFramePr>
          <p:cNvPr id="4" name="Table 3">
            <a:extLst>
              <a:ext uri="{FF2B5EF4-FFF2-40B4-BE49-F238E27FC236}">
                <a16:creationId xmlns:a16="http://schemas.microsoft.com/office/drawing/2014/main" id="{BE11C330-755A-A838-C677-D2A6A58ABAB3}"/>
              </a:ext>
            </a:extLst>
          </p:cNvPr>
          <p:cNvGraphicFramePr>
            <a:graphicFrameLocks noGrp="1"/>
          </p:cNvGraphicFramePr>
          <p:nvPr>
            <p:extLst>
              <p:ext uri="{D42A27DB-BD31-4B8C-83A1-F6EECF244321}">
                <p14:modId xmlns:p14="http://schemas.microsoft.com/office/powerpoint/2010/main" val="3110498761"/>
              </p:ext>
            </p:extLst>
          </p:nvPr>
        </p:nvGraphicFramePr>
        <p:xfrm>
          <a:off x="525966" y="4315522"/>
          <a:ext cx="10515600" cy="1981200"/>
        </p:xfrm>
        <a:graphic>
          <a:graphicData uri="http://schemas.openxmlformats.org/drawingml/2006/table">
            <a:tbl>
              <a:tblPr/>
              <a:tblGrid>
                <a:gridCol w="5257800">
                  <a:extLst>
                    <a:ext uri="{9D8B030D-6E8A-4147-A177-3AD203B41FA5}">
                      <a16:colId xmlns:a16="http://schemas.microsoft.com/office/drawing/2014/main" val="154901029"/>
                    </a:ext>
                  </a:extLst>
                </a:gridCol>
                <a:gridCol w="5257800">
                  <a:extLst>
                    <a:ext uri="{9D8B030D-6E8A-4147-A177-3AD203B41FA5}">
                      <a16:colId xmlns:a16="http://schemas.microsoft.com/office/drawing/2014/main" val="821948577"/>
                    </a:ext>
                  </a:extLst>
                </a:gridCol>
              </a:tblGrid>
              <a:tr h="0">
                <a:tc>
                  <a:txBody>
                    <a:bodyPr/>
                    <a:lstStyle/>
                    <a:p>
                      <a:pPr>
                        <a:buNone/>
                      </a:pPr>
                      <a:r>
                        <a:rPr lang="en-IN" sz="2000" dirty="0">
                          <a:latin typeface="Times New Roman" panose="02020603050405020304" pitchFamily="18" charset="0"/>
                          <a:cs typeface="Times New Roman" panose="02020603050405020304" pitchFamily="18" charset="0"/>
                        </a:rPr>
                        <a:t>Variable</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Why useful</a:t>
                      </a:r>
                    </a:p>
                  </a:txBody>
                  <a:tcPr anchor="ctr">
                    <a:lnL>
                      <a:noFill/>
                    </a:lnL>
                    <a:lnR>
                      <a:noFill/>
                    </a:lnR>
                    <a:lnT>
                      <a:noFill/>
                    </a:lnT>
                    <a:lnB>
                      <a:noFill/>
                    </a:lnB>
                    <a:noFill/>
                  </a:tcPr>
                </a:tc>
                <a:extLst>
                  <a:ext uri="{0D108BD9-81ED-4DB2-BD59-A6C34878D82A}">
                    <a16:rowId xmlns:a16="http://schemas.microsoft.com/office/drawing/2014/main" val="1388211023"/>
                  </a:ext>
                </a:extLst>
              </a:tr>
              <a:tr h="0">
                <a:tc>
                  <a:txBody>
                    <a:bodyPr/>
                    <a:lstStyle/>
                    <a:p>
                      <a:pPr>
                        <a:buNone/>
                      </a:pPr>
                      <a:r>
                        <a:rPr lang="en-IN" sz="2000" dirty="0">
                          <a:latin typeface="Times New Roman" panose="02020603050405020304" pitchFamily="18" charset="0"/>
                          <a:cs typeface="Times New Roman" panose="02020603050405020304" pitchFamily="18" charset="0"/>
                        </a:rPr>
                        <a:t>Number of complaints</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More complaints → higher chance of leaving</a:t>
                      </a:r>
                    </a:p>
                  </a:txBody>
                  <a:tcPr anchor="ctr">
                    <a:lnL>
                      <a:noFill/>
                    </a:lnL>
                    <a:lnR>
                      <a:noFill/>
                    </a:lnR>
                    <a:lnT>
                      <a:noFill/>
                    </a:lnT>
                    <a:lnB>
                      <a:noFill/>
                    </a:lnB>
                    <a:noFill/>
                  </a:tcPr>
                </a:tc>
                <a:extLst>
                  <a:ext uri="{0D108BD9-81ED-4DB2-BD59-A6C34878D82A}">
                    <a16:rowId xmlns:a16="http://schemas.microsoft.com/office/drawing/2014/main" val="1648945166"/>
                  </a:ext>
                </a:extLst>
              </a:tr>
              <a:tr h="0">
                <a:tc>
                  <a:txBody>
                    <a:bodyPr/>
                    <a:lstStyle/>
                    <a:p>
                      <a:pPr>
                        <a:buNone/>
                      </a:pPr>
                      <a:r>
                        <a:rPr lang="en-IN" sz="2000">
                          <a:latin typeface="Times New Roman" panose="02020603050405020304" pitchFamily="18" charset="0"/>
                          <a:cs typeface="Times New Roman" panose="02020603050405020304" pitchFamily="18" charset="0"/>
                        </a:rPr>
                        <a:t>Last login date</a:t>
                      </a:r>
                    </a:p>
                  </a:txBody>
                  <a:tcPr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Inactive users may leave</a:t>
                      </a:r>
                    </a:p>
                  </a:txBody>
                  <a:tcPr anchor="ctr">
                    <a:lnL>
                      <a:noFill/>
                    </a:lnL>
                    <a:lnR>
                      <a:noFill/>
                    </a:lnR>
                    <a:lnT>
                      <a:noFill/>
                    </a:lnT>
                    <a:lnB>
                      <a:noFill/>
                    </a:lnB>
                    <a:noFill/>
                  </a:tcPr>
                </a:tc>
                <a:extLst>
                  <a:ext uri="{0D108BD9-81ED-4DB2-BD59-A6C34878D82A}">
                    <a16:rowId xmlns:a16="http://schemas.microsoft.com/office/drawing/2014/main" val="2033842766"/>
                  </a:ext>
                </a:extLst>
              </a:tr>
              <a:tr h="0">
                <a:tc>
                  <a:txBody>
                    <a:bodyPr/>
                    <a:lstStyle/>
                    <a:p>
                      <a:pPr>
                        <a:buNone/>
                      </a:pPr>
                      <a:r>
                        <a:rPr lang="en-IN" sz="2000">
                          <a:latin typeface="Times New Roman" panose="02020603050405020304" pitchFamily="18" charset="0"/>
                          <a:cs typeface="Times New Roman" panose="02020603050405020304" pitchFamily="18" charset="0"/>
                        </a:rPr>
                        <a:t>Purchase frequency</a:t>
                      </a:r>
                    </a:p>
                  </a:txBody>
                  <a:tcPr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Less buying → risk of leaving</a:t>
                      </a:r>
                    </a:p>
                  </a:txBody>
                  <a:tcPr anchor="ctr">
                    <a:lnL>
                      <a:noFill/>
                    </a:lnL>
                    <a:lnR>
                      <a:noFill/>
                    </a:lnR>
                    <a:lnT>
                      <a:noFill/>
                    </a:lnT>
                    <a:lnB>
                      <a:noFill/>
                    </a:lnB>
                    <a:noFill/>
                  </a:tcPr>
                </a:tc>
                <a:extLst>
                  <a:ext uri="{0D108BD9-81ED-4DB2-BD59-A6C34878D82A}">
                    <a16:rowId xmlns:a16="http://schemas.microsoft.com/office/drawing/2014/main" val="3816161977"/>
                  </a:ext>
                </a:extLst>
              </a:tr>
              <a:tr h="0">
                <a:tc>
                  <a:txBody>
                    <a:bodyPr/>
                    <a:lstStyle/>
                    <a:p>
                      <a:pPr>
                        <a:buNone/>
                      </a:pPr>
                      <a:r>
                        <a:rPr lang="en-IN" sz="2000" dirty="0">
                          <a:latin typeface="Times New Roman" panose="02020603050405020304" pitchFamily="18" charset="0"/>
                          <a:cs typeface="Times New Roman" panose="02020603050405020304" pitchFamily="18" charset="0"/>
                        </a:rPr>
                        <a:t>Customer satisfaction score</a:t>
                      </a:r>
                    </a:p>
                  </a:txBody>
                  <a:tcPr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Low score → churn risk</a:t>
                      </a:r>
                    </a:p>
                  </a:txBody>
                  <a:tcPr anchor="ctr">
                    <a:lnL>
                      <a:noFill/>
                    </a:lnL>
                    <a:lnR>
                      <a:noFill/>
                    </a:lnR>
                    <a:lnT>
                      <a:noFill/>
                    </a:lnT>
                    <a:lnB>
                      <a:noFill/>
                    </a:lnB>
                    <a:noFill/>
                  </a:tcPr>
                </a:tc>
                <a:extLst>
                  <a:ext uri="{0D108BD9-81ED-4DB2-BD59-A6C34878D82A}">
                    <a16:rowId xmlns:a16="http://schemas.microsoft.com/office/drawing/2014/main" val="1257381242"/>
                  </a:ext>
                </a:extLst>
              </a:tr>
            </a:tbl>
          </a:graphicData>
        </a:graphic>
      </p:graphicFrame>
    </p:spTree>
    <p:extLst>
      <p:ext uri="{BB962C8B-B14F-4D97-AF65-F5344CB8AC3E}">
        <p14:creationId xmlns:p14="http://schemas.microsoft.com/office/powerpoint/2010/main" val="21315018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2C3ED4-D7E9-ADA3-73A8-6CACB1E1A0B7}"/>
              </a:ext>
            </a:extLst>
          </p:cNvPr>
          <p:cNvSpPr>
            <a:spLocks noGrp="1"/>
          </p:cNvSpPr>
          <p:nvPr>
            <p:ph idx="1"/>
          </p:nvPr>
        </p:nvSpPr>
        <p:spPr>
          <a:xfrm>
            <a:off x="100361" y="122663"/>
            <a:ext cx="11976410" cy="6735337"/>
          </a:xfrm>
        </p:spPr>
        <p:txBody>
          <a:bodyPr>
            <a:normAutofit fontScale="77500" lnSpcReduction="20000"/>
          </a:bodyPr>
          <a:lstStyle/>
          <a:p>
            <a:r>
              <a:rPr lang="en-IN" b="1" dirty="0">
                <a:latin typeface="Times New Roman" panose="02020603050405020304" pitchFamily="18" charset="0"/>
                <a:cs typeface="Times New Roman" panose="02020603050405020304" pitchFamily="18" charset="0"/>
              </a:rPr>
              <a:t>Obstacles with deployment : </a:t>
            </a:r>
            <a:r>
              <a:rPr lang="en-IN" dirty="0">
                <a:latin typeface="Times New Roman" panose="02020603050405020304" pitchFamily="18" charset="0"/>
                <a:cs typeface="Times New Roman" panose="02020603050405020304" pitchFamily="18" charset="0"/>
              </a:rPr>
              <a:t>Predictive models can fail during the deployment stage, even if the model works well during development.  The model must be integrated with the organization’s operational systems to generate real-time predictions.  Models need to be converted into a format or programming language supported by the system. </a:t>
            </a:r>
          </a:p>
          <a:p>
            <a:pPr marL="0" indent="0">
              <a:buNone/>
            </a:pPr>
            <a:r>
              <a:rPr lang="en-IN" dirty="0">
                <a:latin typeface="Times New Roman" panose="02020603050405020304" pitchFamily="18" charset="0"/>
                <a:cs typeface="Times New Roman" panose="02020603050405020304" pitchFamily="18" charset="0"/>
              </a:rPr>
              <a:t>Eg: SQL , Java , C++ , Other high-level languages </a:t>
            </a:r>
          </a:p>
          <a:p>
            <a:r>
              <a:rPr lang="en-IN" dirty="0">
                <a:latin typeface="Times New Roman" panose="02020603050405020304" pitchFamily="18" charset="0"/>
                <a:cs typeface="Times New Roman" panose="02020603050405020304" pitchFamily="18" charset="0"/>
              </a:rPr>
              <a:t>If the model is not translated correctly, it cannot be used in real-world applications. </a:t>
            </a:r>
          </a:p>
          <a:p>
            <a:pPr marL="0" indent="0">
              <a:buNone/>
            </a:pPr>
            <a:r>
              <a:rPr lang="en-IN" dirty="0">
                <a:solidFill>
                  <a:schemeClr val="accent2"/>
                </a:solidFill>
                <a:latin typeface="Times New Roman" panose="02020603050405020304" pitchFamily="18" charset="0"/>
                <a:cs typeface="Times New Roman" panose="02020603050405020304" pitchFamily="18" charset="0"/>
              </a:rPr>
              <a:t>Data Preparation Issues During Deployment :  </a:t>
            </a:r>
          </a:p>
          <a:p>
            <a:r>
              <a:rPr lang="en-IN" dirty="0">
                <a:latin typeface="Times New Roman" panose="02020603050405020304" pitchFamily="18" charset="0"/>
                <a:cs typeface="Times New Roman" panose="02020603050405020304" pitchFamily="18" charset="0"/>
              </a:rPr>
              <a:t>The same data preparation steps used during model building must be repeated during deployment. </a:t>
            </a:r>
          </a:p>
          <a:p>
            <a:r>
              <a:rPr lang="en-IN" dirty="0">
                <a:latin typeface="Times New Roman" panose="02020603050405020304" pitchFamily="18" charset="0"/>
                <a:cs typeface="Times New Roman" panose="02020603050405020304" pitchFamily="18" charset="0"/>
              </a:rPr>
              <a:t>Data from multiple tables must be Collected , Joined , Converted into the required format </a:t>
            </a:r>
          </a:p>
          <a:p>
            <a:r>
              <a:rPr lang="en-IN" dirty="0">
                <a:latin typeface="Times New Roman" panose="02020603050405020304" pitchFamily="18" charset="0"/>
                <a:cs typeface="Times New Roman" panose="02020603050405020304" pitchFamily="18" charset="0"/>
              </a:rPr>
              <a:t>Complex data processing can delay real-time predictions.</a:t>
            </a:r>
          </a:p>
          <a:p>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Eg: Website Content Recommendation</a:t>
            </a:r>
          </a:p>
          <a:p>
            <a:r>
              <a:rPr lang="en-IN" dirty="0">
                <a:latin typeface="Times New Roman" panose="02020603050405020304" pitchFamily="18" charset="0"/>
                <a:cs typeface="Times New Roman" panose="02020603050405020304" pitchFamily="18" charset="0"/>
              </a:rPr>
              <a:t>A model predicts:  Which content should be shown to a website visitor? </a:t>
            </a:r>
          </a:p>
          <a:p>
            <a:r>
              <a:rPr lang="en-IN" dirty="0">
                <a:latin typeface="Times New Roman" panose="02020603050405020304" pitchFamily="18" charset="0"/>
                <a:cs typeface="Times New Roman" panose="02020603050405020304" pitchFamily="18" charset="0"/>
              </a:rPr>
              <a:t>Required data: Previous browsing history , User preferences , Past interactions</a:t>
            </a:r>
          </a:p>
          <a:p>
            <a:pPr marL="0" indent="0">
              <a:buNone/>
            </a:pPr>
            <a:r>
              <a:rPr lang="en-IN" dirty="0">
                <a:latin typeface="Times New Roman" panose="02020603050405020304" pitchFamily="18" charset="0"/>
                <a:cs typeface="Times New Roman" panose="02020603050405020304" pitchFamily="18" charset="0"/>
              </a:rPr>
              <a:t>When User visits website </a:t>
            </a:r>
            <a:r>
              <a:rPr lang="en-IN" dirty="0">
                <a:latin typeface="Times New Roman" panose="02020603050405020304" pitchFamily="18" charset="0"/>
                <a:cs typeface="Times New Roman" panose="02020603050405020304" pitchFamily="18" charset="0"/>
                <a:sym typeface="Wingdings" panose="05000000000000000000" pitchFamily="2" charset="2"/>
              </a:rPr>
              <a:t></a:t>
            </a:r>
            <a:r>
              <a:rPr lang="en-IN" dirty="0">
                <a:latin typeface="Times New Roman" panose="02020603050405020304" pitchFamily="18" charset="0"/>
                <a:cs typeface="Times New Roman" panose="02020603050405020304" pitchFamily="18" charset="0"/>
              </a:rPr>
              <a:t>Collect user data </a:t>
            </a:r>
            <a:r>
              <a:rPr lang="en-IN" dirty="0">
                <a:latin typeface="Times New Roman" panose="02020603050405020304" pitchFamily="18" charset="0"/>
                <a:cs typeface="Times New Roman" panose="02020603050405020304" pitchFamily="18" charset="0"/>
                <a:sym typeface="Wingdings" panose="05000000000000000000" pitchFamily="2" charset="2"/>
              </a:rPr>
              <a:t></a:t>
            </a:r>
            <a:r>
              <a:rPr lang="en-IN" dirty="0">
                <a:latin typeface="Times New Roman" panose="02020603050405020304" pitchFamily="18" charset="0"/>
                <a:cs typeface="Times New Roman" panose="02020603050405020304" pitchFamily="18" charset="0"/>
              </a:rPr>
              <a:t>Apply predictive model</a:t>
            </a:r>
            <a:r>
              <a:rPr lang="en-IN" dirty="0">
                <a:latin typeface="Times New Roman" panose="02020603050405020304" pitchFamily="18" charset="0"/>
                <a:cs typeface="Times New Roman" panose="02020603050405020304" pitchFamily="18" charset="0"/>
                <a:sym typeface="Wingdings" panose="05000000000000000000" pitchFamily="2" charset="2"/>
              </a:rPr>
              <a:t></a:t>
            </a:r>
            <a:r>
              <a:rPr lang="en-IN" dirty="0">
                <a:latin typeface="Times New Roman" panose="02020603050405020304" pitchFamily="18" charset="0"/>
                <a:cs typeface="Times New Roman" panose="02020603050405020304" pitchFamily="18" charset="0"/>
              </a:rPr>
              <a:t> Recommend content</a:t>
            </a:r>
            <a:r>
              <a:rPr lang="en-IN" dirty="0">
                <a:latin typeface="Times New Roman" panose="02020603050405020304" pitchFamily="18" charset="0"/>
                <a:cs typeface="Times New Roman" panose="02020603050405020304" pitchFamily="18" charset="0"/>
                <a:sym typeface="Wingdings" panose="05000000000000000000" pitchFamily="2" charset="2"/>
              </a:rPr>
              <a:t></a:t>
            </a:r>
            <a:r>
              <a:rPr lang="en-IN" dirty="0">
                <a:latin typeface="Times New Roman" panose="02020603050405020304" pitchFamily="18" charset="0"/>
                <a:cs typeface="Times New Roman" panose="02020603050405020304" pitchFamily="18" charset="0"/>
              </a:rPr>
              <a:t> Display webpage</a:t>
            </a:r>
          </a:p>
          <a:p>
            <a:pPr marL="0" indent="0">
              <a:buNone/>
            </a:pPr>
            <a:r>
              <a:rPr lang="en-IN" dirty="0">
                <a:latin typeface="Times New Roman" panose="02020603050405020304" pitchFamily="18" charset="0"/>
                <a:cs typeface="Times New Roman" panose="02020603050405020304" pitchFamily="18" charset="0"/>
              </a:rPr>
              <a:t>Challenge: </a:t>
            </a:r>
          </a:p>
          <a:p>
            <a:r>
              <a:rPr lang="en-IN" dirty="0">
                <a:latin typeface="Times New Roman" panose="02020603050405020304" pitchFamily="18" charset="0"/>
                <a:cs typeface="Times New Roman" panose="02020603050405020304" pitchFamily="18" charset="0"/>
              </a:rPr>
              <a:t>The page must load within seconds. </a:t>
            </a:r>
          </a:p>
          <a:p>
            <a:r>
              <a:rPr lang="en-IN" dirty="0">
                <a:latin typeface="Times New Roman" panose="02020603050405020304" pitchFamily="18" charset="0"/>
                <a:cs typeface="Times New Roman" panose="02020603050405020304" pitchFamily="18" charset="0"/>
              </a:rPr>
              <a:t>Data collection + processing + prediction must happen quickly</a:t>
            </a:r>
          </a:p>
          <a:p>
            <a:pPr marL="0" indent="0">
              <a:buNone/>
            </a:pPr>
            <a:endParaRPr lang="en-IN" sz="2000"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7004415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AEFAF-DA97-2214-5F76-D866F89914A0}"/>
              </a:ext>
            </a:extLst>
          </p:cNvPr>
          <p:cNvSpPr>
            <a:spLocks noGrp="1"/>
          </p:cNvSpPr>
          <p:nvPr>
            <p:ph type="title"/>
          </p:nvPr>
        </p:nvSpPr>
        <p:spPr>
          <a:xfrm>
            <a:off x="314092" y="-114377"/>
            <a:ext cx="10515600" cy="1325563"/>
          </a:xfrm>
        </p:spPr>
        <p:txBody>
          <a:bodyPr/>
          <a:lstStyle/>
          <a:p>
            <a:r>
              <a:rPr lang="en-US" dirty="0"/>
              <a:t>Applications of predictive analytics</a:t>
            </a:r>
            <a:endParaRPr lang="en-IN" dirty="0"/>
          </a:p>
        </p:txBody>
      </p:sp>
      <p:sp>
        <p:nvSpPr>
          <p:cNvPr id="3" name="Content Placeholder 2">
            <a:extLst>
              <a:ext uri="{FF2B5EF4-FFF2-40B4-BE49-F238E27FC236}">
                <a16:creationId xmlns:a16="http://schemas.microsoft.com/office/drawing/2014/main" id="{018EBE5C-05F0-D325-DE1A-82AB5A19D452}"/>
              </a:ext>
            </a:extLst>
          </p:cNvPr>
          <p:cNvSpPr>
            <a:spLocks noGrp="1"/>
          </p:cNvSpPr>
          <p:nvPr>
            <p:ph idx="1"/>
          </p:nvPr>
        </p:nvSpPr>
        <p:spPr>
          <a:xfrm>
            <a:off x="838199" y="1037063"/>
            <a:ext cx="11039709" cy="5408341"/>
          </a:xfrm>
        </p:spPr>
        <p:txBody>
          <a:bodyPr>
            <a:normAutofit fontScale="92500" lnSpcReduction="10000"/>
          </a:bodyPr>
          <a:lstStyle/>
          <a:p>
            <a:pPr marL="0" indent="0">
              <a:buNone/>
            </a:pPr>
            <a:r>
              <a:rPr lang="en-IN" b="1" dirty="0">
                <a:latin typeface="Times New Roman" panose="02020603050405020304" pitchFamily="18" charset="0"/>
                <a:cs typeface="Times New Roman" panose="02020603050405020304" pitchFamily="18" charset="0"/>
              </a:rPr>
              <a:t>1. Forecasting</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Predicts future values using historical data. </a:t>
            </a:r>
          </a:p>
          <a:p>
            <a:pPr marL="0" indent="0">
              <a:buNone/>
            </a:pPr>
            <a:r>
              <a:rPr lang="en-IN" dirty="0">
                <a:latin typeface="Times New Roman" panose="02020603050405020304" pitchFamily="18" charset="0"/>
                <a:cs typeface="Times New Roman" panose="02020603050405020304" pitchFamily="18" charset="0"/>
              </a:rPr>
              <a:t>	Example: Stock price prediction, sales prediction, weather prediction. </a:t>
            </a:r>
          </a:p>
          <a:p>
            <a:pPr marL="0" indent="0">
              <a:buNone/>
            </a:pPr>
            <a:r>
              <a:rPr lang="en-IN" b="1" dirty="0">
                <a:latin typeface="Times New Roman" panose="02020603050405020304" pitchFamily="18" charset="0"/>
                <a:cs typeface="Times New Roman" panose="02020603050405020304" pitchFamily="18" charset="0"/>
              </a:rPr>
              <a:t>2. Classification</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Predicts a category/class. </a:t>
            </a:r>
          </a:p>
          <a:p>
            <a:pPr marL="0" indent="0">
              <a:buNone/>
            </a:pPr>
            <a:r>
              <a:rPr lang="en-IN" dirty="0">
                <a:latin typeface="Times New Roman" panose="02020603050405020304" pitchFamily="18" charset="0"/>
                <a:cs typeface="Times New Roman" panose="02020603050405020304" pitchFamily="18" charset="0"/>
              </a:rPr>
              <a:t>	Example: Customer will buy loan → Yes/No, spam detection. </a:t>
            </a:r>
          </a:p>
          <a:p>
            <a:pPr marL="0" indent="0">
              <a:buNone/>
            </a:pPr>
            <a:r>
              <a:rPr lang="en-IN" b="1" dirty="0">
                <a:latin typeface="Times New Roman" panose="02020603050405020304" pitchFamily="18" charset="0"/>
                <a:cs typeface="Times New Roman" panose="02020603050405020304" pitchFamily="18" charset="0"/>
              </a:rPr>
              <a:t>3. Optimization</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Finds the best possible decision. </a:t>
            </a:r>
          </a:p>
          <a:p>
            <a:pPr marL="0" indent="0">
              <a:buNone/>
            </a:pPr>
            <a:r>
              <a:rPr lang="en-IN" dirty="0">
                <a:latin typeface="Times New Roman" panose="02020603050405020304" pitchFamily="18" charset="0"/>
                <a:cs typeface="Times New Roman" panose="02020603050405020304" pitchFamily="18" charset="0"/>
              </a:rPr>
              <a:t>	Example: Best investment allocation, route planning. </a:t>
            </a:r>
          </a:p>
          <a:p>
            <a:pPr marL="0" indent="0">
              <a:buNone/>
            </a:pPr>
            <a:r>
              <a:rPr lang="en-IN" b="1" dirty="0">
                <a:latin typeface="Times New Roman" panose="02020603050405020304" pitchFamily="18" charset="0"/>
                <a:cs typeface="Times New Roman" panose="02020603050405020304" pitchFamily="18" charset="0"/>
              </a:rPr>
              <a:t>4. Unsupervised Learning</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Finds hidden patterns without predefined labels. </a:t>
            </a:r>
          </a:p>
          <a:p>
            <a:pPr marL="0" indent="0">
              <a:buNone/>
            </a:pPr>
            <a:r>
              <a:rPr lang="en-IN" dirty="0">
                <a:latin typeface="Times New Roman" panose="02020603050405020304" pitchFamily="18" charset="0"/>
                <a:cs typeface="Times New Roman" panose="02020603050405020304" pitchFamily="18" charset="0"/>
              </a:rPr>
              <a:t>	Example: Customer segmentation, patient grouping.</a:t>
            </a:r>
          </a:p>
          <a:p>
            <a:endParaRPr lang="en-IN" dirty="0"/>
          </a:p>
        </p:txBody>
      </p:sp>
    </p:spTree>
    <p:extLst>
      <p:ext uri="{BB962C8B-B14F-4D97-AF65-F5344CB8AC3E}">
        <p14:creationId xmlns:p14="http://schemas.microsoft.com/office/powerpoint/2010/main" val="34771747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16393-DACD-F162-C244-7890E1209CC9}"/>
              </a:ext>
            </a:extLst>
          </p:cNvPr>
          <p:cNvSpPr>
            <a:spLocks noGrp="1"/>
          </p:cNvSpPr>
          <p:nvPr>
            <p:ph type="title"/>
          </p:nvPr>
        </p:nvSpPr>
        <p:spPr>
          <a:xfrm>
            <a:off x="213731" y="-505505"/>
            <a:ext cx="10515600" cy="1325563"/>
          </a:xfrm>
        </p:spPr>
        <p:txBody>
          <a:bodyPr>
            <a:normAutofit/>
          </a:bodyPr>
          <a:lstStyle/>
          <a:p>
            <a:r>
              <a:rPr lang="en-US" sz="2800" dirty="0">
                <a:solidFill>
                  <a:srgbClr val="FF0000"/>
                </a:solidFill>
                <a:latin typeface="Times New Roman" panose="02020603050405020304" pitchFamily="18" charset="0"/>
                <a:cs typeface="Times New Roman" panose="02020603050405020304" pitchFamily="18" charset="0"/>
              </a:rPr>
              <a:t>Setting up the problem using CRISP-DM process model</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C242F76-DD7F-3806-2135-A15CFAC38F7E}"/>
              </a:ext>
            </a:extLst>
          </p:cNvPr>
          <p:cNvSpPr>
            <a:spLocks noGrp="1"/>
          </p:cNvSpPr>
          <p:nvPr>
            <p:ph idx="1"/>
          </p:nvPr>
        </p:nvSpPr>
        <p:spPr>
          <a:xfrm>
            <a:off x="203210" y="383393"/>
            <a:ext cx="11988789" cy="663049"/>
          </a:xfrm>
        </p:spPr>
        <p:txBody>
          <a:bodyPr>
            <a:normAutofit/>
          </a:bodyPr>
          <a:lstStyle/>
          <a:p>
            <a:r>
              <a:rPr lang="en-IN" sz="2000" dirty="0">
                <a:latin typeface="Times New Roman" panose="02020603050405020304" pitchFamily="18" charset="0"/>
                <a:cs typeface="Times New Roman" panose="02020603050405020304" pitchFamily="18" charset="0"/>
              </a:rPr>
              <a:t>The Cross-Industry Standard Process Model for Data Mining (CRISP-DM) describes the six steps </a:t>
            </a:r>
            <a:r>
              <a:rPr lang="en-IN" sz="2000" dirty="0"/>
              <a:t>need to be completed in the process of building models.</a:t>
            </a:r>
            <a:endParaRPr lang="en-IN" sz="20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EACC3FA7-2351-2CAD-A63F-2A0FCACBC6A9}"/>
              </a:ext>
            </a:extLst>
          </p:cNvPr>
          <p:cNvSpPr txBox="1"/>
          <p:nvPr/>
        </p:nvSpPr>
        <p:spPr>
          <a:xfrm>
            <a:off x="6185688" y="3694392"/>
            <a:ext cx="6006312" cy="3170099"/>
          </a:xfrm>
          <a:prstGeom prst="rect">
            <a:avLst/>
          </a:prstGeom>
          <a:noFill/>
        </p:spPr>
        <p:txBody>
          <a:bodyPr wrap="square">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Feedback loops show how the predictive analytics process can be modified and improved during a project.</a:t>
            </a:r>
          </a:p>
          <a:p>
            <a:pPr marL="457200" indent="-457200">
              <a:buAutoNum type="arabicPeriod"/>
            </a:pPr>
            <a:r>
              <a:rPr lang="en-US" sz="2000" dirty="0">
                <a:latin typeface="Times New Roman" panose="02020603050405020304" pitchFamily="18" charset="0"/>
                <a:cs typeface="Times New Roman" panose="02020603050405020304" pitchFamily="18" charset="0"/>
              </a:rPr>
              <a:t>After defining business objectives, the available data is analyzed during the data understanding phase. </a:t>
            </a:r>
          </a:p>
          <a:p>
            <a:pPr marL="457200" indent="-457200">
              <a:buAutoNum type="arabicPeriod"/>
            </a:pPr>
            <a:r>
              <a:rPr lang="en-US" sz="2000" dirty="0">
                <a:latin typeface="Times New Roman" panose="02020603050405020304" pitchFamily="18" charset="0"/>
                <a:cs typeface="Times New Roman" panose="02020603050405020304" pitchFamily="18" charset="0"/>
              </a:rPr>
              <a:t>If the data has problems such as Insufficient quantity and  Poor data quality, the business objectives may need to be redefined based on available data. The project may move back to earlier stages instead of continuing with poor data.</a:t>
            </a:r>
          </a:p>
        </p:txBody>
      </p:sp>
      <p:sp>
        <p:nvSpPr>
          <p:cNvPr id="19" name="TextBox 18">
            <a:extLst>
              <a:ext uri="{FF2B5EF4-FFF2-40B4-BE49-F238E27FC236}">
                <a16:creationId xmlns:a16="http://schemas.microsoft.com/office/drawing/2014/main" id="{BDF32C6E-4226-A280-8FCB-E17DD0EE3A32}"/>
              </a:ext>
            </a:extLst>
          </p:cNvPr>
          <p:cNvSpPr txBox="1"/>
          <p:nvPr/>
        </p:nvSpPr>
        <p:spPr>
          <a:xfrm>
            <a:off x="43976" y="5076901"/>
            <a:ext cx="6175168" cy="1631216"/>
          </a:xfrm>
          <a:prstGeom prst="rect">
            <a:avLst/>
          </a:prstGeom>
          <a:noFill/>
        </p:spPr>
        <p:txBody>
          <a:bodyPr wrap="square">
            <a:spAutoFit/>
          </a:bodyPr>
          <a:lstStyle/>
          <a:p>
            <a:pPr algn="just"/>
            <a:r>
              <a:rPr lang="en-IN" sz="2000" dirty="0">
                <a:latin typeface="Times New Roman" panose="02020603050405020304" pitchFamily="18" charset="0"/>
                <a:cs typeface="Times New Roman" panose="02020603050405020304" pitchFamily="18" charset="0"/>
              </a:rPr>
              <a:t>3. If a developed model gives low accuracy, the data preparation step is revisited.  New features or derived variables can be created to improve model performance. </a:t>
            </a:r>
          </a:p>
          <a:p>
            <a:r>
              <a:rPr lang="en-IN" sz="2000" dirty="0">
                <a:latin typeface="Times New Roman" panose="02020603050405020304" pitchFamily="18" charset="0"/>
                <a:cs typeface="Times New Roman" panose="02020603050405020304" pitchFamily="18" charset="0"/>
              </a:rPr>
              <a:t>4. Predictive </a:t>
            </a:r>
            <a:r>
              <a:rPr lang="en-IN" sz="2000" dirty="0" err="1">
                <a:latin typeface="Times New Roman" panose="02020603050405020304" pitchFamily="18" charset="0"/>
                <a:cs typeface="Times New Roman" panose="02020603050405020304" pitchFamily="18" charset="0"/>
              </a:rPr>
              <a:t>modeling</a:t>
            </a:r>
            <a:r>
              <a:rPr lang="en-IN" sz="2000" dirty="0">
                <a:latin typeface="Times New Roman" panose="02020603050405020304" pitchFamily="18" charset="0"/>
                <a:cs typeface="Times New Roman" panose="02020603050405020304" pitchFamily="18" charset="0"/>
              </a:rPr>
              <a:t> is an iterative process where steps are repeated until better results are achieved.</a:t>
            </a:r>
          </a:p>
        </p:txBody>
      </p:sp>
      <p:pic>
        <p:nvPicPr>
          <p:cNvPr id="21" name="Picture 20">
            <a:extLst>
              <a:ext uri="{FF2B5EF4-FFF2-40B4-BE49-F238E27FC236}">
                <a16:creationId xmlns:a16="http://schemas.microsoft.com/office/drawing/2014/main" id="{FDE3314C-2C01-DB81-7D61-433908FD5430}"/>
              </a:ext>
            </a:extLst>
          </p:cNvPr>
          <p:cNvPicPr>
            <a:picLocks noChangeAspect="1"/>
          </p:cNvPicPr>
          <p:nvPr/>
        </p:nvPicPr>
        <p:blipFill>
          <a:blip r:embed="rId2"/>
          <a:stretch>
            <a:fillRect/>
          </a:stretch>
        </p:blipFill>
        <p:spPr>
          <a:xfrm>
            <a:off x="4959156" y="1046442"/>
            <a:ext cx="6734175" cy="2647950"/>
          </a:xfrm>
          <a:prstGeom prst="rect">
            <a:avLst/>
          </a:prstGeom>
        </p:spPr>
      </p:pic>
      <p:pic>
        <p:nvPicPr>
          <p:cNvPr id="23" name="Picture 22">
            <a:extLst>
              <a:ext uri="{FF2B5EF4-FFF2-40B4-BE49-F238E27FC236}">
                <a16:creationId xmlns:a16="http://schemas.microsoft.com/office/drawing/2014/main" id="{EFF11E86-3452-184D-C354-FE42373B8E2B}"/>
              </a:ext>
            </a:extLst>
          </p:cNvPr>
          <p:cNvPicPr>
            <a:picLocks noChangeAspect="1"/>
          </p:cNvPicPr>
          <p:nvPr/>
        </p:nvPicPr>
        <p:blipFill>
          <a:blip r:embed="rId3"/>
          <a:stretch>
            <a:fillRect/>
          </a:stretch>
        </p:blipFill>
        <p:spPr>
          <a:xfrm>
            <a:off x="223476" y="1495296"/>
            <a:ext cx="4414980" cy="3529877"/>
          </a:xfrm>
          <a:prstGeom prst="rect">
            <a:avLst/>
          </a:prstGeom>
        </p:spPr>
      </p:pic>
      <p:sp>
        <p:nvSpPr>
          <p:cNvPr id="24" name="TextBox 23">
            <a:extLst>
              <a:ext uri="{FF2B5EF4-FFF2-40B4-BE49-F238E27FC236}">
                <a16:creationId xmlns:a16="http://schemas.microsoft.com/office/drawing/2014/main" id="{B50E26BF-7E1B-3AA3-C892-EA38876C0FF9}"/>
              </a:ext>
            </a:extLst>
          </p:cNvPr>
          <p:cNvSpPr txBox="1"/>
          <p:nvPr/>
        </p:nvSpPr>
        <p:spPr>
          <a:xfrm>
            <a:off x="2074127" y="1237785"/>
            <a:ext cx="356839" cy="369332"/>
          </a:xfrm>
          <a:prstGeom prst="rect">
            <a:avLst/>
          </a:prstGeom>
          <a:noFill/>
        </p:spPr>
        <p:txBody>
          <a:bodyPr wrap="square" rtlCol="0">
            <a:spAutoFit/>
          </a:bodyPr>
          <a:lstStyle/>
          <a:p>
            <a:r>
              <a:rPr lang="en-US" dirty="0">
                <a:solidFill>
                  <a:srgbClr val="FF0000"/>
                </a:solidFill>
              </a:rPr>
              <a:t>1</a:t>
            </a:r>
            <a:endParaRPr lang="en-IN" dirty="0">
              <a:solidFill>
                <a:srgbClr val="FF0000"/>
              </a:solidFill>
            </a:endParaRPr>
          </a:p>
        </p:txBody>
      </p:sp>
      <p:sp>
        <p:nvSpPr>
          <p:cNvPr id="26" name="TextBox 25">
            <a:extLst>
              <a:ext uri="{FF2B5EF4-FFF2-40B4-BE49-F238E27FC236}">
                <a16:creationId xmlns:a16="http://schemas.microsoft.com/office/drawing/2014/main" id="{B511BC98-E4C4-E89C-BEBA-25768EF9EDFF}"/>
              </a:ext>
            </a:extLst>
          </p:cNvPr>
          <p:cNvSpPr txBox="1"/>
          <p:nvPr/>
        </p:nvSpPr>
        <p:spPr>
          <a:xfrm>
            <a:off x="2001320" y="2386010"/>
            <a:ext cx="356839" cy="369332"/>
          </a:xfrm>
          <a:prstGeom prst="rect">
            <a:avLst/>
          </a:prstGeom>
          <a:noFill/>
        </p:spPr>
        <p:txBody>
          <a:bodyPr wrap="square" rtlCol="0">
            <a:spAutoFit/>
          </a:bodyPr>
          <a:lstStyle/>
          <a:p>
            <a:r>
              <a:rPr lang="en-US" dirty="0">
                <a:solidFill>
                  <a:srgbClr val="FF0000"/>
                </a:solidFill>
              </a:rPr>
              <a:t>2</a:t>
            </a:r>
            <a:endParaRPr lang="en-IN" dirty="0">
              <a:solidFill>
                <a:srgbClr val="FF0000"/>
              </a:solidFill>
            </a:endParaRPr>
          </a:p>
        </p:txBody>
      </p:sp>
      <p:sp>
        <p:nvSpPr>
          <p:cNvPr id="28" name="TextBox 27">
            <a:extLst>
              <a:ext uri="{FF2B5EF4-FFF2-40B4-BE49-F238E27FC236}">
                <a16:creationId xmlns:a16="http://schemas.microsoft.com/office/drawing/2014/main" id="{A7A43360-86B8-DF09-BA6C-B5DEAA4A9DA8}"/>
              </a:ext>
            </a:extLst>
          </p:cNvPr>
          <p:cNvSpPr txBox="1"/>
          <p:nvPr/>
        </p:nvSpPr>
        <p:spPr>
          <a:xfrm>
            <a:off x="3098104" y="3335306"/>
            <a:ext cx="356839" cy="369332"/>
          </a:xfrm>
          <a:prstGeom prst="rect">
            <a:avLst/>
          </a:prstGeom>
          <a:noFill/>
        </p:spPr>
        <p:txBody>
          <a:bodyPr wrap="square" rtlCol="0">
            <a:spAutoFit/>
          </a:bodyPr>
          <a:lstStyle/>
          <a:p>
            <a:r>
              <a:rPr lang="en-US" dirty="0">
                <a:solidFill>
                  <a:srgbClr val="FF0000"/>
                </a:solidFill>
              </a:rPr>
              <a:t>3</a:t>
            </a:r>
            <a:endParaRPr lang="en-IN" dirty="0">
              <a:solidFill>
                <a:srgbClr val="FF0000"/>
              </a:solidFill>
            </a:endParaRPr>
          </a:p>
        </p:txBody>
      </p:sp>
      <p:sp>
        <p:nvSpPr>
          <p:cNvPr id="30" name="TextBox 29">
            <a:extLst>
              <a:ext uri="{FF2B5EF4-FFF2-40B4-BE49-F238E27FC236}">
                <a16:creationId xmlns:a16="http://schemas.microsoft.com/office/drawing/2014/main" id="{5F4516E9-9339-AC17-3103-500681E16656}"/>
              </a:ext>
            </a:extLst>
          </p:cNvPr>
          <p:cNvSpPr txBox="1"/>
          <p:nvPr/>
        </p:nvSpPr>
        <p:spPr>
          <a:xfrm>
            <a:off x="2074127" y="3839504"/>
            <a:ext cx="356839" cy="369332"/>
          </a:xfrm>
          <a:prstGeom prst="rect">
            <a:avLst/>
          </a:prstGeom>
          <a:noFill/>
        </p:spPr>
        <p:txBody>
          <a:bodyPr wrap="square" rtlCol="0">
            <a:spAutoFit/>
          </a:bodyPr>
          <a:lstStyle/>
          <a:p>
            <a:r>
              <a:rPr lang="en-US" dirty="0">
                <a:solidFill>
                  <a:srgbClr val="FF0000"/>
                </a:solidFill>
              </a:rPr>
              <a:t>4</a:t>
            </a:r>
            <a:endParaRPr lang="en-IN" dirty="0">
              <a:solidFill>
                <a:srgbClr val="FF0000"/>
              </a:solidFill>
            </a:endParaRPr>
          </a:p>
        </p:txBody>
      </p:sp>
    </p:spTree>
    <p:extLst>
      <p:ext uri="{BB962C8B-B14F-4D97-AF65-F5344CB8AC3E}">
        <p14:creationId xmlns:p14="http://schemas.microsoft.com/office/powerpoint/2010/main" val="42813797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4597E-2BE3-B076-B8C0-B9F60F6E3C61}"/>
              </a:ext>
            </a:extLst>
          </p:cNvPr>
          <p:cNvSpPr>
            <a:spLocks noGrp="1"/>
          </p:cNvSpPr>
          <p:nvPr>
            <p:ph type="title"/>
          </p:nvPr>
        </p:nvSpPr>
        <p:spPr>
          <a:xfrm>
            <a:off x="258337" y="253614"/>
            <a:ext cx="10515600" cy="315912"/>
          </a:xfrm>
        </p:spPr>
        <p:txBody>
          <a:bodyPr>
            <a:noAutofit/>
          </a:bodyPr>
          <a:lstStyle/>
          <a:p>
            <a:r>
              <a:rPr lang="en-IN" sz="3600" dirty="0">
                <a:latin typeface="Times New Roman" panose="02020603050405020304" pitchFamily="18" charset="0"/>
                <a:cs typeface="Times New Roman" panose="02020603050405020304" pitchFamily="18" charset="0"/>
              </a:rPr>
              <a:t>Business Understanding</a:t>
            </a:r>
          </a:p>
        </p:txBody>
      </p:sp>
      <p:sp>
        <p:nvSpPr>
          <p:cNvPr id="3" name="Content Placeholder 2">
            <a:extLst>
              <a:ext uri="{FF2B5EF4-FFF2-40B4-BE49-F238E27FC236}">
                <a16:creationId xmlns:a16="http://schemas.microsoft.com/office/drawing/2014/main" id="{36F63576-2EDE-7738-C51F-A857971F7127}"/>
              </a:ext>
            </a:extLst>
          </p:cNvPr>
          <p:cNvSpPr>
            <a:spLocks noGrp="1"/>
          </p:cNvSpPr>
          <p:nvPr>
            <p:ph idx="1"/>
          </p:nvPr>
        </p:nvSpPr>
        <p:spPr>
          <a:xfrm>
            <a:off x="638407" y="941096"/>
            <a:ext cx="11460666" cy="5838845"/>
          </a:xfrm>
        </p:spPr>
        <p:txBody>
          <a:bodyPr>
            <a:normAutofit fontScale="85000" lnSpcReduction="10000"/>
          </a:bodyPr>
          <a:lstStyle/>
          <a:p>
            <a:pPr marL="0" indent="0" algn="just">
              <a:buNone/>
            </a:pPr>
            <a:r>
              <a:rPr lang="en-US" dirty="0">
                <a:latin typeface="Times New Roman" panose="02020603050405020304" pitchFamily="18" charset="0"/>
                <a:cs typeface="Times New Roman" panose="02020603050405020304" pitchFamily="18" charset="0"/>
              </a:rPr>
              <a:t>Successful predictive modeling depends on below three important groups of experts (three legged stool) and </a:t>
            </a:r>
            <a:r>
              <a:rPr lang="en-IN" dirty="0">
                <a:solidFill>
                  <a:srgbClr val="00B050"/>
                </a:solidFill>
                <a:latin typeface="Times New Roman" panose="02020603050405020304" pitchFamily="18" charset="0"/>
                <a:cs typeface="Times New Roman" panose="02020603050405020304" pitchFamily="18" charset="0"/>
              </a:rPr>
              <a:t>If any one is missing, the project may fail.</a:t>
            </a:r>
            <a:endParaRPr lang="en-US" dirty="0">
              <a:solidFill>
                <a:srgbClr val="00B050"/>
              </a:solidFill>
              <a:latin typeface="Times New Roman" panose="02020603050405020304" pitchFamily="18" charset="0"/>
              <a:cs typeface="Times New Roman" panose="02020603050405020304" pitchFamily="18" charset="0"/>
            </a:endParaRPr>
          </a:p>
          <a:p>
            <a:pPr marL="514350" indent="-514350" algn="just">
              <a:buAutoNum type="arabicPeriod"/>
            </a:pPr>
            <a:r>
              <a:rPr lang="en-US" dirty="0">
                <a:solidFill>
                  <a:srgbClr val="FF0000"/>
                </a:solidFill>
                <a:latin typeface="Times New Roman" panose="02020603050405020304" pitchFamily="18" charset="0"/>
                <a:cs typeface="Times New Roman" panose="02020603050405020304" pitchFamily="18" charset="0"/>
              </a:rPr>
              <a:t>Domain Experts </a:t>
            </a:r>
            <a:r>
              <a:rPr lang="en-US" dirty="0">
                <a:latin typeface="Times New Roman" panose="02020603050405020304" pitchFamily="18" charset="0"/>
                <a:cs typeface="Times New Roman" panose="02020603050405020304" pitchFamily="18" charset="0"/>
              </a:rPr>
              <a:t>Understand the business area and problem. Define the correct business objectives. Ensure the predictive model provides value to the organization.</a:t>
            </a:r>
          </a:p>
          <a:p>
            <a:pPr marL="0" indent="0" algn="just">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eg</a:t>
            </a:r>
            <a:r>
              <a:rPr lang="en-US" dirty="0">
                <a:latin typeface="Times New Roman" panose="02020603050405020304" pitchFamily="18" charset="0"/>
                <a:cs typeface="Times New Roman" panose="02020603050405020304" pitchFamily="18" charset="0"/>
              </a:rPr>
              <a:t>: A banking manager defines the problem how to Predict customers who </a:t>
            </a:r>
            <a:r>
              <a:rPr lang="en-IN" dirty="0">
                <a:latin typeface="Times New Roman" panose="02020603050405020304" pitchFamily="18" charset="0"/>
                <a:cs typeface="Times New Roman" panose="02020603050405020304" pitchFamily="18" charset="0"/>
              </a:rPr>
              <a:t>are likely to fail to repay their loans in the future</a:t>
            </a:r>
            <a:r>
              <a:rPr lang="en-IN" dirty="0"/>
              <a:t>. </a:t>
            </a:r>
            <a:r>
              <a:rPr lang="en-IN" dirty="0">
                <a:latin typeface="Times New Roman" panose="02020603050405020304" pitchFamily="18" charset="0"/>
                <a:cs typeface="Times New Roman" panose="02020603050405020304" pitchFamily="18" charset="0"/>
              </a:rPr>
              <a:t>Agricultural expert (plant diseases, pest attacks,  best harvesting time), Dr (Early disease detection), insurance officer (Predict whether a customer is likely to file an insurance claim, commit insurance fraud, or determine the insurance premium.)</a:t>
            </a: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2. </a:t>
            </a:r>
            <a:r>
              <a:rPr lang="en-US" dirty="0">
                <a:solidFill>
                  <a:srgbClr val="FF0000"/>
                </a:solidFill>
                <a:latin typeface="Times New Roman" panose="02020603050405020304" pitchFamily="18" charset="0"/>
                <a:cs typeface="Times New Roman" panose="02020603050405020304" pitchFamily="18" charset="0"/>
              </a:rPr>
              <a:t>Data / Database Experts </a:t>
            </a:r>
            <a:r>
              <a:rPr lang="en-US" dirty="0">
                <a:latin typeface="Times New Roman" panose="02020603050405020304" pitchFamily="18" charset="0"/>
                <a:cs typeface="Times New Roman" panose="02020603050405020304" pitchFamily="18" charset="0"/>
              </a:rPr>
              <a:t>Identify the data required for building the model.     Collect, access, clean, and organize data from different sources. Prepare data in a suitable format for analysis. </a:t>
            </a:r>
            <a:r>
              <a:rPr lang="en-US" dirty="0">
                <a:solidFill>
                  <a:srgbClr val="92D050"/>
                </a:solidFill>
                <a:latin typeface="Times New Roman" panose="02020603050405020304" pitchFamily="18" charset="0"/>
                <a:cs typeface="Times New Roman" panose="02020603050405020304" pitchFamily="18" charset="0"/>
              </a:rPr>
              <a:t>People who know the databases.</a:t>
            </a:r>
          </a:p>
          <a:p>
            <a:pPr marL="0" indent="0" algn="just">
              <a:buNone/>
            </a:pPr>
            <a:r>
              <a:rPr lang="en-US" dirty="0">
                <a:latin typeface="Times New Roman" panose="02020603050405020304" pitchFamily="18" charset="0"/>
                <a:cs typeface="Times New Roman" panose="02020603050405020304" pitchFamily="18" charset="0"/>
              </a:rPr>
              <a:t>Eg: Collect customer details, transaction history, and loan records.</a:t>
            </a:r>
          </a:p>
          <a:p>
            <a:pPr marL="0" indent="0" algn="just">
              <a:buNone/>
            </a:pPr>
            <a:r>
              <a:rPr lang="en-US" dirty="0">
                <a:latin typeface="Times New Roman" panose="02020603050405020304" pitchFamily="18" charset="0"/>
                <a:cs typeface="Times New Roman" panose="02020603050405020304" pitchFamily="18" charset="0"/>
              </a:rPr>
              <a:t>3. </a:t>
            </a:r>
            <a:r>
              <a:rPr lang="en-US" dirty="0">
                <a:solidFill>
                  <a:srgbClr val="FF0000"/>
                </a:solidFill>
                <a:latin typeface="Times New Roman" panose="02020603050405020304" pitchFamily="18" charset="0"/>
                <a:cs typeface="Times New Roman" panose="02020603050405020304" pitchFamily="18" charset="0"/>
              </a:rPr>
              <a:t>Predictive Modeling Experts </a:t>
            </a:r>
            <a:r>
              <a:rPr lang="en-US" dirty="0">
                <a:latin typeface="Times New Roman" panose="02020603050405020304" pitchFamily="18" charset="0"/>
                <a:cs typeface="Times New Roman" panose="02020603050405020304" pitchFamily="18" charset="0"/>
              </a:rPr>
              <a:t>develop and test predictive models. Select suitable algorithms and techniques and build models that solve business problems. </a:t>
            </a:r>
            <a:r>
              <a:rPr lang="en-US" dirty="0">
                <a:solidFill>
                  <a:srgbClr val="92D050"/>
                </a:solidFill>
                <a:latin typeface="Times New Roman" panose="02020603050405020304" pitchFamily="18" charset="0"/>
                <a:cs typeface="Times New Roman" panose="02020603050405020304" pitchFamily="18" charset="0"/>
              </a:rPr>
              <a:t>Machine Learning specialists.</a:t>
            </a:r>
          </a:p>
          <a:p>
            <a:pPr marL="0" indent="0" algn="just">
              <a:buNone/>
            </a:pPr>
            <a:r>
              <a:rPr lang="en-US" dirty="0">
                <a:latin typeface="Times New Roman" panose="02020603050405020304" pitchFamily="18" charset="0"/>
                <a:cs typeface="Times New Roman" panose="02020603050405020304" pitchFamily="18" charset="0"/>
              </a:rPr>
              <a:t>Eg :Use machine learning algorithms to predict loan risk.</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28607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001686-0020-00A3-6C39-45EBDAD1F9C7}"/>
              </a:ext>
            </a:extLst>
          </p:cNvPr>
          <p:cNvSpPr>
            <a:spLocks noGrp="1"/>
          </p:cNvSpPr>
          <p:nvPr>
            <p:ph idx="1"/>
          </p:nvPr>
        </p:nvSpPr>
        <p:spPr>
          <a:xfrm>
            <a:off x="345688" y="267629"/>
            <a:ext cx="11563813" cy="6456555"/>
          </a:xfrm>
        </p:spPr>
        <p:txBody>
          <a:bodyPr>
            <a:normAutofit fontScale="92500" lnSpcReduction="20000"/>
          </a:bodyPr>
          <a:lstStyle/>
          <a:p>
            <a:pPr marL="0" indent="0" algn="just">
              <a:buNone/>
            </a:pPr>
            <a:r>
              <a:rPr lang="en-US" dirty="0">
                <a:latin typeface="Times New Roman" panose="02020603050405020304" pitchFamily="18" charset="0"/>
                <a:cs typeface="Times New Roman" panose="02020603050405020304" pitchFamily="18" charset="0"/>
              </a:rPr>
              <a:t>Case 1. </a:t>
            </a:r>
            <a:r>
              <a:rPr lang="en-US" b="1" dirty="0">
                <a:latin typeface="Times New Roman" panose="02020603050405020304" pitchFamily="18" charset="0"/>
                <a:cs typeface="Times New Roman" panose="02020603050405020304" pitchFamily="18" charset="0"/>
              </a:rPr>
              <a:t>If Domain Experts Are Missing </a:t>
            </a:r>
            <a:r>
              <a:rPr lang="en-US" dirty="0">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The business problem may not be defined correctly.</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Modelers may build highly accurate models that do not solve the real business need. 	</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The model may not provide value to the organization. </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Wrong evaluation measures may be selected, leading to choosing the wrong model. </a:t>
            </a:r>
          </a:p>
          <a:p>
            <a:pPr marL="0" indent="0" algn="just">
              <a:buNone/>
            </a:pPr>
            <a:r>
              <a:rPr lang="en-US" dirty="0">
                <a:solidFill>
                  <a:srgbClr val="FF0000"/>
                </a:solidFill>
                <a:latin typeface="Times New Roman" panose="02020603050405020304" pitchFamily="18" charset="0"/>
                <a:cs typeface="Times New Roman" panose="02020603050405020304" pitchFamily="18" charset="0"/>
              </a:rPr>
              <a:t>Eg: Model predicts customer behavior accurately. But prediction does not help improve sales or customer retention then Business does not use the model</a:t>
            </a:r>
            <a:r>
              <a:rPr lang="en-US" dirty="0">
                <a:latin typeface="Times New Roman" panose="02020603050405020304" pitchFamily="18" charset="0"/>
                <a:cs typeface="Times New Roman" panose="02020603050405020304" pitchFamily="18" charset="0"/>
              </a:rPr>
              <a:t>.</a:t>
            </a:r>
          </a:p>
          <a:p>
            <a:pPr marL="0" indent="0" algn="just">
              <a:buNone/>
            </a:pPr>
            <a:r>
              <a:rPr lang="en-US" dirty="0">
                <a:latin typeface="Times New Roman" panose="02020603050405020304" pitchFamily="18" charset="0"/>
                <a:cs typeface="Times New Roman" panose="02020603050405020304" pitchFamily="18" charset="0"/>
              </a:rPr>
              <a:t>Case 2. </a:t>
            </a:r>
            <a:r>
              <a:rPr lang="en-US" b="1" dirty="0">
                <a:latin typeface="Times New Roman" panose="02020603050405020304" pitchFamily="18" charset="0"/>
                <a:cs typeface="Times New Roman" panose="02020603050405020304" pitchFamily="18" charset="0"/>
              </a:rPr>
              <a:t>If Data/Database Experts Are Missing</a:t>
            </a:r>
          </a:p>
          <a:p>
            <a:pPr marL="88900" lvl="1" indent="-88900" algn="jus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Required data may not be identified or accessed properly.</a:t>
            </a:r>
          </a:p>
          <a:p>
            <a:pPr marL="88900" lvl="1" indent="-88900" algn="jus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Analysts may not understand Database structure, Tables and relationships, Meaning of fields</a:t>
            </a:r>
          </a:p>
          <a:p>
            <a:pPr marL="88900" lvl="1" indent="-88900" algn="jus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Problems may occur due to Missing data dictionary, Confusing field names, Lack of data access permissions, Difficulty joining data from multiple tables</a:t>
            </a:r>
          </a:p>
          <a:p>
            <a:pPr marL="88900" lvl="1" indent="-88900" algn="jus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Deployment may fail if the database system cannot support the model requirements.</a:t>
            </a:r>
          </a:p>
          <a:p>
            <a:pPr marL="457200" lvl="1" indent="0" algn="just">
              <a:buNone/>
            </a:pPr>
            <a:r>
              <a:rPr lang="en-US" sz="2800" dirty="0">
                <a:latin typeface="Times New Roman" panose="02020603050405020304" pitchFamily="18" charset="0"/>
                <a:cs typeface="Times New Roman" panose="02020603050405020304" pitchFamily="18" charset="0"/>
              </a:rPr>
              <a:t>Eg: Model needs customer purchase history. Analyst cannot locate or combine the correct database tables.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38047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0F63B4-E853-2F43-02D8-FFF660474710}"/>
              </a:ext>
            </a:extLst>
          </p:cNvPr>
          <p:cNvSpPr>
            <a:spLocks noGrp="1"/>
          </p:cNvSpPr>
          <p:nvPr>
            <p:ph idx="1"/>
          </p:nvPr>
        </p:nvSpPr>
        <p:spPr>
          <a:xfrm>
            <a:off x="836341" y="814039"/>
            <a:ext cx="11084313" cy="5362924"/>
          </a:xfrm>
        </p:spPr>
        <p:txBody>
          <a:bodyPr/>
          <a:lstStyle/>
          <a:p>
            <a:pPr marL="0" indent="0">
              <a:buNone/>
            </a:pPr>
            <a:r>
              <a:rPr lang="en-US" dirty="0">
                <a:latin typeface="Times New Roman" panose="02020603050405020304" pitchFamily="18" charset="0"/>
                <a:cs typeface="Times New Roman" panose="02020603050405020304" pitchFamily="18" charset="0"/>
              </a:rPr>
              <a:t>3. </a:t>
            </a:r>
            <a:r>
              <a:rPr lang="en-US" b="1" dirty="0">
                <a:latin typeface="Times New Roman" panose="02020603050405020304" pitchFamily="18" charset="0"/>
                <a:cs typeface="Times New Roman" panose="02020603050405020304" pitchFamily="18" charset="0"/>
              </a:rPr>
              <a:t>If Predictive Modeling Experts Are Missing</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Business teams may define unrealistic modeling goals.</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They may expect models that cannot actually be developed.</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Target variables may be not defined, Poorly defined.</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Required modeling data structure may not be planned correctly.</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Important fields needed for prediction may be missing.</a:t>
            </a:r>
          </a:p>
          <a:p>
            <a:pPr marL="0" indent="0">
              <a:buNone/>
            </a:pPr>
            <a:r>
              <a:rPr lang="en-US" dirty="0">
                <a:solidFill>
                  <a:srgbClr val="FF0000"/>
                </a:solidFill>
                <a:latin typeface="Times New Roman" panose="02020603050405020304" pitchFamily="18" charset="0"/>
                <a:cs typeface="Times New Roman" panose="02020603050405020304" pitchFamily="18" charset="0"/>
              </a:rPr>
              <a:t>Eg: Predict customer leaving. But no proper "customer left/not left" target variable exists.</a:t>
            </a:r>
            <a:endParaRPr lang="en-IN" dirty="0">
              <a:solidFill>
                <a:srgbClr val="FF0000"/>
              </a:solidFill>
            </a:endParaRPr>
          </a:p>
        </p:txBody>
      </p:sp>
    </p:spTree>
    <p:extLst>
      <p:ext uri="{BB962C8B-B14F-4D97-AF65-F5344CB8AC3E}">
        <p14:creationId xmlns:p14="http://schemas.microsoft.com/office/powerpoint/2010/main" val="34104143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32425-C299-B5EE-E33C-B82029F41CDD}"/>
              </a:ext>
            </a:extLst>
          </p:cNvPr>
          <p:cNvSpPr>
            <a:spLocks noGrp="1"/>
          </p:cNvSpPr>
          <p:nvPr>
            <p:ph type="title"/>
          </p:nvPr>
        </p:nvSpPr>
        <p:spPr>
          <a:xfrm>
            <a:off x="135674" y="-471216"/>
            <a:ext cx="10515600" cy="1325563"/>
          </a:xfrm>
        </p:spPr>
        <p:txBody>
          <a:bodyPr>
            <a:normAutofit/>
          </a:bodyPr>
          <a:lstStyle/>
          <a:p>
            <a:r>
              <a:rPr lang="en-IN" sz="3600" dirty="0"/>
              <a:t>Business Objectives</a:t>
            </a:r>
          </a:p>
        </p:txBody>
      </p:sp>
      <p:sp>
        <p:nvSpPr>
          <p:cNvPr id="3" name="Content Placeholder 2">
            <a:extLst>
              <a:ext uri="{FF2B5EF4-FFF2-40B4-BE49-F238E27FC236}">
                <a16:creationId xmlns:a16="http://schemas.microsoft.com/office/drawing/2014/main" id="{B94BD606-DE03-0A1A-6F44-F5F18717A5B3}"/>
              </a:ext>
            </a:extLst>
          </p:cNvPr>
          <p:cNvSpPr>
            <a:spLocks noGrp="1"/>
          </p:cNvSpPr>
          <p:nvPr>
            <p:ph idx="1"/>
          </p:nvPr>
        </p:nvSpPr>
        <p:spPr>
          <a:xfrm>
            <a:off x="258336" y="552391"/>
            <a:ext cx="11675327" cy="5753217"/>
          </a:xfrm>
        </p:spPr>
        <p:txBody>
          <a:bodyPr>
            <a:normAutofit fontScale="85000" lnSpcReduction="20000"/>
          </a:bodyPr>
          <a:lstStyle/>
          <a:p>
            <a:pPr marL="514350" indent="-514350">
              <a:buAutoNum type="arabicPeriod"/>
            </a:pPr>
            <a:r>
              <a:rPr lang="en-US" b="1" dirty="0">
                <a:latin typeface="Times New Roman" panose="02020603050405020304" pitchFamily="18" charset="0"/>
                <a:cs typeface="Times New Roman" panose="02020603050405020304" pitchFamily="18" charset="0"/>
              </a:rPr>
              <a:t>Identify the core business problem </a:t>
            </a:r>
            <a:r>
              <a:rPr lang="en-US" dirty="0">
                <a:latin typeface="Times New Roman" panose="02020603050405020304" pitchFamily="18" charset="0"/>
                <a:cs typeface="Times New Roman" panose="02020603050405020304" pitchFamily="18" charset="0"/>
              </a:rPr>
              <a:t>Decide what problem the predictive model should solve. Eg :Predict customers likely to leave. Detect fraudulent transactions.</a:t>
            </a:r>
          </a:p>
          <a:p>
            <a:pPr marL="514350" indent="-514350">
              <a:buAutoNum type="arabicPeriod"/>
            </a:pPr>
            <a:r>
              <a:rPr lang="en-US" b="1" dirty="0">
                <a:latin typeface="Times New Roman" panose="02020603050405020304" pitchFamily="18" charset="0"/>
                <a:cs typeface="Times New Roman" panose="02020603050405020304" pitchFamily="18" charset="0"/>
              </a:rPr>
              <a:t>Measure the business objective </a:t>
            </a:r>
            <a:r>
              <a:rPr lang="en-US" dirty="0">
                <a:latin typeface="Times New Roman" panose="02020603050405020304" pitchFamily="18" charset="0"/>
                <a:cs typeface="Times New Roman" panose="02020603050405020304" pitchFamily="18" charset="0"/>
              </a:rPr>
              <a:t>Convert the goal into measurable values. Eg: Reduce customer loss by 20%. Increase sales by 10%.</a:t>
            </a:r>
          </a:p>
          <a:p>
            <a:pPr marL="514350" indent="-514350">
              <a:buAutoNum type="arabicPeriod"/>
            </a:pPr>
            <a:r>
              <a:rPr lang="en-US" b="1" dirty="0">
                <a:latin typeface="Times New Roman" panose="02020603050405020304" pitchFamily="18" charset="0"/>
                <a:cs typeface="Times New Roman" panose="02020603050405020304" pitchFamily="18" charset="0"/>
              </a:rPr>
              <a:t>Identify available data </a:t>
            </a:r>
            <a:r>
              <a:rPr lang="en-US" dirty="0">
                <a:latin typeface="Times New Roman" panose="02020603050405020304" pitchFamily="18" charset="0"/>
                <a:cs typeface="Times New Roman" panose="02020603050405020304" pitchFamily="18" charset="0"/>
              </a:rPr>
              <a:t>Check whether required data exists to support the objective. Eg: Customer history, Transactions, Purchase records</a:t>
            </a:r>
          </a:p>
          <a:p>
            <a:pPr marL="514350" indent="-514350">
              <a:buAutoNum type="arabicPeriod"/>
            </a:pPr>
            <a:r>
              <a:rPr lang="en-US" b="1" dirty="0">
                <a:latin typeface="Times New Roman" panose="02020603050405020304" pitchFamily="18" charset="0"/>
                <a:cs typeface="Times New Roman" panose="02020603050405020304" pitchFamily="18" charset="0"/>
              </a:rPr>
              <a:t>Select suitable modeling methods </a:t>
            </a:r>
            <a:r>
              <a:rPr lang="en-US" dirty="0">
                <a:latin typeface="Times New Roman" panose="02020603050405020304" pitchFamily="18" charset="0"/>
                <a:cs typeface="Times New Roman" panose="02020603050405020304" pitchFamily="18" charset="0"/>
              </a:rPr>
              <a:t>Decide which predictive techniques can solve the problem. Eg: Classification, Regression, Forecasting</a:t>
            </a:r>
          </a:p>
          <a:p>
            <a:pPr marL="514350" indent="-514350">
              <a:buAutoNum type="arabicPeriod"/>
            </a:pPr>
            <a:r>
              <a:rPr lang="en-US" b="1" dirty="0">
                <a:latin typeface="Times New Roman" panose="02020603050405020304" pitchFamily="18" charset="0"/>
                <a:cs typeface="Times New Roman" panose="02020603050405020304" pitchFamily="18" charset="0"/>
              </a:rPr>
              <a:t>Define model evaluation criteria </a:t>
            </a:r>
            <a:r>
              <a:rPr lang="en-US" dirty="0">
                <a:latin typeface="Times New Roman" panose="02020603050405020304" pitchFamily="18" charset="0"/>
                <a:cs typeface="Times New Roman" panose="02020603050405020304" pitchFamily="18" charset="0"/>
              </a:rPr>
              <a:t>Decide how model success will be measured. Eg: Accuracy, Profit improvement, Error reduction</a:t>
            </a:r>
          </a:p>
          <a:p>
            <a:pPr marL="514350" indent="-514350">
              <a:buAutoNum type="arabicPeriod"/>
            </a:pPr>
            <a:r>
              <a:rPr lang="en-US" b="1" dirty="0">
                <a:latin typeface="Times New Roman" panose="02020603050405020304" pitchFamily="18" charset="0"/>
                <a:cs typeface="Times New Roman" panose="02020603050405020304" pitchFamily="18" charset="0"/>
              </a:rPr>
              <a:t>Plan model deployment </a:t>
            </a:r>
            <a:r>
              <a:rPr lang="en-US" dirty="0">
                <a:latin typeface="Times New Roman" panose="02020603050405020304" pitchFamily="18" charset="0"/>
                <a:cs typeface="Times New Roman" panose="02020603050405020304" pitchFamily="18" charset="0"/>
              </a:rPr>
              <a:t>Decide how the model will be used in real business operations. Eg: Fraud alerts in banking systems, Product recommendations on websites</a:t>
            </a:r>
          </a:p>
          <a:p>
            <a:pPr marL="0" indent="0">
              <a:buNone/>
            </a:pPr>
            <a:r>
              <a:rPr lang="en-US" dirty="0">
                <a:latin typeface="Times New Roman" panose="02020603050405020304" pitchFamily="18" charset="0"/>
                <a:cs typeface="Times New Roman" panose="02020603050405020304" pitchFamily="18" charset="0"/>
              </a:rPr>
              <a:t>Challenges </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Required data may not be available.</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Target variable may be difficult to define.</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Computing resources may be limited.</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Time and budget constraints may exist</a:t>
            </a:r>
          </a:p>
        </p:txBody>
      </p:sp>
    </p:spTree>
    <p:extLst>
      <p:ext uri="{BB962C8B-B14F-4D97-AF65-F5344CB8AC3E}">
        <p14:creationId xmlns:p14="http://schemas.microsoft.com/office/powerpoint/2010/main" val="26553330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7120-2B9C-EF2A-FAC7-E76AF6D581A9}"/>
              </a:ext>
            </a:extLst>
          </p:cNvPr>
          <p:cNvSpPr>
            <a:spLocks noGrp="1"/>
          </p:cNvSpPr>
          <p:nvPr>
            <p:ph type="title"/>
          </p:nvPr>
        </p:nvSpPr>
        <p:spPr>
          <a:xfrm>
            <a:off x="704385" y="0"/>
            <a:ext cx="10515600" cy="538124"/>
          </a:xfrm>
        </p:spPr>
        <p:txBody>
          <a:bodyPr>
            <a:normAutofit/>
          </a:bodyPr>
          <a:lstStyle/>
          <a:p>
            <a:r>
              <a:rPr lang="en-US" sz="2800" dirty="0">
                <a:solidFill>
                  <a:srgbClr val="FF0000"/>
                </a:solidFill>
                <a:latin typeface="Times New Roman" panose="02020603050405020304" pitchFamily="18" charset="0"/>
                <a:cs typeface="Times New Roman" panose="02020603050405020304" pitchFamily="18" charset="0"/>
              </a:rPr>
              <a:t>Defining data for predictive modeling</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225BD00-A697-7A12-52C3-2F8E9E5C750B}"/>
              </a:ext>
            </a:extLst>
          </p:cNvPr>
          <p:cNvSpPr>
            <a:spLocks noGrp="1"/>
          </p:cNvSpPr>
          <p:nvPr>
            <p:ph idx="1"/>
          </p:nvPr>
        </p:nvSpPr>
        <p:spPr>
          <a:xfrm>
            <a:off x="156118" y="758283"/>
            <a:ext cx="12035882" cy="6099717"/>
          </a:xfrm>
        </p:spPr>
        <p:txBody>
          <a:bodyPr>
            <a:normAutofit fontScale="55000" lnSpcReduction="20000"/>
          </a:bodyPr>
          <a:lstStyle/>
          <a:p>
            <a:pPr marL="0" indent="0">
              <a:buNone/>
            </a:pPr>
            <a:r>
              <a:rPr lang="en-IN" sz="3800" dirty="0">
                <a:latin typeface="Times New Roman" panose="02020603050405020304" pitchFamily="18" charset="0"/>
                <a:cs typeface="Times New Roman" panose="02020603050405020304" pitchFamily="18" charset="0"/>
              </a:rPr>
              <a:t>Predictive </a:t>
            </a:r>
            <a:r>
              <a:rPr lang="en-IN" sz="3800" dirty="0" err="1">
                <a:latin typeface="Times New Roman" panose="02020603050405020304" pitchFamily="18" charset="0"/>
                <a:cs typeface="Times New Roman" panose="02020603050405020304" pitchFamily="18" charset="0"/>
              </a:rPr>
              <a:t>modeling</a:t>
            </a:r>
            <a:r>
              <a:rPr lang="en-IN" sz="3800" dirty="0">
                <a:latin typeface="Times New Roman" panose="02020603050405020304" pitchFamily="18" charset="0"/>
                <a:cs typeface="Times New Roman" panose="02020603050405020304" pitchFamily="18" charset="0"/>
              </a:rPr>
              <a:t> requires data in a </a:t>
            </a:r>
            <a:r>
              <a:rPr lang="en-IN" sz="3800" b="1" dirty="0">
                <a:latin typeface="Times New Roman" panose="02020603050405020304" pitchFamily="18" charset="0"/>
                <a:cs typeface="Times New Roman" panose="02020603050405020304" pitchFamily="18" charset="0"/>
              </a:rPr>
              <a:t>two-dimensional format</a:t>
            </a:r>
            <a:r>
              <a:rPr lang="en-IN" sz="3800" dirty="0">
                <a:latin typeface="Times New Roman" panose="02020603050405020304" pitchFamily="18" charset="0"/>
                <a:cs typeface="Times New Roman" panose="02020603050405020304" pitchFamily="18" charset="0"/>
              </a:rPr>
              <a:t> with Rows , Columns </a:t>
            </a:r>
          </a:p>
          <a:p>
            <a:r>
              <a:rPr lang="en-IN" sz="3800" dirty="0">
                <a:latin typeface="Times New Roman" panose="02020603050405020304" pitchFamily="18" charset="0"/>
                <a:cs typeface="Times New Roman" panose="02020603050405020304" pitchFamily="18" charset="0"/>
              </a:rPr>
              <a:t>Each row represents one unit of analysis (the object/event being studied).</a:t>
            </a:r>
          </a:p>
          <a:p>
            <a:r>
              <a:rPr lang="en-IN" sz="3800" dirty="0">
                <a:latin typeface="Times New Roman" panose="02020603050405020304" pitchFamily="18" charset="0"/>
                <a:cs typeface="Times New Roman" panose="02020603050405020304" pitchFamily="18" charset="0"/>
              </a:rPr>
              <a:t>Data can be loaded from different file formats:</a:t>
            </a:r>
          </a:p>
          <a:p>
            <a:pPr marL="0" indent="0">
              <a:buNone/>
            </a:pPr>
            <a:r>
              <a:rPr lang="en-IN" sz="3800" b="1" dirty="0">
                <a:latin typeface="Times New Roman" panose="02020603050405020304" pitchFamily="18" charset="0"/>
                <a:cs typeface="Times New Roman" panose="02020603050405020304" pitchFamily="18" charset="0"/>
              </a:rPr>
              <a:t>1. Delimited Flat Files: </a:t>
            </a:r>
            <a:r>
              <a:rPr lang="en-IN" sz="3800" dirty="0">
                <a:latin typeface="Times New Roman" panose="02020603050405020304" pitchFamily="18" charset="0"/>
                <a:cs typeface="Times New Roman" panose="02020603050405020304" pitchFamily="18" charset="0"/>
              </a:rPr>
              <a:t>Values are separated using delimiters, Common format: CSV files (.csv) , Tab-separated files</a:t>
            </a:r>
          </a:p>
          <a:p>
            <a:pPr marL="0" indent="0">
              <a:buNone/>
            </a:pPr>
            <a:r>
              <a:rPr lang="en-IN" sz="3800" b="1" dirty="0">
                <a:latin typeface="Times New Roman" panose="02020603050405020304" pitchFamily="18" charset="0"/>
                <a:cs typeface="Times New Roman" panose="02020603050405020304" pitchFamily="18" charset="0"/>
              </a:rPr>
              <a:t>2. Fixed-Width Flat Files: </a:t>
            </a:r>
            <a:r>
              <a:rPr lang="en-IN" sz="3800" dirty="0">
                <a:latin typeface="Times New Roman" panose="02020603050405020304" pitchFamily="18" charset="0"/>
                <a:cs typeface="Times New Roman" panose="02020603050405020304" pitchFamily="18" charset="0"/>
              </a:rPr>
              <a:t>Each field has a fixed number of characters. No separator is used and the structure must be known before reading data.</a:t>
            </a:r>
          </a:p>
          <a:p>
            <a:pPr marL="0" indent="0">
              <a:buNone/>
            </a:pPr>
            <a:r>
              <a:rPr lang="en-IN" sz="3800" b="1" dirty="0">
                <a:latin typeface="Times New Roman" panose="02020603050405020304" pitchFamily="18" charset="0"/>
                <a:cs typeface="Times New Roman" panose="02020603050405020304" pitchFamily="18" charset="0"/>
              </a:rPr>
              <a:t>3.  Customized Flat Files </a:t>
            </a:r>
            <a:endParaRPr lang="en-IN" sz="3800" dirty="0">
              <a:latin typeface="Times New Roman" panose="02020603050405020304" pitchFamily="18" charset="0"/>
              <a:cs typeface="Times New Roman" panose="02020603050405020304" pitchFamily="18" charset="0"/>
            </a:endParaRPr>
          </a:p>
          <a:p>
            <a:r>
              <a:rPr lang="en-IN" sz="3800" dirty="0">
                <a:latin typeface="Times New Roman" panose="02020603050405020304" pitchFamily="18" charset="0"/>
                <a:cs typeface="Times New Roman" panose="02020603050405020304" pitchFamily="18" charset="0"/>
              </a:rPr>
              <a:t>Special file formats created based on organizational needs. </a:t>
            </a:r>
          </a:p>
          <a:p>
            <a:pPr marL="0" indent="0">
              <a:buNone/>
            </a:pPr>
            <a:r>
              <a:rPr lang="en-IN" sz="3800" b="1" dirty="0">
                <a:latin typeface="Times New Roman" panose="02020603050405020304" pitchFamily="18" charset="0"/>
                <a:cs typeface="Times New Roman" panose="02020603050405020304" pitchFamily="18" charset="0"/>
              </a:rPr>
              <a:t>4. Binary Files </a:t>
            </a:r>
            <a:r>
              <a:rPr lang="en-IN" sz="3800" dirty="0">
                <a:latin typeface="Times New Roman" panose="02020603050405020304" pitchFamily="18" charset="0"/>
                <a:cs typeface="Times New Roman" panose="02020603050405020304" pitchFamily="18" charset="0"/>
              </a:rPr>
              <a:t>Software-specific data formats. Like: SPSS files (.sav) , SAS files (.sas7bdat), MATLAB files (.mat)</a:t>
            </a:r>
          </a:p>
          <a:p>
            <a:pPr marL="0" indent="0">
              <a:buNone/>
            </a:pPr>
            <a:r>
              <a:rPr lang="en-US" sz="3800" b="1" dirty="0">
                <a:latin typeface="Times New Roman" panose="02020603050405020304" pitchFamily="18" charset="0"/>
                <a:cs typeface="Times New Roman" panose="02020603050405020304" pitchFamily="18" charset="0"/>
              </a:rPr>
              <a:t>Accessing Data from Databases </a:t>
            </a:r>
            <a:r>
              <a:rPr lang="en-US" sz="3800" dirty="0">
                <a:latin typeface="Times New Roman" panose="02020603050405020304" pitchFamily="18" charset="0"/>
                <a:cs typeface="Times New Roman" panose="02020603050405020304" pitchFamily="18" charset="0"/>
              </a:rPr>
              <a:t>: Predictive modeling software can directly connect to databases using Native database connections and ODBC drivers, Analysts can write queries to extract required data.</a:t>
            </a:r>
          </a:p>
          <a:p>
            <a:pPr marL="0" indent="0">
              <a:buNone/>
            </a:pPr>
            <a:r>
              <a:rPr lang="en-US" sz="3800" b="1" dirty="0">
                <a:latin typeface="Times New Roman" panose="02020603050405020304" pitchFamily="18" charset="0"/>
                <a:cs typeface="Times New Roman" panose="02020603050405020304" pitchFamily="18" charset="0"/>
              </a:rPr>
              <a:t>Advantages of Direct Database Connection</a:t>
            </a:r>
          </a:p>
          <a:p>
            <a:pPr marL="0" indent="0">
              <a:buNone/>
            </a:pPr>
            <a:r>
              <a:rPr lang="en-US" sz="3800" dirty="0">
                <a:latin typeface="Times New Roman" panose="02020603050405020304" pitchFamily="18" charset="0"/>
                <a:cs typeface="Times New Roman" panose="02020603050405020304" pitchFamily="18" charset="0"/>
              </a:rPr>
              <a:t>Avoids</a:t>
            </a:r>
            <a:r>
              <a:rPr lang="en-US" sz="3800" b="1" dirty="0">
                <a:latin typeface="Times New Roman" panose="02020603050405020304" pitchFamily="18" charset="0"/>
                <a:cs typeface="Times New Roman" panose="02020603050405020304" pitchFamily="18" charset="0"/>
              </a:rPr>
              <a:t> </a:t>
            </a:r>
            <a:r>
              <a:rPr lang="en-US" sz="3800" dirty="0">
                <a:latin typeface="Times New Roman" panose="02020603050405020304" pitchFamily="18" charset="0"/>
                <a:cs typeface="Times New Roman" panose="02020603050405020304" pitchFamily="18" charset="0"/>
              </a:rPr>
              <a:t>saving and loading large files manually.</a:t>
            </a:r>
          </a:p>
          <a:p>
            <a:pPr marL="0" indent="0">
              <a:buNone/>
            </a:pPr>
            <a:r>
              <a:rPr lang="en-US" sz="3800" dirty="0">
                <a:latin typeface="Times New Roman" panose="02020603050405020304" pitchFamily="18" charset="0"/>
                <a:cs typeface="Times New Roman" panose="02020603050405020304" pitchFamily="18" charset="0"/>
              </a:rPr>
              <a:t>Data remains stored and managed inside the database.</a:t>
            </a:r>
          </a:p>
          <a:p>
            <a:pPr marL="0" indent="0">
              <a:buNone/>
            </a:pPr>
            <a:r>
              <a:rPr lang="en-US" sz="3800" dirty="0">
                <a:latin typeface="Times New Roman" panose="02020603050405020304" pitchFamily="18" charset="0"/>
                <a:cs typeface="Times New Roman" panose="02020603050405020304" pitchFamily="18" charset="0"/>
              </a:rPr>
              <a:t>Reduces problems with maintaining multiple file versions.</a:t>
            </a:r>
          </a:p>
          <a:p>
            <a:pPr marL="0" indent="0">
              <a:buNone/>
            </a:pPr>
            <a:r>
              <a:rPr lang="en-US" sz="3800" dirty="0">
                <a:latin typeface="Times New Roman" panose="02020603050405020304" pitchFamily="18" charset="0"/>
                <a:cs typeface="Times New Roman" panose="02020603050405020304" pitchFamily="18" charset="0"/>
              </a:rPr>
              <a:t>Provides analysts more flexibility to select and prepare required data.</a:t>
            </a:r>
            <a:endParaRPr lang="en-IN" sz="3800" dirty="0">
              <a:latin typeface="Times New Roman" panose="02020603050405020304" pitchFamily="18" charset="0"/>
              <a:cs typeface="Times New Roman" panose="02020603050405020304" pitchFamily="18" charset="0"/>
            </a:endParaRPr>
          </a:p>
          <a:p>
            <a:endParaRPr lang="en-IN" sz="3800" dirty="0">
              <a:latin typeface="Times New Roman" panose="02020603050405020304" pitchFamily="18" charset="0"/>
              <a:cs typeface="Times New Roman" panose="02020603050405020304" pitchFamily="18" charset="0"/>
            </a:endParaRPr>
          </a:p>
          <a:p>
            <a:pPr marL="0" indent="0">
              <a:buNone/>
            </a:pPr>
            <a:endParaRPr lang="en-IN" sz="3800" dirty="0">
              <a:latin typeface="Times New Roman" panose="02020603050405020304" pitchFamily="18" charset="0"/>
              <a:cs typeface="Times New Roman" panose="02020603050405020304" pitchFamily="18" charset="0"/>
            </a:endParaRPr>
          </a:p>
          <a:p>
            <a:endParaRPr lang="en-IN" sz="38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5715263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F67EB-255C-9C11-EFA0-CE60D7F77BA6}"/>
              </a:ext>
            </a:extLst>
          </p:cNvPr>
          <p:cNvSpPr>
            <a:spLocks noGrp="1"/>
          </p:cNvSpPr>
          <p:nvPr>
            <p:ph type="title"/>
          </p:nvPr>
        </p:nvSpPr>
        <p:spPr>
          <a:xfrm>
            <a:off x="0" y="-192436"/>
            <a:ext cx="10515600" cy="1325563"/>
          </a:xfrm>
        </p:spPr>
        <p:txBody>
          <a:bodyPr>
            <a:normAutofit/>
          </a:bodyPr>
          <a:lstStyle/>
          <a:p>
            <a:r>
              <a:rPr lang="en-US" sz="3600" dirty="0">
                <a:solidFill>
                  <a:srgbClr val="FF0000"/>
                </a:solidFill>
              </a:rPr>
              <a:t>Defining </a:t>
            </a:r>
            <a:r>
              <a:rPr lang="en-US" sz="3600" dirty="0">
                <a:solidFill>
                  <a:srgbClr val="FF0000"/>
                </a:solidFill>
                <a:latin typeface="Times New Roman" panose="02020603050405020304" pitchFamily="18" charset="0"/>
                <a:cs typeface="Times New Roman" panose="02020603050405020304" pitchFamily="18" charset="0"/>
              </a:rPr>
              <a:t>columns as measures</a:t>
            </a:r>
            <a:endParaRPr lang="en-IN" sz="3600" dirty="0">
              <a:solidFill>
                <a:srgbClr val="FF0000"/>
              </a:solidFill>
            </a:endParaRPr>
          </a:p>
        </p:txBody>
      </p:sp>
      <p:graphicFrame>
        <p:nvGraphicFramePr>
          <p:cNvPr id="4" name="Content Placeholder 3">
            <a:extLst>
              <a:ext uri="{FF2B5EF4-FFF2-40B4-BE49-F238E27FC236}">
                <a16:creationId xmlns:a16="http://schemas.microsoft.com/office/drawing/2014/main" id="{AD7F08C0-FC59-C928-FCBC-74A2649A2AC4}"/>
              </a:ext>
            </a:extLst>
          </p:cNvPr>
          <p:cNvGraphicFramePr>
            <a:graphicFrameLocks noGrp="1"/>
          </p:cNvGraphicFramePr>
          <p:nvPr>
            <p:ph idx="1"/>
            <p:extLst>
              <p:ext uri="{D42A27DB-BD31-4B8C-83A1-F6EECF244321}">
                <p14:modId xmlns:p14="http://schemas.microsoft.com/office/powerpoint/2010/main" val="3339948348"/>
              </p:ext>
            </p:extLst>
          </p:nvPr>
        </p:nvGraphicFramePr>
        <p:xfrm>
          <a:off x="622145" y="2277081"/>
          <a:ext cx="10515600" cy="731520"/>
        </p:xfrm>
        <a:graphic>
          <a:graphicData uri="http://schemas.openxmlformats.org/drawingml/2006/table">
            <a:tbl>
              <a:tblPr/>
              <a:tblGrid>
                <a:gridCol w="2628900">
                  <a:extLst>
                    <a:ext uri="{9D8B030D-6E8A-4147-A177-3AD203B41FA5}">
                      <a16:colId xmlns:a16="http://schemas.microsoft.com/office/drawing/2014/main" val="381001507"/>
                    </a:ext>
                  </a:extLst>
                </a:gridCol>
                <a:gridCol w="2628900">
                  <a:extLst>
                    <a:ext uri="{9D8B030D-6E8A-4147-A177-3AD203B41FA5}">
                      <a16:colId xmlns:a16="http://schemas.microsoft.com/office/drawing/2014/main" val="3277061103"/>
                    </a:ext>
                  </a:extLst>
                </a:gridCol>
                <a:gridCol w="2628900">
                  <a:extLst>
                    <a:ext uri="{9D8B030D-6E8A-4147-A177-3AD203B41FA5}">
                      <a16:colId xmlns:a16="http://schemas.microsoft.com/office/drawing/2014/main" val="4184438457"/>
                    </a:ext>
                  </a:extLst>
                </a:gridCol>
                <a:gridCol w="2628900">
                  <a:extLst>
                    <a:ext uri="{9D8B030D-6E8A-4147-A177-3AD203B41FA5}">
                      <a16:colId xmlns:a16="http://schemas.microsoft.com/office/drawing/2014/main" val="2567638234"/>
                    </a:ext>
                  </a:extLst>
                </a:gridCol>
              </a:tblGrid>
              <a:tr h="0">
                <a:tc>
                  <a:txBody>
                    <a:bodyPr/>
                    <a:lstStyle/>
                    <a:p>
                      <a:pPr>
                        <a:buNone/>
                      </a:pPr>
                      <a:r>
                        <a:rPr lang="en-IN" dirty="0"/>
                        <a:t>Customer ID</a:t>
                      </a:r>
                    </a:p>
                  </a:txBody>
                  <a:tcPr anchor="ctr">
                    <a:lnL>
                      <a:noFill/>
                    </a:lnL>
                    <a:lnR>
                      <a:noFill/>
                    </a:lnR>
                    <a:lnT>
                      <a:noFill/>
                    </a:lnT>
                    <a:lnB>
                      <a:noFill/>
                    </a:lnB>
                    <a:noFill/>
                  </a:tcPr>
                </a:tc>
                <a:tc>
                  <a:txBody>
                    <a:bodyPr/>
                    <a:lstStyle/>
                    <a:p>
                      <a:pPr>
                        <a:buNone/>
                      </a:pPr>
                      <a:r>
                        <a:rPr lang="en-IN"/>
                        <a:t>Age</a:t>
                      </a:r>
                    </a:p>
                  </a:txBody>
                  <a:tcPr anchor="ctr">
                    <a:lnL>
                      <a:noFill/>
                    </a:lnL>
                    <a:lnR>
                      <a:noFill/>
                    </a:lnR>
                    <a:lnT>
                      <a:noFill/>
                    </a:lnT>
                    <a:lnB>
                      <a:noFill/>
                    </a:lnB>
                    <a:noFill/>
                  </a:tcPr>
                </a:tc>
                <a:tc>
                  <a:txBody>
                    <a:bodyPr/>
                    <a:lstStyle/>
                    <a:p>
                      <a:pPr>
                        <a:buNone/>
                      </a:pPr>
                      <a:r>
                        <a:rPr lang="en-IN"/>
                        <a:t>Address</a:t>
                      </a:r>
                    </a:p>
                  </a:txBody>
                  <a:tcPr anchor="ctr">
                    <a:lnL>
                      <a:noFill/>
                    </a:lnL>
                    <a:lnR>
                      <a:noFill/>
                    </a:lnR>
                    <a:lnT>
                      <a:noFill/>
                    </a:lnT>
                    <a:lnB>
                      <a:noFill/>
                    </a:lnB>
                    <a:noFill/>
                  </a:tcPr>
                </a:tc>
                <a:tc>
                  <a:txBody>
                    <a:bodyPr/>
                    <a:lstStyle/>
                    <a:p>
                      <a:pPr>
                        <a:buNone/>
                      </a:pPr>
                      <a:r>
                        <a:rPr lang="en-IN"/>
                        <a:t>Income</a:t>
                      </a:r>
                    </a:p>
                  </a:txBody>
                  <a:tcPr anchor="ctr">
                    <a:lnL>
                      <a:noFill/>
                    </a:lnL>
                    <a:lnR>
                      <a:noFill/>
                    </a:lnR>
                    <a:lnT>
                      <a:noFill/>
                    </a:lnT>
                    <a:lnB>
                      <a:noFill/>
                    </a:lnB>
                    <a:noFill/>
                  </a:tcPr>
                </a:tc>
                <a:extLst>
                  <a:ext uri="{0D108BD9-81ED-4DB2-BD59-A6C34878D82A}">
                    <a16:rowId xmlns:a16="http://schemas.microsoft.com/office/drawing/2014/main" val="3496482609"/>
                  </a:ext>
                </a:extLst>
              </a:tr>
              <a:tr h="0">
                <a:tc>
                  <a:txBody>
                    <a:bodyPr/>
                    <a:lstStyle/>
                    <a:p>
                      <a:pPr>
                        <a:buNone/>
                      </a:pPr>
                      <a:r>
                        <a:rPr lang="en-IN"/>
                        <a:t>10001</a:t>
                      </a:r>
                    </a:p>
                  </a:txBody>
                  <a:tcPr anchor="ctr">
                    <a:lnL>
                      <a:noFill/>
                    </a:lnL>
                    <a:lnR>
                      <a:noFill/>
                    </a:lnR>
                    <a:lnT>
                      <a:noFill/>
                    </a:lnT>
                    <a:lnB>
                      <a:noFill/>
                    </a:lnB>
                    <a:noFill/>
                  </a:tcPr>
                </a:tc>
                <a:tc>
                  <a:txBody>
                    <a:bodyPr/>
                    <a:lstStyle/>
                    <a:p>
                      <a:pPr>
                        <a:buNone/>
                      </a:pPr>
                      <a:r>
                        <a:rPr lang="en-IN"/>
                        <a:t>35</a:t>
                      </a:r>
                    </a:p>
                  </a:txBody>
                  <a:tcPr anchor="ctr">
                    <a:lnL>
                      <a:noFill/>
                    </a:lnL>
                    <a:lnR>
                      <a:noFill/>
                    </a:lnR>
                    <a:lnT>
                      <a:noFill/>
                    </a:lnT>
                    <a:lnB>
                      <a:noFill/>
                    </a:lnB>
                    <a:noFill/>
                  </a:tcPr>
                </a:tc>
                <a:tc>
                  <a:txBody>
                    <a:bodyPr/>
                    <a:lstStyle/>
                    <a:p>
                      <a:pPr>
                        <a:buNone/>
                      </a:pPr>
                      <a:r>
                        <a:rPr lang="en-IN"/>
                        <a:t>Hyderabad</a:t>
                      </a:r>
                    </a:p>
                  </a:txBody>
                  <a:tcPr anchor="ctr">
                    <a:lnL>
                      <a:noFill/>
                    </a:lnL>
                    <a:lnR>
                      <a:noFill/>
                    </a:lnR>
                    <a:lnT>
                      <a:noFill/>
                    </a:lnT>
                    <a:lnB>
                      <a:noFill/>
                    </a:lnB>
                    <a:noFill/>
                  </a:tcPr>
                </a:tc>
                <a:tc>
                  <a:txBody>
                    <a:bodyPr/>
                    <a:lstStyle/>
                    <a:p>
                      <a:pPr>
                        <a:buNone/>
                      </a:pPr>
                      <a:r>
                        <a:rPr lang="en-IN" dirty="0"/>
                        <a:t>50000</a:t>
                      </a:r>
                    </a:p>
                  </a:txBody>
                  <a:tcPr anchor="ctr">
                    <a:lnL>
                      <a:noFill/>
                    </a:lnL>
                    <a:lnR>
                      <a:noFill/>
                    </a:lnR>
                    <a:lnT>
                      <a:noFill/>
                    </a:lnT>
                    <a:lnB>
                      <a:noFill/>
                    </a:lnB>
                    <a:noFill/>
                  </a:tcPr>
                </a:tc>
                <a:extLst>
                  <a:ext uri="{0D108BD9-81ED-4DB2-BD59-A6C34878D82A}">
                    <a16:rowId xmlns:a16="http://schemas.microsoft.com/office/drawing/2014/main" val="1808332868"/>
                  </a:ext>
                </a:extLst>
              </a:tr>
            </a:tbl>
          </a:graphicData>
        </a:graphic>
      </p:graphicFrame>
      <p:sp>
        <p:nvSpPr>
          <p:cNvPr id="6" name="TextBox 5">
            <a:extLst>
              <a:ext uri="{FF2B5EF4-FFF2-40B4-BE49-F238E27FC236}">
                <a16:creationId xmlns:a16="http://schemas.microsoft.com/office/drawing/2014/main" id="{2AC192B5-BE50-C803-F0F3-D1B29816348D}"/>
              </a:ext>
            </a:extLst>
          </p:cNvPr>
          <p:cNvSpPr txBox="1"/>
          <p:nvPr/>
        </p:nvSpPr>
        <p:spPr>
          <a:xfrm>
            <a:off x="622145" y="811063"/>
            <a:ext cx="10947710" cy="1323439"/>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Columns / Attributes in Data</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Columns in predictive </a:t>
            </a:r>
            <a:r>
              <a:rPr lang="en-IN" sz="2000" dirty="0" err="1">
                <a:latin typeface="Times New Roman" panose="02020603050405020304" pitchFamily="18" charset="0"/>
                <a:cs typeface="Times New Roman" panose="02020603050405020304" pitchFamily="18" charset="0"/>
              </a:rPr>
              <a:t>modeling</a:t>
            </a:r>
            <a:r>
              <a:rPr lang="en-IN" sz="2000" dirty="0">
                <a:latin typeface="Times New Roman" panose="02020603050405020304" pitchFamily="18" charset="0"/>
                <a:cs typeface="Times New Roman" panose="02020603050405020304" pitchFamily="18" charset="0"/>
              </a:rPr>
              <a:t> are also called:  Attributes , Variables , Fields , Features ,Descriptors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Each column describes some information about the unit of analysis. </a:t>
            </a:r>
          </a:p>
          <a:p>
            <a:pPr>
              <a:buNone/>
            </a:pPr>
            <a:r>
              <a:rPr lang="en-IN" sz="2000" dirty="0">
                <a:latin typeface="Times New Roman" panose="02020603050405020304" pitchFamily="18" charset="0"/>
                <a:cs typeface="Times New Roman" panose="02020603050405020304" pitchFamily="18" charset="0"/>
              </a:rPr>
              <a:t>Eg: Customer Analytics</a:t>
            </a:r>
          </a:p>
        </p:txBody>
      </p:sp>
      <p:sp>
        <p:nvSpPr>
          <p:cNvPr id="8" name="TextBox 7">
            <a:extLst>
              <a:ext uri="{FF2B5EF4-FFF2-40B4-BE49-F238E27FC236}">
                <a16:creationId xmlns:a16="http://schemas.microsoft.com/office/drawing/2014/main" id="{9C30E984-29F3-3FB7-9702-182301D8B32C}"/>
              </a:ext>
            </a:extLst>
          </p:cNvPr>
          <p:cNvSpPr txBox="1"/>
          <p:nvPr/>
        </p:nvSpPr>
        <p:spPr>
          <a:xfrm>
            <a:off x="622145" y="3278456"/>
            <a:ext cx="9197898" cy="1631216"/>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Rectangular Data Format : </a:t>
            </a:r>
            <a:r>
              <a:rPr lang="en-IN" sz="2000" dirty="0">
                <a:latin typeface="Times New Roman" panose="02020603050405020304" pitchFamily="18" charset="0"/>
                <a:cs typeface="Times New Roman" panose="02020603050405020304" pitchFamily="18" charset="0"/>
              </a:rPr>
              <a:t>Predictive models require data in </a:t>
            </a:r>
            <a:r>
              <a:rPr lang="en-IN" sz="2000" b="1" dirty="0">
                <a:latin typeface="Times New Roman" panose="02020603050405020304" pitchFamily="18" charset="0"/>
                <a:cs typeface="Times New Roman" panose="02020603050405020304" pitchFamily="18" charset="0"/>
              </a:rPr>
              <a:t>row-column format</a:t>
            </a:r>
            <a:r>
              <a:rPr lang="en-IN" sz="2000" dirty="0">
                <a:latin typeface="Times New Roman" panose="02020603050405020304" pitchFamily="18" charset="0"/>
                <a:cs typeface="Times New Roman" panose="02020603050405020304" pitchFamily="18" charset="0"/>
              </a:rPr>
              <a:t>. </a:t>
            </a:r>
          </a:p>
          <a:p>
            <a:r>
              <a:rPr lang="en-IN" sz="2000" dirty="0">
                <a:latin typeface="Times New Roman" panose="02020603050405020304" pitchFamily="18" charset="0"/>
                <a:cs typeface="Times New Roman" panose="02020603050405020304" pitchFamily="18" charset="0"/>
              </a:rPr>
              <a:t>Every record should </a:t>
            </a:r>
            <a:r>
              <a:rPr lang="en-IN" sz="2000" dirty="0">
                <a:solidFill>
                  <a:srgbClr val="92D050"/>
                </a:solidFill>
                <a:latin typeface="Times New Roman" panose="02020603050405020304" pitchFamily="18" charset="0"/>
                <a:cs typeface="Times New Roman" panose="02020603050405020304" pitchFamily="18" charset="0"/>
              </a:rPr>
              <a:t>have consistent columns</a:t>
            </a:r>
          </a:p>
          <a:p>
            <a:pPr marL="742950" lvl="1"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Same number of columns </a:t>
            </a:r>
          </a:p>
          <a:p>
            <a:pPr marL="742950" lvl="1"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Same order of columns </a:t>
            </a:r>
          </a:p>
          <a:p>
            <a:pPr marL="742950" lvl="1"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Same meaning for each column</a:t>
            </a:r>
          </a:p>
        </p:txBody>
      </p:sp>
      <p:sp>
        <p:nvSpPr>
          <p:cNvPr id="10" name="TextBox 9">
            <a:extLst>
              <a:ext uri="{FF2B5EF4-FFF2-40B4-BE49-F238E27FC236}">
                <a16:creationId xmlns:a16="http://schemas.microsoft.com/office/drawing/2014/main" id="{D22B9303-8E32-8F29-E2C6-2BC44EED9EEC}"/>
              </a:ext>
            </a:extLst>
          </p:cNvPr>
          <p:cNvSpPr txBox="1"/>
          <p:nvPr/>
        </p:nvSpPr>
        <p:spPr>
          <a:xfrm>
            <a:off x="716465" y="5053569"/>
            <a:ext cx="9386539" cy="1477328"/>
          </a:xfrm>
          <a:prstGeom prst="rect">
            <a:avLst/>
          </a:prstGeom>
          <a:noFill/>
        </p:spPr>
        <p:txBody>
          <a:bodyPr wrap="square">
            <a:spAutoFit/>
          </a:bodyPr>
          <a:lstStyle/>
          <a:p>
            <a:pPr>
              <a:buNone/>
            </a:pPr>
            <a:r>
              <a:rPr lang="en-IN" b="1" dirty="0"/>
              <a:t>Eg :storing  Customers who have visited hotel multiple  Visits</a:t>
            </a:r>
          </a:p>
          <a:p>
            <a:pPr>
              <a:buNone/>
            </a:pPr>
            <a:r>
              <a:rPr lang="en-IN" dirty="0"/>
              <a:t>Different customers may have different numbers of visits.</a:t>
            </a:r>
          </a:p>
          <a:p>
            <a:r>
              <a:rPr lang="en-IN" dirty="0"/>
              <a:t>Eg: Customer 1:   Visited once  5/2/12</a:t>
            </a:r>
          </a:p>
          <a:p>
            <a:r>
              <a:rPr lang="en-IN" dirty="0"/>
              <a:t>Customer 2: Visited three times 6/9/12, 9/29/12, 10/13/12</a:t>
            </a:r>
          </a:p>
          <a:p>
            <a:pPr>
              <a:buNone/>
            </a:pPr>
            <a:endParaRPr lang="en-IN" dirty="0"/>
          </a:p>
        </p:txBody>
      </p:sp>
    </p:spTree>
    <p:extLst>
      <p:ext uri="{BB962C8B-B14F-4D97-AF65-F5344CB8AC3E}">
        <p14:creationId xmlns:p14="http://schemas.microsoft.com/office/powerpoint/2010/main" val="9375546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BB7C10-5E9E-10F2-6881-B6F638A7C9B2}"/>
              </a:ext>
            </a:extLst>
          </p:cNvPr>
          <p:cNvSpPr>
            <a:spLocks noGrp="1"/>
          </p:cNvSpPr>
          <p:nvPr>
            <p:ph idx="1"/>
          </p:nvPr>
        </p:nvSpPr>
        <p:spPr>
          <a:xfrm>
            <a:off x="691375" y="479128"/>
            <a:ext cx="10662424" cy="5664007"/>
          </a:xfrm>
        </p:spPr>
        <p:txBody>
          <a:bodyPr/>
          <a:lstStyle/>
          <a:p>
            <a:pPr marL="0" indent="0">
              <a:buNone/>
            </a:pPr>
            <a:r>
              <a:rPr lang="en-IN" sz="2400" b="1" dirty="0">
                <a:latin typeface="Times New Roman" panose="02020603050405020304" pitchFamily="18" charset="0"/>
                <a:cs typeface="Times New Roman" panose="02020603050405020304" pitchFamily="18" charset="0"/>
              </a:rPr>
              <a:t>Method 1: Store Visits as Separate Columns</a:t>
            </a:r>
          </a:p>
          <a:p>
            <a:pPr marL="0" indent="0">
              <a:buNone/>
            </a:pPr>
            <a:endParaRPr lang="en-IN" dirty="0"/>
          </a:p>
        </p:txBody>
      </p:sp>
      <p:pic>
        <p:nvPicPr>
          <p:cNvPr id="5" name="Picture 4">
            <a:extLst>
              <a:ext uri="{FF2B5EF4-FFF2-40B4-BE49-F238E27FC236}">
                <a16:creationId xmlns:a16="http://schemas.microsoft.com/office/drawing/2014/main" id="{19C2397A-DA2A-5BC2-C3E8-8708EE4ADB75}"/>
              </a:ext>
            </a:extLst>
          </p:cNvPr>
          <p:cNvPicPr>
            <a:picLocks noChangeAspect="1"/>
          </p:cNvPicPr>
          <p:nvPr/>
        </p:nvPicPr>
        <p:blipFill>
          <a:blip r:embed="rId2"/>
          <a:stretch>
            <a:fillRect/>
          </a:stretch>
        </p:blipFill>
        <p:spPr>
          <a:xfrm>
            <a:off x="691376" y="1017275"/>
            <a:ext cx="6963747" cy="1390844"/>
          </a:xfrm>
          <a:prstGeom prst="rect">
            <a:avLst/>
          </a:prstGeom>
        </p:spPr>
      </p:pic>
      <p:sp>
        <p:nvSpPr>
          <p:cNvPr id="7" name="TextBox 6">
            <a:extLst>
              <a:ext uri="{FF2B5EF4-FFF2-40B4-BE49-F238E27FC236}">
                <a16:creationId xmlns:a16="http://schemas.microsoft.com/office/drawing/2014/main" id="{C9987610-A716-DE54-22B8-D6EC4AE7652D}"/>
              </a:ext>
            </a:extLst>
          </p:cNvPr>
          <p:cNvSpPr txBox="1"/>
          <p:nvPr/>
        </p:nvSpPr>
        <p:spPr>
          <a:xfrm>
            <a:off x="691376" y="2368485"/>
            <a:ext cx="9088244" cy="1569660"/>
          </a:xfrm>
          <a:prstGeom prst="rect">
            <a:avLst/>
          </a:prstGeom>
          <a:noFill/>
        </p:spPr>
        <p:txBody>
          <a:bodyPr wrap="square">
            <a:spAutoFit/>
          </a:bodyPr>
          <a:lstStyle/>
          <a:p>
            <a:pPr>
              <a:buNone/>
            </a:pPr>
            <a:r>
              <a:rPr lang="en-IN" sz="2400" dirty="0">
                <a:latin typeface="Times New Roman" panose="02020603050405020304" pitchFamily="18" charset="0"/>
                <a:cs typeface="Times New Roman" panose="02020603050405020304" pitchFamily="18" charset="0"/>
              </a:rPr>
              <a:t>Problem:</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Creates missing values (NULL). </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Customers with fewer visits have empty fields. </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Some algorithms cannot handle missing values well.</a:t>
            </a:r>
          </a:p>
        </p:txBody>
      </p:sp>
      <p:sp>
        <p:nvSpPr>
          <p:cNvPr id="11" name="TextBox 10">
            <a:extLst>
              <a:ext uri="{FF2B5EF4-FFF2-40B4-BE49-F238E27FC236}">
                <a16:creationId xmlns:a16="http://schemas.microsoft.com/office/drawing/2014/main" id="{3CFD436E-C59D-E470-B196-5ABE65E23F4E}"/>
              </a:ext>
            </a:extLst>
          </p:cNvPr>
          <p:cNvSpPr txBox="1"/>
          <p:nvPr/>
        </p:nvSpPr>
        <p:spPr>
          <a:xfrm>
            <a:off x="691376" y="3938145"/>
            <a:ext cx="6094140"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Method 2: Store Most Recent Visit First</a:t>
            </a:r>
          </a:p>
        </p:txBody>
      </p:sp>
      <p:sp>
        <p:nvSpPr>
          <p:cNvPr id="13" name="TextBox 12">
            <a:extLst>
              <a:ext uri="{FF2B5EF4-FFF2-40B4-BE49-F238E27FC236}">
                <a16:creationId xmlns:a16="http://schemas.microsoft.com/office/drawing/2014/main" id="{C48096B3-89BA-39E7-BA22-4A2B1482E6A7}"/>
              </a:ext>
            </a:extLst>
          </p:cNvPr>
          <p:cNvSpPr txBox="1"/>
          <p:nvPr/>
        </p:nvSpPr>
        <p:spPr>
          <a:xfrm>
            <a:off x="691375" y="5635304"/>
            <a:ext cx="7928517" cy="1015663"/>
          </a:xfrm>
          <a:prstGeom prst="rect">
            <a:avLst/>
          </a:prstGeom>
          <a:noFill/>
        </p:spPr>
        <p:txBody>
          <a:bodyPr wrap="square">
            <a:spAutoFit/>
          </a:bodyPr>
          <a:lstStyle/>
          <a:p>
            <a:pPr>
              <a:buNone/>
            </a:pPr>
            <a:r>
              <a:rPr lang="en-IN" sz="2000" dirty="0">
                <a:latin typeface="Times New Roman" panose="02020603050405020304" pitchFamily="18" charset="0"/>
                <a:cs typeface="Times New Roman" panose="02020603050405020304" pitchFamily="18" charset="0"/>
              </a:rPr>
              <a:t>Advantage:</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Recent customer </a:t>
            </a:r>
            <a:r>
              <a:rPr lang="en-IN" sz="2000" dirty="0" err="1">
                <a:latin typeface="Times New Roman" panose="02020603050405020304" pitchFamily="18" charset="0"/>
                <a:cs typeface="Times New Roman" panose="02020603050405020304" pitchFamily="18" charset="0"/>
              </a:rPr>
              <a:t>behavior</a:t>
            </a:r>
            <a:r>
              <a:rPr lang="en-IN" sz="2000" dirty="0">
                <a:latin typeface="Times New Roman" panose="02020603050405020304" pitchFamily="18" charset="0"/>
                <a:cs typeface="Times New Roman" panose="02020603050405020304" pitchFamily="18" charset="0"/>
              </a:rPr>
              <a:t> is captured better.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Useful because latest actions often predict future </a:t>
            </a:r>
            <a:r>
              <a:rPr lang="en-IN" sz="2000" dirty="0" err="1">
                <a:latin typeface="Times New Roman" panose="02020603050405020304" pitchFamily="18" charset="0"/>
                <a:cs typeface="Times New Roman" panose="02020603050405020304" pitchFamily="18" charset="0"/>
              </a:rPr>
              <a:t>behavior</a:t>
            </a:r>
            <a:r>
              <a:rPr lang="en-IN" sz="2000" dirty="0">
                <a:latin typeface="Times New Roman" panose="02020603050405020304" pitchFamily="18" charset="0"/>
                <a:cs typeface="Times New Roman" panose="02020603050405020304" pitchFamily="18" charset="0"/>
              </a:rPr>
              <a:t>.</a:t>
            </a:r>
          </a:p>
        </p:txBody>
      </p:sp>
      <p:sp>
        <p:nvSpPr>
          <p:cNvPr id="15" name="TextBox 14">
            <a:extLst>
              <a:ext uri="{FF2B5EF4-FFF2-40B4-BE49-F238E27FC236}">
                <a16:creationId xmlns:a16="http://schemas.microsoft.com/office/drawing/2014/main" id="{B890F873-FC3D-FE5E-C8C5-9F89B357F973}"/>
              </a:ext>
            </a:extLst>
          </p:cNvPr>
          <p:cNvSpPr txBox="1"/>
          <p:nvPr/>
        </p:nvSpPr>
        <p:spPr>
          <a:xfrm>
            <a:off x="691375" y="4490292"/>
            <a:ext cx="7928517" cy="1015663"/>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Customer ID | Recent Visit | Previous Visit </a:t>
            </a:r>
          </a:p>
          <a:p>
            <a:r>
              <a:rPr lang="en-IN" sz="2000" dirty="0">
                <a:latin typeface="Times New Roman" panose="02020603050405020304" pitchFamily="18" charset="0"/>
                <a:cs typeface="Times New Roman" panose="02020603050405020304" pitchFamily="18" charset="0"/>
              </a:rPr>
              <a:t>100001            | 5/2/12               | NULL </a:t>
            </a:r>
          </a:p>
          <a:p>
            <a:r>
              <a:rPr lang="en-IN" sz="2000" dirty="0">
                <a:latin typeface="Times New Roman" panose="02020603050405020304" pitchFamily="18" charset="0"/>
                <a:cs typeface="Times New Roman" panose="02020603050405020304" pitchFamily="18" charset="0"/>
              </a:rPr>
              <a:t>100002             |10/13/12          |9/29/12</a:t>
            </a:r>
          </a:p>
        </p:txBody>
      </p:sp>
    </p:spTree>
    <p:extLst>
      <p:ext uri="{BB962C8B-B14F-4D97-AF65-F5344CB8AC3E}">
        <p14:creationId xmlns:p14="http://schemas.microsoft.com/office/powerpoint/2010/main" val="6096248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C283022-5D01-4EB2-E20D-6EC4434C800A}"/>
              </a:ext>
            </a:extLst>
          </p:cNvPr>
          <p:cNvPicPr>
            <a:picLocks noGrp="1" noChangeAspect="1"/>
          </p:cNvPicPr>
          <p:nvPr>
            <p:ph idx="1"/>
          </p:nvPr>
        </p:nvPicPr>
        <p:blipFill>
          <a:blip r:embed="rId2"/>
          <a:stretch>
            <a:fillRect/>
          </a:stretch>
        </p:blipFill>
        <p:spPr>
          <a:xfrm>
            <a:off x="1215482" y="2643078"/>
            <a:ext cx="6849431" cy="1571844"/>
          </a:xfrm>
          <a:prstGeom prst="rect">
            <a:avLst/>
          </a:prstGeom>
        </p:spPr>
      </p:pic>
      <p:sp>
        <p:nvSpPr>
          <p:cNvPr id="8" name="TextBox 7">
            <a:extLst>
              <a:ext uri="{FF2B5EF4-FFF2-40B4-BE49-F238E27FC236}">
                <a16:creationId xmlns:a16="http://schemas.microsoft.com/office/drawing/2014/main" id="{2190FF0B-A1BF-0EA1-1368-00183629E7F6}"/>
              </a:ext>
            </a:extLst>
          </p:cNvPr>
          <p:cNvSpPr txBox="1"/>
          <p:nvPr/>
        </p:nvSpPr>
        <p:spPr>
          <a:xfrm>
            <a:off x="1215482" y="914400"/>
            <a:ext cx="5974265" cy="1200329"/>
          </a:xfrm>
          <a:prstGeom prst="rect">
            <a:avLst/>
          </a:prstGeom>
          <a:noFill/>
        </p:spPr>
        <p:txBody>
          <a:bodyPr wrap="square">
            <a:spAutoFit/>
          </a:bodyPr>
          <a:lstStyle/>
          <a:p>
            <a:pPr>
              <a:buNone/>
            </a:pPr>
            <a:r>
              <a:rPr lang="en-IN" sz="2400" b="1" dirty="0">
                <a:latin typeface="Times New Roman" panose="02020603050405020304" pitchFamily="18" charset="0"/>
                <a:cs typeface="Times New Roman" panose="02020603050405020304" pitchFamily="18" charset="0"/>
              </a:rPr>
              <a:t>Method 3: Summarize Visit Information</a:t>
            </a:r>
          </a:p>
          <a:p>
            <a:pPr>
              <a:buNone/>
            </a:pPr>
            <a:r>
              <a:rPr lang="en-IN" sz="2400" dirty="0">
                <a:latin typeface="Times New Roman" panose="02020603050405020304" pitchFamily="18" charset="0"/>
                <a:cs typeface="Times New Roman" panose="02020603050405020304" pitchFamily="18" charset="0"/>
              </a:rPr>
              <a:t>Instead of storing every visit:</a:t>
            </a:r>
          </a:p>
          <a:p>
            <a:pPr>
              <a:buNone/>
            </a:pPr>
            <a:r>
              <a:rPr lang="en-IN" sz="2400" dirty="0">
                <a:latin typeface="Times New Roman" panose="02020603050405020304" pitchFamily="18" charset="0"/>
                <a:cs typeface="Times New Roman" panose="02020603050405020304" pitchFamily="18" charset="0"/>
              </a:rPr>
              <a:t>Create useful features.</a:t>
            </a:r>
          </a:p>
        </p:txBody>
      </p:sp>
      <p:sp>
        <p:nvSpPr>
          <p:cNvPr id="10" name="TextBox 9">
            <a:extLst>
              <a:ext uri="{FF2B5EF4-FFF2-40B4-BE49-F238E27FC236}">
                <a16:creationId xmlns:a16="http://schemas.microsoft.com/office/drawing/2014/main" id="{A20294A5-3361-46E9-2E82-E3AD3C4CF3D1}"/>
              </a:ext>
            </a:extLst>
          </p:cNvPr>
          <p:cNvSpPr txBox="1"/>
          <p:nvPr/>
        </p:nvSpPr>
        <p:spPr>
          <a:xfrm>
            <a:off x="1430143" y="4743271"/>
            <a:ext cx="8817827" cy="1569660"/>
          </a:xfrm>
          <a:prstGeom prst="rect">
            <a:avLst/>
          </a:prstGeom>
          <a:noFill/>
        </p:spPr>
        <p:txBody>
          <a:bodyPr wrap="square">
            <a:spAutoFit/>
          </a:bodyPr>
          <a:lstStyle/>
          <a:p>
            <a:pPr>
              <a:buNone/>
            </a:pPr>
            <a:r>
              <a:rPr lang="en-IN" sz="2400" dirty="0">
                <a:latin typeface="Times New Roman" panose="02020603050405020304" pitchFamily="18" charset="0"/>
                <a:cs typeface="Times New Roman" panose="02020603050405020304" pitchFamily="18" charset="0"/>
              </a:rPr>
              <a:t>Advantages:</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Removes missing values. </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Maintains rectangular format. </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Easier for predictive models.</a:t>
            </a:r>
          </a:p>
        </p:txBody>
      </p:sp>
    </p:spTree>
    <p:extLst>
      <p:ext uri="{BB962C8B-B14F-4D97-AF65-F5344CB8AC3E}">
        <p14:creationId xmlns:p14="http://schemas.microsoft.com/office/powerpoint/2010/main" val="10905197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981D97-8311-DFC1-118E-BEA690563388}"/>
              </a:ext>
            </a:extLst>
          </p:cNvPr>
          <p:cNvSpPr>
            <a:spLocks noGrp="1"/>
          </p:cNvSpPr>
          <p:nvPr>
            <p:ph idx="1"/>
          </p:nvPr>
        </p:nvSpPr>
        <p:spPr>
          <a:xfrm>
            <a:off x="426534" y="342513"/>
            <a:ext cx="11338931" cy="4351338"/>
          </a:xfrm>
        </p:spPr>
        <p:txBody>
          <a:bodyPr/>
          <a:lstStyle/>
          <a:p>
            <a:pPr marL="0" indent="0">
              <a:buNone/>
            </a:pPr>
            <a:r>
              <a:rPr lang="en-IN" dirty="0">
                <a:solidFill>
                  <a:srgbClr val="FF0000"/>
                </a:solidFill>
              </a:rPr>
              <a:t>Defining the unit of analysis </a:t>
            </a:r>
          </a:p>
          <a:p>
            <a:pPr lvl="1"/>
            <a:r>
              <a:rPr lang="en-IN" dirty="0"/>
              <a:t> unit analysis defines what each row/record represents, and predictive algorithms assume that every record is an independent observation.</a:t>
            </a:r>
          </a:p>
          <a:p>
            <a:pPr lvl="1"/>
            <a:r>
              <a:rPr lang="en-IN" dirty="0"/>
              <a:t> If records are connected or influenced by each other, the model may learn biased patterns instead of true </a:t>
            </a:r>
            <a:r>
              <a:rPr lang="en-IN" dirty="0" err="1"/>
              <a:t>behavior</a:t>
            </a:r>
            <a:r>
              <a:rPr lang="en-IN" dirty="0"/>
              <a:t>.</a:t>
            </a:r>
          </a:p>
          <a:p>
            <a:pPr lvl="1"/>
            <a:r>
              <a:rPr lang="en-IN" dirty="0"/>
              <a:t> For </a:t>
            </a:r>
            <a:r>
              <a:rPr lang="en-IN" dirty="0" err="1"/>
              <a:t>eg</a:t>
            </a:r>
            <a:r>
              <a:rPr lang="en-IN" dirty="0"/>
              <a:t>,  Hotel customer data model - built only from employees of one company may learn that company's travel rules rather than general customer travel </a:t>
            </a:r>
            <a:r>
              <a:rPr lang="en-IN" dirty="0" err="1"/>
              <a:t>behavior</a:t>
            </a:r>
            <a:r>
              <a:rPr lang="en-IN" dirty="0"/>
              <a:t>, making predictions less accurate for other customers.</a:t>
            </a:r>
          </a:p>
          <a:p>
            <a:pPr lvl="1"/>
            <a:endParaRPr lang="en-IN" dirty="0"/>
          </a:p>
          <a:p>
            <a:pPr lvl="1"/>
            <a:r>
              <a:rPr lang="en-IN" dirty="0"/>
              <a:t>It is one of the first decisions made before building a predictive model.</a:t>
            </a:r>
          </a:p>
        </p:txBody>
      </p:sp>
    </p:spTree>
    <p:extLst>
      <p:ext uri="{BB962C8B-B14F-4D97-AF65-F5344CB8AC3E}">
        <p14:creationId xmlns:p14="http://schemas.microsoft.com/office/powerpoint/2010/main" val="24275928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62A1297-CABF-0C9E-A779-6EB202CD68A1}"/>
              </a:ext>
            </a:extLst>
          </p:cNvPr>
          <p:cNvGraphicFramePr>
            <a:graphicFrameLocks noGrp="1"/>
          </p:cNvGraphicFramePr>
          <p:nvPr>
            <p:ph idx="1"/>
            <p:extLst>
              <p:ext uri="{D42A27DB-BD31-4B8C-83A1-F6EECF244321}">
                <p14:modId xmlns:p14="http://schemas.microsoft.com/office/powerpoint/2010/main" val="596293042"/>
              </p:ext>
            </p:extLst>
          </p:nvPr>
        </p:nvGraphicFramePr>
        <p:xfrm>
          <a:off x="1095607" y="2203682"/>
          <a:ext cx="10515600" cy="1463040"/>
        </p:xfrm>
        <a:graphic>
          <a:graphicData uri="http://schemas.openxmlformats.org/drawingml/2006/table">
            <a:tbl>
              <a:tblPr/>
              <a:tblGrid>
                <a:gridCol w="2628900">
                  <a:extLst>
                    <a:ext uri="{9D8B030D-6E8A-4147-A177-3AD203B41FA5}">
                      <a16:colId xmlns:a16="http://schemas.microsoft.com/office/drawing/2014/main" val="2327011158"/>
                    </a:ext>
                  </a:extLst>
                </a:gridCol>
                <a:gridCol w="2628900">
                  <a:extLst>
                    <a:ext uri="{9D8B030D-6E8A-4147-A177-3AD203B41FA5}">
                      <a16:colId xmlns:a16="http://schemas.microsoft.com/office/drawing/2014/main" val="4151159825"/>
                    </a:ext>
                  </a:extLst>
                </a:gridCol>
                <a:gridCol w="2628900">
                  <a:extLst>
                    <a:ext uri="{9D8B030D-6E8A-4147-A177-3AD203B41FA5}">
                      <a16:colId xmlns:a16="http://schemas.microsoft.com/office/drawing/2014/main" val="2492160815"/>
                    </a:ext>
                  </a:extLst>
                </a:gridCol>
                <a:gridCol w="2628900">
                  <a:extLst>
                    <a:ext uri="{9D8B030D-6E8A-4147-A177-3AD203B41FA5}">
                      <a16:colId xmlns:a16="http://schemas.microsoft.com/office/drawing/2014/main" val="938599033"/>
                    </a:ext>
                  </a:extLst>
                </a:gridCol>
              </a:tblGrid>
              <a:tr h="0">
                <a:tc>
                  <a:txBody>
                    <a:bodyPr/>
                    <a:lstStyle/>
                    <a:p>
                      <a:pPr>
                        <a:buNone/>
                      </a:pPr>
                      <a:r>
                        <a:rPr lang="en-IN"/>
                        <a:t>Customer ID</a:t>
                      </a:r>
                    </a:p>
                  </a:txBody>
                  <a:tcPr anchor="ctr">
                    <a:lnL>
                      <a:noFill/>
                    </a:lnL>
                    <a:lnR>
                      <a:noFill/>
                    </a:lnR>
                    <a:lnT>
                      <a:noFill/>
                    </a:lnT>
                    <a:lnB>
                      <a:noFill/>
                    </a:lnB>
                    <a:noFill/>
                  </a:tcPr>
                </a:tc>
                <a:tc>
                  <a:txBody>
                    <a:bodyPr/>
                    <a:lstStyle/>
                    <a:p>
                      <a:pPr>
                        <a:buNone/>
                      </a:pPr>
                      <a:r>
                        <a:rPr lang="en-IN"/>
                        <a:t>Visits</a:t>
                      </a:r>
                    </a:p>
                  </a:txBody>
                  <a:tcPr anchor="ctr">
                    <a:lnL>
                      <a:noFill/>
                    </a:lnL>
                    <a:lnR>
                      <a:noFill/>
                    </a:lnR>
                    <a:lnT>
                      <a:noFill/>
                    </a:lnT>
                    <a:lnB>
                      <a:noFill/>
                    </a:lnB>
                    <a:noFill/>
                  </a:tcPr>
                </a:tc>
                <a:tc>
                  <a:txBody>
                    <a:bodyPr/>
                    <a:lstStyle/>
                    <a:p>
                      <a:pPr>
                        <a:buNone/>
                      </a:pPr>
                      <a:r>
                        <a:rPr lang="en-IN"/>
                        <a:t>Purpose</a:t>
                      </a:r>
                    </a:p>
                  </a:txBody>
                  <a:tcPr anchor="ctr">
                    <a:lnL>
                      <a:noFill/>
                    </a:lnL>
                    <a:lnR>
                      <a:noFill/>
                    </a:lnR>
                    <a:lnT>
                      <a:noFill/>
                    </a:lnT>
                    <a:lnB>
                      <a:noFill/>
                    </a:lnB>
                    <a:noFill/>
                  </a:tcPr>
                </a:tc>
                <a:tc>
                  <a:txBody>
                    <a:bodyPr/>
                    <a:lstStyle/>
                    <a:p>
                      <a:pPr>
                        <a:buNone/>
                      </a:pPr>
                      <a:r>
                        <a:rPr lang="en-IN" dirty="0"/>
                        <a:t>Book Again</a:t>
                      </a:r>
                    </a:p>
                  </a:txBody>
                  <a:tcPr anchor="ctr">
                    <a:lnL>
                      <a:noFill/>
                    </a:lnL>
                    <a:lnR>
                      <a:noFill/>
                    </a:lnR>
                    <a:lnT>
                      <a:noFill/>
                    </a:lnT>
                    <a:lnB>
                      <a:noFill/>
                    </a:lnB>
                    <a:noFill/>
                  </a:tcPr>
                </a:tc>
                <a:extLst>
                  <a:ext uri="{0D108BD9-81ED-4DB2-BD59-A6C34878D82A}">
                    <a16:rowId xmlns:a16="http://schemas.microsoft.com/office/drawing/2014/main" val="347102447"/>
                  </a:ext>
                </a:extLst>
              </a:tr>
              <a:tr h="0">
                <a:tc>
                  <a:txBody>
                    <a:bodyPr/>
                    <a:lstStyle/>
                    <a:p>
                      <a:pPr>
                        <a:buNone/>
                      </a:pPr>
                      <a:r>
                        <a:rPr lang="en-IN"/>
                        <a:t>101</a:t>
                      </a:r>
                    </a:p>
                  </a:txBody>
                  <a:tcPr anchor="ctr">
                    <a:lnL>
                      <a:noFill/>
                    </a:lnL>
                    <a:lnR>
                      <a:noFill/>
                    </a:lnR>
                    <a:lnT>
                      <a:noFill/>
                    </a:lnT>
                    <a:lnB>
                      <a:noFill/>
                    </a:lnB>
                    <a:noFill/>
                  </a:tcPr>
                </a:tc>
                <a:tc>
                  <a:txBody>
                    <a:bodyPr/>
                    <a:lstStyle/>
                    <a:p>
                      <a:pPr>
                        <a:buNone/>
                      </a:pPr>
                      <a:r>
                        <a:rPr lang="en-IN"/>
                        <a:t>5</a:t>
                      </a:r>
                    </a:p>
                  </a:txBody>
                  <a:tcPr anchor="ctr">
                    <a:lnL>
                      <a:noFill/>
                    </a:lnL>
                    <a:lnR>
                      <a:noFill/>
                    </a:lnR>
                    <a:lnT>
                      <a:noFill/>
                    </a:lnT>
                    <a:lnB>
                      <a:noFill/>
                    </a:lnB>
                    <a:noFill/>
                  </a:tcPr>
                </a:tc>
                <a:tc>
                  <a:txBody>
                    <a:bodyPr/>
                    <a:lstStyle/>
                    <a:p>
                      <a:pPr>
                        <a:buNone/>
                      </a:pPr>
                      <a:r>
                        <a:rPr lang="en-IN"/>
                        <a:t>Vacation</a:t>
                      </a:r>
                    </a:p>
                  </a:txBody>
                  <a:tcPr anchor="ctr">
                    <a:lnL>
                      <a:noFill/>
                    </a:lnL>
                    <a:lnR>
                      <a:noFill/>
                    </a:lnR>
                    <a:lnT>
                      <a:noFill/>
                    </a:lnT>
                    <a:lnB>
                      <a:noFill/>
                    </a:lnB>
                    <a:noFill/>
                  </a:tcPr>
                </a:tc>
                <a:tc>
                  <a:txBody>
                    <a:bodyPr/>
                    <a:lstStyle/>
                    <a:p>
                      <a:pPr>
                        <a:buNone/>
                      </a:pPr>
                      <a:r>
                        <a:rPr lang="en-IN"/>
                        <a:t>Yes</a:t>
                      </a:r>
                    </a:p>
                  </a:txBody>
                  <a:tcPr anchor="ctr">
                    <a:lnL>
                      <a:noFill/>
                    </a:lnL>
                    <a:lnR>
                      <a:noFill/>
                    </a:lnR>
                    <a:lnT>
                      <a:noFill/>
                    </a:lnT>
                    <a:lnB>
                      <a:noFill/>
                    </a:lnB>
                    <a:noFill/>
                  </a:tcPr>
                </a:tc>
                <a:extLst>
                  <a:ext uri="{0D108BD9-81ED-4DB2-BD59-A6C34878D82A}">
                    <a16:rowId xmlns:a16="http://schemas.microsoft.com/office/drawing/2014/main" val="2203493409"/>
                  </a:ext>
                </a:extLst>
              </a:tr>
              <a:tr h="0">
                <a:tc>
                  <a:txBody>
                    <a:bodyPr/>
                    <a:lstStyle/>
                    <a:p>
                      <a:pPr>
                        <a:buNone/>
                      </a:pPr>
                      <a:r>
                        <a:rPr lang="en-IN"/>
                        <a:t>102</a:t>
                      </a:r>
                    </a:p>
                  </a:txBody>
                  <a:tcPr anchor="ctr">
                    <a:lnL>
                      <a:noFill/>
                    </a:lnL>
                    <a:lnR>
                      <a:noFill/>
                    </a:lnR>
                    <a:lnT>
                      <a:noFill/>
                    </a:lnT>
                    <a:lnB>
                      <a:noFill/>
                    </a:lnB>
                    <a:noFill/>
                  </a:tcPr>
                </a:tc>
                <a:tc>
                  <a:txBody>
                    <a:bodyPr/>
                    <a:lstStyle/>
                    <a:p>
                      <a:pPr>
                        <a:buNone/>
                      </a:pPr>
                      <a:r>
                        <a:rPr lang="en-IN"/>
                        <a:t>1</a:t>
                      </a:r>
                    </a:p>
                  </a:txBody>
                  <a:tcPr anchor="ctr">
                    <a:lnL>
                      <a:noFill/>
                    </a:lnL>
                    <a:lnR>
                      <a:noFill/>
                    </a:lnR>
                    <a:lnT>
                      <a:noFill/>
                    </a:lnT>
                    <a:lnB>
                      <a:noFill/>
                    </a:lnB>
                    <a:noFill/>
                  </a:tcPr>
                </a:tc>
                <a:tc>
                  <a:txBody>
                    <a:bodyPr/>
                    <a:lstStyle/>
                    <a:p>
                      <a:pPr>
                        <a:buNone/>
                      </a:pPr>
                      <a:r>
                        <a:rPr lang="en-IN"/>
                        <a:t>Business</a:t>
                      </a:r>
                    </a:p>
                  </a:txBody>
                  <a:tcPr anchor="ctr">
                    <a:lnL>
                      <a:noFill/>
                    </a:lnL>
                    <a:lnR>
                      <a:noFill/>
                    </a:lnR>
                    <a:lnT>
                      <a:noFill/>
                    </a:lnT>
                    <a:lnB>
                      <a:noFill/>
                    </a:lnB>
                    <a:noFill/>
                  </a:tcPr>
                </a:tc>
                <a:tc>
                  <a:txBody>
                    <a:bodyPr/>
                    <a:lstStyle/>
                    <a:p>
                      <a:pPr>
                        <a:buNone/>
                      </a:pPr>
                      <a:r>
                        <a:rPr lang="en-IN"/>
                        <a:t>No</a:t>
                      </a:r>
                    </a:p>
                  </a:txBody>
                  <a:tcPr anchor="ctr">
                    <a:lnL>
                      <a:noFill/>
                    </a:lnL>
                    <a:lnR>
                      <a:noFill/>
                    </a:lnR>
                    <a:lnT>
                      <a:noFill/>
                    </a:lnT>
                    <a:lnB>
                      <a:noFill/>
                    </a:lnB>
                    <a:noFill/>
                  </a:tcPr>
                </a:tc>
                <a:extLst>
                  <a:ext uri="{0D108BD9-81ED-4DB2-BD59-A6C34878D82A}">
                    <a16:rowId xmlns:a16="http://schemas.microsoft.com/office/drawing/2014/main" val="2117820885"/>
                  </a:ext>
                </a:extLst>
              </a:tr>
              <a:tr h="0">
                <a:tc>
                  <a:txBody>
                    <a:bodyPr/>
                    <a:lstStyle/>
                    <a:p>
                      <a:pPr>
                        <a:buNone/>
                      </a:pPr>
                      <a:r>
                        <a:rPr lang="en-IN"/>
                        <a:t>103</a:t>
                      </a:r>
                    </a:p>
                  </a:txBody>
                  <a:tcPr anchor="ctr">
                    <a:lnL>
                      <a:noFill/>
                    </a:lnL>
                    <a:lnR>
                      <a:noFill/>
                    </a:lnR>
                    <a:lnT>
                      <a:noFill/>
                    </a:lnT>
                    <a:lnB>
                      <a:noFill/>
                    </a:lnB>
                    <a:noFill/>
                  </a:tcPr>
                </a:tc>
                <a:tc>
                  <a:txBody>
                    <a:bodyPr/>
                    <a:lstStyle/>
                    <a:p>
                      <a:pPr>
                        <a:buNone/>
                      </a:pPr>
                      <a:r>
                        <a:rPr lang="en-IN"/>
                        <a:t>3</a:t>
                      </a:r>
                    </a:p>
                  </a:txBody>
                  <a:tcPr anchor="ctr">
                    <a:lnL>
                      <a:noFill/>
                    </a:lnL>
                    <a:lnR>
                      <a:noFill/>
                    </a:lnR>
                    <a:lnT>
                      <a:noFill/>
                    </a:lnT>
                    <a:lnB>
                      <a:noFill/>
                    </a:lnB>
                    <a:noFill/>
                  </a:tcPr>
                </a:tc>
                <a:tc>
                  <a:txBody>
                    <a:bodyPr/>
                    <a:lstStyle/>
                    <a:p>
                      <a:pPr>
                        <a:buNone/>
                      </a:pPr>
                      <a:r>
                        <a:rPr lang="en-IN"/>
                        <a:t>Family Trip</a:t>
                      </a:r>
                    </a:p>
                  </a:txBody>
                  <a:tcPr anchor="ctr">
                    <a:lnL>
                      <a:noFill/>
                    </a:lnL>
                    <a:lnR>
                      <a:noFill/>
                    </a:lnR>
                    <a:lnT>
                      <a:noFill/>
                    </a:lnT>
                    <a:lnB>
                      <a:noFill/>
                    </a:lnB>
                    <a:noFill/>
                  </a:tcPr>
                </a:tc>
                <a:tc>
                  <a:txBody>
                    <a:bodyPr/>
                    <a:lstStyle/>
                    <a:p>
                      <a:pPr>
                        <a:buNone/>
                      </a:pPr>
                      <a:r>
                        <a:rPr lang="en-IN" dirty="0"/>
                        <a:t>Yes</a:t>
                      </a:r>
                    </a:p>
                  </a:txBody>
                  <a:tcPr anchor="ctr">
                    <a:lnL>
                      <a:noFill/>
                    </a:lnL>
                    <a:lnR>
                      <a:noFill/>
                    </a:lnR>
                    <a:lnT>
                      <a:noFill/>
                    </a:lnT>
                    <a:lnB>
                      <a:noFill/>
                    </a:lnB>
                    <a:noFill/>
                  </a:tcPr>
                </a:tc>
                <a:extLst>
                  <a:ext uri="{0D108BD9-81ED-4DB2-BD59-A6C34878D82A}">
                    <a16:rowId xmlns:a16="http://schemas.microsoft.com/office/drawing/2014/main" val="1484564018"/>
                  </a:ext>
                </a:extLst>
              </a:tr>
            </a:tbl>
          </a:graphicData>
        </a:graphic>
      </p:graphicFrame>
      <p:sp>
        <p:nvSpPr>
          <p:cNvPr id="6" name="TextBox 5">
            <a:extLst>
              <a:ext uri="{FF2B5EF4-FFF2-40B4-BE49-F238E27FC236}">
                <a16:creationId xmlns:a16="http://schemas.microsoft.com/office/drawing/2014/main" id="{3CD844CB-D932-2906-9B64-D40474B54240}"/>
              </a:ext>
            </a:extLst>
          </p:cNvPr>
          <p:cNvSpPr txBox="1"/>
          <p:nvPr/>
        </p:nvSpPr>
        <p:spPr>
          <a:xfrm>
            <a:off x="995247" y="305068"/>
            <a:ext cx="9453446" cy="5940088"/>
          </a:xfrm>
          <a:prstGeom prst="rect">
            <a:avLst/>
          </a:prstGeom>
          <a:noFill/>
        </p:spPr>
        <p:txBody>
          <a:bodyPr wrap="square">
            <a:spAutoFit/>
          </a:bodyPr>
          <a:lstStyle/>
          <a:p>
            <a:pPr>
              <a:buNone/>
            </a:pPr>
            <a:r>
              <a:rPr lang="en-IN" sz="2000" dirty="0">
                <a:latin typeface="Times New Roman" panose="02020603050405020304" pitchFamily="18" charset="0"/>
                <a:cs typeface="Times New Roman" panose="02020603050405020304" pitchFamily="18" charset="0"/>
              </a:rPr>
              <a:t>Suppose a hotel wants to build a predictive model to predict:</a:t>
            </a:r>
          </a:p>
          <a:p>
            <a:pPr>
              <a:buNone/>
            </a:pPr>
            <a:r>
              <a:rPr lang="en-IN" sz="2000" dirty="0">
                <a:latin typeface="Times New Roman" panose="02020603050405020304" pitchFamily="18" charset="0"/>
                <a:cs typeface="Times New Roman" panose="02020603050405020304" pitchFamily="18" charset="0"/>
              </a:rPr>
              <a:t>“Which customer is likely to book a room again?”</a:t>
            </a:r>
          </a:p>
          <a:p>
            <a:pPr>
              <a:buNone/>
            </a:pPr>
            <a:r>
              <a:rPr lang="en-IN" sz="2000" dirty="0">
                <a:latin typeface="Times New Roman" panose="02020603050405020304" pitchFamily="18" charset="0"/>
                <a:cs typeface="Times New Roman" panose="02020603050405020304" pitchFamily="18" charset="0"/>
              </a:rPr>
              <a:t>Here the unit of analysis = one customer</a:t>
            </a:r>
          </a:p>
          <a:p>
            <a:pPr>
              <a:buNone/>
            </a:pPr>
            <a:endParaRPr lang="en-IN" sz="2000" dirty="0">
              <a:latin typeface="Times New Roman" panose="02020603050405020304" pitchFamily="18" charset="0"/>
              <a:cs typeface="Times New Roman" panose="02020603050405020304" pitchFamily="18" charset="0"/>
            </a:endParaRPr>
          </a:p>
          <a:p>
            <a:pPr>
              <a:buNone/>
            </a:pPr>
            <a:r>
              <a:rPr lang="en-IN" sz="2000" dirty="0">
                <a:latin typeface="Times New Roman" panose="02020603050405020304" pitchFamily="18" charset="0"/>
                <a:cs typeface="Times New Roman" panose="02020603050405020304" pitchFamily="18" charset="0"/>
              </a:rPr>
              <a:t>Each row represents one customer:</a:t>
            </a:r>
          </a:p>
          <a:p>
            <a:pPr>
              <a:buNone/>
            </a:pPr>
            <a:endParaRPr lang="en-IN" sz="2000" dirty="0">
              <a:latin typeface="Times New Roman" panose="02020603050405020304" pitchFamily="18" charset="0"/>
              <a:cs typeface="Times New Roman" panose="02020603050405020304" pitchFamily="18" charset="0"/>
            </a:endParaRPr>
          </a:p>
          <a:p>
            <a:pPr>
              <a:buNone/>
            </a:pPr>
            <a:endParaRPr lang="en-IN" sz="2000" dirty="0">
              <a:latin typeface="Times New Roman" panose="02020603050405020304" pitchFamily="18" charset="0"/>
              <a:cs typeface="Times New Roman" panose="02020603050405020304" pitchFamily="18" charset="0"/>
            </a:endParaRPr>
          </a:p>
          <a:p>
            <a:pPr>
              <a:buNone/>
            </a:pPr>
            <a:endParaRPr lang="en-IN" sz="2000" dirty="0">
              <a:latin typeface="Times New Roman" panose="02020603050405020304" pitchFamily="18" charset="0"/>
              <a:cs typeface="Times New Roman" panose="02020603050405020304" pitchFamily="18" charset="0"/>
            </a:endParaRPr>
          </a:p>
          <a:p>
            <a:pPr>
              <a:buNone/>
            </a:pPr>
            <a:endParaRPr lang="en-IN" sz="2000" dirty="0">
              <a:latin typeface="Times New Roman" panose="02020603050405020304" pitchFamily="18" charset="0"/>
              <a:cs typeface="Times New Roman" panose="02020603050405020304" pitchFamily="18" charset="0"/>
            </a:endParaRPr>
          </a:p>
          <a:p>
            <a:pPr>
              <a:buNone/>
            </a:pPr>
            <a:endParaRPr lang="en-IN" sz="2000" dirty="0">
              <a:latin typeface="Times New Roman" panose="02020603050405020304" pitchFamily="18" charset="0"/>
              <a:cs typeface="Times New Roman" panose="02020603050405020304" pitchFamily="18" charset="0"/>
            </a:endParaRPr>
          </a:p>
          <a:p>
            <a:pPr>
              <a:buNone/>
            </a:pPr>
            <a:endParaRPr lang="en-IN" sz="2000" dirty="0">
              <a:latin typeface="Times New Roman" panose="02020603050405020304" pitchFamily="18" charset="0"/>
              <a:cs typeface="Times New Roman" panose="02020603050405020304" pitchFamily="18" charset="0"/>
            </a:endParaRPr>
          </a:p>
          <a:p>
            <a:pPr>
              <a:buNone/>
            </a:pPr>
            <a:endParaRPr lang="en-IN" sz="2000" dirty="0">
              <a:latin typeface="Times New Roman" panose="02020603050405020304" pitchFamily="18" charset="0"/>
              <a:cs typeface="Times New Roman" panose="02020603050405020304" pitchFamily="18" charset="0"/>
            </a:endParaRPr>
          </a:p>
          <a:p>
            <a:pPr>
              <a:buNone/>
            </a:pPr>
            <a:r>
              <a:rPr lang="en-IN" sz="2000" dirty="0">
                <a:latin typeface="Times New Roman" panose="02020603050405020304" pitchFamily="18" charset="0"/>
                <a:cs typeface="Times New Roman" panose="02020603050405020304" pitchFamily="18" charset="0"/>
              </a:rPr>
              <a:t>The model assumes:</a:t>
            </a:r>
          </a:p>
          <a:p>
            <a:pPr rtl="0">
              <a:buNone/>
            </a:pPr>
            <a:r>
              <a:rPr lang="en-IN" sz="2000" dirty="0">
                <a:latin typeface="Times New Roman" panose="02020603050405020304" pitchFamily="18" charset="0"/>
                <a:cs typeface="Times New Roman" panose="02020603050405020304" pitchFamily="18" charset="0"/>
              </a:rPr>
              <a:t>Customer 101 </a:t>
            </a:r>
            <a:r>
              <a:rPr lang="en-IN" sz="2000" dirty="0" err="1">
                <a:latin typeface="Times New Roman" panose="02020603050405020304" pitchFamily="18" charset="0"/>
                <a:cs typeface="Times New Roman" panose="02020603050405020304" pitchFamily="18" charset="0"/>
              </a:rPr>
              <a:t>behavior</a:t>
            </a:r>
            <a:r>
              <a:rPr lang="en-IN" sz="2000" dirty="0">
                <a:latin typeface="Times New Roman" panose="02020603050405020304" pitchFamily="18" charset="0"/>
                <a:cs typeface="Times New Roman" panose="02020603050405020304" pitchFamily="18" charset="0"/>
              </a:rPr>
              <a:t> is independent</a:t>
            </a:r>
          </a:p>
          <a:p>
            <a:pPr rtl="0">
              <a:buNone/>
            </a:pPr>
            <a:r>
              <a:rPr lang="en-IN" sz="2000" dirty="0">
                <a:latin typeface="Times New Roman" panose="02020603050405020304" pitchFamily="18" charset="0"/>
                <a:cs typeface="Times New Roman" panose="02020603050405020304" pitchFamily="18" charset="0"/>
              </a:rPr>
              <a:t>Customer 102 </a:t>
            </a:r>
            <a:r>
              <a:rPr lang="en-IN" sz="2000" dirty="0" err="1">
                <a:latin typeface="Times New Roman" panose="02020603050405020304" pitchFamily="18" charset="0"/>
                <a:cs typeface="Times New Roman" panose="02020603050405020304" pitchFamily="18" charset="0"/>
              </a:rPr>
              <a:t>behavior</a:t>
            </a:r>
            <a:r>
              <a:rPr lang="en-IN" sz="2000" dirty="0">
                <a:latin typeface="Times New Roman" panose="02020603050405020304" pitchFamily="18" charset="0"/>
                <a:cs typeface="Times New Roman" panose="02020603050405020304" pitchFamily="18" charset="0"/>
              </a:rPr>
              <a:t> is independent</a:t>
            </a:r>
          </a:p>
          <a:p>
            <a:pPr rtl="0">
              <a:buNone/>
            </a:pPr>
            <a:r>
              <a:rPr lang="en-IN" sz="2000" dirty="0">
                <a:latin typeface="Times New Roman" panose="02020603050405020304" pitchFamily="18" charset="0"/>
                <a:cs typeface="Times New Roman" panose="02020603050405020304" pitchFamily="18" charset="0"/>
              </a:rPr>
              <a:t>Customer 103 </a:t>
            </a:r>
            <a:r>
              <a:rPr lang="en-IN" sz="2000" dirty="0" err="1">
                <a:latin typeface="Times New Roman" panose="02020603050405020304" pitchFamily="18" charset="0"/>
                <a:cs typeface="Times New Roman" panose="02020603050405020304" pitchFamily="18" charset="0"/>
              </a:rPr>
              <a:t>behavior</a:t>
            </a:r>
            <a:r>
              <a:rPr lang="en-IN" sz="2000" dirty="0">
                <a:latin typeface="Times New Roman" panose="02020603050405020304" pitchFamily="18" charset="0"/>
                <a:cs typeface="Times New Roman" panose="02020603050405020304" pitchFamily="18" charset="0"/>
              </a:rPr>
              <a:t> is independent</a:t>
            </a:r>
          </a:p>
          <a:p>
            <a:pPr>
              <a:buNone/>
            </a:pPr>
            <a:r>
              <a:rPr lang="en-IN" sz="2000" dirty="0">
                <a:latin typeface="Times New Roman" panose="02020603050405020304" pitchFamily="18" charset="0"/>
                <a:cs typeface="Times New Roman" panose="02020603050405020304" pitchFamily="18" charset="0"/>
              </a:rPr>
              <a:t>It learns general patterns:</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Frequent visits → higher chance of returning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Long stays → loyal customer</a:t>
            </a:r>
          </a:p>
        </p:txBody>
      </p:sp>
    </p:spTree>
    <p:extLst>
      <p:ext uri="{BB962C8B-B14F-4D97-AF65-F5344CB8AC3E}">
        <p14:creationId xmlns:p14="http://schemas.microsoft.com/office/powerpoint/2010/main" val="3080325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EC6AF2F-1CA8-C393-165A-A2453E3AB918}"/>
              </a:ext>
            </a:extLst>
          </p:cNvPr>
          <p:cNvGraphicFramePr>
            <a:graphicFrameLocks noGrp="1"/>
          </p:cNvGraphicFramePr>
          <p:nvPr>
            <p:ph idx="1"/>
            <p:extLst>
              <p:ext uri="{D42A27DB-BD31-4B8C-83A1-F6EECF244321}">
                <p14:modId xmlns:p14="http://schemas.microsoft.com/office/powerpoint/2010/main" val="3811314776"/>
              </p:ext>
            </p:extLst>
          </p:nvPr>
        </p:nvGraphicFramePr>
        <p:xfrm>
          <a:off x="572430" y="911275"/>
          <a:ext cx="10515600" cy="1463040"/>
        </p:xfrm>
        <a:graphic>
          <a:graphicData uri="http://schemas.openxmlformats.org/drawingml/2006/table">
            <a:tbl>
              <a:tblPr/>
              <a:tblGrid>
                <a:gridCol w="2628900">
                  <a:extLst>
                    <a:ext uri="{9D8B030D-6E8A-4147-A177-3AD203B41FA5}">
                      <a16:colId xmlns:a16="http://schemas.microsoft.com/office/drawing/2014/main" val="755047639"/>
                    </a:ext>
                  </a:extLst>
                </a:gridCol>
                <a:gridCol w="2628900">
                  <a:extLst>
                    <a:ext uri="{9D8B030D-6E8A-4147-A177-3AD203B41FA5}">
                      <a16:colId xmlns:a16="http://schemas.microsoft.com/office/drawing/2014/main" val="4243058778"/>
                    </a:ext>
                  </a:extLst>
                </a:gridCol>
                <a:gridCol w="2628900">
                  <a:extLst>
                    <a:ext uri="{9D8B030D-6E8A-4147-A177-3AD203B41FA5}">
                      <a16:colId xmlns:a16="http://schemas.microsoft.com/office/drawing/2014/main" val="2666796041"/>
                    </a:ext>
                  </a:extLst>
                </a:gridCol>
                <a:gridCol w="2628900">
                  <a:extLst>
                    <a:ext uri="{9D8B030D-6E8A-4147-A177-3AD203B41FA5}">
                      <a16:colId xmlns:a16="http://schemas.microsoft.com/office/drawing/2014/main" val="763814504"/>
                    </a:ext>
                  </a:extLst>
                </a:gridCol>
              </a:tblGrid>
              <a:tr h="0">
                <a:tc>
                  <a:txBody>
                    <a:bodyPr/>
                    <a:lstStyle/>
                    <a:p>
                      <a:pPr>
                        <a:buNone/>
                      </a:pPr>
                      <a:r>
                        <a:rPr lang="en-IN"/>
                        <a:t>Customer</a:t>
                      </a:r>
                    </a:p>
                  </a:txBody>
                  <a:tcPr anchor="ctr">
                    <a:lnL>
                      <a:noFill/>
                    </a:lnL>
                    <a:lnR>
                      <a:noFill/>
                    </a:lnR>
                    <a:lnT>
                      <a:noFill/>
                    </a:lnT>
                    <a:lnB>
                      <a:noFill/>
                    </a:lnB>
                    <a:noFill/>
                  </a:tcPr>
                </a:tc>
                <a:tc>
                  <a:txBody>
                    <a:bodyPr/>
                    <a:lstStyle/>
                    <a:p>
                      <a:pPr>
                        <a:buNone/>
                      </a:pPr>
                      <a:r>
                        <a:rPr lang="en-IN"/>
                        <a:t>Company</a:t>
                      </a:r>
                    </a:p>
                  </a:txBody>
                  <a:tcPr anchor="ctr">
                    <a:lnL>
                      <a:noFill/>
                    </a:lnL>
                    <a:lnR>
                      <a:noFill/>
                    </a:lnR>
                    <a:lnT>
                      <a:noFill/>
                    </a:lnT>
                    <a:lnB>
                      <a:noFill/>
                    </a:lnB>
                    <a:noFill/>
                  </a:tcPr>
                </a:tc>
                <a:tc>
                  <a:txBody>
                    <a:bodyPr/>
                    <a:lstStyle/>
                    <a:p>
                      <a:pPr>
                        <a:buNone/>
                      </a:pPr>
                      <a:r>
                        <a:rPr lang="en-IN"/>
                        <a:t>Visits</a:t>
                      </a:r>
                    </a:p>
                  </a:txBody>
                  <a:tcPr anchor="ctr">
                    <a:lnL>
                      <a:noFill/>
                    </a:lnL>
                    <a:lnR>
                      <a:noFill/>
                    </a:lnR>
                    <a:lnT>
                      <a:noFill/>
                    </a:lnT>
                    <a:lnB>
                      <a:noFill/>
                    </a:lnB>
                    <a:noFill/>
                  </a:tcPr>
                </a:tc>
                <a:tc>
                  <a:txBody>
                    <a:bodyPr/>
                    <a:lstStyle/>
                    <a:p>
                      <a:pPr>
                        <a:buNone/>
                      </a:pPr>
                      <a:r>
                        <a:rPr lang="en-IN"/>
                        <a:t>Reason</a:t>
                      </a:r>
                    </a:p>
                  </a:txBody>
                  <a:tcPr anchor="ctr">
                    <a:lnL>
                      <a:noFill/>
                    </a:lnL>
                    <a:lnR>
                      <a:noFill/>
                    </a:lnR>
                    <a:lnT>
                      <a:noFill/>
                    </a:lnT>
                    <a:lnB>
                      <a:noFill/>
                    </a:lnB>
                    <a:noFill/>
                  </a:tcPr>
                </a:tc>
                <a:extLst>
                  <a:ext uri="{0D108BD9-81ED-4DB2-BD59-A6C34878D82A}">
                    <a16:rowId xmlns:a16="http://schemas.microsoft.com/office/drawing/2014/main" val="3714764707"/>
                  </a:ext>
                </a:extLst>
              </a:tr>
              <a:tr h="0">
                <a:tc>
                  <a:txBody>
                    <a:bodyPr/>
                    <a:lstStyle/>
                    <a:p>
                      <a:pPr>
                        <a:buNone/>
                      </a:pPr>
                      <a:r>
                        <a:rPr lang="en-IN"/>
                        <a:t>A</a:t>
                      </a:r>
                    </a:p>
                  </a:txBody>
                  <a:tcPr anchor="ctr">
                    <a:lnL>
                      <a:noFill/>
                    </a:lnL>
                    <a:lnR>
                      <a:noFill/>
                    </a:lnR>
                    <a:lnT>
                      <a:noFill/>
                    </a:lnT>
                    <a:lnB>
                      <a:noFill/>
                    </a:lnB>
                    <a:noFill/>
                  </a:tcPr>
                </a:tc>
                <a:tc>
                  <a:txBody>
                    <a:bodyPr/>
                    <a:lstStyle/>
                    <a:p>
                      <a:pPr>
                        <a:buNone/>
                      </a:pPr>
                      <a:r>
                        <a:rPr lang="en-IN"/>
                        <a:t>ABC Ltd</a:t>
                      </a:r>
                    </a:p>
                  </a:txBody>
                  <a:tcPr anchor="ctr">
                    <a:lnL>
                      <a:noFill/>
                    </a:lnL>
                    <a:lnR>
                      <a:noFill/>
                    </a:lnR>
                    <a:lnT>
                      <a:noFill/>
                    </a:lnT>
                    <a:lnB>
                      <a:noFill/>
                    </a:lnB>
                    <a:noFill/>
                  </a:tcPr>
                </a:tc>
                <a:tc>
                  <a:txBody>
                    <a:bodyPr/>
                    <a:lstStyle/>
                    <a:p>
                      <a:pPr>
                        <a:buNone/>
                      </a:pPr>
                      <a:r>
                        <a:rPr lang="en-IN"/>
                        <a:t>10</a:t>
                      </a:r>
                    </a:p>
                  </a:txBody>
                  <a:tcPr anchor="ctr">
                    <a:lnL>
                      <a:noFill/>
                    </a:lnL>
                    <a:lnR>
                      <a:noFill/>
                    </a:lnR>
                    <a:lnT>
                      <a:noFill/>
                    </a:lnT>
                    <a:lnB>
                      <a:noFill/>
                    </a:lnB>
                    <a:noFill/>
                  </a:tcPr>
                </a:tc>
                <a:tc>
                  <a:txBody>
                    <a:bodyPr/>
                    <a:lstStyle/>
                    <a:p>
                      <a:pPr>
                        <a:buNone/>
                      </a:pPr>
                      <a:r>
                        <a:rPr lang="en-IN" dirty="0"/>
                        <a:t>Business meeting</a:t>
                      </a:r>
                    </a:p>
                  </a:txBody>
                  <a:tcPr anchor="ctr">
                    <a:lnL>
                      <a:noFill/>
                    </a:lnL>
                    <a:lnR>
                      <a:noFill/>
                    </a:lnR>
                    <a:lnT>
                      <a:noFill/>
                    </a:lnT>
                    <a:lnB>
                      <a:noFill/>
                    </a:lnB>
                    <a:noFill/>
                  </a:tcPr>
                </a:tc>
                <a:extLst>
                  <a:ext uri="{0D108BD9-81ED-4DB2-BD59-A6C34878D82A}">
                    <a16:rowId xmlns:a16="http://schemas.microsoft.com/office/drawing/2014/main" val="4119314917"/>
                  </a:ext>
                </a:extLst>
              </a:tr>
              <a:tr h="0">
                <a:tc>
                  <a:txBody>
                    <a:bodyPr/>
                    <a:lstStyle/>
                    <a:p>
                      <a:pPr>
                        <a:buNone/>
                      </a:pPr>
                      <a:r>
                        <a:rPr lang="en-IN"/>
                        <a:t>B</a:t>
                      </a:r>
                    </a:p>
                  </a:txBody>
                  <a:tcPr anchor="ctr">
                    <a:lnL>
                      <a:noFill/>
                    </a:lnL>
                    <a:lnR>
                      <a:noFill/>
                    </a:lnR>
                    <a:lnT>
                      <a:noFill/>
                    </a:lnT>
                    <a:lnB>
                      <a:noFill/>
                    </a:lnB>
                    <a:noFill/>
                  </a:tcPr>
                </a:tc>
                <a:tc>
                  <a:txBody>
                    <a:bodyPr/>
                    <a:lstStyle/>
                    <a:p>
                      <a:pPr>
                        <a:buNone/>
                      </a:pPr>
                      <a:r>
                        <a:rPr lang="en-IN"/>
                        <a:t>ABC Ltd</a:t>
                      </a:r>
                    </a:p>
                  </a:txBody>
                  <a:tcPr anchor="ctr">
                    <a:lnL>
                      <a:noFill/>
                    </a:lnL>
                    <a:lnR>
                      <a:noFill/>
                    </a:lnR>
                    <a:lnT>
                      <a:noFill/>
                    </a:lnT>
                    <a:lnB>
                      <a:noFill/>
                    </a:lnB>
                    <a:noFill/>
                  </a:tcPr>
                </a:tc>
                <a:tc>
                  <a:txBody>
                    <a:bodyPr/>
                    <a:lstStyle/>
                    <a:p>
                      <a:pPr>
                        <a:buNone/>
                      </a:pPr>
                      <a:r>
                        <a:rPr lang="en-IN" dirty="0"/>
                        <a:t>8</a:t>
                      </a:r>
                    </a:p>
                  </a:txBody>
                  <a:tcPr anchor="ctr">
                    <a:lnL>
                      <a:noFill/>
                    </a:lnL>
                    <a:lnR>
                      <a:noFill/>
                    </a:lnR>
                    <a:lnT>
                      <a:noFill/>
                    </a:lnT>
                    <a:lnB>
                      <a:noFill/>
                    </a:lnB>
                    <a:noFill/>
                  </a:tcPr>
                </a:tc>
                <a:tc>
                  <a:txBody>
                    <a:bodyPr/>
                    <a:lstStyle/>
                    <a:p>
                      <a:pPr>
                        <a:buNone/>
                      </a:pPr>
                      <a:r>
                        <a:rPr lang="en-IN"/>
                        <a:t>Training</a:t>
                      </a:r>
                    </a:p>
                  </a:txBody>
                  <a:tcPr anchor="ctr">
                    <a:lnL>
                      <a:noFill/>
                    </a:lnL>
                    <a:lnR>
                      <a:noFill/>
                    </a:lnR>
                    <a:lnT>
                      <a:noFill/>
                    </a:lnT>
                    <a:lnB>
                      <a:noFill/>
                    </a:lnB>
                    <a:noFill/>
                  </a:tcPr>
                </a:tc>
                <a:extLst>
                  <a:ext uri="{0D108BD9-81ED-4DB2-BD59-A6C34878D82A}">
                    <a16:rowId xmlns:a16="http://schemas.microsoft.com/office/drawing/2014/main" val="3829123583"/>
                  </a:ext>
                </a:extLst>
              </a:tr>
              <a:tr h="0">
                <a:tc>
                  <a:txBody>
                    <a:bodyPr/>
                    <a:lstStyle/>
                    <a:p>
                      <a:pPr>
                        <a:buNone/>
                      </a:pPr>
                      <a:r>
                        <a:rPr lang="en-IN"/>
                        <a:t>C</a:t>
                      </a:r>
                    </a:p>
                  </a:txBody>
                  <a:tcPr anchor="ctr">
                    <a:lnL>
                      <a:noFill/>
                    </a:lnL>
                    <a:lnR>
                      <a:noFill/>
                    </a:lnR>
                    <a:lnT>
                      <a:noFill/>
                    </a:lnT>
                    <a:lnB>
                      <a:noFill/>
                    </a:lnB>
                    <a:noFill/>
                  </a:tcPr>
                </a:tc>
                <a:tc>
                  <a:txBody>
                    <a:bodyPr/>
                    <a:lstStyle/>
                    <a:p>
                      <a:pPr>
                        <a:buNone/>
                      </a:pPr>
                      <a:r>
                        <a:rPr lang="en-IN"/>
                        <a:t>ABC Ltd</a:t>
                      </a:r>
                    </a:p>
                  </a:txBody>
                  <a:tcPr anchor="ctr">
                    <a:lnL>
                      <a:noFill/>
                    </a:lnL>
                    <a:lnR>
                      <a:noFill/>
                    </a:lnR>
                    <a:lnT>
                      <a:noFill/>
                    </a:lnT>
                    <a:lnB>
                      <a:noFill/>
                    </a:lnB>
                    <a:noFill/>
                  </a:tcPr>
                </a:tc>
                <a:tc>
                  <a:txBody>
                    <a:bodyPr/>
                    <a:lstStyle/>
                    <a:p>
                      <a:pPr>
                        <a:buNone/>
                      </a:pPr>
                      <a:r>
                        <a:rPr lang="en-IN"/>
                        <a:t>12</a:t>
                      </a:r>
                    </a:p>
                  </a:txBody>
                  <a:tcPr anchor="ctr">
                    <a:lnL>
                      <a:noFill/>
                    </a:lnL>
                    <a:lnR>
                      <a:noFill/>
                    </a:lnR>
                    <a:lnT>
                      <a:noFill/>
                    </a:lnT>
                    <a:lnB>
                      <a:noFill/>
                    </a:lnB>
                    <a:noFill/>
                  </a:tcPr>
                </a:tc>
                <a:tc>
                  <a:txBody>
                    <a:bodyPr/>
                    <a:lstStyle/>
                    <a:p>
                      <a:pPr>
                        <a:buNone/>
                      </a:pPr>
                      <a:r>
                        <a:rPr lang="en-IN" dirty="0"/>
                        <a:t>Conference</a:t>
                      </a:r>
                    </a:p>
                  </a:txBody>
                  <a:tcPr anchor="ctr">
                    <a:lnL>
                      <a:noFill/>
                    </a:lnL>
                    <a:lnR>
                      <a:noFill/>
                    </a:lnR>
                    <a:lnT>
                      <a:noFill/>
                    </a:lnT>
                    <a:lnB>
                      <a:noFill/>
                    </a:lnB>
                    <a:noFill/>
                  </a:tcPr>
                </a:tc>
                <a:extLst>
                  <a:ext uri="{0D108BD9-81ED-4DB2-BD59-A6C34878D82A}">
                    <a16:rowId xmlns:a16="http://schemas.microsoft.com/office/drawing/2014/main" val="3900711001"/>
                  </a:ext>
                </a:extLst>
              </a:tr>
            </a:tbl>
          </a:graphicData>
        </a:graphic>
      </p:graphicFrame>
      <p:sp>
        <p:nvSpPr>
          <p:cNvPr id="6" name="TextBox 5">
            <a:extLst>
              <a:ext uri="{FF2B5EF4-FFF2-40B4-BE49-F238E27FC236}">
                <a16:creationId xmlns:a16="http://schemas.microsoft.com/office/drawing/2014/main" id="{5ACC5D8C-BE24-5FD4-9D99-EAA770CEE958}"/>
              </a:ext>
            </a:extLst>
          </p:cNvPr>
          <p:cNvSpPr txBox="1"/>
          <p:nvPr/>
        </p:nvSpPr>
        <p:spPr>
          <a:xfrm>
            <a:off x="572430" y="117470"/>
            <a:ext cx="9241572" cy="5632311"/>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Problem: Records Are Connected</a:t>
            </a:r>
          </a:p>
          <a:p>
            <a:pPr>
              <a:buNone/>
            </a:pPr>
            <a:r>
              <a:rPr lang="en-IN" sz="2000" dirty="0">
                <a:latin typeface="Times New Roman" panose="02020603050405020304" pitchFamily="18" charset="0"/>
                <a:cs typeface="Times New Roman" panose="02020603050405020304" pitchFamily="18" charset="0"/>
              </a:rPr>
              <a:t>Now assume all customers are employees of the </a:t>
            </a:r>
            <a:r>
              <a:rPr lang="en-IN" sz="2000" b="1" dirty="0">
                <a:latin typeface="Times New Roman" panose="02020603050405020304" pitchFamily="18" charset="0"/>
                <a:cs typeface="Times New Roman" panose="02020603050405020304" pitchFamily="18" charset="0"/>
              </a:rPr>
              <a:t>same company</a:t>
            </a:r>
            <a:r>
              <a:rPr lang="en-IN" sz="2000" dirty="0">
                <a:latin typeface="Times New Roman" panose="02020603050405020304" pitchFamily="18" charset="0"/>
                <a:cs typeface="Times New Roman" panose="02020603050405020304" pitchFamily="18" charset="0"/>
              </a:rPr>
              <a:t>.</a:t>
            </a:r>
          </a:p>
          <a:p>
            <a:pPr>
              <a:buNone/>
            </a:pPr>
            <a:endParaRPr lang="en-IN" sz="2000" dirty="0">
              <a:latin typeface="Times New Roman" panose="02020603050405020304" pitchFamily="18" charset="0"/>
              <a:cs typeface="Times New Roman" panose="02020603050405020304" pitchFamily="18" charset="0"/>
            </a:endParaRPr>
          </a:p>
          <a:p>
            <a:pPr>
              <a:buNone/>
            </a:pPr>
            <a:endParaRPr lang="en-IN" sz="2000" dirty="0">
              <a:latin typeface="Times New Roman" panose="02020603050405020304" pitchFamily="18" charset="0"/>
              <a:cs typeface="Times New Roman" panose="02020603050405020304" pitchFamily="18" charset="0"/>
            </a:endParaRPr>
          </a:p>
          <a:p>
            <a:pPr>
              <a:buNone/>
            </a:pPr>
            <a:endParaRPr lang="en-IN" sz="2000" dirty="0">
              <a:latin typeface="Times New Roman" panose="02020603050405020304" pitchFamily="18" charset="0"/>
              <a:cs typeface="Times New Roman" panose="02020603050405020304" pitchFamily="18" charset="0"/>
            </a:endParaRPr>
          </a:p>
          <a:p>
            <a:pPr>
              <a:buNone/>
            </a:pPr>
            <a:endParaRPr lang="en-IN" sz="2000" dirty="0">
              <a:latin typeface="Times New Roman" panose="02020603050405020304" pitchFamily="18" charset="0"/>
              <a:cs typeface="Times New Roman" panose="02020603050405020304" pitchFamily="18" charset="0"/>
            </a:endParaRPr>
          </a:p>
          <a:p>
            <a:pPr>
              <a:buNone/>
            </a:pPr>
            <a:endParaRPr lang="en-IN" sz="2000" dirty="0">
              <a:latin typeface="Times New Roman" panose="02020603050405020304" pitchFamily="18" charset="0"/>
              <a:cs typeface="Times New Roman" panose="02020603050405020304" pitchFamily="18" charset="0"/>
            </a:endParaRPr>
          </a:p>
          <a:p>
            <a:pPr>
              <a:buNone/>
            </a:pPr>
            <a:r>
              <a:rPr lang="en-IN" sz="2000" dirty="0">
                <a:latin typeface="Times New Roman" panose="02020603050405020304" pitchFamily="18" charset="0"/>
                <a:cs typeface="Times New Roman" panose="02020603050405020304" pitchFamily="18" charset="0"/>
              </a:rPr>
              <a:t>These customers are connected because:</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Same company books hotels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Same travel policy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Same location preference </a:t>
            </a:r>
          </a:p>
          <a:p>
            <a:pPr>
              <a:buNone/>
            </a:pPr>
            <a:r>
              <a:rPr lang="en-IN" sz="2000" dirty="0">
                <a:latin typeface="Times New Roman" panose="02020603050405020304" pitchFamily="18" charset="0"/>
                <a:cs typeface="Times New Roman" panose="02020603050405020304" pitchFamily="18" charset="0"/>
              </a:rPr>
              <a:t>The model may learn:</a:t>
            </a:r>
          </a:p>
          <a:p>
            <a:pPr rtl="0">
              <a:buNone/>
            </a:pPr>
            <a:r>
              <a:rPr lang="en-IN" sz="2000" dirty="0">
                <a:latin typeface="Times New Roman" panose="02020603050405020304" pitchFamily="18" charset="0"/>
                <a:cs typeface="Times New Roman" panose="02020603050405020304" pitchFamily="18" charset="0"/>
              </a:rPr>
              <a:t>ABC company travel rules-&gt;Not real individual customer </a:t>
            </a:r>
            <a:r>
              <a:rPr lang="en-IN" sz="2000" dirty="0" err="1">
                <a:latin typeface="Times New Roman" panose="02020603050405020304" pitchFamily="18" charset="0"/>
                <a:cs typeface="Times New Roman" panose="02020603050405020304" pitchFamily="18" charset="0"/>
              </a:rPr>
              <a:t>behavior</a:t>
            </a:r>
            <a:endParaRPr lang="en-IN" sz="2000" dirty="0">
              <a:latin typeface="Times New Roman" panose="02020603050405020304" pitchFamily="18" charset="0"/>
              <a:cs typeface="Times New Roman" panose="02020603050405020304" pitchFamily="18" charset="0"/>
            </a:endParaRPr>
          </a:p>
          <a:p>
            <a:pPr>
              <a:buNone/>
            </a:pPr>
            <a:endParaRPr lang="en-IN" sz="2000" dirty="0">
              <a:latin typeface="Times New Roman" panose="02020603050405020304" pitchFamily="18" charset="0"/>
              <a:cs typeface="Times New Roman" panose="02020603050405020304" pitchFamily="18" charset="0"/>
            </a:endParaRPr>
          </a:p>
          <a:p>
            <a:pPr>
              <a:buNone/>
            </a:pPr>
            <a:r>
              <a:rPr lang="en-IN" sz="2000" b="1" dirty="0">
                <a:latin typeface="Times New Roman" panose="02020603050405020304" pitchFamily="18" charset="0"/>
                <a:cs typeface="Times New Roman" panose="02020603050405020304" pitchFamily="18" charset="0"/>
              </a:rPr>
              <a:t>After Deployment Problem</a:t>
            </a:r>
          </a:p>
          <a:p>
            <a:pPr>
              <a:buNone/>
            </a:pPr>
            <a:r>
              <a:rPr lang="en-IN" sz="2000" dirty="0">
                <a:latin typeface="Times New Roman" panose="02020603050405020304" pitchFamily="18" charset="0"/>
                <a:cs typeface="Times New Roman" panose="02020603050405020304" pitchFamily="18" charset="0"/>
              </a:rPr>
              <a:t>A new normal customer comes:</a:t>
            </a:r>
          </a:p>
          <a:p>
            <a:pPr rtl="0">
              <a:buNone/>
            </a:pPr>
            <a:r>
              <a:rPr lang="en-IN" sz="2000" dirty="0">
                <a:latin typeface="Times New Roman" panose="02020603050405020304" pitchFamily="18" charset="0"/>
                <a:cs typeface="Times New Roman" panose="02020603050405020304" pitchFamily="18" charset="0"/>
              </a:rPr>
              <a:t>Family vacation customer-&gt; Model prediction wrong</a:t>
            </a:r>
          </a:p>
          <a:p>
            <a:pPr>
              <a:buNone/>
            </a:pPr>
            <a:r>
              <a:rPr lang="en-IN" sz="2000" dirty="0">
                <a:latin typeface="Times New Roman" panose="02020603050405020304" pitchFamily="18" charset="0"/>
                <a:cs typeface="Times New Roman" panose="02020603050405020304" pitchFamily="18" charset="0"/>
              </a:rPr>
              <a:t>because the model learned company travel patterns, not general hotel customer patterns.</a:t>
            </a:r>
          </a:p>
        </p:txBody>
      </p:sp>
      <p:sp>
        <p:nvSpPr>
          <p:cNvPr id="8" name="TextBox 7">
            <a:extLst>
              <a:ext uri="{FF2B5EF4-FFF2-40B4-BE49-F238E27FC236}">
                <a16:creationId xmlns:a16="http://schemas.microsoft.com/office/drawing/2014/main" id="{089BEC85-06E7-BE59-3D7C-AAC33E2E4B50}"/>
              </a:ext>
            </a:extLst>
          </p:cNvPr>
          <p:cNvSpPr txBox="1"/>
          <p:nvPr/>
        </p:nvSpPr>
        <p:spPr>
          <a:xfrm>
            <a:off x="633296" y="5897255"/>
            <a:ext cx="10925407" cy="646331"/>
          </a:xfrm>
          <a:prstGeom prst="rect">
            <a:avLst/>
          </a:prstGeom>
          <a:noFill/>
        </p:spPr>
        <p:txBody>
          <a:bodyPr wrap="square">
            <a:spAutoFit/>
          </a:bodyPr>
          <a:lstStyle/>
          <a:p>
            <a:r>
              <a:rPr lang="en-IN" dirty="0"/>
              <a:t>Each row should represent independent </a:t>
            </a:r>
            <a:r>
              <a:rPr lang="en-IN" dirty="0" err="1"/>
              <a:t>behavior</a:t>
            </a:r>
            <a:r>
              <a:rPr lang="en-IN" dirty="0"/>
              <a:t>. If records are related, the model may become biased and fail on new data.</a:t>
            </a:r>
          </a:p>
        </p:txBody>
      </p:sp>
    </p:spTree>
    <p:extLst>
      <p:ext uri="{BB962C8B-B14F-4D97-AF65-F5344CB8AC3E}">
        <p14:creationId xmlns:p14="http://schemas.microsoft.com/office/powerpoint/2010/main" val="38167008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E934F3-CAE3-C72B-24E0-FCE26A5841F3}"/>
              </a:ext>
            </a:extLst>
          </p:cNvPr>
          <p:cNvSpPr>
            <a:spLocks noGrp="1"/>
          </p:cNvSpPr>
          <p:nvPr>
            <p:ph idx="1"/>
          </p:nvPr>
        </p:nvSpPr>
        <p:spPr>
          <a:xfrm>
            <a:off x="246255" y="219590"/>
            <a:ext cx="10515600" cy="4351338"/>
          </a:xfrm>
        </p:spPr>
        <p:txBody>
          <a:bodyPr/>
          <a:lstStyle/>
          <a:p>
            <a:pPr marL="0" indent="0">
              <a:buNone/>
            </a:pPr>
            <a:r>
              <a:rPr lang="en-IN" sz="2400" b="1" dirty="0">
                <a:latin typeface="Times New Roman" panose="02020603050405020304" pitchFamily="18" charset="0"/>
                <a:cs typeface="Times New Roman" panose="02020603050405020304" pitchFamily="18" charset="0"/>
              </a:rPr>
              <a:t>Choosing  </a:t>
            </a:r>
            <a:r>
              <a:rPr lang="en-IN" sz="2400" b="1" dirty="0">
                <a:solidFill>
                  <a:srgbClr val="FF0000"/>
                </a:solidFill>
                <a:latin typeface="Times New Roman" panose="02020603050405020304" pitchFamily="18" charset="0"/>
                <a:cs typeface="Times New Roman" panose="02020603050405020304" pitchFamily="18" charset="0"/>
              </a:rPr>
              <a:t>which Unit of Analysis in Predictive </a:t>
            </a:r>
            <a:r>
              <a:rPr lang="en-IN" sz="2400" b="1" dirty="0" err="1">
                <a:solidFill>
                  <a:srgbClr val="FF0000"/>
                </a:solidFill>
                <a:latin typeface="Times New Roman" panose="02020603050405020304" pitchFamily="18" charset="0"/>
                <a:cs typeface="Times New Roman" panose="02020603050405020304" pitchFamily="18" charset="0"/>
              </a:rPr>
              <a:t>Modeling</a:t>
            </a:r>
            <a:endParaRPr lang="en-IN" sz="2400" b="1" dirty="0">
              <a:solidFill>
                <a:srgbClr val="FF0000"/>
              </a:solidFill>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Selecting the correct unit of analysis depends on the </a:t>
            </a:r>
            <a:r>
              <a:rPr lang="en-IN" sz="2400" b="1" dirty="0">
                <a:latin typeface="Times New Roman" panose="02020603050405020304" pitchFamily="18" charset="0"/>
                <a:cs typeface="Times New Roman" panose="02020603050405020304" pitchFamily="18" charset="0"/>
              </a:rPr>
              <a:t>business objective</a:t>
            </a:r>
            <a:r>
              <a:rPr lang="en-IN" sz="2400" dirty="0">
                <a:latin typeface="Times New Roman" panose="02020603050405020304" pitchFamily="18" charset="0"/>
                <a:cs typeface="Times New Roman" panose="02020603050405020304" pitchFamily="18" charset="0"/>
              </a:rPr>
              <a:t> and how predictions will be used. </a:t>
            </a:r>
          </a:p>
          <a:p>
            <a:endParaRPr lang="en-IN" dirty="0"/>
          </a:p>
          <a:p>
            <a:endParaRPr lang="en-IN" dirty="0"/>
          </a:p>
        </p:txBody>
      </p:sp>
      <p:graphicFrame>
        <p:nvGraphicFramePr>
          <p:cNvPr id="4" name="Table 3">
            <a:extLst>
              <a:ext uri="{FF2B5EF4-FFF2-40B4-BE49-F238E27FC236}">
                <a16:creationId xmlns:a16="http://schemas.microsoft.com/office/drawing/2014/main" id="{6225C5F2-48E5-8618-8C48-ADCF73DC1AF6}"/>
              </a:ext>
            </a:extLst>
          </p:cNvPr>
          <p:cNvGraphicFramePr>
            <a:graphicFrameLocks noGrp="1"/>
          </p:cNvGraphicFramePr>
          <p:nvPr>
            <p:extLst>
              <p:ext uri="{D42A27DB-BD31-4B8C-83A1-F6EECF244321}">
                <p14:modId xmlns:p14="http://schemas.microsoft.com/office/powerpoint/2010/main" val="3070446959"/>
              </p:ext>
            </p:extLst>
          </p:nvPr>
        </p:nvGraphicFramePr>
        <p:xfrm>
          <a:off x="1044963" y="2486831"/>
          <a:ext cx="10515600" cy="1097280"/>
        </p:xfrm>
        <a:graphic>
          <a:graphicData uri="http://schemas.openxmlformats.org/drawingml/2006/table">
            <a:tbl>
              <a:tblPr/>
              <a:tblGrid>
                <a:gridCol w="2628900">
                  <a:extLst>
                    <a:ext uri="{9D8B030D-6E8A-4147-A177-3AD203B41FA5}">
                      <a16:colId xmlns:a16="http://schemas.microsoft.com/office/drawing/2014/main" val="2175469747"/>
                    </a:ext>
                  </a:extLst>
                </a:gridCol>
                <a:gridCol w="2628900">
                  <a:extLst>
                    <a:ext uri="{9D8B030D-6E8A-4147-A177-3AD203B41FA5}">
                      <a16:colId xmlns:a16="http://schemas.microsoft.com/office/drawing/2014/main" val="1654723634"/>
                    </a:ext>
                  </a:extLst>
                </a:gridCol>
                <a:gridCol w="2628900">
                  <a:extLst>
                    <a:ext uri="{9D8B030D-6E8A-4147-A177-3AD203B41FA5}">
                      <a16:colId xmlns:a16="http://schemas.microsoft.com/office/drawing/2014/main" val="399230151"/>
                    </a:ext>
                  </a:extLst>
                </a:gridCol>
                <a:gridCol w="2628900">
                  <a:extLst>
                    <a:ext uri="{9D8B030D-6E8A-4147-A177-3AD203B41FA5}">
                      <a16:colId xmlns:a16="http://schemas.microsoft.com/office/drawing/2014/main" val="734545931"/>
                    </a:ext>
                  </a:extLst>
                </a:gridCol>
              </a:tblGrid>
              <a:tr h="0">
                <a:tc>
                  <a:txBody>
                    <a:bodyPr/>
                    <a:lstStyle/>
                    <a:p>
                      <a:pPr>
                        <a:buNone/>
                      </a:pPr>
                      <a:r>
                        <a:rPr lang="en-IN"/>
                        <a:t>Customer</a:t>
                      </a:r>
                    </a:p>
                  </a:txBody>
                  <a:tcPr anchor="ctr">
                    <a:lnL>
                      <a:noFill/>
                    </a:lnL>
                    <a:lnR>
                      <a:noFill/>
                    </a:lnR>
                    <a:lnT>
                      <a:noFill/>
                    </a:lnT>
                    <a:lnB>
                      <a:noFill/>
                    </a:lnB>
                    <a:noFill/>
                  </a:tcPr>
                </a:tc>
                <a:tc>
                  <a:txBody>
                    <a:bodyPr/>
                    <a:lstStyle/>
                    <a:p>
                      <a:pPr>
                        <a:buNone/>
                      </a:pPr>
                      <a:r>
                        <a:rPr lang="en-IN"/>
                        <a:t>Visits</a:t>
                      </a:r>
                    </a:p>
                  </a:txBody>
                  <a:tcPr anchor="ctr">
                    <a:lnL>
                      <a:noFill/>
                    </a:lnL>
                    <a:lnR>
                      <a:noFill/>
                    </a:lnR>
                    <a:lnT>
                      <a:noFill/>
                    </a:lnT>
                    <a:lnB>
                      <a:noFill/>
                    </a:lnB>
                    <a:noFill/>
                  </a:tcPr>
                </a:tc>
                <a:tc>
                  <a:txBody>
                    <a:bodyPr/>
                    <a:lstStyle/>
                    <a:p>
                      <a:pPr>
                        <a:buNone/>
                      </a:pPr>
                      <a:r>
                        <a:rPr lang="en-IN"/>
                        <a:t>Average Spend</a:t>
                      </a:r>
                    </a:p>
                  </a:txBody>
                  <a:tcPr anchor="ctr">
                    <a:lnL>
                      <a:noFill/>
                    </a:lnL>
                    <a:lnR>
                      <a:noFill/>
                    </a:lnR>
                    <a:lnT>
                      <a:noFill/>
                    </a:lnT>
                    <a:lnB>
                      <a:noFill/>
                    </a:lnB>
                    <a:noFill/>
                  </a:tcPr>
                </a:tc>
                <a:tc>
                  <a:txBody>
                    <a:bodyPr/>
                    <a:lstStyle/>
                    <a:p>
                      <a:pPr>
                        <a:buNone/>
                      </a:pPr>
                      <a:r>
                        <a:rPr lang="en-IN" dirty="0"/>
                        <a:t>Recent Visit</a:t>
                      </a:r>
                    </a:p>
                  </a:txBody>
                  <a:tcPr anchor="ctr">
                    <a:lnL>
                      <a:noFill/>
                    </a:lnL>
                    <a:lnR>
                      <a:noFill/>
                    </a:lnR>
                    <a:lnT>
                      <a:noFill/>
                    </a:lnT>
                    <a:lnB>
                      <a:noFill/>
                    </a:lnB>
                    <a:noFill/>
                  </a:tcPr>
                </a:tc>
                <a:extLst>
                  <a:ext uri="{0D108BD9-81ED-4DB2-BD59-A6C34878D82A}">
                    <a16:rowId xmlns:a16="http://schemas.microsoft.com/office/drawing/2014/main" val="2444555571"/>
                  </a:ext>
                </a:extLst>
              </a:tr>
              <a:tr h="0">
                <a:tc>
                  <a:txBody>
                    <a:bodyPr/>
                    <a:lstStyle/>
                    <a:p>
                      <a:pPr>
                        <a:buNone/>
                      </a:pPr>
                      <a:r>
                        <a:rPr lang="en-IN"/>
                        <a:t>A</a:t>
                      </a:r>
                    </a:p>
                  </a:txBody>
                  <a:tcPr anchor="ctr">
                    <a:lnL>
                      <a:noFill/>
                    </a:lnL>
                    <a:lnR>
                      <a:noFill/>
                    </a:lnR>
                    <a:lnT>
                      <a:noFill/>
                    </a:lnT>
                    <a:lnB>
                      <a:noFill/>
                    </a:lnB>
                    <a:noFill/>
                  </a:tcPr>
                </a:tc>
                <a:tc>
                  <a:txBody>
                    <a:bodyPr/>
                    <a:lstStyle/>
                    <a:p>
                      <a:pPr>
                        <a:buNone/>
                      </a:pPr>
                      <a:r>
                        <a:rPr lang="en-IN"/>
                        <a:t>5</a:t>
                      </a:r>
                    </a:p>
                  </a:txBody>
                  <a:tcPr anchor="ctr">
                    <a:lnL>
                      <a:noFill/>
                    </a:lnL>
                    <a:lnR>
                      <a:noFill/>
                    </a:lnR>
                    <a:lnT>
                      <a:noFill/>
                    </a:lnT>
                    <a:lnB>
                      <a:noFill/>
                    </a:lnB>
                    <a:noFill/>
                  </a:tcPr>
                </a:tc>
                <a:tc>
                  <a:txBody>
                    <a:bodyPr/>
                    <a:lstStyle/>
                    <a:p>
                      <a:pPr>
                        <a:buNone/>
                      </a:pPr>
                      <a:r>
                        <a:rPr lang="en-IN"/>
                        <a:t>₹5000</a:t>
                      </a:r>
                    </a:p>
                  </a:txBody>
                  <a:tcPr anchor="ctr">
                    <a:lnL>
                      <a:noFill/>
                    </a:lnL>
                    <a:lnR>
                      <a:noFill/>
                    </a:lnR>
                    <a:lnT>
                      <a:noFill/>
                    </a:lnT>
                    <a:lnB>
                      <a:noFill/>
                    </a:lnB>
                    <a:noFill/>
                  </a:tcPr>
                </a:tc>
                <a:tc>
                  <a:txBody>
                    <a:bodyPr/>
                    <a:lstStyle/>
                    <a:p>
                      <a:pPr>
                        <a:buNone/>
                      </a:pPr>
                      <a:r>
                        <a:rPr lang="en-IN" dirty="0"/>
                        <a:t>Jan</a:t>
                      </a:r>
                    </a:p>
                  </a:txBody>
                  <a:tcPr anchor="ctr">
                    <a:lnL>
                      <a:noFill/>
                    </a:lnL>
                    <a:lnR>
                      <a:noFill/>
                    </a:lnR>
                    <a:lnT>
                      <a:noFill/>
                    </a:lnT>
                    <a:lnB>
                      <a:noFill/>
                    </a:lnB>
                    <a:noFill/>
                  </a:tcPr>
                </a:tc>
                <a:extLst>
                  <a:ext uri="{0D108BD9-81ED-4DB2-BD59-A6C34878D82A}">
                    <a16:rowId xmlns:a16="http://schemas.microsoft.com/office/drawing/2014/main" val="3848290359"/>
                  </a:ext>
                </a:extLst>
              </a:tr>
              <a:tr h="0">
                <a:tc>
                  <a:txBody>
                    <a:bodyPr/>
                    <a:lstStyle/>
                    <a:p>
                      <a:pPr>
                        <a:buNone/>
                      </a:pPr>
                      <a:r>
                        <a:rPr lang="en-IN"/>
                        <a:t>B</a:t>
                      </a:r>
                    </a:p>
                  </a:txBody>
                  <a:tcPr anchor="ctr">
                    <a:lnL>
                      <a:noFill/>
                    </a:lnL>
                    <a:lnR>
                      <a:noFill/>
                    </a:lnR>
                    <a:lnT>
                      <a:noFill/>
                    </a:lnT>
                    <a:lnB>
                      <a:noFill/>
                    </a:lnB>
                    <a:noFill/>
                  </a:tcPr>
                </a:tc>
                <a:tc>
                  <a:txBody>
                    <a:bodyPr/>
                    <a:lstStyle/>
                    <a:p>
                      <a:pPr>
                        <a:buNone/>
                      </a:pPr>
                      <a:r>
                        <a:rPr lang="en-IN"/>
                        <a:t>2</a:t>
                      </a:r>
                    </a:p>
                  </a:txBody>
                  <a:tcPr anchor="ctr">
                    <a:lnL>
                      <a:noFill/>
                    </a:lnL>
                    <a:lnR>
                      <a:noFill/>
                    </a:lnR>
                    <a:lnT>
                      <a:noFill/>
                    </a:lnT>
                    <a:lnB>
                      <a:noFill/>
                    </a:lnB>
                    <a:noFill/>
                  </a:tcPr>
                </a:tc>
                <a:tc>
                  <a:txBody>
                    <a:bodyPr/>
                    <a:lstStyle/>
                    <a:p>
                      <a:pPr>
                        <a:buNone/>
                      </a:pPr>
                      <a:r>
                        <a:rPr lang="en-IN"/>
                        <a:t>₹2000</a:t>
                      </a:r>
                    </a:p>
                  </a:txBody>
                  <a:tcPr anchor="ctr">
                    <a:lnL>
                      <a:noFill/>
                    </a:lnL>
                    <a:lnR>
                      <a:noFill/>
                    </a:lnR>
                    <a:lnT>
                      <a:noFill/>
                    </a:lnT>
                    <a:lnB>
                      <a:noFill/>
                    </a:lnB>
                    <a:noFill/>
                  </a:tcPr>
                </a:tc>
                <a:tc>
                  <a:txBody>
                    <a:bodyPr/>
                    <a:lstStyle/>
                    <a:p>
                      <a:pPr>
                        <a:buNone/>
                      </a:pPr>
                      <a:r>
                        <a:rPr lang="en-IN" dirty="0"/>
                        <a:t>Mar</a:t>
                      </a:r>
                    </a:p>
                  </a:txBody>
                  <a:tcPr anchor="ctr">
                    <a:lnL>
                      <a:noFill/>
                    </a:lnL>
                    <a:lnR>
                      <a:noFill/>
                    </a:lnR>
                    <a:lnT>
                      <a:noFill/>
                    </a:lnT>
                    <a:lnB>
                      <a:noFill/>
                    </a:lnB>
                    <a:noFill/>
                  </a:tcPr>
                </a:tc>
                <a:extLst>
                  <a:ext uri="{0D108BD9-81ED-4DB2-BD59-A6C34878D82A}">
                    <a16:rowId xmlns:a16="http://schemas.microsoft.com/office/drawing/2014/main" val="1211910175"/>
                  </a:ext>
                </a:extLst>
              </a:tr>
            </a:tbl>
          </a:graphicData>
        </a:graphic>
      </p:graphicFrame>
      <p:sp>
        <p:nvSpPr>
          <p:cNvPr id="6" name="TextBox 5">
            <a:extLst>
              <a:ext uri="{FF2B5EF4-FFF2-40B4-BE49-F238E27FC236}">
                <a16:creationId xmlns:a16="http://schemas.microsoft.com/office/drawing/2014/main" id="{F7A54FEA-7878-B707-99FE-EA314859B038}"/>
              </a:ext>
            </a:extLst>
          </p:cNvPr>
          <p:cNvSpPr txBox="1"/>
          <p:nvPr/>
        </p:nvSpPr>
        <p:spPr>
          <a:xfrm>
            <a:off x="631437" y="1235123"/>
            <a:ext cx="10130418" cy="5632311"/>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1. Customer as Unit of Analysis</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Each row represents </a:t>
            </a:r>
            <a:r>
              <a:rPr lang="en-IN" sz="2000" b="1" dirty="0">
                <a:latin typeface="Times New Roman" panose="02020603050405020304" pitchFamily="18" charset="0"/>
                <a:cs typeface="Times New Roman" panose="02020603050405020304" pitchFamily="18" charset="0"/>
              </a:rPr>
              <a:t>one customer</a:t>
            </a:r>
            <a:r>
              <a:rPr lang="en-IN" sz="2000" dirty="0">
                <a:latin typeface="Times New Roman" panose="02020603050405020304" pitchFamily="18" charset="0"/>
                <a:cs typeface="Times New Roman" panose="02020603050405020304" pitchFamily="18" charset="0"/>
              </a:rPr>
              <a:t>. </a:t>
            </a:r>
          </a:p>
          <a:p>
            <a:pPr>
              <a:buNone/>
            </a:pPr>
            <a:r>
              <a:rPr lang="en-IN" sz="2000" dirty="0">
                <a:latin typeface="Times New Roman" panose="02020603050405020304" pitchFamily="18" charset="0"/>
                <a:cs typeface="Times New Roman" panose="02020603050405020304" pitchFamily="18" charset="0"/>
              </a:rPr>
              <a:t>Example:</a:t>
            </a:r>
          </a:p>
          <a:p>
            <a:pPr>
              <a:buNone/>
            </a:pPr>
            <a:endParaRPr lang="en-IN" sz="2000" dirty="0">
              <a:latin typeface="Times New Roman" panose="02020603050405020304" pitchFamily="18" charset="0"/>
              <a:cs typeface="Times New Roman" panose="02020603050405020304" pitchFamily="18" charset="0"/>
            </a:endParaRPr>
          </a:p>
          <a:p>
            <a:pPr>
              <a:buNone/>
            </a:pPr>
            <a:endParaRPr lang="en-IN" sz="2000" dirty="0">
              <a:latin typeface="Times New Roman" panose="02020603050405020304" pitchFamily="18" charset="0"/>
              <a:cs typeface="Times New Roman" panose="02020603050405020304" pitchFamily="18" charset="0"/>
            </a:endParaRPr>
          </a:p>
          <a:p>
            <a:pPr>
              <a:buNone/>
            </a:pPr>
            <a:endParaRPr lang="en-IN" sz="2000" dirty="0">
              <a:latin typeface="Times New Roman" panose="02020603050405020304" pitchFamily="18" charset="0"/>
              <a:cs typeface="Times New Roman" panose="02020603050405020304" pitchFamily="18" charset="0"/>
            </a:endParaRPr>
          </a:p>
          <a:p>
            <a:pPr>
              <a:buNone/>
            </a:pPr>
            <a:endParaRPr lang="en-IN" sz="2000" dirty="0">
              <a:latin typeface="Times New Roman" panose="02020603050405020304" pitchFamily="18" charset="0"/>
              <a:cs typeface="Times New Roman" panose="02020603050405020304" pitchFamily="18" charset="0"/>
            </a:endParaRPr>
          </a:p>
          <a:p>
            <a:pPr>
              <a:buNone/>
            </a:pPr>
            <a:endParaRPr lang="en-IN"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Customer information is summarized into one record. </a:t>
            </a:r>
          </a:p>
          <a:p>
            <a:pPr>
              <a:buNone/>
            </a:pPr>
            <a:r>
              <a:rPr lang="en-IN" sz="2000" dirty="0">
                <a:latin typeface="Times New Roman" panose="02020603050405020304" pitchFamily="18" charset="0"/>
                <a:cs typeface="Times New Roman" panose="02020603050405020304" pitchFamily="18" charset="0"/>
              </a:rPr>
              <a:t>Features may include: Customer demographics, Number of visits ,Recent visit details, Spending </a:t>
            </a:r>
            <a:r>
              <a:rPr lang="en-IN" sz="2000" dirty="0" err="1">
                <a:latin typeface="Times New Roman" panose="02020603050405020304" pitchFamily="18" charset="0"/>
                <a:cs typeface="Times New Roman" panose="02020603050405020304" pitchFamily="18" charset="0"/>
              </a:rPr>
              <a:t>behavior</a:t>
            </a:r>
            <a:r>
              <a:rPr lang="en-IN" sz="2000" dirty="0">
                <a:latin typeface="Times New Roman" panose="02020603050405020304" pitchFamily="18" charset="0"/>
                <a:cs typeface="Times New Roman" panose="02020603050405020304" pitchFamily="18" charset="0"/>
              </a:rPr>
              <a:t> </a:t>
            </a:r>
          </a:p>
          <a:p>
            <a:pPr>
              <a:buNone/>
            </a:pPr>
            <a:r>
              <a:rPr lang="en-IN" sz="2000" b="1" dirty="0">
                <a:latin typeface="Times New Roman" panose="02020603050405020304" pitchFamily="18" charset="0"/>
                <a:cs typeface="Times New Roman" panose="02020603050405020304" pitchFamily="18" charset="0"/>
              </a:rPr>
              <a:t>Advantages:</a:t>
            </a:r>
            <a:endParaRPr lang="en-IN"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Gives a complete summary of each customer.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Each customer record is independent. </a:t>
            </a:r>
          </a:p>
          <a:p>
            <a:pPr>
              <a:buNone/>
            </a:pPr>
            <a:r>
              <a:rPr lang="en-IN" sz="2000" b="1" dirty="0">
                <a:latin typeface="Times New Roman" panose="02020603050405020304" pitchFamily="18" charset="0"/>
                <a:cs typeface="Times New Roman" panose="02020603050405020304" pitchFamily="18" charset="0"/>
              </a:rPr>
              <a:t>Limitation:</a:t>
            </a:r>
            <a:endParaRPr lang="en-IN"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Details of individual visits may be lost.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Extra derived variables are needed to capture trends. </a:t>
            </a:r>
          </a:p>
          <a:p>
            <a:pPr>
              <a:buNone/>
            </a:pPr>
            <a:r>
              <a:rPr lang="en-IN" sz="2000" dirty="0">
                <a:latin typeface="Times New Roman" panose="02020603050405020304" pitchFamily="18" charset="0"/>
                <a:cs typeface="Times New Roman" panose="02020603050405020304" pitchFamily="18" charset="0"/>
              </a:rPr>
              <a:t>Like ---Increasing spending over visits , Decreasing interest</a:t>
            </a:r>
          </a:p>
        </p:txBody>
      </p:sp>
    </p:spTree>
    <p:extLst>
      <p:ext uri="{BB962C8B-B14F-4D97-AF65-F5344CB8AC3E}">
        <p14:creationId xmlns:p14="http://schemas.microsoft.com/office/powerpoint/2010/main" val="25150279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50DF8683-7A3C-6CCB-56DF-A4C8BB0CFFE6}"/>
              </a:ext>
            </a:extLst>
          </p:cNvPr>
          <p:cNvGraphicFramePr>
            <a:graphicFrameLocks noGrp="1"/>
          </p:cNvGraphicFramePr>
          <p:nvPr>
            <p:ph idx="1"/>
            <p:extLst>
              <p:ext uri="{D42A27DB-BD31-4B8C-83A1-F6EECF244321}">
                <p14:modId xmlns:p14="http://schemas.microsoft.com/office/powerpoint/2010/main" val="4166066710"/>
              </p:ext>
            </p:extLst>
          </p:nvPr>
        </p:nvGraphicFramePr>
        <p:xfrm>
          <a:off x="192359" y="660618"/>
          <a:ext cx="10515600" cy="1463040"/>
        </p:xfrm>
        <a:graphic>
          <a:graphicData uri="http://schemas.openxmlformats.org/drawingml/2006/table">
            <a:tbl>
              <a:tblPr/>
              <a:tblGrid>
                <a:gridCol w="3505200">
                  <a:extLst>
                    <a:ext uri="{9D8B030D-6E8A-4147-A177-3AD203B41FA5}">
                      <a16:colId xmlns:a16="http://schemas.microsoft.com/office/drawing/2014/main" val="3851976427"/>
                    </a:ext>
                  </a:extLst>
                </a:gridCol>
                <a:gridCol w="3505200">
                  <a:extLst>
                    <a:ext uri="{9D8B030D-6E8A-4147-A177-3AD203B41FA5}">
                      <a16:colId xmlns:a16="http://schemas.microsoft.com/office/drawing/2014/main" val="78488701"/>
                    </a:ext>
                  </a:extLst>
                </a:gridCol>
                <a:gridCol w="3505200">
                  <a:extLst>
                    <a:ext uri="{9D8B030D-6E8A-4147-A177-3AD203B41FA5}">
                      <a16:colId xmlns:a16="http://schemas.microsoft.com/office/drawing/2014/main" val="1935896959"/>
                    </a:ext>
                  </a:extLst>
                </a:gridCol>
              </a:tblGrid>
              <a:tr h="0">
                <a:tc>
                  <a:txBody>
                    <a:bodyPr/>
                    <a:lstStyle/>
                    <a:p>
                      <a:pPr>
                        <a:buNone/>
                      </a:pPr>
                      <a:r>
                        <a:rPr lang="en-IN"/>
                        <a:t>Customer</a:t>
                      </a:r>
                    </a:p>
                  </a:txBody>
                  <a:tcPr anchor="ctr">
                    <a:lnL>
                      <a:noFill/>
                    </a:lnL>
                    <a:lnR>
                      <a:noFill/>
                    </a:lnR>
                    <a:lnT>
                      <a:noFill/>
                    </a:lnT>
                    <a:lnB>
                      <a:noFill/>
                    </a:lnB>
                    <a:noFill/>
                  </a:tcPr>
                </a:tc>
                <a:tc>
                  <a:txBody>
                    <a:bodyPr/>
                    <a:lstStyle/>
                    <a:p>
                      <a:pPr>
                        <a:buNone/>
                      </a:pPr>
                      <a:r>
                        <a:rPr lang="en-IN"/>
                        <a:t>Visit</a:t>
                      </a:r>
                    </a:p>
                  </a:txBody>
                  <a:tcPr anchor="ctr">
                    <a:lnL>
                      <a:noFill/>
                    </a:lnL>
                    <a:lnR>
                      <a:noFill/>
                    </a:lnR>
                    <a:lnT>
                      <a:noFill/>
                    </a:lnT>
                    <a:lnB>
                      <a:noFill/>
                    </a:lnB>
                    <a:noFill/>
                  </a:tcPr>
                </a:tc>
                <a:tc>
                  <a:txBody>
                    <a:bodyPr/>
                    <a:lstStyle/>
                    <a:p>
                      <a:pPr>
                        <a:buNone/>
                      </a:pPr>
                      <a:r>
                        <a:rPr lang="en-IN"/>
                        <a:t>Amount Spent</a:t>
                      </a:r>
                    </a:p>
                  </a:txBody>
                  <a:tcPr anchor="ctr">
                    <a:lnL>
                      <a:noFill/>
                    </a:lnL>
                    <a:lnR>
                      <a:noFill/>
                    </a:lnR>
                    <a:lnT>
                      <a:noFill/>
                    </a:lnT>
                    <a:lnB>
                      <a:noFill/>
                    </a:lnB>
                    <a:noFill/>
                  </a:tcPr>
                </a:tc>
                <a:extLst>
                  <a:ext uri="{0D108BD9-81ED-4DB2-BD59-A6C34878D82A}">
                    <a16:rowId xmlns:a16="http://schemas.microsoft.com/office/drawing/2014/main" val="1002712395"/>
                  </a:ext>
                </a:extLst>
              </a:tr>
              <a:tr h="0">
                <a:tc>
                  <a:txBody>
                    <a:bodyPr/>
                    <a:lstStyle/>
                    <a:p>
                      <a:pPr>
                        <a:buNone/>
                      </a:pPr>
                      <a:r>
                        <a:rPr lang="en-IN"/>
                        <a:t>A</a:t>
                      </a:r>
                    </a:p>
                  </a:txBody>
                  <a:tcPr anchor="ctr">
                    <a:lnL>
                      <a:noFill/>
                    </a:lnL>
                    <a:lnR>
                      <a:noFill/>
                    </a:lnR>
                    <a:lnT>
                      <a:noFill/>
                    </a:lnT>
                    <a:lnB>
                      <a:noFill/>
                    </a:lnB>
                    <a:noFill/>
                  </a:tcPr>
                </a:tc>
                <a:tc>
                  <a:txBody>
                    <a:bodyPr/>
                    <a:lstStyle/>
                    <a:p>
                      <a:pPr>
                        <a:buNone/>
                      </a:pPr>
                      <a:r>
                        <a:rPr lang="en-IN"/>
                        <a:t>Visit 1</a:t>
                      </a:r>
                    </a:p>
                  </a:txBody>
                  <a:tcPr anchor="ctr">
                    <a:lnL>
                      <a:noFill/>
                    </a:lnL>
                    <a:lnR>
                      <a:noFill/>
                    </a:lnR>
                    <a:lnT>
                      <a:noFill/>
                    </a:lnT>
                    <a:lnB>
                      <a:noFill/>
                    </a:lnB>
                    <a:noFill/>
                  </a:tcPr>
                </a:tc>
                <a:tc>
                  <a:txBody>
                    <a:bodyPr/>
                    <a:lstStyle/>
                    <a:p>
                      <a:pPr>
                        <a:buNone/>
                      </a:pPr>
                      <a:r>
                        <a:rPr lang="en-IN"/>
                        <a:t>₹2000</a:t>
                      </a:r>
                    </a:p>
                  </a:txBody>
                  <a:tcPr anchor="ctr">
                    <a:lnL>
                      <a:noFill/>
                    </a:lnL>
                    <a:lnR>
                      <a:noFill/>
                    </a:lnR>
                    <a:lnT>
                      <a:noFill/>
                    </a:lnT>
                    <a:lnB>
                      <a:noFill/>
                    </a:lnB>
                    <a:noFill/>
                  </a:tcPr>
                </a:tc>
                <a:extLst>
                  <a:ext uri="{0D108BD9-81ED-4DB2-BD59-A6C34878D82A}">
                    <a16:rowId xmlns:a16="http://schemas.microsoft.com/office/drawing/2014/main" val="2344029611"/>
                  </a:ext>
                </a:extLst>
              </a:tr>
              <a:tr h="0">
                <a:tc>
                  <a:txBody>
                    <a:bodyPr/>
                    <a:lstStyle/>
                    <a:p>
                      <a:pPr>
                        <a:buNone/>
                      </a:pPr>
                      <a:r>
                        <a:rPr lang="en-IN"/>
                        <a:t>A</a:t>
                      </a:r>
                    </a:p>
                  </a:txBody>
                  <a:tcPr anchor="ctr">
                    <a:lnL>
                      <a:noFill/>
                    </a:lnL>
                    <a:lnR>
                      <a:noFill/>
                    </a:lnR>
                    <a:lnT>
                      <a:noFill/>
                    </a:lnT>
                    <a:lnB>
                      <a:noFill/>
                    </a:lnB>
                    <a:noFill/>
                  </a:tcPr>
                </a:tc>
                <a:tc>
                  <a:txBody>
                    <a:bodyPr/>
                    <a:lstStyle/>
                    <a:p>
                      <a:pPr>
                        <a:buNone/>
                      </a:pPr>
                      <a:r>
                        <a:rPr lang="en-IN"/>
                        <a:t>Visit 2</a:t>
                      </a:r>
                    </a:p>
                  </a:txBody>
                  <a:tcPr anchor="ctr">
                    <a:lnL>
                      <a:noFill/>
                    </a:lnL>
                    <a:lnR>
                      <a:noFill/>
                    </a:lnR>
                    <a:lnT>
                      <a:noFill/>
                    </a:lnT>
                    <a:lnB>
                      <a:noFill/>
                    </a:lnB>
                    <a:noFill/>
                  </a:tcPr>
                </a:tc>
                <a:tc>
                  <a:txBody>
                    <a:bodyPr/>
                    <a:lstStyle/>
                    <a:p>
                      <a:pPr>
                        <a:buNone/>
                      </a:pPr>
                      <a:r>
                        <a:rPr lang="en-IN" dirty="0"/>
                        <a:t>₹5000</a:t>
                      </a:r>
                    </a:p>
                  </a:txBody>
                  <a:tcPr anchor="ctr">
                    <a:lnL>
                      <a:noFill/>
                    </a:lnL>
                    <a:lnR>
                      <a:noFill/>
                    </a:lnR>
                    <a:lnT>
                      <a:noFill/>
                    </a:lnT>
                    <a:lnB>
                      <a:noFill/>
                    </a:lnB>
                    <a:noFill/>
                  </a:tcPr>
                </a:tc>
                <a:extLst>
                  <a:ext uri="{0D108BD9-81ED-4DB2-BD59-A6C34878D82A}">
                    <a16:rowId xmlns:a16="http://schemas.microsoft.com/office/drawing/2014/main" val="1277456393"/>
                  </a:ext>
                </a:extLst>
              </a:tr>
              <a:tr h="0">
                <a:tc>
                  <a:txBody>
                    <a:bodyPr/>
                    <a:lstStyle/>
                    <a:p>
                      <a:pPr>
                        <a:buNone/>
                      </a:pPr>
                      <a:r>
                        <a:rPr lang="en-IN"/>
                        <a:t>A</a:t>
                      </a:r>
                    </a:p>
                  </a:txBody>
                  <a:tcPr anchor="ctr">
                    <a:lnL>
                      <a:noFill/>
                    </a:lnL>
                    <a:lnR>
                      <a:noFill/>
                    </a:lnR>
                    <a:lnT>
                      <a:noFill/>
                    </a:lnT>
                    <a:lnB>
                      <a:noFill/>
                    </a:lnB>
                    <a:noFill/>
                  </a:tcPr>
                </a:tc>
                <a:tc>
                  <a:txBody>
                    <a:bodyPr/>
                    <a:lstStyle/>
                    <a:p>
                      <a:pPr>
                        <a:buNone/>
                      </a:pPr>
                      <a:r>
                        <a:rPr lang="en-IN"/>
                        <a:t>Visit 3</a:t>
                      </a:r>
                    </a:p>
                  </a:txBody>
                  <a:tcPr anchor="ctr">
                    <a:lnL>
                      <a:noFill/>
                    </a:lnL>
                    <a:lnR>
                      <a:noFill/>
                    </a:lnR>
                    <a:lnT>
                      <a:noFill/>
                    </a:lnT>
                    <a:lnB>
                      <a:noFill/>
                    </a:lnB>
                    <a:noFill/>
                  </a:tcPr>
                </a:tc>
                <a:tc>
                  <a:txBody>
                    <a:bodyPr/>
                    <a:lstStyle/>
                    <a:p>
                      <a:pPr>
                        <a:buNone/>
                      </a:pPr>
                      <a:r>
                        <a:rPr lang="en-IN" dirty="0"/>
                        <a:t>₹7000</a:t>
                      </a:r>
                    </a:p>
                  </a:txBody>
                  <a:tcPr anchor="ctr">
                    <a:lnL>
                      <a:noFill/>
                    </a:lnL>
                    <a:lnR>
                      <a:noFill/>
                    </a:lnR>
                    <a:lnT>
                      <a:noFill/>
                    </a:lnT>
                    <a:lnB>
                      <a:noFill/>
                    </a:lnB>
                    <a:noFill/>
                  </a:tcPr>
                </a:tc>
                <a:extLst>
                  <a:ext uri="{0D108BD9-81ED-4DB2-BD59-A6C34878D82A}">
                    <a16:rowId xmlns:a16="http://schemas.microsoft.com/office/drawing/2014/main" val="516835614"/>
                  </a:ext>
                </a:extLst>
              </a:tr>
            </a:tbl>
          </a:graphicData>
        </a:graphic>
      </p:graphicFrame>
      <p:sp>
        <p:nvSpPr>
          <p:cNvPr id="6" name="TextBox 5">
            <a:extLst>
              <a:ext uri="{FF2B5EF4-FFF2-40B4-BE49-F238E27FC236}">
                <a16:creationId xmlns:a16="http://schemas.microsoft.com/office/drawing/2014/main" id="{47AFFD1D-F582-F919-DDCA-CE260D28F3BC}"/>
              </a:ext>
            </a:extLst>
          </p:cNvPr>
          <p:cNvSpPr txBox="1"/>
          <p:nvPr/>
        </p:nvSpPr>
        <p:spPr>
          <a:xfrm>
            <a:off x="192359" y="0"/>
            <a:ext cx="11315700" cy="3785652"/>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2. Visit as Unit of Analysis</a:t>
            </a:r>
          </a:p>
          <a:p>
            <a:r>
              <a:rPr lang="en-IN" sz="2000" dirty="0">
                <a:latin typeface="Times New Roman" panose="02020603050405020304" pitchFamily="18" charset="0"/>
                <a:cs typeface="Times New Roman" panose="02020603050405020304" pitchFamily="18" charset="0"/>
              </a:rPr>
              <a:t>Each row represents </a:t>
            </a:r>
            <a:r>
              <a:rPr lang="en-IN" sz="2000" b="1" dirty="0">
                <a:latin typeface="Times New Roman" panose="02020603050405020304" pitchFamily="18" charset="0"/>
                <a:cs typeface="Times New Roman" panose="02020603050405020304" pitchFamily="18" charset="0"/>
              </a:rPr>
              <a:t>one hotel visit</a:t>
            </a:r>
            <a:r>
              <a:rPr lang="en-IN" sz="20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a:buNone/>
            </a:pPr>
            <a:endParaRPr lang="en-IN" sz="2000" dirty="0">
              <a:latin typeface="Times New Roman" panose="02020603050405020304" pitchFamily="18" charset="0"/>
              <a:cs typeface="Times New Roman" panose="02020603050405020304" pitchFamily="18" charset="0"/>
            </a:endParaRPr>
          </a:p>
          <a:p>
            <a:pPr>
              <a:buNone/>
            </a:pPr>
            <a:r>
              <a:rPr lang="en-IN" sz="2000" dirty="0">
                <a:latin typeface="Times New Roman" panose="02020603050405020304" pitchFamily="18" charset="0"/>
                <a:cs typeface="Times New Roman" panose="02020603050405020304" pitchFamily="18" charset="0"/>
              </a:rPr>
              <a:t>Example:  A customer with 10 visits will have 10 records. </a:t>
            </a:r>
          </a:p>
          <a:p>
            <a:pPr>
              <a:buNone/>
            </a:pPr>
            <a:r>
              <a:rPr lang="en-IN" sz="2000" b="1" dirty="0">
                <a:latin typeface="Times New Roman" panose="02020603050405020304" pitchFamily="18" charset="0"/>
                <a:cs typeface="Times New Roman" panose="02020603050405020304" pitchFamily="18" charset="0"/>
              </a:rPr>
              <a:t>Advantages: </a:t>
            </a:r>
            <a:r>
              <a:rPr lang="en-IN" sz="2000" dirty="0">
                <a:latin typeface="Times New Roman" panose="02020603050405020304" pitchFamily="18" charset="0"/>
                <a:cs typeface="Times New Roman" panose="02020603050405020304" pitchFamily="18" charset="0"/>
              </a:rPr>
              <a:t>Captures detailed information about each visit. </a:t>
            </a:r>
          </a:p>
          <a:p>
            <a:pPr>
              <a:buNone/>
            </a:pPr>
            <a:r>
              <a:rPr lang="en-IN" sz="2000" b="1" dirty="0">
                <a:latin typeface="Times New Roman" panose="02020603050405020304" pitchFamily="18" charset="0"/>
                <a:cs typeface="Times New Roman" panose="02020603050405020304" pitchFamily="18" charset="0"/>
              </a:rPr>
              <a:t>Limitation:</a:t>
            </a:r>
            <a:endParaRPr lang="en-IN"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Model may treat repeated visits as separate customers.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Frequent customers may have more influence on the model.</a:t>
            </a:r>
          </a:p>
        </p:txBody>
      </p:sp>
      <p:sp>
        <p:nvSpPr>
          <p:cNvPr id="8" name="TextBox 7">
            <a:extLst>
              <a:ext uri="{FF2B5EF4-FFF2-40B4-BE49-F238E27FC236}">
                <a16:creationId xmlns:a16="http://schemas.microsoft.com/office/drawing/2014/main" id="{03A67682-E69C-07E4-B174-5159BF056892}"/>
              </a:ext>
            </a:extLst>
          </p:cNvPr>
          <p:cNvSpPr txBox="1"/>
          <p:nvPr/>
        </p:nvSpPr>
        <p:spPr>
          <a:xfrm>
            <a:off x="371243" y="4162573"/>
            <a:ext cx="11605631" cy="2246769"/>
          </a:xfrm>
          <a:prstGeom prst="rect">
            <a:avLst/>
          </a:prstGeom>
          <a:noFill/>
        </p:spPr>
        <p:txBody>
          <a:bodyPr wrap="square">
            <a:spAutoFit/>
          </a:bodyPr>
          <a:lstStyle/>
          <a:p>
            <a:pPr>
              <a:buNone/>
            </a:pPr>
            <a:r>
              <a:rPr lang="en-IN" sz="2000" b="1" dirty="0">
                <a:solidFill>
                  <a:srgbClr val="FF0000"/>
                </a:solidFill>
                <a:latin typeface="Times New Roman" panose="02020603050405020304" pitchFamily="18" charset="0"/>
                <a:cs typeface="Times New Roman" panose="02020603050405020304" pitchFamily="18" charset="0"/>
              </a:rPr>
              <a:t>Using Derived Variables</a:t>
            </a:r>
          </a:p>
          <a:p>
            <a:pPr>
              <a:buFont typeface="Arial" panose="020B0604020202020204" pitchFamily="34" charset="0"/>
              <a:buChar char="•"/>
            </a:pPr>
            <a:r>
              <a:rPr lang="en-IN" sz="2000" dirty="0">
                <a:solidFill>
                  <a:srgbClr val="FF0000"/>
                </a:solidFill>
                <a:latin typeface="Times New Roman" panose="02020603050405020304" pitchFamily="18" charset="0"/>
                <a:cs typeface="Times New Roman" panose="02020603050405020304" pitchFamily="18" charset="0"/>
              </a:rPr>
              <a:t>Derived variables help connect customer history with individual visits. </a:t>
            </a:r>
          </a:p>
          <a:p>
            <a:pPr>
              <a:buNone/>
            </a:pPr>
            <a:r>
              <a:rPr lang="en-IN" sz="2000" dirty="0">
                <a:latin typeface="Times New Roman" panose="02020603050405020304" pitchFamily="18" charset="0"/>
                <a:cs typeface="Times New Roman" panose="02020603050405020304" pitchFamily="18" charset="0"/>
              </a:rPr>
              <a:t>Eg below details can also be added:</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Total number of previous visits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Average spending in last 3 visits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Days since last visit </a:t>
            </a:r>
          </a:p>
          <a:p>
            <a:pPr>
              <a:buNone/>
            </a:pPr>
            <a:r>
              <a:rPr lang="en-IN" sz="2000" dirty="0">
                <a:latin typeface="Times New Roman" panose="02020603050405020304" pitchFamily="18" charset="0"/>
                <a:cs typeface="Times New Roman" panose="02020603050405020304" pitchFamily="18" charset="0"/>
              </a:rPr>
              <a:t>Important:  Use only past information. Do not include future data (avoid data leakage).</a:t>
            </a:r>
          </a:p>
        </p:txBody>
      </p:sp>
    </p:spTree>
    <p:extLst>
      <p:ext uri="{BB962C8B-B14F-4D97-AF65-F5344CB8AC3E}">
        <p14:creationId xmlns:p14="http://schemas.microsoft.com/office/powerpoint/2010/main" val="11078106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17242-B1E9-16F8-8F23-F85DD07D9C4E}"/>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BD56DFB1-DE42-956C-9A0B-340A0CB59E67}"/>
              </a:ext>
            </a:extLst>
          </p:cNvPr>
          <p:cNvGraphicFramePr>
            <a:graphicFrameLocks noGrp="1"/>
          </p:cNvGraphicFramePr>
          <p:nvPr>
            <p:ph idx="1"/>
            <p:extLst>
              <p:ext uri="{D42A27DB-BD31-4B8C-83A1-F6EECF244321}">
                <p14:modId xmlns:p14="http://schemas.microsoft.com/office/powerpoint/2010/main" val="3720402055"/>
              </p:ext>
            </p:extLst>
          </p:nvPr>
        </p:nvGraphicFramePr>
        <p:xfrm>
          <a:off x="838200" y="3269774"/>
          <a:ext cx="10515600" cy="1828800"/>
        </p:xfrm>
        <a:graphic>
          <a:graphicData uri="http://schemas.openxmlformats.org/drawingml/2006/table">
            <a:tbl>
              <a:tblPr/>
              <a:tblGrid>
                <a:gridCol w="5257800">
                  <a:extLst>
                    <a:ext uri="{9D8B030D-6E8A-4147-A177-3AD203B41FA5}">
                      <a16:colId xmlns:a16="http://schemas.microsoft.com/office/drawing/2014/main" val="989606327"/>
                    </a:ext>
                  </a:extLst>
                </a:gridCol>
                <a:gridCol w="5257800">
                  <a:extLst>
                    <a:ext uri="{9D8B030D-6E8A-4147-A177-3AD203B41FA5}">
                      <a16:colId xmlns:a16="http://schemas.microsoft.com/office/drawing/2014/main" val="78227340"/>
                    </a:ext>
                  </a:extLst>
                </a:gridCol>
              </a:tblGrid>
              <a:tr h="0">
                <a:tc>
                  <a:txBody>
                    <a:bodyPr/>
                    <a:lstStyle/>
                    <a:p>
                      <a:pPr>
                        <a:buNone/>
                      </a:pPr>
                      <a:r>
                        <a:rPr lang="en-IN" sz="2400" b="1" dirty="0">
                          <a:latin typeface="Times New Roman" panose="02020603050405020304" pitchFamily="18" charset="0"/>
                          <a:cs typeface="Times New Roman" panose="02020603050405020304" pitchFamily="18" charset="0"/>
                        </a:rPr>
                        <a:t>Goal</a:t>
                      </a:r>
                    </a:p>
                  </a:txBody>
                  <a:tcPr anchor="ctr">
                    <a:lnL>
                      <a:noFill/>
                    </a:lnL>
                    <a:lnR>
                      <a:noFill/>
                    </a:lnR>
                    <a:lnT>
                      <a:noFill/>
                    </a:lnT>
                    <a:lnB>
                      <a:noFill/>
                    </a:lnB>
                    <a:noFill/>
                  </a:tcPr>
                </a:tc>
                <a:tc>
                  <a:txBody>
                    <a:bodyPr/>
                    <a:lstStyle/>
                    <a:p>
                      <a:pPr>
                        <a:buNone/>
                      </a:pPr>
                      <a:r>
                        <a:rPr lang="en-IN" sz="2400" b="1" dirty="0">
                          <a:latin typeface="Times New Roman" panose="02020603050405020304" pitchFamily="18" charset="0"/>
                          <a:cs typeface="Times New Roman" panose="02020603050405020304" pitchFamily="18" charset="0"/>
                        </a:rPr>
                        <a:t>Unit of Analysis</a:t>
                      </a:r>
                    </a:p>
                  </a:txBody>
                  <a:tcPr anchor="ctr">
                    <a:lnL>
                      <a:noFill/>
                    </a:lnL>
                    <a:lnR>
                      <a:noFill/>
                    </a:lnR>
                    <a:lnT>
                      <a:noFill/>
                    </a:lnT>
                    <a:lnB>
                      <a:noFill/>
                    </a:lnB>
                    <a:noFill/>
                  </a:tcPr>
                </a:tc>
                <a:extLst>
                  <a:ext uri="{0D108BD9-81ED-4DB2-BD59-A6C34878D82A}">
                    <a16:rowId xmlns:a16="http://schemas.microsoft.com/office/drawing/2014/main" val="3185018199"/>
                  </a:ext>
                </a:extLst>
              </a:tr>
              <a:tr h="0">
                <a:tc>
                  <a:txBody>
                    <a:bodyPr/>
                    <a:lstStyle/>
                    <a:p>
                      <a:pPr>
                        <a:buNone/>
                      </a:pPr>
                      <a:r>
                        <a:rPr lang="en-IN" sz="2400" dirty="0">
                          <a:latin typeface="Times New Roman" panose="02020603050405020304" pitchFamily="18" charset="0"/>
                          <a:cs typeface="Times New Roman" panose="02020603050405020304" pitchFamily="18" charset="0"/>
                        </a:rPr>
                        <a:t>Predict customer </a:t>
                      </a:r>
                      <a:r>
                        <a:rPr lang="en-IN" sz="2400" dirty="0" err="1">
                          <a:latin typeface="Times New Roman" panose="02020603050405020304" pitchFamily="18" charset="0"/>
                          <a:cs typeface="Times New Roman" panose="02020603050405020304" pitchFamily="18" charset="0"/>
                        </a:rPr>
                        <a:t>behavior</a:t>
                      </a:r>
                      <a:endParaRPr lang="en-IN" sz="24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Customer</a:t>
                      </a:r>
                    </a:p>
                  </a:txBody>
                  <a:tcPr anchor="ctr">
                    <a:lnL>
                      <a:noFill/>
                    </a:lnL>
                    <a:lnR>
                      <a:noFill/>
                    </a:lnR>
                    <a:lnT>
                      <a:noFill/>
                    </a:lnT>
                    <a:lnB>
                      <a:noFill/>
                    </a:lnB>
                    <a:noFill/>
                  </a:tcPr>
                </a:tc>
                <a:extLst>
                  <a:ext uri="{0D108BD9-81ED-4DB2-BD59-A6C34878D82A}">
                    <a16:rowId xmlns:a16="http://schemas.microsoft.com/office/drawing/2014/main" val="1020610001"/>
                  </a:ext>
                </a:extLst>
              </a:tr>
              <a:tr h="0">
                <a:tc>
                  <a:txBody>
                    <a:bodyPr/>
                    <a:lstStyle/>
                    <a:p>
                      <a:pPr>
                        <a:buNone/>
                      </a:pPr>
                      <a:r>
                        <a:rPr lang="en-IN" sz="2400" dirty="0">
                          <a:latin typeface="Times New Roman" panose="02020603050405020304" pitchFamily="18" charset="0"/>
                          <a:cs typeface="Times New Roman" panose="02020603050405020304" pitchFamily="18" charset="0"/>
                        </a:rPr>
                        <a:t>Predict next hotel stay</a:t>
                      </a:r>
                    </a:p>
                  </a:txBody>
                  <a:tcPr anchor="ctr">
                    <a:lnL>
                      <a:noFill/>
                    </a:lnL>
                    <a:lnR>
                      <a:noFill/>
                    </a:lnR>
                    <a:lnT>
                      <a:noFill/>
                    </a:lnT>
                    <a:lnB>
                      <a:noFill/>
                    </a:lnB>
                    <a:noFill/>
                  </a:tcPr>
                </a:tc>
                <a:tc>
                  <a:txBody>
                    <a:bodyPr/>
                    <a:lstStyle/>
                    <a:p>
                      <a:pPr>
                        <a:buNone/>
                      </a:pPr>
                      <a:r>
                        <a:rPr lang="en-IN" sz="2400" dirty="0">
                          <a:latin typeface="Times New Roman" panose="02020603050405020304" pitchFamily="18" charset="0"/>
                          <a:cs typeface="Times New Roman" panose="02020603050405020304" pitchFamily="18" charset="0"/>
                        </a:rPr>
                        <a:t>Visit</a:t>
                      </a:r>
                    </a:p>
                  </a:txBody>
                  <a:tcPr anchor="ctr">
                    <a:lnL>
                      <a:noFill/>
                    </a:lnL>
                    <a:lnR>
                      <a:noFill/>
                    </a:lnR>
                    <a:lnT>
                      <a:noFill/>
                    </a:lnT>
                    <a:lnB>
                      <a:noFill/>
                    </a:lnB>
                    <a:noFill/>
                  </a:tcPr>
                </a:tc>
                <a:extLst>
                  <a:ext uri="{0D108BD9-81ED-4DB2-BD59-A6C34878D82A}">
                    <a16:rowId xmlns:a16="http://schemas.microsoft.com/office/drawing/2014/main" val="1881370877"/>
                  </a:ext>
                </a:extLst>
              </a:tr>
              <a:tr h="0">
                <a:tc>
                  <a:txBody>
                    <a:bodyPr/>
                    <a:lstStyle/>
                    <a:p>
                      <a:pPr>
                        <a:buNone/>
                      </a:pPr>
                      <a:r>
                        <a:rPr lang="en-IN" sz="2400" dirty="0">
                          <a:latin typeface="Times New Roman" panose="02020603050405020304" pitchFamily="18" charset="0"/>
                          <a:cs typeface="Times New Roman" panose="02020603050405020304" pitchFamily="18" charset="0"/>
                        </a:rPr>
                        <a:t>Predict fraud</a:t>
                      </a:r>
                    </a:p>
                  </a:txBody>
                  <a:tcPr anchor="ctr">
                    <a:lnL>
                      <a:noFill/>
                    </a:lnL>
                    <a:lnR>
                      <a:noFill/>
                    </a:lnR>
                    <a:lnT>
                      <a:noFill/>
                    </a:lnT>
                    <a:lnB>
                      <a:noFill/>
                    </a:lnB>
                    <a:noFill/>
                  </a:tcPr>
                </a:tc>
                <a:tc>
                  <a:txBody>
                    <a:bodyPr/>
                    <a:lstStyle/>
                    <a:p>
                      <a:pPr>
                        <a:buNone/>
                      </a:pPr>
                      <a:r>
                        <a:rPr lang="en-IN" sz="2400" dirty="0">
                          <a:latin typeface="Times New Roman" panose="02020603050405020304" pitchFamily="18" charset="0"/>
                          <a:cs typeface="Times New Roman" panose="02020603050405020304" pitchFamily="18" charset="0"/>
                        </a:rPr>
                        <a:t>Transaction</a:t>
                      </a:r>
                    </a:p>
                  </a:txBody>
                  <a:tcPr anchor="ctr">
                    <a:lnL>
                      <a:noFill/>
                    </a:lnL>
                    <a:lnR>
                      <a:noFill/>
                    </a:lnR>
                    <a:lnT>
                      <a:noFill/>
                    </a:lnT>
                    <a:lnB>
                      <a:noFill/>
                    </a:lnB>
                    <a:noFill/>
                  </a:tcPr>
                </a:tc>
                <a:extLst>
                  <a:ext uri="{0D108BD9-81ED-4DB2-BD59-A6C34878D82A}">
                    <a16:rowId xmlns:a16="http://schemas.microsoft.com/office/drawing/2014/main" val="456746533"/>
                  </a:ext>
                </a:extLst>
              </a:tr>
            </a:tbl>
          </a:graphicData>
        </a:graphic>
      </p:graphicFrame>
      <p:sp>
        <p:nvSpPr>
          <p:cNvPr id="6" name="TextBox 5">
            <a:extLst>
              <a:ext uri="{FF2B5EF4-FFF2-40B4-BE49-F238E27FC236}">
                <a16:creationId xmlns:a16="http://schemas.microsoft.com/office/drawing/2014/main" id="{C826A154-E995-1A97-23E3-CCC5E736287E}"/>
              </a:ext>
            </a:extLst>
          </p:cNvPr>
          <p:cNvSpPr txBox="1"/>
          <p:nvPr/>
        </p:nvSpPr>
        <p:spPr>
          <a:xfrm>
            <a:off x="838200" y="1990713"/>
            <a:ext cx="6094140" cy="830997"/>
          </a:xfrm>
          <a:prstGeom prst="rect">
            <a:avLst/>
          </a:prstGeom>
          <a:noFill/>
        </p:spPr>
        <p:txBody>
          <a:bodyPr wrap="square">
            <a:spAutoFit/>
          </a:bodyPr>
          <a:lstStyle/>
          <a:p>
            <a:pPr>
              <a:buNone/>
            </a:pPr>
            <a:r>
              <a:rPr lang="en-IN" sz="2400" b="1" dirty="0">
                <a:latin typeface="Times New Roman" panose="02020603050405020304" pitchFamily="18" charset="0"/>
                <a:cs typeface="Times New Roman" panose="02020603050405020304" pitchFamily="18" charset="0"/>
              </a:rPr>
              <a:t>Choosing the Right Unit</a:t>
            </a:r>
          </a:p>
          <a:p>
            <a:pPr>
              <a:buNone/>
            </a:pPr>
            <a:r>
              <a:rPr lang="en-IN" sz="2400" dirty="0">
                <a:latin typeface="Times New Roman" panose="02020603050405020304" pitchFamily="18" charset="0"/>
                <a:cs typeface="Times New Roman" panose="02020603050405020304" pitchFamily="18" charset="0"/>
              </a:rPr>
              <a:t>Depends on the prediction goal:</a:t>
            </a:r>
          </a:p>
        </p:txBody>
      </p:sp>
    </p:spTree>
    <p:extLst>
      <p:ext uri="{BB962C8B-B14F-4D97-AF65-F5344CB8AC3E}">
        <p14:creationId xmlns:p14="http://schemas.microsoft.com/office/powerpoint/2010/main" val="21324454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6A5A1-9C2E-F4A3-2CA8-E935390FB85A}"/>
              </a:ext>
            </a:extLst>
          </p:cNvPr>
          <p:cNvSpPr>
            <a:spLocks noGrp="1"/>
          </p:cNvSpPr>
          <p:nvPr>
            <p:ph type="title"/>
          </p:nvPr>
        </p:nvSpPr>
        <p:spPr>
          <a:xfrm>
            <a:off x="213732" y="315350"/>
            <a:ext cx="10515600" cy="493519"/>
          </a:xfrm>
        </p:spPr>
        <p:txBody>
          <a:bodyPr>
            <a:noAutofit/>
          </a:bodyPr>
          <a:lstStyle/>
          <a:p>
            <a:r>
              <a:rPr lang="en-US" sz="2800" dirty="0">
                <a:solidFill>
                  <a:srgbClr val="FF0000"/>
                </a:solidFill>
                <a:latin typeface="Times New Roman" panose="02020603050405020304" pitchFamily="18" charset="0"/>
                <a:cs typeface="Times New Roman" panose="02020603050405020304" pitchFamily="18" charset="0"/>
              </a:rPr>
              <a:t>Defining target variables </a:t>
            </a:r>
            <a:r>
              <a:rPr lang="en-IN" sz="2800" dirty="0">
                <a:solidFill>
                  <a:srgbClr val="FF0000"/>
                </a:solidFill>
                <a:latin typeface="Times New Roman" panose="02020603050405020304" pitchFamily="18" charset="0"/>
                <a:cs typeface="Times New Roman" panose="02020603050405020304" pitchFamily="18" charset="0"/>
              </a:rPr>
              <a:t>in Predictive </a:t>
            </a:r>
            <a:r>
              <a:rPr lang="en-IN" sz="2800" dirty="0" err="1">
                <a:solidFill>
                  <a:srgbClr val="FF0000"/>
                </a:solidFill>
                <a:latin typeface="Times New Roman" panose="02020603050405020304" pitchFamily="18" charset="0"/>
                <a:cs typeface="Times New Roman" panose="02020603050405020304" pitchFamily="18" charset="0"/>
              </a:rPr>
              <a:t>Modeling</a:t>
            </a:r>
            <a:r>
              <a:rPr lang="en-IN" sz="2800" dirty="0">
                <a:solidFill>
                  <a:srgbClr val="FF0000"/>
                </a:solidFill>
                <a:latin typeface="Times New Roman" panose="02020603050405020304" pitchFamily="18" charset="0"/>
                <a:cs typeface="Times New Roman" panose="02020603050405020304" pitchFamily="18" charset="0"/>
              </a:rPr>
              <a:t> </a:t>
            </a:r>
            <a:br>
              <a:rPr lang="en-IN" sz="3600" dirty="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F2F61EC-8165-F1E1-8520-08D7DF283526}"/>
              </a:ext>
            </a:extLst>
          </p:cNvPr>
          <p:cNvSpPr>
            <a:spLocks noGrp="1"/>
          </p:cNvSpPr>
          <p:nvPr>
            <p:ph idx="1"/>
          </p:nvPr>
        </p:nvSpPr>
        <p:spPr>
          <a:xfrm>
            <a:off x="213732" y="562109"/>
            <a:ext cx="11595409" cy="6150925"/>
          </a:xfrm>
        </p:spPr>
        <p:txBody>
          <a:bodyPr>
            <a:noAutofit/>
          </a:bodyPr>
          <a:lstStyle/>
          <a:p>
            <a:pPr marL="0" indent="0">
              <a:buNone/>
            </a:pPr>
            <a:r>
              <a:rPr lang="en-IN" sz="2000" dirty="0">
                <a:latin typeface="Times New Roman" panose="02020603050405020304" pitchFamily="18" charset="0"/>
                <a:cs typeface="Times New Roman" panose="02020603050405020304" pitchFamily="18" charset="0"/>
              </a:rPr>
              <a:t>A target variable is the value that a predictive model tries to predict or estimate. </a:t>
            </a:r>
          </a:p>
          <a:p>
            <a:r>
              <a:rPr lang="en-IN" sz="2000" dirty="0">
                <a:latin typeface="Times New Roman" panose="02020603050405020304" pitchFamily="18" charset="0"/>
                <a:cs typeface="Times New Roman" panose="02020603050405020304" pitchFamily="18" charset="0"/>
              </a:rPr>
              <a:t>It is a column in the </a:t>
            </a:r>
            <a:r>
              <a:rPr lang="en-IN" sz="2000" dirty="0" err="1">
                <a:latin typeface="Times New Roman" panose="02020603050405020304" pitchFamily="18" charset="0"/>
                <a:cs typeface="Times New Roman" panose="02020603050405020304" pitchFamily="18" charset="0"/>
              </a:rPr>
              <a:t>modeling</a:t>
            </a:r>
            <a:r>
              <a:rPr lang="en-IN" sz="2000" dirty="0">
                <a:latin typeface="Times New Roman" panose="02020603050405020304" pitchFamily="18" charset="0"/>
                <a:cs typeface="Times New Roman" panose="02020603050405020304" pitchFamily="18" charset="0"/>
              </a:rPr>
              <a:t> dataset that represents the business objective. </a:t>
            </a:r>
          </a:p>
          <a:p>
            <a:r>
              <a:rPr lang="en-IN" sz="2000" dirty="0">
                <a:latin typeface="Times New Roman" panose="02020603050405020304" pitchFamily="18" charset="0"/>
                <a:cs typeface="Times New Roman" panose="02020603050405020304" pitchFamily="18" charset="0"/>
              </a:rPr>
              <a:t>Target variables can be: Numeric (continuous) ,Categorical , Binary </a:t>
            </a:r>
          </a:p>
          <a:p>
            <a:pPr marL="0" indent="0">
              <a:buNone/>
            </a:pPr>
            <a:r>
              <a:rPr lang="en-IN" sz="2000" b="1" dirty="0">
                <a:latin typeface="Times New Roman" panose="02020603050405020304" pitchFamily="18" charset="0"/>
                <a:cs typeface="Times New Roman" panose="02020603050405020304" pitchFamily="18" charset="0"/>
              </a:rPr>
              <a:t>Types of Target Variables</a:t>
            </a:r>
          </a:p>
          <a:p>
            <a:pPr marL="0" indent="0">
              <a:buNone/>
            </a:pPr>
            <a:r>
              <a:rPr lang="en-IN" sz="2000" dirty="0">
                <a:solidFill>
                  <a:srgbClr val="FF0000"/>
                </a:solidFill>
                <a:latin typeface="Times New Roman" panose="02020603050405020304" pitchFamily="18" charset="0"/>
                <a:cs typeface="Times New Roman" panose="02020603050405020304" pitchFamily="18" charset="0"/>
              </a:rPr>
              <a:t>Binary Target Variable</a:t>
            </a:r>
          </a:p>
          <a:p>
            <a:r>
              <a:rPr lang="en-IN" sz="2000" dirty="0">
                <a:latin typeface="Times New Roman" panose="02020603050405020304" pitchFamily="18" charset="0"/>
                <a:cs typeface="Times New Roman" panose="02020603050405020304" pitchFamily="18" charset="0"/>
              </a:rPr>
              <a:t>Has only two possible outcomes. (Use: Classification problems)</a:t>
            </a:r>
          </a:p>
          <a:p>
            <a:r>
              <a:rPr lang="en-IN" sz="2000" dirty="0">
                <a:latin typeface="Times New Roman" panose="02020603050405020304" pitchFamily="18" charset="0"/>
                <a:cs typeface="Times New Roman" panose="02020603050405020304" pitchFamily="18" charset="0"/>
              </a:rPr>
              <a:t>Example: Customer Acquisition (1 → Customer acquired , 0 → Customer not acquired)</a:t>
            </a:r>
          </a:p>
          <a:p>
            <a:pPr marL="0" indent="0">
              <a:buNone/>
            </a:pPr>
            <a:r>
              <a:rPr lang="en-IN" sz="2000" dirty="0">
                <a:solidFill>
                  <a:srgbClr val="FF0000"/>
                </a:solidFill>
                <a:latin typeface="Times New Roman" panose="02020603050405020304" pitchFamily="18" charset="0"/>
                <a:cs typeface="Times New Roman" panose="02020603050405020304" pitchFamily="18" charset="0"/>
              </a:rPr>
              <a:t>Continuous Target Variable</a:t>
            </a:r>
          </a:p>
          <a:p>
            <a:r>
              <a:rPr lang="en-IN" sz="2000" dirty="0">
                <a:latin typeface="Times New Roman" panose="02020603050405020304" pitchFamily="18" charset="0"/>
                <a:cs typeface="Times New Roman" panose="02020603050405020304" pitchFamily="18" charset="0"/>
              </a:rPr>
              <a:t>Predicts a numerical value. </a:t>
            </a:r>
          </a:p>
          <a:p>
            <a:r>
              <a:rPr lang="en-IN" sz="2000" dirty="0">
                <a:latin typeface="Times New Roman" panose="02020603050405020304" pitchFamily="18" charset="0"/>
                <a:cs typeface="Times New Roman" panose="02020603050405020304" pitchFamily="18" charset="0"/>
              </a:rPr>
              <a:t>Example: </a:t>
            </a:r>
            <a:r>
              <a:rPr lang="en-US" sz="2000" dirty="0">
                <a:latin typeface="Times New Roman" panose="02020603050405020304" pitchFamily="18" charset="0"/>
                <a:cs typeface="Times New Roman" panose="02020603050405020304" pitchFamily="18" charset="0"/>
              </a:rPr>
              <a:t>How much money will each customer spend with us in the future?</a:t>
            </a:r>
            <a:endParaRPr lang="en-IN" sz="2000" dirty="0">
              <a:latin typeface="Times New Roman" panose="02020603050405020304" pitchFamily="18" charset="0"/>
              <a:cs typeface="Times New Roman" panose="02020603050405020304" pitchFamily="18" charset="0"/>
            </a:endParaRPr>
          </a:p>
          <a:p>
            <a:pPr marL="0" indent="0">
              <a:buNone/>
            </a:pPr>
            <a:r>
              <a:rPr lang="en-IN" sz="2000" dirty="0">
                <a:solidFill>
                  <a:srgbClr val="FF0000"/>
                </a:solidFill>
                <a:latin typeface="Times New Roman" panose="02020603050405020304" pitchFamily="18" charset="0"/>
                <a:cs typeface="Times New Roman" panose="02020603050405020304" pitchFamily="18" charset="0"/>
              </a:rPr>
              <a:t>Categorical Target Variable </a:t>
            </a:r>
            <a:r>
              <a:rPr lang="en-IN" sz="2000" dirty="0">
                <a:latin typeface="Times New Roman" panose="02020603050405020304" pitchFamily="18" charset="0"/>
                <a:cs typeface="Times New Roman" panose="02020603050405020304" pitchFamily="18" charset="0"/>
              </a:rPr>
              <a:t>Predicts one category among multiple classes.</a:t>
            </a:r>
          </a:p>
          <a:p>
            <a:pPr marL="0" indent="0">
              <a:buNone/>
            </a:pPr>
            <a:r>
              <a:rPr lang="en-IN" sz="2000" dirty="0">
                <a:latin typeface="Times New Roman" panose="02020603050405020304" pitchFamily="18" charset="0"/>
                <a:cs typeface="Times New Roman" panose="02020603050405020304" pitchFamily="18" charset="0"/>
              </a:rPr>
              <a:t>Eg: Fraud Detection-- Instead of: Fraud = Yes / No </a:t>
            </a:r>
          </a:p>
          <a:p>
            <a:pPr marL="0" indent="0">
              <a:buNone/>
            </a:pPr>
            <a:r>
              <a:rPr lang="en-IN" sz="2000" dirty="0">
                <a:latin typeface="Times New Roman" panose="02020603050405020304" pitchFamily="18" charset="0"/>
                <a:cs typeface="Times New Roman" panose="02020603050405020304" pitchFamily="18" charset="0"/>
              </a:rPr>
              <a:t>Predict: Fraud Type 1,Fraud Type 2,Fraud Type 3,Fraud Type 4,No Fraud</a:t>
            </a:r>
          </a:p>
          <a:p>
            <a:pPr marL="0" indent="0">
              <a:buNone/>
            </a:pPr>
            <a:r>
              <a:rPr lang="en-IN" sz="2000" dirty="0">
                <a:latin typeface="Times New Roman" panose="02020603050405020304" pitchFamily="18" charset="0"/>
                <a:cs typeface="Times New Roman" panose="02020603050405020304" pitchFamily="18" charset="0"/>
              </a:rPr>
              <a:t>Advantage: Gives more detailed information for decision-making.</a:t>
            </a: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9ED97AC-28F3-50CD-C698-5A1F5002EDDF}"/>
              </a:ext>
            </a:extLst>
          </p:cNvPr>
          <p:cNvPicPr>
            <a:picLocks noChangeAspect="1"/>
          </p:cNvPicPr>
          <p:nvPr/>
        </p:nvPicPr>
        <p:blipFill>
          <a:blip r:embed="rId2"/>
          <a:stretch>
            <a:fillRect/>
          </a:stretch>
        </p:blipFill>
        <p:spPr>
          <a:xfrm>
            <a:off x="7701695" y="3319107"/>
            <a:ext cx="3806363" cy="883688"/>
          </a:xfrm>
          <a:prstGeom prst="rect">
            <a:avLst/>
          </a:prstGeom>
        </p:spPr>
      </p:pic>
    </p:spTree>
    <p:extLst>
      <p:ext uri="{BB962C8B-B14F-4D97-AF65-F5344CB8AC3E}">
        <p14:creationId xmlns:p14="http://schemas.microsoft.com/office/powerpoint/2010/main" val="34803764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F15DDA-4067-A92E-A19A-F9F8541D22D4}"/>
              </a:ext>
            </a:extLst>
          </p:cNvPr>
          <p:cNvSpPr>
            <a:spLocks noGrp="1"/>
          </p:cNvSpPr>
          <p:nvPr>
            <p:ph idx="1"/>
          </p:nvPr>
        </p:nvSpPr>
        <p:spPr>
          <a:xfrm>
            <a:off x="836341" y="334537"/>
            <a:ext cx="11206976" cy="6222380"/>
          </a:xfrm>
        </p:spPr>
        <p:txBody>
          <a:bodyPr>
            <a:noAutofit/>
          </a:bodyPr>
          <a:lstStyle/>
          <a:p>
            <a:pPr marL="0" indent="0">
              <a:buNone/>
            </a:pPr>
            <a:r>
              <a:rPr lang="en-IN" sz="2400" dirty="0">
                <a:latin typeface="Times New Roman" panose="02020603050405020304" pitchFamily="18" charset="0"/>
                <a:cs typeface="Times New Roman" panose="02020603050405020304" pitchFamily="18" charset="0"/>
              </a:rPr>
              <a:t>Temporal Considerations for Target Variables : </a:t>
            </a:r>
            <a:r>
              <a:rPr lang="en-IN" sz="2400" dirty="0">
                <a:solidFill>
                  <a:srgbClr val="FF0000"/>
                </a:solidFill>
              </a:rPr>
              <a:t>consider the time relationship between input data and the target variable while building a predictive model.</a:t>
            </a:r>
            <a:endParaRPr lang="en-IN" sz="2400" dirty="0"/>
          </a:p>
          <a:p>
            <a:pPr marL="0" indent="0">
              <a:buNone/>
            </a:pPr>
            <a:r>
              <a:rPr lang="en-IN" sz="2400" b="1" dirty="0">
                <a:latin typeface="Times New Roman" panose="02020603050405020304" pitchFamily="18" charset="0"/>
                <a:cs typeface="Times New Roman" panose="02020603050405020304" pitchFamily="18" charset="0"/>
              </a:rPr>
              <a:t>1. Timeline Arrangement</a:t>
            </a:r>
          </a:p>
          <a:p>
            <a:pPr marL="0" indent="0">
              <a:buNone/>
            </a:pPr>
            <a:r>
              <a:rPr lang="en-IN" sz="2400" dirty="0">
                <a:latin typeface="Times New Roman" panose="02020603050405020304" pitchFamily="18" charset="0"/>
                <a:cs typeface="Times New Roman" panose="02020603050405020304" pitchFamily="18" charset="0"/>
              </a:rPr>
              <a:t>	A time gap is the time kept between the data used for prediction and the event we want to predict.</a:t>
            </a:r>
          </a:p>
          <a:p>
            <a:pPr marL="0" indent="0">
              <a:buNone/>
            </a:pPr>
            <a:r>
              <a:rPr lang="en-IN" sz="2400" dirty="0">
                <a:latin typeface="Times New Roman" panose="02020603050405020304" pitchFamily="18" charset="0"/>
                <a:cs typeface="Times New Roman" panose="02020603050405020304" pitchFamily="18" charset="0"/>
              </a:rPr>
              <a:t>	This gap allows a business to take action before the event happens.</a:t>
            </a:r>
          </a:p>
          <a:p>
            <a:pPr marL="0" indent="0">
              <a:buNone/>
            </a:pPr>
            <a:r>
              <a:rPr lang="en-IN" sz="2400" dirty="0">
                <a:solidFill>
                  <a:srgbClr val="FF0000"/>
                </a:solidFill>
                <a:latin typeface="Times New Roman" panose="02020603050405020304" pitchFamily="18" charset="0"/>
                <a:cs typeface="Times New Roman" panose="02020603050405020304" pitchFamily="18" charset="0"/>
              </a:rPr>
              <a:t>Eg: Customer Churn Prediction</a:t>
            </a:r>
          </a:p>
          <a:p>
            <a:pPr marL="0" indent="0">
              <a:buNone/>
            </a:pPr>
            <a:r>
              <a:rPr lang="en-IN" sz="2400" b="1" dirty="0">
                <a:latin typeface="Times New Roman" panose="02020603050405020304" pitchFamily="18" charset="0"/>
                <a:cs typeface="Times New Roman" panose="02020603050405020304" pitchFamily="18" charset="0"/>
              </a:rPr>
              <a:t>Goal:</a:t>
            </a:r>
            <a:r>
              <a:rPr lang="en-IN" sz="2400" dirty="0">
                <a:latin typeface="Times New Roman" panose="02020603050405020304" pitchFamily="18" charset="0"/>
                <a:cs typeface="Times New Roman" panose="02020603050405020304" pitchFamily="18" charset="0"/>
              </a:rPr>
              <a:t> Predict which customers may stop using a service.  (A customer stops using Airtel/Jio SIM. A Netflix subscriber cancels the subscription. A customer closes a bank account.)</a:t>
            </a:r>
          </a:p>
          <a:p>
            <a:pPr marL="0" indent="0">
              <a:buNone/>
            </a:pPr>
            <a:r>
              <a:rPr lang="en-IN" sz="2400" dirty="0">
                <a:highlight>
                  <a:srgbClr val="FFFF00"/>
                </a:highlight>
                <a:latin typeface="Times New Roman" panose="02020603050405020304" pitchFamily="18" charset="0"/>
                <a:cs typeface="Times New Roman" panose="02020603050405020304" pitchFamily="18" charset="0"/>
              </a:rPr>
              <a:t>Without time gap: </a:t>
            </a:r>
            <a:r>
              <a:rPr lang="en-IN" sz="2400" dirty="0">
                <a:latin typeface="Times New Roman" panose="02020603050405020304" pitchFamily="18" charset="0"/>
                <a:cs typeface="Times New Roman" panose="02020603050405020304" pitchFamily="18" charset="0"/>
              </a:rPr>
              <a:t>Customer </a:t>
            </a:r>
            <a:r>
              <a:rPr lang="en-IN" sz="2400" dirty="0" err="1">
                <a:latin typeface="Times New Roman" panose="02020603050405020304" pitchFamily="18" charset="0"/>
                <a:cs typeface="Times New Roman" panose="02020603050405020304" pitchFamily="18" charset="0"/>
              </a:rPr>
              <a:t>behavior</a:t>
            </a:r>
            <a:r>
              <a:rPr lang="en-IN" sz="2400" dirty="0">
                <a:latin typeface="Times New Roman" panose="02020603050405020304" pitchFamily="18" charset="0"/>
                <a:cs typeface="Times New Roman" panose="02020603050405020304" pitchFamily="18" charset="0"/>
              </a:rPr>
              <a:t> data -&gt;Model predicts: "Customer leaves today" -&gt; Too late to take action</a:t>
            </a:r>
          </a:p>
          <a:p>
            <a:r>
              <a:rPr lang="en-IN" sz="2400" dirty="0">
                <a:latin typeface="Times New Roman" panose="02020603050405020304" pitchFamily="18" charset="0"/>
                <a:cs typeface="Times New Roman" panose="02020603050405020304" pitchFamily="18" charset="0"/>
              </a:rPr>
              <a:t>The company cannot stop the customer because the customer has already left.</a:t>
            </a:r>
          </a:p>
          <a:p>
            <a:pPr marL="0" indent="0">
              <a:buNone/>
            </a:pPr>
            <a:r>
              <a:rPr lang="en-IN" sz="2400" dirty="0">
                <a:highlight>
                  <a:srgbClr val="FFFF00"/>
                </a:highlight>
                <a:latin typeface="Times New Roman" panose="02020603050405020304" pitchFamily="18" charset="0"/>
                <a:cs typeface="Times New Roman" panose="02020603050405020304" pitchFamily="18" charset="0"/>
              </a:rPr>
              <a:t>With time gap: </a:t>
            </a:r>
            <a:r>
              <a:rPr lang="en-IN" sz="2400" dirty="0">
                <a:latin typeface="Times New Roman" panose="02020603050405020304" pitchFamily="18" charset="0"/>
                <a:cs typeface="Times New Roman" panose="02020603050405020304" pitchFamily="18" charset="0"/>
              </a:rPr>
              <a:t>Customer activity history (Jan - March) -&gt; Predictive Model -&gt;Prediction: Customer may leave after 30 days -&gt; (Time gap) Company takes action: - Give discount - Provide special offers - Improve service -&gt; Customer continues using service</a:t>
            </a:r>
          </a:p>
        </p:txBody>
      </p:sp>
    </p:spTree>
    <p:extLst>
      <p:ext uri="{BB962C8B-B14F-4D97-AF65-F5344CB8AC3E}">
        <p14:creationId xmlns:p14="http://schemas.microsoft.com/office/powerpoint/2010/main" val="28530964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D6EC9-13C9-C36B-E81E-74036BB38C4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577D6DC-4A5B-E6FA-1D23-97BA24ED2C8D}"/>
              </a:ext>
            </a:extLst>
          </p:cNvPr>
          <p:cNvSpPr>
            <a:spLocks noGrp="1"/>
          </p:cNvSpPr>
          <p:nvPr>
            <p:ph idx="1"/>
          </p:nvPr>
        </p:nvSpPr>
        <p:spPr/>
        <p:txBody>
          <a:bodyPr>
            <a:normAutofit lnSpcReduction="10000"/>
          </a:bodyPr>
          <a:lstStyle/>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Now the company builds a model.</a:t>
            </a:r>
          </a:p>
          <a:p>
            <a:pPr marL="0" indent="0">
              <a:buNone/>
            </a:pPr>
            <a:r>
              <a:rPr lang="en-IN" b="1" dirty="0">
                <a:latin typeface="Times New Roman" panose="02020603050405020304" pitchFamily="18" charset="0"/>
                <a:cs typeface="Times New Roman" panose="02020603050405020304" pitchFamily="18" charset="0"/>
              </a:rPr>
              <a:t>What happens?</a:t>
            </a:r>
          </a:p>
          <a:p>
            <a:r>
              <a:rPr lang="en-IN" dirty="0">
                <a:latin typeface="Times New Roman" panose="02020603050405020304" pitchFamily="18" charset="0"/>
                <a:cs typeface="Times New Roman" panose="02020603050405020304" pitchFamily="18" charset="0"/>
              </a:rPr>
              <a:t>By the time the model predicts,</a:t>
            </a:r>
          </a:p>
          <a:p>
            <a:r>
              <a:rPr lang="en-IN" dirty="0">
                <a:latin typeface="Times New Roman" panose="02020603050405020304" pitchFamily="18" charset="0"/>
                <a:cs typeface="Times New Roman" panose="02020603050405020304" pitchFamily="18" charset="0"/>
              </a:rPr>
              <a:t>the customer has </a:t>
            </a:r>
            <a:r>
              <a:rPr lang="en-IN" b="1" dirty="0">
                <a:latin typeface="Times New Roman" panose="02020603050405020304" pitchFamily="18" charset="0"/>
                <a:cs typeface="Times New Roman" panose="02020603050405020304" pitchFamily="18" charset="0"/>
              </a:rPr>
              <a:t>already left</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The company cannot do anything.</a:t>
            </a:r>
          </a:p>
          <a:p>
            <a:pPr marL="0" indent="0">
              <a:buNone/>
            </a:pP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4E26DF8-814C-BF5C-D973-B20A4C43DAA4}"/>
              </a:ext>
            </a:extLst>
          </p:cNvPr>
          <p:cNvPicPr>
            <a:picLocks noChangeAspect="1"/>
          </p:cNvPicPr>
          <p:nvPr/>
        </p:nvPicPr>
        <p:blipFill>
          <a:blip r:embed="rId2"/>
          <a:stretch>
            <a:fillRect/>
          </a:stretch>
        </p:blipFill>
        <p:spPr>
          <a:xfrm>
            <a:off x="389650" y="300120"/>
            <a:ext cx="6713677" cy="3369538"/>
          </a:xfrm>
          <a:prstGeom prst="rect">
            <a:avLst/>
          </a:prstGeom>
        </p:spPr>
      </p:pic>
    </p:spTree>
    <p:extLst>
      <p:ext uri="{BB962C8B-B14F-4D97-AF65-F5344CB8AC3E}">
        <p14:creationId xmlns:p14="http://schemas.microsoft.com/office/powerpoint/2010/main" val="19978435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22019C-5935-C92C-9B98-1E64F23D3B27}"/>
              </a:ext>
            </a:extLst>
          </p:cNvPr>
          <p:cNvSpPr>
            <a:spLocks noGrp="1"/>
          </p:cNvSpPr>
          <p:nvPr>
            <p:ph idx="1"/>
          </p:nvPr>
        </p:nvSpPr>
        <p:spPr>
          <a:xfrm>
            <a:off x="682083" y="810864"/>
            <a:ext cx="10515600" cy="4351338"/>
          </a:xfrm>
        </p:spPr>
        <p:txBody>
          <a:bodyPr>
            <a:noAutofit/>
          </a:bodyPr>
          <a:lstStyle/>
          <a:p>
            <a:pPr marL="0" indent="0">
              <a:buNone/>
            </a:pPr>
            <a:r>
              <a:rPr lang="en-IN" sz="2400" b="1" dirty="0">
                <a:latin typeface="Times New Roman" panose="02020603050405020304" pitchFamily="18" charset="0"/>
                <a:cs typeface="Times New Roman" panose="02020603050405020304" pitchFamily="18" charset="0"/>
              </a:rPr>
              <a:t>Input Variable Timeframe - </a:t>
            </a:r>
            <a:r>
              <a:rPr lang="en-IN" sz="2400" dirty="0">
                <a:latin typeface="Times New Roman" panose="02020603050405020304" pitchFamily="18" charset="0"/>
                <a:cs typeface="Times New Roman" panose="02020603050405020304" pitchFamily="18" charset="0"/>
              </a:rPr>
              <a:t>Defines how much historical information is used for prediction. </a:t>
            </a:r>
          </a:p>
          <a:p>
            <a:pPr marL="0" indent="0">
              <a:buNone/>
            </a:pPr>
            <a:r>
              <a:rPr lang="en-IN" sz="2400" dirty="0">
                <a:latin typeface="Times New Roman" panose="02020603050405020304" pitchFamily="18" charset="0"/>
                <a:cs typeface="Times New Roman" panose="02020603050405020304" pitchFamily="18" charset="0"/>
              </a:rPr>
              <a:t>Example: Use: Last 6 months purchases , Last 1 year transactions, Recent activities ,Very old data may not be useful.</a:t>
            </a:r>
          </a:p>
          <a:p>
            <a:pPr marL="0" indent="0">
              <a:buNone/>
            </a:pPr>
            <a:r>
              <a:rPr lang="en-IN" sz="2400" b="1" dirty="0">
                <a:latin typeface="Times New Roman" panose="02020603050405020304" pitchFamily="18" charset="0"/>
                <a:cs typeface="Times New Roman" panose="02020603050405020304" pitchFamily="18" charset="0"/>
              </a:rPr>
              <a:t>Additional Data for Testing</a:t>
            </a:r>
          </a:p>
          <a:p>
            <a:r>
              <a:rPr lang="en-IN" sz="2400" dirty="0">
                <a:latin typeface="Times New Roman" panose="02020603050405020304" pitchFamily="18" charset="0"/>
                <a:cs typeface="Times New Roman" panose="02020603050405020304" pitchFamily="18" charset="0"/>
              </a:rPr>
              <a:t>Future unseen data is kept aside to test the model. </a:t>
            </a:r>
          </a:p>
          <a:p>
            <a:r>
              <a:rPr lang="en-IN" sz="2400" dirty="0">
                <a:latin typeface="Times New Roman" panose="02020603050405020304" pitchFamily="18" charset="0"/>
                <a:cs typeface="Times New Roman" panose="02020603050405020304" pitchFamily="18" charset="0"/>
              </a:rPr>
              <a:t>Purpose: Check model accuracy, Identify bias, Verify real-world performance. </a:t>
            </a:r>
          </a:p>
          <a:p>
            <a:endParaRPr lang="en-IN" sz="1800" dirty="0"/>
          </a:p>
        </p:txBody>
      </p:sp>
    </p:spTree>
    <p:extLst>
      <p:ext uri="{BB962C8B-B14F-4D97-AF65-F5344CB8AC3E}">
        <p14:creationId xmlns:p14="http://schemas.microsoft.com/office/powerpoint/2010/main" val="5662149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03468-5E39-A883-91E3-EE669E7202DE}"/>
              </a:ext>
            </a:extLst>
          </p:cNvPr>
          <p:cNvSpPr>
            <a:spLocks noGrp="1"/>
          </p:cNvSpPr>
          <p:nvPr>
            <p:ph type="title"/>
          </p:nvPr>
        </p:nvSpPr>
        <p:spPr/>
        <p:txBody>
          <a:bodyPr/>
          <a:lstStyle/>
          <a:p>
            <a:r>
              <a:rPr lang="en-US" dirty="0"/>
              <a:t>measures of success for prediction</a:t>
            </a:r>
            <a:endParaRPr lang="en-IN" dirty="0"/>
          </a:p>
        </p:txBody>
      </p:sp>
      <p:sp>
        <p:nvSpPr>
          <p:cNvPr id="3" name="Content Placeholder 2">
            <a:extLst>
              <a:ext uri="{FF2B5EF4-FFF2-40B4-BE49-F238E27FC236}">
                <a16:creationId xmlns:a16="http://schemas.microsoft.com/office/drawing/2014/main" id="{93AEA03D-CE68-D425-A498-7E41FCD8E6B3}"/>
              </a:ext>
            </a:extLst>
          </p:cNvPr>
          <p:cNvSpPr>
            <a:spLocks noGrp="1"/>
          </p:cNvSpPr>
          <p:nvPr>
            <p:ph idx="1"/>
          </p:nvPr>
        </p:nvSpPr>
        <p:spPr>
          <a:xfrm>
            <a:off x="648629" y="1446483"/>
            <a:ext cx="11227420" cy="5046391"/>
          </a:xfrm>
        </p:spPr>
        <p:txBody>
          <a:bodyPr>
            <a:noAutofit/>
          </a:bodyPr>
          <a:lstStyle/>
          <a:p>
            <a:r>
              <a:rPr lang="en-IN" sz="2400" dirty="0">
                <a:latin typeface="Times New Roman" panose="02020603050405020304" pitchFamily="18" charset="0"/>
                <a:cs typeface="Times New Roman" panose="02020603050405020304" pitchFamily="18" charset="0"/>
              </a:rPr>
              <a:t>Success Criteria for Classification</a:t>
            </a:r>
          </a:p>
          <a:p>
            <a:pPr>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metrics to assess model accuracy is Percent Correct Classification (PCC). PCC measures overall accuracy without regard to what kind of errors are made; every error has the same weight. </a:t>
            </a:r>
          </a:p>
          <a:p>
            <a:pPr>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Another measure of classification accuracy is the confusion matrix, which enumerates different ways errors are made, like false alarms and false dismissals. </a:t>
            </a:r>
            <a:r>
              <a:rPr lang="en-IN" sz="2400" dirty="0">
                <a:solidFill>
                  <a:srgbClr val="FF0000"/>
                </a:solidFill>
                <a:latin typeface="Times New Roman" panose="02020603050405020304" pitchFamily="18" charset="0"/>
                <a:cs typeface="Times New Roman" panose="02020603050405020304" pitchFamily="18" charset="0"/>
              </a:rPr>
              <a:t>PCC and the confusion matrix metrics are good for an entire population in dataset.</a:t>
            </a:r>
          </a:p>
          <a:p>
            <a:pPr marL="0" indent="0">
              <a:buNone/>
            </a:pPr>
            <a:r>
              <a:rPr lang="en-IN" sz="2400" dirty="0">
                <a:latin typeface="Times New Roman" panose="02020603050405020304" pitchFamily="18" charset="0"/>
                <a:cs typeface="Times New Roman" panose="02020603050405020304" pitchFamily="18" charset="0"/>
              </a:rPr>
              <a:t>For </a:t>
            </a:r>
            <a:r>
              <a:rPr lang="en-IN" sz="2400" dirty="0" err="1">
                <a:latin typeface="Times New Roman" panose="02020603050405020304" pitchFamily="18" charset="0"/>
                <a:cs typeface="Times New Roman" panose="02020603050405020304" pitchFamily="18" charset="0"/>
              </a:rPr>
              <a:t>eg</a:t>
            </a:r>
            <a:r>
              <a:rPr lang="en-IN" sz="2400" dirty="0">
                <a:latin typeface="Times New Roman" panose="02020603050405020304" pitchFamily="18" charset="0"/>
                <a:cs typeface="Times New Roman" panose="02020603050405020304" pitchFamily="18" charset="0"/>
              </a:rPr>
              <a:t>, if customers who visit a website are to be served customized content on the site based on their browsing </a:t>
            </a:r>
            <a:r>
              <a:rPr lang="en-IN" sz="2400" dirty="0" err="1">
                <a:latin typeface="Times New Roman" panose="02020603050405020304" pitchFamily="18" charset="0"/>
                <a:cs typeface="Times New Roman" panose="02020603050405020304" pitchFamily="18" charset="0"/>
              </a:rPr>
              <a:t>behavior</a:t>
            </a:r>
            <a:r>
              <a:rPr lang="en-IN" sz="2400" dirty="0">
                <a:latin typeface="Times New Roman" panose="02020603050405020304" pitchFamily="18" charset="0"/>
                <a:cs typeface="Times New Roman" panose="02020603050405020304" pitchFamily="18" charset="0"/>
              </a:rPr>
              <a:t>, every visitor will need a model score and a treatment based on that score.</a:t>
            </a:r>
          </a:p>
          <a:p>
            <a:pPr marL="0" indent="0">
              <a:buNone/>
            </a:pPr>
            <a:r>
              <a:rPr lang="en-IN" sz="2400" dirty="0">
                <a:solidFill>
                  <a:srgbClr val="FF0000"/>
                </a:solidFill>
                <a:latin typeface="Times New Roman" panose="02020603050405020304" pitchFamily="18" charset="0"/>
                <a:cs typeface="Times New Roman" panose="02020603050405020304" pitchFamily="18" charset="0"/>
              </a:rPr>
              <a:t>If you are treating a subset of the population</a:t>
            </a:r>
            <a:r>
              <a:rPr lang="en-IN" sz="2400" dirty="0">
                <a:latin typeface="Times New Roman" panose="02020603050405020304" pitchFamily="18" charset="0"/>
                <a:cs typeface="Times New Roman" panose="02020603050405020304" pitchFamily="18" charset="0"/>
              </a:rPr>
              <a:t>, a selected population, sorting the population by model score and acting on only a portion of those entities in the selected group can be accomplished through </a:t>
            </a:r>
            <a:r>
              <a:rPr lang="en-IN" sz="2400" dirty="0">
                <a:solidFill>
                  <a:srgbClr val="FF0000"/>
                </a:solidFill>
                <a:latin typeface="Times New Roman" panose="02020603050405020304" pitchFamily="18" charset="0"/>
                <a:cs typeface="Times New Roman" panose="02020603050405020304" pitchFamily="18" charset="0"/>
              </a:rPr>
              <a:t>metrics such as Lift, Gain, ROC, and Area under the Curve (AUC).</a:t>
            </a:r>
          </a:p>
          <a:p>
            <a:pPr marL="0" indent="0">
              <a:buNone/>
            </a:pP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Success Criteria for Estimation </a:t>
            </a:r>
          </a:p>
          <a:p>
            <a:pPr marL="0" indent="0">
              <a:buNone/>
            </a:pPr>
            <a:r>
              <a:rPr lang="en-IN" sz="2400" dirty="0">
                <a:latin typeface="Times New Roman" panose="02020603050405020304" pitchFamily="18" charset="0"/>
                <a:cs typeface="Times New Roman" panose="02020603050405020304" pitchFamily="18" charset="0"/>
              </a:rPr>
              <a:t>For continuous-valued estimation problems, metrics often used for assessing models are R2, average error, Mean Squared Error (MSE), median error, aver age absolute error, and median absolute error. </a:t>
            </a:r>
          </a:p>
          <a:p>
            <a:pPr marL="0" indent="0">
              <a:buNone/>
            </a:pPr>
            <a:r>
              <a:rPr lang="en-IN" sz="2400" dirty="0">
                <a:latin typeface="Times New Roman" panose="02020603050405020304" pitchFamily="18" charset="0"/>
                <a:cs typeface="Times New Roman" panose="02020603050405020304" pitchFamily="18" charset="0"/>
              </a:rPr>
              <a:t>Average errors can be useful in determining whether the models are biased toward positive or negative errors. Average absolute errors are useful in estimating the magnitude of the errors (whether positive or negative). </a:t>
            </a:r>
          </a:p>
        </p:txBody>
      </p:sp>
    </p:spTree>
    <p:extLst>
      <p:ext uri="{BB962C8B-B14F-4D97-AF65-F5344CB8AC3E}">
        <p14:creationId xmlns:p14="http://schemas.microsoft.com/office/powerpoint/2010/main" val="1977755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9300</TotalTime>
  <Words>5377</Words>
  <Application>Microsoft Office PowerPoint</Application>
  <PresentationFormat>Widescreen</PresentationFormat>
  <Paragraphs>530</Paragraphs>
  <Slides>41</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Aptos</vt:lpstr>
      <vt:lpstr>Aptos Display</vt:lpstr>
      <vt:lpstr>Arial</vt:lpstr>
      <vt:lpstr>Times New Roman</vt:lpstr>
      <vt:lpstr>Wingdings</vt:lpstr>
      <vt:lpstr>Office Theme</vt:lpstr>
      <vt:lpstr> Introduction – types of analytics, applications of predictive analytics, overview of predictive analytics. Setting up the problem - processing steps, business understanding, objectives, data for predictive modeling, columns as measures, target variables, measures of success for prediction</vt:lpstr>
      <vt:lpstr>PowerPoint Presentation</vt:lpstr>
      <vt:lpstr>PowerPoint Presentation</vt:lpstr>
      <vt:lpstr>Uber ride-pricing (how uber uses predictive analytics to predict the best fare before the ride starts.) Big Data → Data Mining → Machine Learning → Predictive Analytics → Price Decision</vt:lpstr>
      <vt:lpstr>PowerPoint Presentation</vt:lpstr>
      <vt:lpstr>Netflix Movie Recommendation</vt:lpstr>
      <vt:lpstr>Introduction</vt:lpstr>
      <vt:lpstr>PowerPoint Presentation</vt:lpstr>
      <vt:lpstr>Business intelligence and how it differs from predictive analysis  </vt:lpstr>
      <vt:lpstr>Types of analytics</vt:lpstr>
      <vt:lpstr>Predictive Analytics Example – Grocery Store owners</vt:lpstr>
      <vt:lpstr>eg 2: Visiting doctor for annual check up</vt:lpstr>
      <vt:lpstr>Challenges in using Predictive analytics </vt:lpstr>
      <vt:lpstr>PowerPoint Presentation</vt:lpstr>
      <vt:lpstr>PowerPoint Presentation</vt:lpstr>
      <vt:lpstr>PowerPoint Presentation</vt:lpstr>
      <vt:lpstr>Reason for obstacles in data which will lead to wrong prediction </vt:lpstr>
      <vt:lpstr>PowerPoint Presentation</vt:lpstr>
      <vt:lpstr>PowerPoint Presentation</vt:lpstr>
      <vt:lpstr>PowerPoint Presentation</vt:lpstr>
      <vt:lpstr>Applications of predictive analytics</vt:lpstr>
      <vt:lpstr>Setting up the problem using CRISP-DM process model</vt:lpstr>
      <vt:lpstr>Business Understanding</vt:lpstr>
      <vt:lpstr>PowerPoint Presentation</vt:lpstr>
      <vt:lpstr>PowerPoint Presentation</vt:lpstr>
      <vt:lpstr>Business Objectives</vt:lpstr>
      <vt:lpstr>Defining data for predictive modeling</vt:lpstr>
      <vt:lpstr>Defining columns as measures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Defining target variables in Predictive Modeling  </vt:lpstr>
      <vt:lpstr>PowerPoint Presentation</vt:lpstr>
      <vt:lpstr>PowerPoint Presentation</vt:lpstr>
      <vt:lpstr>PowerPoint Presentation</vt:lpstr>
      <vt:lpstr>measures of success for prediction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Amritha P.P</dc:creator>
  <cp:lastModifiedBy>Amritha P.P</cp:lastModifiedBy>
  <cp:revision>30</cp:revision>
  <dcterms:created xsi:type="dcterms:W3CDTF">2026-07-04T10:40:36Z</dcterms:created>
  <dcterms:modified xsi:type="dcterms:W3CDTF">2026-07-15T09:25:10Z</dcterms:modified>
</cp:coreProperties>
</file>