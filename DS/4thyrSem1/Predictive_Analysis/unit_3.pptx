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5" r:id="rId2"/>
    <p:sldId id="284" r:id="rId3"/>
    <p:sldId id="266" r:id="rId4"/>
    <p:sldId id="267" r:id="rId5"/>
    <p:sldId id="268" r:id="rId6"/>
    <p:sldId id="269" r:id="rId7"/>
    <p:sldId id="271" r:id="rId8"/>
    <p:sldId id="274" r:id="rId9"/>
    <p:sldId id="272" r:id="rId10"/>
    <p:sldId id="273" r:id="rId11"/>
    <p:sldId id="275" r:id="rId12"/>
    <p:sldId id="264" r:id="rId13"/>
    <p:sldId id="259" r:id="rId14"/>
    <p:sldId id="260" r:id="rId15"/>
    <p:sldId id="261" r:id="rId16"/>
    <p:sldId id="262" r:id="rId17"/>
    <p:sldId id="263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6720C-1C2C-4411-AE16-3D155FB146E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DA401-A4C3-4290-83DF-F0A2E3043D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388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DA401-A4C3-4290-83DF-F0A2E3043D5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271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D1B5E-FEF5-26AD-B071-3F79FA934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12CC73-A7E3-51DF-B8B2-97F82DDB2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1F1F3-CA6C-5D95-4A82-F8181F00E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5505-4C59-4104-8783-83F49AD1722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59887-0283-D6F3-D4A8-F2943725F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8C0D8-6BA1-2F99-FA87-082C8FAE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3ADE-B6E3-42A8-8F46-D3B7F5005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005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34A4F-C9EB-ACD1-8B57-C0B636E1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0009E-E8D5-DB1E-AEF5-91E6F3247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D8E7D-1D29-F552-0FE1-15304F30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5505-4C59-4104-8783-83F49AD1722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1859A-733F-92FB-AEAC-A8D0227C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DCAF6-2FA3-8C58-903C-B70F4290A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3ADE-B6E3-42A8-8F46-D3B7F5005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85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B7362-5D13-8478-D918-961E0B4B5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06FC8-F405-4EBA-4080-10B825ADD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F2B52-581F-0690-C465-C3B2D3503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5505-4C59-4104-8783-83F49AD1722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97E27-7272-EFC7-3E72-B03EC8B35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A5F7-9E0C-0A2A-0C19-CC0C8491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3ADE-B6E3-42A8-8F46-D3B7F5005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828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5F558-FED5-F0C8-28E4-B201D819A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1273E-3C30-1AE0-8881-307986BEF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50E45-8219-0DAE-67E8-242F04010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AF620-B62E-5D46-82DD-9111E379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5505-4C59-4104-8783-83F49AD1722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6C603-92BB-AC29-2447-C502DFCFC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5CAE0-7153-D867-5C2C-4AF5E02DF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3ADE-B6E3-42A8-8F46-D3B7F5005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27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16730-4D43-65A5-556D-A5462A648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C8961-E2DA-E2BE-1188-C65C65D83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3451D-856F-804F-20BE-89556C980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EE1D03-B66C-41CE-1FC6-112C6C7C79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C72A1A-3770-BB5A-D2DA-AF4793D66B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738B69-F571-3D91-253F-D933C3603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5505-4C59-4104-8783-83F49AD1722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AF2BD-3DDC-E1CB-776A-FC1F8FF2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44DD26-1665-686C-3A5E-A5BC82F2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3ADE-B6E3-42A8-8F46-D3B7F5005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161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99D7-DE6F-0A59-FE96-DEDDA1594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29969-BE1F-CFF7-1BCE-B1D9B72E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5505-4C59-4104-8783-83F49AD1722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E364A-0558-31C5-CD5F-2077F82AB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E2DD49-7AEC-E1DF-6967-DAFA6E4A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3ADE-B6E3-42A8-8F46-D3B7F5005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58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6D2D7A-5A30-B5AC-3AF3-2047A8FCF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5505-4C59-4104-8783-83F49AD1722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6D95E-9193-B7C3-C5C5-EA3E3A3EF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A5720-C0E1-B520-C1CE-8376AF87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3ADE-B6E3-42A8-8F46-D3B7F5005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613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0EDC7-C81D-B091-85CD-F3350D297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D4F98-524D-2AB5-84BC-A073BB867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2089A-5E9C-182A-D17C-A255641E1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311AD-2206-F777-A7E9-B9EEC6C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5505-4C59-4104-8783-83F49AD1722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1A436-7078-8525-4882-2B81994E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CD078-5C8C-B57B-633F-0283DBAC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3ADE-B6E3-42A8-8F46-D3B7F5005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631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69E1-C623-4E53-B048-DCE31E97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94DD64-FDCB-810D-5D7D-24F17772DD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3E063-DB74-4416-4436-D967EAC54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830F4-CAF9-A3C0-F762-22417817C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5505-4C59-4104-8783-83F49AD1722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B756A-9DB2-F17A-C5AF-19FB3387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8DE30-3A56-0CBF-5418-8404B8FA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3ADE-B6E3-42A8-8F46-D3B7F5005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02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DEF84-A29D-45FB-DD76-00C803EB6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981C3-2CA1-F9CE-9AE2-38B365237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C99E0-EAB3-5720-29E3-F7D7A21C5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5505-4C59-4104-8783-83F49AD1722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8E2C3-561A-FDA7-726A-A51853FD0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A9288-0DEB-955F-509A-B8E81ADAB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3ADE-B6E3-42A8-8F46-D3B7F5005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329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F7317-0F6C-F753-B82C-28B665ED8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9375B-5AC0-536F-06E5-7ED4E3A67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40F50-3695-09DA-3762-16EC1A788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5505-4C59-4104-8783-83F49AD1722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079FC-8FA7-2E98-45E7-46D80B819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B20A0-641A-D85F-9C8A-A894AB4BB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3ADE-B6E3-42A8-8F46-D3B7F5005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154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126CF8-CC72-75CA-0906-57451F694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6458C-54A6-3718-8CD7-8899C12BF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42173-4D82-05C1-8415-8D5022403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85505-4C59-4104-8783-83F49AD17220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725D4-30CE-B17A-E65C-697856F73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52EC0-F952-97E7-44A6-F429A52927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93ADE-B6E3-42A8-8F46-D3B7F5005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2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F21A23-9B74-8290-3F65-4F6F02542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1044" y="1572516"/>
            <a:ext cx="9794488" cy="351243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Decision trees</a:t>
            </a:r>
            <a:endParaRPr lang="en-IN" dirty="0"/>
          </a:p>
          <a:p>
            <a:pPr algn="l"/>
            <a:r>
              <a:rPr lang="en-IN" dirty="0"/>
              <a:t>Terminologies related to Decision Trees </a:t>
            </a:r>
          </a:p>
          <a:p>
            <a:pPr algn="l"/>
            <a:r>
              <a:rPr lang="en-IN" dirty="0"/>
              <a:t>Different splitting criterion in Decision Trees </a:t>
            </a:r>
          </a:p>
          <a:p>
            <a:pPr algn="l"/>
            <a:r>
              <a:rPr lang="en-US" dirty="0"/>
              <a:t>Optimizing performance of DT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705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BB5FC-8F19-C145-40C6-7F124CA5B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94AF7-70E7-E5BE-7189-9791408D9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DT used for classification and regression. Ensemble algorithm like random forest and </a:t>
            </a:r>
            <a:r>
              <a:rPr lang="en-US" dirty="0" err="1"/>
              <a:t>XGBoost</a:t>
            </a:r>
            <a:r>
              <a:rPr lang="en-US" dirty="0"/>
              <a:t> uses multiple DT</a:t>
            </a:r>
          </a:p>
          <a:p>
            <a:pPr marL="0" indent="0">
              <a:buNone/>
            </a:pPr>
            <a:r>
              <a:rPr lang="en-US" dirty="0"/>
              <a:t>How to select best split can be decided y using techniques like </a:t>
            </a:r>
            <a:r>
              <a:rPr lang="en-US" dirty="0" err="1"/>
              <a:t>gini</a:t>
            </a:r>
            <a:r>
              <a:rPr lang="en-US" dirty="0"/>
              <a:t> impurity , CHAID , reduce in variance , CART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013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A946BD8-AD2B-A4B6-2624-2786D151B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244" y="253303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09CA97-AA89-57E4-9D34-CF954A2B7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73" y="0"/>
            <a:ext cx="9264805" cy="26195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05E4AF-2244-3747-EB98-0CBB251C8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476" y="2770739"/>
            <a:ext cx="8629232" cy="366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20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9A7BE-B6D8-3197-816A-531686F01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AEF4D-757A-415D-819C-34F9161A6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D153DD-3351-D2F1-EEB1-95858A62B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78" y="33299"/>
            <a:ext cx="8002621" cy="33147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39BBB9-81A5-E6EC-741F-2A5C1BBB5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371" y="3509925"/>
            <a:ext cx="7173951" cy="284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803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9631B-29B2-CD7B-71BE-5E971315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7DE80-4487-5321-D19C-00A40CBA7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CBD925-4148-69FE-09E1-1CCB6321C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75" y="1023602"/>
            <a:ext cx="11812649" cy="481079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C96FF0-67D7-5604-B858-65CAB9B320D0}"/>
              </a:ext>
            </a:extLst>
          </p:cNvPr>
          <p:cNvCxnSpPr/>
          <p:nvPr/>
        </p:nvCxnSpPr>
        <p:spPr>
          <a:xfrm>
            <a:off x="7605132" y="646771"/>
            <a:ext cx="2040673" cy="376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303B4F3-FEEB-CC38-4AE6-D87865351C0D}"/>
              </a:ext>
            </a:extLst>
          </p:cNvPr>
          <p:cNvSpPr txBox="1"/>
          <p:nvPr/>
        </p:nvSpPr>
        <p:spPr>
          <a:xfrm>
            <a:off x="5898995" y="278780"/>
            <a:ext cx="1605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Pure nodes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6DC9DB-B61F-293F-1369-D6F3D576F18E}"/>
              </a:ext>
            </a:extLst>
          </p:cNvPr>
          <p:cNvSpPr txBox="1"/>
          <p:nvPr/>
        </p:nvSpPr>
        <p:spPr>
          <a:xfrm>
            <a:off x="838200" y="5903893"/>
            <a:ext cx="123090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Which is better split, DT should be able to separate the classes , last one </a:t>
            </a:r>
          </a:p>
          <a:p>
            <a:r>
              <a:rPr lang="en-US" sz="2800" dirty="0"/>
              <a:t>Split is pure nodes</a:t>
            </a:r>
          </a:p>
        </p:txBody>
      </p:sp>
    </p:spTree>
    <p:extLst>
      <p:ext uri="{BB962C8B-B14F-4D97-AF65-F5344CB8AC3E}">
        <p14:creationId xmlns:p14="http://schemas.microsoft.com/office/powerpoint/2010/main" val="2790659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9D142-461B-967B-3376-B2BA1FEA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80" y="610142"/>
            <a:ext cx="10515600" cy="4351338"/>
          </a:xfrm>
        </p:spPr>
        <p:txBody>
          <a:bodyPr/>
          <a:lstStyle/>
          <a:p>
            <a:r>
              <a:rPr lang="en-US" dirty="0"/>
              <a:t>purity in DT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8F1F40-FBAD-DA71-5E97-71E5B2B8D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45" y="1252769"/>
            <a:ext cx="8769272" cy="35822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FB08F8-56C3-ED64-A054-A87763A13C2D}"/>
              </a:ext>
            </a:extLst>
          </p:cNvPr>
          <p:cNvSpPr txBox="1"/>
          <p:nvPr/>
        </p:nvSpPr>
        <p:spPr>
          <a:xfrm>
            <a:off x="802888" y="5330283"/>
            <a:ext cx="9868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rare that completely different class   can be obtained from pure nodes after the split, Ideal case is where features gives completely pure nodes,  </a:t>
            </a:r>
            <a:endParaRPr lang="en-IN" dirty="0"/>
          </a:p>
          <a:p>
            <a:endParaRPr lang="en-US" dirty="0"/>
          </a:p>
          <a:p>
            <a:r>
              <a:rPr lang="en-US" dirty="0"/>
              <a:t>Objective of DT is to have pure nodes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835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B1038-41CB-1DC4-9289-5485300D9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856D3-EAD9-D25C-AC98-FA84B179F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1BC68-22B3-8986-B4AA-1B294FA9E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63" y="365126"/>
            <a:ext cx="4628780" cy="228886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40BF18-E390-045B-FD2A-1B4D68E43829}"/>
              </a:ext>
            </a:extLst>
          </p:cNvPr>
          <p:cNvCxnSpPr/>
          <p:nvPr/>
        </p:nvCxnSpPr>
        <p:spPr>
          <a:xfrm>
            <a:off x="5415776" y="1382752"/>
            <a:ext cx="10593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FAAD7E4-5009-517B-B23D-8EDDBD4C3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435" y="588860"/>
            <a:ext cx="4826071" cy="247352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7312B9C-9ED2-6A61-7F50-2D6D4D472506}"/>
              </a:ext>
            </a:extLst>
          </p:cNvPr>
          <p:cNvSpPr txBox="1"/>
          <p:nvPr/>
        </p:nvSpPr>
        <p:spPr>
          <a:xfrm>
            <a:off x="838200" y="3795612"/>
            <a:ext cx="98688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DT don’t stop at first split, can have more split</a:t>
            </a:r>
          </a:p>
          <a:p>
            <a:r>
              <a:rPr lang="en-US" dirty="0"/>
              <a:t>We can have multiple split, multiple decisions in DT, so how to decide which split is better or what should be the first split and second split 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What should be sequence split made. </a:t>
            </a:r>
          </a:p>
          <a:p>
            <a:r>
              <a:rPr lang="en-US" dirty="0"/>
              <a:t>Techniques are there to decide purity of nodes based on which  feature can decide best splitting point, also how to select 5.5 or 6 in height feature </a:t>
            </a:r>
          </a:p>
          <a:p>
            <a:endParaRPr lang="en-US" dirty="0"/>
          </a:p>
          <a:p>
            <a:r>
              <a:rPr lang="en-US" dirty="0"/>
              <a:t>How to select best split point in DT</a:t>
            </a:r>
          </a:p>
          <a:p>
            <a:pPr marL="342900" indent="-342900">
              <a:buAutoNum type="arabicPeriod"/>
            </a:pPr>
            <a:r>
              <a:rPr lang="en-US" dirty="0"/>
              <a:t>Decision tree split the nodes on all available variables</a:t>
            </a:r>
          </a:p>
          <a:p>
            <a:pPr marL="342900" indent="-342900">
              <a:buAutoNum type="arabicPeriod"/>
            </a:pPr>
            <a:r>
              <a:rPr lang="en-US" dirty="0"/>
              <a:t> select the split which results in most homogenous sub nodes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72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86CAC-2D97-C7B7-244D-07CD168FB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B2B4A-DA1B-821E-0837-13BF04EE4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5A5CAB-5E8E-2C1B-EACB-787B51834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285" y="634874"/>
            <a:ext cx="3840098" cy="21116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B463E6-BE36-E089-74E9-F6BAE018E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366" y="365125"/>
            <a:ext cx="4088028" cy="2258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F4902C-51EE-88A8-1891-90C66E342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7180" y="3579542"/>
            <a:ext cx="3884707" cy="24720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8F4482-B4DC-E381-228A-8B40167F9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867" y="3232542"/>
            <a:ext cx="4610878" cy="281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842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E3B98-BB0C-951F-BE8A-F671B2E57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 used to select which is best split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CB904C-A65A-2F8E-A555-361DFB70B2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771" y="1471962"/>
                <a:ext cx="11240429" cy="4783872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Gini impurity </a:t>
                </a:r>
                <a:r>
                  <a:rPr lang="en-US" dirty="0"/>
                  <a:t>– calculate the impurity of nodes , values ranges form 0-1 , if </a:t>
                </a:r>
                <a:r>
                  <a:rPr lang="en-US" dirty="0" err="1"/>
                  <a:t>gini</a:t>
                </a:r>
                <a:r>
                  <a:rPr lang="en-US" dirty="0"/>
                  <a:t> value is higher then low will be the purity of nodes, works on categorical targets, only performs binary splits </a:t>
                </a:r>
              </a:p>
              <a:p>
                <a:pPr marL="0" indent="0">
                  <a:buNone/>
                </a:pPr>
                <a:r>
                  <a:rPr lang="en-IN" dirty="0"/>
                  <a:t>Calculate the Gini impurity for sub-nodes:</a:t>
                </a:r>
              </a:p>
              <a:p>
                <a:r>
                  <a:rPr lang="en-IN" i="1" dirty="0"/>
                  <a:t>Gini Impurity = 1 − Gini</a:t>
                </a:r>
                <a:endParaRPr lang="en-IN" dirty="0"/>
              </a:p>
              <a:p>
                <a:r>
                  <a:rPr lang="en-IN" dirty="0"/>
                  <a:t>Gini = Sum of squares of probabilities for each class/category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i="0"/>
                          <m:t>Gini</m:t>
                        </m:r>
                        <m:r>
                          <a:rPr lang="en-IN" b="0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b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b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b="0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b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b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b="0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b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b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b="0" smtClean="0">
                            <a:latin typeface="Cambria Math" panose="02040503050406030204" pitchFamily="18" charset="0"/>
                          </a:rPr>
                          <m:t>+⋯+</m:t>
                        </m:r>
                        <m:sSubSup>
                          <m:sSub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IN" b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Therefore,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i="0"/>
                          <m:t>Gini Impurity</m:t>
                        </m:r>
                        <m:r>
                          <a:rPr lang="en-IN" b="0" smtClean="0">
                            <a:latin typeface="Cambria Math" panose="02040503050406030204" pitchFamily="18" charset="0"/>
                          </a:rPr>
                          <m:t>=1−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IN" b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IN" b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IN" b="0" smtClean="0"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Sup>
                              <m:sSubSup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borderBox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 </a:t>
                </a:r>
                <a:r>
                  <a:rPr lang="en-IN" dirty="0">
                    <a:solidFill>
                      <a:srgbClr val="FF0000"/>
                    </a:solidFill>
                  </a:rPr>
                  <a:t>CHAID Decision </a:t>
                </a:r>
                <a:r>
                  <a:rPr lang="en-IN" dirty="0"/>
                  <a:t>Tree Chi-Square Automatic Interaction Detection</a:t>
                </a:r>
              </a:p>
              <a:p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Reduction in variables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CB904C-A65A-2F8E-A555-361DFB70B2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771" y="1471962"/>
                <a:ext cx="11240429" cy="4783872"/>
              </a:xfrm>
              <a:blipFill>
                <a:blip r:embed="rId2"/>
                <a:stretch>
                  <a:fillRect l="-542" t="-21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8567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56D3-D5BF-405F-FEB4-2EF04D1D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DCFDA-514F-E36F-FEB8-1681EB3AC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645EC-1344-CA38-BA3B-1CC561C1F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681037"/>
            <a:ext cx="1065847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48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1E9E-416A-A003-2E23-650BED863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F7C0C11-7E48-F2D5-1E31-12B49FE335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4225377"/>
              </p:ext>
            </p:extLst>
          </p:nvPr>
        </p:nvGraphicFramePr>
        <p:xfrm>
          <a:off x="663614" y="5114658"/>
          <a:ext cx="6030952" cy="1097280"/>
        </p:xfrm>
        <a:graphic>
          <a:graphicData uri="http://schemas.openxmlformats.org/drawingml/2006/table">
            <a:tbl>
              <a:tblPr/>
              <a:tblGrid>
                <a:gridCol w="3015476">
                  <a:extLst>
                    <a:ext uri="{9D8B030D-6E8A-4147-A177-3AD203B41FA5}">
                      <a16:colId xmlns:a16="http://schemas.microsoft.com/office/drawing/2014/main" val="2500678066"/>
                    </a:ext>
                  </a:extLst>
                </a:gridCol>
                <a:gridCol w="3015476">
                  <a:extLst>
                    <a:ext uri="{9D8B030D-6E8A-4147-A177-3AD203B41FA5}">
                      <a16:colId xmlns:a16="http://schemas.microsoft.com/office/drawing/2014/main" val="1740219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Split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Weighted Gini Impurity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93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 in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0.475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255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0.32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45039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F46984F-B33B-D403-0BAF-41B2C642A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14" y="123550"/>
            <a:ext cx="11079012" cy="474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52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186905-A879-EED2-2E1E-682E6367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297FA0-9C0D-1E58-62B0-579A5A8D7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/>
              <a:t>CHAID (Chi-Square Automatic Interaction Detection) is a decision tree algorithm used mainly for classification. It builds the tree by selecting the feature that has the strongest statistical association with the target variable using the Chi-square test.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224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0E86-AB24-87E1-26EE-D60013829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81" y="-103226"/>
            <a:ext cx="10515600" cy="1325563"/>
          </a:xfrm>
        </p:spPr>
        <p:txBody>
          <a:bodyPr/>
          <a:lstStyle/>
          <a:p>
            <a:r>
              <a:rPr lang="en-IN" b="1" dirty="0"/>
              <a:t>Play Tennis</a:t>
            </a:r>
            <a:r>
              <a:rPr lang="en-IN" dirty="0"/>
              <a:t> dataset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09D4DBB-951E-62BB-7659-042D478153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4088427"/>
              </p:ext>
            </p:extLst>
          </p:nvPr>
        </p:nvGraphicFramePr>
        <p:xfrm>
          <a:off x="-549604" y="1491089"/>
          <a:ext cx="8340066" cy="5202630"/>
        </p:xfrm>
        <a:graphic>
          <a:graphicData uri="http://schemas.openxmlformats.org/drawingml/2006/table">
            <a:tbl>
              <a:tblPr/>
              <a:tblGrid>
                <a:gridCol w="1390011">
                  <a:extLst>
                    <a:ext uri="{9D8B030D-6E8A-4147-A177-3AD203B41FA5}">
                      <a16:colId xmlns:a16="http://schemas.microsoft.com/office/drawing/2014/main" val="3879392550"/>
                    </a:ext>
                  </a:extLst>
                </a:gridCol>
                <a:gridCol w="1390011">
                  <a:extLst>
                    <a:ext uri="{9D8B030D-6E8A-4147-A177-3AD203B41FA5}">
                      <a16:colId xmlns:a16="http://schemas.microsoft.com/office/drawing/2014/main" val="2424933033"/>
                    </a:ext>
                  </a:extLst>
                </a:gridCol>
                <a:gridCol w="1382577">
                  <a:extLst>
                    <a:ext uri="{9D8B030D-6E8A-4147-A177-3AD203B41FA5}">
                      <a16:colId xmlns:a16="http://schemas.microsoft.com/office/drawing/2014/main" val="110326890"/>
                    </a:ext>
                  </a:extLst>
                </a:gridCol>
                <a:gridCol w="1397445">
                  <a:extLst>
                    <a:ext uri="{9D8B030D-6E8A-4147-A177-3AD203B41FA5}">
                      <a16:colId xmlns:a16="http://schemas.microsoft.com/office/drawing/2014/main" val="497752813"/>
                    </a:ext>
                  </a:extLst>
                </a:gridCol>
                <a:gridCol w="1390011">
                  <a:extLst>
                    <a:ext uri="{9D8B030D-6E8A-4147-A177-3AD203B41FA5}">
                      <a16:colId xmlns:a16="http://schemas.microsoft.com/office/drawing/2014/main" val="4208709920"/>
                    </a:ext>
                  </a:extLst>
                </a:gridCol>
                <a:gridCol w="1390011">
                  <a:extLst>
                    <a:ext uri="{9D8B030D-6E8A-4147-A177-3AD203B41FA5}">
                      <a16:colId xmlns:a16="http://schemas.microsoft.com/office/drawing/2014/main" val="533890202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Day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Outlook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Temp.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Humidity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Wind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Decision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11793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Sunny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Hot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04707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Sunny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Hot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Strong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19765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Overcast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Hot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38389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Rain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Mild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99599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5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Rain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Cool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Normal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83276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6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Rain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Cool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Normal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Strong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21452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7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Overcast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Cool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Normal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Strong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78587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8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Sunny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Mild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73936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9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Sunny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Cool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Normal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4215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10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Rain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Mild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Normal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65826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11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Sunny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Mild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Normal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Strong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88832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12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Overcast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Mild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Strong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16386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13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Overcast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Hot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Normal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4139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14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Rain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Mild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Strong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No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8695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4967767-E687-7ECB-8983-6F5481EA08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9652986"/>
              </p:ext>
            </p:extLst>
          </p:nvPr>
        </p:nvGraphicFramePr>
        <p:xfrm>
          <a:off x="598913" y="1762137"/>
          <a:ext cx="10515603" cy="1889760"/>
        </p:xfrm>
        <a:graphic>
          <a:graphicData uri="http://schemas.openxmlformats.org/drawingml/2006/table">
            <a:tbl>
              <a:tblPr/>
              <a:tblGrid>
                <a:gridCol w="1502229">
                  <a:extLst>
                    <a:ext uri="{9D8B030D-6E8A-4147-A177-3AD203B41FA5}">
                      <a16:colId xmlns:a16="http://schemas.microsoft.com/office/drawing/2014/main" val="358249372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17268725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2011488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17191562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98126241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75911258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57788527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Outlook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 dirty="0"/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 dirty="0"/>
                        <a:t>Expected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Chi-square (Yes)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Chi-square (No)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4914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 dirty="0"/>
                        <a:t>0.316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 dirty="0"/>
                        <a:t>0.316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8410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Overcast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 dirty="0"/>
                        <a:t>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 dirty="0"/>
                        <a:t>1.414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1.414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3296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0.316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 dirty="0"/>
                        <a:t>0.316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3217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19DD3F9-59FD-56B4-5908-4944C72ABED2}"/>
              </a:ext>
            </a:extLst>
          </p:cNvPr>
          <p:cNvSpPr txBox="1"/>
          <p:nvPr/>
        </p:nvSpPr>
        <p:spPr>
          <a:xfrm>
            <a:off x="278318" y="370181"/>
            <a:ext cx="10836198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We need to find the most dominant feature in the data set.</a:t>
            </a:r>
          </a:p>
          <a:p>
            <a:pPr>
              <a:buNone/>
            </a:pPr>
            <a:r>
              <a:rPr lang="en-IN" sz="2000" dirty="0"/>
              <a:t>Outlook feature</a:t>
            </a:r>
          </a:p>
          <a:p>
            <a:pPr>
              <a:buNone/>
            </a:pPr>
            <a:r>
              <a:rPr lang="en-IN" sz="2000" dirty="0"/>
              <a:t>Outlook feature has 3 classes: Sunny, Rain, and Overcast. There are 2 decisions: Yes and No.</a:t>
            </a:r>
          </a:p>
          <a:p>
            <a:pPr>
              <a:buNone/>
            </a:pPr>
            <a:r>
              <a:rPr lang="en-IN" sz="2000" dirty="0"/>
              <a:t>We first find the number of Yes decisions and No decisions for each class.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BD132-BCEC-DB1C-9752-2CD258D1FD8F}"/>
              </a:ext>
            </a:extLst>
          </p:cNvPr>
          <p:cNvSpPr txBox="1"/>
          <p:nvPr/>
        </p:nvSpPr>
        <p:spPr>
          <a:xfrm>
            <a:off x="424675" y="4016342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Expected = total/2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79F788-36D2-124C-C2BD-395A4F12613A}"/>
                  </a:ext>
                </a:extLst>
              </p:cNvPr>
              <p:cNvSpPr txBox="1"/>
              <p:nvPr/>
            </p:nvSpPr>
            <p:spPr>
              <a:xfrm>
                <a:off x="4533347" y="5620677"/>
                <a:ext cx="827699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b="1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IN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= Chi-Square statistic ,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IN" dirty="0"/>
                  <a:t>= Observed frequency,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dirty="0"/>
                  <a:t>= Expected frequency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/>
                    </m:nary>
                  </m:oMath>
                </a14:m>
                <a:r>
                  <a:rPr lang="en-IN" dirty="0"/>
                  <a:t>= Sum of the values for all categories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79F788-36D2-124C-C2BD-395A4F126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347" y="5620677"/>
                <a:ext cx="8276991" cy="1200329"/>
              </a:xfrm>
              <a:prstGeom prst="rect">
                <a:avLst/>
              </a:prstGeom>
              <a:blipFill>
                <a:blip r:embed="rId2"/>
                <a:stretch>
                  <a:fillRect l="-3169" b="-563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42132B8A-9A82-2326-2F5E-7A703C4EC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1842" y="3806519"/>
            <a:ext cx="2876951" cy="10574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838363-A9A0-1F1F-AA2C-66C337042F3F}"/>
              </a:ext>
            </a:extLst>
          </p:cNvPr>
          <p:cNvSpPr txBox="1"/>
          <p:nvPr/>
        </p:nvSpPr>
        <p:spPr>
          <a:xfrm>
            <a:off x="861432" y="5018564"/>
            <a:ext cx="6406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Chi-Square(Outlook)=0.316+1.414+0.316+0.316+1.414+0.316 =4.092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64AFF6-9DCC-64F5-7329-630FEEE6E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13" y="5664895"/>
            <a:ext cx="3581900" cy="6477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96F6D5-CE82-7D74-1104-37240CC60A13}"/>
              </a:ext>
            </a:extLst>
          </p:cNvPr>
          <p:cNvSpPr txBox="1"/>
          <p:nvPr/>
        </p:nvSpPr>
        <p:spPr>
          <a:xfrm>
            <a:off x="424675" y="6312685"/>
            <a:ext cx="3032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S= sunny given Y=yes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6392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C4E693-E01E-540E-14BC-5F5E0A1E9823}"/>
                  </a:ext>
                </a:extLst>
              </p:cNvPr>
              <p:cNvSpPr txBox="1"/>
              <p:nvPr/>
            </p:nvSpPr>
            <p:spPr>
              <a:xfrm>
                <a:off x="549196" y="185996"/>
                <a:ext cx="10401301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dirty="0"/>
                  <a:t>Chi-square value of Outlook is the sum of Chi-square Yes and Chi-square No columns.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400" b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316</m:t>
                      </m:r>
                      <m:r>
                        <a:rPr lang="en-IN" sz="2400" b="0" i="0" smtClean="0">
                          <a:latin typeface="Cambria Math" panose="02040503050406030204" pitchFamily="18" charset="0"/>
                        </a:rPr>
                        <m:t>+0.316+1.414+1.414+0.316+0.316=4.092</m:t>
                      </m:r>
                    </m:oMath>
                  </m:oMathPara>
                </a14:m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Now Chi-square values for other features.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C4E693-E01E-540E-14BC-5F5E0A1E9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96" y="185996"/>
                <a:ext cx="10401301" cy="1569660"/>
              </a:xfrm>
              <a:prstGeom prst="rect">
                <a:avLst/>
              </a:prstGeom>
              <a:blipFill>
                <a:blip r:embed="rId2"/>
                <a:stretch>
                  <a:fillRect l="-879" t="-3113" b="-81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0864D58-2774-D169-A6C4-E17779EB6CC5}"/>
              </a:ext>
            </a:extLst>
          </p:cNvPr>
          <p:cNvSpPr txBox="1"/>
          <p:nvPr/>
        </p:nvSpPr>
        <p:spPr>
          <a:xfrm>
            <a:off x="387970" y="2056161"/>
            <a:ext cx="114160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Temperature Feature</a:t>
            </a:r>
          </a:p>
          <a:p>
            <a:pPr>
              <a:buNone/>
            </a:pPr>
            <a:r>
              <a:rPr lang="en-IN" dirty="0"/>
              <a:t>This feature has 3 classes: Hot, Mild, and Cool. The following table summarizes the Chi-square values for these classes.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5362B91-2C3C-31FC-3A31-66C1063AC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711153"/>
              </p:ext>
            </p:extLst>
          </p:nvPr>
        </p:nvGraphicFramePr>
        <p:xfrm>
          <a:off x="838199" y="3132614"/>
          <a:ext cx="10626338" cy="1889760"/>
        </p:xfrm>
        <a:graphic>
          <a:graphicData uri="http://schemas.openxmlformats.org/drawingml/2006/table">
            <a:tbl>
              <a:tblPr/>
              <a:tblGrid>
                <a:gridCol w="1612964">
                  <a:extLst>
                    <a:ext uri="{9D8B030D-6E8A-4147-A177-3AD203B41FA5}">
                      <a16:colId xmlns:a16="http://schemas.microsoft.com/office/drawing/2014/main" val="5337709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5021142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241643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95032086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15765115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47026630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415049168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Expected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Chi-square (Yes)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Chi-square (No)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3578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4355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0.577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0.577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7533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0.707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 dirty="0"/>
                        <a:t>0.707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20774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8B1A4F-7765-CBA9-222A-8B74F9D66841}"/>
                  </a:ext>
                </a:extLst>
              </p:cNvPr>
              <p:cNvSpPr txBox="1"/>
              <p:nvPr/>
            </p:nvSpPr>
            <p:spPr>
              <a:xfrm>
                <a:off x="1173666" y="5637162"/>
                <a:ext cx="897394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Chi-square Value of Temperature Feature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b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+0+0.577+0.577+0.707+0.707=2.569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8B1A4F-7765-CBA9-222A-8B74F9D66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666" y="5637162"/>
                <a:ext cx="8973944" cy="646331"/>
              </a:xfrm>
              <a:prstGeom prst="rect">
                <a:avLst/>
              </a:prstGeom>
              <a:blipFill>
                <a:blip r:embed="rId3"/>
                <a:stretch>
                  <a:fillRect l="-611" t="-47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6491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BEE87-2117-7457-BB50-CB9154976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20" y="26844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Humidity Feature</a:t>
            </a:r>
          </a:p>
          <a:p>
            <a:r>
              <a:rPr lang="en-IN" sz="2400" dirty="0"/>
              <a:t>Humidity has 2 classes: High and Normal. The following table summarizes the Chi-square values.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A6BF87-DE8E-6852-5AFE-272BC5665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355280"/>
              </p:ext>
            </p:extLst>
          </p:nvPr>
        </p:nvGraphicFramePr>
        <p:xfrm>
          <a:off x="0" y="1538648"/>
          <a:ext cx="10814825" cy="1555595"/>
        </p:xfrm>
        <a:graphic>
          <a:graphicData uri="http://schemas.openxmlformats.org/drawingml/2006/table">
            <a:tbl>
              <a:tblPr/>
              <a:tblGrid>
                <a:gridCol w="1544975">
                  <a:extLst>
                    <a:ext uri="{9D8B030D-6E8A-4147-A177-3AD203B41FA5}">
                      <a16:colId xmlns:a16="http://schemas.microsoft.com/office/drawing/2014/main" val="3139905269"/>
                    </a:ext>
                  </a:extLst>
                </a:gridCol>
                <a:gridCol w="1544975">
                  <a:extLst>
                    <a:ext uri="{9D8B030D-6E8A-4147-A177-3AD203B41FA5}">
                      <a16:colId xmlns:a16="http://schemas.microsoft.com/office/drawing/2014/main" val="2414397274"/>
                    </a:ext>
                  </a:extLst>
                </a:gridCol>
                <a:gridCol w="1544975">
                  <a:extLst>
                    <a:ext uri="{9D8B030D-6E8A-4147-A177-3AD203B41FA5}">
                      <a16:colId xmlns:a16="http://schemas.microsoft.com/office/drawing/2014/main" val="1659672814"/>
                    </a:ext>
                  </a:extLst>
                </a:gridCol>
                <a:gridCol w="1544975">
                  <a:extLst>
                    <a:ext uri="{9D8B030D-6E8A-4147-A177-3AD203B41FA5}">
                      <a16:colId xmlns:a16="http://schemas.microsoft.com/office/drawing/2014/main" val="520436472"/>
                    </a:ext>
                  </a:extLst>
                </a:gridCol>
                <a:gridCol w="1544975">
                  <a:extLst>
                    <a:ext uri="{9D8B030D-6E8A-4147-A177-3AD203B41FA5}">
                      <a16:colId xmlns:a16="http://schemas.microsoft.com/office/drawing/2014/main" val="1377001729"/>
                    </a:ext>
                  </a:extLst>
                </a:gridCol>
                <a:gridCol w="1544975">
                  <a:extLst>
                    <a:ext uri="{9D8B030D-6E8A-4147-A177-3AD203B41FA5}">
                      <a16:colId xmlns:a16="http://schemas.microsoft.com/office/drawing/2014/main" val="1386451831"/>
                    </a:ext>
                  </a:extLst>
                </a:gridCol>
                <a:gridCol w="1544975">
                  <a:extLst>
                    <a:ext uri="{9D8B030D-6E8A-4147-A177-3AD203B41FA5}">
                      <a16:colId xmlns:a16="http://schemas.microsoft.com/office/drawing/2014/main" val="2181394502"/>
                    </a:ext>
                  </a:extLst>
                </a:gridCol>
              </a:tblGrid>
              <a:tr h="730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Humidity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 dirty="0"/>
                        <a:t>Expected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Chi-square (Yes)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Chi-square (No)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175256"/>
                  </a:ext>
                </a:extLst>
              </a:tr>
              <a:tr h="412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3.5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0.267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0.267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41354"/>
                  </a:ext>
                </a:extLst>
              </a:tr>
              <a:tr h="412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3.5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1.336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 dirty="0"/>
                        <a:t>1.336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9335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92B8F3-5119-1D2B-7573-E4432F83D5C0}"/>
                  </a:ext>
                </a:extLst>
              </p:cNvPr>
              <p:cNvSpPr txBox="1"/>
              <p:nvPr/>
            </p:nvSpPr>
            <p:spPr>
              <a:xfrm>
                <a:off x="549197" y="3362311"/>
                <a:ext cx="786997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Chi-square Value of Humidity Feature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b="0" smtClean="0">
                          <a:latin typeface="Cambria Math" panose="02040503050406030204" pitchFamily="18" charset="0"/>
                        </a:rPr>
                        <m:t>0.267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+0.267+1.336+1.336=3.207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92B8F3-5119-1D2B-7573-E4432F83D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97" y="3362311"/>
                <a:ext cx="7869973" cy="646331"/>
              </a:xfrm>
              <a:prstGeom prst="rect">
                <a:avLst/>
              </a:prstGeom>
              <a:blipFill>
                <a:blip r:embed="rId2"/>
                <a:stretch>
                  <a:fillRect l="-620" t="-47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CD11018-EB86-47D2-F0C3-9397662F4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874790"/>
              </p:ext>
            </p:extLst>
          </p:nvPr>
        </p:nvGraphicFramePr>
        <p:xfrm>
          <a:off x="447907" y="4619780"/>
          <a:ext cx="4358270" cy="1828800"/>
        </p:xfrm>
        <a:graphic>
          <a:graphicData uri="http://schemas.openxmlformats.org/drawingml/2006/table">
            <a:tbl>
              <a:tblPr/>
              <a:tblGrid>
                <a:gridCol w="2179135">
                  <a:extLst>
                    <a:ext uri="{9D8B030D-6E8A-4147-A177-3AD203B41FA5}">
                      <a16:colId xmlns:a16="http://schemas.microsoft.com/office/drawing/2014/main" val="1866775895"/>
                    </a:ext>
                  </a:extLst>
                </a:gridCol>
                <a:gridCol w="2179135">
                  <a:extLst>
                    <a:ext uri="{9D8B030D-6E8A-4147-A177-3AD203B41FA5}">
                      <a16:colId xmlns:a16="http://schemas.microsoft.com/office/drawing/2014/main" val="1523502968"/>
                    </a:ext>
                  </a:extLst>
                </a:gridCol>
              </a:tblGrid>
              <a:tr h="311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Chi-square Value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103724"/>
                  </a:ext>
                </a:extLst>
              </a:tr>
              <a:tr h="311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Outlook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4.092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473413"/>
                  </a:ext>
                </a:extLst>
              </a:tr>
              <a:tr h="311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2.569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778555"/>
                  </a:ext>
                </a:extLst>
              </a:tr>
              <a:tr h="311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Humidity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3.207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550578"/>
                  </a:ext>
                </a:extLst>
              </a:tr>
              <a:tr h="311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1.604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8604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17D3156-A73F-DC3D-AC9B-B258A977D257}"/>
              </a:ext>
            </a:extLst>
          </p:cNvPr>
          <p:cNvSpPr txBox="1"/>
          <p:nvPr/>
        </p:nvSpPr>
        <p:spPr>
          <a:xfrm>
            <a:off x="5407412" y="4857687"/>
            <a:ext cx="65355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Since Outlook has the highest Chi-square value (4.092), the CHAID Decision Tree selects Outlook as the root node (most dominant feature) for the first split.</a:t>
            </a:r>
          </a:p>
        </p:txBody>
      </p:sp>
    </p:spTree>
    <p:extLst>
      <p:ext uri="{BB962C8B-B14F-4D97-AF65-F5344CB8AC3E}">
        <p14:creationId xmlns:p14="http://schemas.microsoft.com/office/powerpoint/2010/main" val="3749996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7767E-85F2-1C0A-89D8-80D63DB0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Steps for Developing a CHAID Tree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72BE6-5E6C-65F2-A67B-0BA3E7E2B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600" dirty="0"/>
              <a:t>Start with complete training data in the root node.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/>
              <a:t>Check the statistical significance of each independent variable.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/>
              <a:t>The variable with the least p-value, based on the statistical tests described in Step 2, is used for splitting the data set, thereby creating subsets.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/>
              <a:t>Using the independent variables, repeat Step 3 for each of the subsets of the data until: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2600" dirty="0"/>
              <a:t>a) All the dependent variables are exhausted or they are not statistically significant at α (alpha).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2600" dirty="0"/>
              <a:t>b) The stopping criteria are met.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/>
              <a:t>Generate business rules for the terminal (leaf) nodes of the tree.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301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42126-9564-8D58-8713-54D5529B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Algorithm which decide best fit for when dealing with continuous target variables like taxi fare, sales </a:t>
            </a:r>
            <a:r>
              <a:rPr lang="en-US" sz="2400" dirty="0" err="1"/>
              <a:t>etc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C1C44-AA54-CC05-9297-180B6D08AB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 reduction in variables – split with lower variance is selected</a:t>
                </a:r>
              </a:p>
              <a:p>
                <a:r>
                  <a:rPr lang="en-US" dirty="0"/>
                  <a:t>Steps : </a:t>
                </a:r>
                <a:r>
                  <a:rPr lang="en-IN" dirty="0"/>
                  <a:t>Calculate the variance of each child node, calculate the variance of each split as the weighted average variance of each child node.</a:t>
                </a:r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i="0"/>
                          <m:t>Variance</m:t>
                        </m:r>
                        <m:r>
                          <a:rPr lang="en-IN" b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grow m:val="on"/>
                                <m:subHide m:val="on"/>
                                <m:supHide m:val="on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nary>
                            <m:d>
                              <m:dPr>
                                <m:begChr m:val=""/>
                                <m:endChr m:val=""/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en-IN" b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b="0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IN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borderBox>
                  </m:oMath>
                </a14:m>
                <a:r>
                  <a:rPr lang="en-IN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dirty="0"/>
                  <a:t>= Individual data value 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dirty="0"/>
                  <a:t>= Mean of the data 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= Total number of observations 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/>
                    </m:nary>
                  </m:oMath>
                </a14:m>
                <a:r>
                  <a:rPr lang="en-IN" dirty="0"/>
                  <a:t>= Summation of squared differences from the mean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C1C44-AA54-CC05-9297-180B6D08AB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4289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E1D6AD-C1B4-1447-8381-3DFDBEC5E950}"/>
              </a:ext>
            </a:extLst>
          </p:cNvPr>
          <p:cNvSpPr txBox="1"/>
          <p:nvPr/>
        </p:nvSpPr>
        <p:spPr>
          <a:xfrm>
            <a:off x="214662" y="133144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Plays Cricket = 1</a:t>
            </a:r>
            <a:r>
              <a:rPr lang="en-IN" dirty="0"/>
              <a:t> </a:t>
            </a:r>
            <a:r>
              <a:rPr lang="en-IN" b="1" dirty="0"/>
              <a:t>Do not play Cricket = 0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021937-88F5-F7BA-7FA3-9147225C1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904875"/>
            <a:ext cx="1091565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62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A013-DA2A-833A-9877-1DAAC92A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C7D9CFA-A011-2495-5693-73CEC4B425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729557"/>
              </p:ext>
            </p:extLst>
          </p:nvPr>
        </p:nvGraphicFramePr>
        <p:xfrm>
          <a:off x="715537" y="5041900"/>
          <a:ext cx="7134922" cy="1097280"/>
        </p:xfrm>
        <a:graphic>
          <a:graphicData uri="http://schemas.openxmlformats.org/drawingml/2006/table">
            <a:tbl>
              <a:tblPr/>
              <a:tblGrid>
                <a:gridCol w="3567461">
                  <a:extLst>
                    <a:ext uri="{9D8B030D-6E8A-4147-A177-3AD203B41FA5}">
                      <a16:colId xmlns:a16="http://schemas.microsoft.com/office/drawing/2014/main" val="1600231260"/>
                    </a:ext>
                  </a:extLst>
                </a:gridCol>
                <a:gridCol w="3567461">
                  <a:extLst>
                    <a:ext uri="{9D8B030D-6E8A-4147-A177-3AD203B41FA5}">
                      <a16:colId xmlns:a16="http://schemas.microsoft.com/office/drawing/2014/main" val="2927407158"/>
                    </a:ext>
                  </a:extLst>
                </a:gridCol>
              </a:tblGrid>
              <a:tr h="161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Split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Variance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81874"/>
                  </a:ext>
                </a:extLst>
              </a:tr>
              <a:tr h="161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 in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0.238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494820"/>
                  </a:ext>
                </a:extLst>
              </a:tr>
              <a:tr h="161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0.16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72468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D7301CC-103C-9BC5-2306-CBCE0A4E7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37" y="194055"/>
            <a:ext cx="10220325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25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28D4E-CF0F-D21F-AC32-A9732585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48192"/>
            <a:ext cx="10515600" cy="1325563"/>
          </a:xfrm>
        </p:spPr>
        <p:txBody>
          <a:bodyPr/>
          <a:lstStyle/>
          <a:p>
            <a:r>
              <a:rPr lang="en-US" dirty="0"/>
              <a:t>Optimizing performance of DT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C0EB1-A233-64EA-F6AB-A709AD4D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6284EA-5AC2-F276-55A8-048E8BB61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10" y="1125480"/>
            <a:ext cx="6308532" cy="34256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E08DD0-89CB-1E07-ED04-BD8E8AA1A920}"/>
              </a:ext>
            </a:extLst>
          </p:cNvPr>
          <p:cNvSpPr txBox="1"/>
          <p:nvPr/>
        </p:nvSpPr>
        <p:spPr>
          <a:xfrm>
            <a:off x="970156" y="4962293"/>
            <a:ext cx="9656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no constraint is kept on tree it grows until it complete all pure nodes , model fits on the training observation and get 100 % accuracy in training . </a:t>
            </a:r>
          </a:p>
          <a:p>
            <a:r>
              <a:rPr lang="en-US" dirty="0"/>
              <a:t>So if we train unseen data model leads to overfitting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240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FCA0-3EE1-0CEF-B3BA-F529B4769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68" y="420571"/>
            <a:ext cx="10515600" cy="4351338"/>
          </a:xfrm>
        </p:spPr>
        <p:txBody>
          <a:bodyPr/>
          <a:lstStyle/>
          <a:p>
            <a:r>
              <a:rPr lang="en-US" dirty="0"/>
              <a:t> sol: set a threshold on growth of tree. Depth=1 in such cases training data also won't be good enough for accuracy checking and leads to underfitting </a:t>
            </a:r>
          </a:p>
          <a:p>
            <a:r>
              <a:rPr lang="en-US" dirty="0"/>
              <a:t>So both overfitting and underfitting need to be solved for DT</a:t>
            </a:r>
          </a:p>
          <a:p>
            <a:pPr marL="0" indent="0">
              <a:buNone/>
            </a:pPr>
            <a:r>
              <a:rPr lang="en-US" dirty="0"/>
              <a:t>1. Set minimum samples for a node split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9E8C4-72D7-3AF6-6D54-DE4741E8A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05" y="2782229"/>
            <a:ext cx="4777454" cy="2224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491307-0C51-1131-809E-5241A0D23ECC}"/>
              </a:ext>
            </a:extLst>
          </p:cNvPr>
          <p:cNvSpPr txBox="1"/>
          <p:nvPr/>
        </p:nvSpPr>
        <p:spPr>
          <a:xfrm>
            <a:off x="1240572" y="5431754"/>
            <a:ext cx="121854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a. </a:t>
            </a:r>
            <a:r>
              <a:rPr lang="en-IN" b="1" dirty="0"/>
              <a:t>Higher values control overfitting.</a:t>
            </a:r>
            <a:endParaRPr lang="en-IN" dirty="0"/>
          </a:p>
          <a:p>
            <a:pPr>
              <a:buNone/>
            </a:pPr>
            <a:r>
              <a:rPr lang="en-IN" dirty="0"/>
              <a:t>b. </a:t>
            </a:r>
            <a:r>
              <a:rPr lang="en-IN" b="1" dirty="0"/>
              <a:t>Too high values can lead to underfitting. Model don’t learn anything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4666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AE5FF-6433-DC25-4E90-111777DCA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967" y="36680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2. set minimum sample for terminal nodes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15E3B-3EB4-401F-CCA7-797D7CF33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181" y="830691"/>
            <a:ext cx="4672574" cy="21026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379DCD-D019-B093-40B6-69FED5E6E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21622"/>
            <a:ext cx="4259581" cy="203288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D65CA5-A5BD-D561-23FC-C9085B7067E5}"/>
              </a:ext>
            </a:extLst>
          </p:cNvPr>
          <p:cNvCxnSpPr/>
          <p:nvPr/>
        </p:nvCxnSpPr>
        <p:spPr>
          <a:xfrm flipV="1">
            <a:off x="5376351" y="1882020"/>
            <a:ext cx="1297259" cy="100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04DC5DC-DB51-A55B-37F7-990F344A4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8091" y="4123365"/>
            <a:ext cx="3302198" cy="16562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8AFCC6-819A-2873-B1FE-709D3DF6F24C}"/>
              </a:ext>
            </a:extLst>
          </p:cNvPr>
          <p:cNvSpPr txBox="1"/>
          <p:nvPr/>
        </p:nvSpPr>
        <p:spPr>
          <a:xfrm>
            <a:off x="858041" y="4776758"/>
            <a:ext cx="60941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a. </a:t>
            </a:r>
            <a:r>
              <a:rPr lang="en-IN" b="1" dirty="0"/>
              <a:t>Higher value controls overfitting.</a:t>
            </a:r>
            <a:endParaRPr lang="en-IN" dirty="0"/>
          </a:p>
          <a:p>
            <a:pPr>
              <a:buNone/>
            </a:pPr>
            <a:r>
              <a:rPr lang="en-IN" dirty="0"/>
              <a:t>b. </a:t>
            </a:r>
            <a:r>
              <a:rPr lang="en-IN" b="1" dirty="0"/>
              <a:t>Too high values can lead to underfitting.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8655D1-5775-2FF2-FB06-C1BAAE2B5FCA}"/>
              </a:ext>
            </a:extLst>
          </p:cNvPr>
          <p:cNvCxnSpPr/>
          <p:nvPr/>
        </p:nvCxnSpPr>
        <p:spPr>
          <a:xfrm flipV="1">
            <a:off x="680224" y="3038707"/>
            <a:ext cx="1817649" cy="680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B9A50DD-C6B8-3B3E-F129-8853A28CFD68}"/>
              </a:ext>
            </a:extLst>
          </p:cNvPr>
          <p:cNvSpPr txBox="1"/>
          <p:nvPr/>
        </p:nvSpPr>
        <p:spPr>
          <a:xfrm>
            <a:off x="4938774" y="5707157"/>
            <a:ext cx="4283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we cant split further form root node itself cause model to not learn anything  so choose value which is not too low and not too high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16A4D8-CB93-F0E6-5F43-7DF9E20F078D}"/>
              </a:ext>
            </a:extLst>
          </p:cNvPr>
          <p:cNvSpPr txBox="1"/>
          <p:nvPr/>
        </p:nvSpPr>
        <p:spPr>
          <a:xfrm>
            <a:off x="475784" y="3854605"/>
            <a:ext cx="2899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parent node become leaf node</a:t>
            </a:r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AA6F238-006E-2A30-CEDC-17739426AB6B}"/>
              </a:ext>
            </a:extLst>
          </p:cNvPr>
          <p:cNvCxnSpPr/>
          <p:nvPr/>
        </p:nvCxnSpPr>
        <p:spPr>
          <a:xfrm flipH="1">
            <a:off x="7326351" y="4962293"/>
            <a:ext cx="791737" cy="735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8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6745A-6DC8-6B72-E5BE-309C87F5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36" y="57757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3. Set maximum depth of tree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785B03-9579-11E9-D6FF-103859592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34" y="1482002"/>
            <a:ext cx="7205663" cy="2904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1456ED-916D-EF1C-EA72-111BF22B62B8}"/>
              </a:ext>
            </a:extLst>
          </p:cNvPr>
          <p:cNvSpPr txBox="1"/>
          <p:nvPr/>
        </p:nvSpPr>
        <p:spPr>
          <a:xfrm>
            <a:off x="1100195" y="5357098"/>
            <a:ext cx="113780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a. </a:t>
            </a:r>
            <a:r>
              <a:rPr lang="en-IN" b="1" dirty="0"/>
              <a:t>Higher depth can lead to overfitting.</a:t>
            </a:r>
            <a:endParaRPr lang="en-IN" dirty="0"/>
          </a:p>
          <a:p>
            <a:pPr>
              <a:buNone/>
            </a:pPr>
            <a:r>
              <a:rPr lang="en-IN" dirty="0"/>
              <a:t>b. </a:t>
            </a:r>
            <a:r>
              <a:rPr lang="en-IN" b="1" dirty="0"/>
              <a:t>Lower depth can lead to underfitting.</a:t>
            </a:r>
          </a:p>
          <a:p>
            <a:pPr>
              <a:buNone/>
            </a:pPr>
            <a:r>
              <a:rPr lang="en-IN" b="1" dirty="0"/>
              <a:t>So depending on problem set the max depth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704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74134-4FAD-DDCC-F13C-8D0E3E4B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5DBC-7590-930B-A6E5-7B33D8065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Maximum number of terminal nodes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88766-6274-CA2D-77AB-1D7B9611C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93" y="2762250"/>
            <a:ext cx="8448675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734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7C63F-8A29-9102-5E11-7AF2D3548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Consider the dataset below.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F70552-DA86-E0EB-6884-07EF6AF5A0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5477840"/>
              </p:ext>
            </p:extLst>
          </p:nvPr>
        </p:nvGraphicFramePr>
        <p:xfrm>
          <a:off x="838200" y="1840188"/>
          <a:ext cx="10515600" cy="2560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1860911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280356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7529546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5904833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57216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Buy Laptop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18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065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312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Middle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891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766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897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Middle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3743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E88FA1-0F13-C184-6084-F47B931D7CB1}"/>
              </a:ext>
            </a:extLst>
          </p:cNvPr>
          <p:cNvSpPr txBox="1"/>
          <p:nvPr/>
        </p:nvSpPr>
        <p:spPr>
          <a:xfrm>
            <a:off x="0" y="4550008"/>
            <a:ext cx="1258786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Answer the following: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Calculate the Gini Impurity of the root node.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Compute the weighted Gini Impurity for all three features.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Which feature will GINI select as the first split? Explain your reasoning.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Which feature is likely to be selected by CHAID? Explain your reasoning using the Chi-square criterion.</a:t>
            </a:r>
          </a:p>
        </p:txBody>
      </p:sp>
    </p:spTree>
    <p:extLst>
      <p:ext uri="{BB962C8B-B14F-4D97-AF65-F5344CB8AC3E}">
        <p14:creationId xmlns:p14="http://schemas.microsoft.com/office/powerpoint/2010/main" val="2732617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</TotalTime>
  <Words>1291</Words>
  <Application>Microsoft Office PowerPoint</Application>
  <PresentationFormat>Widescreen</PresentationFormat>
  <Paragraphs>326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Techniques used to select which is best split </vt:lpstr>
      <vt:lpstr>PowerPoint Presentation</vt:lpstr>
      <vt:lpstr>PowerPoint Presentation</vt:lpstr>
      <vt:lpstr>PowerPoint Presentation</vt:lpstr>
      <vt:lpstr>Play Tennis dataset</vt:lpstr>
      <vt:lpstr>PowerPoint Presentation</vt:lpstr>
      <vt:lpstr>PowerPoint Presentation</vt:lpstr>
      <vt:lpstr>PowerPoint Presentation</vt:lpstr>
      <vt:lpstr>Steps for Developing a CHAID Tree </vt:lpstr>
      <vt:lpstr>Algorithm which decide best fit for when dealing with continuous target variables like taxi fare, sales etc</vt:lpstr>
      <vt:lpstr>PowerPoint Presentation</vt:lpstr>
      <vt:lpstr>PowerPoint Presentation</vt:lpstr>
      <vt:lpstr>Optimizing performance of DT</vt:lpstr>
      <vt:lpstr>PowerPoint Presentation</vt:lpstr>
      <vt:lpstr>PowerPoint Presentation</vt:lpstr>
      <vt:lpstr>PowerPoint Presentation</vt:lpstr>
      <vt:lpstr>PowerPoint Presentation</vt:lpstr>
      <vt:lpstr>Consider the dataset below.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Amritha P.P</dc:creator>
  <cp:lastModifiedBy>Amritha P.P</cp:lastModifiedBy>
  <cp:revision>8</cp:revision>
  <dcterms:created xsi:type="dcterms:W3CDTF">2026-07-30T05:12:13Z</dcterms:created>
  <dcterms:modified xsi:type="dcterms:W3CDTF">2026-08-20T09:23:12Z</dcterms:modified>
</cp:coreProperties>
</file>