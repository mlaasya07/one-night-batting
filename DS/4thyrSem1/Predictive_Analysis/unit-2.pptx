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7" r:id="rId5"/>
    <p:sldId id="268" r:id="rId6"/>
    <p:sldId id="261" r:id="rId7"/>
    <p:sldId id="262" r:id="rId8"/>
    <p:sldId id="263" r:id="rId9"/>
    <p:sldId id="264" r:id="rId10"/>
    <p:sldId id="265" r:id="rId11"/>
    <p:sldId id="258" r:id="rId12"/>
    <p:sldId id="269" r:id="rId13"/>
    <p:sldId id="270" r:id="rId14"/>
    <p:sldId id="271" r:id="rId15"/>
    <p:sldId id="279" r:id="rId16"/>
    <p:sldId id="272" r:id="rId17"/>
    <p:sldId id="259" r:id="rId18"/>
    <p:sldId id="273" r:id="rId19"/>
    <p:sldId id="274" r:id="rId20"/>
    <p:sldId id="260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9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E2067-6E55-FD4C-9D4E-CB3CD4492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FDE78F-F82F-21EE-072D-E8AF35B3F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7B75E-5B4C-6710-D82D-96F47B98F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7B95A-DBE5-498B-B43D-6B1F541B4120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6CD70-AFF5-5FCF-C0B3-EF1EE1A7A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75BE4-896B-0603-75B3-00C27398E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69FA-F576-4256-A9E2-1959728D6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762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6A192-7DB3-353D-CC35-90F197F15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AE794-7D26-34A3-9246-5F639832C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E250A-694D-816B-3401-0FEFCCC86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7B95A-DBE5-498B-B43D-6B1F541B4120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ACCFF-D082-A033-85ED-5F553F4FF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F3405-E8AB-AADC-4F52-65E2DFCBA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69FA-F576-4256-A9E2-1959728D6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453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B9689-0176-A55F-FB45-4F337BF1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5BB48B-7ADD-B84D-54E9-C8FAADC9C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5218F-8E3F-34D1-3EA5-F91EFA278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7B95A-DBE5-498B-B43D-6B1F541B4120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FB178-9479-C5E1-DE3B-494B1CC0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EC103-C5E7-3F42-C1E9-A5D1CA743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69FA-F576-4256-A9E2-1959728D6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494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C6E-E792-7650-CA66-600C9A4CF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96888-8B43-10CE-45B1-7FD796E33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1A476-0091-1855-8216-9143C92878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C8CD07-AAFB-7D09-B367-3792758FD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7B95A-DBE5-498B-B43D-6B1F541B4120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C30155-FD1C-809C-EB66-EC53816F8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253AC-BE61-7C72-DBFB-FD6776413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69FA-F576-4256-A9E2-1959728D6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132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A35DE-F44D-C78A-A0B7-BF1972441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9F6BE-95F1-BB70-793F-A94AFD903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4A99B-65C5-85F1-20CE-4515622AE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44507E-0FE8-92FC-88B2-B9E4EE5166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F6AB7D-8A0E-6770-30E3-68C38CBD88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2E24F1-C971-C8F3-7E50-83732E3E7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7B95A-DBE5-498B-B43D-6B1F541B4120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C4CC98-04A0-FFB5-3BDA-6536D3E16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7F2AF7-2406-8D0D-7037-128D37BB3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69FA-F576-4256-A9E2-1959728D6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282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3563A-EFAD-10AC-59DD-672A972EB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255F3D-E94F-7A33-B4C4-D0485C671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7B95A-DBE5-498B-B43D-6B1F541B4120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639958-ED58-7448-E18C-6616038CB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A4A49D-48BB-5EB3-7544-23BF10E26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69FA-F576-4256-A9E2-1959728D6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139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6B381D-E202-BC21-8319-8C583609E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7B95A-DBE5-498B-B43D-6B1F541B4120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831CE0-B4A7-0A4F-E734-43B5FF43A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42128-A32F-BED2-C751-E381BC822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69FA-F576-4256-A9E2-1959728D6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037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9827A-5796-E919-D677-40A6B2934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EB71A-B36C-FBE7-84BB-D7626F36C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C0A8E0-7A0A-2D93-A23F-E6B03EED96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8CC22-C435-D28A-E324-881ACD57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7B95A-DBE5-498B-B43D-6B1F541B4120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1EA0C-3F4A-F6E4-8107-D7921545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067560-6D6E-C999-C062-CFDDC1792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69FA-F576-4256-A9E2-1959728D6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30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72A10-E753-87E2-CDE4-C14AD353E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21DD5F-EE48-7329-8FFF-85C6669A13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5E32C7-2DC3-E4C1-806A-7D8B6BF4A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D8C55-AF83-377B-9E17-2D40081CF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7B95A-DBE5-498B-B43D-6B1F541B4120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C932F-E15A-943E-CF1F-5127AFF57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EBC0E-6236-7E27-63F9-42959F829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69FA-F576-4256-A9E2-1959728D6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117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E5E13-FFF4-AEA6-3C14-455ED10A1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85398A-14B5-C04C-7479-513690301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EE56B-A4BF-C19F-65A6-3664262B0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7B95A-DBE5-498B-B43D-6B1F541B4120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795E8-A2BA-2E19-3FE6-C811D5675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6B352-6016-1B9C-3CE3-675C863C5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69FA-F576-4256-A9E2-1959728D6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885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37E37B-5CDB-33B2-2C6C-487CF2EE17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5D9587-F487-8992-863A-94C0A389A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9DA2A-287E-FA23-F2B1-9B980E054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7B95A-DBE5-498B-B43D-6B1F541B4120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37215-7213-0B94-4D34-629F48EB6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0C296-C06D-BE81-6C87-CEF15455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69FA-F576-4256-A9E2-1959728D6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53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F06116-FC4D-EEE7-BC99-F9B110B1D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298CA-D010-7D99-EF4C-CDAC39C70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4584E-7996-115F-168C-238ED0C37E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57B95A-DBE5-498B-B43D-6B1F541B4120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2CCB5-1885-7B7E-3F83-908F74C2D5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D8712-996D-5049-2EB7-7FD72F37C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CD69FA-F576-4256-A9E2-1959728D6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84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A4A3A-B70F-F7B7-6D15-EFBFE77AB8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2567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dirty="0"/>
              <a:t>Unit-2 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541738-31F5-1E63-355B-F424B9971C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8673" y="3011024"/>
            <a:ext cx="9144000" cy="1655762"/>
          </a:xfrm>
        </p:spPr>
        <p:txBody>
          <a:bodyPr/>
          <a:lstStyle/>
          <a:p>
            <a:r>
              <a:rPr lang="en-US" sz="3600" dirty="0"/>
              <a:t>Prediction effect, deployment of prediction model, ethics and responsibilities The Data effect</a:t>
            </a:r>
            <a:endParaRPr lang="en-IN" sz="3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67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8191A-3428-13E6-BB3F-D29B73C7E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0590"/>
            <a:ext cx="10972799" cy="1325563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US" sz="2700" b="1" dirty="0"/>
              <a:t>Prediction effect  </a:t>
            </a:r>
            <a:r>
              <a:rPr lang="en-US" sz="2700" dirty="0"/>
              <a:t>(</a:t>
            </a:r>
            <a:r>
              <a:rPr lang="en-IN" sz="2700" dirty="0"/>
              <a:t>What happened after the prediction was used?)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3110E-047F-46FC-0A0A-83BEA8C10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73" y="1326995"/>
            <a:ext cx="10972800" cy="484996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IN" dirty="0"/>
              <a:t>refers to all overall impacts, outcomes and changes that occur when predictions are used in decision-making. It describes how the use of predictive analytics influence performance; reduce errors and enhance future outcomes. </a:t>
            </a:r>
          </a:p>
          <a:p>
            <a:pPr lvl="0" algn="just"/>
            <a:r>
              <a:rPr lang="en-IN" dirty="0"/>
              <a:t>It shows how predictions improve processes, business results, accuracy &amp; efficiency. </a:t>
            </a:r>
          </a:p>
          <a:p>
            <a:r>
              <a:rPr lang="en-IN" dirty="0"/>
              <a:t> A prediction can lead to an action or intervention, which may change the actual outcome.</a:t>
            </a:r>
          </a:p>
          <a:p>
            <a:r>
              <a:rPr lang="en-IN" dirty="0"/>
              <a:t>For example, a university uses an ML model to predict students who are likely to fail. The model identifies a student as high-risk. The university provides additional coaching and study material. The student subsequently passes the examination.  Thus, the prediction led to an intervention, and the intervention improved the student's outcome.</a:t>
            </a:r>
          </a:p>
          <a:p>
            <a:pPr marL="0" indent="0">
              <a:buNone/>
            </a:pPr>
            <a:r>
              <a:rPr lang="en-IN" b="1" dirty="0"/>
              <a:t>Prediction → Decision → Action → Outcome → New Data</a:t>
            </a:r>
            <a:endParaRPr lang="en-IN" dirty="0"/>
          </a:p>
          <a:p>
            <a:r>
              <a:rPr lang="en-IN" dirty="0">
                <a:solidFill>
                  <a:schemeClr val="accent1"/>
                </a:solidFill>
              </a:rPr>
              <a:t>This effect is important because predictive analytics should be evaluated not only by prediction accuracy but also by its impact on real-world decisions and outcomes.</a:t>
            </a:r>
          </a:p>
          <a:p>
            <a:endParaRPr lang="en-IN" dirty="0"/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947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415C6-5686-6A54-BDB6-D00687373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440" y="532083"/>
            <a:ext cx="1160656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Positive Prediction Effect</a:t>
            </a:r>
          </a:p>
          <a:p>
            <a:r>
              <a:rPr lang="en-IN" sz="2000" dirty="0"/>
              <a:t>A prediction leads to an action that improves the outcome. </a:t>
            </a:r>
            <a:r>
              <a:rPr lang="en-IN" sz="2000" b="1" dirty="0"/>
              <a:t>Eg: </a:t>
            </a:r>
            <a:r>
              <a:rPr lang="en-IN" sz="2000" dirty="0"/>
              <a:t>Predict student failure-&gt; Provide additional coaching-&gt;Student improves-&gt; Student passes</a:t>
            </a:r>
          </a:p>
          <a:p>
            <a:pPr marL="0" indent="0">
              <a:buNone/>
            </a:pPr>
            <a:r>
              <a:rPr lang="en-IN" sz="2000" b="1" dirty="0"/>
              <a:t>Negative Prediction Effect</a:t>
            </a:r>
          </a:p>
          <a:p>
            <a:r>
              <a:rPr lang="en-IN" sz="2000" dirty="0"/>
              <a:t>A prediction can sometimes produce an undesirable effect. </a:t>
            </a:r>
            <a:r>
              <a:rPr lang="en-IN" sz="2000" b="1" dirty="0"/>
              <a:t>Eg: </a:t>
            </a:r>
            <a:r>
              <a:rPr lang="en-IN" sz="2000" dirty="0"/>
              <a:t>Suppose a bank predicts that a customer is likely to default (has a high chance of not repaying the loan on time or not repaying the loan fully.).</a:t>
            </a:r>
          </a:p>
          <a:p>
            <a:r>
              <a:rPr lang="en-IN" sz="2000" dirty="0"/>
              <a:t>The bank rejects every application from customers classified as high-risk.</a:t>
            </a:r>
          </a:p>
          <a:p>
            <a:r>
              <a:rPr lang="en-IN" sz="2000" dirty="0"/>
              <a:t>If the customer cannot obtain credit elsewhere, their financial situation may become worse.</a:t>
            </a:r>
          </a:p>
          <a:p>
            <a:r>
              <a:rPr lang="en-IN" sz="2000" dirty="0"/>
              <a:t>Thus, the prediction and subsequent decision can influence the future outcome.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31755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AECB0-8970-2E70-E092-198E92E84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643" y="836341"/>
            <a:ext cx="11184673" cy="582093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Eg:1 cybersecurity system predicts: A particular IP address has a high probability of launching an attack. The security system can block or restrict the IP address. </a:t>
            </a:r>
          </a:p>
          <a:p>
            <a:r>
              <a:rPr lang="en-IN" b="1" dirty="0"/>
              <a:t>Result: </a:t>
            </a:r>
            <a:r>
              <a:rPr lang="en-IN" dirty="0"/>
              <a:t>The attack may never happen. This creates an interesting situation: Was the prediction correct?</a:t>
            </a:r>
          </a:p>
          <a:p>
            <a:r>
              <a:rPr lang="en-IN" dirty="0"/>
              <a:t>It is difficult to determine because the action taken based on the prediction may have prevented the attack.</a:t>
            </a:r>
          </a:p>
          <a:p>
            <a:r>
              <a:rPr lang="en-IN" dirty="0"/>
              <a:t>Attack prediction-&gt;IP blocked-&gt;Attack prevented-&gt;No attack observed</a:t>
            </a:r>
          </a:p>
          <a:p>
            <a:r>
              <a:rPr lang="en-IN" dirty="0"/>
              <a:t>This is a good example for discussing the </a:t>
            </a:r>
            <a:r>
              <a:rPr lang="en-IN" b="1" dirty="0"/>
              <a:t>effect of predictions on outcomes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Eg2: </a:t>
            </a:r>
            <a:r>
              <a:rPr lang="en-US" dirty="0"/>
              <a:t>A hospital develops a model to predict patients at high risk of developing a disease. The model predicts: Patient A → High risk. The hospital may then provide: Additional tests, Regular monitoring, Preventive treatment, Lifestyle recommendations. </a:t>
            </a:r>
          </a:p>
          <a:p>
            <a:pPr marL="0" indent="0">
              <a:buNone/>
            </a:pPr>
            <a:r>
              <a:rPr lang="en-US" dirty="0"/>
              <a:t>Suppose the patient does not develop the disease. We should not immediately conclude: "The model was wrong.“ The intervention may have prevented the predicted event. Therefore: Prediction-&gt;Preventive intervention-&gt;Risk reduced -&gt;Expected event does not occur. </a:t>
            </a:r>
            <a:r>
              <a:rPr lang="en-US" b="1" dirty="0"/>
              <a:t>This is a very important example of prediction affecting the outcome.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80225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06E62-C3EB-EE2C-5731-1A309C28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829" y="223024"/>
            <a:ext cx="10628971" cy="59539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Suppose a university develops a model to predict student performance.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3404846-9A0A-BFC7-3E93-E1529BEE3C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268971"/>
              </p:ext>
            </p:extLst>
          </p:nvPr>
        </p:nvGraphicFramePr>
        <p:xfrm>
          <a:off x="1304693" y="513366"/>
          <a:ext cx="5386039" cy="1828800"/>
        </p:xfrm>
        <a:graphic>
          <a:graphicData uri="http://schemas.openxmlformats.org/drawingml/2006/table">
            <a:tbl>
              <a:tblPr/>
              <a:tblGrid>
                <a:gridCol w="1689507">
                  <a:extLst>
                    <a:ext uri="{9D8B030D-6E8A-4147-A177-3AD203B41FA5}">
                      <a16:colId xmlns:a16="http://schemas.microsoft.com/office/drawing/2014/main" val="3658280327"/>
                    </a:ext>
                  </a:extLst>
                </a:gridCol>
                <a:gridCol w="1848266">
                  <a:extLst>
                    <a:ext uri="{9D8B030D-6E8A-4147-A177-3AD203B41FA5}">
                      <a16:colId xmlns:a16="http://schemas.microsoft.com/office/drawing/2014/main" val="1620748331"/>
                    </a:ext>
                  </a:extLst>
                </a:gridCol>
                <a:gridCol w="1848266">
                  <a:extLst>
                    <a:ext uri="{9D8B030D-6E8A-4147-A177-3AD203B41FA5}">
                      <a16:colId xmlns:a16="http://schemas.microsoft.com/office/drawing/2014/main" val="39942982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Predicted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261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731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61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366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79469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7A84C91-AD6E-A8F1-87CA-DEF76FD50977}"/>
              </a:ext>
            </a:extLst>
          </p:cNvPr>
          <p:cNvSpPr txBox="1"/>
          <p:nvPr/>
        </p:nvSpPr>
        <p:spPr>
          <a:xfrm>
            <a:off x="672791" y="2342166"/>
            <a:ext cx="899531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/>
              <a:t>The university identifies students C and D as high-risk students.</a:t>
            </a:r>
          </a:p>
          <a:p>
            <a:pPr>
              <a:buNone/>
            </a:pPr>
            <a:r>
              <a:rPr lang="en-IN" sz="2000" b="1" dirty="0"/>
              <a:t>Action</a:t>
            </a:r>
          </a:p>
          <a:p>
            <a:pPr>
              <a:buNone/>
            </a:pPr>
            <a:r>
              <a:rPr lang="en-IN" sz="2000" dirty="0"/>
              <a:t>The university provides: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Extra classes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Mentoring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Practice tests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Additional study material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4A77FA-64F0-E989-C342-2C882A4F3816}"/>
              </a:ext>
            </a:extLst>
          </p:cNvPr>
          <p:cNvSpPr txBox="1"/>
          <p:nvPr/>
        </p:nvSpPr>
        <p:spPr>
          <a:xfrm>
            <a:off x="345687" y="4896711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Result  </a:t>
            </a:r>
            <a:r>
              <a:rPr lang="en-IN" sz="2000" dirty="0"/>
              <a:t>After intervention: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B8F3E82-B283-CADD-E924-3E4E2620BB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220932"/>
              </p:ext>
            </p:extLst>
          </p:nvPr>
        </p:nvGraphicFramePr>
        <p:xfrm>
          <a:off x="6261409" y="4319618"/>
          <a:ext cx="4391721" cy="1371600"/>
        </p:xfrm>
        <a:graphic>
          <a:graphicData uri="http://schemas.openxmlformats.org/drawingml/2006/table">
            <a:tbl>
              <a:tblPr/>
              <a:tblGrid>
                <a:gridCol w="1463907">
                  <a:extLst>
                    <a:ext uri="{9D8B030D-6E8A-4147-A177-3AD203B41FA5}">
                      <a16:colId xmlns:a16="http://schemas.microsoft.com/office/drawing/2014/main" val="2643505794"/>
                    </a:ext>
                  </a:extLst>
                </a:gridCol>
                <a:gridCol w="1463907">
                  <a:extLst>
                    <a:ext uri="{9D8B030D-6E8A-4147-A177-3AD203B41FA5}">
                      <a16:colId xmlns:a16="http://schemas.microsoft.com/office/drawing/2014/main" val="4159643511"/>
                    </a:ext>
                  </a:extLst>
                </a:gridCol>
                <a:gridCol w="1463907">
                  <a:extLst>
                    <a:ext uri="{9D8B030D-6E8A-4147-A177-3AD203B41FA5}">
                      <a16:colId xmlns:a16="http://schemas.microsoft.com/office/drawing/2014/main" val="3304041529"/>
                    </a:ext>
                  </a:extLst>
                </a:gridCol>
              </a:tblGrid>
              <a:tr h="238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Predicted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Actual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37353"/>
                  </a:ext>
                </a:extLst>
              </a:tr>
              <a:tr h="238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666274"/>
                  </a:ext>
                </a:extLst>
              </a:tr>
              <a:tr h="238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63144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4F616E3-2240-D366-9CCB-2F1F84C01A4E}"/>
              </a:ext>
            </a:extLst>
          </p:cNvPr>
          <p:cNvSpPr txBox="1"/>
          <p:nvPr/>
        </p:nvSpPr>
        <p:spPr>
          <a:xfrm>
            <a:off x="187248" y="5575813"/>
            <a:ext cx="118175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Prediction Effect: </a:t>
            </a:r>
            <a:r>
              <a:rPr lang="en-IN" sz="2000" dirty="0"/>
              <a:t>The prediction helped the university identify students requiring intervention.  Prediction-&gt; Identify weak students-&gt;Extra coaching-&gt;Improved performance-&gt;Higher pass rate</a:t>
            </a:r>
          </a:p>
        </p:txBody>
      </p:sp>
    </p:spTree>
    <p:extLst>
      <p:ext uri="{BB962C8B-B14F-4D97-AF65-F5344CB8AC3E}">
        <p14:creationId xmlns:p14="http://schemas.microsoft.com/office/powerpoint/2010/main" val="989320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91E2F-F602-7FD2-3B3C-575C901CD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376" y="323381"/>
            <a:ext cx="11500624" cy="670188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1. </a:t>
            </a:r>
            <a:r>
              <a:rPr lang="en-IN" b="1" dirty="0"/>
              <a:t>Improves Decision-Making            </a:t>
            </a:r>
          </a:p>
          <a:p>
            <a:pPr marL="0" indent="0">
              <a:buNone/>
            </a:pPr>
            <a:r>
              <a:rPr lang="en-IN" dirty="0"/>
              <a:t>→ Predicts future insights, helping organizations make smarter, data-driven decisions.</a:t>
            </a:r>
          </a:p>
          <a:p>
            <a:pPr marL="0" indent="0">
              <a:buNone/>
            </a:pPr>
            <a:r>
              <a:rPr lang="en-IN" dirty="0"/>
              <a:t>→ PA gives decision-makers clear insights about what is likely to happen.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/>
                </a:solidFill>
              </a:rPr>
              <a:t>→ Instead of relying on intuition, decisions are made based on data &amp; statistical evidence.</a:t>
            </a:r>
          </a:p>
          <a:p>
            <a:pPr marL="0" indent="0">
              <a:buNone/>
            </a:pPr>
            <a:r>
              <a:rPr lang="en-IN" dirty="0"/>
              <a:t>Eg: A bank predicts that a customer has a high probability of loan default. The bank reviews the customer's application carefully before approving the loan.</a:t>
            </a:r>
          </a:p>
          <a:p>
            <a:pPr marL="0" indent="0">
              <a:buNone/>
            </a:pPr>
            <a:r>
              <a:rPr lang="en-IN" dirty="0"/>
              <a:t>2. </a:t>
            </a:r>
            <a:r>
              <a:rPr lang="en-IN" b="1" dirty="0"/>
              <a:t>Reduced Uncertainty</a:t>
            </a:r>
          </a:p>
          <a:p>
            <a:pPr marL="0" indent="0">
              <a:buNone/>
            </a:pPr>
            <a:r>
              <a:rPr lang="en-IN" dirty="0"/>
              <a:t>→ One of the biggest challenges in business is uncertainty about future outcomes.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/>
                </a:solidFill>
              </a:rPr>
              <a:t>→ Predictive models estimate what is likely to happen in the future; this reduces unpredictability.</a:t>
            </a:r>
          </a:p>
          <a:p>
            <a:pPr marL="0" indent="0">
              <a:buNone/>
            </a:pPr>
            <a:r>
              <a:rPr lang="en-IN" dirty="0"/>
              <a:t>→ Helps organizations plan ahead.</a:t>
            </a:r>
          </a:p>
          <a:p>
            <a:pPr marL="0" indent="0">
              <a:buNone/>
            </a:pPr>
            <a:r>
              <a:rPr lang="en-IN" dirty="0"/>
              <a:t>→ Example: Predicting product demand helps organizations prepare resources in advance.  A supermarket predicts that demand for umbrellas will increase during the rainy season. It stocks more umbrellas in advance instead of guessing how many will be needed. </a:t>
            </a:r>
            <a:r>
              <a:rPr lang="en-IN" b="1" dirty="0"/>
              <a:t>Effect:</a:t>
            </a:r>
            <a:r>
              <a:rPr lang="en-IN" dirty="0"/>
              <a:t> It has sufficient stock and reduces uncertainty about future demand.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989E69-5861-F379-7A3A-8E1EC9A37844}"/>
              </a:ext>
            </a:extLst>
          </p:cNvPr>
          <p:cNvSpPr txBox="1"/>
          <p:nvPr/>
        </p:nvSpPr>
        <p:spPr>
          <a:xfrm>
            <a:off x="7839303" y="227932"/>
            <a:ext cx="61331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Factors Affecting Prediction Effect</a:t>
            </a:r>
          </a:p>
        </p:txBody>
      </p:sp>
    </p:spTree>
    <p:extLst>
      <p:ext uri="{BB962C8B-B14F-4D97-AF65-F5344CB8AC3E}">
        <p14:creationId xmlns:p14="http://schemas.microsoft.com/office/powerpoint/2010/main" val="966363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B7765-786E-3969-9274-9B33EDE39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73" y="184404"/>
            <a:ext cx="11256227" cy="65843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dirty="0"/>
              <a:t>3</a:t>
            </a:r>
            <a:r>
              <a:rPr lang="en-IN" sz="2000" b="1" dirty="0"/>
              <a:t>. Increases Accuracy</a:t>
            </a:r>
          </a:p>
          <a:p>
            <a:pPr marL="0" indent="0">
              <a:buNone/>
            </a:pPr>
            <a:r>
              <a:rPr lang="en-IN" sz="2000" dirty="0"/>
              <a:t>→ Using ML models improves the accuracy of forecasts in sales, demand, risk, or customer behaviour.</a:t>
            </a:r>
          </a:p>
          <a:p>
            <a:pPr marL="0" indent="0">
              <a:buNone/>
            </a:pPr>
            <a:r>
              <a:rPr lang="en-IN" sz="2000" dirty="0"/>
              <a:t>→ Manual forecasting often leads to errors.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accent1"/>
                </a:solidFill>
              </a:rPr>
              <a:t>→ Prediction models improve accuracy because they learn from large amounts of historical data.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accent1"/>
                </a:solidFill>
              </a:rPr>
              <a:t>→ Accurate predictions allow organizations to optimize operations, reduce wastage, and meet customer expectations more effectively.</a:t>
            </a:r>
          </a:p>
          <a:p>
            <a:pPr marL="0" indent="0">
              <a:buNone/>
            </a:pPr>
            <a:r>
              <a:rPr lang="en-IN" sz="2000" dirty="0"/>
              <a:t>Eg: (</a:t>
            </a:r>
            <a:r>
              <a:rPr lang="en-IN" sz="2000" b="1" dirty="0"/>
              <a:t>Sales Forecasting</a:t>
            </a:r>
            <a:r>
              <a:rPr lang="en-IN" sz="2000" dirty="0"/>
              <a:t>) A company uses an ML model to predict next month's product sales using previous sales, seasonal trends, and customer behaviour. The forecast is more accurate than a manual estimate.</a:t>
            </a:r>
          </a:p>
          <a:p>
            <a:pPr marL="0" indent="0">
              <a:buNone/>
            </a:pPr>
            <a:r>
              <a:rPr lang="en-IN" sz="2000" dirty="0"/>
              <a:t>4. </a:t>
            </a:r>
            <a:r>
              <a:rPr lang="en-IN" sz="2000" b="1" dirty="0"/>
              <a:t>Minimizes Risk</a:t>
            </a:r>
          </a:p>
          <a:p>
            <a:pPr marL="0" indent="0">
              <a:buNone/>
            </a:pPr>
            <a:r>
              <a:rPr lang="en-IN" sz="2000" dirty="0"/>
              <a:t>→ Predictive analytics helps identify potential problems early.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accent1"/>
                </a:solidFill>
              </a:rPr>
              <a:t>→ Early prediction of failures, fraud, health risks, etc. allows organizations to take preventive actions</a:t>
            </a:r>
            <a:r>
              <a:rPr lang="en-IN" sz="2000" dirty="0"/>
              <a:t>.</a:t>
            </a:r>
          </a:p>
          <a:p>
            <a:pPr marL="0" indent="0">
              <a:buNone/>
            </a:pPr>
            <a:r>
              <a:rPr lang="en-IN" sz="2000" dirty="0"/>
              <a:t>→ Predicting fraud saves companies from financial losses.</a:t>
            </a:r>
          </a:p>
          <a:p>
            <a:pPr marL="0" indent="0">
              <a:buNone/>
            </a:pPr>
            <a:r>
              <a:rPr lang="en-IN" sz="2000" dirty="0"/>
              <a:t>→ Predicting health risks helps in early diagnosis.</a:t>
            </a:r>
          </a:p>
          <a:p>
            <a:pPr marL="0" indent="0">
              <a:buNone/>
            </a:pPr>
            <a:r>
              <a:rPr lang="en-IN" sz="2000" dirty="0"/>
              <a:t>Eg: A bank uses a fraud-detection model to predict whether a transaction is fraudulent. A suspicious transaction is blocked or verified before money is lost and contact customer. </a:t>
            </a:r>
            <a:r>
              <a:rPr lang="en-IN" sz="2000" b="1" dirty="0"/>
              <a:t>Effect:</a:t>
            </a:r>
            <a:r>
              <a:rPr lang="en-IN" sz="2000" dirty="0"/>
              <a:t> Potential financial loss is prevented.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71285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54825-1D93-ECBB-E6DB-50C517E95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863" y="122667"/>
            <a:ext cx="10773937" cy="567515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5. Save Time &amp; Cost</a:t>
            </a:r>
          </a:p>
          <a:p>
            <a:pPr marL="0" indent="0">
              <a:buNone/>
            </a:pPr>
            <a:r>
              <a:rPr lang="en-IN" sz="2000" dirty="0"/>
              <a:t>→ Automated predictions reduce manual analysis and speed up decision-making.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accent1"/>
                </a:solidFill>
              </a:rPr>
              <a:t>→ By predicting future outcomes, companies avoid unnecessary expenses and improve productivity.</a:t>
            </a:r>
          </a:p>
          <a:p>
            <a:pPr marL="0" indent="0" algn="just">
              <a:buNone/>
            </a:pPr>
            <a:r>
              <a:rPr lang="en-IN" sz="2000" b="1" dirty="0"/>
              <a:t>Example:</a:t>
            </a:r>
            <a:r>
              <a:rPr lang="en-IN" sz="2000" dirty="0"/>
              <a:t> Predicting sales accurately avoids overproduction and reduces inventory costs. A manufacturing company predicts when a machine is likely to fail and performs maintenance before failure occurs. This reduces repair costs and production downtime. </a:t>
            </a:r>
            <a:r>
              <a:rPr lang="en-US" sz="2000" dirty="0"/>
              <a:t>manufacturing company predicts when a machine is likely to fail and performs maintenance before failure occurs. This reduces repair costs and production downtime. </a:t>
            </a:r>
          </a:p>
          <a:p>
            <a:pPr marL="0" indent="0">
              <a:buNone/>
            </a:pPr>
            <a:r>
              <a:rPr lang="en-IN" sz="2000" b="1" dirty="0"/>
              <a:t>Without prediction:  </a:t>
            </a:r>
            <a:r>
              <a:rPr lang="en-IN" sz="2000" dirty="0"/>
              <a:t>Machine Failure → Production Stopped → Repair Cost</a:t>
            </a:r>
          </a:p>
          <a:p>
            <a:pPr marL="0" indent="0">
              <a:buNone/>
            </a:pPr>
            <a:r>
              <a:rPr lang="en-IN" sz="2000" b="1" dirty="0"/>
              <a:t>With prediction: </a:t>
            </a:r>
            <a:r>
              <a:rPr lang="en-IN" sz="2000" dirty="0"/>
              <a:t>Failure Predicted → Preventive Maintenance → Reduced Downtime</a:t>
            </a:r>
          </a:p>
          <a:p>
            <a:pPr marL="0" indent="0">
              <a:buNone/>
            </a:pPr>
            <a:r>
              <a:rPr lang="en-IN" sz="2000" dirty="0"/>
              <a:t>6. </a:t>
            </a:r>
            <a:r>
              <a:rPr lang="en-IN" sz="2000" b="1" dirty="0"/>
              <a:t>Enhances Efficiency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accent1"/>
                </a:solidFill>
              </a:rPr>
              <a:t>→ Businesses can respond faster, more manually and more accurately when predictions are integrated into workflows.</a:t>
            </a:r>
          </a:p>
          <a:p>
            <a:pPr marL="0" indent="0">
              <a:buNone/>
            </a:pPr>
            <a:r>
              <a:rPr lang="en-IN" sz="2000" dirty="0"/>
              <a:t>→ Operations become faster, smoother and more efficient.</a:t>
            </a:r>
          </a:p>
          <a:p>
            <a:pPr marL="0" indent="0">
              <a:buNone/>
            </a:pPr>
            <a:r>
              <a:rPr lang="en-IN" sz="2000" dirty="0"/>
              <a:t>Eg: A food-delivery company predicts the number of orders expected between 7 PM and 9 PM. It allocates more delivery partners during that period, resulting in faster deliveries.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02525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4432A-35B3-E093-410B-4248DFEDC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595" y="223026"/>
            <a:ext cx="10941205" cy="59427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dirty="0"/>
              <a:t>7. </a:t>
            </a:r>
            <a:r>
              <a:rPr lang="en-IN" sz="2000" b="1" dirty="0"/>
              <a:t>Better Customer Experience</a:t>
            </a:r>
          </a:p>
          <a:p>
            <a:pPr marL="0" indent="0">
              <a:buNone/>
            </a:pPr>
            <a:r>
              <a:rPr lang="en-IN" sz="2000" dirty="0"/>
              <a:t>→ With PA, companies can find user needs.</a:t>
            </a:r>
          </a:p>
          <a:p>
            <a:pPr marL="0" indent="0">
              <a:buNone/>
            </a:pPr>
            <a:r>
              <a:rPr lang="en-IN" sz="2000" dirty="0"/>
              <a:t>→</a:t>
            </a:r>
            <a:r>
              <a:rPr lang="en-IN" sz="2000" dirty="0">
                <a:solidFill>
                  <a:schemeClr val="accent1"/>
                </a:solidFill>
              </a:rPr>
              <a:t> Accurate predictions help businesses provide better services, better responses and customized solutions.</a:t>
            </a:r>
          </a:p>
          <a:p>
            <a:pPr marL="0" indent="0">
              <a:buNone/>
            </a:pPr>
            <a:r>
              <a:rPr lang="en-IN" sz="2000" dirty="0"/>
              <a:t>Example: Recommending products and providing personalized offers.</a:t>
            </a:r>
          </a:p>
          <a:p>
            <a:pPr marL="0" indent="0">
              <a:buNone/>
            </a:pPr>
            <a:r>
              <a:rPr lang="en-IN" sz="2000" dirty="0"/>
              <a:t>An e-commerce website like Netflix/Amazon-style Recommendation predicts products a customer may like and recommends them. Customers find relevant products more easily and receive personalized offers. </a:t>
            </a:r>
            <a:r>
              <a:rPr lang="en-IN" sz="2000" b="1" dirty="0"/>
              <a:t>Prediction → Personalization → Better customer experience</a:t>
            </a:r>
          </a:p>
          <a:p>
            <a:pPr marL="0" indent="0">
              <a:buNone/>
            </a:pPr>
            <a:r>
              <a:rPr lang="en-IN" sz="2000" dirty="0"/>
              <a:t>8. </a:t>
            </a:r>
            <a:r>
              <a:rPr lang="en-IN" sz="2000" b="1" dirty="0"/>
              <a:t>Competitive Advantage</a:t>
            </a:r>
          </a:p>
          <a:p>
            <a:pPr marL="0" indent="0">
              <a:buNone/>
            </a:pPr>
            <a:r>
              <a:rPr lang="en-IN" sz="2000" dirty="0"/>
              <a:t>→ </a:t>
            </a:r>
            <a:r>
              <a:rPr lang="en-IN" sz="2000" dirty="0">
                <a:solidFill>
                  <a:schemeClr val="accent1"/>
                </a:solidFill>
              </a:rPr>
              <a:t>Organizations that use PA gain an edge over competitors.</a:t>
            </a:r>
          </a:p>
          <a:p>
            <a:pPr marL="0" indent="0">
              <a:buNone/>
            </a:pPr>
            <a:r>
              <a:rPr lang="en-IN" sz="2000" dirty="0"/>
              <a:t>→ They become faster, more accurate, and more adaptable to market changes.</a:t>
            </a:r>
          </a:p>
          <a:p>
            <a:pPr marL="0" indent="0">
              <a:buNone/>
            </a:pPr>
            <a:r>
              <a:rPr lang="en-IN" sz="2000" dirty="0"/>
              <a:t>→ This helps in capturing new opportunities and expanding business.</a:t>
            </a:r>
          </a:p>
          <a:p>
            <a:pPr marL="0" indent="0">
              <a:buNone/>
            </a:pPr>
            <a:r>
              <a:rPr lang="en-IN" sz="2000" dirty="0"/>
              <a:t>Eg: An airline predicts future travel (High demand for Hyderabad → Delhi flights during a particular week) demand and adjusts ticket prices and flight capacity accordingly. It can respond to market changes faster than competitors. A competitor that reacts only after demand increases may respond too late.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25274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E0661-142C-B216-ABCB-73B7AB05B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132" y="657922"/>
            <a:ext cx="10606668" cy="551904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b="1" dirty="0"/>
              <a:t>9. Supports Continuous Improvement</a:t>
            </a:r>
          </a:p>
          <a:p>
            <a:pPr marL="0" indent="0">
              <a:buNone/>
            </a:pPr>
            <a:r>
              <a:rPr lang="en-IN" dirty="0"/>
              <a:t>→ Prediction models are regularly monitored and updated.</a:t>
            </a:r>
          </a:p>
          <a:p>
            <a:pPr marL="0" indent="0">
              <a:buNone/>
            </a:pPr>
            <a:r>
              <a:rPr lang="en-IN" dirty="0"/>
              <a:t>→ This improves their accuracy.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/>
                </a:solidFill>
              </a:rPr>
              <a:t>→ Continuous improvement enhances long-term business benefits and sustainable growth.</a:t>
            </a:r>
          </a:p>
          <a:p>
            <a:r>
              <a:rPr lang="en-IN" dirty="0"/>
              <a:t>Eg: an online recommendation system continuously collects customer responses, monitors prediction performance, and retrains its ML model. Over time, the recommendations become more accurate. </a:t>
            </a:r>
          </a:p>
          <a:p>
            <a:pPr marL="0" indent="0">
              <a:buNone/>
            </a:pPr>
            <a:r>
              <a:rPr lang="en-IN" dirty="0"/>
              <a:t>Like an e-commerce model recommends products based on historical customer data.  After deployment, the system continuously collects:</a:t>
            </a:r>
          </a:p>
          <a:p>
            <a:pPr lvl="0"/>
            <a:r>
              <a:rPr lang="en-IN" dirty="0"/>
              <a:t>Products viewed ,Products purchased , Products ignored ,Customer ratings , Search behaviour hence The model is periodically retrained.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7744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9DFA9-2268-46D6-A85D-B3B563481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of prediction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6C720-4CB2-F663-03F0-934C12F3C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It’s a process of integrating a trained ML model  into a production environment where it can process real world data and provide  prediction</a:t>
            </a:r>
          </a:p>
          <a:p>
            <a:r>
              <a:rPr lang="en-US" dirty="0"/>
              <a:t> steps:   define problem statement -&gt;data correction-&gt; data cleaning-&gt; data analysis-&gt; build predictive model-&gt; validate model-&gt; deployment-&gt;monitor and predict model-&gt;take actions or decisions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2397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18682-87A3-C319-3DA4-47069BC27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51" y="256478"/>
            <a:ext cx="11597268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1. Define Problem statement:</a:t>
            </a:r>
          </a:p>
          <a:p>
            <a:pPr marL="0" indent="0">
              <a:buNone/>
            </a:pPr>
            <a:r>
              <a:rPr lang="en-IN" sz="2000" dirty="0"/>
              <a:t>→ The first step is to clearly define the business problem and the type of prediction required.</a:t>
            </a:r>
          </a:p>
          <a:p>
            <a:pPr marL="0" indent="0">
              <a:buNone/>
            </a:pPr>
            <a:r>
              <a:rPr lang="en-IN" sz="2000" dirty="0"/>
              <a:t>→ Clearly identify what you expect to predict. Here, we clearly understand what problems we are trying to solve using prediction.</a:t>
            </a:r>
          </a:p>
          <a:p>
            <a:pPr marL="0" indent="0">
              <a:buNone/>
            </a:pPr>
            <a:r>
              <a:rPr lang="en-IN" sz="2000" b="1" dirty="0"/>
              <a:t>2. Data Collection:</a:t>
            </a:r>
          </a:p>
          <a:p>
            <a:pPr marL="0" indent="0">
              <a:buNone/>
            </a:pPr>
            <a:r>
              <a:rPr lang="en-IN" sz="2000" dirty="0"/>
              <a:t>→ After defining the problem, the next step is collecting relevant data.</a:t>
            </a:r>
          </a:p>
          <a:p>
            <a:pPr marL="0" indent="0">
              <a:buNone/>
            </a:pPr>
            <a:r>
              <a:rPr lang="en-IN" sz="2000" dirty="0"/>
              <a:t>→ Data comes from various sources — databases, sensors, surveys, logs, etc.</a:t>
            </a:r>
          </a:p>
          <a:p>
            <a:pPr marL="0" indent="0">
              <a:buNone/>
            </a:pPr>
            <a:r>
              <a:rPr lang="en-IN" sz="2000" dirty="0"/>
              <a:t>→ Good predictive models depend on the quality and quantity of data collected.</a:t>
            </a:r>
          </a:p>
          <a:p>
            <a:pPr marL="0" indent="0">
              <a:buNone/>
            </a:pPr>
            <a:r>
              <a:rPr lang="en-IN" sz="2000" b="1" dirty="0"/>
              <a:t>3. Data Cleaning:</a:t>
            </a:r>
          </a:p>
          <a:p>
            <a:pPr marL="0" indent="0">
              <a:buNone/>
            </a:pPr>
            <a:r>
              <a:rPr lang="en-IN" sz="2000" dirty="0"/>
              <a:t>→ Data contains noise, missing values, duplicates, etc.</a:t>
            </a:r>
          </a:p>
          <a:p>
            <a:pPr marL="0" indent="0">
              <a:buNone/>
            </a:pPr>
            <a:r>
              <a:rPr lang="en-IN" sz="2000" dirty="0"/>
              <a:t>→ In this step: Removes missing values, outliers, duplicates, incorrect entries and converts raw data into a usable format. </a:t>
            </a:r>
          </a:p>
          <a:p>
            <a:pPr marL="0" lvl="0" indent="0">
              <a:buNone/>
            </a:pPr>
            <a:r>
              <a:rPr lang="en-IN" sz="2000" dirty="0"/>
              <a:t>Raw data is often incorrect and incomplete. Data cleaning improves the </a:t>
            </a:r>
            <a:r>
              <a:rPr lang="en-IN" sz="2000" b="1" dirty="0"/>
              <a:t>accuracy and reliability of the model</a:t>
            </a:r>
            <a:r>
              <a:rPr lang="en-IN" sz="2000" dirty="0"/>
              <a:t>. </a:t>
            </a:r>
          </a:p>
          <a:p>
            <a:pPr marL="0" indent="0">
              <a:buNone/>
            </a:pPr>
            <a:r>
              <a:rPr lang="en-IN" sz="2000" b="1" dirty="0"/>
              <a:t>4. Data Analysis: </a:t>
            </a:r>
            <a:r>
              <a:rPr lang="en-IN" sz="2000" dirty="0"/>
              <a:t> Performs EDA (Exploratory Data Analysis).</a:t>
            </a:r>
          </a:p>
          <a:p>
            <a:pPr lvl="0"/>
            <a:r>
              <a:rPr lang="en-IN" sz="2000" dirty="0"/>
              <a:t> understanding data patterns, Identifying correlations , Visualizing data ,Checking relationships between variables .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63091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EE777-4E93-3FDB-C2F8-D9472CCCB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376" y="200722"/>
            <a:ext cx="10662424" cy="59762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5. Build Model</a:t>
            </a:r>
          </a:p>
          <a:p>
            <a:pPr marL="0" indent="0">
              <a:buNone/>
            </a:pPr>
            <a:r>
              <a:rPr lang="en-IN" sz="2000" dirty="0"/>
              <a:t>→ Choose appropriate algorithms for training the model using cleaned data and generate predictions.  Here we apply appropriate ML algorithms: Regression Models ,Decision Trees , Neural Networks ,SVM ,Clustering . </a:t>
            </a:r>
          </a:p>
          <a:p>
            <a:pPr marL="0" indent="0">
              <a:buNone/>
            </a:pPr>
            <a:r>
              <a:rPr lang="en-IN" sz="2000" dirty="0"/>
              <a:t>→ The model is trained using the cleaned and </a:t>
            </a:r>
            <a:r>
              <a:rPr lang="en-IN" sz="2000" dirty="0" err="1"/>
              <a:t>preprocessed</a:t>
            </a:r>
            <a:r>
              <a:rPr lang="en-IN" sz="2000" dirty="0"/>
              <a:t> data and then save model (model serialization)</a:t>
            </a:r>
          </a:p>
          <a:p>
            <a:pPr marL="0" indent="0">
              <a:buNone/>
            </a:pPr>
            <a:r>
              <a:rPr lang="en-IN" sz="2000" b="1" dirty="0"/>
              <a:t>6. Validate</a:t>
            </a:r>
          </a:p>
          <a:p>
            <a:pPr marL="0" indent="0">
              <a:buNone/>
            </a:pPr>
            <a:r>
              <a:rPr lang="en-IN" sz="2000" dirty="0"/>
              <a:t>→ Validation checks how well the model performs on unseen data.</a:t>
            </a:r>
          </a:p>
          <a:p>
            <a:pPr marL="0" indent="0">
              <a:buNone/>
            </a:pPr>
            <a:r>
              <a:rPr lang="en-IN" sz="2000" dirty="0"/>
              <a:t>→ Evaluate model performance using metrics like: Accuracy ,Precision ,Recall , RMSE </a:t>
            </a:r>
          </a:p>
          <a:p>
            <a:pPr marL="0" lvl="0" indent="0">
              <a:buNone/>
            </a:pPr>
            <a:r>
              <a:rPr lang="en-IN" sz="2000" dirty="0"/>
              <a:t>-&gt; Model with best performance is selected. </a:t>
            </a:r>
          </a:p>
          <a:p>
            <a:pPr marL="0" indent="0">
              <a:buNone/>
            </a:pPr>
            <a:r>
              <a:rPr lang="en-IN" sz="2000" dirty="0"/>
              <a:t>→ Cross-validation can also be used to evaluate model performance more reliably.</a:t>
            </a:r>
          </a:p>
          <a:p>
            <a:pPr marL="0" indent="0">
              <a:buNone/>
            </a:pPr>
            <a:r>
              <a:rPr lang="en-IN" sz="2000" b="1" dirty="0"/>
              <a:t>7. Deployment</a:t>
            </a:r>
          </a:p>
          <a:p>
            <a:pPr marL="0" indent="0">
              <a:buNone/>
            </a:pPr>
            <a:r>
              <a:rPr lang="en-IN" sz="2000" dirty="0"/>
              <a:t>→ Once validated, the model is deployed into a production environment.</a:t>
            </a:r>
          </a:p>
          <a:p>
            <a:pPr marL="0" indent="0">
              <a:buNone/>
            </a:pPr>
            <a:r>
              <a:rPr lang="en-IN" sz="2000" dirty="0"/>
              <a:t>→ Deployment can be done in several ways:</a:t>
            </a:r>
          </a:p>
          <a:p>
            <a:pPr marL="0" lvl="0" indent="0">
              <a:buNone/>
            </a:pPr>
            <a:r>
              <a:rPr lang="en-IN" sz="2000" dirty="0"/>
              <a:t>Integrating the model into a web or mobile application. </a:t>
            </a:r>
          </a:p>
          <a:p>
            <a:pPr marL="0" lvl="0" indent="0">
              <a:buNone/>
            </a:pPr>
            <a:r>
              <a:rPr lang="en-IN" sz="2000" dirty="0"/>
              <a:t>Deploying through APIs or cloud services. </a:t>
            </a:r>
          </a:p>
          <a:p>
            <a:pPr marL="0" indent="0">
              <a:buNone/>
            </a:pPr>
            <a:r>
              <a:rPr lang="en-IN" sz="2000" dirty="0"/>
              <a:t>→ After deployment, the model can accept new input data and generate real-time predictions for end users.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82134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F7EDD0-9F78-F0F6-5FAD-97B9A55E2F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5455301"/>
              </p:ext>
            </p:extLst>
          </p:nvPr>
        </p:nvGraphicFramePr>
        <p:xfrm>
          <a:off x="0" y="0"/>
          <a:ext cx="8015868" cy="2351558"/>
        </p:xfrm>
        <a:graphic>
          <a:graphicData uri="http://schemas.openxmlformats.org/drawingml/2006/table">
            <a:tbl>
              <a:tblPr/>
              <a:tblGrid>
                <a:gridCol w="2344691">
                  <a:extLst>
                    <a:ext uri="{9D8B030D-6E8A-4147-A177-3AD203B41FA5}">
                      <a16:colId xmlns:a16="http://schemas.microsoft.com/office/drawing/2014/main" val="4006644530"/>
                    </a:ext>
                  </a:extLst>
                </a:gridCol>
                <a:gridCol w="5671177">
                  <a:extLst>
                    <a:ext uri="{9D8B030D-6E8A-4147-A177-3AD203B41FA5}">
                      <a16:colId xmlns:a16="http://schemas.microsoft.com/office/drawing/2014/main" val="253448694"/>
                    </a:ext>
                  </a:extLst>
                </a:gridCol>
              </a:tblGrid>
              <a:tr h="348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Model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Model Deployment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425709"/>
                  </a:ext>
                </a:extLst>
              </a:tr>
              <a:tr h="348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Model is built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Model is put into actual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735828"/>
                  </a:ext>
                </a:extLst>
              </a:tr>
              <a:tr h="348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Uses historical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Uses new/real-world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2626"/>
                  </a:ext>
                </a:extLst>
              </a:tr>
              <a:tr h="348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Training and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Prediction and decision-making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1859659"/>
                  </a:ext>
                </a:extLst>
              </a:tr>
              <a:tr h="348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Mainly experimental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Production environment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948650"/>
                  </a:ext>
                </a:extLst>
              </a:tr>
              <a:tr h="609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Focus on model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Focus on performance + reliability + business 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45004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8D8FA40-5A64-EED1-4E2B-8BB0F95D9DF7}"/>
              </a:ext>
            </a:extLst>
          </p:cNvPr>
          <p:cNvSpPr txBox="1"/>
          <p:nvPr/>
        </p:nvSpPr>
        <p:spPr>
          <a:xfrm>
            <a:off x="0" y="2482477"/>
            <a:ext cx="1183330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Real-Time Deployment </a:t>
            </a:r>
          </a:p>
          <a:p>
            <a:pPr>
              <a:buNone/>
            </a:pPr>
            <a:r>
              <a:rPr lang="en-IN" sz="1600" dirty="0"/>
              <a:t>Consider a </a:t>
            </a:r>
            <a:r>
              <a:rPr lang="en-IN" sz="1600" b="1" dirty="0"/>
              <a:t>credit-card fraud detection system</a:t>
            </a:r>
            <a:r>
              <a:rPr lang="en-IN" sz="1600" dirty="0"/>
              <a:t>.</a:t>
            </a:r>
          </a:p>
          <a:p>
            <a:pPr>
              <a:buNone/>
            </a:pPr>
            <a:r>
              <a:rPr lang="en-IN" sz="1600" dirty="0"/>
              <a:t>A customer makes a transaction:</a:t>
            </a:r>
          </a:p>
          <a:p>
            <a:pPr>
              <a:buNone/>
            </a:pPr>
            <a:r>
              <a:rPr lang="en-IN" sz="1600" dirty="0"/>
              <a:t>₹1,50,000 transaction from an unusual location.</a:t>
            </a:r>
          </a:p>
          <a:p>
            <a:pPr>
              <a:buNone/>
            </a:pPr>
            <a:r>
              <a:rPr lang="en-IN" sz="1600" dirty="0"/>
              <a:t>The deployed model immediately receives the transaction details.</a:t>
            </a:r>
          </a:p>
          <a:p>
            <a:r>
              <a:rPr lang="en-IN" sz="1600" dirty="0"/>
              <a:t>Credit Card Transaction-&gt;Data Preprocessing-&gt;Deployed ML Model-&gt;Fraud Probability = 96%-&gt;High Risk-&gt;Transaction Flagged-&gt;Customer Verification                     This is an example of </a:t>
            </a:r>
            <a:r>
              <a:rPr lang="en-IN" sz="1600" b="1" dirty="0"/>
              <a:t>real-time prediction</a:t>
            </a:r>
            <a:r>
              <a:rPr lang="en-IN" sz="1600" dirty="0"/>
              <a:t>.</a:t>
            </a:r>
          </a:p>
          <a:p>
            <a:pPr>
              <a:buNone/>
            </a:pPr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CE598D-8F88-165B-30DC-7653616E549D}"/>
              </a:ext>
            </a:extLst>
          </p:cNvPr>
          <p:cNvSpPr txBox="1"/>
          <p:nvPr/>
        </p:nvSpPr>
        <p:spPr>
          <a:xfrm>
            <a:off x="0" y="4471631"/>
            <a:ext cx="1026934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Batch Deployment</a:t>
            </a:r>
          </a:p>
          <a:p>
            <a:pPr>
              <a:buNone/>
            </a:pPr>
            <a:r>
              <a:rPr lang="en-IN" sz="1600" dirty="0"/>
              <a:t>Not all models need to make predictions immediately.</a:t>
            </a:r>
          </a:p>
          <a:p>
            <a:pPr>
              <a:buNone/>
            </a:pPr>
            <a:r>
              <a:rPr lang="en-IN" sz="1600" dirty="0"/>
              <a:t>In </a:t>
            </a:r>
            <a:r>
              <a:rPr lang="en-IN" sz="1600" b="1" dirty="0"/>
              <a:t>batch deployment</a:t>
            </a:r>
            <a:r>
              <a:rPr lang="en-IN" sz="1600" dirty="0"/>
              <a:t>, a large amount of data is collected and predictions are generated periodically.</a:t>
            </a:r>
          </a:p>
          <a:p>
            <a:pPr>
              <a:buNone/>
            </a:pPr>
            <a:r>
              <a:rPr lang="en-IN" sz="1600" b="1" dirty="0"/>
              <a:t>Example: Sales Forecasting</a:t>
            </a:r>
          </a:p>
          <a:p>
            <a:pPr>
              <a:buNone/>
            </a:pPr>
            <a:r>
              <a:rPr lang="en-IN" sz="1600" dirty="0"/>
              <a:t>A supermarket collects sales data every day.</a:t>
            </a:r>
          </a:p>
          <a:p>
            <a:pPr>
              <a:buNone/>
            </a:pPr>
            <a:r>
              <a:rPr lang="en-IN" sz="1600" dirty="0"/>
              <a:t>At midnight, the deployed model processes the day's data and predicts the demand for the next day.</a:t>
            </a:r>
          </a:p>
          <a:p>
            <a:pPr>
              <a:buNone/>
            </a:pPr>
            <a:r>
              <a:rPr lang="en-US" sz="1600" dirty="0"/>
              <a:t>Daily Sales Data-&gt;Batch Processing-&gt;Prediction Model-&gt;Tomorrow's Demand-&gt;Inventory Planning</a:t>
            </a:r>
          </a:p>
          <a:p>
            <a:r>
              <a:rPr lang="en-IN" sz="1600" dirty="0"/>
              <a:t>For example: Predicted demand for milk tomorrow = </a:t>
            </a:r>
            <a:r>
              <a:rPr lang="en-IN" sz="1600" b="1" dirty="0"/>
              <a:t>2,500 packets</a:t>
            </a:r>
            <a:endParaRPr lang="en-IN" sz="1600" dirty="0"/>
          </a:p>
          <a:p>
            <a:r>
              <a:rPr lang="en-IN" sz="1600" dirty="0"/>
              <a:t>The supermarket can stock approximately the required quantity.</a:t>
            </a:r>
          </a:p>
          <a:p>
            <a:pPr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015165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BF118-6658-BFEC-FBAB-0A3D5432C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492" y="468351"/>
            <a:ext cx="10506307" cy="570861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b="1" dirty="0"/>
              <a:t>Deployment Options</a:t>
            </a:r>
          </a:p>
          <a:p>
            <a:pPr marL="0" lvl="0" indent="0">
              <a:buNone/>
            </a:pPr>
            <a:r>
              <a:rPr lang="en-IN" dirty="0"/>
              <a:t>Cloud Platforms: Azure, Google Cloud, AWS </a:t>
            </a:r>
          </a:p>
          <a:p>
            <a:pPr marL="0" lvl="0" indent="0">
              <a:buNone/>
            </a:pPr>
            <a:r>
              <a:rPr lang="en-IN" dirty="0"/>
              <a:t>Containerization: Containers for easy deployment and scalability </a:t>
            </a:r>
          </a:p>
          <a:p>
            <a:pPr marL="0" lvl="0" indent="0">
              <a:buNone/>
            </a:pPr>
            <a:r>
              <a:rPr lang="en-IN" dirty="0"/>
              <a:t>Model Service Platforms: TensorFlow Serving, etc. </a:t>
            </a:r>
          </a:p>
          <a:p>
            <a:pPr marL="0" indent="0">
              <a:buNone/>
            </a:pPr>
            <a:r>
              <a:rPr lang="en-IN" b="1" dirty="0"/>
              <a:t>Benefits</a:t>
            </a:r>
          </a:p>
          <a:p>
            <a:pPr marL="0" lvl="0" indent="0">
              <a:buNone/>
            </a:pPr>
            <a:r>
              <a:rPr lang="en-IN" dirty="0"/>
              <a:t>Real-time predictions , Scalability , Automation </a:t>
            </a:r>
          </a:p>
          <a:p>
            <a:pPr marL="0" indent="0">
              <a:buNone/>
            </a:pPr>
            <a:r>
              <a:rPr lang="en-IN" b="1" dirty="0"/>
              <a:t>Challenges</a:t>
            </a:r>
          </a:p>
          <a:p>
            <a:pPr marL="0" lvl="0" indent="0">
              <a:buNone/>
            </a:pPr>
            <a:r>
              <a:rPr lang="en-IN" dirty="0"/>
              <a:t>Data Quality , Security &amp; Compliance</a:t>
            </a:r>
          </a:p>
          <a:p>
            <a:pPr marL="0" indent="0">
              <a:buNone/>
            </a:pPr>
            <a:r>
              <a:rPr lang="en-IN" b="1" dirty="0"/>
              <a:t>Deployment Types</a:t>
            </a:r>
          </a:p>
          <a:p>
            <a:pPr marL="0" lvl="0" indent="0">
              <a:buNone/>
            </a:pPr>
            <a:r>
              <a:rPr lang="en-IN" b="1" dirty="0"/>
              <a:t>Batch Deployment</a:t>
            </a:r>
            <a:r>
              <a:rPr lang="en-IN" dirty="0"/>
              <a:t> → Predict at scheduled times. </a:t>
            </a:r>
          </a:p>
          <a:p>
            <a:pPr marL="0" lvl="0" indent="0">
              <a:buNone/>
            </a:pPr>
            <a:r>
              <a:rPr lang="en-IN" b="1" dirty="0"/>
              <a:t>Real-time Deployment</a:t>
            </a:r>
            <a:r>
              <a:rPr lang="en-IN" dirty="0"/>
              <a:t> → Predict immediately on new data. </a:t>
            </a:r>
          </a:p>
          <a:p>
            <a:pPr marL="0" lvl="0" indent="0">
              <a:buNone/>
            </a:pPr>
            <a:r>
              <a:rPr lang="en-IN" b="1" dirty="0"/>
              <a:t>Edge Deployment</a:t>
            </a:r>
            <a:r>
              <a:rPr lang="en-IN" dirty="0"/>
              <a:t> → Model runs on a device, e.g., </a:t>
            </a:r>
            <a:r>
              <a:rPr lang="en-IN" b="1" dirty="0"/>
              <a:t>IoT sensors or mobile apps</a:t>
            </a:r>
            <a:r>
              <a:rPr lang="en-IN" dirty="0"/>
              <a:t>. </a:t>
            </a:r>
          </a:p>
          <a:p>
            <a:pPr marL="0" lvl="0" indent="0">
              <a:buNone/>
            </a:pPr>
            <a:r>
              <a:rPr lang="en-IN" b="1" dirty="0"/>
              <a:t>Cloud Deployment</a:t>
            </a:r>
            <a:r>
              <a:rPr lang="en-IN" dirty="0"/>
              <a:t> → Model is hosted on cloud platforms, e.g., </a:t>
            </a:r>
            <a:r>
              <a:rPr lang="en-IN" b="1" dirty="0"/>
              <a:t>Azure, AWS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5269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66CA970-19A1-E847-07EE-2216F563170C}"/>
              </a:ext>
            </a:extLst>
          </p:cNvPr>
          <p:cNvSpPr txBox="1"/>
          <p:nvPr/>
        </p:nvSpPr>
        <p:spPr>
          <a:xfrm>
            <a:off x="783373" y="3831324"/>
            <a:ext cx="1154987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Example: Fraud Detection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Train the model using transaction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Convert and save the model in </a:t>
            </a:r>
            <a:r>
              <a:rPr lang="en-IN" sz="2000" dirty="0">
                <a:latin typeface="Courier New" panose="02070309020205020404" pitchFamily="49" charset="0"/>
              </a:rPr>
              <a:t>.</a:t>
            </a:r>
            <a:r>
              <a:rPr lang="en-IN" sz="2000" dirty="0" err="1">
                <a:latin typeface="Courier New" panose="02070309020205020404" pitchFamily="49" charset="0"/>
              </a:rPr>
              <a:t>pkl</a:t>
            </a:r>
            <a:r>
              <a:rPr lang="en-IN" sz="2000" dirty="0">
                <a:latin typeface="Courier New" panose="02070309020205020404" pitchFamily="49" charset="0"/>
              </a:rPr>
              <a:t>/h5</a:t>
            </a:r>
            <a:r>
              <a:rPr lang="en-IN" sz="2000" dirty="0"/>
              <a:t> format.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Deploy the model using an API on the cloud.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banking application sends each new transaction to the API.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API returns whether the transaction is fraudulent or not.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Monitor prediction performance continuously.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9944E886-12FB-1E02-5A50-6E7EAA4B88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5750950"/>
              </p:ext>
            </p:extLst>
          </p:nvPr>
        </p:nvGraphicFramePr>
        <p:xfrm>
          <a:off x="636319" y="502920"/>
          <a:ext cx="10515600" cy="29260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105046342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7795474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376961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3743219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908512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Parameter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Batch Deployment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Real-time Deployment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Edge Deployment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Cloud Deployment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481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 Speed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Slow / periodic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Very 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Very 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Fast / very 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397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 Processing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In batches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One-by-one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Locally on device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On cloud server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897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Decision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Delayed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Immediate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Immediate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Immediate / near real-time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745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Example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Daily sales prediction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Fraud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Face detection using CCTV camera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Fraud detection using AWS/Azure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965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5153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D8598-BB27-586E-D846-6960BAB7D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1644"/>
            <a:ext cx="10515600" cy="1325563"/>
          </a:xfrm>
        </p:spPr>
        <p:txBody>
          <a:bodyPr/>
          <a:lstStyle/>
          <a:p>
            <a:r>
              <a:rPr lang="en-US" dirty="0"/>
              <a:t>ethics and responsibilities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540A3-778E-291C-94C4-34E0D53B0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848" y="907643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dirty="0"/>
              <a:t> Ethics in PA refers to the fair, responsible, and transparent use of data and predictive models.</a:t>
            </a:r>
          </a:p>
          <a:p>
            <a:pPr marL="0" indent="0">
              <a:buNone/>
            </a:pPr>
            <a:r>
              <a:rPr lang="en-IN" sz="2000" dirty="0"/>
              <a:t>Organizations must ensure that models do not cause harm, violate privacy, or create unfair decisions.</a:t>
            </a:r>
          </a:p>
          <a:p>
            <a:pPr marL="0" indent="0">
              <a:buNone/>
            </a:pPr>
            <a:r>
              <a:rPr lang="en-IN" sz="2000" b="1" dirty="0"/>
              <a:t>1. Privacy &amp; Data Protection</a:t>
            </a:r>
          </a:p>
          <a:p>
            <a:pPr marL="0" indent="0">
              <a:buNone/>
            </a:pPr>
            <a:r>
              <a:rPr lang="en-IN" sz="2000" dirty="0"/>
              <a:t>→ Collect only necessary data,  Follow data protection laws such as GDPR.</a:t>
            </a:r>
          </a:p>
          <a:p>
            <a:pPr marL="0" indent="0">
              <a:buNone/>
            </a:pPr>
            <a:r>
              <a:rPr lang="en-IN" sz="2000" dirty="0"/>
              <a:t>→ Ensure personal data is stored securely and used responsibly.</a:t>
            </a:r>
          </a:p>
          <a:p>
            <a:pPr marL="0" indent="0">
              <a:buNone/>
            </a:pPr>
            <a:r>
              <a:rPr lang="en-IN" sz="2000" dirty="0"/>
              <a:t>→ Data should be stored securely using encryption.</a:t>
            </a:r>
          </a:p>
          <a:p>
            <a:pPr marL="0" indent="0">
              <a:buNone/>
            </a:pPr>
            <a:r>
              <a:rPr lang="en-IN" sz="2000" dirty="0"/>
              <a:t>→ Access to sensitive data must be limited.</a:t>
            </a:r>
          </a:p>
          <a:p>
            <a:pPr marL="0" indent="0">
              <a:buNone/>
            </a:pPr>
            <a:r>
              <a:rPr lang="en-IN" sz="2000" dirty="0"/>
              <a:t>→ This ensures users do not suffer from misuse, leakage, or unauthorized access to their personal data.</a:t>
            </a:r>
          </a:p>
          <a:p>
            <a:pPr marL="0" indent="0">
              <a:buNone/>
            </a:pPr>
            <a:r>
              <a:rPr lang="en-IN" sz="2000" b="1" dirty="0"/>
              <a:t>2. Transparency</a:t>
            </a:r>
          </a:p>
          <a:p>
            <a:pPr marL="0" indent="0">
              <a:buNone/>
            </a:pPr>
            <a:r>
              <a:rPr lang="en-IN" sz="2000" dirty="0"/>
              <a:t>→ Users should know how and why predictions are made.</a:t>
            </a:r>
          </a:p>
          <a:p>
            <a:pPr marL="0" indent="0">
              <a:buNone/>
            </a:pPr>
            <a:r>
              <a:rPr lang="en-IN" sz="2000" dirty="0"/>
              <a:t>→ Model rules, inputs, and reasons behind predictions should be explained.</a:t>
            </a:r>
          </a:p>
          <a:p>
            <a:pPr marL="0" indent="0">
              <a:buNone/>
            </a:pPr>
            <a:r>
              <a:rPr lang="en-IN" sz="2000" dirty="0"/>
              <a:t>→ Avoid "black-box" systems that make decisions without providing explanations.</a:t>
            </a:r>
          </a:p>
          <a:p>
            <a:pPr marL="0" indent="0">
              <a:buNone/>
            </a:pPr>
            <a:r>
              <a:rPr lang="en-IN" sz="2000" dirty="0"/>
              <a:t>→ Transparency builds trust, especially in areas such as:  Healthcare ,Finance ,Education, Banking</a:t>
            </a:r>
          </a:p>
        </p:txBody>
      </p:sp>
    </p:spTree>
    <p:extLst>
      <p:ext uri="{BB962C8B-B14F-4D97-AF65-F5344CB8AC3E}">
        <p14:creationId xmlns:p14="http://schemas.microsoft.com/office/powerpoint/2010/main" val="3524601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5C7D7-1176-5094-CB33-8B68027D8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039" y="446049"/>
            <a:ext cx="10539761" cy="573091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3. Avoiding Bias</a:t>
            </a:r>
          </a:p>
          <a:p>
            <a:pPr marL="0" indent="0">
              <a:buNone/>
            </a:pPr>
            <a:r>
              <a:rPr lang="en-IN" dirty="0"/>
              <a:t>→ Models must not produce unfair outcomes based on gender, caste, race, age, or religion.</a:t>
            </a:r>
          </a:p>
          <a:p>
            <a:pPr marL="0" indent="0">
              <a:buNone/>
            </a:pPr>
            <a:r>
              <a:rPr lang="en-IN" dirty="0"/>
              <a:t>→ Use unbiased data and regularly test for discrimination.</a:t>
            </a:r>
          </a:p>
          <a:p>
            <a:pPr marL="0" indent="0">
              <a:buNone/>
            </a:pPr>
            <a:r>
              <a:rPr lang="en-IN" dirty="0"/>
              <a:t>→ If training data contains bias, the model will reproduce it.</a:t>
            </a:r>
          </a:p>
          <a:p>
            <a:pPr marL="0" indent="0">
              <a:buNone/>
            </a:pPr>
            <a:r>
              <a:rPr lang="en-IN" dirty="0"/>
              <a:t>→ Regular bias testing should be done to ensure fairness.</a:t>
            </a:r>
          </a:p>
          <a:p>
            <a:pPr marL="0" indent="0">
              <a:buNone/>
            </a:pPr>
            <a:r>
              <a:rPr lang="en-IN" dirty="0"/>
              <a:t>→ This protects individuals from unfair decisions, such as rejection of loans or job applications.</a:t>
            </a:r>
          </a:p>
          <a:p>
            <a:pPr marL="0" indent="0">
              <a:buNone/>
            </a:pPr>
            <a:r>
              <a:rPr lang="en-IN" b="1" dirty="0"/>
              <a:t>4. Informed Consent</a:t>
            </a:r>
          </a:p>
          <a:p>
            <a:pPr marL="0" indent="0">
              <a:buNone/>
            </a:pPr>
            <a:r>
              <a:rPr lang="en-IN" dirty="0"/>
              <a:t>→ Users must be aware that their data is being collected and used.</a:t>
            </a:r>
          </a:p>
          <a:p>
            <a:pPr marL="0" indent="0">
              <a:buNone/>
            </a:pPr>
            <a:r>
              <a:rPr lang="en-IN" dirty="0"/>
              <a:t>→ No hidden or unauthorized data usage.</a:t>
            </a:r>
          </a:p>
          <a:p>
            <a:pPr marL="0" indent="0">
              <a:buNone/>
            </a:pPr>
            <a:r>
              <a:rPr lang="en-IN" dirty="0"/>
              <a:t>→ Users should agree to share their information for analysis.</a:t>
            </a:r>
          </a:p>
          <a:p>
            <a:pPr marL="0" indent="0">
              <a:buNone/>
            </a:pPr>
            <a:r>
              <a:rPr lang="en-IN" dirty="0"/>
              <a:t>→ This gives individuals control over their data.</a:t>
            </a:r>
          </a:p>
          <a:p>
            <a:pPr marL="0" indent="0">
              <a:buNone/>
            </a:pPr>
            <a:r>
              <a:rPr lang="en-IN" b="1" dirty="0"/>
              <a:t>5. Human Oversight</a:t>
            </a:r>
          </a:p>
          <a:p>
            <a:pPr marL="0" indent="0">
              <a:buNone/>
            </a:pPr>
            <a:r>
              <a:rPr lang="en-IN" dirty="0"/>
              <a:t>→ Predictions should not be fully automated.</a:t>
            </a:r>
          </a:p>
          <a:p>
            <a:pPr marL="0" indent="0">
              <a:buNone/>
            </a:pPr>
            <a:r>
              <a:rPr lang="en-IN" dirty="0"/>
              <a:t>→ Human experts must review critical decisions, such as medical diagnosis, credit scoring, or legal judgements. Don’t rely completely on automated prediction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3253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C8F08-8BC9-3333-60AE-73654F6E2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853" y="234174"/>
            <a:ext cx="11017405" cy="700296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000" b="1" dirty="0"/>
              <a:t>6. Security &amp; Confidentiality(</a:t>
            </a:r>
            <a:r>
              <a:rPr lang="en-IN" sz="2000" dirty="0"/>
              <a:t> Data security) is important to protect sensitive information from unauthorized access or misuse.</a:t>
            </a:r>
          </a:p>
          <a:p>
            <a:pPr marL="0" indent="0">
              <a:buNone/>
            </a:pPr>
            <a:r>
              <a:rPr lang="en-IN" sz="2000" dirty="0"/>
              <a:t>-&gt;Protect data from misuse, hacking.</a:t>
            </a:r>
          </a:p>
          <a:p>
            <a:pPr marL="0" indent="0">
              <a:buNone/>
            </a:pPr>
            <a:r>
              <a:rPr lang="en-IN" sz="2000" dirty="0"/>
              <a:t>→ Use encryption, access control, and secure storage.</a:t>
            </a:r>
          </a:p>
          <a:p>
            <a:pPr marL="0" indent="0">
              <a:buNone/>
            </a:pPr>
            <a:r>
              <a:rPr lang="en-IN" sz="2000" dirty="0"/>
              <a:t>→ Strong security measures must protect data in predictive systems.</a:t>
            </a:r>
          </a:p>
          <a:p>
            <a:pPr marL="0" indent="0">
              <a:buNone/>
            </a:pPr>
            <a:r>
              <a:rPr lang="en-IN" sz="2000" dirty="0"/>
              <a:t>→ Only authorized personnel should access data.</a:t>
            </a:r>
          </a:p>
          <a:p>
            <a:pPr marL="0" indent="0">
              <a:buNone/>
            </a:pPr>
            <a:r>
              <a:rPr lang="en-IN" sz="2000" dirty="0"/>
              <a:t>This prevents: hacking, data theft, and misuse.</a:t>
            </a:r>
          </a:p>
          <a:p>
            <a:pPr marL="0" indent="0">
              <a:buNone/>
            </a:pPr>
            <a:r>
              <a:rPr lang="en-IN" sz="2000" b="1" dirty="0"/>
              <a:t>7. Data Quality</a:t>
            </a:r>
          </a:p>
          <a:p>
            <a:pPr marL="0" indent="0">
              <a:buNone/>
            </a:pPr>
            <a:r>
              <a:rPr lang="en-IN" sz="2000" dirty="0"/>
              <a:t>→ Ensure the data used is accurate, complete, and up-to-date.</a:t>
            </a:r>
          </a:p>
          <a:p>
            <a:pPr marL="0" indent="0">
              <a:buNone/>
            </a:pPr>
            <a:r>
              <a:rPr lang="en-IN" sz="2000" dirty="0"/>
              <a:t>→ Poor-quality data can lead to wrong predictions and biased decisions.</a:t>
            </a:r>
          </a:p>
          <a:p>
            <a:pPr marL="0" indent="0">
              <a:buNone/>
            </a:pPr>
            <a:r>
              <a:rPr lang="en-IN" sz="2000" dirty="0"/>
              <a:t>→ Good, clean, and accurate data must be used.</a:t>
            </a:r>
          </a:p>
          <a:p>
            <a:pPr marL="0" indent="0">
              <a:buNone/>
            </a:pPr>
            <a:r>
              <a:rPr lang="en-IN" sz="2000" dirty="0"/>
              <a:t>→ Regular data cleaning and updating is necessary.</a:t>
            </a:r>
          </a:p>
          <a:p>
            <a:pPr marL="0" indent="0">
              <a:buNone/>
            </a:pPr>
            <a:r>
              <a:rPr lang="en-IN" sz="2000" dirty="0"/>
              <a:t>This ensures: high-quality data makes predictions more reliable and ethical.</a:t>
            </a:r>
          </a:p>
          <a:p>
            <a:pPr marL="0" indent="0">
              <a:buNone/>
            </a:pPr>
            <a:r>
              <a:rPr lang="en-IN" sz="2000" b="1" dirty="0"/>
              <a:t>8. Continuous Monitoring &amp; Evaluation (Audits)</a:t>
            </a:r>
          </a:p>
          <a:p>
            <a:pPr marL="0" indent="0">
              <a:buNone/>
            </a:pPr>
            <a:r>
              <a:rPr lang="en-IN" sz="2000" dirty="0"/>
              <a:t>→ Models must be regularly checked after deployment.</a:t>
            </a:r>
          </a:p>
          <a:p>
            <a:pPr marL="0" indent="0">
              <a:buNone/>
            </a:pPr>
            <a:r>
              <a:rPr lang="en-IN" sz="2000" dirty="0"/>
              <a:t>→ Regularly monitor: Accuracy , Fairness , Prediction drift </a:t>
            </a:r>
          </a:p>
          <a:p>
            <a:pPr marL="0" indent="0">
              <a:buNone/>
            </a:pPr>
            <a:r>
              <a:rPr lang="en-IN" sz="2000" dirty="0"/>
              <a:t>→ Update the model when new data becomes available.</a:t>
            </a:r>
          </a:p>
          <a:p>
            <a:pPr marL="0" indent="0">
              <a:buNone/>
            </a:pPr>
            <a:r>
              <a:rPr lang="en-IN" sz="2000" dirty="0"/>
              <a:t>This keeps the model relevant, fair, and suitable over time.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45162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80981-2AE5-6DEC-1908-85E9C0C3C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70855"/>
            <a:ext cx="10515600" cy="1325563"/>
          </a:xfrm>
        </p:spPr>
        <p:txBody>
          <a:bodyPr/>
          <a:lstStyle/>
          <a:p>
            <a:r>
              <a:rPr lang="en-US" dirty="0"/>
              <a:t>The Data effect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ABF4D-7BC3-0785-52D5-C10E7477C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712" y="780585"/>
            <a:ext cx="10785088" cy="53963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1. Data Quality Effect</a:t>
            </a:r>
          </a:p>
          <a:p>
            <a:pPr marL="0" indent="0">
              <a:buNone/>
            </a:pPr>
            <a:r>
              <a:rPr lang="en-IN" sz="2000" dirty="0"/>
              <a:t>→ If the data is clean, correct, and complete, model gives accurate results.</a:t>
            </a:r>
          </a:p>
          <a:p>
            <a:pPr marL="0" indent="0">
              <a:buNone/>
            </a:pPr>
            <a:r>
              <a:rPr lang="en-IN" sz="2000" dirty="0"/>
              <a:t>→ If the data has noise, missing values, or mistakes, predictions become unreliable and inaccurate.</a:t>
            </a:r>
          </a:p>
          <a:p>
            <a:pPr marL="0" indent="0">
              <a:buNone/>
            </a:pPr>
            <a:r>
              <a:rPr lang="en-IN" sz="2000" dirty="0"/>
              <a:t>→ Model accuracy and stability depend on data quality.</a:t>
            </a:r>
          </a:p>
          <a:p>
            <a:pPr marL="0" indent="0">
              <a:buNone/>
            </a:pPr>
            <a:r>
              <a:rPr lang="en-IN" sz="2000" b="1" dirty="0"/>
              <a:t>2. Data Quantity Effect</a:t>
            </a:r>
          </a:p>
          <a:p>
            <a:pPr marL="0" indent="0">
              <a:buNone/>
            </a:pPr>
            <a:r>
              <a:rPr lang="en-IN" sz="2000" dirty="0"/>
              <a:t>→ It influences model performance.</a:t>
            </a:r>
          </a:p>
          <a:p>
            <a:pPr marL="0" indent="0">
              <a:buNone/>
            </a:pPr>
            <a:r>
              <a:rPr lang="en-IN" sz="2000" dirty="0"/>
              <a:t>→ More data helps the model understand more patterns.</a:t>
            </a:r>
          </a:p>
          <a:p>
            <a:pPr marL="0" indent="0">
              <a:buNone/>
            </a:pPr>
            <a:r>
              <a:rPr lang="en-IN" sz="2000" b="1" dirty="0"/>
              <a:t>→ Too little data: Underfitting</a:t>
            </a:r>
          </a:p>
          <a:p>
            <a:pPr marL="0" lvl="0" indent="0">
              <a:buNone/>
            </a:pPr>
            <a:r>
              <a:rPr lang="en-IN" sz="2000" dirty="0"/>
              <a:t>Models fail to learn the relationship properly. </a:t>
            </a:r>
          </a:p>
          <a:p>
            <a:pPr marL="0" lvl="0" indent="0">
              <a:buNone/>
            </a:pPr>
            <a:r>
              <a:rPr lang="en-IN" sz="2000" dirty="0"/>
              <a:t>This results in weak predictions. </a:t>
            </a:r>
          </a:p>
          <a:p>
            <a:pPr marL="0" indent="0">
              <a:buNone/>
            </a:pPr>
            <a:r>
              <a:rPr lang="en-IN" sz="2000" dirty="0"/>
              <a:t>→ </a:t>
            </a:r>
            <a:r>
              <a:rPr lang="en-IN" sz="2000" b="1" dirty="0"/>
              <a:t>Large/adequate data: Better learning</a:t>
            </a:r>
            <a:endParaRPr lang="en-IN" sz="2000" dirty="0"/>
          </a:p>
          <a:p>
            <a:pPr marL="0" lvl="0" indent="0">
              <a:buNone/>
            </a:pPr>
            <a:r>
              <a:rPr lang="en-IN" sz="2000" dirty="0"/>
              <a:t>Helps improve model accuracy and stability. </a:t>
            </a:r>
          </a:p>
          <a:p>
            <a:pPr marL="0" indent="0">
              <a:buNone/>
            </a:pPr>
            <a:r>
              <a:rPr lang="en-IN" sz="2000" dirty="0"/>
              <a:t>→ However, </a:t>
            </a:r>
            <a:r>
              <a:rPr lang="en-IN" sz="2000" b="1" dirty="0"/>
              <a:t>very large datasets</a:t>
            </a:r>
            <a:r>
              <a:rPr lang="en-IN" sz="2000" dirty="0"/>
              <a:t> may require more processing time and computational resources.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034886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98CE3-410D-C1C2-9FCC-CD8D1FD13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492" y="234176"/>
            <a:ext cx="10506307" cy="59427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000" b="1" dirty="0"/>
              <a:t>3. Data Relevance Effect</a:t>
            </a:r>
          </a:p>
          <a:p>
            <a:pPr marL="0" indent="0">
              <a:buNone/>
            </a:pPr>
            <a:r>
              <a:rPr lang="en-IN" sz="2000" dirty="0"/>
              <a:t>Data must be related to the problem being solved.</a:t>
            </a:r>
          </a:p>
          <a:p>
            <a:pPr marL="0" indent="0">
              <a:buNone/>
            </a:pPr>
            <a:r>
              <a:rPr lang="en-IN" sz="2000" dirty="0"/>
              <a:t>→ Irrelevant data can confuse the model and reduce accuracy.</a:t>
            </a:r>
          </a:p>
          <a:p>
            <a:pPr marL="0" indent="0">
              <a:buNone/>
            </a:pPr>
            <a:r>
              <a:rPr lang="en-IN" sz="2000" b="1" dirty="0"/>
              <a:t>Example:</a:t>
            </a:r>
            <a:br>
              <a:rPr lang="en-IN" sz="2000" dirty="0"/>
            </a:br>
            <a:r>
              <a:rPr lang="en-IN" sz="2000" dirty="0"/>
              <a:t>When predicting a student's marks based on academic performance, shoe size is irrelevant and provides no useful information for prediction.</a:t>
            </a:r>
          </a:p>
          <a:p>
            <a:pPr marL="0" indent="0">
              <a:buNone/>
            </a:pPr>
            <a:r>
              <a:rPr lang="en-IN" sz="2000" dirty="0"/>
              <a:t>Therefore:</a:t>
            </a:r>
          </a:p>
          <a:p>
            <a:pPr marL="0" indent="0">
              <a:buNone/>
            </a:pPr>
            <a:r>
              <a:rPr lang="en-IN" sz="2000" dirty="0"/>
              <a:t>Relevant data → Better learning → Better predictions</a:t>
            </a:r>
          </a:p>
          <a:p>
            <a:pPr marL="0" indent="0">
              <a:buNone/>
            </a:pPr>
            <a:r>
              <a:rPr lang="en-IN" sz="2000" dirty="0"/>
              <a:t>Irrelevant data → Confusion/noise → Poorer predictions</a:t>
            </a:r>
          </a:p>
          <a:p>
            <a:pPr marL="0" indent="0">
              <a:buNone/>
            </a:pPr>
            <a:r>
              <a:rPr lang="en-IN" sz="2000" b="1" dirty="0"/>
              <a:t>Predicting student performance using:</a:t>
            </a:r>
            <a:endParaRPr lang="en-IN" sz="2000" dirty="0"/>
          </a:p>
          <a:p>
            <a:pPr lvl="0"/>
            <a:r>
              <a:rPr lang="en-IN" sz="2000" b="1" dirty="0"/>
              <a:t>Attendance</a:t>
            </a:r>
            <a:r>
              <a:rPr lang="en-IN" sz="2000" dirty="0"/>
              <a:t> → relevant </a:t>
            </a:r>
          </a:p>
          <a:p>
            <a:pPr lvl="0"/>
            <a:r>
              <a:rPr lang="en-IN" sz="2000" b="1" dirty="0"/>
              <a:t>Study hours</a:t>
            </a:r>
            <a:r>
              <a:rPr lang="en-IN" sz="2000" dirty="0"/>
              <a:t> → relevant </a:t>
            </a:r>
          </a:p>
          <a:p>
            <a:r>
              <a:rPr lang="en-IN" sz="2000" dirty="0"/>
              <a:t>These variables can help the model predict student performance effectively.</a:t>
            </a:r>
          </a:p>
          <a:p>
            <a:r>
              <a:rPr lang="en-IN" sz="2000" dirty="0"/>
              <a:t>However:  Adding unrelated data such as </a:t>
            </a:r>
            <a:r>
              <a:rPr lang="en-IN" sz="2000" b="1" dirty="0"/>
              <a:t>“</a:t>
            </a:r>
            <a:r>
              <a:rPr lang="en-IN" sz="2000" b="1" dirty="0" err="1"/>
              <a:t>favorite</a:t>
            </a:r>
            <a:r>
              <a:rPr lang="en-IN" sz="2000" b="1" dirty="0"/>
              <a:t> colour”</a:t>
            </a:r>
            <a:r>
              <a:rPr lang="en-IN" sz="2000" dirty="0"/>
              <a:t> adds no useful value to predicting marks.</a:t>
            </a:r>
          </a:p>
          <a:p>
            <a:r>
              <a:rPr lang="en-IN" sz="2000" dirty="0"/>
              <a:t>Relevant features help the model learn meaningful patterns, while irrelevant features can add noise and may reduce prediction quality.</a:t>
            </a:r>
          </a:p>
          <a:p>
            <a:pPr marL="0" indent="0">
              <a:buNone/>
            </a:pPr>
            <a:endParaRPr lang="en-IN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037877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CA3B7-347D-52E6-D3BA-2DFAAF554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502" y="312234"/>
            <a:ext cx="10874298" cy="58647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4. Data diversity effect: prevent bias</a:t>
            </a:r>
          </a:p>
          <a:p>
            <a:pPr marL="0" indent="0">
              <a:buNone/>
            </a:pPr>
            <a:r>
              <a:rPr lang="en-IN" sz="2000" dirty="0"/>
              <a:t>If data represents all groups and situations, the model becomes less biased and more reliable.</a:t>
            </a:r>
          </a:p>
          <a:p>
            <a:pPr marL="0" indent="0">
              <a:buNone/>
            </a:pPr>
            <a:r>
              <a:rPr lang="en-IN" sz="2000" dirty="0"/>
              <a:t>→ Biased data can lead to unfair predictions for certain groups, such as based on: Gender , Age , Location </a:t>
            </a:r>
          </a:p>
          <a:p>
            <a:pPr marL="0" indent="0">
              <a:buNone/>
            </a:pPr>
            <a:r>
              <a:rPr lang="en-IN" sz="2000" dirty="0"/>
              <a:t>→ If you train a model using data from only one region, it may perform poorly when used in other regions.</a:t>
            </a:r>
          </a:p>
          <a:p>
            <a:pPr marL="0" indent="0">
              <a:buNone/>
            </a:pPr>
            <a:r>
              <a:rPr lang="en-IN" sz="2000" dirty="0"/>
              <a:t>→ Diverse data improves:</a:t>
            </a:r>
          </a:p>
          <a:p>
            <a:pPr marL="0" lvl="0" indent="0">
              <a:buNone/>
            </a:pPr>
            <a:r>
              <a:rPr lang="en-IN" sz="2000" dirty="0"/>
              <a:t>Generalization ,Fairness , Robustness </a:t>
            </a:r>
          </a:p>
          <a:p>
            <a:pPr marL="0" indent="0">
              <a:buNone/>
            </a:pPr>
            <a:r>
              <a:rPr lang="en-IN" sz="2000" dirty="0"/>
              <a:t>Example</a:t>
            </a:r>
          </a:p>
          <a:p>
            <a:pPr marL="0" indent="0">
              <a:buNone/>
            </a:pPr>
            <a:r>
              <a:rPr lang="en-IN" sz="2000" dirty="0"/>
              <a:t>Suppose a face-recognition model is trained mainly using images of people from one demographic group.</a:t>
            </a:r>
          </a:p>
          <a:p>
            <a:pPr marL="0" indent="0">
              <a:buNone/>
            </a:pPr>
            <a:r>
              <a:rPr lang="en-IN" sz="2000" dirty="0"/>
              <a:t>When the model is used on people from other demographic groups, its accuracy may be lower.</a:t>
            </a:r>
          </a:p>
          <a:p>
            <a:pPr marL="0" indent="0">
              <a:buNone/>
            </a:pPr>
            <a:r>
              <a:rPr lang="en-IN" sz="2000" dirty="0"/>
              <a:t>If the training dataset contains people of different ages, genders, skin tones, and geographical regions, the model is more likely to perform well across different groups.</a:t>
            </a:r>
          </a:p>
          <a:p>
            <a:pPr marL="0" indent="0">
              <a:buNone/>
            </a:pPr>
            <a:r>
              <a:rPr lang="en-IN" sz="2000" dirty="0"/>
              <a:t>Key idea:</a:t>
            </a:r>
          </a:p>
          <a:p>
            <a:pPr marL="0" indent="0">
              <a:buNone/>
            </a:pPr>
            <a:r>
              <a:rPr lang="en-IN" sz="2000" dirty="0"/>
              <a:t>Diverse training data → Better generalization → Fairer and more reliable predictions.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131038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39074-504E-A8D0-34AE-8EB60D3BE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814" y="200721"/>
            <a:ext cx="11340790" cy="72594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200" b="1" dirty="0"/>
              <a:t>5. Data Timeline Effect</a:t>
            </a:r>
          </a:p>
          <a:p>
            <a:pPr marL="0" indent="0">
              <a:buNone/>
            </a:pPr>
            <a:r>
              <a:rPr lang="en-IN" sz="2200" dirty="0"/>
              <a:t>→ Outdated data reduces model accuracy,  Regularly updating data helps the model adapt to new trends.  Outdated data leads to outdated predictions.</a:t>
            </a:r>
          </a:p>
          <a:p>
            <a:pPr marL="0" indent="0">
              <a:buNone/>
            </a:pPr>
            <a:r>
              <a:rPr lang="en-IN" sz="2200" dirty="0"/>
              <a:t>Example: Predicting sales using data from 5 years ago may not match current trends.</a:t>
            </a:r>
          </a:p>
          <a:p>
            <a:pPr marL="0" indent="0">
              <a:buNone/>
            </a:pPr>
            <a:r>
              <a:rPr lang="en-IN" sz="2200" dirty="0"/>
              <a:t>Fresh Data → Updated &amp; accurate predictions</a:t>
            </a:r>
          </a:p>
          <a:p>
            <a:pPr marL="0" indent="0">
              <a:buNone/>
            </a:pPr>
            <a:r>
              <a:rPr lang="en-IN" sz="2200" b="1" dirty="0"/>
              <a:t>6. Data Security &amp; Privacy Effect</a:t>
            </a:r>
          </a:p>
          <a:p>
            <a:pPr marL="0" indent="0">
              <a:buNone/>
            </a:pPr>
            <a:r>
              <a:rPr lang="en-IN" sz="2200" dirty="0"/>
              <a:t>→ Sensitive data must be protected,  If customers feel unsafe, they won't share their data, So, models become weak . </a:t>
            </a:r>
          </a:p>
          <a:p>
            <a:pPr marL="0" indent="0">
              <a:buNone/>
            </a:pPr>
            <a:r>
              <a:rPr lang="en-IN" sz="2200" dirty="0"/>
              <a:t> Secure data leads to trust and better data.</a:t>
            </a:r>
          </a:p>
          <a:p>
            <a:r>
              <a:rPr lang="en-IN" sz="2200" dirty="0"/>
              <a:t>Eg: If customers know that their financial information is securely encrypted and accessible only to authorized staff, they are more likely to provide accurate information, helping the bank build a better prediction model.</a:t>
            </a:r>
          </a:p>
          <a:p>
            <a:pPr marL="0" indent="0">
              <a:buNone/>
            </a:pPr>
            <a:r>
              <a:rPr lang="en-IN" sz="2200" b="1" dirty="0"/>
              <a:t>7. Data Integration Effect</a:t>
            </a:r>
          </a:p>
          <a:p>
            <a:pPr marL="0" indent="0">
              <a:buNone/>
            </a:pPr>
            <a:r>
              <a:rPr lang="en-IN" sz="2200" dirty="0"/>
              <a:t>→ Data comes from many sources — databases, sensors, logs, surveys, etc.</a:t>
            </a:r>
          </a:p>
          <a:p>
            <a:pPr marL="0" indent="0">
              <a:buNone/>
            </a:pPr>
            <a:r>
              <a:rPr lang="en-IN" sz="2200" dirty="0"/>
              <a:t>→ If not integrated properly: Duplicates occur , Inconsistent formats , Missing connections </a:t>
            </a:r>
          </a:p>
          <a:p>
            <a:pPr marL="0" indent="0">
              <a:buNone/>
            </a:pPr>
            <a:r>
              <a:rPr lang="en-IN" sz="2200" dirty="0"/>
              <a:t>→ Clean integration → smooth model building</a:t>
            </a:r>
          </a:p>
          <a:p>
            <a:pPr marL="0" indent="0">
              <a:buNone/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42681477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2AA67-D693-BE3A-BC9D-2458FC8EA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74D98-822D-1969-4006-96C32E83A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8. Data Structure Impact on Model Complexity</a:t>
            </a:r>
          </a:p>
          <a:p>
            <a:pPr marL="0" indent="0">
              <a:buNone/>
            </a:pPr>
            <a:r>
              <a:rPr lang="en-IN" sz="2000" dirty="0"/>
              <a:t>→ Structured data (tables, numbers) is easier for models to process.</a:t>
            </a:r>
          </a:p>
          <a:p>
            <a:pPr marL="0" indent="0">
              <a:buNone/>
            </a:pPr>
            <a:r>
              <a:rPr lang="en-IN" sz="2000" dirty="0"/>
              <a:t>→ Unstructured data (text, images, audio) requires extra cleaning and processing.</a:t>
            </a:r>
          </a:p>
          <a:p>
            <a:pPr marL="0" lv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21608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2345</TotalTime>
  <Words>3396</Words>
  <Application>Microsoft Office PowerPoint</Application>
  <PresentationFormat>Widescreen</PresentationFormat>
  <Paragraphs>308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Courier New</vt:lpstr>
      <vt:lpstr>Office Theme</vt:lpstr>
      <vt:lpstr>Unit-2 </vt:lpstr>
      <vt:lpstr> Prediction effect  (What happened after the prediction was used?)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deployment of prediction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ethics and responsibilities</vt:lpstr>
      <vt:lpstr>PowerPoint Presentation</vt:lpstr>
      <vt:lpstr>PowerPoint Presentation</vt:lpstr>
      <vt:lpstr>The Data effect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Amritha P.P</dc:creator>
  <cp:lastModifiedBy>Amritha P.P</cp:lastModifiedBy>
  <cp:revision>8</cp:revision>
  <dcterms:created xsi:type="dcterms:W3CDTF">2026-08-22T12:19:23Z</dcterms:created>
  <dcterms:modified xsi:type="dcterms:W3CDTF">2026-08-24T04:36:17Z</dcterms:modified>
</cp:coreProperties>
</file>