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779514"/>
            <a:ext cx="11601450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0F172A"/>
                </a:solidFill>
                <a:latin typeface="Poppins"/>
              </a:rPr>
              <a:t>Multicore Technology, Web 2.0 &amp; Web 3.0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92785"/>
            <a:ext cx="11049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 dirty="0">
                <a:solidFill>
                  <a:srgbClr val="475569"/>
                </a:solidFill>
                <a:latin typeface="Roboto"/>
              </a:rPr>
              <a:t>Exploring Hardware Parallelism, VM Scalability, Social Platforms, and the Semantic Web Convergence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266950"/>
            <a:ext cx="762000" cy="4762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95275" y="2505075"/>
            <a:ext cx="11601450" cy="144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Poppins"/>
              </a:rPr>
              <a:t>Module 1: Multicore Technology &amp; Cloud Parallelism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09575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Roboto"/>
              </a:rPr>
              <a:t>Hardware Foundations, Virtual Machine Scalability, and Distributed Compute Paradigms in Modern Cloud Infrastructure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81200"/>
            <a:ext cx="5625703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Hardware Architecture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390775"/>
            <a:ext cx="53578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As single-core frequency scaling hit thermal power limits ("frequency wall"), processor vendors transitioned to placing multiple execution cores on a single physical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319087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190875"/>
            <a:ext cx="5167312" cy="4572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Roboto"/>
              </a:rPr>
              <a:t>Independent Cores: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Each core executes program threads autonomously with L1/L2 caches.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76237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762375"/>
            <a:ext cx="5167312" cy="4572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Roboto"/>
              </a:rPr>
              <a:t>Shared Infrastructure: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Cores share L3 cache, high-speed interconnects, and memory controllers.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33387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333875"/>
            <a:ext cx="5167312" cy="4572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Roboto"/>
              </a:rPr>
              <a:t>Symmetric Multiprocessing (SMP):</a:t>
            </a:r>
            <a:r>
              <a:rPr sz="1200" b="0" i="0" u="none">
                <a:solidFill>
                  <a:srgbClr val="334155"/>
                </a:solidFill>
                <a:latin typeface="Roboto"/>
              </a:rPr>
              <a:t> Uniform access to system RAM across all cores for balanced OS execution.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1981200"/>
            <a:ext cx="5357812" cy="3619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Multicore Processors in Cloud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33662"/>
            <a:ext cx="5357812" cy="23145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33662"/>
            <a:ext cx="5357812" cy="2314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900362"/>
            <a:ext cx="5025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Hypervisor Core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09937"/>
            <a:ext cx="4786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Modern Hypervisors (KVM, ESXi, Hyper-V) map virtual CPUs (vCPUs) directly to physical cores and hardware threads (Hyper-Threading).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881437"/>
            <a:ext cx="4786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Multicore architectures allow virtual machines to scale vertically by dynamically assigning 32+ vCPUs to heavy workloads like database engines.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87" y="2900362"/>
            <a:ext cx="5025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NUMA &amp; Memory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7487" y="3309937"/>
            <a:ext cx="478631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Non-Uniform Memory Access (NUMA) arranges cores and memory into local nodes to maximize bandwidth and minimize cross-socket latency.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7487" y="3881437"/>
            <a:ext cx="4786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Cloud hypervisors leverage NUMA-aware scheduling to place VM compute and memory within the same socket node, avoiding cache line bouncing.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Multiprocessors &amp; VM Scalability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00312"/>
            <a:ext cx="3524250" cy="2581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00312"/>
            <a:ext cx="3524250" cy="2581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500312"/>
            <a:ext cx="3524250" cy="2581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747962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9150" y="3395662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Task Parallelism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805237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Decomposing large computations into discrete independent subtasks executed simultaneously across multiple cloud CPU cores.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525" y="2747962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81525" y="3395662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Data Parallelism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525" y="3805237"/>
            <a:ext cx="30289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Partitioning massive datasets (e.g., MapReduce, Apache Spark) to execute identical operations on separate data chunks concurrently.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47962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43900" y="3395662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High Throughput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3900" y="3805237"/>
            <a:ext cx="302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Roboto"/>
              </a:rPr>
              <a:t>Simultaneously handling thousands of web requests, microservice API calls, and tenant isolation workloads without IO starvation.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862262"/>
            <a:ext cx="247650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10112" y="2862262"/>
            <a:ext cx="2190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4862" y="2862262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Parallelism Requirements in Cloud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0150"/>
            <a:ext cx="11049000" cy="6134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3377" y="5186824"/>
            <a:ext cx="101822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1" u="none" dirty="0">
                <a:solidFill>
                  <a:srgbClr val="334155"/>
                </a:solidFill>
                <a:latin typeface="Roboto"/>
              </a:rPr>
              <a:t>Scaling CPU core density increases request throughput near-linearly while drastically reducing server footprint and energy consumption per virtual guest.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Multicore Efficiency in Cloud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20955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4875" y="2423037"/>
            <a:ext cx="1071562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0F172A"/>
                </a:solidFill>
                <a:latin typeface="Roboto"/>
              </a:rPr>
              <a:t>AWS Graviton3 &amp; AMD EPYC:</a:t>
            </a:r>
            <a:r>
              <a:rPr b="0" i="0" u="none" dirty="0">
                <a:solidFill>
                  <a:srgbClr val="334155"/>
                </a:solidFill>
                <a:latin typeface="Roboto"/>
              </a:rPr>
              <a:t> Modern cloud providers deploy 64-core to 128-core CPUs to power compute-optimized instances (e.g., c7g, c6a).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4874" y="3174580"/>
            <a:ext cx="1071562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0F172A"/>
                </a:solidFill>
                <a:latin typeface="Roboto"/>
              </a:rPr>
              <a:t>Container Orchestration (Kubernetes):</a:t>
            </a:r>
            <a:r>
              <a:rPr b="0" i="0" u="none" dirty="0">
                <a:solidFill>
                  <a:srgbClr val="334155"/>
                </a:solidFill>
                <a:latin typeface="Roboto"/>
              </a:rPr>
              <a:t> Granular CPU pin allocation allows core-level isolation for microservices, preventing noisy-neighbor bottlenecks.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4875" y="3981450"/>
            <a:ext cx="10715625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0F172A"/>
                </a:solidFill>
                <a:latin typeface="Roboto"/>
              </a:rPr>
              <a:t>AI &amp; Big Data Processing:</a:t>
            </a:r>
            <a:r>
              <a:rPr b="0" i="0" u="none" dirty="0">
                <a:solidFill>
                  <a:srgbClr val="334155"/>
                </a:solidFill>
                <a:latin typeface="Roboto"/>
              </a:rPr>
              <a:t> Multicore host systems feed high-speed memory channels needed for parallel LLM inference and distributed SQL query execution.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412" y="2453844"/>
            <a:ext cx="275577" cy="28935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78" y="3267766"/>
            <a:ext cx="275577" cy="289356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22" y="3995737"/>
            <a:ext cx="275578" cy="2893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Multicore Enterprise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5307" y="2867025"/>
            <a:ext cx="11081385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 dirty="0">
                <a:solidFill>
                  <a:srgbClr val="0F172A"/>
                </a:solidFill>
                <a:latin typeface="Poppins"/>
              </a:rPr>
              <a:t>Module 2: Evolution from Web 1.0 to Web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3380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475569"/>
                </a:solidFill>
                <a:latin typeface="Roboto"/>
              </a:rPr>
              <a:t>From Static Content Delivery to Dynamic Interactivity, Social Engagement, and Cloud-Powered Web Applications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834192"/>
              </p:ext>
            </p:extLst>
          </p:nvPr>
        </p:nvGraphicFramePr>
        <p:xfrm>
          <a:off x="571500" y="2528887"/>
          <a:ext cx="11048999" cy="25241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7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3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Architectural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FFFFFF"/>
                          </a:solidFill>
                          <a:latin typeface="Poppins SemiBold"/>
                        </a:rPr>
                        <a:t>Web 1.0 (Static Web)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Web 2.0 (Social / Dynamic Web)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34155"/>
                          </a:solidFill>
                          <a:latin typeface="Roboto"/>
                        </a:rPr>
                        <a:t>User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Passive Consumer (Read-Only)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Active Creator / Participant (Read-Write)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34155"/>
                          </a:solidFill>
                          <a:latin typeface="Roboto"/>
                        </a:rPr>
                        <a:t>Content Delivery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Static HTML pages hosted on servers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Dynamic AJAX/REST APIs with client rendering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34155"/>
                          </a:solidFill>
                          <a:latin typeface="Roboto"/>
                        </a:rPr>
                        <a:t>Data Flow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One-directional (Publisher to Audience)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Bi-directional &amp; Multi-directional Interaction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600" b="1" i="0" u="none">
                          <a:solidFill>
                            <a:srgbClr val="334155"/>
                          </a:solidFill>
                          <a:latin typeface="Roboto"/>
                        </a:rPr>
                        <a:t>Core Platform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>
                          <a:solidFill>
                            <a:srgbClr val="334155"/>
                          </a:solidFill>
                          <a:latin typeface="Roboto"/>
                        </a:rPr>
                        <a:t>Personal Websites &amp; Directories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 u="none" dirty="0">
                          <a:solidFill>
                            <a:srgbClr val="334155"/>
                          </a:solidFill>
                          <a:latin typeface="Roboto"/>
                        </a:rPr>
                        <a:t>Social Media, Wikis, Cloud SaaS Apps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1500" y="3019425"/>
            <a:ext cx="2828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00127" y="3019425"/>
            <a:ext cx="37473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47470" y="3019425"/>
            <a:ext cx="4473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3524250"/>
            <a:ext cx="2828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400127" y="3524250"/>
            <a:ext cx="37473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47470" y="3524250"/>
            <a:ext cx="4473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029075"/>
            <a:ext cx="2828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0127" y="4029075"/>
            <a:ext cx="37473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47470" y="4029075"/>
            <a:ext cx="4473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533900"/>
            <a:ext cx="2828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0127" y="4533900"/>
            <a:ext cx="37473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47470" y="4533900"/>
            <a:ext cx="4473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038725"/>
            <a:ext cx="28286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400127" y="5038725"/>
            <a:ext cx="374734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47470" y="5038725"/>
            <a:ext cx="447302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Web 1.0 vs Web 2.0 Technical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" y="1242860"/>
            <a:ext cx="10320337" cy="44401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6366" y="1648592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User-Generated Content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6365" y="2058167"/>
            <a:ext cx="871119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Users actively publish blogs, videos, posts, and reviews (e.g., YouTube, Wikipedia, Medium).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4922" y="4373357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Folksonomy &amp; Tagging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4921" y="4782932"/>
            <a:ext cx="9737207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Collaborative categorization of information using hashtags and social tagging rather than strict hierarchies.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Characteristics of Web 2.0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B166E9-DDF5-0D6E-EA69-8E3B1C564E85}"/>
              </a:ext>
            </a:extLst>
          </p:cNvPr>
          <p:cNvSpPr txBox="1"/>
          <p:nvPr/>
        </p:nvSpPr>
        <p:spPr>
          <a:xfrm>
            <a:off x="1401128" y="3059370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Rich User Experience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5FDAA91-8696-2977-3789-2D021D112CC1}"/>
              </a:ext>
            </a:extLst>
          </p:cNvPr>
          <p:cNvSpPr txBox="1"/>
          <p:nvPr/>
        </p:nvSpPr>
        <p:spPr>
          <a:xfrm>
            <a:off x="1401128" y="3468945"/>
            <a:ext cx="91882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Asynchronous page updates via AJAX, DOM manipulation, and responsive single-page apps (SPAs).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6007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Applications of Web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200150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1E293B"/>
                </a:solidFill>
                <a:latin typeface="Poppins SemiBold"/>
              </a:rPr>
              <a:t>Transforming Social, Marketing &amp;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499" y="1882075"/>
            <a:ext cx="10293145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1" i="0" u="none" dirty="0">
                <a:solidFill>
                  <a:srgbClr val="334155"/>
                </a:solidFill>
                <a:latin typeface="Roboto"/>
              </a:rPr>
              <a:t>Social Media: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Real-time connectivity platforms like Facebook, X, and LinkedIn redefined human interaction and community building globally.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673" y="2980343"/>
            <a:ext cx="930991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1" i="0" u="none" dirty="0">
                <a:solidFill>
                  <a:srgbClr val="334155"/>
                </a:solidFill>
                <a:latin typeface="Roboto"/>
              </a:rPr>
              <a:t>Digital Marketing: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Targeted advertising, user analytics, viral marketing, and influencer brand collaboration.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095510"/>
            <a:ext cx="9585223" cy="2436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600" b="1" i="0" u="none" dirty="0">
                <a:solidFill>
                  <a:srgbClr val="334155"/>
                </a:solidFill>
                <a:latin typeface="Roboto"/>
              </a:rPr>
              <a:t>E-Learning &amp; Education: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Interactive MOOCs (Coursera, edX), collaborative wikis, and cloud LMS platforms.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33832"/>
            <a:ext cx="5357812" cy="34144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1533832"/>
            <a:ext cx="5357812" cy="3414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6642" y="2107559"/>
            <a:ext cx="5025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Cloud as Infrastructure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6642" y="2757487"/>
            <a:ext cx="4786312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Web 2.0 applications generate massive user spikes and dynamic media uploads that static single-server hosting cannot handle.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642" y="3660364"/>
            <a:ext cx="4786312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Cloud infrastructure provides auto-scaling, load balancing, and object storage (e.g., AWS S3) to host Web 2.0 applications reliably.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94871" y="2127069"/>
            <a:ext cx="5025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Software-as-a-Service (SaaS)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4871" y="2691731"/>
            <a:ext cx="478631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Web 2.0 established the web browser as an operating system environment, enabling SaaS applications like Google Docs, Figma, and Salesforce.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4871" y="3771600"/>
            <a:ext cx="473987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Users access real-time collaborative software without local client installation.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Web 2.0 &amp; Cloud Synergy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5363" y="2867025"/>
            <a:ext cx="10181272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750" b="1" i="0" u="none">
                <a:solidFill>
                  <a:srgbClr val="0F172A"/>
                </a:solidFill>
                <a:latin typeface="Poppins"/>
              </a:rPr>
              <a:t>Module 3: Web 3.0 &amp; The Intelligent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733800"/>
            <a:ext cx="7143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475569"/>
                </a:solidFill>
                <a:latin typeface="Roboto"/>
              </a:rPr>
              <a:t>Semantic Web Architecture, Decentralized Web Services, Artificial Intelligence Integration, and Cloud Convergence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5110"/>
            <a:ext cx="5357812" cy="26173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045110"/>
            <a:ext cx="5357812" cy="26173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625212"/>
            <a:ext cx="5025628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Semantic Web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320690"/>
            <a:ext cx="4814886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Structuring internet data into standardized, machine-readable formats using RDF, OWL, and SPARQL so machines understand context and relationships.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4871" y="2606548"/>
            <a:ext cx="5025628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Distributed Web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7487" y="3232354"/>
            <a:ext cx="4748213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Interoperable microservices, REST APIs, and smart contracts executing autonomously across decentralized cloud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Web 3.0 Paradigm &amp; Core Pillars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6983" y="1566475"/>
            <a:ext cx="56257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From Strings to Things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6983" y="2080826"/>
            <a:ext cx="5357812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In Web 2.0, search engines match keywords ("strings"). In Web 3.0, the semantic web understands underlying concepts and entity relations ("things").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375" y="296227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1" y="2962275"/>
            <a:ext cx="5357812" cy="4572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Roboto"/>
              </a:rPr>
              <a:t>RDF (Resource Description Framework):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 Represents data as Subject-Predicate-Object triples.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53377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1" y="3533775"/>
            <a:ext cx="5357811" cy="448841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Roboto"/>
              </a:rPr>
              <a:t>Ontologies (OWL):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 Defines precise domain logic and relationship rules.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876675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34155"/>
                </a:solidFill>
                <a:latin typeface="Roboto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1" y="4164231"/>
            <a:ext cx="5232794" cy="457200"/>
          </a:xfrm>
          <a:prstGeom prst="rect">
            <a:avLst/>
          </a:prstGeom>
          <a:noFill/>
        </p:spPr>
        <p:txBody>
          <a:bodyPr wrap="square" lIns="476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1" i="0" u="none" dirty="0">
                <a:solidFill>
                  <a:srgbClr val="334155"/>
                </a:solidFill>
                <a:latin typeface="Roboto"/>
              </a:rPr>
              <a:t>Intelligent Agents: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 Autonomous software programs executing complex query reasoning across systems.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6" y="1438275"/>
            <a:ext cx="5498229" cy="41624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Semantic Web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74" y="1307691"/>
            <a:ext cx="10540182" cy="46506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46970" y="1871661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Ubiquitous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212" y="2292757"/>
            <a:ext cx="943482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AI algorithms continuously process semantic metadata to personalize interactions, automate workflows, and predict search intent.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84" y="3035863"/>
            <a:ext cx="318039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Decentralization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83" y="3571767"/>
            <a:ext cx="9589829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Data ownership and state management transition from centralized servers to peer-to-peer ledger protocols and decentralized clouds.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8212" y="4328810"/>
            <a:ext cx="318039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Ubiquity &amp; 3D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970" y="4828435"/>
            <a:ext cx="1017331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Seamless access across IoT devices, edge nodes, AR/VR environments, and pervasive computing frameworks.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Key Characteristics of Web 3.0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6984" y="1777632"/>
            <a:ext cx="5625703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i="0" u="none" dirty="0">
                <a:solidFill>
                  <a:srgbClr val="1E293B"/>
                </a:solidFill>
                <a:latin typeface="Poppins SemiBold"/>
              </a:rPr>
              <a:t>Hybrid Infrastructure Backbones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6984" y="2523989"/>
            <a:ext cx="10345648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0" i="0" u="none" dirty="0">
                <a:solidFill>
                  <a:srgbClr val="334155"/>
                </a:solidFill>
                <a:latin typeface="Roboto"/>
              </a:rPr>
              <a:t>Web 3.0 protocols (IPFS, Ethereum, </a:t>
            </a:r>
            <a:r>
              <a:rPr sz="1600" b="0" i="0" u="none" dirty="0" err="1">
                <a:solidFill>
                  <a:srgbClr val="334155"/>
                </a:solidFill>
                <a:latin typeface="Roboto"/>
              </a:rPr>
              <a:t>Chainlink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) require massive compute, low latency storage, and high availability provided by cloud </a:t>
            </a:r>
            <a:r>
              <a:rPr sz="1600" b="0" i="0" u="none" dirty="0" err="1">
                <a:solidFill>
                  <a:srgbClr val="334155"/>
                </a:solidFill>
                <a:latin typeface="Roboto"/>
              </a:rPr>
              <a:t>hyperscalers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984" y="3410682"/>
            <a:ext cx="1045380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600" b="0" i="0" u="none" dirty="0">
                <a:solidFill>
                  <a:srgbClr val="334155"/>
                </a:solidFill>
                <a:latin typeface="Roboto"/>
              </a:rPr>
              <a:t>Cloud providers offer managed blockchain RPC nodes, AI model hosting (LLMs), and decentralized storage gateway connectors.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Convergence: Cloud &amp; Web 3.0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99" y="476250"/>
            <a:ext cx="7097661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0F172A"/>
                </a:solidFill>
                <a:latin typeface="Poppins"/>
              </a:rPr>
              <a:t>Case Study 1: Best Buy Commerce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rcRect t="6944"/>
          <a:stretch>
            <a:fillRect/>
          </a:stretch>
        </p:blipFill>
        <p:spPr>
          <a:xfrm>
            <a:off x="6286500" y="476250"/>
            <a:ext cx="5905500" cy="6381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685925"/>
            <a:ext cx="56007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1E293B"/>
                </a:solidFill>
                <a:latin typeface="Poppins SemiBold"/>
              </a:rPr>
              <a:t>Search Optimization via </a:t>
            </a:r>
            <a:r>
              <a:rPr sz="1650" b="0" i="0" u="none" dirty="0" err="1">
                <a:solidFill>
                  <a:srgbClr val="1E293B"/>
                </a:solidFill>
                <a:latin typeface="Poppins SemiBold"/>
              </a:rPr>
              <a:t>GoodRelations</a:t>
            </a:r>
            <a:endParaRPr sz="1650" b="0" i="0" u="none" dirty="0">
              <a:solidFill>
                <a:srgbClr val="1E293B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282399"/>
            <a:ext cx="5334000" cy="71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1" i="0" u="none" dirty="0">
                <a:solidFill>
                  <a:srgbClr val="334155"/>
                </a:solidFill>
                <a:latin typeface="Roboto"/>
              </a:rPr>
              <a:t>Challenge: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 Search engine crawlers struggled to understand complex product specifications, store inventory, and dynamic pricing across thousands of SKUs.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375772"/>
            <a:ext cx="53340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1" i="0" u="none" dirty="0">
                <a:solidFill>
                  <a:srgbClr val="334155"/>
                </a:solidFill>
                <a:latin typeface="Roboto"/>
              </a:rPr>
              <a:t>Semantic Solution: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 Best Buy embedded Good</a:t>
            </a:r>
            <a:r>
              <a:rPr lang="en-IN" sz="1400" b="0" i="0" u="none" dirty="0">
                <a:solidFill>
                  <a:srgbClr val="334155"/>
                </a:solidFill>
                <a:latin typeface="Roboto"/>
              </a:rPr>
              <a:t> 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Relations RDF</a:t>
            </a:r>
            <a:r>
              <a:rPr lang="en-IN" sz="1400" b="0" i="0" u="none" dirty="0">
                <a:solidFill>
                  <a:srgbClr val="334155"/>
                </a:solidFill>
                <a:latin typeface="Roboto"/>
              </a:rPr>
              <a:t> 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a semantic markup into their product pages.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200899"/>
            <a:ext cx="5334000" cy="714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400" b="1" i="0" u="none" dirty="0">
                <a:solidFill>
                  <a:srgbClr val="334155"/>
                </a:solidFill>
                <a:latin typeface="Roboto"/>
              </a:rPr>
              <a:t>Outcome:</a:t>
            </a:r>
            <a:r>
              <a:rPr sz="1400" b="0" i="0" u="none" dirty="0">
                <a:solidFill>
                  <a:srgbClr val="334155"/>
                </a:solidFill>
                <a:latin typeface="Roboto"/>
              </a:rPr>
              <a:t> Search engines instantly indexed product attributes, increasing organic traffic, click-through rates, and targeted e-commerce conversions.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29341" y="2838450"/>
            <a:ext cx="94386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0F172A"/>
                </a:solidFill>
                <a:latin typeface="Roboto"/>
              </a:rPr>
              <a:t>Open Graph Protocol: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Facebook introduced semantic Open Graph meta tags (</a:t>
            </a:r>
            <a:r>
              <a:rPr sz="1600" b="0" i="0" u="none" dirty="0" err="1">
                <a:solidFill>
                  <a:srgbClr val="334155"/>
                </a:solidFill>
                <a:latin typeface="Roboto"/>
              </a:rPr>
              <a:t>og:title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Roboto"/>
              </a:rPr>
              <a:t>og:type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Roboto"/>
              </a:rPr>
              <a:t>og:image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), transforming standalone webpages into semantic objects in a global social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9340" y="3535926"/>
            <a:ext cx="94386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0F172A"/>
                </a:solidFill>
                <a:latin typeface="Roboto"/>
              </a:rPr>
              <a:t>Graph Search &amp; Entity Mapping: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By connecting users, places, interests, and media as nodes and edges, natural queries like </a:t>
            </a:r>
            <a:r>
              <a:rPr sz="1600" b="0" i="1" u="none" dirty="0">
                <a:solidFill>
                  <a:srgbClr val="334155"/>
                </a:solidFill>
                <a:latin typeface="Roboto"/>
              </a:rPr>
              <a:t>"Friends who live in Seattle and like hiking"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became instantly solvable.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9341" y="4210050"/>
            <a:ext cx="9281343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solidFill>
                  <a:srgbClr val="0F172A"/>
                </a:solidFill>
                <a:latin typeface="Roboto"/>
              </a:rPr>
              <a:t>Cloud-Scale Analytics:</a:t>
            </a:r>
            <a:r>
              <a:rPr sz="1600" b="0" i="0" u="none" dirty="0">
                <a:solidFill>
                  <a:srgbClr val="334155"/>
                </a:solidFill>
                <a:latin typeface="Roboto"/>
              </a:rPr>
              <a:t> Real-time processing of billions of social graph connections executed across distributed multicore compute clusters.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38451"/>
            <a:ext cx="401637" cy="3667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3464719"/>
            <a:ext cx="333375" cy="35004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19563"/>
            <a:ext cx="362857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Case Study 2: Connecting Info (Facebook)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29075"/>
            <a:ext cx="2541240" cy="15144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66950"/>
            <a:ext cx="2541240" cy="1285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29075"/>
            <a:ext cx="254124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038350"/>
            <a:ext cx="2541240" cy="15144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7190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988" y="4181475"/>
            <a:ext cx="234826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Poppins SemiBold"/>
              </a:rPr>
              <a:t>Web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900" y="4591050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Static HTML, Read-Only directories, single-core desktop servers.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3908" y="2419350"/>
            <a:ext cx="234826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Poppins SemiBold"/>
              </a:rPr>
              <a:t>Web 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59819" y="2828925"/>
            <a:ext cx="2236440" cy="6796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Dynamic AJAX, social networks, user content, early Cloud SaaS.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9828" y="4181475"/>
            <a:ext cx="234826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Poppins SemiBold"/>
              </a:rPr>
              <a:t>Multicore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5739" y="4591050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Hypervisors, vCPU scaling, task &amp; data parallelism, mega datacenters.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75748" y="2190750"/>
            <a:ext cx="234826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1E293B"/>
                </a:solidFill>
                <a:latin typeface="Poppins SemiBold"/>
              </a:rPr>
              <a:t>Web 3.0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1659" y="2600325"/>
            <a:ext cx="22364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400" b="0" i="0" u="none" dirty="0">
                <a:solidFill>
                  <a:srgbClr val="334155"/>
                </a:solidFill>
                <a:latin typeface="Roboto"/>
              </a:rPr>
              <a:t>Semantic RDF graph, AI integration, decentralized cloud convergence.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56395" y="37052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92315" y="37052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428234" y="37052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264154" y="3705225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Poppins"/>
              </a:rPr>
              <a:t>Evolutionary Roadmap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2256" y="2626596"/>
            <a:ext cx="1160145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250" b="1" i="0" u="none" dirty="0">
                <a:solidFill>
                  <a:srgbClr val="0F172A"/>
                </a:solidFill>
                <a:latin typeface="Poppi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326" y="3726579"/>
            <a:ext cx="110490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475569"/>
                </a:solidFill>
                <a:latin typeface="Roboto"/>
              </a:rPr>
              <a:t>Thank you for participating in today's Cloud Computing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1233</Words>
  <Application>Microsoft Office PowerPoint</Application>
  <PresentationFormat>Widescreen</PresentationFormat>
  <Paragraphs>117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Poppins</vt:lpstr>
      <vt:lpstr>Poppins SemiBold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Chaitanya Palli</cp:lastModifiedBy>
  <cp:revision>8</cp:revision>
  <dcterms:created xsi:type="dcterms:W3CDTF">2013-01-27T09:14:16Z</dcterms:created>
  <dcterms:modified xsi:type="dcterms:W3CDTF">2026-08-12T10:27:21Z</dcterms:modified>
  <cp:category/>
</cp:coreProperties>
</file>