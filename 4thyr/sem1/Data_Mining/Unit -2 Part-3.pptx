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297" r:id="rId3"/>
    <p:sldId id="300" r:id="rId4"/>
    <p:sldId id="301" r:id="rId5"/>
    <p:sldId id="302" r:id="rId6"/>
    <p:sldId id="303" r:id="rId7"/>
    <p:sldId id="304" r:id="rId8"/>
    <p:sldId id="305" r:id="rId9"/>
    <p:sldId id="307" r:id="rId10"/>
    <p:sldId id="308" r:id="rId11"/>
    <p:sldId id="1201" r:id="rId12"/>
    <p:sldId id="309" r:id="rId13"/>
    <p:sldId id="1202" r:id="rId14"/>
    <p:sldId id="310" r:id="rId15"/>
    <p:sldId id="295"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94"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8B931D-A433-438F-AEBB-1ECA22CB9E4C}" type="datetimeFigureOut">
              <a:rPr lang="en-IN" smtClean="0"/>
              <a:t>04-08-2026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7D8915-607C-443A-B92B-ABCCA54276B7}" type="slidenum">
              <a:rPr lang="en-IN" smtClean="0"/>
              <a:t>‹#›</a:t>
            </a:fld>
            <a:endParaRPr lang="en-IN"/>
          </a:p>
        </p:txBody>
      </p:sp>
    </p:spTree>
    <p:extLst>
      <p:ext uri="{BB962C8B-B14F-4D97-AF65-F5344CB8AC3E}">
        <p14:creationId xmlns:p14="http://schemas.microsoft.com/office/powerpoint/2010/main" val="441779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A638A354-B4F8-731A-1241-E61A847DB83A}"/>
              </a:ext>
            </a:extLst>
          </p:cNvPr>
          <p:cNvSpPr>
            <a:spLocks noGrp="1" noChangeArrowheads="1"/>
          </p:cNvSpPr>
          <p:nvPr>
            <p:ph type="sldNum" sz="quarter" idx="5"/>
          </p:nvPr>
        </p:nvSpPr>
        <p:spPr>
          <a:noFill/>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FE313A8B-1B5B-4F83-ABC8-55D5203F3685}" type="slidenum">
              <a:rPr lang="en-US" altLang="en-US" sz="1200">
                <a:latin typeface="Times New Roman" panose="02020603050405020304" pitchFamily="18" charset="0"/>
              </a:rPr>
              <a:pPr/>
              <a:t>11</a:t>
            </a:fld>
            <a:endParaRPr lang="en-US" altLang="en-US" sz="1200">
              <a:latin typeface="Times New Roman" panose="02020603050405020304" pitchFamily="18" charset="0"/>
            </a:endParaRPr>
          </a:p>
        </p:txBody>
      </p:sp>
      <p:sp>
        <p:nvSpPr>
          <p:cNvPr id="94211" name="Rectangle 2">
            <a:extLst>
              <a:ext uri="{FF2B5EF4-FFF2-40B4-BE49-F238E27FC236}">
                <a16:creationId xmlns:a16="http://schemas.microsoft.com/office/drawing/2014/main" id="{777C5A85-4FB5-2E4A-7ED3-CDEBD1960E82}"/>
              </a:ext>
            </a:extLst>
          </p:cNvPr>
          <p:cNvSpPr>
            <a:spLocks noChangeArrowheads="1" noTextEdit="1"/>
          </p:cNvSpPr>
          <p:nvPr>
            <p:ph type="sldImg"/>
          </p:nvPr>
        </p:nvSpPr>
        <p:spPr>
          <a:ln/>
        </p:spPr>
      </p:sp>
      <p:sp>
        <p:nvSpPr>
          <p:cNvPr id="94212" name="Rectangle 3">
            <a:extLst>
              <a:ext uri="{FF2B5EF4-FFF2-40B4-BE49-F238E27FC236}">
                <a16:creationId xmlns:a16="http://schemas.microsoft.com/office/drawing/2014/main" id="{6264AF2A-1DB2-D2B5-8305-A00DE2B68BA7}"/>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C4CA7563-0F18-81AC-5B60-EF2435C71B3B}"/>
              </a:ext>
            </a:extLst>
          </p:cNvPr>
          <p:cNvSpPr>
            <a:spLocks noGrp="1" noChangeArrowheads="1"/>
          </p:cNvSpPr>
          <p:nvPr>
            <p:ph type="sldNum" sz="quarter" idx="5"/>
          </p:nvPr>
        </p:nvSpPr>
        <p:spPr>
          <a:noFill/>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AA39C434-C5A1-4FE4-83A1-81DC15BA9903}" type="slidenum">
              <a:rPr lang="en-US" altLang="en-US" sz="1200">
                <a:latin typeface="Times New Roman" panose="02020603050405020304" pitchFamily="18" charset="0"/>
              </a:rPr>
              <a:pPr/>
              <a:t>13</a:t>
            </a:fld>
            <a:endParaRPr lang="en-US" altLang="en-US" sz="1200">
              <a:latin typeface="Times New Roman" panose="02020603050405020304" pitchFamily="18" charset="0"/>
            </a:endParaRPr>
          </a:p>
        </p:txBody>
      </p:sp>
      <p:sp>
        <p:nvSpPr>
          <p:cNvPr id="97283" name="Rectangle 2">
            <a:extLst>
              <a:ext uri="{FF2B5EF4-FFF2-40B4-BE49-F238E27FC236}">
                <a16:creationId xmlns:a16="http://schemas.microsoft.com/office/drawing/2014/main" id="{B2AEFBA6-020D-47AE-3BB7-B08B0B739850}"/>
              </a:ext>
            </a:extLst>
          </p:cNvPr>
          <p:cNvSpPr>
            <a:spLocks noChangeArrowheads="1" noTextEdit="1"/>
          </p:cNvSpPr>
          <p:nvPr>
            <p:ph type="sldImg"/>
          </p:nvPr>
        </p:nvSpPr>
        <p:spPr>
          <a:ln/>
        </p:spPr>
      </p:sp>
      <p:sp>
        <p:nvSpPr>
          <p:cNvPr id="97284" name="Rectangle 3">
            <a:extLst>
              <a:ext uri="{FF2B5EF4-FFF2-40B4-BE49-F238E27FC236}">
                <a16:creationId xmlns:a16="http://schemas.microsoft.com/office/drawing/2014/main" id="{D04CF5F9-5650-89EA-5680-1FABDAA53FC4}"/>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077E622D-688E-4B32-BEB3-4970C061C57D}" type="datetimeFigureOut">
              <a:rPr lang="en-US" smtClean="0"/>
              <a:pPr/>
              <a:t>8/4/2026</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7C821317-7AA6-422E-89DF-D41F562F285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77E622D-688E-4B32-BEB3-4970C061C57D}" type="datetimeFigureOut">
              <a:rPr lang="en-US" smtClean="0"/>
              <a:pPr/>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21317-7AA6-422E-89DF-D41F562F2851}" type="slidenum">
              <a:rPr lang="en-US" smtClean="0"/>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077E622D-688E-4B32-BEB3-4970C061C57D}" type="datetimeFigureOut">
              <a:rPr lang="en-US" smtClean="0"/>
              <a:pPr/>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21317-7AA6-422E-89DF-D41F562F2851}"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077E622D-688E-4B32-BEB3-4970C061C57D}" type="datetimeFigureOut">
              <a:rPr lang="en-US" smtClean="0"/>
              <a:pPr/>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821317-7AA6-422E-89DF-D41F562F2851}" type="slidenum">
              <a:rPr lang="en-US" smtClean="0"/>
              <a:pPr/>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077E622D-688E-4B32-BEB3-4970C061C57D}" type="datetimeFigureOut">
              <a:rPr lang="en-US" smtClean="0"/>
              <a:pPr/>
              <a:t>8/4/2026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C821317-7AA6-422E-89DF-D41F562F285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77E622D-688E-4B32-BEB3-4970C061C57D}" type="datetimeFigureOut">
              <a:rPr lang="en-US" smtClean="0"/>
              <a:pPr/>
              <a:t>8/4/2026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821317-7AA6-422E-89DF-D41F562F2851}" type="slidenum">
              <a:rPr lang="en-US" smtClean="0"/>
              <a:pPr/>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7E622D-688E-4B32-BEB3-4970C061C57D}" type="datetimeFigureOut">
              <a:rPr lang="en-US" smtClean="0"/>
              <a:pPr/>
              <a:t>8/4/2026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C821317-7AA6-422E-89DF-D41F562F285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077E622D-688E-4B32-BEB3-4970C061C57D}" type="datetimeFigureOut">
              <a:rPr lang="en-US" smtClean="0"/>
              <a:pPr/>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821317-7AA6-422E-89DF-D41F562F285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077E622D-688E-4B32-BEB3-4970C061C57D}" type="datetimeFigureOut">
              <a:rPr lang="en-US" smtClean="0"/>
              <a:pPr/>
              <a:t>8/4/2026</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7C821317-7AA6-422E-89DF-D41F562F2851}"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77E622D-688E-4B32-BEB3-4970C061C57D}" type="datetimeFigureOut">
              <a:rPr lang="en-US" smtClean="0"/>
              <a:pPr/>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21317-7AA6-422E-89DF-D41F562F285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77E622D-688E-4B32-BEB3-4970C061C57D}" type="datetimeFigureOut">
              <a:rPr lang="en-US" smtClean="0"/>
              <a:pPr/>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21317-7AA6-422E-89DF-D41F562F285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077E622D-688E-4B32-BEB3-4970C061C57D}" type="datetimeFigureOut">
              <a:rPr lang="en-US" smtClean="0"/>
              <a:pPr/>
              <a:t>8/4/2026</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7C821317-7AA6-422E-89DF-D41F562F285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52601"/>
            <a:ext cx="7772400" cy="914399"/>
          </a:xfrm>
        </p:spPr>
        <p:txBody>
          <a:bodyPr>
            <a:normAutofit fontScale="90000"/>
          </a:bodyPr>
          <a:lstStyle/>
          <a:p>
            <a:r>
              <a:rPr lang="en-US" dirty="0">
                <a:solidFill>
                  <a:srgbClr val="002060"/>
                </a:solidFill>
                <a:latin typeface="Times New Roman" pitchFamily="18" charset="0"/>
                <a:cs typeface="Times New Roman" pitchFamily="18" charset="0"/>
              </a:rPr>
              <a:t>Data Mining</a:t>
            </a:r>
            <a:br>
              <a:rPr lang="en-US" dirty="0">
                <a:solidFill>
                  <a:srgbClr val="002060"/>
                </a:solidFill>
                <a:latin typeface="Times New Roman" pitchFamily="18" charset="0"/>
                <a:cs typeface="Times New Roman" pitchFamily="18" charset="0"/>
              </a:rPr>
            </a:br>
            <a:r>
              <a:rPr lang="en-US" sz="2200" dirty="0">
                <a:solidFill>
                  <a:srgbClr val="002060"/>
                </a:solidFill>
                <a:effectLst/>
                <a:latin typeface="Times New Roman" panose="02020603050405020304" pitchFamily="18" charset="0"/>
                <a:cs typeface="Times New Roman" panose="02020603050405020304" pitchFamily="18" charset="0"/>
              </a:rPr>
              <a:t>Unit-II: </a:t>
            </a:r>
            <a:r>
              <a:rPr lang="en-US" sz="2400" dirty="0">
                <a:solidFill>
                  <a:srgbClr val="002060"/>
                </a:solidFill>
                <a:latin typeface="Times New Roman" panose="02020603050405020304" pitchFamily="18" charset="0"/>
                <a:cs typeface="Times New Roman" panose="02020603050405020304" pitchFamily="18" charset="0"/>
              </a:rPr>
              <a:t>Association Analysis</a:t>
            </a:r>
            <a:endParaRPr lang="en-US" sz="2200" dirty="0">
              <a:solidFill>
                <a:srgbClr val="002060"/>
              </a:solidFill>
              <a:effectLst/>
            </a:endParaRPr>
          </a:p>
        </p:txBody>
      </p:sp>
      <p:sp>
        <p:nvSpPr>
          <p:cNvPr id="4" name="TextBox 3">
            <a:extLst>
              <a:ext uri="{FF2B5EF4-FFF2-40B4-BE49-F238E27FC236}">
                <a16:creationId xmlns:a16="http://schemas.microsoft.com/office/drawing/2014/main" id="{7F283DA4-7B6E-EABD-9B92-3DDB1E9DFE59}"/>
              </a:ext>
            </a:extLst>
          </p:cNvPr>
          <p:cNvSpPr txBox="1"/>
          <p:nvPr/>
        </p:nvSpPr>
        <p:spPr>
          <a:xfrm>
            <a:off x="5715000" y="3581400"/>
            <a:ext cx="2057400" cy="923330"/>
          </a:xfrm>
          <a:prstGeom prst="rect">
            <a:avLst/>
          </a:prstGeom>
          <a:noFill/>
        </p:spPr>
        <p:txBody>
          <a:bodyPr wrap="square">
            <a:spAutoFit/>
          </a:bodyPr>
          <a:lstStyle/>
          <a:p>
            <a:r>
              <a:rPr lang="en-US" dirty="0" err="1">
                <a:solidFill>
                  <a:srgbClr val="002060"/>
                </a:solidFill>
                <a:latin typeface="Times New Roman" pitchFamily="18" charset="0"/>
                <a:cs typeface="Times New Roman" pitchFamily="18" charset="0"/>
              </a:rPr>
              <a:t>Dr.G.Padmavathi</a:t>
            </a:r>
            <a:br>
              <a:rPr lang="en-US" dirty="0">
                <a:solidFill>
                  <a:srgbClr val="002060"/>
                </a:solidFill>
                <a:latin typeface="Times New Roman" pitchFamily="18" charset="0"/>
                <a:cs typeface="Times New Roman" pitchFamily="18" charset="0"/>
              </a:rPr>
            </a:br>
            <a:r>
              <a:rPr lang="en-US" dirty="0">
                <a:solidFill>
                  <a:srgbClr val="002060"/>
                </a:solidFill>
                <a:latin typeface="Times New Roman" pitchFamily="18" charset="0"/>
                <a:cs typeface="Times New Roman" pitchFamily="18" charset="0"/>
              </a:rPr>
              <a:t>Associate professor</a:t>
            </a:r>
            <a:br>
              <a:rPr lang="en-US" dirty="0">
                <a:solidFill>
                  <a:srgbClr val="002060"/>
                </a:solidFill>
                <a:latin typeface="Times New Roman" pitchFamily="18" charset="0"/>
                <a:cs typeface="Times New Roman" pitchFamily="18" charset="0"/>
              </a:rPr>
            </a:br>
            <a:r>
              <a:rPr lang="en-US" dirty="0">
                <a:solidFill>
                  <a:srgbClr val="002060"/>
                </a:solidFill>
                <a:latin typeface="Times New Roman" pitchFamily="18" charset="0"/>
                <a:cs typeface="Times New Roman" pitchFamily="18" charset="0"/>
              </a:rPr>
              <a:t>CRRAO AIMSCS</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782DFA-BB00-CAEC-DE94-CEA86293C426}"/>
              </a:ext>
            </a:extLst>
          </p:cNvPr>
          <p:cNvSpPr>
            <a:spLocks noGrp="1"/>
          </p:cNvSpPr>
          <p:nvPr>
            <p:ph idx="1"/>
          </p:nvPr>
        </p:nvSpPr>
        <p:spPr>
          <a:xfrm>
            <a:off x="457200" y="973394"/>
            <a:ext cx="8229600" cy="4525963"/>
          </a:xfrm>
        </p:spPr>
        <p:txBody>
          <a:bodyPr>
            <a:normAutofit/>
          </a:bodyPr>
          <a:lstStyle/>
          <a:p>
            <a:r>
              <a:rPr lang="en-IN" dirty="0">
                <a:latin typeface="Times New Roman" panose="02020603050405020304" pitchFamily="18" charset="0"/>
                <a:cs typeface="Times New Roman" panose="02020603050405020304" pitchFamily="18" charset="0"/>
              </a:rPr>
              <a:t>Credits: 3 (L-T-P: 3-0-0)</a:t>
            </a:r>
          </a:p>
          <a:p>
            <a:r>
              <a:rPr lang="en-IN" dirty="0">
                <a:latin typeface="Times New Roman" panose="02020603050405020304" pitchFamily="18" charset="0"/>
                <a:cs typeface="Times New Roman" panose="02020603050405020304" pitchFamily="18" charset="0"/>
              </a:rPr>
              <a:t>Pre-requisites: Database Management Systems</a:t>
            </a:r>
          </a:p>
          <a:p>
            <a:r>
              <a:rPr lang="en-IN" dirty="0">
                <a:latin typeface="Times New Roman" panose="02020603050405020304" pitchFamily="18" charset="0"/>
                <a:cs typeface="Times New Roman" panose="02020603050405020304" pitchFamily="18" charset="0"/>
              </a:rPr>
              <a:t>Probability and Statistics</a:t>
            </a:r>
          </a:p>
          <a:p>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Goal: Introduce key data mining techniques &amp; their applications</a:t>
            </a:r>
          </a:p>
          <a:p>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325DDA09-B579-C2F7-8169-01A2DCEE2F48}"/>
              </a:ext>
            </a:extLst>
          </p:cNvPr>
          <p:cNvSpPr>
            <a:spLocks noGrp="1"/>
          </p:cNvSpPr>
          <p:nvPr>
            <p:ph type="title"/>
          </p:nvPr>
        </p:nvSpPr>
        <p:spPr>
          <a:xfrm>
            <a:off x="457200" y="274638"/>
            <a:ext cx="8229600" cy="715962"/>
          </a:xfrm>
        </p:spPr>
        <p:txBody>
          <a:bodyPr>
            <a:normAutofit/>
          </a:bodyPr>
          <a:lstStyle/>
          <a:p>
            <a:pPr algn="ctr"/>
            <a:r>
              <a:rPr lang="en-IN" sz="3200" dirty="0">
                <a:latin typeface="Times New Roman" panose="02020603050405020304" pitchFamily="18" charset="0"/>
                <a:cs typeface="Times New Roman" panose="02020603050405020304" pitchFamily="18" charset="0"/>
              </a:rPr>
              <a:t>Course Overview</a:t>
            </a:r>
          </a:p>
        </p:txBody>
      </p:sp>
    </p:spTree>
    <p:extLst>
      <p:ext uri="{BB962C8B-B14F-4D97-AF65-F5344CB8AC3E}">
        <p14:creationId xmlns:p14="http://schemas.microsoft.com/office/powerpoint/2010/main" val="1644349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3C9514-1AFC-5B37-4DC9-4151E7197ABA}"/>
              </a:ext>
            </a:extLst>
          </p:cNvPr>
          <p:cNvSpPr>
            <a:spLocks noGrp="1"/>
          </p:cNvSpPr>
          <p:nvPr>
            <p:ph idx="1"/>
          </p:nvPr>
        </p:nvSpPr>
        <p:spPr>
          <a:xfrm>
            <a:off x="471948" y="507027"/>
            <a:ext cx="8229600" cy="6019800"/>
          </a:xfrm>
        </p:spPr>
        <p:txBody>
          <a:bodyPr>
            <a:noAutofit/>
          </a:bodyPr>
          <a:lstStyle/>
          <a:p>
            <a:pPr marL="109728" indent="0">
              <a:buNone/>
            </a:pPr>
            <a:r>
              <a:rPr lang="en-US" sz="1400" b="1" dirty="0">
                <a:latin typeface="Times New Roman" panose="02020603050405020304" pitchFamily="18" charset="0"/>
                <a:cs typeface="Times New Roman" panose="02020603050405020304" pitchFamily="18" charset="0"/>
              </a:rPr>
              <a:t>UNIT - I</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Introduction to Data Mining:</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What Data mining? Kinds of Data, Knowledge Discovery process, Data Mining Functionalities, Kinds of Patterns, Major Issues in Data Mining. Data Objects and Attribute Types, Basic Statistical Descriptions of Data, Data Visualization, Measuring Data Similarity and Dissimilarity, Data Pre-processing</a:t>
            </a:r>
            <a:r>
              <a:rPr lang="en-US" sz="1400" b="1"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Major Tasks in Data Pre-processing, Data Cleaning, Data Integration, Data Reduction, Data Transformation and Data Discretization.</a:t>
            </a:r>
            <a:endParaRPr lang="en-IN" sz="1400" dirty="0">
              <a:latin typeface="Times New Roman" panose="02020603050405020304" pitchFamily="18" charset="0"/>
              <a:cs typeface="Times New Roman" panose="02020603050405020304" pitchFamily="18" charset="0"/>
            </a:endParaRPr>
          </a:p>
          <a:p>
            <a:pPr marL="109728" indent="0">
              <a:buNone/>
            </a:pPr>
            <a:r>
              <a:rPr lang="en-US" sz="1400" b="1" dirty="0">
                <a:latin typeface="Times New Roman" panose="02020603050405020304" pitchFamily="18" charset="0"/>
                <a:cs typeface="Times New Roman" panose="02020603050405020304" pitchFamily="18" charset="0"/>
              </a:rPr>
              <a:t>UNIT - II</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Association Analysis: </a:t>
            </a:r>
            <a:r>
              <a:rPr lang="en-US" sz="1400" dirty="0">
                <a:latin typeface="Times New Roman" panose="02020603050405020304" pitchFamily="18" charset="0"/>
                <a:cs typeface="Times New Roman" panose="02020603050405020304" pitchFamily="18" charset="0"/>
              </a:rPr>
              <a:t>Basic Concepts, Market Basket Analysis, </a:t>
            </a:r>
            <a:r>
              <a:rPr lang="en-US" sz="1400" dirty="0" err="1">
                <a:latin typeface="Times New Roman" panose="02020603050405020304" pitchFamily="18" charset="0"/>
                <a:cs typeface="Times New Roman" panose="02020603050405020304" pitchFamily="18" charset="0"/>
              </a:rPr>
              <a:t>Apriori</a:t>
            </a:r>
            <a:r>
              <a:rPr lang="en-US" sz="1400" dirty="0">
                <a:latin typeface="Times New Roman" panose="02020603050405020304" pitchFamily="18" charset="0"/>
                <a:cs typeface="Times New Roman" panose="02020603050405020304" pitchFamily="18" charset="0"/>
              </a:rPr>
              <a:t> Algorithm, FP-growth, From Association Analysis to Correlation Analysis, Pattern Mining in Multilevel Associations and Multidimensional Associations.</a:t>
            </a:r>
            <a:endParaRPr lang="en-IN" sz="1400" dirty="0">
              <a:latin typeface="Times New Roman" panose="02020603050405020304" pitchFamily="18" charset="0"/>
              <a:cs typeface="Times New Roman" panose="02020603050405020304" pitchFamily="18" charset="0"/>
            </a:endParaRPr>
          </a:p>
          <a:p>
            <a:pPr marL="109728" indent="0">
              <a:buNone/>
            </a:pPr>
            <a:r>
              <a:rPr lang="en-US" sz="1400" b="1" dirty="0">
                <a:latin typeface="Times New Roman" panose="02020603050405020304" pitchFamily="18" charset="0"/>
                <a:cs typeface="Times New Roman" panose="02020603050405020304" pitchFamily="18" charset="0"/>
              </a:rPr>
              <a:t>UNIT - III</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Classification: </a:t>
            </a:r>
            <a:r>
              <a:rPr lang="en-US" sz="1400" dirty="0">
                <a:latin typeface="Times New Roman" panose="02020603050405020304" pitchFamily="18" charset="0"/>
                <a:cs typeface="Times New Roman" panose="02020603050405020304" pitchFamily="18" charset="0"/>
              </a:rPr>
              <a:t>Basic Concepts, Decision Tree Induction, Bayes Classification Methods, Rule-Based Classification, Metrics for Evaluating Classifier Performance, Ensemble Methods, Multilayer Feed- Forward Neural Network, Support Vector Machines, k-Nearest-Neighbor Classifiers.</a:t>
            </a:r>
            <a:endParaRPr lang="en-IN" sz="1400" dirty="0">
              <a:latin typeface="Times New Roman" panose="02020603050405020304" pitchFamily="18" charset="0"/>
              <a:cs typeface="Times New Roman" panose="02020603050405020304" pitchFamily="18" charset="0"/>
            </a:endParaRPr>
          </a:p>
          <a:p>
            <a:pPr marL="109728" indent="0">
              <a:buNone/>
            </a:pPr>
            <a:r>
              <a:rPr lang="en-US" sz="1400" b="1" dirty="0">
                <a:latin typeface="Times New Roman" panose="02020603050405020304" pitchFamily="18" charset="0"/>
                <a:cs typeface="Times New Roman" panose="02020603050405020304" pitchFamily="18" charset="0"/>
              </a:rPr>
              <a:t>UNIT - IV</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Cluster Analysis: </a:t>
            </a:r>
            <a:r>
              <a:rPr lang="en-US" sz="1400" dirty="0">
                <a:latin typeface="Times New Roman" panose="02020603050405020304" pitchFamily="18" charset="0"/>
                <a:cs typeface="Times New Roman" panose="02020603050405020304" pitchFamily="18" charset="0"/>
              </a:rPr>
              <a:t>Requirements for Cluster Analysis, Overview of Basic Clustering Methods, Partitioning Methods-k-Means, k-Medoids, Hierarchical Methods-AGENES, DIANA, BIRCH, Density- Based Method-DBSCAN, Outlier Analysis: Types of Outliers, Challenges of Outlier Detection, and Overview of Outlier Detection Methods</a:t>
            </a:r>
            <a:endParaRPr lang="en-IN" sz="1400" dirty="0">
              <a:latin typeface="Times New Roman" panose="02020603050405020304" pitchFamily="18" charset="0"/>
              <a:cs typeface="Times New Roman" panose="02020603050405020304" pitchFamily="18" charset="0"/>
            </a:endParaRPr>
          </a:p>
          <a:p>
            <a:pPr marL="109728" indent="0">
              <a:buNone/>
            </a:pP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UNIT - V</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Advanced Concepts: </a:t>
            </a:r>
            <a:r>
              <a:rPr lang="en-US" sz="1400" dirty="0">
                <a:latin typeface="Times New Roman" panose="02020603050405020304" pitchFamily="18" charset="0"/>
                <a:cs typeface="Times New Roman" panose="02020603050405020304" pitchFamily="18" charset="0"/>
              </a:rPr>
              <a:t>Web Mining- Web Content Mining, Web Structure Mining, Web Usage Mining, Spatial Mining- Spatial Data Overview, Spatial Data Mining Primitives, Spatial Rules, Spatial Classification Algorithm, Spatial Clustering Algorithms, Temporal Mining- Modeling Temporal Events, Time Series, Pattern Detection, Sequences, Temporal Association Rules.</a:t>
            </a:r>
            <a:endParaRPr lang="en-IN"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0559E7D3-4393-3786-9AB0-8A133DB04BFD}"/>
              </a:ext>
            </a:extLst>
          </p:cNvPr>
          <p:cNvSpPr>
            <a:spLocks noGrp="1"/>
          </p:cNvSpPr>
          <p:nvPr>
            <p:ph type="title"/>
          </p:nvPr>
        </p:nvSpPr>
        <p:spPr>
          <a:xfrm>
            <a:off x="457200" y="19665"/>
            <a:ext cx="8229600" cy="487362"/>
          </a:xfrm>
        </p:spPr>
        <p:txBody>
          <a:bodyPr>
            <a:normAutofit fontScale="90000"/>
          </a:bodyPr>
          <a:lstStyle/>
          <a:p>
            <a:pPr algn="ctr"/>
            <a:r>
              <a:rPr lang="en-IN" sz="3200" dirty="0">
                <a:solidFill>
                  <a:srgbClr val="002060"/>
                </a:solidFill>
                <a:latin typeface="Times New Roman" panose="02020603050405020304" pitchFamily="18" charset="0"/>
                <a:cs typeface="Times New Roman" panose="02020603050405020304" pitchFamily="18" charset="0"/>
              </a:rPr>
              <a:t>Data Mining Syllabus</a:t>
            </a:r>
          </a:p>
        </p:txBody>
      </p:sp>
    </p:spTree>
    <p:extLst>
      <p:ext uri="{BB962C8B-B14F-4D97-AF65-F5344CB8AC3E}">
        <p14:creationId xmlns:p14="http://schemas.microsoft.com/office/powerpoint/2010/main" val="3847474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7D8B92D-28DA-CD2D-5048-336BEB13CBED}"/>
              </a:ext>
            </a:extLst>
          </p:cNvPr>
          <p:cNvSpPr>
            <a:spLocks noGrp="1"/>
          </p:cNvSpPr>
          <p:nvPr>
            <p:ph idx="1"/>
          </p:nvPr>
        </p:nvSpPr>
        <p:spPr>
          <a:xfrm>
            <a:off x="381000" y="457200"/>
            <a:ext cx="8229600" cy="4525963"/>
          </a:xfrm>
        </p:spPr>
        <p:txBody>
          <a:bodyPr>
            <a:normAutofit/>
          </a:bodyPr>
          <a:lstStyle/>
          <a:p>
            <a:r>
              <a:rPr lang="en-US" sz="2000" b="1" dirty="0">
                <a:latin typeface="Times New Roman" panose="02020603050405020304" pitchFamily="18" charset="0"/>
                <a:cs typeface="Times New Roman" panose="02020603050405020304" pitchFamily="18" charset="0"/>
              </a:rPr>
              <a:t>TEXT BOOKS:</a:t>
            </a:r>
          </a:p>
          <a:p>
            <a:endParaRPr lang="en-US" sz="2000" b="1" dirty="0">
              <a:latin typeface="Times New Roman" panose="02020603050405020304" pitchFamily="18" charset="0"/>
              <a:cs typeface="Times New Roman" panose="02020603050405020304" pitchFamily="18" charset="0"/>
            </a:endParaRPr>
          </a:p>
          <a:p>
            <a:pPr lvl="0"/>
            <a:r>
              <a:rPr lang="en-US" sz="2000" b="1" dirty="0">
                <a:latin typeface="Times New Roman" panose="02020603050405020304" pitchFamily="18" charset="0"/>
                <a:cs typeface="Times New Roman" panose="02020603050405020304" pitchFamily="18" charset="0"/>
              </a:rPr>
              <a:t>Jiawei Han, Micheline Kamber, Jian Pei., Data Mining: Concepts and Techniques, 3rd Edition, Morgan Kaufmann/Elsevier, 2012.</a:t>
            </a:r>
            <a:endParaRPr lang="en-IN" sz="2000" b="1"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Margaret H Dunham, Data Mining Introductory and Advanced Topics, 2nd Edition, Pearson Education, India, 2006.</a:t>
            </a:r>
            <a:endParaRPr lang="en-IN"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REFERENCE BOOKS:</a:t>
            </a:r>
          </a:p>
          <a:p>
            <a:pPr marL="109728" indent="0">
              <a:buNone/>
            </a:pP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Data Mining Techniques, Arun K Pujari, 3rd Edition, Universities Press.</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Pang-Ning Tan, Michael Steinbach, Anuj </a:t>
            </a:r>
            <a:r>
              <a:rPr lang="en-US" sz="2000" dirty="0" err="1">
                <a:latin typeface="Times New Roman" panose="02020603050405020304" pitchFamily="18" charset="0"/>
                <a:cs typeface="Times New Roman" panose="02020603050405020304" pitchFamily="18" charset="0"/>
              </a:rPr>
              <a:t>Karpatne</a:t>
            </a:r>
            <a:r>
              <a:rPr lang="en-US" sz="2000" dirty="0">
                <a:latin typeface="Times New Roman" panose="02020603050405020304" pitchFamily="18" charset="0"/>
                <a:cs typeface="Times New Roman" panose="02020603050405020304" pitchFamily="18" charset="0"/>
              </a:rPr>
              <a:t> and Vipin Kumar, Introduction to Data Mining, 2nd Edition, Pearson Education India, 2021.</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Amitesh Sinha, Data Warehousing, Thomson Learning, India, 2007.</a:t>
            </a: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9566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56B06F-0944-6F71-AF05-3698C0B1CFD6}"/>
              </a:ext>
            </a:extLst>
          </p:cNvPr>
          <p:cNvSpPr>
            <a:spLocks noGrp="1"/>
          </p:cNvSpPr>
          <p:nvPr>
            <p:ph idx="1"/>
          </p:nvPr>
        </p:nvSpPr>
        <p:spPr/>
        <p:txBody>
          <a:bodyPr/>
          <a:lstStyle/>
          <a:p>
            <a:r>
              <a:rPr lang="en-US" sz="2800" dirty="0">
                <a:latin typeface="Times New Roman" panose="02020603050405020304" pitchFamily="18" charset="0"/>
                <a:cs typeface="Times New Roman" panose="02020603050405020304" pitchFamily="18" charset="0"/>
              </a:rPr>
              <a:t>Basic Concepts: </a:t>
            </a:r>
            <a:r>
              <a:rPr lang="en-US" sz="2400" dirty="0">
                <a:latin typeface="Times New Roman" panose="02020603050405020304" pitchFamily="18" charset="0"/>
                <a:cs typeface="Times New Roman" panose="02020603050405020304" pitchFamily="18" charset="0"/>
              </a:rPr>
              <a:t>Market Basket Analysis, </a:t>
            </a:r>
          </a:p>
          <a:p>
            <a:pPr lvl="1"/>
            <a:r>
              <a:rPr lang="en-US" sz="2400" dirty="0" err="1">
                <a:latin typeface="Times New Roman" panose="02020603050405020304" pitchFamily="18" charset="0"/>
                <a:cs typeface="Times New Roman" panose="02020603050405020304" pitchFamily="18" charset="0"/>
              </a:rPr>
              <a:t>Apriori</a:t>
            </a:r>
            <a:r>
              <a:rPr lang="en-US" sz="2400" dirty="0">
                <a:latin typeface="Times New Roman" panose="02020603050405020304" pitchFamily="18" charset="0"/>
                <a:cs typeface="Times New Roman" panose="02020603050405020304" pitchFamily="18" charset="0"/>
              </a:rPr>
              <a:t> Algorithm, </a:t>
            </a:r>
          </a:p>
          <a:p>
            <a:pPr lvl="1"/>
            <a:r>
              <a:rPr lang="en-US" sz="2400" dirty="0">
                <a:latin typeface="Times New Roman" panose="02020603050405020304" pitchFamily="18" charset="0"/>
                <a:cs typeface="Times New Roman" panose="02020603050405020304" pitchFamily="18" charset="0"/>
              </a:rPr>
              <a:t>FP-growth, </a:t>
            </a:r>
          </a:p>
          <a:p>
            <a:r>
              <a:rPr lang="en-US" sz="2800" dirty="0">
                <a:latin typeface="Times New Roman" panose="02020603050405020304" pitchFamily="18" charset="0"/>
                <a:cs typeface="Times New Roman" panose="02020603050405020304" pitchFamily="18" charset="0"/>
              </a:rPr>
              <a:t>From Association Analysis to Correlation Analysis, </a:t>
            </a:r>
          </a:p>
          <a:p>
            <a:r>
              <a:rPr lang="en-US" sz="2800" b="1" dirty="0">
                <a:latin typeface="Times New Roman" panose="02020603050405020304" pitchFamily="18" charset="0"/>
                <a:cs typeface="Times New Roman" panose="02020603050405020304" pitchFamily="18" charset="0"/>
              </a:rPr>
              <a:t>Pattern Mining in </a:t>
            </a:r>
          </a:p>
          <a:p>
            <a:pPr lvl="1"/>
            <a:r>
              <a:rPr lang="en-US" sz="2400" b="1" dirty="0">
                <a:latin typeface="Times New Roman" panose="02020603050405020304" pitchFamily="18" charset="0"/>
                <a:cs typeface="Times New Roman" panose="02020603050405020304" pitchFamily="18" charset="0"/>
              </a:rPr>
              <a:t>Multilevel Associations and</a:t>
            </a:r>
          </a:p>
          <a:p>
            <a:pPr lvl="1"/>
            <a:r>
              <a:rPr lang="en-US" sz="2400" b="1" dirty="0">
                <a:latin typeface="Times New Roman" panose="02020603050405020304" pitchFamily="18" charset="0"/>
                <a:cs typeface="Times New Roman" panose="02020603050405020304" pitchFamily="18" charset="0"/>
              </a:rPr>
              <a:t> Multidimensional Associations.</a:t>
            </a:r>
            <a:endParaRPr lang="en-IN" sz="2400" b="1" dirty="0">
              <a:latin typeface="Times New Roman" panose="02020603050405020304" pitchFamily="18" charset="0"/>
              <a:cs typeface="Times New Roman" panose="02020603050405020304" pitchFamily="18" charset="0"/>
            </a:endParaRPr>
          </a:p>
          <a:p>
            <a:endParaRPr lang="en-IN" dirty="0"/>
          </a:p>
        </p:txBody>
      </p:sp>
      <p:sp>
        <p:nvSpPr>
          <p:cNvPr id="3" name="Title 2">
            <a:extLst>
              <a:ext uri="{FF2B5EF4-FFF2-40B4-BE49-F238E27FC236}">
                <a16:creationId xmlns:a16="http://schemas.microsoft.com/office/drawing/2014/main" id="{58E87388-470C-7DEE-22B9-3D7515416BB0}"/>
              </a:ext>
            </a:extLst>
          </p:cNvPr>
          <p:cNvSpPr>
            <a:spLocks noGrp="1"/>
          </p:cNvSpPr>
          <p:nvPr>
            <p:ph type="title"/>
          </p:nvPr>
        </p:nvSpPr>
        <p:spPr>
          <a:xfrm>
            <a:off x="457200" y="274638"/>
            <a:ext cx="8229600" cy="576071"/>
          </a:xfrm>
        </p:spPr>
        <p:txBody>
          <a:bodyPr>
            <a:normAutofit fontScale="90000"/>
          </a:bodyPr>
          <a:lstStyle/>
          <a:p>
            <a:pPr algn="ctr"/>
            <a:r>
              <a:rPr lang="en-US" sz="3200" dirty="0">
                <a:solidFill>
                  <a:srgbClr val="002060"/>
                </a:solidFill>
                <a:effectLst/>
                <a:latin typeface="Times New Roman" panose="02020603050405020304" pitchFamily="18" charset="0"/>
                <a:cs typeface="Times New Roman" panose="02020603050405020304" pitchFamily="18" charset="0"/>
              </a:rPr>
              <a:t>UNIT – II: Association Analysis</a:t>
            </a:r>
            <a:endParaRPr lang="en-IN" sz="3200" dirty="0">
              <a:solidFill>
                <a:srgbClr val="002060"/>
              </a:solidFill>
              <a:effectLst/>
            </a:endParaRPr>
          </a:p>
        </p:txBody>
      </p:sp>
    </p:spTree>
    <p:extLst>
      <p:ext uri="{BB962C8B-B14F-4D97-AF65-F5344CB8AC3E}">
        <p14:creationId xmlns:p14="http://schemas.microsoft.com/office/powerpoint/2010/main" val="109076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825AAFA-07BD-2D27-8F81-F2441045A769}"/>
              </a:ext>
            </a:extLst>
          </p:cNvPr>
          <p:cNvSpPr>
            <a:spLocks noGrp="1"/>
          </p:cNvSpPr>
          <p:nvPr>
            <p:ph idx="1"/>
          </p:nvPr>
        </p:nvSpPr>
        <p:spPr>
          <a:xfrm>
            <a:off x="609600" y="990600"/>
            <a:ext cx="7924800" cy="5257800"/>
          </a:xfrm>
        </p:spPr>
        <p:txBody>
          <a:bodyPr>
            <a:normAutofit fontScale="77500" lnSpcReduction="20000"/>
          </a:bodyPr>
          <a:lstStyle/>
          <a:p>
            <a:pPr lvl="0" algn="just" fontAlgn="base"/>
            <a:r>
              <a:rPr lang="en-IN" b="1" dirty="0">
                <a:latin typeface="Times New Roman" panose="02020603050405020304" pitchFamily="18" charset="0"/>
                <a:cs typeface="Times New Roman" panose="02020603050405020304" pitchFamily="18" charset="0"/>
              </a:rPr>
              <a:t>Multilevel Association Rule :</a:t>
            </a:r>
            <a:r>
              <a:rPr lang="en-IN" dirty="0">
                <a:latin typeface="Times New Roman" panose="02020603050405020304" pitchFamily="18" charset="0"/>
                <a:cs typeface="Times New Roman" panose="02020603050405020304" pitchFamily="18" charset="0"/>
              </a:rPr>
              <a:t> Association rules created from mining information at different degrees of reflection are called various level or staggered association rules. </a:t>
            </a:r>
          </a:p>
          <a:p>
            <a:pPr lvl="0" algn="just" fontAlgn="base"/>
            <a:endParaRPr lang="en-IN" dirty="0">
              <a:latin typeface="Times New Roman" panose="02020603050405020304" pitchFamily="18" charset="0"/>
              <a:cs typeface="Times New Roman" panose="02020603050405020304" pitchFamily="18" charset="0"/>
            </a:endParaRPr>
          </a:p>
          <a:p>
            <a:pPr lvl="0" algn="just" fontAlgn="base"/>
            <a:r>
              <a:rPr lang="en-IN" dirty="0">
                <a:latin typeface="Times New Roman" panose="02020603050405020304" pitchFamily="18" charset="0"/>
                <a:cs typeface="Times New Roman" panose="02020603050405020304" pitchFamily="18" charset="0"/>
              </a:rPr>
              <a:t>Multilevel association rules can be mined effectively utilizing idea progressions under a help certainty system. Rules at a high idea level may add to good judgment while rules at a low idea level may not be valuable consistently.</a:t>
            </a:r>
          </a:p>
          <a:p>
            <a:pPr lvl="0" algn="just" fontAlgn="base"/>
            <a:endParaRPr lang="en-IN" dirty="0">
              <a:latin typeface="Times New Roman" panose="02020603050405020304" pitchFamily="18" charset="0"/>
              <a:cs typeface="Times New Roman" panose="02020603050405020304" pitchFamily="18" charset="0"/>
            </a:endParaRPr>
          </a:p>
          <a:p>
            <a:pPr lvl="0" algn="just" fontAlgn="base"/>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Utilizing uniform least help for all levels :</a:t>
            </a:r>
            <a:r>
              <a:rPr lang="en-IN" dirty="0">
                <a:latin typeface="Times New Roman" panose="02020603050405020304" pitchFamily="18" charset="0"/>
                <a:cs typeface="Times New Roman" panose="02020603050405020304" pitchFamily="18" charset="0"/>
              </a:rPr>
              <a:t>At the point when a uniform least help edge is utilized, the pursuit system is rearranged.</a:t>
            </a:r>
          </a:p>
          <a:p>
            <a:pPr lvl="0" algn="just" fontAlgn="base"/>
            <a:endParaRPr lang="en-IN" dirty="0">
              <a:latin typeface="Times New Roman" panose="02020603050405020304" pitchFamily="18" charset="0"/>
              <a:cs typeface="Times New Roman" panose="02020603050405020304" pitchFamily="18" charset="0"/>
            </a:endParaRPr>
          </a:p>
          <a:p>
            <a:pPr lvl="0" algn="just" fontAlgn="base"/>
            <a:r>
              <a:rPr lang="en-IN" dirty="0">
                <a:latin typeface="Times New Roman" panose="02020603050405020304" pitchFamily="18" charset="0"/>
                <a:cs typeface="Times New Roman" panose="02020603050405020304" pitchFamily="18" charset="0"/>
              </a:rPr>
              <a:t>The technique is likewise straightforward, in that clients are needed to indicate just a single least help edge.</a:t>
            </a:r>
          </a:p>
          <a:p>
            <a:pPr lvl="0" algn="just" fontAlgn="base"/>
            <a:endParaRPr lang="en-IN" dirty="0">
              <a:latin typeface="Times New Roman" panose="02020603050405020304" pitchFamily="18" charset="0"/>
              <a:cs typeface="Times New Roman" panose="02020603050405020304" pitchFamily="18" charset="0"/>
            </a:endParaRPr>
          </a:p>
          <a:p>
            <a:pPr lvl="0" algn="just" fontAlgn="base"/>
            <a:r>
              <a:rPr lang="en-IN" dirty="0">
                <a:latin typeface="Times New Roman" panose="02020603050405020304" pitchFamily="18" charset="0"/>
                <a:cs typeface="Times New Roman" panose="02020603050405020304" pitchFamily="18" charset="0"/>
              </a:rPr>
              <a:t>A similar least help edge is utilized when mining at each degree of deliberation. </a:t>
            </a:r>
          </a:p>
        </p:txBody>
      </p:sp>
      <p:sp>
        <p:nvSpPr>
          <p:cNvPr id="3" name="Title 2">
            <a:extLst>
              <a:ext uri="{FF2B5EF4-FFF2-40B4-BE49-F238E27FC236}">
                <a16:creationId xmlns:a16="http://schemas.microsoft.com/office/drawing/2014/main" id="{9A24472A-C24D-BD0E-2104-2E6C25FA4967}"/>
              </a:ext>
            </a:extLst>
          </p:cNvPr>
          <p:cNvSpPr>
            <a:spLocks noGrp="1"/>
          </p:cNvSpPr>
          <p:nvPr>
            <p:ph type="title"/>
          </p:nvPr>
        </p:nvSpPr>
        <p:spPr>
          <a:xfrm>
            <a:off x="457200" y="274638"/>
            <a:ext cx="8229600" cy="715962"/>
          </a:xfrm>
        </p:spPr>
        <p:txBody>
          <a:bodyPr>
            <a:normAutofit/>
          </a:bodyPr>
          <a:lstStyle/>
          <a:p>
            <a:pPr algn="ctr"/>
            <a:r>
              <a:rPr lang="en-US" sz="3200" dirty="0">
                <a:solidFill>
                  <a:srgbClr val="002060"/>
                </a:solidFill>
                <a:effectLst/>
                <a:latin typeface="Times New Roman" panose="02020603050405020304" pitchFamily="18" charset="0"/>
                <a:cs typeface="Times New Roman" panose="02020603050405020304" pitchFamily="18" charset="0"/>
              </a:rPr>
              <a:t>Pattern Mining in Multilevel Associations</a:t>
            </a:r>
            <a:endParaRPr lang="en-IN" sz="3200" dirty="0">
              <a:solidFill>
                <a:srgbClr val="002060"/>
              </a:solidFill>
              <a:effectLst/>
            </a:endParaRPr>
          </a:p>
        </p:txBody>
      </p:sp>
    </p:spTree>
    <p:extLst>
      <p:ext uri="{BB962C8B-B14F-4D97-AF65-F5344CB8AC3E}">
        <p14:creationId xmlns:p14="http://schemas.microsoft.com/office/powerpoint/2010/main" val="3126896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E0BCB31-BD19-AB26-6416-3CA1B70728B0}"/>
              </a:ext>
            </a:extLst>
          </p:cNvPr>
          <p:cNvSpPr>
            <a:spLocks noGrp="1"/>
          </p:cNvSpPr>
          <p:nvPr>
            <p:ph idx="1"/>
          </p:nvPr>
        </p:nvSpPr>
        <p:spPr/>
        <p:txBody>
          <a:bodyPr/>
          <a:lstStyle/>
          <a:p>
            <a:pPr lvl="0" fontAlgn="base"/>
            <a:r>
              <a:rPr lang="en-IN" dirty="0">
                <a:latin typeface="Times New Roman" panose="02020603050405020304" pitchFamily="18" charset="0"/>
                <a:cs typeface="Times New Roman" panose="02020603050405020304" pitchFamily="18" charset="0"/>
              </a:rPr>
              <a:t>Uniform Support(Using uniform minimum support for all level)</a:t>
            </a:r>
          </a:p>
          <a:p>
            <a:pPr lvl="0" fontAlgn="base"/>
            <a:r>
              <a:rPr lang="en-IN" dirty="0">
                <a:latin typeface="Times New Roman" panose="02020603050405020304" pitchFamily="18" charset="0"/>
                <a:cs typeface="Times New Roman" panose="02020603050405020304" pitchFamily="18" charset="0"/>
              </a:rPr>
              <a:t>Reduced Support (Using reduced minimum support at lower levels)</a:t>
            </a:r>
          </a:p>
          <a:p>
            <a:pPr lvl="0" fontAlgn="base"/>
            <a:r>
              <a:rPr lang="en-IN" dirty="0">
                <a:latin typeface="Times New Roman" panose="02020603050405020304" pitchFamily="18" charset="0"/>
                <a:cs typeface="Times New Roman" panose="02020603050405020304" pitchFamily="18" charset="0"/>
              </a:rPr>
              <a:t>Group-based Support(Using item or group based support)</a:t>
            </a:r>
          </a:p>
          <a:p>
            <a:endParaRPr lang="en-IN"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75AFCDBA-71EC-D2CE-5294-7EA0D872F5A5}"/>
              </a:ext>
            </a:extLst>
          </p:cNvPr>
          <p:cNvSpPr>
            <a:spLocks noGrp="1"/>
          </p:cNvSpPr>
          <p:nvPr>
            <p:ph type="title"/>
          </p:nvPr>
        </p:nvSpPr>
        <p:spPr/>
        <p:txBody>
          <a:bodyPr>
            <a:normAutofit/>
          </a:bodyPr>
          <a:lstStyle/>
          <a:p>
            <a:pPr algn="ctr"/>
            <a:r>
              <a:rPr lang="en-IN" sz="3200" dirty="0">
                <a:latin typeface="Times New Roman" panose="02020603050405020304" pitchFamily="18" charset="0"/>
                <a:cs typeface="Times New Roman" panose="02020603050405020304" pitchFamily="18" charset="0"/>
              </a:rPr>
              <a:t>Approaches to multilevel association rule mining</a:t>
            </a:r>
          </a:p>
        </p:txBody>
      </p:sp>
    </p:spTree>
    <p:extLst>
      <p:ext uri="{BB962C8B-B14F-4D97-AF65-F5344CB8AC3E}">
        <p14:creationId xmlns:p14="http://schemas.microsoft.com/office/powerpoint/2010/main" val="2652410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1CABC4-5075-ECB3-8220-C8C2D5A83951}"/>
              </a:ext>
            </a:extLst>
          </p:cNvPr>
          <p:cNvSpPr>
            <a:spLocks noGrp="1"/>
          </p:cNvSpPr>
          <p:nvPr>
            <p:ph idx="1"/>
          </p:nvPr>
        </p:nvSpPr>
        <p:spPr>
          <a:xfrm>
            <a:off x="422787" y="931164"/>
            <a:ext cx="8229600" cy="4995672"/>
          </a:xfrm>
        </p:spPr>
        <p:txBody>
          <a:bodyPr>
            <a:normAutofit lnSpcReduction="10000"/>
          </a:bodyPr>
          <a:lstStyle/>
          <a:p>
            <a:pPr lvl="0" algn="just" fontAlgn="base"/>
            <a:r>
              <a:rPr lang="en-IN" sz="2000" dirty="0">
                <a:latin typeface="Times New Roman" panose="02020603050405020304" pitchFamily="18" charset="0"/>
                <a:cs typeface="Times New Roman" panose="02020603050405020304" pitchFamily="18" charset="0"/>
              </a:rPr>
              <a:t> At the point when a uniform least help edge is used, the search methodology is simplified. </a:t>
            </a:r>
          </a:p>
          <a:p>
            <a:pPr lvl="0" algn="just" fontAlgn="base"/>
            <a:r>
              <a:rPr lang="en-IN" sz="2000" dirty="0">
                <a:latin typeface="Times New Roman" panose="02020603050405020304" pitchFamily="18" charset="0"/>
                <a:cs typeface="Times New Roman" panose="02020603050405020304" pitchFamily="18" charset="0"/>
              </a:rPr>
              <a:t>The technique is likewise basic in that clients are needed to determine just a single least help threshold. </a:t>
            </a:r>
          </a:p>
          <a:p>
            <a:pPr lvl="0" algn="just" fontAlgn="base"/>
            <a:endParaRPr lang="en-IN" sz="2000" dirty="0">
              <a:latin typeface="Times New Roman" panose="02020603050405020304" pitchFamily="18" charset="0"/>
              <a:cs typeface="Times New Roman" panose="02020603050405020304" pitchFamily="18" charset="0"/>
            </a:endParaRPr>
          </a:p>
          <a:p>
            <a:pPr lvl="0" algn="just" fontAlgn="base"/>
            <a:r>
              <a:rPr lang="en-IN" sz="2000" dirty="0">
                <a:latin typeface="Times New Roman" panose="02020603050405020304" pitchFamily="18" charset="0"/>
                <a:cs typeface="Times New Roman" panose="02020603050405020304" pitchFamily="18" charset="0"/>
              </a:rPr>
              <a:t>An advancement technique can be adopted, based on the information that a progenitor is a superset of its descendant. </a:t>
            </a:r>
          </a:p>
          <a:p>
            <a:pPr lvl="0" algn="just" fontAlgn="base"/>
            <a:r>
              <a:rPr lang="en-IN" sz="2000" dirty="0">
                <a:latin typeface="Times New Roman" panose="02020603050405020304" pitchFamily="18" charset="0"/>
                <a:cs typeface="Times New Roman" panose="02020603050405020304" pitchFamily="18" charset="0"/>
              </a:rPr>
              <a:t>The search keeps away from </a:t>
            </a:r>
            <a:r>
              <a:rPr lang="en-IN" sz="2000" dirty="0" err="1">
                <a:latin typeface="Times New Roman" panose="02020603050405020304" pitchFamily="18" charset="0"/>
                <a:cs typeface="Times New Roman" panose="02020603050405020304" pitchFamily="18" charset="0"/>
              </a:rPr>
              <a:t>analyzing</a:t>
            </a:r>
            <a:r>
              <a:rPr lang="en-IN" sz="2000" dirty="0">
                <a:latin typeface="Times New Roman" panose="02020603050405020304" pitchFamily="18" charset="0"/>
                <a:cs typeface="Times New Roman" panose="02020603050405020304" pitchFamily="18" charset="0"/>
              </a:rPr>
              <a:t> item sets containing anything that doesn't have minimum support. </a:t>
            </a:r>
          </a:p>
          <a:p>
            <a:pPr lvl="0" algn="just" fontAlgn="base"/>
            <a:endParaRPr lang="en-IN" sz="2000" dirty="0">
              <a:latin typeface="Times New Roman" panose="02020603050405020304" pitchFamily="18" charset="0"/>
              <a:cs typeface="Times New Roman" panose="02020603050405020304" pitchFamily="18" charset="0"/>
            </a:endParaRPr>
          </a:p>
          <a:p>
            <a:pPr lvl="0" algn="just" fontAlgn="base"/>
            <a:r>
              <a:rPr lang="en-IN" sz="2000" dirty="0">
                <a:latin typeface="Times New Roman" panose="02020603050405020304" pitchFamily="18" charset="0"/>
                <a:cs typeface="Times New Roman" panose="02020603050405020304" pitchFamily="18" charset="0"/>
              </a:rPr>
              <a:t>The uniform support   approach however has some difficulties. It is unlikely that items at lower levels of abstraction will occur as frequently as those at higher levels of abstraction.</a:t>
            </a:r>
          </a:p>
          <a:p>
            <a:pPr lvl="0" algn="just" fontAlgn="base"/>
            <a:r>
              <a:rPr lang="en-IN" sz="2000" dirty="0">
                <a:latin typeface="Times New Roman" panose="02020603050405020304" pitchFamily="18" charset="0"/>
                <a:cs typeface="Times New Roman" panose="02020603050405020304" pitchFamily="18" charset="0"/>
              </a:rPr>
              <a:t> If the minimum support threshold is set too high it could miss several meaningful associations occurring at low abstraction levels.</a:t>
            </a:r>
          </a:p>
        </p:txBody>
      </p:sp>
      <p:sp>
        <p:nvSpPr>
          <p:cNvPr id="3" name="Title 2">
            <a:extLst>
              <a:ext uri="{FF2B5EF4-FFF2-40B4-BE49-F238E27FC236}">
                <a16:creationId xmlns:a16="http://schemas.microsoft.com/office/drawing/2014/main" id="{503EB00A-4BD8-2B28-E1D2-7D102F405269}"/>
              </a:ext>
            </a:extLst>
          </p:cNvPr>
          <p:cNvSpPr>
            <a:spLocks noGrp="1"/>
          </p:cNvSpPr>
          <p:nvPr>
            <p:ph type="title"/>
          </p:nvPr>
        </p:nvSpPr>
        <p:spPr>
          <a:xfrm>
            <a:off x="457200" y="274638"/>
            <a:ext cx="8229600" cy="715962"/>
          </a:xfrm>
        </p:spPr>
        <p:txBody>
          <a:bodyPr>
            <a:normAutofit/>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Uniform Support</a:t>
            </a:r>
            <a:endParaRPr lang="en-IN" sz="3200" dirty="0">
              <a:solidFill>
                <a:srgbClr val="002060"/>
              </a:solidFill>
              <a:effectLst/>
            </a:endParaRPr>
          </a:p>
        </p:txBody>
      </p:sp>
    </p:spTree>
    <p:extLst>
      <p:ext uri="{BB962C8B-B14F-4D97-AF65-F5344CB8AC3E}">
        <p14:creationId xmlns:p14="http://schemas.microsoft.com/office/powerpoint/2010/main" val="1052832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A14AD-1EDB-1C19-82C9-8C2834AC318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2F0486-2480-E3A2-1663-418CDA2E9204}"/>
              </a:ext>
            </a:extLst>
          </p:cNvPr>
          <p:cNvSpPr>
            <a:spLocks noGrp="1"/>
          </p:cNvSpPr>
          <p:nvPr>
            <p:ph idx="1"/>
          </p:nvPr>
        </p:nvSpPr>
        <p:spPr>
          <a:xfrm>
            <a:off x="484239" y="1066800"/>
            <a:ext cx="8229600" cy="4525963"/>
          </a:xfrm>
        </p:spPr>
        <p:txBody>
          <a:bodyPr>
            <a:normAutofit fontScale="77500" lnSpcReduction="20000"/>
          </a:bodyPr>
          <a:lstStyle/>
          <a:p>
            <a:pPr lvl="0" fontAlgn="base"/>
            <a:r>
              <a:rPr lang="en-IN" sz="2800" dirty="0">
                <a:latin typeface="Times New Roman" panose="02020603050405020304" pitchFamily="18" charset="0"/>
                <a:cs typeface="Times New Roman" panose="02020603050405020304" pitchFamily="18" charset="0"/>
              </a:rPr>
              <a:t> For mining various level relationship with diminished support, there are various elective hunt techniques as follows.</a:t>
            </a:r>
          </a:p>
          <a:p>
            <a:pPr lvl="0" fontAlgn="base"/>
            <a:endParaRPr lang="en-IN" sz="2800" dirty="0">
              <a:latin typeface="Times New Roman" panose="02020603050405020304" pitchFamily="18" charset="0"/>
              <a:cs typeface="Times New Roman" panose="02020603050405020304" pitchFamily="18" charset="0"/>
            </a:endParaRPr>
          </a:p>
          <a:p>
            <a:pPr lvl="1" fontAlgn="base"/>
            <a:r>
              <a:rPr lang="en-IN" sz="2400" b="1" dirty="0">
                <a:latin typeface="Times New Roman" panose="02020603050405020304" pitchFamily="18" charset="0"/>
                <a:cs typeface="Times New Roman" panose="02020603050405020304" pitchFamily="18" charset="0"/>
              </a:rPr>
              <a:t>Level-by-Level independence -</a:t>
            </a:r>
            <a:r>
              <a:rPr lang="en-IN" sz="2400" dirty="0">
                <a:latin typeface="Times New Roman" panose="02020603050405020304" pitchFamily="18" charset="0"/>
                <a:cs typeface="Times New Roman" panose="02020603050405020304" pitchFamily="18" charset="0"/>
              </a:rPr>
              <a:t> This is a full-broadness search, where no foundation information on regular item sets is utilized for pruning. Each hub is examined, regardless of whether its parent hub is discovered to be incessant.</a:t>
            </a:r>
          </a:p>
          <a:p>
            <a:pPr lvl="1" fontAlgn="base"/>
            <a:endParaRPr lang="en-IN" sz="2400" dirty="0">
              <a:latin typeface="Times New Roman" panose="02020603050405020304" pitchFamily="18" charset="0"/>
              <a:cs typeface="Times New Roman" panose="02020603050405020304" pitchFamily="18" charset="0"/>
            </a:endParaRPr>
          </a:p>
          <a:p>
            <a:pPr lvl="1" fontAlgn="base"/>
            <a:r>
              <a:rPr lang="en-IN" sz="2400" b="1" dirty="0">
                <a:latin typeface="Times New Roman" panose="02020603050405020304" pitchFamily="18" charset="0"/>
                <a:cs typeface="Times New Roman" panose="02020603050405020304" pitchFamily="18" charset="0"/>
              </a:rPr>
              <a:t>Level - cross-separating by single thing -</a:t>
            </a:r>
            <a:r>
              <a:rPr lang="en-IN" sz="2400" dirty="0">
                <a:latin typeface="Times New Roman" panose="02020603050405020304" pitchFamily="18" charset="0"/>
                <a:cs typeface="Times New Roman" panose="02020603050405020304" pitchFamily="18" charset="0"/>
              </a:rPr>
              <a:t> A thing at the I level is inspected if and just if its parent hub at the (I-1) level is regular .all in all, we research a more explicit relationship from a more broad one. If a hub is frequent, its kids will be examined; otherwise, its descendant is pruned from the inquiry.</a:t>
            </a:r>
          </a:p>
          <a:p>
            <a:pPr lvl="1" fontAlgn="base"/>
            <a:endParaRPr lang="en-IN" sz="2400" dirty="0">
              <a:latin typeface="Times New Roman" panose="02020603050405020304" pitchFamily="18" charset="0"/>
              <a:cs typeface="Times New Roman" panose="02020603050405020304" pitchFamily="18" charset="0"/>
            </a:endParaRPr>
          </a:p>
          <a:p>
            <a:pPr lvl="1" fontAlgn="base"/>
            <a:r>
              <a:rPr lang="en-IN" sz="2400" b="1" dirty="0">
                <a:latin typeface="Times New Roman" panose="02020603050405020304" pitchFamily="18" charset="0"/>
                <a:cs typeface="Times New Roman" panose="02020603050405020304" pitchFamily="18" charset="0"/>
              </a:rPr>
              <a:t>Level-cross separating by - K-itemset -</a:t>
            </a:r>
            <a:r>
              <a:rPr lang="en-IN" sz="2400" dirty="0">
                <a:latin typeface="Times New Roman" panose="02020603050405020304" pitchFamily="18" charset="0"/>
                <a:cs typeface="Times New Roman" panose="02020603050405020304" pitchFamily="18" charset="0"/>
              </a:rPr>
              <a:t> A-itemset at the I level is inspected if and just if it's For mining various level relationship with diminished support, there are various elective hunt techniques.</a:t>
            </a:r>
          </a:p>
          <a:p>
            <a:endParaRPr lang="en-IN"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3B27B63D-F377-44A4-3FB8-B86892DF47C9}"/>
              </a:ext>
            </a:extLst>
          </p:cNvPr>
          <p:cNvSpPr>
            <a:spLocks noGrp="1"/>
          </p:cNvSpPr>
          <p:nvPr>
            <p:ph type="title"/>
          </p:nvPr>
        </p:nvSpPr>
        <p:spPr>
          <a:xfrm>
            <a:off x="457200" y="274638"/>
            <a:ext cx="8229600" cy="576071"/>
          </a:xfrm>
        </p:spPr>
        <p:txBody>
          <a:bodyPr>
            <a:normAutofit fontScale="90000"/>
          </a:bodyPr>
          <a:lstStyle/>
          <a:p>
            <a:pPr algn="ctr"/>
            <a:r>
              <a:rPr lang="en-IN" sz="3200" dirty="0">
                <a:solidFill>
                  <a:srgbClr val="002060"/>
                </a:solidFill>
                <a:latin typeface="Times New Roman" panose="02020603050405020304" pitchFamily="18" charset="0"/>
                <a:cs typeface="Times New Roman" panose="02020603050405020304" pitchFamily="18" charset="0"/>
              </a:rPr>
              <a:t>Reduce Support</a:t>
            </a:r>
          </a:p>
        </p:txBody>
      </p:sp>
    </p:spTree>
    <p:extLst>
      <p:ext uri="{BB962C8B-B14F-4D97-AF65-F5344CB8AC3E}">
        <p14:creationId xmlns:p14="http://schemas.microsoft.com/office/powerpoint/2010/main" val="3675376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C2DAAD1-DF57-70F2-1A1B-55B40E6205EA}"/>
              </a:ext>
            </a:extLst>
          </p:cNvPr>
          <p:cNvSpPr>
            <a:spLocks noGrp="1"/>
          </p:cNvSpPr>
          <p:nvPr>
            <p:ph idx="1"/>
          </p:nvPr>
        </p:nvSpPr>
        <p:spPr>
          <a:xfrm>
            <a:off x="457200" y="1481328"/>
            <a:ext cx="8458200" cy="4525963"/>
          </a:xfrm>
        </p:spPr>
        <p:txBody>
          <a:bodyPr>
            <a:normAutofit/>
          </a:bodyPr>
          <a:lstStyle/>
          <a:p>
            <a:r>
              <a:rPr lang="en-IN" sz="2400" dirty="0">
                <a:latin typeface="Times New Roman" panose="02020603050405020304" pitchFamily="18" charset="0"/>
                <a:cs typeface="Times New Roman" panose="02020603050405020304" pitchFamily="18" charset="0"/>
              </a:rPr>
              <a:t>The group-wise threshold value for support and confidence is input by the user or expert. </a:t>
            </a:r>
          </a:p>
          <a:p>
            <a:r>
              <a:rPr lang="en-IN" sz="2400" dirty="0">
                <a:latin typeface="Times New Roman" panose="02020603050405020304" pitchFamily="18" charset="0"/>
                <a:cs typeface="Times New Roman" panose="02020603050405020304" pitchFamily="18" charset="0"/>
              </a:rPr>
              <a:t>The group is selected based on a product price or item set because often expert has insight as to which groups are more important than others. </a:t>
            </a:r>
          </a:p>
          <a:p>
            <a:endParaRPr lang="en-IN" sz="24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Example -</a:t>
            </a:r>
            <a:r>
              <a:rPr lang="en-IN" sz="2400" dirty="0">
                <a:latin typeface="Times New Roman" panose="02020603050405020304" pitchFamily="18" charset="0"/>
                <a:cs typeface="Times New Roman" panose="02020603050405020304" pitchFamily="18" charset="0"/>
              </a:rPr>
              <a:t> For e.g. Experts are interested in purchase patterns of laptops or clothes in the non and electronic category. Therefore low support threshold is set for this group to give attention to these items' purchase patterns.</a:t>
            </a:r>
          </a:p>
          <a:p>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6327FA86-0FC1-57BD-C55F-DC297F5EDDF2}"/>
              </a:ext>
            </a:extLst>
          </p:cNvPr>
          <p:cNvSpPr>
            <a:spLocks noGrp="1"/>
          </p:cNvSpPr>
          <p:nvPr>
            <p:ph type="title"/>
          </p:nvPr>
        </p:nvSpPr>
        <p:spPr>
          <a:xfrm>
            <a:off x="457200" y="274638"/>
            <a:ext cx="8229600" cy="576071"/>
          </a:xfrm>
        </p:spPr>
        <p:txBody>
          <a:bodyPr>
            <a:normAutofit fontScale="90000"/>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Group-based support</a:t>
            </a:r>
            <a:endParaRPr lang="en-IN" sz="3200" dirty="0">
              <a:solidFill>
                <a:srgbClr val="002060"/>
              </a:solidFill>
              <a:effectLst/>
            </a:endParaRPr>
          </a:p>
        </p:txBody>
      </p:sp>
    </p:spTree>
    <p:extLst>
      <p:ext uri="{BB962C8B-B14F-4D97-AF65-F5344CB8AC3E}">
        <p14:creationId xmlns:p14="http://schemas.microsoft.com/office/powerpoint/2010/main" val="126526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1AF1F32-1E95-E0C7-E345-ADEE6E7E0B3E}"/>
              </a:ext>
            </a:extLst>
          </p:cNvPr>
          <p:cNvSpPr>
            <a:spLocks noGrp="1"/>
          </p:cNvSpPr>
          <p:nvPr>
            <p:ph type="sldNum" sz="quarter" idx="10"/>
          </p:nvPr>
        </p:nvSpPr>
        <p:spPr>
          <a:xfrm>
            <a:off x="7239000" y="6477000"/>
            <a:ext cx="1905000" cy="381000"/>
          </a:xfrm>
          <a:noFill/>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6E7AB03A-474C-4CA5-86A3-D00FCA893FDE}" type="slidenum">
              <a:rPr lang="en-US" altLang="en-US" sz="1200">
                <a:latin typeface="Times New Roman" panose="02020603050405020304" pitchFamily="18" charset="0"/>
                <a:cs typeface="Times New Roman" panose="02020603050405020304" pitchFamily="18" charset="0"/>
              </a:rPr>
              <a:pPr eaLnBrk="1" hangingPunct="1"/>
              <a:t>11</a:t>
            </a:fld>
            <a:endParaRPr lang="en-US" altLang="en-US" sz="1200">
              <a:latin typeface="Times New Roman" panose="02020603050405020304" pitchFamily="18" charset="0"/>
              <a:cs typeface="Times New Roman" panose="02020603050405020304" pitchFamily="18" charset="0"/>
            </a:endParaRPr>
          </a:p>
        </p:txBody>
      </p:sp>
      <p:sp>
        <p:nvSpPr>
          <p:cNvPr id="9219" name="Rectangle 2">
            <a:extLst>
              <a:ext uri="{FF2B5EF4-FFF2-40B4-BE49-F238E27FC236}">
                <a16:creationId xmlns:a16="http://schemas.microsoft.com/office/drawing/2014/main" id="{6D122A59-57BE-95DA-9728-9E1A589BDEBD}"/>
              </a:ext>
            </a:extLst>
          </p:cNvPr>
          <p:cNvSpPr>
            <a:spLocks noGrp="1" noChangeArrowheads="1"/>
          </p:cNvSpPr>
          <p:nvPr>
            <p:ph type="title"/>
          </p:nvPr>
        </p:nvSpPr>
        <p:spPr>
          <a:xfrm>
            <a:off x="687388" y="381000"/>
            <a:ext cx="7845425" cy="609600"/>
          </a:xfrm>
        </p:spPr>
        <p:txBody>
          <a:bodyPr>
            <a:normAutofit/>
          </a:bodyPr>
          <a:lstStyle/>
          <a:p>
            <a:pPr eaLnBrk="1" hangingPunct="1"/>
            <a:r>
              <a:rPr lang="en-US" altLang="en-US" sz="3200" dirty="0">
                <a:latin typeface="Times New Roman" panose="02020603050405020304" pitchFamily="18" charset="0"/>
                <a:cs typeface="Times New Roman" panose="02020603050405020304" pitchFamily="18" charset="0"/>
              </a:rPr>
              <a:t>Mining Multiple-Level Association Rules</a:t>
            </a:r>
          </a:p>
        </p:txBody>
      </p:sp>
      <p:sp>
        <p:nvSpPr>
          <p:cNvPr id="9220" name="Rectangle 3">
            <a:extLst>
              <a:ext uri="{FF2B5EF4-FFF2-40B4-BE49-F238E27FC236}">
                <a16:creationId xmlns:a16="http://schemas.microsoft.com/office/drawing/2014/main" id="{501A18EE-EDC0-6EF2-3FD6-DBD0E2DFB244}"/>
              </a:ext>
            </a:extLst>
          </p:cNvPr>
          <p:cNvSpPr>
            <a:spLocks noGrp="1" noChangeArrowheads="1"/>
          </p:cNvSpPr>
          <p:nvPr>
            <p:ph type="body" idx="1"/>
          </p:nvPr>
        </p:nvSpPr>
        <p:spPr>
          <a:xfrm>
            <a:off x="457200" y="1371600"/>
            <a:ext cx="8382000" cy="2362200"/>
          </a:xfrm>
        </p:spPr>
        <p:txBody>
          <a:bodyPr/>
          <a:lstStyle/>
          <a:p>
            <a:pPr eaLnBrk="1" hangingPunct="1">
              <a:lnSpc>
                <a:spcPct val="90000"/>
              </a:lnSpc>
            </a:pPr>
            <a:r>
              <a:rPr lang="en-US" altLang="en-US" sz="2400" dirty="0">
                <a:latin typeface="Times New Roman" panose="02020603050405020304" pitchFamily="18" charset="0"/>
                <a:cs typeface="Times New Roman" panose="02020603050405020304" pitchFamily="18" charset="0"/>
              </a:rPr>
              <a:t>Items often form hierarchies</a:t>
            </a:r>
          </a:p>
          <a:p>
            <a:pPr eaLnBrk="1" hangingPunct="1">
              <a:lnSpc>
                <a:spcPct val="90000"/>
              </a:lnSpc>
            </a:pPr>
            <a:r>
              <a:rPr lang="en-US" altLang="en-US" sz="2400" dirty="0">
                <a:latin typeface="Times New Roman" panose="02020603050405020304" pitchFamily="18" charset="0"/>
                <a:cs typeface="Times New Roman" panose="02020603050405020304" pitchFamily="18" charset="0"/>
              </a:rPr>
              <a:t>Flexible support settings </a:t>
            </a:r>
          </a:p>
          <a:p>
            <a:pPr lvl="1" eaLnBrk="1" hangingPunct="1">
              <a:lnSpc>
                <a:spcPct val="90000"/>
              </a:lnSpc>
            </a:pPr>
            <a:r>
              <a:rPr lang="en-US" altLang="en-US" sz="2400" dirty="0">
                <a:latin typeface="Times New Roman" panose="02020603050405020304" pitchFamily="18" charset="0"/>
                <a:cs typeface="Times New Roman" panose="02020603050405020304" pitchFamily="18" charset="0"/>
              </a:rPr>
              <a:t>Items at the lower level are expected to have lower support</a:t>
            </a:r>
          </a:p>
          <a:p>
            <a:pPr eaLnBrk="1" hangingPunct="1">
              <a:lnSpc>
                <a:spcPct val="90000"/>
              </a:lnSpc>
            </a:pPr>
            <a:r>
              <a:rPr lang="en-US" altLang="en-US" sz="2400" dirty="0">
                <a:latin typeface="Times New Roman" panose="02020603050405020304" pitchFamily="18" charset="0"/>
                <a:cs typeface="Times New Roman" panose="02020603050405020304" pitchFamily="18" charset="0"/>
              </a:rPr>
              <a:t>Exploration of </a:t>
            </a:r>
            <a:r>
              <a:rPr lang="en-US" altLang="en-US" sz="2400" i="1" dirty="0">
                <a:solidFill>
                  <a:schemeClr val="folHlink"/>
                </a:solidFill>
                <a:latin typeface="Times New Roman" panose="02020603050405020304" pitchFamily="18" charset="0"/>
                <a:cs typeface="Times New Roman" panose="02020603050405020304" pitchFamily="18" charset="0"/>
              </a:rPr>
              <a:t>shared</a:t>
            </a:r>
            <a:r>
              <a:rPr lang="en-US" altLang="en-US" sz="2400" dirty="0">
                <a:latin typeface="Times New Roman" panose="02020603050405020304" pitchFamily="18" charset="0"/>
                <a:cs typeface="Times New Roman" panose="02020603050405020304" pitchFamily="18" charset="0"/>
              </a:rPr>
              <a:t> multi-level mining (Agrawal &amp; Srikant@VLB’95, Han &amp; Fu@VLDB’95)</a:t>
            </a:r>
          </a:p>
        </p:txBody>
      </p:sp>
      <p:grpSp>
        <p:nvGrpSpPr>
          <p:cNvPr id="9221" name="Group 4">
            <a:extLst>
              <a:ext uri="{FF2B5EF4-FFF2-40B4-BE49-F238E27FC236}">
                <a16:creationId xmlns:a16="http://schemas.microsoft.com/office/drawing/2014/main" id="{5B00DB31-1368-B0D7-6F29-0E33B3C8A70A}"/>
              </a:ext>
            </a:extLst>
          </p:cNvPr>
          <p:cNvGrpSpPr>
            <a:grpSpLocks/>
          </p:cNvGrpSpPr>
          <p:nvPr/>
        </p:nvGrpSpPr>
        <p:grpSpPr bwMode="auto">
          <a:xfrm>
            <a:off x="838200" y="3962400"/>
            <a:ext cx="7243763" cy="2249488"/>
            <a:chOff x="384" y="1392"/>
            <a:chExt cx="4563" cy="1230"/>
          </a:xfrm>
        </p:grpSpPr>
        <p:sp>
          <p:nvSpPr>
            <p:cNvPr id="9222" name="Rectangle 5">
              <a:extLst>
                <a:ext uri="{FF2B5EF4-FFF2-40B4-BE49-F238E27FC236}">
                  <a16:creationId xmlns:a16="http://schemas.microsoft.com/office/drawing/2014/main" id="{6D4E640A-A00E-2FA6-32CD-F93599011509}"/>
                </a:ext>
              </a:extLst>
            </p:cNvPr>
            <p:cNvSpPr>
              <a:spLocks noChangeArrowheads="1"/>
            </p:cNvSpPr>
            <p:nvPr/>
          </p:nvSpPr>
          <p:spPr bwMode="auto">
            <a:xfrm>
              <a:off x="384" y="1392"/>
              <a:ext cx="15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20000"/>
                </a:spcBef>
                <a:buClr>
                  <a:schemeClr val="folHlink"/>
                </a:buClr>
                <a:buSzPct val="60000"/>
                <a:buFont typeface="Wingdings" panose="05000000000000000000" pitchFamily="2" charset="2"/>
                <a:buNone/>
              </a:pPr>
              <a:r>
                <a:rPr lang="en-US" altLang="en-US">
                  <a:solidFill>
                    <a:schemeClr val="hlink"/>
                  </a:solidFill>
                  <a:latin typeface="Times New Roman" panose="02020603050405020304" pitchFamily="18" charset="0"/>
                  <a:cs typeface="Times New Roman" panose="02020603050405020304" pitchFamily="18" charset="0"/>
                </a:rPr>
                <a:t>uniform support</a:t>
              </a:r>
              <a:endParaRPr lang="en-US" altLang="en-US" sz="2000">
                <a:solidFill>
                  <a:schemeClr val="hlink"/>
                </a:solidFill>
                <a:latin typeface="Times New Roman" panose="02020603050405020304" pitchFamily="18" charset="0"/>
                <a:cs typeface="Times New Roman" panose="02020603050405020304" pitchFamily="18" charset="0"/>
              </a:endParaRPr>
            </a:p>
          </p:txBody>
        </p:sp>
        <p:sp>
          <p:nvSpPr>
            <p:cNvPr id="9223" name="Text Box 6">
              <a:extLst>
                <a:ext uri="{FF2B5EF4-FFF2-40B4-BE49-F238E27FC236}">
                  <a16:creationId xmlns:a16="http://schemas.microsoft.com/office/drawing/2014/main" id="{2C2C0FA0-4432-896B-68DD-523EF5783F4D}"/>
                </a:ext>
              </a:extLst>
            </p:cNvPr>
            <p:cNvSpPr txBox="1">
              <a:spLocks noChangeArrowheads="1"/>
            </p:cNvSpPr>
            <p:nvPr/>
          </p:nvSpPr>
          <p:spPr bwMode="auto">
            <a:xfrm>
              <a:off x="2112" y="1776"/>
              <a:ext cx="1200" cy="315"/>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lnSpc>
                  <a:spcPct val="60000"/>
                </a:lnSpc>
                <a:spcBef>
                  <a:spcPct val="50000"/>
                </a:spcBef>
              </a:pPr>
              <a:r>
                <a:rPr lang="en-US" altLang="en-US" sz="1800" b="1">
                  <a:latin typeface="Times New Roman" panose="02020603050405020304" pitchFamily="18" charset="0"/>
                  <a:cs typeface="Times New Roman" panose="02020603050405020304" pitchFamily="18" charset="0"/>
                </a:rPr>
                <a:t>Milk</a:t>
              </a:r>
            </a:p>
            <a:p>
              <a:pPr algn="ctr">
                <a:lnSpc>
                  <a:spcPct val="60000"/>
                </a:lnSpc>
                <a:spcBef>
                  <a:spcPct val="50000"/>
                </a:spcBef>
              </a:pPr>
              <a:r>
                <a:rPr lang="en-US" altLang="en-US" sz="1800" b="1">
                  <a:latin typeface="Times New Roman" panose="02020603050405020304" pitchFamily="18" charset="0"/>
                  <a:cs typeface="Times New Roman" panose="02020603050405020304" pitchFamily="18" charset="0"/>
                </a:rPr>
                <a:t>[support = 10%]</a:t>
              </a:r>
            </a:p>
          </p:txBody>
        </p:sp>
        <p:sp>
          <p:nvSpPr>
            <p:cNvPr id="9224" name="Text Box 7">
              <a:extLst>
                <a:ext uri="{FF2B5EF4-FFF2-40B4-BE49-F238E27FC236}">
                  <a16:creationId xmlns:a16="http://schemas.microsoft.com/office/drawing/2014/main" id="{04C03707-AEFC-18B8-6C87-F30BD5DDB16F}"/>
                </a:ext>
              </a:extLst>
            </p:cNvPr>
            <p:cNvSpPr txBox="1">
              <a:spLocks noChangeArrowheads="1"/>
            </p:cNvSpPr>
            <p:nvPr/>
          </p:nvSpPr>
          <p:spPr bwMode="auto">
            <a:xfrm>
              <a:off x="1536" y="2304"/>
              <a:ext cx="1152" cy="315"/>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lnSpc>
                  <a:spcPct val="60000"/>
                </a:lnSpc>
                <a:spcBef>
                  <a:spcPct val="50000"/>
                </a:spcBef>
              </a:pPr>
              <a:r>
                <a:rPr lang="en-US" altLang="en-US" sz="1800" b="1">
                  <a:latin typeface="Times New Roman" panose="02020603050405020304" pitchFamily="18" charset="0"/>
                  <a:cs typeface="Times New Roman" panose="02020603050405020304" pitchFamily="18" charset="0"/>
                </a:rPr>
                <a:t>2% Milk </a:t>
              </a:r>
            </a:p>
            <a:p>
              <a:pPr algn="ctr">
                <a:lnSpc>
                  <a:spcPct val="60000"/>
                </a:lnSpc>
                <a:spcBef>
                  <a:spcPct val="50000"/>
                </a:spcBef>
              </a:pPr>
              <a:r>
                <a:rPr lang="en-US" altLang="en-US" sz="1800" b="1">
                  <a:latin typeface="Times New Roman" panose="02020603050405020304" pitchFamily="18" charset="0"/>
                  <a:cs typeface="Times New Roman" panose="02020603050405020304" pitchFamily="18" charset="0"/>
                </a:rPr>
                <a:t>[support = 6%]</a:t>
              </a:r>
            </a:p>
          </p:txBody>
        </p:sp>
        <p:sp>
          <p:nvSpPr>
            <p:cNvPr id="9225" name="Text Box 8">
              <a:extLst>
                <a:ext uri="{FF2B5EF4-FFF2-40B4-BE49-F238E27FC236}">
                  <a16:creationId xmlns:a16="http://schemas.microsoft.com/office/drawing/2014/main" id="{C117B3A4-21E8-C71C-A0B6-DD48516398F4}"/>
                </a:ext>
              </a:extLst>
            </p:cNvPr>
            <p:cNvSpPr txBox="1">
              <a:spLocks noChangeArrowheads="1"/>
            </p:cNvSpPr>
            <p:nvPr/>
          </p:nvSpPr>
          <p:spPr bwMode="auto">
            <a:xfrm>
              <a:off x="2784" y="2304"/>
              <a:ext cx="1104" cy="315"/>
            </a:xfrm>
            <a:prstGeom prst="rect">
              <a:avLst/>
            </a:prstGeom>
            <a:solidFill>
              <a:srgbClr val="FFFFFF">
                <a:alpha val="50195"/>
              </a:srgbClr>
            </a:solidFill>
            <a:ln w="9525">
              <a:solidFill>
                <a:srgbClr val="000000"/>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lnSpc>
                  <a:spcPct val="60000"/>
                </a:lnSpc>
                <a:spcBef>
                  <a:spcPct val="50000"/>
                </a:spcBef>
              </a:pPr>
              <a:r>
                <a:rPr lang="en-US" altLang="en-US" sz="1800" b="1">
                  <a:solidFill>
                    <a:schemeClr val="bg2"/>
                  </a:solidFill>
                  <a:latin typeface="Times New Roman" panose="02020603050405020304" pitchFamily="18" charset="0"/>
                  <a:cs typeface="Times New Roman" panose="02020603050405020304" pitchFamily="18" charset="0"/>
                </a:rPr>
                <a:t>Skim Milk </a:t>
              </a:r>
            </a:p>
            <a:p>
              <a:pPr algn="ctr">
                <a:lnSpc>
                  <a:spcPct val="60000"/>
                </a:lnSpc>
                <a:spcBef>
                  <a:spcPct val="50000"/>
                </a:spcBef>
              </a:pPr>
              <a:r>
                <a:rPr lang="en-US" altLang="en-US" sz="1800" b="1">
                  <a:solidFill>
                    <a:schemeClr val="bg2"/>
                  </a:solidFill>
                  <a:latin typeface="Times New Roman" panose="02020603050405020304" pitchFamily="18" charset="0"/>
                  <a:cs typeface="Times New Roman" panose="02020603050405020304" pitchFamily="18" charset="0"/>
                </a:rPr>
                <a:t>[support = 4%]</a:t>
              </a:r>
              <a:endParaRPr lang="en-US" altLang="en-US" sz="1800" b="1">
                <a:latin typeface="Times New Roman" panose="02020603050405020304" pitchFamily="18" charset="0"/>
                <a:cs typeface="Times New Roman" panose="02020603050405020304" pitchFamily="18" charset="0"/>
              </a:endParaRPr>
            </a:p>
          </p:txBody>
        </p:sp>
        <p:sp>
          <p:nvSpPr>
            <p:cNvPr id="9226" name="Text Box 9">
              <a:extLst>
                <a:ext uri="{FF2B5EF4-FFF2-40B4-BE49-F238E27FC236}">
                  <a16:creationId xmlns:a16="http://schemas.microsoft.com/office/drawing/2014/main" id="{03C4D524-72EB-FAB6-2093-16E6125336FB}"/>
                </a:ext>
              </a:extLst>
            </p:cNvPr>
            <p:cNvSpPr txBox="1">
              <a:spLocks noChangeArrowheads="1"/>
            </p:cNvSpPr>
            <p:nvPr/>
          </p:nvSpPr>
          <p:spPr bwMode="auto">
            <a:xfrm>
              <a:off x="528" y="1680"/>
              <a:ext cx="915" cy="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600" b="1">
                  <a:solidFill>
                    <a:schemeClr val="hlink"/>
                  </a:solidFill>
                  <a:latin typeface="Times New Roman" panose="02020603050405020304" pitchFamily="18" charset="0"/>
                  <a:cs typeface="Times New Roman" panose="02020603050405020304" pitchFamily="18" charset="0"/>
                </a:rPr>
                <a:t>Level 1</a:t>
              </a:r>
            </a:p>
            <a:p>
              <a:r>
                <a:rPr lang="en-US" altLang="en-US" sz="1600" b="1">
                  <a:solidFill>
                    <a:schemeClr val="hlink"/>
                  </a:solidFill>
                  <a:latin typeface="Times New Roman" panose="02020603050405020304" pitchFamily="18" charset="0"/>
                  <a:cs typeface="Times New Roman" panose="02020603050405020304" pitchFamily="18" charset="0"/>
                </a:rPr>
                <a:t>min_sup = 5%</a:t>
              </a:r>
            </a:p>
          </p:txBody>
        </p:sp>
        <p:sp>
          <p:nvSpPr>
            <p:cNvPr id="9227" name="Text Box 10">
              <a:extLst>
                <a:ext uri="{FF2B5EF4-FFF2-40B4-BE49-F238E27FC236}">
                  <a16:creationId xmlns:a16="http://schemas.microsoft.com/office/drawing/2014/main" id="{F8C820EF-9A25-F9F1-3A70-DEF0B494A9D5}"/>
                </a:ext>
              </a:extLst>
            </p:cNvPr>
            <p:cNvSpPr txBox="1">
              <a:spLocks noChangeArrowheads="1"/>
            </p:cNvSpPr>
            <p:nvPr/>
          </p:nvSpPr>
          <p:spPr bwMode="auto">
            <a:xfrm>
              <a:off x="528" y="2304"/>
              <a:ext cx="915" cy="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600" b="1">
                  <a:solidFill>
                    <a:schemeClr val="hlink"/>
                  </a:solidFill>
                  <a:latin typeface="Times New Roman" panose="02020603050405020304" pitchFamily="18" charset="0"/>
                  <a:cs typeface="Times New Roman" panose="02020603050405020304" pitchFamily="18" charset="0"/>
                </a:rPr>
                <a:t>Level 2</a:t>
              </a:r>
            </a:p>
            <a:p>
              <a:r>
                <a:rPr lang="en-US" altLang="en-US" sz="1600" b="1">
                  <a:solidFill>
                    <a:schemeClr val="hlink"/>
                  </a:solidFill>
                  <a:latin typeface="Times New Roman" panose="02020603050405020304" pitchFamily="18" charset="0"/>
                  <a:cs typeface="Times New Roman" panose="02020603050405020304" pitchFamily="18" charset="0"/>
                </a:rPr>
                <a:t>min_sup = 5%</a:t>
              </a:r>
            </a:p>
          </p:txBody>
        </p:sp>
        <p:sp>
          <p:nvSpPr>
            <p:cNvPr id="9228" name="Text Box 11">
              <a:extLst>
                <a:ext uri="{FF2B5EF4-FFF2-40B4-BE49-F238E27FC236}">
                  <a16:creationId xmlns:a16="http://schemas.microsoft.com/office/drawing/2014/main" id="{544C20FE-C986-E0B7-8F25-C13E3275A6A8}"/>
                </a:ext>
              </a:extLst>
            </p:cNvPr>
            <p:cNvSpPr txBox="1">
              <a:spLocks noChangeArrowheads="1"/>
            </p:cNvSpPr>
            <p:nvPr/>
          </p:nvSpPr>
          <p:spPr bwMode="auto">
            <a:xfrm>
              <a:off x="3984" y="1762"/>
              <a:ext cx="915" cy="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600" b="1">
                  <a:solidFill>
                    <a:schemeClr val="folHlink"/>
                  </a:solidFill>
                  <a:latin typeface="Times New Roman" panose="02020603050405020304" pitchFamily="18" charset="0"/>
                  <a:cs typeface="Times New Roman" panose="02020603050405020304" pitchFamily="18" charset="0"/>
                </a:rPr>
                <a:t>Level 1</a:t>
              </a:r>
            </a:p>
            <a:p>
              <a:r>
                <a:rPr lang="en-US" altLang="en-US" sz="1600" b="1">
                  <a:solidFill>
                    <a:schemeClr val="folHlink"/>
                  </a:solidFill>
                  <a:latin typeface="Times New Roman" panose="02020603050405020304" pitchFamily="18" charset="0"/>
                  <a:cs typeface="Times New Roman" panose="02020603050405020304" pitchFamily="18" charset="0"/>
                </a:rPr>
                <a:t>min_sup = 5%</a:t>
              </a:r>
            </a:p>
          </p:txBody>
        </p:sp>
        <p:sp>
          <p:nvSpPr>
            <p:cNvPr id="9229" name="Text Box 12">
              <a:extLst>
                <a:ext uri="{FF2B5EF4-FFF2-40B4-BE49-F238E27FC236}">
                  <a16:creationId xmlns:a16="http://schemas.microsoft.com/office/drawing/2014/main" id="{E1F54A98-9532-3EAF-4D01-C7589AF21553}"/>
                </a:ext>
              </a:extLst>
            </p:cNvPr>
            <p:cNvSpPr txBox="1">
              <a:spLocks noChangeArrowheads="1"/>
            </p:cNvSpPr>
            <p:nvPr/>
          </p:nvSpPr>
          <p:spPr bwMode="auto">
            <a:xfrm>
              <a:off x="4032" y="2290"/>
              <a:ext cx="915" cy="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600" b="1">
                  <a:solidFill>
                    <a:schemeClr val="folHlink"/>
                  </a:solidFill>
                  <a:latin typeface="Times New Roman" panose="02020603050405020304" pitchFamily="18" charset="0"/>
                  <a:cs typeface="Times New Roman" panose="02020603050405020304" pitchFamily="18" charset="0"/>
                </a:rPr>
                <a:t>Level 2</a:t>
              </a:r>
            </a:p>
            <a:p>
              <a:r>
                <a:rPr lang="en-US" altLang="en-US" sz="1600" b="1">
                  <a:solidFill>
                    <a:schemeClr val="folHlink"/>
                  </a:solidFill>
                  <a:latin typeface="Times New Roman" panose="02020603050405020304" pitchFamily="18" charset="0"/>
                  <a:cs typeface="Times New Roman" panose="02020603050405020304" pitchFamily="18" charset="0"/>
                </a:rPr>
                <a:t>min_sup = 3%</a:t>
              </a:r>
            </a:p>
          </p:txBody>
        </p:sp>
        <p:sp>
          <p:nvSpPr>
            <p:cNvPr id="9230" name="Rectangle 13">
              <a:extLst>
                <a:ext uri="{FF2B5EF4-FFF2-40B4-BE49-F238E27FC236}">
                  <a16:creationId xmlns:a16="http://schemas.microsoft.com/office/drawing/2014/main" id="{82D8679E-F75A-04EF-5B92-69C04320A984}"/>
                </a:ext>
              </a:extLst>
            </p:cNvPr>
            <p:cNvSpPr>
              <a:spLocks noChangeArrowheads="1"/>
            </p:cNvSpPr>
            <p:nvPr/>
          </p:nvSpPr>
          <p:spPr bwMode="auto">
            <a:xfrm>
              <a:off x="3456" y="1392"/>
              <a:ext cx="135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solidFill>
                    <a:schemeClr val="folHlink"/>
                  </a:solidFill>
                  <a:latin typeface="Times New Roman" panose="02020603050405020304" pitchFamily="18" charset="0"/>
                  <a:cs typeface="Times New Roman" panose="02020603050405020304" pitchFamily="18" charset="0"/>
                </a:rPr>
                <a:t>reduced support</a:t>
              </a:r>
            </a:p>
          </p:txBody>
        </p:sp>
        <p:cxnSp>
          <p:nvCxnSpPr>
            <p:cNvPr id="9231" name="AutoShape 14">
              <a:extLst>
                <a:ext uri="{FF2B5EF4-FFF2-40B4-BE49-F238E27FC236}">
                  <a16:creationId xmlns:a16="http://schemas.microsoft.com/office/drawing/2014/main" id="{8E2F4800-E744-805F-56F9-4F7AF49FA703}"/>
                </a:ext>
              </a:extLst>
            </p:cNvPr>
            <p:cNvCxnSpPr>
              <a:cxnSpLocks noChangeShapeType="1"/>
              <a:stCxn id="9223" idx="2"/>
              <a:endCxn id="9224" idx="0"/>
            </p:cNvCxnSpPr>
            <p:nvPr/>
          </p:nvCxnSpPr>
          <p:spPr bwMode="auto">
            <a:xfrm flipH="1">
              <a:off x="2112" y="2091"/>
              <a:ext cx="600" cy="213"/>
            </a:xfrm>
            <a:prstGeom prst="straightConnector1">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32" name="AutoShape 15">
              <a:extLst>
                <a:ext uri="{FF2B5EF4-FFF2-40B4-BE49-F238E27FC236}">
                  <a16:creationId xmlns:a16="http://schemas.microsoft.com/office/drawing/2014/main" id="{A02933D1-6396-066B-C30C-8E99591E3227}"/>
                </a:ext>
              </a:extLst>
            </p:cNvPr>
            <p:cNvCxnSpPr>
              <a:cxnSpLocks noChangeShapeType="1"/>
              <a:stCxn id="9223" idx="2"/>
              <a:endCxn id="9225" idx="0"/>
            </p:cNvCxnSpPr>
            <p:nvPr/>
          </p:nvCxnSpPr>
          <p:spPr bwMode="auto">
            <a:xfrm>
              <a:off x="2712" y="2091"/>
              <a:ext cx="624" cy="213"/>
            </a:xfrm>
            <a:prstGeom prst="straightConnector1">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7CF27B-5692-51CA-F6B9-368C0F40F845}"/>
              </a:ext>
            </a:extLst>
          </p:cNvPr>
          <p:cNvSpPr>
            <a:spLocks noGrp="1"/>
          </p:cNvSpPr>
          <p:nvPr>
            <p:ph idx="1"/>
          </p:nvPr>
        </p:nvSpPr>
        <p:spPr/>
        <p:txBody>
          <a:bodyPr/>
          <a:lstStyle/>
          <a:p>
            <a:pPr lvl="0" fontAlgn="base"/>
            <a:r>
              <a:rPr lang="en-IN" dirty="0">
                <a:latin typeface="Times New Roman" panose="02020603050405020304" pitchFamily="18" charset="0"/>
                <a:cs typeface="Times New Roman" panose="02020603050405020304" pitchFamily="18" charset="0"/>
              </a:rPr>
              <a:t>In Multi dimensional association rule Qualities can be absolute or quantitative.</a:t>
            </a:r>
          </a:p>
          <a:p>
            <a:pPr lvl="0" fontAlgn="base"/>
            <a:r>
              <a:rPr lang="en-IN" dirty="0">
                <a:latin typeface="Times New Roman" panose="02020603050405020304" pitchFamily="18" charset="0"/>
                <a:cs typeface="Times New Roman" panose="02020603050405020304" pitchFamily="18" charset="0"/>
              </a:rPr>
              <a:t>Quantitative characteristics are numeric and consolidates order.</a:t>
            </a:r>
          </a:p>
          <a:p>
            <a:pPr lvl="0" fontAlgn="base"/>
            <a:r>
              <a:rPr lang="en-IN" dirty="0">
                <a:latin typeface="Times New Roman" panose="02020603050405020304" pitchFamily="18" charset="0"/>
                <a:cs typeface="Times New Roman" panose="02020603050405020304" pitchFamily="18" charset="0"/>
              </a:rPr>
              <a:t>Numeric traits should be discretized.</a:t>
            </a:r>
          </a:p>
          <a:p>
            <a:pPr lvl="0" fontAlgn="base"/>
            <a:r>
              <a:rPr lang="en-IN" dirty="0">
                <a:latin typeface="Times New Roman" panose="02020603050405020304" pitchFamily="18" charset="0"/>
                <a:cs typeface="Times New Roman" panose="02020603050405020304" pitchFamily="18" charset="0"/>
              </a:rPr>
              <a:t>Multi dimensional affiliation rule comprises of more than one measurement.</a:t>
            </a:r>
          </a:p>
          <a:p>
            <a:pPr lvl="0" fontAlgn="base"/>
            <a:r>
              <a:rPr lang="en-IN" b="1" dirty="0">
                <a:latin typeface="Times New Roman" panose="02020603050405020304" pitchFamily="18" charset="0"/>
                <a:cs typeface="Times New Roman" panose="02020603050405020304" pitchFamily="18" charset="0"/>
              </a:rPr>
              <a:t>Example -</a:t>
            </a:r>
            <a:r>
              <a:rPr lang="en-IN" dirty="0">
                <a:latin typeface="Times New Roman" panose="02020603050405020304" pitchFamily="18" charset="0"/>
                <a:cs typeface="Times New Roman" panose="02020603050405020304" pitchFamily="18" charset="0"/>
              </a:rPr>
              <a:t>buys(X, "IBM Laptop computer")buys(X, "HP Inkjet Printer")</a:t>
            </a:r>
          </a:p>
          <a:p>
            <a:endParaRPr lang="en-IN"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41456575-2186-27D3-4965-77752D9CA301}"/>
              </a:ext>
            </a:extLst>
          </p:cNvPr>
          <p:cNvSpPr>
            <a:spLocks noGrp="1"/>
          </p:cNvSpPr>
          <p:nvPr>
            <p:ph type="title"/>
          </p:nvPr>
        </p:nvSpPr>
        <p:spPr>
          <a:xfrm>
            <a:off x="457200" y="274638"/>
            <a:ext cx="8229600" cy="715962"/>
          </a:xfrm>
        </p:spPr>
        <p:txBody>
          <a:bodyPr>
            <a:normAutofit fontScale="90000"/>
          </a:bodyPr>
          <a:lstStyle/>
          <a:p>
            <a:pPr algn="ctr"/>
            <a:r>
              <a:rPr lang="en-US" sz="3200" dirty="0">
                <a:solidFill>
                  <a:srgbClr val="002060"/>
                </a:solidFill>
                <a:effectLst/>
                <a:latin typeface="Times New Roman" panose="02020603050405020304" pitchFamily="18" charset="0"/>
                <a:cs typeface="Times New Roman" panose="02020603050405020304" pitchFamily="18" charset="0"/>
              </a:rPr>
              <a:t>Pattern Mining in </a:t>
            </a:r>
            <a:r>
              <a:rPr lang="en-IN" sz="3200" dirty="0">
                <a:solidFill>
                  <a:srgbClr val="002060"/>
                </a:solidFill>
                <a:latin typeface="Times New Roman" panose="02020603050405020304" pitchFamily="18" charset="0"/>
                <a:cs typeface="Times New Roman" panose="02020603050405020304" pitchFamily="18" charset="0"/>
              </a:rPr>
              <a:t>Multidimensional Association Rules </a:t>
            </a:r>
            <a:endParaRPr lang="en-IN" sz="3200" dirty="0">
              <a:solidFill>
                <a:srgbClr val="002060"/>
              </a:solidFill>
            </a:endParaRPr>
          </a:p>
        </p:txBody>
      </p:sp>
    </p:spTree>
    <p:extLst>
      <p:ext uri="{BB962C8B-B14F-4D97-AF65-F5344CB8AC3E}">
        <p14:creationId xmlns:p14="http://schemas.microsoft.com/office/powerpoint/2010/main" val="3581460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Slide Number Placeholder 5">
            <a:extLst>
              <a:ext uri="{FF2B5EF4-FFF2-40B4-BE49-F238E27FC236}">
                <a16:creationId xmlns:a16="http://schemas.microsoft.com/office/drawing/2014/main" id="{109EEE9A-201D-4EF1-5C47-0D9C8FD6D211}"/>
              </a:ext>
            </a:extLst>
          </p:cNvPr>
          <p:cNvSpPr>
            <a:spLocks noGrp="1"/>
          </p:cNvSpPr>
          <p:nvPr>
            <p:ph type="sldNum" sz="quarter" idx="10"/>
          </p:nvPr>
        </p:nvSpPr>
        <p:spPr>
          <a:xfrm>
            <a:off x="7239000" y="6477000"/>
            <a:ext cx="1905000" cy="381000"/>
          </a:xfrm>
          <a:noFill/>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0DD865C7-AD87-40F8-85CB-4090EE8B2344}" type="slidenum">
              <a:rPr lang="en-US" altLang="en-US" sz="1200">
                <a:latin typeface="Times New Roman" panose="02020603050405020304" pitchFamily="18" charset="0"/>
                <a:cs typeface="Times New Roman" panose="02020603050405020304" pitchFamily="18" charset="0"/>
              </a:rPr>
              <a:pPr eaLnBrk="1" hangingPunct="1"/>
              <a:t>13</a:t>
            </a:fld>
            <a:endParaRPr lang="en-US" altLang="en-US" sz="1200">
              <a:latin typeface="Times New Roman" panose="02020603050405020304" pitchFamily="18" charset="0"/>
              <a:cs typeface="Times New Roman" panose="02020603050405020304" pitchFamily="18" charset="0"/>
            </a:endParaRPr>
          </a:p>
        </p:txBody>
      </p:sp>
      <p:sp>
        <p:nvSpPr>
          <p:cNvPr id="12291" name="Rectangle 2">
            <a:extLst>
              <a:ext uri="{FF2B5EF4-FFF2-40B4-BE49-F238E27FC236}">
                <a16:creationId xmlns:a16="http://schemas.microsoft.com/office/drawing/2014/main" id="{BC97C748-A79B-9AF8-3A81-46CD1F8A3F50}"/>
              </a:ext>
            </a:extLst>
          </p:cNvPr>
          <p:cNvSpPr>
            <a:spLocks noGrp="1" noChangeArrowheads="1"/>
          </p:cNvSpPr>
          <p:nvPr>
            <p:ph type="title"/>
          </p:nvPr>
        </p:nvSpPr>
        <p:spPr>
          <a:xfrm>
            <a:off x="914400" y="381000"/>
            <a:ext cx="7564438" cy="685800"/>
          </a:xfrm>
        </p:spPr>
        <p:txBody>
          <a:bodyPr>
            <a:normAutofit/>
          </a:bodyPr>
          <a:lstStyle/>
          <a:p>
            <a:pPr eaLnBrk="1" hangingPunct="1"/>
            <a:r>
              <a:rPr lang="en-US" altLang="en-US" sz="3200">
                <a:latin typeface="Times New Roman" panose="02020603050405020304" pitchFamily="18" charset="0"/>
                <a:cs typeface="Times New Roman" panose="02020603050405020304" pitchFamily="18" charset="0"/>
              </a:rPr>
              <a:t>Mining Multi-Dimensional Association</a:t>
            </a:r>
          </a:p>
        </p:txBody>
      </p:sp>
      <p:sp>
        <p:nvSpPr>
          <p:cNvPr id="12292" name="Rectangle 3">
            <a:extLst>
              <a:ext uri="{FF2B5EF4-FFF2-40B4-BE49-F238E27FC236}">
                <a16:creationId xmlns:a16="http://schemas.microsoft.com/office/drawing/2014/main" id="{0A1407A4-57CD-8C0F-DC07-5067B2EAAB02}"/>
              </a:ext>
            </a:extLst>
          </p:cNvPr>
          <p:cNvSpPr>
            <a:spLocks noGrp="1" noChangeArrowheads="1"/>
          </p:cNvSpPr>
          <p:nvPr>
            <p:ph type="body" idx="1"/>
          </p:nvPr>
        </p:nvSpPr>
        <p:spPr>
          <a:xfrm>
            <a:off x="304800" y="1371600"/>
            <a:ext cx="8686800" cy="5181600"/>
          </a:xfrm>
        </p:spPr>
        <p:txBody>
          <a:bodyPr>
            <a:normAutofit/>
          </a:bodyPr>
          <a:lstStyle/>
          <a:p>
            <a:pPr eaLnBrk="1" hangingPunct="1">
              <a:lnSpc>
                <a:spcPct val="110000"/>
              </a:lnSpc>
            </a:pPr>
            <a:r>
              <a:rPr lang="en-US" altLang="en-US" sz="2400" dirty="0">
                <a:latin typeface="Times New Roman" panose="02020603050405020304" pitchFamily="18" charset="0"/>
                <a:cs typeface="Times New Roman" panose="02020603050405020304" pitchFamily="18" charset="0"/>
              </a:rPr>
              <a:t>Single-dimensional rules:</a:t>
            </a:r>
          </a:p>
          <a:p>
            <a:pPr lvl="2" eaLnBrk="1" hangingPunct="1">
              <a:lnSpc>
                <a:spcPct val="110000"/>
              </a:lnSpc>
              <a:buFont typeface="Wingdings" panose="05000000000000000000" pitchFamily="2" charset="2"/>
              <a:buNone/>
            </a:pPr>
            <a:r>
              <a:rPr lang="en-US" altLang="en-US" sz="2000" dirty="0">
                <a:solidFill>
                  <a:schemeClr val="folHlink"/>
                </a:solidFill>
                <a:latin typeface="Times New Roman" panose="02020603050405020304" pitchFamily="18" charset="0"/>
                <a:cs typeface="Times New Roman" panose="02020603050405020304" pitchFamily="18" charset="0"/>
              </a:rPr>
              <a:t>buys(X, “milk”) </a:t>
            </a:r>
            <a:r>
              <a:rPr lang="en-US" altLang="en-US" sz="2000" dirty="0">
                <a:solidFill>
                  <a:schemeClr val="folHlink"/>
                </a:solidFill>
                <a:latin typeface="Times New Roman" panose="02020603050405020304" pitchFamily="18" charset="0"/>
                <a:cs typeface="Times New Roman" panose="02020603050405020304" pitchFamily="18" charset="0"/>
                <a:sym typeface="Symbol" panose="05050102010706020507" pitchFamily="18" charset="2"/>
              </a:rPr>
              <a:t> buys(X, “bread”)</a:t>
            </a:r>
          </a:p>
          <a:p>
            <a:pPr eaLnBrk="1" hangingPunct="1">
              <a:lnSpc>
                <a:spcPct val="110000"/>
              </a:lnSpc>
            </a:pPr>
            <a:r>
              <a:rPr lang="en-US" altLang="en-US" sz="2400" dirty="0">
                <a:latin typeface="Times New Roman" panose="02020603050405020304" pitchFamily="18" charset="0"/>
                <a:cs typeface="Times New Roman" panose="02020603050405020304" pitchFamily="18" charset="0"/>
              </a:rPr>
              <a:t>Multi-dimensional rules: </a:t>
            </a:r>
            <a:r>
              <a:rPr lang="en-US" altLang="en-US"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en-US" sz="2400" dirty="0">
                <a:latin typeface="Times New Roman" panose="02020603050405020304" pitchFamily="18" charset="0"/>
                <a:cs typeface="Times New Roman" panose="02020603050405020304" pitchFamily="18" charset="0"/>
                <a:sym typeface="Math B" pitchFamily="2" charset="2"/>
              </a:rPr>
              <a:t> </a:t>
            </a:r>
            <a:r>
              <a:rPr lang="en-US" altLang="en-US" sz="2400" dirty="0">
                <a:latin typeface="Times New Roman" panose="02020603050405020304" pitchFamily="18" charset="0"/>
                <a:cs typeface="Times New Roman" panose="02020603050405020304" pitchFamily="18" charset="0"/>
              </a:rPr>
              <a:t>2 dimensions or predicates</a:t>
            </a:r>
          </a:p>
          <a:p>
            <a:pPr lvl="1" eaLnBrk="1" hangingPunct="1">
              <a:lnSpc>
                <a:spcPct val="110000"/>
              </a:lnSpc>
            </a:pPr>
            <a:r>
              <a:rPr lang="en-US" altLang="en-US" sz="2400" dirty="0">
                <a:latin typeface="Times New Roman" panose="02020603050405020304" pitchFamily="18" charset="0"/>
                <a:cs typeface="Times New Roman" panose="02020603050405020304" pitchFamily="18" charset="0"/>
              </a:rPr>
              <a:t>Inter-dimension assoc. rules (</a:t>
            </a:r>
            <a:r>
              <a:rPr lang="en-US" altLang="en-US" sz="2400" i="1" dirty="0">
                <a:latin typeface="Times New Roman" panose="02020603050405020304" pitchFamily="18" charset="0"/>
                <a:cs typeface="Times New Roman" panose="02020603050405020304" pitchFamily="18" charset="0"/>
              </a:rPr>
              <a:t>no repeated predicates</a:t>
            </a:r>
            <a:r>
              <a:rPr lang="en-US" altLang="en-US" sz="2400" dirty="0">
                <a:latin typeface="Times New Roman" panose="02020603050405020304" pitchFamily="18" charset="0"/>
                <a:cs typeface="Times New Roman" panose="02020603050405020304" pitchFamily="18" charset="0"/>
              </a:rPr>
              <a:t>)</a:t>
            </a:r>
          </a:p>
          <a:p>
            <a:pPr lvl="2" eaLnBrk="1" hangingPunct="1">
              <a:lnSpc>
                <a:spcPct val="110000"/>
              </a:lnSpc>
              <a:buFont typeface="Wingdings" panose="05000000000000000000" pitchFamily="2" charset="2"/>
              <a:buNone/>
            </a:pPr>
            <a:r>
              <a:rPr lang="en-US" altLang="en-US" sz="2000" dirty="0">
                <a:solidFill>
                  <a:schemeClr val="folHlink"/>
                </a:solidFill>
                <a:latin typeface="Times New Roman" panose="02020603050405020304" pitchFamily="18" charset="0"/>
                <a:cs typeface="Times New Roman" panose="02020603050405020304" pitchFamily="18" charset="0"/>
              </a:rPr>
              <a:t>age(X,”19-25”) </a:t>
            </a:r>
            <a:r>
              <a:rPr lang="en-US" altLang="en-US" sz="2000" dirty="0">
                <a:solidFill>
                  <a:schemeClr val="folHlink"/>
                </a:solidFill>
                <a:latin typeface="Times New Roman" panose="02020603050405020304" pitchFamily="18" charset="0"/>
                <a:cs typeface="Times New Roman" panose="02020603050405020304" pitchFamily="18" charset="0"/>
                <a:sym typeface="Symbol" panose="05050102010706020507" pitchFamily="18" charset="2"/>
              </a:rPr>
              <a:t> </a:t>
            </a:r>
            <a:r>
              <a:rPr lang="en-US" altLang="en-US" sz="2000" dirty="0">
                <a:solidFill>
                  <a:schemeClr val="folHlink"/>
                </a:solidFill>
                <a:latin typeface="Times New Roman" panose="02020603050405020304" pitchFamily="18" charset="0"/>
                <a:cs typeface="Times New Roman" panose="02020603050405020304" pitchFamily="18" charset="0"/>
              </a:rPr>
              <a:t>occupation(</a:t>
            </a:r>
            <a:r>
              <a:rPr lang="en-US" altLang="en-US" sz="2000" dirty="0" err="1">
                <a:solidFill>
                  <a:schemeClr val="folHlink"/>
                </a:solidFill>
                <a:latin typeface="Times New Roman" panose="02020603050405020304" pitchFamily="18" charset="0"/>
                <a:cs typeface="Times New Roman" panose="02020603050405020304" pitchFamily="18" charset="0"/>
              </a:rPr>
              <a:t>X,“student</a:t>
            </a:r>
            <a:r>
              <a:rPr lang="en-US" altLang="en-US" sz="2000" dirty="0">
                <a:solidFill>
                  <a:schemeClr val="folHlink"/>
                </a:solidFill>
                <a:latin typeface="Times New Roman" panose="02020603050405020304" pitchFamily="18" charset="0"/>
                <a:cs typeface="Times New Roman" panose="02020603050405020304" pitchFamily="18" charset="0"/>
              </a:rPr>
              <a:t>”) </a:t>
            </a:r>
            <a:r>
              <a:rPr lang="en-US" altLang="en-US" sz="2000" dirty="0">
                <a:solidFill>
                  <a:schemeClr val="folHlink"/>
                </a:solidFill>
                <a:latin typeface="Times New Roman" panose="02020603050405020304" pitchFamily="18" charset="0"/>
                <a:cs typeface="Times New Roman" panose="02020603050405020304" pitchFamily="18" charset="0"/>
                <a:sym typeface="Symbol" panose="05050102010706020507" pitchFamily="18" charset="2"/>
              </a:rPr>
              <a:t> buys(X, “coke”)</a:t>
            </a:r>
          </a:p>
          <a:p>
            <a:pPr lvl="1" eaLnBrk="1" hangingPunct="1">
              <a:lnSpc>
                <a:spcPct val="110000"/>
              </a:lnSpc>
            </a:pPr>
            <a:r>
              <a:rPr lang="en-US" altLang="en-US" sz="2400" dirty="0">
                <a:latin typeface="Times New Roman" panose="02020603050405020304" pitchFamily="18" charset="0"/>
                <a:cs typeface="Times New Roman" panose="02020603050405020304" pitchFamily="18" charset="0"/>
                <a:sym typeface="Symbol" panose="05050102010706020507" pitchFamily="18" charset="2"/>
              </a:rPr>
              <a:t>hybrid-dimension assoc. rules (</a:t>
            </a:r>
            <a:r>
              <a:rPr lang="en-US" altLang="en-US" sz="2400" i="1" dirty="0">
                <a:latin typeface="Times New Roman" panose="02020603050405020304" pitchFamily="18" charset="0"/>
                <a:cs typeface="Times New Roman" panose="02020603050405020304" pitchFamily="18" charset="0"/>
                <a:sym typeface="Symbol" panose="05050102010706020507" pitchFamily="18" charset="2"/>
              </a:rPr>
              <a:t>repeated predicates</a:t>
            </a:r>
            <a:r>
              <a:rPr lang="en-US" altLang="en-US" sz="2400" dirty="0">
                <a:latin typeface="Times New Roman" panose="02020603050405020304" pitchFamily="18" charset="0"/>
                <a:cs typeface="Times New Roman" panose="02020603050405020304" pitchFamily="18" charset="0"/>
                <a:sym typeface="Symbol" panose="05050102010706020507" pitchFamily="18" charset="2"/>
              </a:rPr>
              <a:t>)</a:t>
            </a:r>
          </a:p>
          <a:p>
            <a:pPr lvl="2" eaLnBrk="1" hangingPunct="1">
              <a:lnSpc>
                <a:spcPct val="110000"/>
              </a:lnSpc>
              <a:buFont typeface="Wingdings" panose="05000000000000000000" pitchFamily="2" charset="2"/>
              <a:buNone/>
            </a:pPr>
            <a:r>
              <a:rPr lang="en-US" altLang="en-US" sz="2000" dirty="0">
                <a:solidFill>
                  <a:schemeClr val="folHlink"/>
                </a:solidFill>
                <a:latin typeface="Times New Roman" panose="02020603050405020304" pitchFamily="18" charset="0"/>
                <a:cs typeface="Times New Roman" panose="02020603050405020304" pitchFamily="18" charset="0"/>
              </a:rPr>
              <a:t>age(X,”19-25”) </a:t>
            </a:r>
            <a:r>
              <a:rPr lang="en-US" altLang="en-US" sz="2000" dirty="0">
                <a:solidFill>
                  <a:schemeClr val="folHlink"/>
                </a:solidFill>
                <a:latin typeface="Times New Roman" panose="02020603050405020304" pitchFamily="18" charset="0"/>
                <a:cs typeface="Times New Roman" panose="02020603050405020304" pitchFamily="18" charset="0"/>
                <a:sym typeface="Symbol" panose="05050102010706020507" pitchFamily="18" charset="2"/>
              </a:rPr>
              <a:t>  </a:t>
            </a:r>
            <a:r>
              <a:rPr lang="en-US" altLang="en-US" sz="2000" dirty="0">
                <a:solidFill>
                  <a:schemeClr val="folHlink"/>
                </a:solidFill>
                <a:latin typeface="Times New Roman" panose="02020603050405020304" pitchFamily="18" charset="0"/>
                <a:cs typeface="Times New Roman" panose="02020603050405020304" pitchFamily="18" charset="0"/>
              </a:rPr>
              <a:t>buys(X, “popcorn”) </a:t>
            </a:r>
            <a:r>
              <a:rPr lang="en-US" altLang="en-US" sz="2000" dirty="0">
                <a:solidFill>
                  <a:schemeClr val="folHlink"/>
                </a:solidFill>
                <a:latin typeface="Times New Roman" panose="02020603050405020304" pitchFamily="18" charset="0"/>
                <a:cs typeface="Times New Roman" panose="02020603050405020304" pitchFamily="18" charset="0"/>
                <a:sym typeface="Symbol" panose="05050102010706020507" pitchFamily="18" charset="2"/>
              </a:rPr>
              <a:t> buys(X, “coke”)</a:t>
            </a:r>
          </a:p>
          <a:p>
            <a:pPr eaLnBrk="1" hangingPunct="1">
              <a:lnSpc>
                <a:spcPct val="110000"/>
              </a:lnSpc>
            </a:pPr>
            <a:r>
              <a:rPr lang="en-US" altLang="en-US" sz="2400" dirty="0">
                <a:latin typeface="Times New Roman" panose="02020603050405020304" pitchFamily="18" charset="0"/>
                <a:cs typeface="Times New Roman" panose="02020603050405020304" pitchFamily="18" charset="0"/>
              </a:rPr>
              <a:t>Categorical Attributes: finite number of possible values, no ordering among values—data cube approach</a:t>
            </a:r>
          </a:p>
          <a:p>
            <a:pPr eaLnBrk="1" hangingPunct="1">
              <a:lnSpc>
                <a:spcPct val="110000"/>
              </a:lnSpc>
            </a:pPr>
            <a:r>
              <a:rPr lang="en-US" altLang="en-US" sz="2400" dirty="0">
                <a:latin typeface="Times New Roman" panose="02020603050405020304" pitchFamily="18" charset="0"/>
                <a:cs typeface="Times New Roman" panose="02020603050405020304" pitchFamily="18" charset="0"/>
              </a:rPr>
              <a:t>Quantitative Attributes: Numeric, implicit ordering among values—discretization, clustering, and gradient approaches</a:t>
            </a:r>
          </a:p>
          <a:p>
            <a:pPr eaLnBrk="1" hangingPunct="1">
              <a:lnSpc>
                <a:spcPct val="110000"/>
              </a:lnSpc>
            </a:pPr>
            <a:endParaRPr lang="en-US" altLang="en-US" sz="2400" dirty="0">
              <a:solidFill>
                <a:schemeClr val="folHlink"/>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1553412" name="Rectangle 4">
            <a:extLst>
              <a:ext uri="{FF2B5EF4-FFF2-40B4-BE49-F238E27FC236}">
                <a16:creationId xmlns:a16="http://schemas.microsoft.com/office/drawing/2014/main" id="{A0EA3858-F0DF-95A4-973B-E5F48D5159EC}"/>
              </a:ext>
            </a:extLst>
          </p:cNvPr>
          <p:cNvSpPr>
            <a:spLocks noChangeArrowheads="1"/>
          </p:cNvSpPr>
          <p:nvPr/>
        </p:nvSpPr>
        <p:spPr bwMode="auto">
          <a:xfrm>
            <a:off x="381000" y="3886200"/>
            <a:ext cx="83820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20000"/>
              </a:spcBef>
              <a:buClr>
                <a:schemeClr val="folHlink"/>
              </a:buClr>
              <a:buSzPct val="60000"/>
              <a:buFont typeface="Wingdings" panose="05000000000000000000" pitchFamily="2" charset="2"/>
              <a:buChar char="n"/>
            </a:pPr>
            <a:endParaRPr lang="en-US" altLang="en-US" sz="2800">
              <a:solidFill>
                <a:schemeClr val="folHlink"/>
              </a:solidFill>
              <a:latin typeface="Times New Roman" panose="02020603050405020304" pitchFamily="18" charset="0"/>
              <a:cs typeface="Times New Roman" panose="02020603050405020304" pitchFamily="18" charset="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1553412"/>
                                        </p:tgtEl>
                                        <p:attrNameLst>
                                          <p:attrName>style.visibility</p:attrName>
                                        </p:attrNameLst>
                                      </p:cBhvr>
                                      <p:to>
                                        <p:strVal val="visible"/>
                                      </p:to>
                                    </p:set>
                                    <p:anim calcmode="lin" valueType="num">
                                      <p:cBhvr additive="base">
                                        <p:cTn id="7" dur="500" fill="hold"/>
                                        <p:tgtEl>
                                          <p:spTgt spid="1553412"/>
                                        </p:tgtEl>
                                        <p:attrNameLst>
                                          <p:attrName>ppt_x</p:attrName>
                                        </p:attrNameLst>
                                      </p:cBhvr>
                                      <p:tavLst>
                                        <p:tav tm="0">
                                          <p:val>
                                            <p:strVal val="0-#ppt_w/2"/>
                                          </p:val>
                                        </p:tav>
                                        <p:tav tm="100000">
                                          <p:val>
                                            <p:strVal val="#ppt_x"/>
                                          </p:val>
                                        </p:tav>
                                      </p:tavLst>
                                    </p:anim>
                                    <p:anim calcmode="lin" valueType="num">
                                      <p:cBhvr additive="base">
                                        <p:cTn id="8" dur="500" fill="hold"/>
                                        <p:tgtEl>
                                          <p:spTgt spid="15534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3412"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D5DC3BA-A763-D832-5C83-1F269DD1C84F}"/>
              </a:ext>
            </a:extLst>
          </p:cNvPr>
          <p:cNvSpPr>
            <a:spLocks noGrp="1"/>
          </p:cNvSpPr>
          <p:nvPr>
            <p:ph idx="1"/>
          </p:nvPr>
        </p:nvSpPr>
        <p:spPr/>
        <p:txBody>
          <a:bodyPr>
            <a:normAutofit/>
          </a:bodyPr>
          <a:lstStyle/>
          <a:p>
            <a:r>
              <a:rPr lang="en-IN" sz="2400" b="1" dirty="0">
                <a:latin typeface="Times New Roman" panose="02020603050405020304" pitchFamily="18" charset="0"/>
                <a:cs typeface="Times New Roman" panose="02020603050405020304" pitchFamily="18" charset="0"/>
              </a:rPr>
              <a:t>Using static discretization of quantitative qualities</a:t>
            </a:r>
          </a:p>
          <a:p>
            <a:r>
              <a:rPr lang="en-IN" sz="2400" b="1" dirty="0">
                <a:latin typeface="Times New Roman" panose="02020603050405020304" pitchFamily="18" charset="0"/>
                <a:cs typeface="Times New Roman" panose="02020603050405020304" pitchFamily="18" charset="0"/>
              </a:rPr>
              <a:t>Using powerful discretization of quantitative traits</a:t>
            </a:r>
          </a:p>
          <a:p>
            <a:r>
              <a:rPr lang="en-IN" sz="2400" b="1" dirty="0">
                <a:latin typeface="Times New Roman" panose="02020603050405020304" pitchFamily="18" charset="0"/>
                <a:cs typeface="Times New Roman" panose="02020603050405020304" pitchFamily="18" charset="0"/>
              </a:rPr>
              <a:t>Grid FOR TUPLES</a:t>
            </a:r>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ADB78E2D-B068-320E-51F7-7056FCBBBD41}"/>
              </a:ext>
            </a:extLst>
          </p:cNvPr>
          <p:cNvSpPr>
            <a:spLocks noGrp="1"/>
          </p:cNvSpPr>
          <p:nvPr>
            <p:ph type="title"/>
          </p:nvPr>
        </p:nvSpPr>
        <p:spPr/>
        <p:txBody>
          <a:bodyPr>
            <a:normAutofit/>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Approaches in mining multi dimensional affiliation rules</a:t>
            </a:r>
            <a:endParaRPr lang="en-IN" sz="3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35868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133600" y="2514600"/>
            <a:ext cx="4953000" cy="1143000"/>
          </a:xfrm>
        </p:spPr>
        <p:txBody>
          <a:bodyPr>
            <a:normAutofit/>
          </a:bodyPr>
          <a:lstStyle/>
          <a:p>
            <a:r>
              <a:rPr lang="en-US" sz="5400" dirty="0">
                <a:latin typeface="Times New Roman" pitchFamily="18" charset="0"/>
                <a:cs typeface="Times New Roman" pitchFamily="18" charset="0"/>
              </a:rPr>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Concourse</Template>
  <TotalTime>31386</TotalTime>
  <Words>1318</Words>
  <Application>Microsoft Office PowerPoint</Application>
  <PresentationFormat>On-screen Show (4:3)</PresentationFormat>
  <Paragraphs>120</Paragraphs>
  <Slides>15</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Aptos</vt:lpstr>
      <vt:lpstr>Lucida Sans Unicode</vt:lpstr>
      <vt:lpstr>Times New Roman</vt:lpstr>
      <vt:lpstr>Verdana</vt:lpstr>
      <vt:lpstr>Wingdings</vt:lpstr>
      <vt:lpstr>Wingdings 2</vt:lpstr>
      <vt:lpstr>Wingdings 3</vt:lpstr>
      <vt:lpstr>Concourse</vt:lpstr>
      <vt:lpstr>Data Mining Unit-II: Association Analysis</vt:lpstr>
      <vt:lpstr>Course Overview</vt:lpstr>
      <vt:lpstr>Data Mining Syllabus</vt:lpstr>
      <vt:lpstr>PowerPoint Presentation</vt:lpstr>
      <vt:lpstr>UNIT – II: Association Analysis</vt:lpstr>
      <vt:lpstr>Pattern Mining in Multilevel Associations</vt:lpstr>
      <vt:lpstr>Approaches to multilevel association rule mining</vt:lpstr>
      <vt:lpstr>Uniform Support</vt:lpstr>
      <vt:lpstr>Reduce Support</vt:lpstr>
      <vt:lpstr>Group-based support</vt:lpstr>
      <vt:lpstr>Mining Multiple-Level Association Rules</vt:lpstr>
      <vt:lpstr>Pattern Mining in Multidimensional Association Rules </vt:lpstr>
      <vt:lpstr>Mining Multi-Dimensional Association</vt:lpstr>
      <vt:lpstr>Approaches in mining multi dimensional affiliation rules</vt:lpstr>
      <vt:lpstr>THANK YOU</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Modeling 27-02-2024</dc:title>
  <dc:creator>CRRao AIMSCS</dc:creator>
  <cp:lastModifiedBy>padmavathi</cp:lastModifiedBy>
  <cp:revision>37</cp:revision>
  <dcterms:created xsi:type="dcterms:W3CDTF">2024-02-25T13:29:34Z</dcterms:created>
  <dcterms:modified xsi:type="dcterms:W3CDTF">2026-08-05T04:52:19Z</dcterms:modified>
</cp:coreProperties>
</file>