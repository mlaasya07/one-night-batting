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97" r:id="rId3"/>
    <p:sldId id="300" r:id="rId4"/>
    <p:sldId id="301" r:id="rId5"/>
    <p:sldId id="302" r:id="rId6"/>
    <p:sldId id="303" r:id="rId7"/>
    <p:sldId id="304" r:id="rId8"/>
    <p:sldId id="305" r:id="rId9"/>
    <p:sldId id="307" r:id="rId10"/>
    <p:sldId id="306" r:id="rId11"/>
    <p:sldId id="1184" r:id="rId12"/>
    <p:sldId id="1185" r:id="rId13"/>
    <p:sldId id="1186" r:id="rId14"/>
    <p:sldId id="1295" r:id="rId15"/>
    <p:sldId id="1299" r:id="rId16"/>
    <p:sldId id="1377" r:id="rId17"/>
    <p:sldId id="1190" r:id="rId18"/>
    <p:sldId id="1191" r:id="rId19"/>
    <p:sldId id="1033" r:id="rId20"/>
    <p:sldId id="1034" r:id="rId21"/>
    <p:sldId id="1374" r:id="rId22"/>
    <p:sldId id="1047" r:id="rId23"/>
    <p:sldId id="1048" r:id="rId24"/>
    <p:sldId id="1050" r:id="rId25"/>
    <p:sldId id="1051" r:id="rId26"/>
    <p:sldId id="1052" r:id="rId27"/>
    <p:sldId id="1053" r:id="rId28"/>
    <p:sldId id="1066" r:id="rId29"/>
    <p:sldId id="1049" r:id="rId30"/>
    <p:sldId id="1054" r:id="rId31"/>
    <p:sldId id="1067" r:id="rId32"/>
    <p:sldId id="1068" r:id="rId33"/>
    <p:sldId id="1397" r:id="rId34"/>
    <p:sldId id="1057" r:id="rId35"/>
    <p:sldId id="1373" r:id="rId36"/>
    <p:sldId id="1376" r:id="rId37"/>
    <p:sldId id="29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15-07-2026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BFF697A-1CC8-2996-468A-C55694B4CE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51127CC-515E-440C-B0F8-7807C340C768}"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886DDB8F-AA67-CA79-AD29-002A53F6C982}"/>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E11A248C-0024-2488-C716-C1080EAD20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515D-0143-1F47-2129-9A458F3C6A6F}"/>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6954F2AC-2D84-A9B3-C19F-2382FC217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51127CC-515E-440C-B0F8-7807C340C768}"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F7AB5054-70E7-E1E6-561E-AC3E39A60CE1}"/>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37887E2C-75E0-3E8D-5467-57AD699C33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99493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65570AA-548B-F8D9-1BB9-459CD43301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9FE43283-D1CE-46E4-B26D-2388A8A3A80C}"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84995" name="Rectangle 2">
            <a:extLst>
              <a:ext uri="{FF2B5EF4-FFF2-40B4-BE49-F238E27FC236}">
                <a16:creationId xmlns:a16="http://schemas.microsoft.com/office/drawing/2014/main" id="{7438CAC9-15A7-B489-71C8-20EC9BC0B9EE}"/>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EABD10B2-45AA-2EFA-0E10-7324DF3021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D5352AB-F001-EBCF-51B6-1095453DDC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677F8E8-CF92-4E1E-A883-537C9DB86A37}"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86019" name="Rectangle 2">
            <a:extLst>
              <a:ext uri="{FF2B5EF4-FFF2-40B4-BE49-F238E27FC236}">
                <a16:creationId xmlns:a16="http://schemas.microsoft.com/office/drawing/2014/main" id="{1DC7E19D-9C50-10A2-0D94-61E818857855}"/>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F5164823-5BD2-0924-912B-0F5E2A0F18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97DAE36-FE93-FFF4-CD6B-2ACAB0724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3544546-5978-4555-B77B-DC11A470D3A8}"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87043" name="Rectangle 2">
            <a:extLst>
              <a:ext uri="{FF2B5EF4-FFF2-40B4-BE49-F238E27FC236}">
                <a16:creationId xmlns:a16="http://schemas.microsoft.com/office/drawing/2014/main" id="{A9191951-5805-ED75-0D29-AAF21B37EE80}"/>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E217E5B5-DBDA-381D-73B0-9EC3E184EB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FE853B23-6BA1-BD6C-C64F-27101B9B4B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D2EB38EB-DA7C-4C03-9F73-46BE4AE9446B}"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92163" name="Rectangle 2">
            <a:extLst>
              <a:ext uri="{FF2B5EF4-FFF2-40B4-BE49-F238E27FC236}">
                <a16:creationId xmlns:a16="http://schemas.microsoft.com/office/drawing/2014/main" id="{1FDD12A2-C66D-7366-A4E3-DA7D17819BDC}"/>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8996F502-584D-6387-B067-A481B258EA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43174ED-A168-E029-A8DE-F179820772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02CDBD0E-7B62-4C04-8B90-2E141C070153}" type="slidenum">
              <a:rPr lang="en-US" altLang="en-US" sz="1200">
                <a:latin typeface="Times New Roman" panose="02020603050405020304" pitchFamily="18" charset="0"/>
              </a:rPr>
              <a:pPr/>
              <a:t>17</a:t>
            </a:fld>
            <a:endParaRPr lang="en-US" altLang="en-US" sz="1200">
              <a:latin typeface="Times New Roman" panose="02020603050405020304" pitchFamily="18" charset="0"/>
            </a:endParaRPr>
          </a:p>
        </p:txBody>
      </p:sp>
      <p:sp>
        <p:nvSpPr>
          <p:cNvPr id="94211" name="Rectangle 2">
            <a:extLst>
              <a:ext uri="{FF2B5EF4-FFF2-40B4-BE49-F238E27FC236}">
                <a16:creationId xmlns:a16="http://schemas.microsoft.com/office/drawing/2014/main" id="{6AC732EE-AB56-F3DC-2BBD-ACA61178F29D}"/>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3F2E4916-2938-9E46-9D5C-E18916E62B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816D369-8B0C-B648-B5CD-50BF64B338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AD09693-4E82-41AF-8BC9-BAB39CDFF336}"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95235" name="Rectangle 2">
            <a:extLst>
              <a:ext uri="{FF2B5EF4-FFF2-40B4-BE49-F238E27FC236}">
                <a16:creationId xmlns:a16="http://schemas.microsoft.com/office/drawing/2014/main" id="{CB0D7607-7F53-E682-EFAF-01AEA690059A}"/>
              </a:ext>
            </a:extLst>
          </p:cNvPr>
          <p:cNvSpPr>
            <a:spLocks noChangeArrowheads="1" noTextEdit="1"/>
          </p:cNvSpPr>
          <p:nvPr>
            <p:ph type="sldImg"/>
          </p:nvPr>
        </p:nvSpPr>
        <p:spPr>
          <a:ln/>
        </p:spPr>
      </p:sp>
      <p:sp>
        <p:nvSpPr>
          <p:cNvPr id="95236" name="Rectangle 3">
            <a:extLst>
              <a:ext uri="{FF2B5EF4-FFF2-40B4-BE49-F238E27FC236}">
                <a16:creationId xmlns:a16="http://schemas.microsoft.com/office/drawing/2014/main" id="{BB05BD5A-E558-B9D9-95B2-A406B7DEDC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4EB01E6B-AEBE-BA79-609B-0B9EA298FA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6CD938B2-22E1-42B8-990E-10C50E57775F}"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96259" name="Rectangle 2">
            <a:extLst>
              <a:ext uri="{FF2B5EF4-FFF2-40B4-BE49-F238E27FC236}">
                <a16:creationId xmlns:a16="http://schemas.microsoft.com/office/drawing/2014/main" id="{5447A5EA-D848-42BB-0D22-6C7FFBF6C8A8}"/>
              </a:ext>
            </a:extLst>
          </p:cNvPr>
          <p:cNvSpPr>
            <a:spLocks noChangeArrowheads="1" noTextEdit="1"/>
          </p:cNvSpPr>
          <p:nvPr>
            <p:ph type="sldImg"/>
          </p:nvPr>
        </p:nvSpPr>
        <p:spPr>
          <a:ln/>
        </p:spPr>
      </p:sp>
      <p:sp>
        <p:nvSpPr>
          <p:cNvPr id="96260" name="Rectangle 3">
            <a:extLst>
              <a:ext uri="{FF2B5EF4-FFF2-40B4-BE49-F238E27FC236}">
                <a16:creationId xmlns:a16="http://schemas.microsoft.com/office/drawing/2014/main" id="{6EB7E87F-FD40-8B44-D1FD-444E458ACC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D0165AD-A719-9BF9-880E-B5952C7ED2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8F0A5171-9817-4D09-93C4-47A718D0462B}"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97283" name="Rectangle 2">
            <a:extLst>
              <a:ext uri="{FF2B5EF4-FFF2-40B4-BE49-F238E27FC236}">
                <a16:creationId xmlns:a16="http://schemas.microsoft.com/office/drawing/2014/main" id="{83DFEF4B-686B-94EC-4683-CB0CEDBD815A}"/>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811BE90E-7F00-6312-3EFB-3EAEC98785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F36B2CA-EEB2-5F2D-79B3-7BB34B3BC0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D26EA807-B89B-42E4-AA21-EAD30FEB9540}"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98307" name="Rectangle 2">
            <a:extLst>
              <a:ext uri="{FF2B5EF4-FFF2-40B4-BE49-F238E27FC236}">
                <a16:creationId xmlns:a16="http://schemas.microsoft.com/office/drawing/2014/main" id="{06250B27-08E9-60EC-C270-68B0D86DD0B6}"/>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D9362952-8FC1-3BE6-A84D-D3B972133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5816908-68A8-08C4-1A83-BE9E15AC2C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1210C2D9-C19F-4A85-8619-BC90B66BB139}"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108547" name="Rectangle 2">
            <a:extLst>
              <a:ext uri="{FF2B5EF4-FFF2-40B4-BE49-F238E27FC236}">
                <a16:creationId xmlns:a16="http://schemas.microsoft.com/office/drawing/2014/main" id="{BFFD2C5A-BB03-43E8-1503-32E3B0AC5046}"/>
              </a:ext>
            </a:extLst>
          </p:cNvPr>
          <p:cNvSpPr>
            <a:spLocks noChangeArrowheads="1" noTextEdit="1"/>
          </p:cNvSpPr>
          <p:nvPr>
            <p:ph type="sldImg"/>
          </p:nvPr>
        </p:nvSpPr>
        <p:spPr>
          <a:ln/>
        </p:spPr>
      </p:sp>
      <p:sp>
        <p:nvSpPr>
          <p:cNvPr id="108548" name="Rectangle 3">
            <a:extLst>
              <a:ext uri="{FF2B5EF4-FFF2-40B4-BE49-F238E27FC236}">
                <a16:creationId xmlns:a16="http://schemas.microsoft.com/office/drawing/2014/main" id="{C1B67CB7-8172-FD64-C171-977C13FD68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C56D10A5-8CB5-C7CA-1A0F-8A5EA4CB5B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4B34F7C1-AA2D-478E-993F-463657929F3C}"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109571" name="Rectangle 2">
            <a:extLst>
              <a:ext uri="{FF2B5EF4-FFF2-40B4-BE49-F238E27FC236}">
                <a16:creationId xmlns:a16="http://schemas.microsoft.com/office/drawing/2014/main" id="{0B8E04DD-4D61-226F-33AF-B90DED622874}"/>
              </a:ext>
            </a:extLst>
          </p:cNvPr>
          <p:cNvSpPr>
            <a:spLocks noChangeArrowheads="1" noTextEdit="1"/>
          </p:cNvSpPr>
          <p:nvPr>
            <p:ph type="sldImg"/>
          </p:nvPr>
        </p:nvSpPr>
        <p:spPr>
          <a:ln/>
        </p:spPr>
      </p:sp>
      <p:sp>
        <p:nvSpPr>
          <p:cNvPr id="109572" name="Rectangle 3">
            <a:extLst>
              <a:ext uri="{FF2B5EF4-FFF2-40B4-BE49-F238E27FC236}">
                <a16:creationId xmlns:a16="http://schemas.microsoft.com/office/drawing/2014/main" id="{E01BC83C-F5BB-C7C2-5A46-868AE4234F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F4B07854-E84F-F119-E425-77D57A622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55B1841-C461-4F40-8782-5CA99733F575}"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110595" name="Rectangle 2">
            <a:extLst>
              <a:ext uri="{FF2B5EF4-FFF2-40B4-BE49-F238E27FC236}">
                <a16:creationId xmlns:a16="http://schemas.microsoft.com/office/drawing/2014/main" id="{BD1F032B-A910-39E6-3E08-D5F9FBD77B8E}"/>
              </a:ext>
            </a:extLst>
          </p:cNvPr>
          <p:cNvSpPr>
            <a:spLocks noChangeArrowheads="1" noTextEdit="1"/>
          </p:cNvSpPr>
          <p:nvPr>
            <p:ph type="sldImg"/>
          </p:nvPr>
        </p:nvSpPr>
        <p:spPr>
          <a:ln/>
        </p:spPr>
      </p:sp>
      <p:sp>
        <p:nvSpPr>
          <p:cNvPr id="110596" name="Rectangle 3">
            <a:extLst>
              <a:ext uri="{FF2B5EF4-FFF2-40B4-BE49-F238E27FC236}">
                <a16:creationId xmlns:a16="http://schemas.microsoft.com/office/drawing/2014/main" id="{17437116-B1CC-FCFE-BD2C-82D73A6BE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EAAC1026-F129-B1B9-FCAE-AB3CFE19E9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C2B1E57-6D34-488D-B6EA-EFDE9B0E3CFA}"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111619" name="Rectangle 2">
            <a:extLst>
              <a:ext uri="{FF2B5EF4-FFF2-40B4-BE49-F238E27FC236}">
                <a16:creationId xmlns:a16="http://schemas.microsoft.com/office/drawing/2014/main" id="{53536189-93FD-85FC-51FA-4476C83D493B}"/>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7C326597-94A4-440E-ED18-073699AFC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0924E6D9-9806-97BD-34A6-E86AAF428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03804BB3-5848-44C1-89CF-E58F7FADF43D}"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12643" name="Rectangle 2">
            <a:extLst>
              <a:ext uri="{FF2B5EF4-FFF2-40B4-BE49-F238E27FC236}">
                <a16:creationId xmlns:a16="http://schemas.microsoft.com/office/drawing/2014/main" id="{B8E86817-23B0-B7B1-40FD-DDFDA55F9AA6}"/>
              </a:ext>
            </a:extLst>
          </p:cNvPr>
          <p:cNvSpPr>
            <a:spLocks noChangeArrowheads="1" noTextEdit="1"/>
          </p:cNvSpPr>
          <p:nvPr>
            <p:ph type="sldImg"/>
          </p:nvPr>
        </p:nvSpPr>
        <p:spPr>
          <a:ln/>
        </p:spPr>
      </p:sp>
      <p:sp>
        <p:nvSpPr>
          <p:cNvPr id="112644" name="Rectangle 3">
            <a:extLst>
              <a:ext uri="{FF2B5EF4-FFF2-40B4-BE49-F238E27FC236}">
                <a16:creationId xmlns:a16="http://schemas.microsoft.com/office/drawing/2014/main" id="{74798152-04BC-94B4-9554-44D6FFD312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45722404-76B0-37B5-2A2D-199B8EAD0E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D5ABF4B3-87B2-4977-A15F-CD3368AE0217}"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113667" name="Rectangle 2">
            <a:extLst>
              <a:ext uri="{FF2B5EF4-FFF2-40B4-BE49-F238E27FC236}">
                <a16:creationId xmlns:a16="http://schemas.microsoft.com/office/drawing/2014/main" id="{0AF97DA7-C361-9E51-27DF-FFFF74231377}"/>
              </a:ext>
            </a:extLst>
          </p:cNvPr>
          <p:cNvSpPr>
            <a:spLocks noChangeArrowheads="1" noTextEdit="1"/>
          </p:cNvSpPr>
          <p:nvPr>
            <p:ph type="sldImg"/>
          </p:nvPr>
        </p:nvSpPr>
        <p:spPr>
          <a:ln/>
        </p:spPr>
      </p:sp>
      <p:sp>
        <p:nvSpPr>
          <p:cNvPr id="113668" name="Rectangle 3">
            <a:extLst>
              <a:ext uri="{FF2B5EF4-FFF2-40B4-BE49-F238E27FC236}">
                <a16:creationId xmlns:a16="http://schemas.microsoft.com/office/drawing/2014/main" id="{FB9FB0EE-926D-439F-4823-E3E781FD36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D39A40AE-36C4-ED69-8CA6-920A852D51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B9991918-8677-4005-BB12-46867D410723}"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114691" name="Rectangle 2">
            <a:extLst>
              <a:ext uri="{FF2B5EF4-FFF2-40B4-BE49-F238E27FC236}">
                <a16:creationId xmlns:a16="http://schemas.microsoft.com/office/drawing/2014/main" id="{4967F338-ED8A-514A-739F-3B3E5154E484}"/>
              </a:ext>
            </a:extLst>
          </p:cNvPr>
          <p:cNvSpPr>
            <a:spLocks noChangeArrowheads="1" noTextEdit="1"/>
          </p:cNvSpPr>
          <p:nvPr>
            <p:ph type="sldImg"/>
          </p:nvPr>
        </p:nvSpPr>
        <p:spPr>
          <a:ln/>
        </p:spPr>
      </p:sp>
      <p:sp>
        <p:nvSpPr>
          <p:cNvPr id="114692" name="Rectangle 3">
            <a:extLst>
              <a:ext uri="{FF2B5EF4-FFF2-40B4-BE49-F238E27FC236}">
                <a16:creationId xmlns:a16="http://schemas.microsoft.com/office/drawing/2014/main" id="{5472B551-10D6-9298-9A0B-5D4A196CD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3315CEE-300C-8AA2-468E-E38772328B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1FE5A319-F0B9-4CA6-8869-7368D3FC487F}"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115715" name="Rectangle 2">
            <a:extLst>
              <a:ext uri="{FF2B5EF4-FFF2-40B4-BE49-F238E27FC236}">
                <a16:creationId xmlns:a16="http://schemas.microsoft.com/office/drawing/2014/main" id="{F2051B61-42FE-534B-5BD1-A10D205FB7F3}"/>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57A1BBE1-ECAE-FE9E-6F8D-69CF6CE3EE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1902B7D4-CFB8-4B46-F025-082C460E8D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5395386-A018-4284-A46C-49FA3160007D}"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116739" name="Rectangle 2">
            <a:extLst>
              <a:ext uri="{FF2B5EF4-FFF2-40B4-BE49-F238E27FC236}">
                <a16:creationId xmlns:a16="http://schemas.microsoft.com/office/drawing/2014/main" id="{89E63316-71FB-F305-0C5B-73803AEE08EC}"/>
              </a:ext>
            </a:extLst>
          </p:cNvPr>
          <p:cNvSpPr>
            <a:spLocks noChangeArrowheads="1" noTextEdit="1"/>
          </p:cNvSpPr>
          <p:nvPr>
            <p:ph type="sldImg"/>
          </p:nvPr>
        </p:nvSpPr>
        <p:spPr>
          <a:ln/>
        </p:spPr>
      </p:sp>
      <p:sp>
        <p:nvSpPr>
          <p:cNvPr id="116740" name="Rectangle 3">
            <a:extLst>
              <a:ext uri="{FF2B5EF4-FFF2-40B4-BE49-F238E27FC236}">
                <a16:creationId xmlns:a16="http://schemas.microsoft.com/office/drawing/2014/main" id="{866FDE41-30D5-F682-9514-1522D0DA8D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7F25FC69-25F1-D6FA-42C8-1BAD3191A4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66D5E197-B54F-4205-867B-89200D85347F}"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117763" name="Rectangle 2">
            <a:extLst>
              <a:ext uri="{FF2B5EF4-FFF2-40B4-BE49-F238E27FC236}">
                <a16:creationId xmlns:a16="http://schemas.microsoft.com/office/drawing/2014/main" id="{A680D2F1-32E8-3A9F-6145-251B71DC57A5}"/>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562CE3F5-0902-C0BE-DB05-F6BA14B5AB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6D1B20CC-D642-97BC-E6E3-4D408C4EEC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4EFACDCC-38E7-45F3-8F36-6AB95FBA3C6D}"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118787" name="Rectangle 2">
            <a:extLst>
              <a:ext uri="{FF2B5EF4-FFF2-40B4-BE49-F238E27FC236}">
                <a16:creationId xmlns:a16="http://schemas.microsoft.com/office/drawing/2014/main" id="{B9D7A7B9-27C8-B6D1-16BD-923A29F608E9}"/>
              </a:ext>
            </a:extLst>
          </p:cNvPr>
          <p:cNvSpPr>
            <a:spLocks noChangeArrowheads="1" noTextEdit="1"/>
          </p:cNvSpPr>
          <p:nvPr>
            <p:ph type="sldImg"/>
          </p:nvPr>
        </p:nvSpPr>
        <p:spPr>
          <a:ln/>
        </p:spPr>
      </p:sp>
      <p:sp>
        <p:nvSpPr>
          <p:cNvPr id="118788" name="Rectangle 3">
            <a:extLst>
              <a:ext uri="{FF2B5EF4-FFF2-40B4-BE49-F238E27FC236}">
                <a16:creationId xmlns:a16="http://schemas.microsoft.com/office/drawing/2014/main" id="{E7F2D750-CBB5-1D3C-A894-65BAE1D346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A2C647C9-0D32-5BCE-0698-2FE1C2E2AB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4003CFF-7214-4505-9A6E-BA88B6B288CE}"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119811" name="Rectangle 2">
            <a:extLst>
              <a:ext uri="{FF2B5EF4-FFF2-40B4-BE49-F238E27FC236}">
                <a16:creationId xmlns:a16="http://schemas.microsoft.com/office/drawing/2014/main" id="{62397B2F-6A75-ABAD-2FC2-083AA6420834}"/>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13623548-B198-1AC0-2020-787CA4FFD7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0D7168D3-D7C0-3665-A668-B82BB44FAC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93B9F0D0-A132-4D52-B6E9-3B653F72E497}"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120835" name="Rectangle 2">
            <a:extLst>
              <a:ext uri="{FF2B5EF4-FFF2-40B4-BE49-F238E27FC236}">
                <a16:creationId xmlns:a16="http://schemas.microsoft.com/office/drawing/2014/main" id="{01AD0C1B-ED28-F5FA-B56A-0257654193AF}"/>
              </a:ext>
            </a:extLst>
          </p:cNvPr>
          <p:cNvSpPr>
            <a:spLocks noChangeArrowheads="1" noTextEdit="1"/>
          </p:cNvSpPr>
          <p:nvPr>
            <p:ph type="sldImg"/>
          </p:nvPr>
        </p:nvSpPr>
        <p:spPr>
          <a:ln/>
        </p:spPr>
      </p:sp>
      <p:sp>
        <p:nvSpPr>
          <p:cNvPr id="120836" name="Rectangle 3">
            <a:extLst>
              <a:ext uri="{FF2B5EF4-FFF2-40B4-BE49-F238E27FC236}">
                <a16:creationId xmlns:a16="http://schemas.microsoft.com/office/drawing/2014/main" id="{ECCD25E5-528A-B065-AEFF-081B01E4F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C94BC548-CB2D-A22F-82BC-5E54547E8A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06313576-6B5E-424A-9EEA-9D7F55268583}"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121859" name="Rectangle 2">
            <a:extLst>
              <a:ext uri="{FF2B5EF4-FFF2-40B4-BE49-F238E27FC236}">
                <a16:creationId xmlns:a16="http://schemas.microsoft.com/office/drawing/2014/main" id="{3CD3E5BC-5D4A-1382-BFB7-2AC3A2D42C0D}"/>
              </a:ext>
            </a:extLst>
          </p:cNvPr>
          <p:cNvSpPr>
            <a:spLocks noChangeArrowheads="1" noTextEdit="1"/>
          </p:cNvSpPr>
          <p:nvPr>
            <p:ph type="sldImg"/>
          </p:nvPr>
        </p:nvSpPr>
        <p:spPr>
          <a:ln/>
        </p:spPr>
      </p:sp>
      <p:sp>
        <p:nvSpPr>
          <p:cNvPr id="121860" name="Rectangle 3">
            <a:extLst>
              <a:ext uri="{FF2B5EF4-FFF2-40B4-BE49-F238E27FC236}">
                <a16:creationId xmlns:a16="http://schemas.microsoft.com/office/drawing/2014/main" id="{C412ED7D-1FBE-23A0-E202-3020EEE96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7/15/2026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7/15/2026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7/15/2026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Unit-II: </a:t>
            </a:r>
            <a:r>
              <a:rPr lang="en-US" sz="2400" dirty="0">
                <a:solidFill>
                  <a:srgbClr val="002060"/>
                </a:solidFill>
                <a:latin typeface="Times New Roman" panose="02020603050405020304" pitchFamily="18" charset="0"/>
                <a:cs typeface="Times New Roman" panose="02020603050405020304" pitchFamily="18" charset="0"/>
              </a:rPr>
              <a:t>Association Analysis</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6B06F-0944-6F71-AF05-3698C0B1CFD6}"/>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Basic Concepts: </a:t>
            </a:r>
            <a:r>
              <a:rPr lang="en-US" sz="2400" dirty="0">
                <a:latin typeface="Times New Roman" panose="02020603050405020304" pitchFamily="18" charset="0"/>
                <a:cs typeface="Times New Roman" panose="02020603050405020304" pitchFamily="18" charset="0"/>
              </a:rPr>
              <a:t>Market Basket Analysis, </a:t>
            </a:r>
          </a:p>
          <a:p>
            <a:pPr lvl="1"/>
            <a:r>
              <a:rPr lang="en-US" sz="2400" dirty="0" err="1">
                <a:latin typeface="Times New Roman" panose="02020603050405020304" pitchFamily="18" charset="0"/>
                <a:cs typeface="Times New Roman" panose="02020603050405020304" pitchFamily="18" charset="0"/>
              </a:rPr>
              <a:t>Apriori</a:t>
            </a:r>
            <a:r>
              <a:rPr lang="en-US" sz="2400" dirty="0">
                <a:latin typeface="Times New Roman" panose="02020603050405020304" pitchFamily="18" charset="0"/>
                <a:cs typeface="Times New Roman" panose="02020603050405020304" pitchFamily="18" charset="0"/>
              </a:rPr>
              <a:t> Algorithm, </a:t>
            </a:r>
          </a:p>
          <a:p>
            <a:pPr lvl="1"/>
            <a:r>
              <a:rPr lang="en-US" sz="2400" dirty="0">
                <a:latin typeface="Times New Roman" panose="02020603050405020304" pitchFamily="18" charset="0"/>
                <a:cs typeface="Times New Roman" panose="02020603050405020304" pitchFamily="18" charset="0"/>
              </a:rPr>
              <a:t>FP-growth, </a:t>
            </a:r>
          </a:p>
          <a:p>
            <a:r>
              <a:rPr lang="en-US" sz="2800" dirty="0">
                <a:latin typeface="Times New Roman" panose="02020603050405020304" pitchFamily="18" charset="0"/>
                <a:cs typeface="Times New Roman" panose="02020603050405020304" pitchFamily="18" charset="0"/>
              </a:rPr>
              <a:t>From Association Analysis to Correlation Analysis, </a:t>
            </a:r>
          </a:p>
          <a:p>
            <a:r>
              <a:rPr lang="en-US" sz="2800" dirty="0">
                <a:latin typeface="Times New Roman" panose="02020603050405020304" pitchFamily="18" charset="0"/>
                <a:cs typeface="Times New Roman" panose="02020603050405020304" pitchFamily="18" charset="0"/>
              </a:rPr>
              <a:t>Pattern Mining in </a:t>
            </a:r>
          </a:p>
          <a:p>
            <a:pPr lvl="1"/>
            <a:r>
              <a:rPr lang="en-US" sz="2400" dirty="0">
                <a:latin typeface="Times New Roman" panose="02020603050405020304" pitchFamily="18" charset="0"/>
                <a:cs typeface="Times New Roman" panose="02020603050405020304" pitchFamily="18" charset="0"/>
              </a:rPr>
              <a:t>Multilevel Associations and</a:t>
            </a:r>
          </a:p>
          <a:p>
            <a:pPr lvl="1"/>
            <a:r>
              <a:rPr lang="en-US" sz="2400" dirty="0">
                <a:latin typeface="Times New Roman" panose="02020603050405020304" pitchFamily="18" charset="0"/>
                <a:cs typeface="Times New Roman" panose="02020603050405020304" pitchFamily="18" charset="0"/>
              </a:rPr>
              <a:t> Multidimensional Associations.</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58E87388-470C-7DEE-22B9-3D7515416BB0}"/>
              </a:ext>
            </a:extLst>
          </p:cNvPr>
          <p:cNvSpPr>
            <a:spLocks noGrp="1"/>
          </p:cNvSpPr>
          <p:nvPr>
            <p:ph type="title"/>
          </p:nvPr>
        </p:nvSpPr>
        <p:spPr>
          <a:xfrm>
            <a:off x="457200" y="274638"/>
            <a:ext cx="8229600" cy="576071"/>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UNIT – II: Association Analysis</a:t>
            </a:r>
            <a:endParaRPr lang="en-IN" sz="3200" dirty="0">
              <a:solidFill>
                <a:srgbClr val="002060"/>
              </a:solidFill>
              <a:effectLst/>
            </a:endParaRPr>
          </a:p>
        </p:txBody>
      </p:sp>
    </p:spTree>
    <p:extLst>
      <p:ext uri="{BB962C8B-B14F-4D97-AF65-F5344CB8AC3E}">
        <p14:creationId xmlns:p14="http://schemas.microsoft.com/office/powerpoint/2010/main" val="10907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25BD3E-1DFF-78F0-D059-2E64F64F44D6}"/>
              </a:ext>
            </a:extLst>
          </p:cNvPr>
          <p:cNvSpPr>
            <a:spLocks noGrp="1"/>
          </p:cNvSpPr>
          <p:nvPr>
            <p:ph idx="1"/>
          </p:nvPr>
        </p:nvSpPr>
        <p:spPr/>
        <p:txBody>
          <a:bodyPr>
            <a:normAutofit/>
          </a:bodyPr>
          <a:lstStyle/>
          <a:p>
            <a:pPr algn="just"/>
            <a:r>
              <a:rPr lang="en-US" sz="2000" b="1" dirty="0">
                <a:latin typeface="Times New Roman" panose="02020603050405020304" pitchFamily="18" charset="0"/>
                <a:cs typeface="Times New Roman" panose="02020603050405020304" pitchFamily="18" charset="0"/>
              </a:rPr>
              <a:t>Frequent itemset mining </a:t>
            </a:r>
            <a:r>
              <a:rPr lang="en-US" sz="2000" dirty="0">
                <a:latin typeface="Times New Roman" panose="02020603050405020304" pitchFamily="18" charset="0"/>
                <a:cs typeface="Times New Roman" panose="02020603050405020304" pitchFamily="18" charset="0"/>
              </a:rPr>
              <a:t>leads to the discovery of associations and correlations among items in large transactional or relational data sets.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With massive amounts of data continuously being collected and stored, many industries are becoming interested in mining such patterns from their databases. </a:t>
            </a:r>
          </a:p>
          <a:p>
            <a:pPr algn="just"/>
            <a:r>
              <a:rPr lang="en-US" sz="2000" dirty="0">
                <a:latin typeface="Times New Roman" panose="02020603050405020304" pitchFamily="18" charset="0"/>
                <a:cs typeface="Times New Roman" panose="02020603050405020304" pitchFamily="18" charset="0"/>
              </a:rPr>
              <a:t>The discovery of interesting correlation relationships among huge amounts of business transaction records can help in many business decision-making processes such as catalog design, cross-marketing, and customer </a:t>
            </a:r>
            <a:r>
              <a:rPr lang="en-IN" sz="2000" dirty="0">
                <a:latin typeface="Times New Roman" panose="02020603050405020304" pitchFamily="18" charset="0"/>
                <a:cs typeface="Times New Roman" panose="02020603050405020304" pitchFamily="18" charset="0"/>
              </a:rPr>
              <a:t>shopping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analysis.</a:t>
            </a:r>
          </a:p>
        </p:txBody>
      </p:sp>
      <p:sp>
        <p:nvSpPr>
          <p:cNvPr id="3" name="Title 2">
            <a:extLst>
              <a:ext uri="{FF2B5EF4-FFF2-40B4-BE49-F238E27FC236}">
                <a16:creationId xmlns:a16="http://schemas.microsoft.com/office/drawing/2014/main" id="{7C43B004-E59E-C6C2-9B3E-945D3CB89E5F}"/>
              </a:ext>
            </a:extLst>
          </p:cNvPr>
          <p:cNvSpPr>
            <a:spLocks noGrp="1"/>
          </p:cNvSpPr>
          <p:nvPr>
            <p:ph type="title"/>
          </p:nvPr>
        </p:nvSpPr>
        <p:spPr>
          <a:xfrm>
            <a:off x="457200" y="274638"/>
            <a:ext cx="8229600" cy="639762"/>
          </a:xfrm>
        </p:spPr>
        <p:txBody>
          <a:bodyPr>
            <a:normAutofit/>
          </a:bodyPr>
          <a:lstStyle/>
          <a:p>
            <a:pPr algn="ctr"/>
            <a:r>
              <a:rPr lang="en-US" sz="3200" dirty="0">
                <a:latin typeface="Times New Roman" panose="02020603050405020304" pitchFamily="18" charset="0"/>
                <a:cs typeface="Times New Roman" panose="02020603050405020304" pitchFamily="18" charset="0"/>
              </a:rPr>
              <a:t>Frequent itemset mining</a:t>
            </a:r>
            <a:endParaRPr lang="en-IN" sz="3200" dirty="0"/>
          </a:p>
        </p:txBody>
      </p:sp>
    </p:spTree>
    <p:extLst>
      <p:ext uri="{BB962C8B-B14F-4D97-AF65-F5344CB8AC3E}">
        <p14:creationId xmlns:p14="http://schemas.microsoft.com/office/powerpoint/2010/main" val="1793047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76DA-470A-223F-8E48-EF9387F178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D25202-8292-CFBB-A44F-367E510D45CD}"/>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 typical example of </a:t>
            </a:r>
            <a:r>
              <a:rPr lang="en-US" sz="2000" b="1" dirty="0">
                <a:latin typeface="Times New Roman" panose="02020603050405020304" pitchFamily="18" charset="0"/>
                <a:cs typeface="Times New Roman" panose="02020603050405020304" pitchFamily="18" charset="0"/>
              </a:rPr>
              <a:t>frequent itemset mining </a:t>
            </a:r>
            <a:r>
              <a:rPr lang="en-US" sz="2000" dirty="0">
                <a:latin typeface="Times New Roman" panose="02020603050405020304" pitchFamily="18" charset="0"/>
                <a:cs typeface="Times New Roman" panose="02020603050405020304" pitchFamily="18" charset="0"/>
              </a:rPr>
              <a:t>is </a:t>
            </a:r>
            <a:r>
              <a:rPr lang="en-US" sz="2000" b="1" dirty="0">
                <a:latin typeface="Times New Roman" panose="02020603050405020304" pitchFamily="18" charset="0"/>
                <a:cs typeface="Times New Roman" panose="02020603050405020304" pitchFamily="18" charset="0"/>
              </a:rPr>
              <a:t>market basket analysis</a:t>
            </a:r>
            <a:r>
              <a:rPr lang="en-US" sz="2000" dirty="0">
                <a:latin typeface="Times New Roman" panose="02020603050405020304" pitchFamily="18" charset="0"/>
                <a:cs typeface="Times New Roman" panose="02020603050405020304" pitchFamily="18" charset="0"/>
              </a:rPr>
              <a:t>. This process analyzes customer buying habits by finding associations between the different items that customers place in their “shopping baskets” .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discovery of these associations can help retailers develop marketing strategies by gaining insight into which items are frequently purchased together by customers.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For instance, if customers are buying milk, how likely are they to also buy bread (and what kind of bread) on the same trip to the supermarket? This information can lead to increased sales by helping retailers do selective marketing and plan their shelf space.</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0948042-94C2-8E8A-B669-E28BE8B1D53B}"/>
              </a:ext>
            </a:extLst>
          </p:cNvPr>
          <p:cNvSpPr>
            <a:spLocks noGrp="1"/>
          </p:cNvSpPr>
          <p:nvPr>
            <p:ph type="title"/>
          </p:nvPr>
        </p:nvSpPr>
        <p:spPr>
          <a:xfrm>
            <a:off x="457200" y="274638"/>
            <a:ext cx="8229600" cy="639762"/>
          </a:xfrm>
        </p:spPr>
        <p:txBody>
          <a:bodyPr>
            <a:normAutofit/>
          </a:bodyPr>
          <a:lstStyle/>
          <a:p>
            <a:pPr algn="ctr"/>
            <a:r>
              <a:rPr lang="en-US" sz="3200" dirty="0">
                <a:latin typeface="Times New Roman" panose="02020603050405020304" pitchFamily="18" charset="0"/>
                <a:cs typeface="Times New Roman" panose="02020603050405020304" pitchFamily="18" charset="0"/>
              </a:rPr>
              <a:t>Market Basket Analysis</a:t>
            </a:r>
            <a:endParaRPr lang="en-IN" sz="3200" dirty="0"/>
          </a:p>
        </p:txBody>
      </p:sp>
    </p:spTree>
    <p:extLst>
      <p:ext uri="{BB962C8B-B14F-4D97-AF65-F5344CB8AC3E}">
        <p14:creationId xmlns:p14="http://schemas.microsoft.com/office/powerpoint/2010/main" val="1432734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3D8383-1744-E80A-DE4B-D5C58066F11D}"/>
              </a:ext>
            </a:extLst>
          </p:cNvPr>
          <p:cNvSpPr>
            <a:spLocks noGrp="1"/>
          </p:cNvSpPr>
          <p:nvPr>
            <p:ph type="title"/>
          </p:nvPr>
        </p:nvSpPr>
        <p:spPr>
          <a:xfrm>
            <a:off x="457200" y="274638"/>
            <a:ext cx="8229600" cy="563562"/>
          </a:xfrm>
        </p:spPr>
        <p:txBody>
          <a:bodyPr>
            <a:normAutofit fontScale="90000"/>
          </a:bodyPr>
          <a:lstStyle/>
          <a:p>
            <a:pPr algn="ctr"/>
            <a:r>
              <a:rPr lang="en-US" sz="4400" dirty="0">
                <a:latin typeface="Times New Roman" panose="02020603050405020304" pitchFamily="18" charset="0"/>
                <a:cs typeface="Times New Roman" panose="02020603050405020304" pitchFamily="18" charset="0"/>
              </a:rPr>
              <a:t>Market Basket Analysis</a:t>
            </a:r>
            <a:endParaRPr lang="en-IN" dirty="0"/>
          </a:p>
        </p:txBody>
      </p:sp>
      <p:pic>
        <p:nvPicPr>
          <p:cNvPr id="5" name="Picture 4">
            <a:extLst>
              <a:ext uri="{FF2B5EF4-FFF2-40B4-BE49-F238E27FC236}">
                <a16:creationId xmlns:a16="http://schemas.microsoft.com/office/drawing/2014/main" id="{079EE988-5035-AD2D-CDBA-D7DBA1A038FF}"/>
              </a:ext>
            </a:extLst>
          </p:cNvPr>
          <p:cNvPicPr>
            <a:picLocks noChangeAspect="1"/>
          </p:cNvPicPr>
          <p:nvPr/>
        </p:nvPicPr>
        <p:blipFill>
          <a:blip r:embed="rId2"/>
          <a:stretch>
            <a:fillRect/>
          </a:stretch>
        </p:blipFill>
        <p:spPr>
          <a:xfrm>
            <a:off x="838200" y="813619"/>
            <a:ext cx="6591793" cy="3962400"/>
          </a:xfrm>
          <a:prstGeom prst="rect">
            <a:avLst/>
          </a:prstGeom>
        </p:spPr>
      </p:pic>
      <p:sp>
        <p:nvSpPr>
          <p:cNvPr id="7" name="TextBox 6">
            <a:extLst>
              <a:ext uri="{FF2B5EF4-FFF2-40B4-BE49-F238E27FC236}">
                <a16:creationId xmlns:a16="http://schemas.microsoft.com/office/drawing/2014/main" id="{17D961A2-746D-6EB1-8A78-BA7D7FF6E769}"/>
              </a:ext>
            </a:extLst>
          </p:cNvPr>
          <p:cNvSpPr txBox="1"/>
          <p:nvPr/>
        </p:nvSpPr>
        <p:spPr>
          <a:xfrm>
            <a:off x="685800" y="4838929"/>
            <a:ext cx="807720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For instance, if customers are buying milk, how likely are they to also buy bread (and what kind of bread) on the same trip to the supermarket? This information can lead to increased sales by helping retailers do selective marketing and plan their shelf space.</a:t>
            </a:r>
            <a:endParaRPr lang="en-IN" dirty="0"/>
          </a:p>
        </p:txBody>
      </p:sp>
    </p:spTree>
    <p:extLst>
      <p:ext uri="{BB962C8B-B14F-4D97-AF65-F5344CB8AC3E}">
        <p14:creationId xmlns:p14="http://schemas.microsoft.com/office/powerpoint/2010/main" val="339029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92D7C-BE10-63F6-B911-A5383E797F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3BF7B0-66B7-39F0-C66C-66382CDE247A}"/>
              </a:ext>
            </a:extLst>
          </p:cNvPr>
          <p:cNvSpPr>
            <a:spLocks noGrp="1"/>
          </p:cNvSpPr>
          <p:nvPr>
            <p:ph idx="1"/>
          </p:nvPr>
        </p:nvSpPr>
        <p:spPr>
          <a:xfrm>
            <a:off x="457200" y="1066800"/>
            <a:ext cx="8229600" cy="5638800"/>
          </a:xfrm>
        </p:spPr>
        <p:txBody>
          <a:bodyPr>
            <a:noAutofit/>
          </a:bodyPr>
          <a:lstStyle/>
          <a:p>
            <a:r>
              <a:rPr lang="en-US" sz="2000" dirty="0">
                <a:latin typeface="Times New Roman" panose="02020603050405020304" pitchFamily="18" charset="0"/>
                <a:cs typeface="Times New Roman" panose="02020603050405020304" pitchFamily="18" charset="0"/>
              </a:rPr>
              <a:t>Suppose, as manager of an </a:t>
            </a:r>
            <a:r>
              <a:rPr lang="en-US" sz="2000" i="1" dirty="0" err="1">
                <a:latin typeface="Times New Roman" panose="02020603050405020304" pitchFamily="18" charset="0"/>
                <a:cs typeface="Times New Roman" panose="02020603050405020304" pitchFamily="18" charset="0"/>
              </a:rPr>
              <a:t>AllElectronics</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branch, you would like to learn more about the buying habits of your customers.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Specifically, you </a:t>
            </a:r>
            <a:r>
              <a:rPr lang="en-US" sz="2000" dirty="0" err="1">
                <a:latin typeface="Times New Roman" panose="02020603050405020304" pitchFamily="18" charset="0"/>
                <a:cs typeface="Times New Roman" panose="02020603050405020304" pitchFamily="18" charset="0"/>
              </a:rPr>
              <a:t>wonder,</a:t>
            </a:r>
            <a:r>
              <a:rPr lang="en-US" sz="2000" i="1" dirty="0" err="1">
                <a:latin typeface="Times New Roman" panose="02020603050405020304" pitchFamily="18" charset="0"/>
                <a:cs typeface="Times New Roman" panose="02020603050405020304" pitchFamily="18" charset="0"/>
              </a:rPr>
              <a:t>“Which</a:t>
            </a:r>
            <a:r>
              <a:rPr lang="en-US" sz="2000" i="1" dirty="0">
                <a:latin typeface="Times New Roman" panose="02020603050405020304" pitchFamily="18" charset="0"/>
                <a:cs typeface="Times New Roman" panose="02020603050405020304" pitchFamily="18" charset="0"/>
              </a:rPr>
              <a:t> groups or sets of items are customers likely to purchase on a given trip to the store?”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answer your question, market basket analysis may be performed on the retail data of customer transactions at your store. You can then use the results to plan marketing or advertising strategies, or in the design of a new catalog. For instance, market basket analysis may help you design different store layouts.</a:t>
            </a:r>
          </a:p>
          <a:p>
            <a:r>
              <a:rPr lang="en-US" sz="2000" dirty="0">
                <a:latin typeface="Times New Roman" panose="02020603050405020304" pitchFamily="18" charset="0"/>
                <a:cs typeface="Times New Roman" panose="02020603050405020304" pitchFamily="18" charset="0"/>
              </a:rPr>
              <a:t> In one strategy, items that are frequently purchased together can be placed in proximity to further encourage the combined sale of such items. If customers who purchase computers also tend to buy antivirus software at the same time, then placing the hardware display close to the software display may help increase the sales of both items.</a:t>
            </a:r>
          </a:p>
        </p:txBody>
      </p:sp>
      <p:sp>
        <p:nvSpPr>
          <p:cNvPr id="3" name="Title 2">
            <a:extLst>
              <a:ext uri="{FF2B5EF4-FFF2-40B4-BE49-F238E27FC236}">
                <a16:creationId xmlns:a16="http://schemas.microsoft.com/office/drawing/2014/main" id="{E722294C-8DF1-1809-9D7E-3D833833F869}"/>
              </a:ext>
            </a:extLst>
          </p:cNvPr>
          <p:cNvSpPr>
            <a:spLocks noGrp="1"/>
          </p:cNvSpPr>
          <p:nvPr>
            <p:ph type="title"/>
          </p:nvPr>
        </p:nvSpPr>
        <p:spPr>
          <a:xfrm>
            <a:off x="457200" y="274638"/>
            <a:ext cx="8229600" cy="576071"/>
          </a:xfrm>
        </p:spPr>
        <p:txBody>
          <a:bodyPr>
            <a:normAutofit fontScale="90000"/>
          </a:bodyPr>
          <a:lstStyle/>
          <a:p>
            <a:r>
              <a:rPr lang="en-US" sz="4000" dirty="0">
                <a:latin typeface="Times New Roman" panose="02020603050405020304" pitchFamily="18" charset="0"/>
                <a:cs typeface="Times New Roman" panose="02020603050405020304" pitchFamily="18" charset="0"/>
              </a:rPr>
              <a:t>Market Basket Analysis Contd..</a:t>
            </a:r>
            <a:endParaRPr lang="en-IN" dirty="0"/>
          </a:p>
        </p:txBody>
      </p:sp>
    </p:spTree>
    <p:extLst>
      <p:ext uri="{BB962C8B-B14F-4D97-AF65-F5344CB8AC3E}">
        <p14:creationId xmlns:p14="http://schemas.microsoft.com/office/powerpoint/2010/main" val="2532675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577F0E-B7E8-5269-21C7-BC704DF17AF8}"/>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In an alternative strategy, placing hardware and software at opposite ends of the store may entice customers who purchase such items to pick up other items along the way. </a:t>
            </a:r>
          </a:p>
          <a:p>
            <a:r>
              <a:rPr lang="en-US" sz="2000" dirty="0">
                <a:latin typeface="Times New Roman" panose="02020603050405020304" pitchFamily="18" charset="0"/>
                <a:cs typeface="Times New Roman" panose="02020603050405020304" pitchFamily="18" charset="0"/>
              </a:rPr>
              <a:t>For instance, after deciding on an expensive computer, a customer may observe security systems for sale while heading toward the software display to purchase antivirus software, and may decide to purchase a home security system as well. </a:t>
            </a:r>
          </a:p>
          <a:p>
            <a:r>
              <a:rPr lang="en-US" sz="2000" dirty="0">
                <a:latin typeface="Times New Roman" panose="02020603050405020304" pitchFamily="18" charset="0"/>
                <a:cs typeface="Times New Roman" panose="02020603050405020304" pitchFamily="18" charset="0"/>
              </a:rPr>
              <a:t>Market basket analysis can also help retailers plan which items to put on sale at reduced prices. </a:t>
            </a:r>
          </a:p>
          <a:p>
            <a:r>
              <a:rPr lang="en-US" sz="2000" dirty="0">
                <a:latin typeface="Times New Roman" panose="02020603050405020304" pitchFamily="18" charset="0"/>
                <a:cs typeface="Times New Roman" panose="02020603050405020304" pitchFamily="18" charset="0"/>
              </a:rPr>
              <a:t>If customers tend to purchase computers and printers together, then having a sale on printers may encourage the sale of printers </a:t>
            </a:r>
            <a:r>
              <a:rPr lang="en-US" sz="2000" i="1" dirty="0">
                <a:latin typeface="Times New Roman" panose="02020603050405020304" pitchFamily="18" charset="0"/>
                <a:cs typeface="Times New Roman" panose="02020603050405020304" pitchFamily="18" charset="0"/>
              </a:rPr>
              <a:t>as well as </a:t>
            </a:r>
            <a:r>
              <a:rPr lang="en-US" sz="2000" dirty="0">
                <a:latin typeface="Times New Roman" panose="02020603050405020304" pitchFamily="18" charset="0"/>
                <a:cs typeface="Times New Roman" panose="02020603050405020304" pitchFamily="18" charset="0"/>
              </a:rPr>
              <a:t>computers.</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2AAFD05-6C20-E981-14AA-54D2D36AB322}"/>
              </a:ext>
            </a:extLst>
          </p:cNvPr>
          <p:cNvSpPr>
            <a:spLocks noGrp="1"/>
          </p:cNvSpPr>
          <p:nvPr>
            <p:ph type="title"/>
          </p:nvPr>
        </p:nvSpPr>
        <p:spPr>
          <a:xfrm>
            <a:off x="457200" y="274638"/>
            <a:ext cx="8229600" cy="576071"/>
          </a:xfrm>
        </p:spPr>
        <p:txBody>
          <a:bodyPr>
            <a:normAutofit fontScale="90000"/>
          </a:bodyPr>
          <a:lstStyle/>
          <a:p>
            <a:r>
              <a:rPr lang="en-US" sz="4400" dirty="0">
                <a:latin typeface="Times New Roman" panose="02020603050405020304" pitchFamily="18" charset="0"/>
                <a:cs typeface="Times New Roman" panose="02020603050405020304" pitchFamily="18" charset="0"/>
              </a:rPr>
              <a:t>Market Basket Analysis Contd..</a:t>
            </a:r>
            <a:endParaRPr lang="en-IN" dirty="0"/>
          </a:p>
        </p:txBody>
      </p:sp>
    </p:spTree>
    <p:extLst>
      <p:ext uri="{BB962C8B-B14F-4D97-AF65-F5344CB8AC3E}">
        <p14:creationId xmlns:p14="http://schemas.microsoft.com/office/powerpoint/2010/main" val="29493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0DD72370-6BE7-84DF-9481-07058D15CB8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E4394F3-6829-4B86-A34B-C1C3DBE12CE2}" type="slidenum">
              <a:rPr lang="en-US" altLang="en-US" sz="1200"/>
              <a:pPr eaLnBrk="1" hangingPunct="1"/>
              <a:t>11</a:t>
            </a:fld>
            <a:endParaRPr lang="en-US" altLang="en-US" sz="1200"/>
          </a:p>
        </p:txBody>
      </p:sp>
      <p:sp>
        <p:nvSpPr>
          <p:cNvPr id="16387" name="Rectangle 2">
            <a:extLst>
              <a:ext uri="{FF2B5EF4-FFF2-40B4-BE49-F238E27FC236}">
                <a16:creationId xmlns:a16="http://schemas.microsoft.com/office/drawing/2014/main" id="{E214DED4-FF7D-F4BA-058F-8D900AB828E8}"/>
              </a:ext>
            </a:extLst>
          </p:cNvPr>
          <p:cNvSpPr>
            <a:spLocks noGrp="1" noChangeArrowheads="1"/>
          </p:cNvSpPr>
          <p:nvPr>
            <p:ph type="title"/>
          </p:nvPr>
        </p:nvSpPr>
        <p:spPr>
          <a:xfrm>
            <a:off x="914400" y="228600"/>
            <a:ext cx="7620000" cy="762000"/>
          </a:xfrm>
        </p:spPr>
        <p:txBody>
          <a:bodyPr>
            <a:normAutofit/>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What Is Frequent Pattern Analysis?</a:t>
            </a:r>
          </a:p>
        </p:txBody>
      </p:sp>
      <p:sp>
        <p:nvSpPr>
          <p:cNvPr id="16388" name="Rectangle 3">
            <a:extLst>
              <a:ext uri="{FF2B5EF4-FFF2-40B4-BE49-F238E27FC236}">
                <a16:creationId xmlns:a16="http://schemas.microsoft.com/office/drawing/2014/main" id="{F34556CA-281B-E7CA-7391-DE3CF5D2930A}"/>
              </a:ext>
            </a:extLst>
          </p:cNvPr>
          <p:cNvSpPr>
            <a:spLocks noGrp="1" noChangeArrowheads="1"/>
          </p:cNvSpPr>
          <p:nvPr>
            <p:ph type="body" idx="1"/>
          </p:nvPr>
        </p:nvSpPr>
        <p:spPr>
          <a:xfrm>
            <a:off x="152400" y="1219200"/>
            <a:ext cx="8839200" cy="5181600"/>
          </a:xfrm>
        </p:spPr>
        <p:txBody>
          <a:bodyPr>
            <a:normAutofit/>
          </a:bodyPr>
          <a:lstStyle/>
          <a:p>
            <a:pPr eaLnBrk="1" hangingPunct="1">
              <a:lnSpc>
                <a:spcPct val="130000"/>
              </a:lnSpc>
            </a:pPr>
            <a:r>
              <a:rPr lang="en-US" altLang="en-US" sz="2000" dirty="0">
                <a:solidFill>
                  <a:schemeClr val="hlink"/>
                </a:solidFill>
                <a:latin typeface="Times New Roman" panose="02020603050405020304" pitchFamily="18" charset="0"/>
                <a:cs typeface="Times New Roman" panose="02020603050405020304" pitchFamily="18" charset="0"/>
              </a:rPr>
              <a:t>Frequent pattern</a:t>
            </a:r>
            <a:r>
              <a:rPr lang="en-US" altLang="en-US" sz="2000" dirty="0">
                <a:latin typeface="Times New Roman" panose="02020603050405020304" pitchFamily="18" charset="0"/>
                <a:cs typeface="Times New Roman" panose="02020603050405020304" pitchFamily="18" charset="0"/>
              </a:rPr>
              <a:t>: a pattern (a set of items, subsequences, substructures, etc.) that occurs frequently in a data set</a:t>
            </a:r>
          </a:p>
          <a:p>
            <a:pPr eaLnBrk="1" hangingPunct="1">
              <a:lnSpc>
                <a:spcPct val="130000"/>
              </a:lnSpc>
            </a:pPr>
            <a:endParaRPr lang="en-US" altLang="en-US" sz="2000" dirty="0">
              <a:latin typeface="Times New Roman" panose="02020603050405020304" pitchFamily="18" charset="0"/>
              <a:cs typeface="Times New Roman" panose="02020603050405020304" pitchFamily="18" charset="0"/>
            </a:endParaRPr>
          </a:p>
          <a:p>
            <a:pPr algn="just">
              <a:lnSpc>
                <a:spcPct val="130000"/>
              </a:lnSpc>
              <a:buSzPct val="80000"/>
            </a:pPr>
            <a:r>
              <a:rPr lang="en-IN" sz="2000" dirty="0">
                <a:latin typeface="Times New Roman" panose="02020603050405020304" pitchFamily="18" charset="0"/>
                <a:cs typeface="Times New Roman" panose="02020603050405020304" pitchFamily="18" charset="0"/>
              </a:rPr>
              <a:t>Rakesh Agrawal, Tomasz </a:t>
            </a:r>
            <a:r>
              <a:rPr lang="en-IN" sz="2000" dirty="0" err="1">
                <a:latin typeface="Times New Roman" panose="02020603050405020304" pitchFamily="18" charset="0"/>
                <a:cs typeface="Times New Roman" panose="02020603050405020304" pitchFamily="18" charset="0"/>
              </a:rPr>
              <a:t>Imielinski</a:t>
            </a:r>
            <a:r>
              <a:rPr lang="en-IN" sz="2000" dirty="0">
                <a:latin typeface="Times New Roman" panose="02020603050405020304" pitchFamily="18" charset="0"/>
                <a:cs typeface="Times New Roman" panose="02020603050405020304" pitchFamily="18" charset="0"/>
              </a:rPr>
              <a:t>, and Arun Swami first introduced </a:t>
            </a:r>
            <a:r>
              <a:rPr lang="en-IN" sz="2000" b="1" dirty="0">
                <a:latin typeface="Times New Roman" panose="02020603050405020304" pitchFamily="18" charset="0"/>
                <a:cs typeface="Times New Roman" panose="02020603050405020304" pitchFamily="18" charset="0"/>
              </a:rPr>
              <a:t>frequent </a:t>
            </a:r>
            <a:r>
              <a:rPr lang="en-IN" sz="2000" b="1" dirty="0" err="1">
                <a:latin typeface="Times New Roman" panose="02020603050405020304" pitchFamily="18" charset="0"/>
                <a:cs typeface="Times New Roman" panose="02020603050405020304" pitchFamily="18" charset="0"/>
              </a:rPr>
              <a:t>itemsets</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association rule mining</a:t>
            </a:r>
            <a:r>
              <a:rPr lang="en-IN" sz="2000" dirty="0">
                <a:latin typeface="Times New Roman" panose="02020603050405020304" pitchFamily="18" charset="0"/>
                <a:cs typeface="Times New Roman" panose="02020603050405020304" pitchFamily="18" charset="0"/>
              </a:rPr>
              <a:t> in their seminal 1993 paper. </a:t>
            </a:r>
            <a:r>
              <a:rPr lang="en-US" altLang="en-US" sz="2000" dirty="0">
                <a:latin typeface="Times New Roman" panose="02020603050405020304" pitchFamily="18" charset="0"/>
                <a:cs typeface="Times New Roman" panose="02020603050405020304" pitchFamily="18" charset="0"/>
              </a:rPr>
              <a:t>[AIS93]</a:t>
            </a:r>
          </a:p>
          <a:p>
            <a:pPr algn="just">
              <a:lnSpc>
                <a:spcPct val="130000"/>
              </a:lnSpc>
              <a:buSzPct val="80000"/>
            </a:pPr>
            <a:endParaRPr lang="en-IN" sz="2000" dirty="0">
              <a:latin typeface="Times New Roman" panose="02020603050405020304" pitchFamily="18" charset="0"/>
              <a:cs typeface="Times New Roman" panose="02020603050405020304" pitchFamily="18" charset="0"/>
            </a:endParaRPr>
          </a:p>
          <a:p>
            <a:pPr algn="just">
              <a:lnSpc>
                <a:spcPct val="130000"/>
              </a:lnSpc>
              <a:buSzPct val="80000"/>
            </a:pPr>
            <a:r>
              <a:rPr lang="en-IN" sz="2000" dirty="0">
                <a:latin typeface="Times New Roman" panose="02020603050405020304" pitchFamily="18" charset="0"/>
                <a:cs typeface="Times New Roman" panose="02020603050405020304" pitchFamily="18" charset="0"/>
              </a:rPr>
              <a:t>This foundational concept revolutionized machine learning and data science by enabling market basket analysis, uncovering purchasing correlations, and identifying inherent regularities in transactional databases</a:t>
            </a:r>
            <a:endParaRPr lang="en-US" altLang="en-US" sz="2000" dirty="0">
              <a:solidFill>
                <a:schemeClr val="hlink"/>
              </a:solidFill>
              <a:latin typeface="Times New Roman" panose="02020603050405020304" pitchFamily="18" charset="0"/>
              <a:cs typeface="Times New Roman" panose="02020603050405020304" pitchFamily="18" charset="0"/>
            </a:endParaRPr>
          </a:p>
          <a:p>
            <a:pPr eaLnBrk="1" hangingPunct="1">
              <a:lnSpc>
                <a:spcPct val="130000"/>
              </a:lnSpc>
            </a:pPr>
            <a:r>
              <a:rPr lang="en-US" altLang="en-US"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D4ECD-677B-61B4-6FEE-DDBC96FC8DCB}"/>
            </a:ext>
          </a:extLst>
        </p:cNvPr>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D09AA5E5-EB19-2E06-A853-C114FF1D1F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E4394F3-6829-4B86-A34B-C1C3DBE12CE2}" type="slidenum">
              <a:rPr lang="en-US" altLang="en-US" sz="1200"/>
              <a:pPr eaLnBrk="1" hangingPunct="1"/>
              <a:t>12</a:t>
            </a:fld>
            <a:endParaRPr lang="en-US" altLang="en-US" sz="1200"/>
          </a:p>
        </p:txBody>
      </p:sp>
      <p:sp>
        <p:nvSpPr>
          <p:cNvPr id="16387" name="Rectangle 2">
            <a:extLst>
              <a:ext uri="{FF2B5EF4-FFF2-40B4-BE49-F238E27FC236}">
                <a16:creationId xmlns:a16="http://schemas.microsoft.com/office/drawing/2014/main" id="{0497B440-7751-C8E8-BB1C-2DE7DFC47392}"/>
              </a:ext>
            </a:extLst>
          </p:cNvPr>
          <p:cNvSpPr>
            <a:spLocks noGrp="1" noChangeArrowheads="1"/>
          </p:cNvSpPr>
          <p:nvPr>
            <p:ph type="title"/>
          </p:nvPr>
        </p:nvSpPr>
        <p:spPr>
          <a:xfrm>
            <a:off x="1027272" y="86754"/>
            <a:ext cx="7620000" cy="762000"/>
          </a:xfrm>
        </p:spPr>
        <p:txBody>
          <a:bodyPr>
            <a:normAutofit/>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What Is Frequent Pattern Analysis?</a:t>
            </a:r>
          </a:p>
        </p:txBody>
      </p:sp>
      <p:sp>
        <p:nvSpPr>
          <p:cNvPr id="16388" name="Rectangle 3">
            <a:extLst>
              <a:ext uri="{FF2B5EF4-FFF2-40B4-BE49-F238E27FC236}">
                <a16:creationId xmlns:a16="http://schemas.microsoft.com/office/drawing/2014/main" id="{732F17B9-71CE-DEA1-0221-AFABB7F23620}"/>
              </a:ext>
            </a:extLst>
          </p:cNvPr>
          <p:cNvSpPr>
            <a:spLocks noGrp="1" noChangeArrowheads="1"/>
          </p:cNvSpPr>
          <p:nvPr>
            <p:ph type="body" idx="1"/>
          </p:nvPr>
        </p:nvSpPr>
        <p:spPr>
          <a:xfrm>
            <a:off x="228600" y="1203960"/>
            <a:ext cx="8418672" cy="4724400"/>
          </a:xfrm>
        </p:spPr>
        <p:txBody>
          <a:bodyPr>
            <a:noAutofit/>
          </a:bodyPr>
          <a:lstStyle/>
          <a:p>
            <a:pPr algn="just" eaLnBrk="1" hangingPunct="1">
              <a:lnSpc>
                <a:spcPct val="130000"/>
              </a:lnSpc>
            </a:pPr>
            <a:r>
              <a:rPr lang="en-US" altLang="en-US" sz="2000" b="1" dirty="0">
                <a:latin typeface="Times New Roman" panose="02020603050405020304" pitchFamily="18" charset="0"/>
                <a:cs typeface="Times New Roman" panose="02020603050405020304" pitchFamily="18" charset="0"/>
              </a:rPr>
              <a:t>Motivation</a:t>
            </a:r>
            <a:r>
              <a:rPr lang="en-US" altLang="en-US" sz="2000" dirty="0">
                <a:latin typeface="Times New Roman" panose="02020603050405020304" pitchFamily="18" charset="0"/>
                <a:cs typeface="Times New Roman" panose="02020603050405020304" pitchFamily="18" charset="0"/>
              </a:rPr>
              <a:t>: Finding inherent regularities in data</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products were often purchased together?— Beer and diapers?!</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are the subsequent purchases after buying a PC?</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kinds of DNA are sensitive to this new drug?</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Can we automatically classify web documents?</a:t>
            </a:r>
          </a:p>
          <a:p>
            <a:pPr lvl="1" algn="just" eaLnBrk="1" hangingPunct="1">
              <a:lnSpc>
                <a:spcPct val="130000"/>
              </a:lnSpc>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130000"/>
              </a:lnSpc>
              <a:buSzPct val="80000"/>
            </a:pPr>
            <a:r>
              <a:rPr lang="en-US" altLang="en-US" sz="2000" b="1" dirty="0">
                <a:latin typeface="Times New Roman" panose="02020603050405020304" pitchFamily="18" charset="0"/>
                <a:cs typeface="Times New Roman" panose="02020603050405020304" pitchFamily="18" charset="0"/>
              </a:rPr>
              <a:t>Applications</a:t>
            </a:r>
            <a:r>
              <a:rPr lang="en-US" altLang="en-US" sz="2000" dirty="0">
                <a:latin typeface="Times New Roman" panose="02020603050405020304" pitchFamily="18" charset="0"/>
                <a:cs typeface="Times New Roman" panose="02020603050405020304" pitchFamily="18" charset="0"/>
              </a:rPr>
              <a:t>: Basket data analysis, cross-marketing, catalog design, sale campaign analysis, Web log (click stream) analysis, and DNA sequence analysis.</a:t>
            </a:r>
          </a:p>
        </p:txBody>
      </p:sp>
    </p:spTree>
    <p:extLst>
      <p:ext uri="{BB962C8B-B14F-4D97-AF65-F5344CB8AC3E}">
        <p14:creationId xmlns:p14="http://schemas.microsoft.com/office/powerpoint/2010/main" val="104275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BC905987-D63B-095E-A2E6-0D0A0FC879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B540E52-A42F-4BB2-B6DA-3572528CF08B}" type="slidenum">
              <a:rPr lang="en-US" altLang="en-US" sz="1200"/>
              <a:pPr eaLnBrk="1" hangingPunct="1"/>
              <a:t>13</a:t>
            </a:fld>
            <a:endParaRPr lang="en-US" altLang="en-US" sz="1200"/>
          </a:p>
        </p:txBody>
      </p:sp>
      <p:sp>
        <p:nvSpPr>
          <p:cNvPr id="17411" name="Rectangle 2">
            <a:extLst>
              <a:ext uri="{FF2B5EF4-FFF2-40B4-BE49-F238E27FC236}">
                <a16:creationId xmlns:a16="http://schemas.microsoft.com/office/drawing/2014/main" id="{A6C80F31-F760-DA99-3A69-ABC75C5BE01B}"/>
              </a:ext>
            </a:extLst>
          </p:cNvPr>
          <p:cNvSpPr>
            <a:spLocks noGrp="1" noChangeArrowheads="1"/>
          </p:cNvSpPr>
          <p:nvPr>
            <p:ph type="title"/>
          </p:nvPr>
        </p:nvSpPr>
        <p:spPr>
          <a:xfrm>
            <a:off x="914400" y="304800"/>
            <a:ext cx="7620000" cy="6858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Why Is Freq. Pattern Mining Important?</a:t>
            </a:r>
          </a:p>
        </p:txBody>
      </p:sp>
      <p:sp>
        <p:nvSpPr>
          <p:cNvPr id="17412" name="Rectangle 3">
            <a:extLst>
              <a:ext uri="{FF2B5EF4-FFF2-40B4-BE49-F238E27FC236}">
                <a16:creationId xmlns:a16="http://schemas.microsoft.com/office/drawing/2014/main" id="{42ECEC55-B923-8B24-516C-B5ADCBF832D8}"/>
              </a:ext>
            </a:extLst>
          </p:cNvPr>
          <p:cNvSpPr>
            <a:spLocks noGrp="1" noChangeArrowheads="1"/>
          </p:cNvSpPr>
          <p:nvPr>
            <p:ph type="body" idx="1"/>
          </p:nvPr>
        </p:nvSpPr>
        <p:spPr>
          <a:xfrm>
            <a:off x="304800" y="1371600"/>
            <a:ext cx="8534400" cy="5105400"/>
          </a:xfrm>
        </p:spPr>
        <p:txBody>
          <a:bodyPr>
            <a:normAutofit/>
          </a:bodyPr>
          <a:lstStyle/>
          <a:p>
            <a:pPr eaLnBrk="1" hangingPunct="1"/>
            <a:r>
              <a:rPr lang="en-US" altLang="en-US" sz="2000" dirty="0">
                <a:latin typeface="Times New Roman" panose="02020603050405020304" pitchFamily="18" charset="0"/>
                <a:cs typeface="Times New Roman" panose="02020603050405020304" pitchFamily="18" charset="0"/>
              </a:rPr>
              <a:t>Freq. pattern: An intrinsic and important property of datasets </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Foundation for many essential data mining tasks</a:t>
            </a:r>
          </a:p>
          <a:p>
            <a:pPr lvl="1" eaLnBrk="1" hangingPunct="1"/>
            <a:r>
              <a:rPr lang="en-US" altLang="en-US" sz="2000" dirty="0">
                <a:latin typeface="Times New Roman" panose="02020603050405020304" pitchFamily="18" charset="0"/>
                <a:cs typeface="Times New Roman" panose="02020603050405020304" pitchFamily="18" charset="0"/>
              </a:rPr>
              <a:t>Association, correlation, and causality analysis</a:t>
            </a:r>
          </a:p>
          <a:p>
            <a:pPr lvl="1" eaLnBrk="1" hangingPunct="1"/>
            <a:r>
              <a:rPr lang="en-US" altLang="en-US" sz="2000" dirty="0">
                <a:latin typeface="Times New Roman" panose="02020603050405020304" pitchFamily="18" charset="0"/>
                <a:cs typeface="Times New Roman" panose="02020603050405020304" pitchFamily="18" charset="0"/>
              </a:rPr>
              <a:t>Sequential, structural (e.g., sub-graph) patterns</a:t>
            </a:r>
          </a:p>
          <a:p>
            <a:pPr lvl="1" eaLnBrk="1" hangingPunct="1"/>
            <a:r>
              <a:rPr lang="en-US" altLang="en-US" sz="2000" dirty="0">
                <a:latin typeface="Times New Roman" panose="02020603050405020304" pitchFamily="18" charset="0"/>
                <a:cs typeface="Times New Roman" panose="02020603050405020304" pitchFamily="18" charset="0"/>
              </a:rPr>
              <a:t>Pattern analysis in spatiotemporal, multimedia, time-series, and stream data </a:t>
            </a:r>
          </a:p>
          <a:p>
            <a:pPr lvl="1" eaLnBrk="1" hangingPunct="1"/>
            <a:r>
              <a:rPr lang="en-US" altLang="en-US" sz="2000" dirty="0">
                <a:latin typeface="Times New Roman" panose="02020603050405020304" pitchFamily="18" charset="0"/>
                <a:cs typeface="Times New Roman" panose="02020603050405020304" pitchFamily="18" charset="0"/>
              </a:rPr>
              <a:t>Classification: discriminative, frequent pattern analysis</a:t>
            </a:r>
          </a:p>
          <a:p>
            <a:pPr lvl="1" eaLnBrk="1" hangingPunct="1"/>
            <a:r>
              <a:rPr lang="en-US" altLang="en-US" sz="2000" dirty="0">
                <a:latin typeface="Times New Roman" panose="02020603050405020304" pitchFamily="18" charset="0"/>
                <a:cs typeface="Times New Roman" panose="02020603050405020304" pitchFamily="18" charset="0"/>
              </a:rPr>
              <a:t>Cluster analysis: frequent pattern-based clustering</a:t>
            </a:r>
          </a:p>
          <a:p>
            <a:pPr lvl="1" eaLnBrk="1" hangingPunct="1"/>
            <a:r>
              <a:rPr lang="en-US" altLang="en-US" sz="2000" dirty="0">
                <a:latin typeface="Times New Roman" panose="02020603050405020304" pitchFamily="18" charset="0"/>
                <a:cs typeface="Times New Roman" panose="02020603050405020304" pitchFamily="18" charset="0"/>
              </a:rPr>
              <a:t>Data warehousing: iceberg cube and cube-gradient </a:t>
            </a:r>
          </a:p>
          <a:p>
            <a:pPr lvl="1" eaLnBrk="1" hangingPunct="1"/>
            <a:r>
              <a:rPr lang="en-US" altLang="en-US" sz="2000" dirty="0">
                <a:latin typeface="Times New Roman" panose="02020603050405020304" pitchFamily="18" charset="0"/>
                <a:cs typeface="Times New Roman" panose="02020603050405020304" pitchFamily="18" charset="0"/>
              </a:rPr>
              <a:t>Semantic data compression: fascicles</a:t>
            </a:r>
          </a:p>
          <a:p>
            <a:pPr lvl="1" eaLnBrk="1" hangingPunct="1"/>
            <a:r>
              <a:rPr lang="en-US" altLang="en-US" sz="2000" dirty="0">
                <a:latin typeface="Times New Roman" panose="02020603050405020304" pitchFamily="18" charset="0"/>
                <a:cs typeface="Times New Roman" panose="02020603050405020304" pitchFamily="18" charset="0"/>
              </a:rPr>
              <a:t>Broad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7CC22C76-E0FF-6E64-6829-2FE29C878A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D457575-28E4-4330-9E8C-BC946F562BDF}" type="slidenum">
              <a:rPr lang="en-US" altLang="en-US" sz="1200"/>
              <a:pPr eaLnBrk="1" hangingPunct="1"/>
              <a:t>14</a:t>
            </a:fld>
            <a:endParaRPr lang="en-US" altLang="en-US" sz="1200"/>
          </a:p>
        </p:txBody>
      </p:sp>
      <p:sp>
        <p:nvSpPr>
          <p:cNvPr id="18435" name="Rectangle 2">
            <a:extLst>
              <a:ext uri="{FF2B5EF4-FFF2-40B4-BE49-F238E27FC236}">
                <a16:creationId xmlns:a16="http://schemas.microsoft.com/office/drawing/2014/main" id="{34AF48FF-ACBE-89B1-5424-FECD7085EF90}"/>
              </a:ext>
            </a:extLst>
          </p:cNvPr>
          <p:cNvSpPr>
            <a:spLocks noGrp="1" noChangeArrowheads="1"/>
          </p:cNvSpPr>
          <p:nvPr>
            <p:ph type="title"/>
          </p:nvPr>
        </p:nvSpPr>
        <p:spPr>
          <a:xfrm>
            <a:off x="685800" y="228600"/>
            <a:ext cx="8001000" cy="523823"/>
          </a:xfrm>
        </p:spPr>
        <p:txBody>
          <a:bodyPr>
            <a:normAutofit fontScale="90000"/>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Concepts: Frequent Patterns</a:t>
            </a:r>
          </a:p>
        </p:txBody>
      </p:sp>
      <p:sp>
        <p:nvSpPr>
          <p:cNvPr id="18436" name="Rectangle 3">
            <a:extLst>
              <a:ext uri="{FF2B5EF4-FFF2-40B4-BE49-F238E27FC236}">
                <a16:creationId xmlns:a16="http://schemas.microsoft.com/office/drawing/2014/main" id="{55866FFE-C1D7-59B7-CE9B-0E037E56EB59}"/>
              </a:ext>
            </a:extLst>
          </p:cNvPr>
          <p:cNvSpPr>
            <a:spLocks noGrp="1" noChangeArrowheads="1"/>
          </p:cNvSpPr>
          <p:nvPr>
            <p:ph type="body" idx="1"/>
          </p:nvPr>
        </p:nvSpPr>
        <p:spPr>
          <a:xfrm>
            <a:off x="4066522" y="904823"/>
            <a:ext cx="4953000" cy="2846439"/>
          </a:xfrm>
        </p:spPr>
        <p:txBody>
          <a:bodyPr>
            <a:normAutofit/>
          </a:bodyPr>
          <a:lstStyle/>
          <a:p>
            <a:pPr eaLnBrk="1" hangingPunct="1">
              <a:lnSpc>
                <a:spcPct val="90000"/>
              </a:lnSpc>
            </a:pPr>
            <a:r>
              <a:rPr lang="en-US" altLang="en-US" sz="2000" dirty="0">
                <a:solidFill>
                  <a:schemeClr val="hlink"/>
                </a:solidFill>
                <a:latin typeface="Times New Roman" panose="02020603050405020304" pitchFamily="18" charset="0"/>
                <a:cs typeface="Times New Roman" panose="02020603050405020304" pitchFamily="18" charset="0"/>
              </a:rPr>
              <a:t>itemset</a:t>
            </a:r>
            <a:r>
              <a:rPr lang="en-US" altLang="en-US" sz="2000" dirty="0">
                <a:latin typeface="Times New Roman" panose="02020603050405020304" pitchFamily="18" charset="0"/>
                <a:cs typeface="Times New Roman" panose="02020603050405020304" pitchFamily="18" charset="0"/>
              </a:rPr>
              <a:t>: A set of one or more items</a:t>
            </a:r>
          </a:p>
          <a:p>
            <a:pPr eaLnBrk="1" hangingPunct="1">
              <a:lnSpc>
                <a:spcPct val="90000"/>
              </a:lnSpc>
            </a:pPr>
            <a:r>
              <a:rPr lang="en-US" altLang="en-US" sz="2000" dirty="0">
                <a:solidFill>
                  <a:schemeClr val="hlink"/>
                </a:solidFill>
                <a:latin typeface="Times New Roman" panose="02020603050405020304" pitchFamily="18" charset="0"/>
                <a:cs typeface="Times New Roman" panose="02020603050405020304" pitchFamily="18" charset="0"/>
              </a:rPr>
              <a:t>k-itemset</a:t>
            </a:r>
            <a:r>
              <a:rPr lang="en-US" altLang="en-US" sz="2000" dirty="0">
                <a:latin typeface="Times New Roman" panose="02020603050405020304" pitchFamily="18" charset="0"/>
                <a:cs typeface="Times New Roman" panose="02020603050405020304" pitchFamily="18" charset="0"/>
              </a:rPr>
              <a:t> X = {x</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x</a:t>
            </a:r>
            <a:r>
              <a:rPr lang="en-US" altLang="en-US" sz="2000" baseline="-25000" dirty="0" err="1">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a:p>
            <a:pPr eaLnBrk="1" hangingPunct="1">
              <a:lnSpc>
                <a:spcPct val="90000"/>
              </a:lnSpc>
            </a:pPr>
            <a:r>
              <a:rPr lang="en-US" altLang="en-US" sz="2000" i="1" dirty="0">
                <a:solidFill>
                  <a:schemeClr val="hlink"/>
                </a:solidFill>
                <a:latin typeface="Times New Roman" panose="02020603050405020304" pitchFamily="18" charset="0"/>
                <a:cs typeface="Times New Roman" panose="02020603050405020304" pitchFamily="18" charset="0"/>
              </a:rPr>
              <a:t>(absolute) support</a:t>
            </a:r>
            <a:r>
              <a:rPr lang="en-US" altLang="en-US" sz="2000" dirty="0">
                <a:latin typeface="Times New Roman" panose="02020603050405020304" pitchFamily="18" charset="0"/>
                <a:cs typeface="Times New Roman" panose="02020603050405020304" pitchFamily="18" charset="0"/>
              </a:rPr>
              <a:t>, or, </a:t>
            </a:r>
            <a:r>
              <a:rPr lang="en-US" altLang="en-US" sz="2000" i="1" dirty="0">
                <a:solidFill>
                  <a:schemeClr val="hlink"/>
                </a:solidFill>
                <a:latin typeface="Times New Roman" panose="02020603050405020304" pitchFamily="18" charset="0"/>
                <a:cs typeface="Times New Roman" panose="02020603050405020304" pitchFamily="18" charset="0"/>
              </a:rPr>
              <a:t>support count</a:t>
            </a:r>
            <a:r>
              <a:rPr lang="en-US" altLang="en-US" sz="2000" dirty="0">
                <a:latin typeface="Times New Roman" panose="02020603050405020304" pitchFamily="18" charset="0"/>
                <a:cs typeface="Times New Roman" panose="02020603050405020304" pitchFamily="18" charset="0"/>
              </a:rPr>
              <a:t> of X: Frequency or occurrence of an itemset X</a:t>
            </a:r>
          </a:p>
          <a:p>
            <a:pPr eaLnBrk="1" hangingPunct="1">
              <a:lnSpc>
                <a:spcPct val="90000"/>
              </a:lnSpc>
            </a:pPr>
            <a:r>
              <a:rPr lang="en-US" altLang="en-US" sz="2000" i="1" dirty="0">
                <a:solidFill>
                  <a:schemeClr val="hlink"/>
                </a:solidFill>
                <a:latin typeface="Times New Roman" panose="02020603050405020304" pitchFamily="18" charset="0"/>
                <a:cs typeface="Times New Roman" panose="02020603050405020304" pitchFamily="18" charset="0"/>
              </a:rPr>
              <a:t>(relative)</a:t>
            </a:r>
            <a:r>
              <a:rPr lang="en-US" altLang="en-US" sz="2000" dirty="0">
                <a:latin typeface="Times New Roman" panose="02020603050405020304" pitchFamily="18" charset="0"/>
                <a:cs typeface="Times New Roman" panose="02020603050405020304" pitchFamily="18" charset="0"/>
              </a:rPr>
              <a:t> </a:t>
            </a:r>
            <a:r>
              <a:rPr lang="en-US" altLang="en-US"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support</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is the fraction of transactions that contains X (i.e., the </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probability</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that a transaction contains X)</a:t>
            </a:r>
          </a:p>
          <a:p>
            <a:pPr eaLnBrk="1" hangingPunct="1">
              <a:lnSpc>
                <a:spcPct val="90000"/>
              </a:lnSpc>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An itemset X is </a:t>
            </a:r>
            <a:r>
              <a:rPr lang="en-US" altLang="en-US"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frequent</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if X’s support is no less than a </a:t>
            </a:r>
            <a:r>
              <a:rPr lang="en-US" altLang="en-US" sz="2000" i="1" dirty="0" err="1">
                <a:latin typeface="Times New Roman" panose="02020603050405020304" pitchFamily="18" charset="0"/>
                <a:cs typeface="Times New Roman" panose="02020603050405020304" pitchFamily="18" charset="0"/>
                <a:sym typeface="Symbol" panose="05050102010706020507" pitchFamily="18" charset="2"/>
              </a:rPr>
              <a:t>minsup</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threshold</a:t>
            </a:r>
          </a:p>
        </p:txBody>
      </p:sp>
      <p:grpSp>
        <p:nvGrpSpPr>
          <p:cNvPr id="18437" name="Group 5">
            <a:extLst>
              <a:ext uri="{FF2B5EF4-FFF2-40B4-BE49-F238E27FC236}">
                <a16:creationId xmlns:a16="http://schemas.microsoft.com/office/drawing/2014/main" id="{EA9E4278-7114-C822-5E39-8F306A67B444}"/>
              </a:ext>
            </a:extLst>
          </p:cNvPr>
          <p:cNvGrpSpPr>
            <a:grpSpLocks/>
          </p:cNvGrpSpPr>
          <p:nvPr/>
        </p:nvGrpSpPr>
        <p:grpSpPr bwMode="auto">
          <a:xfrm>
            <a:off x="4761072" y="3886200"/>
            <a:ext cx="3886200" cy="2630488"/>
            <a:chOff x="192" y="2400"/>
            <a:chExt cx="2448" cy="1657"/>
          </a:xfrm>
        </p:grpSpPr>
        <p:sp>
          <p:nvSpPr>
            <p:cNvPr id="18461" name="Oval 6">
              <a:extLst>
                <a:ext uri="{FF2B5EF4-FFF2-40B4-BE49-F238E27FC236}">
                  <a16:creationId xmlns:a16="http://schemas.microsoft.com/office/drawing/2014/main" id="{E1531B4E-BD44-65B2-E39F-39FC51D74904}"/>
                </a:ext>
              </a:extLst>
            </p:cNvPr>
            <p:cNvSpPr>
              <a:spLocks noChangeArrowheads="1"/>
            </p:cNvSpPr>
            <p:nvPr/>
          </p:nvSpPr>
          <p:spPr bwMode="auto">
            <a:xfrm>
              <a:off x="384" y="2736"/>
              <a:ext cx="1200" cy="864"/>
            </a:xfrm>
            <a:prstGeom prst="ellipse">
              <a:avLst/>
            </a:prstGeom>
            <a:solidFill>
              <a:srgbClr val="FFFF00"/>
            </a:solidFill>
            <a:ln w="25400">
              <a:solidFill>
                <a:schemeClr val="tx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462" name="Oval 7">
              <a:extLst>
                <a:ext uri="{FF2B5EF4-FFF2-40B4-BE49-F238E27FC236}">
                  <a16:creationId xmlns:a16="http://schemas.microsoft.com/office/drawing/2014/main" id="{D348BBEF-851F-547E-7302-2A74DFA73415}"/>
                </a:ext>
              </a:extLst>
            </p:cNvPr>
            <p:cNvSpPr>
              <a:spLocks noChangeArrowheads="1"/>
            </p:cNvSpPr>
            <p:nvPr/>
          </p:nvSpPr>
          <p:spPr bwMode="auto">
            <a:xfrm>
              <a:off x="1008" y="2736"/>
              <a:ext cx="1200" cy="960"/>
            </a:xfrm>
            <a:prstGeom prst="ellipse">
              <a:avLst/>
            </a:prstGeom>
            <a:solidFill>
              <a:srgbClr val="99CCFF">
                <a:alpha val="50195"/>
              </a:srgbClr>
            </a:solidFill>
            <a:ln w="25400">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463" name="Line 8">
              <a:extLst>
                <a:ext uri="{FF2B5EF4-FFF2-40B4-BE49-F238E27FC236}">
                  <a16:creationId xmlns:a16="http://schemas.microsoft.com/office/drawing/2014/main" id="{1C7EB453-A5B0-CD41-5200-F52DFC4077FF}"/>
                </a:ext>
              </a:extLst>
            </p:cNvPr>
            <p:cNvSpPr>
              <a:spLocks noChangeShapeType="1"/>
            </p:cNvSpPr>
            <p:nvPr/>
          </p:nvSpPr>
          <p:spPr bwMode="auto">
            <a:xfrm flipH="1">
              <a:off x="576" y="3168"/>
              <a:ext cx="144" cy="48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4" name="Line 9">
              <a:extLst>
                <a:ext uri="{FF2B5EF4-FFF2-40B4-BE49-F238E27FC236}">
                  <a16:creationId xmlns:a16="http://schemas.microsoft.com/office/drawing/2014/main" id="{2ED3BB07-6233-571C-A649-0B0DA6249109}"/>
                </a:ext>
              </a:extLst>
            </p:cNvPr>
            <p:cNvSpPr>
              <a:spLocks noChangeShapeType="1"/>
            </p:cNvSpPr>
            <p:nvPr/>
          </p:nvSpPr>
          <p:spPr bwMode="auto">
            <a:xfrm flipV="1">
              <a:off x="2016" y="2832"/>
              <a:ext cx="144"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5" name="Line 10">
              <a:extLst>
                <a:ext uri="{FF2B5EF4-FFF2-40B4-BE49-F238E27FC236}">
                  <a16:creationId xmlns:a16="http://schemas.microsoft.com/office/drawing/2014/main" id="{4B81446F-F6F3-EA76-5B52-0666E4D76122}"/>
                </a:ext>
              </a:extLst>
            </p:cNvPr>
            <p:cNvSpPr>
              <a:spLocks noChangeShapeType="1"/>
            </p:cNvSpPr>
            <p:nvPr/>
          </p:nvSpPr>
          <p:spPr bwMode="auto">
            <a:xfrm flipH="1" flipV="1">
              <a:off x="1440" y="2592"/>
              <a:ext cx="0" cy="576"/>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6" name="Text Box 11">
              <a:extLst>
                <a:ext uri="{FF2B5EF4-FFF2-40B4-BE49-F238E27FC236}">
                  <a16:creationId xmlns:a16="http://schemas.microsoft.com/office/drawing/2014/main" id="{416F6D7F-F45C-7B31-B196-536C38D53534}"/>
                </a:ext>
              </a:extLst>
            </p:cNvPr>
            <p:cNvSpPr txBox="1">
              <a:spLocks noChangeArrowheads="1"/>
            </p:cNvSpPr>
            <p:nvPr/>
          </p:nvSpPr>
          <p:spPr bwMode="auto">
            <a:xfrm>
              <a:off x="1824" y="2448"/>
              <a:ext cx="76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hlink"/>
                  </a:solidFill>
                  <a:latin typeface="Times New Roman" panose="02020603050405020304" pitchFamily="18" charset="0"/>
                </a:rPr>
                <a:t>Customer</a:t>
              </a:r>
            </a:p>
            <a:p>
              <a:pPr>
                <a:lnSpc>
                  <a:spcPct val="110000"/>
                </a:lnSpc>
              </a:pPr>
              <a:r>
                <a:rPr lang="en-US" altLang="en-US" sz="1600" b="1">
                  <a:solidFill>
                    <a:schemeClr val="hlink"/>
                  </a:solidFill>
                  <a:latin typeface="Times New Roman" panose="02020603050405020304" pitchFamily="18" charset="0"/>
                </a:rPr>
                <a:t>buys diaper</a:t>
              </a:r>
              <a:endParaRPr lang="en-US" altLang="en-US" sz="1800" b="1" u="sng">
                <a:latin typeface="Times New Roman" panose="02020603050405020304" pitchFamily="18" charset="0"/>
              </a:endParaRPr>
            </a:p>
          </p:txBody>
        </p:sp>
        <p:sp>
          <p:nvSpPr>
            <p:cNvPr id="18467" name="Text Box 12">
              <a:extLst>
                <a:ext uri="{FF2B5EF4-FFF2-40B4-BE49-F238E27FC236}">
                  <a16:creationId xmlns:a16="http://schemas.microsoft.com/office/drawing/2014/main" id="{C9C2EB7E-0C54-FF2B-7408-F52D9B3E9DE5}"/>
                </a:ext>
              </a:extLst>
            </p:cNvPr>
            <p:cNvSpPr txBox="1">
              <a:spLocks noChangeArrowheads="1"/>
            </p:cNvSpPr>
            <p:nvPr/>
          </p:nvSpPr>
          <p:spPr bwMode="auto">
            <a:xfrm>
              <a:off x="960" y="24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rgbClr val="5FA180"/>
                  </a:solidFill>
                  <a:latin typeface="Times New Roman" panose="02020603050405020304" pitchFamily="18" charset="0"/>
                </a:rPr>
                <a:t>Customer</a:t>
              </a:r>
            </a:p>
            <a:p>
              <a:pPr>
                <a:lnSpc>
                  <a:spcPct val="110000"/>
                </a:lnSpc>
              </a:pPr>
              <a:r>
                <a:rPr lang="en-US" altLang="en-US" sz="1600" b="1">
                  <a:solidFill>
                    <a:srgbClr val="5FA180"/>
                  </a:solidFill>
                  <a:latin typeface="Times New Roman" panose="02020603050405020304" pitchFamily="18" charset="0"/>
                </a:rPr>
                <a:t>buys both</a:t>
              </a:r>
              <a:endParaRPr lang="en-US" altLang="en-US" sz="1800" b="1" u="sng">
                <a:solidFill>
                  <a:srgbClr val="5FA180"/>
                </a:solidFill>
                <a:latin typeface="Times New Roman" panose="02020603050405020304" pitchFamily="18" charset="0"/>
              </a:endParaRPr>
            </a:p>
          </p:txBody>
        </p:sp>
        <p:sp>
          <p:nvSpPr>
            <p:cNvPr id="18468" name="Text Box 13">
              <a:extLst>
                <a:ext uri="{FF2B5EF4-FFF2-40B4-BE49-F238E27FC236}">
                  <a16:creationId xmlns:a16="http://schemas.microsoft.com/office/drawing/2014/main" id="{65C86839-5380-1C27-5105-513D87749E8A}"/>
                </a:ext>
              </a:extLst>
            </p:cNvPr>
            <p:cNvSpPr txBox="1">
              <a:spLocks noChangeArrowheads="1"/>
            </p:cNvSpPr>
            <p:nvPr/>
          </p:nvSpPr>
          <p:spPr bwMode="auto">
            <a:xfrm>
              <a:off x="384" y="36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tx2"/>
                  </a:solidFill>
                  <a:latin typeface="Times New Roman" panose="02020603050405020304" pitchFamily="18" charset="0"/>
                </a:rPr>
                <a:t>Customer</a:t>
              </a:r>
            </a:p>
            <a:p>
              <a:pPr>
                <a:lnSpc>
                  <a:spcPct val="110000"/>
                </a:lnSpc>
              </a:pPr>
              <a:r>
                <a:rPr lang="en-US" altLang="en-US" sz="1600" b="1">
                  <a:solidFill>
                    <a:schemeClr val="tx2"/>
                  </a:solidFill>
                  <a:latin typeface="Times New Roman" panose="02020603050405020304" pitchFamily="18" charset="0"/>
                </a:rPr>
                <a:t>buys beer</a:t>
              </a:r>
              <a:endParaRPr lang="en-US" altLang="en-US" sz="1800" b="1" u="sng">
                <a:latin typeface="Times New Roman" panose="02020603050405020304" pitchFamily="18" charset="0"/>
              </a:endParaRPr>
            </a:p>
          </p:txBody>
        </p:sp>
        <p:sp>
          <p:nvSpPr>
            <p:cNvPr id="18469" name="Rectangle 14">
              <a:extLst>
                <a:ext uri="{FF2B5EF4-FFF2-40B4-BE49-F238E27FC236}">
                  <a16:creationId xmlns:a16="http://schemas.microsoft.com/office/drawing/2014/main" id="{0172C999-453D-69F4-E836-BC1D8DC563A1}"/>
                </a:ext>
              </a:extLst>
            </p:cNvPr>
            <p:cNvSpPr>
              <a:spLocks noChangeArrowheads="1"/>
            </p:cNvSpPr>
            <p:nvPr/>
          </p:nvSpPr>
          <p:spPr bwMode="auto">
            <a:xfrm>
              <a:off x="192" y="2400"/>
              <a:ext cx="2448" cy="165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aphicFrame>
        <p:nvGraphicFramePr>
          <p:cNvPr id="1767468" name="Group 44">
            <a:extLst>
              <a:ext uri="{FF2B5EF4-FFF2-40B4-BE49-F238E27FC236}">
                <a16:creationId xmlns:a16="http://schemas.microsoft.com/office/drawing/2014/main" id="{FF0975EA-1D83-096D-F5EF-9E4963F93060}"/>
              </a:ext>
            </a:extLst>
          </p:cNvPr>
          <p:cNvGraphicFramePr>
            <a:graphicFrameLocks noGrp="1"/>
          </p:cNvGraphicFramePr>
          <p:nvPr>
            <p:extLst>
              <p:ext uri="{D42A27DB-BD31-4B8C-83A1-F6EECF244321}">
                <p14:modId xmlns:p14="http://schemas.microsoft.com/office/powerpoint/2010/main" val="1871081452"/>
              </p:ext>
            </p:extLst>
          </p:nvPr>
        </p:nvGraphicFramePr>
        <p:xfrm>
          <a:off x="152400" y="1524000"/>
          <a:ext cx="3886200" cy="2682024"/>
        </p:xfrm>
        <a:graphic>
          <a:graphicData uri="http://schemas.openxmlformats.org/drawingml/2006/table">
            <a:tbl>
              <a:tblPr>
                <a:tableStyleId>{616DA210-FB5B-4158-B5E0-FEB733F419BA}</a:tableStyleId>
              </a:tblPr>
              <a:tblGrid>
                <a:gridCol w="7620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rPr>
                        <a:t>Tid</a:t>
                      </a:r>
                      <a:endParaRPr kumimoji="0" lang="en-US" sz="2000" b="1" i="0"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rPr>
                        <a:t>Items bought</a:t>
                      </a:r>
                      <a:endParaRPr kumimoji="0" lang="en-US" sz="2000" b="1" i="0"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0"/>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Beer, Nuts, Diaper</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1"/>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Coffee, Diaper</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2"/>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Diaper, Eggs</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3"/>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4"/>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Coffee, Diaper,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CFCDED4F-BBAE-C7EE-3C68-0CA44F05E86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2B94535-18F1-4FDB-8F6E-40CC3428C6E2}" type="slidenum">
              <a:rPr lang="en-US" altLang="en-US" sz="1200"/>
              <a:pPr eaLnBrk="1" hangingPunct="1"/>
              <a:t>15</a:t>
            </a:fld>
            <a:endParaRPr lang="en-US" altLang="en-US" sz="1200"/>
          </a:p>
        </p:txBody>
      </p:sp>
      <p:sp>
        <p:nvSpPr>
          <p:cNvPr id="19459" name="Rectangle 2">
            <a:extLst>
              <a:ext uri="{FF2B5EF4-FFF2-40B4-BE49-F238E27FC236}">
                <a16:creationId xmlns:a16="http://schemas.microsoft.com/office/drawing/2014/main" id="{6533A689-5F4D-EF0F-31FA-0488C7735671}"/>
              </a:ext>
            </a:extLst>
          </p:cNvPr>
          <p:cNvSpPr>
            <a:spLocks noGrp="1" noChangeArrowheads="1"/>
          </p:cNvSpPr>
          <p:nvPr>
            <p:ph type="title"/>
          </p:nvPr>
        </p:nvSpPr>
        <p:spPr>
          <a:xfrm>
            <a:off x="685800" y="228600"/>
            <a:ext cx="8001000" cy="419489"/>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Basic Concepts: Association Rules</a:t>
            </a:r>
          </a:p>
        </p:txBody>
      </p:sp>
      <p:sp>
        <p:nvSpPr>
          <p:cNvPr id="19460" name="Rectangle 3">
            <a:extLst>
              <a:ext uri="{FF2B5EF4-FFF2-40B4-BE49-F238E27FC236}">
                <a16:creationId xmlns:a16="http://schemas.microsoft.com/office/drawing/2014/main" id="{F346689F-5F72-0655-7C1A-7904B5A297CC}"/>
              </a:ext>
            </a:extLst>
          </p:cNvPr>
          <p:cNvSpPr>
            <a:spLocks noGrp="1" noChangeArrowheads="1"/>
          </p:cNvSpPr>
          <p:nvPr>
            <p:ph type="body" idx="1"/>
          </p:nvPr>
        </p:nvSpPr>
        <p:spPr>
          <a:xfrm>
            <a:off x="4364755" y="918295"/>
            <a:ext cx="4495798" cy="2987672"/>
          </a:xfrm>
        </p:spPr>
        <p:txBody>
          <a:bodyPr>
            <a:noAutofit/>
          </a:bodyPr>
          <a:lstStyle/>
          <a:p>
            <a:pPr marL="457200" indent="-457200" eaLnBrk="1" hangingPunct="1"/>
            <a:r>
              <a:rPr lang="en-US" altLang="en-US" sz="1800" dirty="0">
                <a:latin typeface="Times New Roman" panose="02020603050405020304" pitchFamily="18" charset="0"/>
                <a:cs typeface="Times New Roman" panose="02020603050405020304" pitchFamily="18" charset="0"/>
              </a:rPr>
              <a:t>Find all the rules </a:t>
            </a:r>
            <a:r>
              <a:rPr lang="en-US" altLang="en-US" sz="1800" i="1" dirty="0">
                <a:latin typeface="Times New Roman" panose="02020603050405020304" pitchFamily="18" charset="0"/>
                <a:cs typeface="Times New Roman" panose="02020603050405020304" pitchFamily="18" charset="0"/>
              </a:rPr>
              <a:t>X </a:t>
            </a:r>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i="1" dirty="0">
                <a:latin typeface="Times New Roman" panose="02020603050405020304" pitchFamily="18" charset="0"/>
                <a:cs typeface="Times New Roman" panose="02020603050405020304" pitchFamily="18" charset="0"/>
                <a:sym typeface="Wingdings" panose="05000000000000000000" pitchFamily="2" charset="2"/>
              </a:rPr>
              <a:t>Y</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latin typeface="Times New Roman" panose="02020603050405020304" pitchFamily="18" charset="0"/>
                <a:cs typeface="Times New Roman" panose="02020603050405020304" pitchFamily="18" charset="0"/>
              </a:rPr>
              <a:t>with minimum support and confidence</a:t>
            </a:r>
            <a:endParaRPr lang="en-US" altLang="en-US" sz="1800" dirty="0">
              <a:latin typeface="Times New Roman" panose="02020603050405020304" pitchFamily="18" charset="0"/>
              <a:cs typeface="Times New Roman" panose="02020603050405020304" pitchFamily="18" charset="0"/>
              <a:sym typeface="Symbol" panose="05050102010706020507" pitchFamily="18" charset="2"/>
            </a:endParaRPr>
          </a:p>
          <a:p>
            <a:pPr marL="914400" lvl="1" indent="-457200" eaLnBrk="1" hangingPunct="1"/>
            <a:r>
              <a:rPr lang="en-US" altLang="en-US" sz="18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support</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probability</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that a transaction contains X and Y</a:t>
            </a:r>
          </a:p>
          <a:p>
            <a:pPr marL="914400" lvl="1" indent="-457200" eaLnBrk="1" hangingPunct="1"/>
            <a:r>
              <a:rPr lang="en-US" altLang="en-US" sz="18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confidence</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c,</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conditional probability</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that a transaction having X also contains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Y</a:t>
            </a:r>
          </a:p>
          <a:p>
            <a:pPr marL="457200" indent="-457200" eaLnBrk="1" hangingPunct="1">
              <a:buFont typeface="Wingdings" panose="05000000000000000000" pitchFamily="2" charset="2"/>
              <a:buNone/>
            </a:pPr>
            <a:r>
              <a:rPr lang="en-US" altLang="en-US" sz="1800" i="1" dirty="0">
                <a:latin typeface="Times New Roman" panose="02020603050405020304" pitchFamily="18" charset="0"/>
                <a:cs typeface="Times New Roman" panose="02020603050405020304" pitchFamily="18" charset="0"/>
              </a:rPr>
              <a:t>Let  </a:t>
            </a:r>
            <a:r>
              <a:rPr lang="en-US" altLang="en-US" sz="1800" i="1" dirty="0" err="1">
                <a:latin typeface="Times New Roman" panose="02020603050405020304" pitchFamily="18" charset="0"/>
                <a:cs typeface="Times New Roman" panose="02020603050405020304" pitchFamily="18" charset="0"/>
              </a:rPr>
              <a:t>minsup</a:t>
            </a:r>
            <a:r>
              <a:rPr lang="en-US" altLang="en-US" sz="1800" i="1" dirty="0">
                <a:latin typeface="Times New Roman" panose="02020603050405020304" pitchFamily="18" charset="0"/>
                <a:cs typeface="Times New Roman" panose="02020603050405020304" pitchFamily="18" charset="0"/>
              </a:rPr>
              <a:t> = 50%, </a:t>
            </a:r>
            <a:r>
              <a:rPr lang="en-US" altLang="en-US" sz="1800" i="1" dirty="0" err="1">
                <a:latin typeface="Times New Roman" panose="02020603050405020304" pitchFamily="18" charset="0"/>
                <a:cs typeface="Times New Roman" panose="02020603050405020304" pitchFamily="18" charset="0"/>
              </a:rPr>
              <a:t>minconf</a:t>
            </a:r>
            <a:r>
              <a:rPr lang="en-US" altLang="en-US" sz="1800" i="1" dirty="0">
                <a:latin typeface="Times New Roman" panose="02020603050405020304" pitchFamily="18" charset="0"/>
                <a:cs typeface="Times New Roman" panose="02020603050405020304" pitchFamily="18" charset="0"/>
              </a:rPr>
              <a:t> = 50%</a:t>
            </a:r>
          </a:p>
          <a:p>
            <a:pPr marL="457200" indent="-457200" eaLnBrk="1" hangingPunct="1">
              <a:buFont typeface="Wingdings" panose="05000000000000000000" pitchFamily="2" charset="2"/>
              <a:buNone/>
            </a:pPr>
            <a:r>
              <a:rPr lang="en-US" altLang="en-US" sz="1800" i="1" dirty="0">
                <a:latin typeface="Times New Roman" panose="02020603050405020304" pitchFamily="18" charset="0"/>
                <a:cs typeface="Times New Roman" panose="02020603050405020304" pitchFamily="18" charset="0"/>
              </a:rPr>
              <a:t>Freq. Pat.: </a:t>
            </a:r>
            <a:r>
              <a:rPr lang="en-US" altLang="en-US" sz="1800" dirty="0">
                <a:latin typeface="Times New Roman" panose="02020603050405020304" pitchFamily="18" charset="0"/>
                <a:cs typeface="Times New Roman" panose="02020603050405020304" pitchFamily="18" charset="0"/>
              </a:rPr>
              <a:t>Beer:3, Nuts:3, Diaper:4, Eggs:3, {Beer, Diaper}:3</a:t>
            </a:r>
          </a:p>
        </p:txBody>
      </p:sp>
      <p:sp>
        <p:nvSpPr>
          <p:cNvPr id="19492" name="Rectangle 38">
            <a:extLst>
              <a:ext uri="{FF2B5EF4-FFF2-40B4-BE49-F238E27FC236}">
                <a16:creationId xmlns:a16="http://schemas.microsoft.com/office/drawing/2014/main" id="{896A8889-7461-33E0-2E1C-33F22E59B2E8}"/>
              </a:ext>
            </a:extLst>
          </p:cNvPr>
          <p:cNvSpPr>
            <a:spLocks noChangeArrowheads="1"/>
          </p:cNvSpPr>
          <p:nvPr/>
        </p:nvSpPr>
        <p:spPr bwMode="auto">
          <a:xfrm>
            <a:off x="4190999" y="4724400"/>
            <a:ext cx="4343401" cy="168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sz="2400">
                <a:solidFill>
                  <a:schemeClr val="tx1"/>
                </a:solidFill>
                <a:latin typeface="Tahoma" panose="020B0604030504040204" pitchFamily="34" charset="0"/>
              </a:defRPr>
            </a:lvl1pPr>
            <a:lvl2pPr marL="914400" indent="-45720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Association rules: (many more!)</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i="1" dirty="0">
                <a:latin typeface="Times New Roman" panose="02020603050405020304" pitchFamily="18" charset="0"/>
                <a:cs typeface="Times New Roman" panose="02020603050405020304" pitchFamily="18" charset="0"/>
              </a:rPr>
              <a:t>Beer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 Diaper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(60%, 100%)</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P(B)=3/5=0.6 and P(D/B)=(3/5)/(3/5)</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i="1" dirty="0">
                <a:latin typeface="Times New Roman" panose="02020603050405020304" pitchFamily="18" charset="0"/>
                <a:cs typeface="Times New Roman" panose="02020603050405020304" pitchFamily="18" charset="0"/>
              </a:rPr>
              <a:t>Diaper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 Beer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(60%, 75%)</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3/5=0.6 and P(B/D)=(3/5)/(4/5)</a:t>
            </a:r>
          </a:p>
          <a:p>
            <a:pPr lvl="1" eaLnBrk="1" hangingPunct="1">
              <a:lnSpc>
                <a:spcPct val="80000"/>
              </a:lnSpc>
              <a:spcBef>
                <a:spcPct val="20000"/>
              </a:spcBef>
              <a:buClr>
                <a:schemeClr val="hlink"/>
              </a:buClr>
              <a:buSzPct val="55000"/>
              <a:buFont typeface="Wingdings" panose="05000000000000000000" pitchFamily="2" charset="2"/>
              <a:buChar char="n"/>
            </a:pPr>
            <a:endParaRPr lang="en-US" altLang="en-US" sz="2000" dirty="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2" name="Group 5">
            <a:extLst>
              <a:ext uri="{FF2B5EF4-FFF2-40B4-BE49-F238E27FC236}">
                <a16:creationId xmlns:a16="http://schemas.microsoft.com/office/drawing/2014/main" id="{02843E2F-2235-9659-E96C-E1274368F728}"/>
              </a:ext>
            </a:extLst>
          </p:cNvPr>
          <p:cNvGrpSpPr>
            <a:grpSpLocks/>
          </p:cNvGrpSpPr>
          <p:nvPr/>
        </p:nvGrpSpPr>
        <p:grpSpPr bwMode="auto">
          <a:xfrm>
            <a:off x="159776" y="4018756"/>
            <a:ext cx="3886200" cy="2630488"/>
            <a:chOff x="192" y="2400"/>
            <a:chExt cx="2448" cy="1657"/>
          </a:xfrm>
        </p:grpSpPr>
        <p:sp>
          <p:nvSpPr>
            <p:cNvPr id="3" name="Oval 6">
              <a:extLst>
                <a:ext uri="{FF2B5EF4-FFF2-40B4-BE49-F238E27FC236}">
                  <a16:creationId xmlns:a16="http://schemas.microsoft.com/office/drawing/2014/main" id="{08EFC22A-80C9-E3AB-0AF5-38DDD9750766}"/>
                </a:ext>
              </a:extLst>
            </p:cNvPr>
            <p:cNvSpPr>
              <a:spLocks noChangeArrowheads="1"/>
            </p:cNvSpPr>
            <p:nvPr/>
          </p:nvSpPr>
          <p:spPr bwMode="auto">
            <a:xfrm>
              <a:off x="384" y="2736"/>
              <a:ext cx="1200" cy="864"/>
            </a:xfrm>
            <a:prstGeom prst="ellipse">
              <a:avLst/>
            </a:prstGeom>
            <a:solidFill>
              <a:srgbClr val="FFFF00"/>
            </a:solidFill>
            <a:ln w="25400">
              <a:solidFill>
                <a:schemeClr val="tx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 name="Oval 7">
              <a:extLst>
                <a:ext uri="{FF2B5EF4-FFF2-40B4-BE49-F238E27FC236}">
                  <a16:creationId xmlns:a16="http://schemas.microsoft.com/office/drawing/2014/main" id="{7E8622FB-A379-FBD6-110A-A1F73F2B97C8}"/>
                </a:ext>
              </a:extLst>
            </p:cNvPr>
            <p:cNvSpPr>
              <a:spLocks noChangeArrowheads="1"/>
            </p:cNvSpPr>
            <p:nvPr/>
          </p:nvSpPr>
          <p:spPr bwMode="auto">
            <a:xfrm>
              <a:off x="1008" y="2736"/>
              <a:ext cx="1200" cy="960"/>
            </a:xfrm>
            <a:prstGeom prst="ellipse">
              <a:avLst/>
            </a:prstGeom>
            <a:solidFill>
              <a:srgbClr val="99CCFF">
                <a:alpha val="50195"/>
              </a:srgbClr>
            </a:solidFill>
            <a:ln w="25400">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 name="Line 8">
              <a:extLst>
                <a:ext uri="{FF2B5EF4-FFF2-40B4-BE49-F238E27FC236}">
                  <a16:creationId xmlns:a16="http://schemas.microsoft.com/office/drawing/2014/main" id="{36894315-3059-E2A6-0BA4-19B994FCDD99}"/>
                </a:ext>
              </a:extLst>
            </p:cNvPr>
            <p:cNvSpPr>
              <a:spLocks noChangeShapeType="1"/>
            </p:cNvSpPr>
            <p:nvPr/>
          </p:nvSpPr>
          <p:spPr bwMode="auto">
            <a:xfrm flipH="1">
              <a:off x="576" y="3168"/>
              <a:ext cx="144" cy="48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 name="Line 9">
              <a:extLst>
                <a:ext uri="{FF2B5EF4-FFF2-40B4-BE49-F238E27FC236}">
                  <a16:creationId xmlns:a16="http://schemas.microsoft.com/office/drawing/2014/main" id="{3C6950F6-9C9C-5202-53E9-B6E970504543}"/>
                </a:ext>
              </a:extLst>
            </p:cNvPr>
            <p:cNvSpPr>
              <a:spLocks noChangeShapeType="1"/>
            </p:cNvSpPr>
            <p:nvPr/>
          </p:nvSpPr>
          <p:spPr bwMode="auto">
            <a:xfrm flipV="1">
              <a:off x="2016" y="2832"/>
              <a:ext cx="144"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7" name="Line 10">
              <a:extLst>
                <a:ext uri="{FF2B5EF4-FFF2-40B4-BE49-F238E27FC236}">
                  <a16:creationId xmlns:a16="http://schemas.microsoft.com/office/drawing/2014/main" id="{29F26E6C-AD96-E85F-38D6-CC25CF73C7EE}"/>
                </a:ext>
              </a:extLst>
            </p:cNvPr>
            <p:cNvSpPr>
              <a:spLocks noChangeShapeType="1"/>
            </p:cNvSpPr>
            <p:nvPr/>
          </p:nvSpPr>
          <p:spPr bwMode="auto">
            <a:xfrm flipH="1" flipV="1">
              <a:off x="1440" y="2592"/>
              <a:ext cx="0" cy="576"/>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 name="Text Box 11">
              <a:extLst>
                <a:ext uri="{FF2B5EF4-FFF2-40B4-BE49-F238E27FC236}">
                  <a16:creationId xmlns:a16="http://schemas.microsoft.com/office/drawing/2014/main" id="{A938537E-A2F2-4EFD-9311-101C17D02D9F}"/>
                </a:ext>
              </a:extLst>
            </p:cNvPr>
            <p:cNvSpPr txBox="1">
              <a:spLocks noChangeArrowheads="1"/>
            </p:cNvSpPr>
            <p:nvPr/>
          </p:nvSpPr>
          <p:spPr bwMode="auto">
            <a:xfrm>
              <a:off x="1824" y="2448"/>
              <a:ext cx="76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hlink"/>
                  </a:solidFill>
                  <a:latin typeface="Times New Roman" panose="02020603050405020304" pitchFamily="18" charset="0"/>
                </a:rPr>
                <a:t>Customer</a:t>
              </a:r>
            </a:p>
            <a:p>
              <a:pPr>
                <a:lnSpc>
                  <a:spcPct val="110000"/>
                </a:lnSpc>
              </a:pPr>
              <a:r>
                <a:rPr lang="en-US" altLang="en-US" sz="1600" b="1">
                  <a:solidFill>
                    <a:schemeClr val="hlink"/>
                  </a:solidFill>
                  <a:latin typeface="Times New Roman" panose="02020603050405020304" pitchFamily="18" charset="0"/>
                </a:rPr>
                <a:t>buys diaper</a:t>
              </a:r>
              <a:endParaRPr lang="en-US" altLang="en-US" sz="1800" b="1" u="sng">
                <a:latin typeface="Times New Roman" panose="02020603050405020304" pitchFamily="18" charset="0"/>
              </a:endParaRPr>
            </a:p>
          </p:txBody>
        </p:sp>
        <p:sp>
          <p:nvSpPr>
            <p:cNvPr id="9" name="Text Box 12">
              <a:extLst>
                <a:ext uri="{FF2B5EF4-FFF2-40B4-BE49-F238E27FC236}">
                  <a16:creationId xmlns:a16="http://schemas.microsoft.com/office/drawing/2014/main" id="{DF5C51DE-979D-356C-A25D-A8A0F7D8B24A}"/>
                </a:ext>
              </a:extLst>
            </p:cNvPr>
            <p:cNvSpPr txBox="1">
              <a:spLocks noChangeArrowheads="1"/>
            </p:cNvSpPr>
            <p:nvPr/>
          </p:nvSpPr>
          <p:spPr bwMode="auto">
            <a:xfrm>
              <a:off x="960" y="24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rgbClr val="5FA180"/>
                  </a:solidFill>
                  <a:latin typeface="Times New Roman" panose="02020603050405020304" pitchFamily="18" charset="0"/>
                </a:rPr>
                <a:t>Customer</a:t>
              </a:r>
            </a:p>
            <a:p>
              <a:pPr>
                <a:lnSpc>
                  <a:spcPct val="110000"/>
                </a:lnSpc>
              </a:pPr>
              <a:r>
                <a:rPr lang="en-US" altLang="en-US" sz="1600" b="1">
                  <a:solidFill>
                    <a:srgbClr val="5FA180"/>
                  </a:solidFill>
                  <a:latin typeface="Times New Roman" panose="02020603050405020304" pitchFamily="18" charset="0"/>
                </a:rPr>
                <a:t>buys both</a:t>
              </a:r>
              <a:endParaRPr lang="en-US" altLang="en-US" sz="1800" b="1" u="sng">
                <a:solidFill>
                  <a:srgbClr val="5FA180"/>
                </a:solidFill>
                <a:latin typeface="Times New Roman" panose="02020603050405020304" pitchFamily="18" charset="0"/>
              </a:endParaRPr>
            </a:p>
          </p:txBody>
        </p:sp>
        <p:sp>
          <p:nvSpPr>
            <p:cNvPr id="10" name="Text Box 13">
              <a:extLst>
                <a:ext uri="{FF2B5EF4-FFF2-40B4-BE49-F238E27FC236}">
                  <a16:creationId xmlns:a16="http://schemas.microsoft.com/office/drawing/2014/main" id="{18B08AA9-7153-EF4B-F764-53733851662E}"/>
                </a:ext>
              </a:extLst>
            </p:cNvPr>
            <p:cNvSpPr txBox="1">
              <a:spLocks noChangeArrowheads="1"/>
            </p:cNvSpPr>
            <p:nvPr/>
          </p:nvSpPr>
          <p:spPr bwMode="auto">
            <a:xfrm>
              <a:off x="384" y="36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tx2"/>
                  </a:solidFill>
                  <a:latin typeface="Times New Roman" panose="02020603050405020304" pitchFamily="18" charset="0"/>
                </a:rPr>
                <a:t>Customer</a:t>
              </a:r>
            </a:p>
            <a:p>
              <a:pPr>
                <a:lnSpc>
                  <a:spcPct val="110000"/>
                </a:lnSpc>
              </a:pPr>
              <a:r>
                <a:rPr lang="en-US" altLang="en-US" sz="1600" b="1">
                  <a:solidFill>
                    <a:schemeClr val="tx2"/>
                  </a:solidFill>
                  <a:latin typeface="Times New Roman" panose="02020603050405020304" pitchFamily="18" charset="0"/>
                </a:rPr>
                <a:t>buys beer</a:t>
              </a:r>
              <a:endParaRPr lang="en-US" altLang="en-US" sz="1800" b="1" u="sng">
                <a:latin typeface="Times New Roman" panose="02020603050405020304" pitchFamily="18" charset="0"/>
              </a:endParaRPr>
            </a:p>
          </p:txBody>
        </p:sp>
        <p:sp>
          <p:nvSpPr>
            <p:cNvPr id="11" name="Rectangle 14">
              <a:extLst>
                <a:ext uri="{FF2B5EF4-FFF2-40B4-BE49-F238E27FC236}">
                  <a16:creationId xmlns:a16="http://schemas.microsoft.com/office/drawing/2014/main" id="{73B053F4-AE80-DEE1-C3DA-14AA1D5B21C7}"/>
                </a:ext>
              </a:extLst>
            </p:cNvPr>
            <p:cNvSpPr>
              <a:spLocks noChangeArrowheads="1"/>
            </p:cNvSpPr>
            <p:nvPr/>
          </p:nvSpPr>
          <p:spPr bwMode="auto">
            <a:xfrm>
              <a:off x="192" y="2400"/>
              <a:ext cx="2448" cy="165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aphicFrame>
        <p:nvGraphicFramePr>
          <p:cNvPr id="13" name="Group 44">
            <a:extLst>
              <a:ext uri="{FF2B5EF4-FFF2-40B4-BE49-F238E27FC236}">
                <a16:creationId xmlns:a16="http://schemas.microsoft.com/office/drawing/2014/main" id="{4760A0F6-6742-8A81-1585-EBE746CB92B5}"/>
              </a:ext>
            </a:extLst>
          </p:cNvPr>
          <p:cNvGraphicFramePr>
            <a:graphicFrameLocks noGrp="1"/>
          </p:cNvGraphicFramePr>
          <p:nvPr>
            <p:extLst>
              <p:ext uri="{D42A27DB-BD31-4B8C-83A1-F6EECF244321}">
                <p14:modId xmlns:p14="http://schemas.microsoft.com/office/powerpoint/2010/main" val="1031071115"/>
              </p:ext>
            </p:extLst>
          </p:nvPr>
        </p:nvGraphicFramePr>
        <p:xfrm>
          <a:off x="152401" y="800489"/>
          <a:ext cx="3886200" cy="2682024"/>
        </p:xfrm>
        <a:graphic>
          <a:graphicData uri="http://schemas.openxmlformats.org/drawingml/2006/table">
            <a:tbl>
              <a:tblPr>
                <a:tableStyleId>{616DA210-FB5B-4158-B5E0-FEB733F419BA}</a:tableStyleId>
              </a:tblPr>
              <a:tblGrid>
                <a:gridCol w="7620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rPr>
                        <a:t>Tid</a:t>
                      </a:r>
                      <a:endParaRPr kumimoji="0" lang="en-US" sz="2000" b="1" i="0"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rPr>
                        <a:t>Items bought</a:t>
                      </a:r>
                      <a:endParaRPr kumimoji="0" lang="en-US" sz="2000" b="1" i="0"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0"/>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Beer, Nuts, Diaper</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1"/>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Coffee, Diaper</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2"/>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Diaper, Eggs</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3"/>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4"/>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Coffee, Diaper,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E935E669-0718-907E-91A2-562993F3D1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7CCF2B9-D440-48B3-9257-54B3335BD431}" type="slidenum">
              <a:rPr lang="en-US" altLang="en-US" sz="1200"/>
              <a:pPr eaLnBrk="1" hangingPunct="1"/>
              <a:t>16</a:t>
            </a:fld>
            <a:endParaRPr lang="en-US" altLang="en-US" sz="1200"/>
          </a:p>
        </p:txBody>
      </p:sp>
      <p:sp>
        <p:nvSpPr>
          <p:cNvPr id="24579" name="Rectangle 2">
            <a:extLst>
              <a:ext uri="{FF2B5EF4-FFF2-40B4-BE49-F238E27FC236}">
                <a16:creationId xmlns:a16="http://schemas.microsoft.com/office/drawing/2014/main" id="{62E9896D-AD8F-77D2-EF6A-96B22B99264A}"/>
              </a:ext>
            </a:extLst>
          </p:cNvPr>
          <p:cNvSpPr>
            <a:spLocks noGrp="1" noChangeArrowheads="1"/>
          </p:cNvSpPr>
          <p:nvPr>
            <p:ph type="title"/>
          </p:nvPr>
        </p:nvSpPr>
        <p:spPr>
          <a:xfrm>
            <a:off x="0" y="381000"/>
            <a:ext cx="91440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Scalable Frequent Itemset Mining Methods</a:t>
            </a:r>
          </a:p>
        </p:txBody>
      </p:sp>
      <p:sp>
        <p:nvSpPr>
          <p:cNvPr id="24580" name="Rectangle 3">
            <a:extLst>
              <a:ext uri="{FF2B5EF4-FFF2-40B4-BE49-F238E27FC236}">
                <a16:creationId xmlns:a16="http://schemas.microsoft.com/office/drawing/2014/main" id="{FCA3E997-C679-ECE7-65D5-55C9111E0CE8}"/>
              </a:ext>
            </a:extLst>
          </p:cNvPr>
          <p:cNvSpPr>
            <a:spLocks noGrp="1" noChangeArrowheads="1"/>
          </p:cNvSpPr>
          <p:nvPr>
            <p:ph type="body" idx="1"/>
          </p:nvPr>
        </p:nvSpPr>
        <p:spPr>
          <a:xfrm>
            <a:off x="457200" y="1481329"/>
            <a:ext cx="6934200" cy="3547872"/>
          </a:xfrm>
        </p:spPr>
        <p:txBody>
          <a:bodyPr>
            <a:normAutofit/>
          </a:bodyPr>
          <a:lstStyle/>
          <a:p>
            <a:pPr eaLnBrk="1" hangingPunct="1">
              <a:lnSpc>
                <a:spcPct val="180000"/>
              </a:lnSpc>
            </a:pPr>
            <a:r>
              <a:rPr lang="en-US" altLang="en-US" sz="2000" b="1" dirty="0" err="1">
                <a:latin typeface="Times New Roman" panose="02020603050405020304" pitchFamily="18" charset="0"/>
                <a:cs typeface="Times New Roman" panose="02020603050405020304" pitchFamily="18" charset="0"/>
              </a:rPr>
              <a:t>Apriori</a:t>
            </a:r>
            <a:r>
              <a:rPr lang="en-US" altLang="en-US" sz="2000" b="1" dirty="0">
                <a:latin typeface="Times New Roman" panose="02020603050405020304" pitchFamily="18" charset="0"/>
                <a:cs typeface="Times New Roman" panose="02020603050405020304" pitchFamily="18" charset="0"/>
              </a:rPr>
              <a:t>: A Candidate Generation-and-Test Approach</a:t>
            </a:r>
          </a:p>
          <a:p>
            <a:pPr eaLnBrk="1" hangingPunct="1">
              <a:lnSpc>
                <a:spcPct val="180000"/>
              </a:lnSpc>
            </a:pPr>
            <a:r>
              <a:rPr lang="en-US" altLang="en-US" sz="2000" dirty="0">
                <a:latin typeface="Times New Roman" panose="02020603050405020304" pitchFamily="18" charset="0"/>
                <a:cs typeface="Times New Roman" panose="02020603050405020304" pitchFamily="18" charset="0"/>
              </a:rPr>
              <a:t>Improving the Efficiency of </a:t>
            </a:r>
            <a:r>
              <a:rPr lang="en-US" altLang="en-US" sz="2000" dirty="0" err="1">
                <a:latin typeface="Times New Roman" panose="02020603050405020304" pitchFamily="18" charset="0"/>
                <a:cs typeface="Times New Roman" panose="02020603050405020304" pitchFamily="18" charset="0"/>
              </a:rPr>
              <a:t>Apriori</a:t>
            </a:r>
            <a:endParaRPr lang="en-US" altLang="en-US" sz="2000" dirty="0">
              <a:latin typeface="Times New Roman" panose="02020603050405020304" pitchFamily="18" charset="0"/>
              <a:cs typeface="Times New Roman" panose="02020603050405020304" pitchFamily="18" charset="0"/>
            </a:endParaRPr>
          </a:p>
          <a:p>
            <a:pPr eaLnBrk="1" hangingPunct="1">
              <a:lnSpc>
                <a:spcPct val="180000"/>
              </a:lnSpc>
            </a:pPr>
            <a:r>
              <a:rPr lang="en-US" altLang="en-US" sz="2000" b="1" dirty="0" err="1">
                <a:latin typeface="Times New Roman" panose="02020603050405020304" pitchFamily="18" charset="0"/>
                <a:cs typeface="Times New Roman" panose="02020603050405020304" pitchFamily="18" charset="0"/>
              </a:rPr>
              <a:t>FPGrowth</a:t>
            </a:r>
            <a:r>
              <a:rPr lang="en-US" altLang="en-US" sz="2000" b="1" dirty="0">
                <a:latin typeface="Times New Roman" panose="02020603050405020304" pitchFamily="18" charset="0"/>
                <a:cs typeface="Times New Roman" panose="02020603050405020304" pitchFamily="18" charset="0"/>
              </a:rPr>
              <a:t>:  A Frequent Pattern-Growth Approach</a:t>
            </a:r>
          </a:p>
          <a:p>
            <a:pPr eaLnBrk="1" hangingPunct="1">
              <a:lnSpc>
                <a:spcPct val="180000"/>
              </a:lnSpc>
            </a:pPr>
            <a:r>
              <a:rPr lang="en-US" altLang="en-US" sz="2000" dirty="0">
                <a:latin typeface="Times New Roman" panose="02020603050405020304" pitchFamily="18" charset="0"/>
                <a:cs typeface="Times New Roman" panose="02020603050405020304" pitchFamily="18" charset="0"/>
              </a:rPr>
              <a:t>ECLAT: Frequent Pattern Mining with Vertical Data Format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9A645080-E5B8-DC7D-519F-39A70E0C357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34F2E4A-2979-4920-81DB-CC15C6E653FC}" type="slidenum">
              <a:rPr lang="en-US" altLang="en-US" sz="1200"/>
              <a:pPr eaLnBrk="1" hangingPunct="1"/>
              <a:t>17</a:t>
            </a:fld>
            <a:endParaRPr lang="en-US" altLang="en-US" sz="1200"/>
          </a:p>
        </p:txBody>
      </p:sp>
      <p:sp>
        <p:nvSpPr>
          <p:cNvPr id="26627" name="Rectangle 2">
            <a:extLst>
              <a:ext uri="{FF2B5EF4-FFF2-40B4-BE49-F238E27FC236}">
                <a16:creationId xmlns:a16="http://schemas.microsoft.com/office/drawing/2014/main" id="{3D7A23CC-7638-1749-3494-FFE13C47F7C2}"/>
              </a:ext>
            </a:extLst>
          </p:cNvPr>
          <p:cNvSpPr>
            <a:spLocks noGrp="1" noChangeArrowheads="1"/>
          </p:cNvSpPr>
          <p:nvPr>
            <p:ph type="title"/>
          </p:nvPr>
        </p:nvSpPr>
        <p:spPr>
          <a:xfrm>
            <a:off x="-152400" y="228600"/>
            <a:ext cx="9448800" cy="762000"/>
          </a:xfrm>
        </p:spPr>
        <p:txBody>
          <a:bodyPr>
            <a:noAutofit/>
          </a:bodyPr>
          <a:lstStyle/>
          <a:p>
            <a:pPr algn="ctr" eaLnBrk="1" hangingPunct="1">
              <a:tabLst>
                <a:tab pos="2570163" algn="l"/>
              </a:tabLst>
            </a:pP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 Candidate Generation &amp; Test Approach</a:t>
            </a:r>
          </a:p>
        </p:txBody>
      </p:sp>
      <p:sp>
        <p:nvSpPr>
          <p:cNvPr id="26628" name="Rectangle 3">
            <a:extLst>
              <a:ext uri="{FF2B5EF4-FFF2-40B4-BE49-F238E27FC236}">
                <a16:creationId xmlns:a16="http://schemas.microsoft.com/office/drawing/2014/main" id="{D5615C9E-F593-CDC4-4959-E9F1754F52B7}"/>
              </a:ext>
            </a:extLst>
          </p:cNvPr>
          <p:cNvSpPr>
            <a:spLocks noGrp="1" noChangeArrowheads="1"/>
          </p:cNvSpPr>
          <p:nvPr>
            <p:ph type="body" idx="1"/>
          </p:nvPr>
        </p:nvSpPr>
        <p:spPr>
          <a:xfrm>
            <a:off x="381000" y="1447800"/>
            <a:ext cx="7924800" cy="4343400"/>
          </a:xfrm>
        </p:spPr>
        <p:txBody>
          <a:bodyPr>
            <a:normAutofit/>
          </a:bodyPr>
          <a:lstStyle/>
          <a:p>
            <a:pPr eaLnBrk="1" hangingPunct="1">
              <a:lnSpc>
                <a:spcPct val="120000"/>
              </a:lnSpc>
            </a:pPr>
            <a:r>
              <a:rPr lang="en-US" altLang="en-US" sz="2000" u="sng" dirty="0" err="1">
                <a:latin typeface="Times New Roman" panose="02020603050405020304" pitchFamily="18" charset="0"/>
                <a:cs typeface="Times New Roman" panose="02020603050405020304" pitchFamily="18" charset="0"/>
              </a:rPr>
              <a:t>Apriori</a:t>
            </a:r>
            <a:r>
              <a:rPr lang="en-US" altLang="en-US" sz="2000" u="sng" dirty="0">
                <a:latin typeface="Times New Roman" panose="02020603050405020304" pitchFamily="18" charset="0"/>
                <a:cs typeface="Times New Roman" panose="02020603050405020304" pitchFamily="18" charset="0"/>
              </a:rPr>
              <a:t> pruning principle</a:t>
            </a:r>
            <a:r>
              <a:rPr lang="en-US" altLang="en-US" sz="2000" dirty="0">
                <a:latin typeface="Times New Roman" panose="02020603050405020304" pitchFamily="18" charset="0"/>
                <a:cs typeface="Times New Roman" panose="02020603050405020304" pitchFamily="18" charset="0"/>
              </a:rPr>
              <a:t>: If there is any itemset which is infrequent, its superset should not be generated/tested! (Agrawal &amp; Srikant @VLDB’94, Mannila, et al. @ KDD’ 94)</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Method: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Initially, scan DB once to get frequent 1-itemset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Generate length (k+1) candidate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from length k frequent </a:t>
            </a:r>
            <a:r>
              <a:rPr lang="en-US" altLang="en-US" sz="2000" dirty="0" err="1">
                <a:latin typeface="Times New Roman" panose="02020603050405020304" pitchFamily="18" charset="0"/>
                <a:cs typeface="Times New Roman" panose="02020603050405020304" pitchFamily="18" charset="0"/>
              </a:rPr>
              <a:t>itemsets</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Test the candidates against DB</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Terminate when no frequent or candidate set can be generated</a:t>
            </a:r>
          </a:p>
        </p:txBody>
      </p:sp>
      <p:sp>
        <p:nvSpPr>
          <p:cNvPr id="3" name="TextBox 2">
            <a:extLst>
              <a:ext uri="{FF2B5EF4-FFF2-40B4-BE49-F238E27FC236}">
                <a16:creationId xmlns:a16="http://schemas.microsoft.com/office/drawing/2014/main" id="{65532AE4-EBFC-8DF3-66E8-C326299F3082}"/>
              </a:ext>
            </a:extLst>
          </p:cNvPr>
          <p:cNvSpPr txBox="1"/>
          <p:nvPr/>
        </p:nvSpPr>
        <p:spPr>
          <a:xfrm>
            <a:off x="1143000" y="5040868"/>
            <a:ext cx="7620000" cy="369332"/>
          </a:xfrm>
          <a:prstGeom prst="rect">
            <a:avLst/>
          </a:prstGeom>
          <a:noFill/>
        </p:spPr>
        <p:txBody>
          <a:bodyPr wrap="square">
            <a:spAutoFit/>
          </a:bodyPr>
          <a:lstStyle/>
          <a:p>
            <a:r>
              <a:rPr lang="en-IN" b="1" u="none" strike="noStrike" dirty="0" err="1">
                <a:effectLst/>
                <a:latin typeface="Times New Roman" panose="02020603050405020304" pitchFamily="18" charset="0"/>
                <a:cs typeface="Times New Roman" panose="02020603050405020304" pitchFamily="18" charset="0"/>
              </a:rPr>
              <a:t>TiDB</a:t>
            </a:r>
            <a:r>
              <a:rPr lang="en-IN" dirty="0">
                <a:latin typeface="Times New Roman" panose="02020603050405020304" pitchFamily="18" charset="0"/>
                <a:cs typeface="Times New Roman" panose="02020603050405020304" pitchFamily="18" charset="0"/>
              </a:rPr>
              <a:t>: A highly scalable, open-source distributed SQL database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D114A751-D5EC-BA42-2941-6C2A815908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E048D13-E1CD-4AB1-B2A5-32CF459BEEAD}" type="slidenum">
              <a:rPr lang="en-US" altLang="en-US" sz="1200">
                <a:latin typeface="Times New Roman" panose="02020603050405020304" pitchFamily="18" charset="0"/>
                <a:cs typeface="Times New Roman" panose="02020603050405020304" pitchFamily="18" charset="0"/>
              </a:rPr>
              <a:pPr eaLnBrk="1" hangingPunct="1"/>
              <a:t>18</a:t>
            </a:fld>
            <a:endParaRPr lang="en-US" altLang="en-US" sz="1200">
              <a:latin typeface="Times New Roman" panose="02020603050405020304" pitchFamily="18" charset="0"/>
              <a:cs typeface="Times New Roman" panose="02020603050405020304" pitchFamily="18" charset="0"/>
            </a:endParaRPr>
          </a:p>
        </p:txBody>
      </p:sp>
      <p:sp>
        <p:nvSpPr>
          <p:cNvPr id="27651" name="Rectangle 2">
            <a:extLst>
              <a:ext uri="{FF2B5EF4-FFF2-40B4-BE49-F238E27FC236}">
                <a16:creationId xmlns:a16="http://schemas.microsoft.com/office/drawing/2014/main" id="{6781F87B-E0CB-9B31-7A24-5DC8EE0B79E9}"/>
              </a:ext>
            </a:extLst>
          </p:cNvPr>
          <p:cNvSpPr>
            <a:spLocks noGrp="1" noChangeArrowheads="1"/>
          </p:cNvSpPr>
          <p:nvPr>
            <p:ph type="title"/>
          </p:nvPr>
        </p:nvSpPr>
        <p:spPr>
          <a:xfrm>
            <a:off x="838200" y="304800"/>
            <a:ext cx="7793038" cy="609600"/>
          </a:xfrm>
        </p:spPr>
        <p:txBody>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The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Algorithm—An Example </a:t>
            </a:r>
          </a:p>
        </p:txBody>
      </p:sp>
      <p:sp>
        <p:nvSpPr>
          <p:cNvPr id="27652" name="Text Box 3">
            <a:extLst>
              <a:ext uri="{FF2B5EF4-FFF2-40B4-BE49-F238E27FC236}">
                <a16:creationId xmlns:a16="http://schemas.microsoft.com/office/drawing/2014/main" id="{6992D8C9-5D37-CD97-662B-671256A598FF}"/>
              </a:ext>
            </a:extLst>
          </p:cNvPr>
          <p:cNvSpPr txBox="1">
            <a:spLocks noChangeArrowheads="1"/>
          </p:cNvSpPr>
          <p:nvPr/>
        </p:nvSpPr>
        <p:spPr bwMode="auto">
          <a:xfrm>
            <a:off x="0" y="1371600"/>
            <a:ext cx="1985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Times New Roman" panose="02020603050405020304" pitchFamily="18" charset="0"/>
                <a:cs typeface="Times New Roman" panose="02020603050405020304" pitchFamily="18" charset="0"/>
              </a:rPr>
              <a:t>Database TDB</a:t>
            </a:r>
          </a:p>
        </p:txBody>
      </p:sp>
      <p:sp>
        <p:nvSpPr>
          <p:cNvPr id="27653" name="Text Box 4">
            <a:extLst>
              <a:ext uri="{FF2B5EF4-FFF2-40B4-BE49-F238E27FC236}">
                <a16:creationId xmlns:a16="http://schemas.microsoft.com/office/drawing/2014/main" id="{9B159609-B03E-26AC-DED9-2A5164AD0791}"/>
              </a:ext>
            </a:extLst>
          </p:cNvPr>
          <p:cNvSpPr txBox="1">
            <a:spLocks noChangeArrowheads="1"/>
          </p:cNvSpPr>
          <p:nvPr/>
        </p:nvSpPr>
        <p:spPr bwMode="auto">
          <a:xfrm>
            <a:off x="2176463" y="2273300"/>
            <a:ext cx="1090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1</a:t>
            </a:r>
            <a:r>
              <a:rPr lang="en-US" altLang="en-US" baseline="30000">
                <a:latin typeface="Times New Roman" panose="02020603050405020304" pitchFamily="18" charset="0"/>
                <a:cs typeface="Times New Roman" panose="02020603050405020304" pitchFamily="18" charset="0"/>
              </a:rPr>
              <a:t>st</a:t>
            </a:r>
            <a:r>
              <a:rPr lang="en-US" altLang="en-US">
                <a:latin typeface="Times New Roman" panose="02020603050405020304" pitchFamily="18" charset="0"/>
                <a:cs typeface="Times New Roman" panose="02020603050405020304" pitchFamily="18" charset="0"/>
              </a:rPr>
              <a:t> scan</a:t>
            </a:r>
          </a:p>
        </p:txBody>
      </p:sp>
      <p:sp>
        <p:nvSpPr>
          <p:cNvPr id="27654" name="Line 5">
            <a:extLst>
              <a:ext uri="{FF2B5EF4-FFF2-40B4-BE49-F238E27FC236}">
                <a16:creationId xmlns:a16="http://schemas.microsoft.com/office/drawing/2014/main" id="{23F8C87C-2CA0-B3F5-5958-77A2FD7E3646}"/>
              </a:ext>
            </a:extLst>
          </p:cNvPr>
          <p:cNvSpPr>
            <a:spLocks noChangeShapeType="1"/>
          </p:cNvSpPr>
          <p:nvPr/>
        </p:nvSpPr>
        <p:spPr bwMode="auto">
          <a:xfrm>
            <a:off x="2297113" y="2719388"/>
            <a:ext cx="831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sp>
        <p:nvSpPr>
          <p:cNvPr id="27655" name="Text Box 6">
            <a:extLst>
              <a:ext uri="{FF2B5EF4-FFF2-40B4-BE49-F238E27FC236}">
                <a16:creationId xmlns:a16="http://schemas.microsoft.com/office/drawing/2014/main" id="{66FA6378-AB0B-B7B4-475A-33BE2B118F39}"/>
              </a:ext>
            </a:extLst>
          </p:cNvPr>
          <p:cNvSpPr txBox="1">
            <a:spLocks noChangeArrowheads="1"/>
          </p:cNvSpPr>
          <p:nvPr/>
        </p:nvSpPr>
        <p:spPr bwMode="auto">
          <a:xfrm>
            <a:off x="2759075" y="17208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1</a:t>
            </a:r>
          </a:p>
        </p:txBody>
      </p:sp>
      <p:sp>
        <p:nvSpPr>
          <p:cNvPr id="27656" name="Text Box 7">
            <a:extLst>
              <a:ext uri="{FF2B5EF4-FFF2-40B4-BE49-F238E27FC236}">
                <a16:creationId xmlns:a16="http://schemas.microsoft.com/office/drawing/2014/main" id="{68C8AF81-0E9F-9BDC-A83F-2024B139030B}"/>
              </a:ext>
            </a:extLst>
          </p:cNvPr>
          <p:cNvSpPr txBox="1">
            <a:spLocks noChangeArrowheads="1"/>
          </p:cNvSpPr>
          <p:nvPr/>
        </p:nvSpPr>
        <p:spPr bwMode="auto">
          <a:xfrm>
            <a:off x="5346700" y="1563688"/>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1</a:t>
            </a:r>
          </a:p>
        </p:txBody>
      </p:sp>
      <p:sp>
        <p:nvSpPr>
          <p:cNvPr id="27657" name="Text Box 8">
            <a:extLst>
              <a:ext uri="{FF2B5EF4-FFF2-40B4-BE49-F238E27FC236}">
                <a16:creationId xmlns:a16="http://schemas.microsoft.com/office/drawing/2014/main" id="{891AA403-76F1-9298-C8D1-03F157035B3F}"/>
              </a:ext>
            </a:extLst>
          </p:cNvPr>
          <p:cNvSpPr txBox="1">
            <a:spLocks noChangeArrowheads="1"/>
          </p:cNvSpPr>
          <p:nvPr/>
        </p:nvSpPr>
        <p:spPr bwMode="auto">
          <a:xfrm>
            <a:off x="301625" y="3729038"/>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2</a:t>
            </a:r>
          </a:p>
        </p:txBody>
      </p:sp>
      <p:sp>
        <p:nvSpPr>
          <p:cNvPr id="27658" name="Text Box 9">
            <a:extLst>
              <a:ext uri="{FF2B5EF4-FFF2-40B4-BE49-F238E27FC236}">
                <a16:creationId xmlns:a16="http://schemas.microsoft.com/office/drawing/2014/main" id="{40F4FA2B-9AA2-DEA5-E80D-7BB3E0B69A04}"/>
              </a:ext>
            </a:extLst>
          </p:cNvPr>
          <p:cNvSpPr txBox="1">
            <a:spLocks noChangeArrowheads="1"/>
          </p:cNvSpPr>
          <p:nvPr/>
        </p:nvSpPr>
        <p:spPr bwMode="auto">
          <a:xfrm>
            <a:off x="2728913" y="33321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2</a:t>
            </a:r>
          </a:p>
        </p:txBody>
      </p:sp>
      <p:sp>
        <p:nvSpPr>
          <p:cNvPr id="27659" name="Text Box 10">
            <a:extLst>
              <a:ext uri="{FF2B5EF4-FFF2-40B4-BE49-F238E27FC236}">
                <a16:creationId xmlns:a16="http://schemas.microsoft.com/office/drawing/2014/main" id="{A1DD4A57-071E-B69B-0B2C-061F2D8923F3}"/>
              </a:ext>
            </a:extLst>
          </p:cNvPr>
          <p:cNvSpPr txBox="1">
            <a:spLocks noChangeArrowheads="1"/>
          </p:cNvSpPr>
          <p:nvPr/>
        </p:nvSpPr>
        <p:spPr bwMode="auto">
          <a:xfrm>
            <a:off x="6016625" y="33829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2</a:t>
            </a:r>
          </a:p>
        </p:txBody>
      </p:sp>
      <p:sp>
        <p:nvSpPr>
          <p:cNvPr id="27660" name="Line 11">
            <a:extLst>
              <a:ext uri="{FF2B5EF4-FFF2-40B4-BE49-F238E27FC236}">
                <a16:creationId xmlns:a16="http://schemas.microsoft.com/office/drawing/2014/main" id="{12A3090C-F8D7-6C38-2B34-8D73E8E4303C}"/>
              </a:ext>
            </a:extLst>
          </p:cNvPr>
          <p:cNvSpPr>
            <a:spLocks noChangeShapeType="1"/>
          </p:cNvSpPr>
          <p:nvPr/>
        </p:nvSpPr>
        <p:spPr bwMode="auto">
          <a:xfrm flipH="1">
            <a:off x="5127625" y="4252913"/>
            <a:ext cx="11207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IN">
              <a:latin typeface="Times New Roman" panose="02020603050405020304" pitchFamily="18" charset="0"/>
              <a:cs typeface="Times New Roman" panose="02020603050405020304" pitchFamily="18" charset="0"/>
            </a:endParaRPr>
          </a:p>
        </p:txBody>
      </p:sp>
      <p:sp>
        <p:nvSpPr>
          <p:cNvPr id="27661" name="Text Box 12">
            <a:extLst>
              <a:ext uri="{FF2B5EF4-FFF2-40B4-BE49-F238E27FC236}">
                <a16:creationId xmlns:a16="http://schemas.microsoft.com/office/drawing/2014/main" id="{E5BE4F4E-1714-F207-4797-961F6CB1A05C}"/>
              </a:ext>
            </a:extLst>
          </p:cNvPr>
          <p:cNvSpPr txBox="1">
            <a:spLocks noChangeArrowheads="1"/>
          </p:cNvSpPr>
          <p:nvPr/>
        </p:nvSpPr>
        <p:spPr bwMode="auto">
          <a:xfrm>
            <a:off x="5108575" y="3751263"/>
            <a:ext cx="1157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2</a:t>
            </a:r>
            <a:r>
              <a:rPr lang="en-US" altLang="en-US" baseline="30000">
                <a:latin typeface="Times New Roman" panose="02020603050405020304" pitchFamily="18" charset="0"/>
                <a:cs typeface="Times New Roman" panose="02020603050405020304" pitchFamily="18" charset="0"/>
              </a:rPr>
              <a:t>nd</a:t>
            </a:r>
            <a:r>
              <a:rPr lang="en-US" altLang="en-US">
                <a:latin typeface="Times New Roman" panose="02020603050405020304" pitchFamily="18" charset="0"/>
                <a:cs typeface="Times New Roman" panose="02020603050405020304" pitchFamily="18" charset="0"/>
              </a:rPr>
              <a:t> scan</a:t>
            </a:r>
          </a:p>
        </p:txBody>
      </p:sp>
      <p:sp>
        <p:nvSpPr>
          <p:cNvPr id="27662" name="AutoShape 13">
            <a:extLst>
              <a:ext uri="{FF2B5EF4-FFF2-40B4-BE49-F238E27FC236}">
                <a16:creationId xmlns:a16="http://schemas.microsoft.com/office/drawing/2014/main" id="{9EF1E8C3-85B8-1469-48B2-A5588BE455EB}"/>
              </a:ext>
            </a:extLst>
          </p:cNvPr>
          <p:cNvSpPr>
            <a:spLocks noChangeArrowheads="1"/>
          </p:cNvSpPr>
          <p:nvPr/>
        </p:nvSpPr>
        <p:spPr bwMode="auto">
          <a:xfrm>
            <a:off x="7861300" y="3267224"/>
            <a:ext cx="627063" cy="461665"/>
          </a:xfrm>
          <a:prstGeom prst="curvedLeftArrow">
            <a:avLst>
              <a:gd name="adj1" fmla="val 27291"/>
              <a:gd name="adj2" fmla="val 54582"/>
              <a:gd name="adj3" fmla="val 33333"/>
            </a:avLst>
          </a:prstGeom>
          <a:solidFill>
            <a:srgbClr val="FFFFFF"/>
          </a:solidFill>
          <a:ln w="9525">
            <a:solidFill>
              <a:srgbClr val="000000"/>
            </a:solidFill>
            <a:miter lim="800000"/>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7663" name="Line 14">
            <a:extLst>
              <a:ext uri="{FF2B5EF4-FFF2-40B4-BE49-F238E27FC236}">
                <a16:creationId xmlns:a16="http://schemas.microsoft.com/office/drawing/2014/main" id="{8232F782-C74B-622B-0754-0975A84BF824}"/>
              </a:ext>
            </a:extLst>
          </p:cNvPr>
          <p:cNvSpPr>
            <a:spLocks noChangeShapeType="1"/>
          </p:cNvSpPr>
          <p:nvPr/>
        </p:nvSpPr>
        <p:spPr bwMode="auto">
          <a:xfrm>
            <a:off x="2535238" y="6299200"/>
            <a:ext cx="1692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IN">
              <a:latin typeface="Times New Roman" panose="02020603050405020304" pitchFamily="18" charset="0"/>
              <a:cs typeface="Times New Roman" panose="02020603050405020304" pitchFamily="18" charset="0"/>
            </a:endParaRPr>
          </a:p>
        </p:txBody>
      </p:sp>
      <p:sp>
        <p:nvSpPr>
          <p:cNvPr id="27664" name="Text Box 15">
            <a:extLst>
              <a:ext uri="{FF2B5EF4-FFF2-40B4-BE49-F238E27FC236}">
                <a16:creationId xmlns:a16="http://schemas.microsoft.com/office/drawing/2014/main" id="{5D5FCA44-2228-DFAC-9372-690AF6B1946E}"/>
              </a:ext>
            </a:extLst>
          </p:cNvPr>
          <p:cNvSpPr txBox="1">
            <a:spLocks noChangeArrowheads="1"/>
          </p:cNvSpPr>
          <p:nvPr/>
        </p:nvSpPr>
        <p:spPr bwMode="auto">
          <a:xfrm>
            <a:off x="698500" y="58023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3</a:t>
            </a:r>
          </a:p>
        </p:txBody>
      </p:sp>
      <p:sp>
        <p:nvSpPr>
          <p:cNvPr id="27665" name="Text Box 16">
            <a:extLst>
              <a:ext uri="{FF2B5EF4-FFF2-40B4-BE49-F238E27FC236}">
                <a16:creationId xmlns:a16="http://schemas.microsoft.com/office/drawing/2014/main" id="{F96CD94F-D215-A127-BC8D-F51DDA3417D6}"/>
              </a:ext>
            </a:extLst>
          </p:cNvPr>
          <p:cNvSpPr txBox="1">
            <a:spLocks noChangeArrowheads="1"/>
          </p:cNvSpPr>
          <p:nvPr/>
        </p:nvSpPr>
        <p:spPr bwMode="auto">
          <a:xfrm>
            <a:off x="4114800" y="57912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3</a:t>
            </a:r>
          </a:p>
        </p:txBody>
      </p:sp>
      <p:sp>
        <p:nvSpPr>
          <p:cNvPr id="27666" name="Text Box 17">
            <a:extLst>
              <a:ext uri="{FF2B5EF4-FFF2-40B4-BE49-F238E27FC236}">
                <a16:creationId xmlns:a16="http://schemas.microsoft.com/office/drawing/2014/main" id="{32178C04-0EFF-5AD6-6FA0-24B20067BDA1}"/>
              </a:ext>
            </a:extLst>
          </p:cNvPr>
          <p:cNvSpPr txBox="1">
            <a:spLocks noChangeArrowheads="1"/>
          </p:cNvSpPr>
          <p:nvPr/>
        </p:nvSpPr>
        <p:spPr bwMode="auto">
          <a:xfrm>
            <a:off x="2708275" y="5881688"/>
            <a:ext cx="112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3</a:t>
            </a:r>
            <a:r>
              <a:rPr lang="en-US" altLang="en-US" baseline="30000">
                <a:latin typeface="Times New Roman" panose="02020603050405020304" pitchFamily="18" charset="0"/>
                <a:cs typeface="Times New Roman" panose="02020603050405020304" pitchFamily="18" charset="0"/>
              </a:rPr>
              <a:t>rd</a:t>
            </a:r>
            <a:r>
              <a:rPr lang="en-US" altLang="en-US">
                <a:latin typeface="Times New Roman" panose="02020603050405020304" pitchFamily="18" charset="0"/>
                <a:cs typeface="Times New Roman" panose="02020603050405020304" pitchFamily="18" charset="0"/>
              </a:rPr>
              <a:t> scan</a:t>
            </a:r>
          </a:p>
        </p:txBody>
      </p:sp>
      <p:sp>
        <p:nvSpPr>
          <p:cNvPr id="27667" name="AutoShape 18">
            <a:extLst>
              <a:ext uri="{FF2B5EF4-FFF2-40B4-BE49-F238E27FC236}">
                <a16:creationId xmlns:a16="http://schemas.microsoft.com/office/drawing/2014/main" id="{0CE41271-E0B9-208D-3DBF-9E53C9DB9398}"/>
              </a:ext>
            </a:extLst>
          </p:cNvPr>
          <p:cNvSpPr>
            <a:spLocks noChangeArrowheads="1"/>
          </p:cNvSpPr>
          <p:nvPr/>
        </p:nvSpPr>
        <p:spPr bwMode="auto">
          <a:xfrm>
            <a:off x="201613" y="5240486"/>
            <a:ext cx="184731" cy="461665"/>
          </a:xfrm>
          <a:prstGeom prst="curvedRightArrow">
            <a:avLst>
              <a:gd name="adj1" fmla="val 56619"/>
              <a:gd name="adj2" fmla="val 113237"/>
              <a:gd name="adj3" fmla="val 33333"/>
            </a:avLst>
          </a:prstGeom>
          <a:solidFill>
            <a:srgbClr val="FFFFFF"/>
          </a:solidFill>
          <a:ln w="9525">
            <a:solidFill>
              <a:srgbClr val="000000"/>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7668" name="Line 19">
            <a:extLst>
              <a:ext uri="{FF2B5EF4-FFF2-40B4-BE49-F238E27FC236}">
                <a16:creationId xmlns:a16="http://schemas.microsoft.com/office/drawing/2014/main" id="{80DFD54F-75D7-2983-EADA-58BE3E11EBC7}"/>
              </a:ext>
            </a:extLst>
          </p:cNvPr>
          <p:cNvSpPr>
            <a:spLocks noChangeShapeType="1"/>
          </p:cNvSpPr>
          <p:nvPr/>
        </p:nvSpPr>
        <p:spPr bwMode="auto">
          <a:xfrm>
            <a:off x="5334000" y="2438400"/>
            <a:ext cx="5270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sp>
        <p:nvSpPr>
          <p:cNvPr id="27669" name="Line 20">
            <a:extLst>
              <a:ext uri="{FF2B5EF4-FFF2-40B4-BE49-F238E27FC236}">
                <a16:creationId xmlns:a16="http://schemas.microsoft.com/office/drawing/2014/main" id="{9859F5DD-A0C8-BB98-7CB5-CC51AABC1A01}"/>
              </a:ext>
            </a:extLst>
          </p:cNvPr>
          <p:cNvSpPr>
            <a:spLocks noChangeShapeType="1"/>
          </p:cNvSpPr>
          <p:nvPr/>
        </p:nvSpPr>
        <p:spPr bwMode="auto">
          <a:xfrm flipH="1">
            <a:off x="2667000" y="4648200"/>
            <a:ext cx="381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graphicFrame>
        <p:nvGraphicFramePr>
          <p:cNvPr id="1532949" name="Group 21">
            <a:extLst>
              <a:ext uri="{FF2B5EF4-FFF2-40B4-BE49-F238E27FC236}">
                <a16:creationId xmlns:a16="http://schemas.microsoft.com/office/drawing/2014/main" id="{6C4DAAE5-EC8E-393B-3FDB-70750EF30AB2}"/>
              </a:ext>
            </a:extLst>
          </p:cNvPr>
          <p:cNvGraphicFramePr>
            <a:graphicFrameLocks noGrp="1"/>
          </p:cNvGraphicFramePr>
          <p:nvPr>
            <p:extLst>
              <p:ext uri="{D42A27DB-BD31-4B8C-83A1-F6EECF244321}">
                <p14:modId xmlns:p14="http://schemas.microsoft.com/office/powerpoint/2010/main" val="2628408579"/>
              </p:ext>
            </p:extLst>
          </p:nvPr>
        </p:nvGraphicFramePr>
        <p:xfrm>
          <a:off x="152400" y="1828800"/>
          <a:ext cx="1905000" cy="1554270"/>
        </p:xfrm>
        <a:graphic>
          <a:graphicData uri="http://schemas.openxmlformats.org/drawingml/2006/table">
            <a:tbl>
              <a:tblPr/>
              <a:tblGrid>
                <a:gridCol w="685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Tid</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 D</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 C,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2969" name="Group 41">
            <a:extLst>
              <a:ext uri="{FF2B5EF4-FFF2-40B4-BE49-F238E27FC236}">
                <a16:creationId xmlns:a16="http://schemas.microsoft.com/office/drawing/2014/main" id="{0A4992F3-0EBA-041B-C279-7C8403E38AB9}"/>
              </a:ext>
            </a:extLst>
          </p:cNvPr>
          <p:cNvGraphicFramePr>
            <a:graphicFrameLocks noGrp="1"/>
          </p:cNvGraphicFramePr>
          <p:nvPr>
            <p:extLst>
              <p:ext uri="{D42A27DB-BD31-4B8C-83A1-F6EECF244321}">
                <p14:modId xmlns:p14="http://schemas.microsoft.com/office/powerpoint/2010/main" val="1116405142"/>
              </p:ext>
            </p:extLst>
          </p:nvPr>
        </p:nvGraphicFramePr>
        <p:xfrm>
          <a:off x="3429000" y="1219200"/>
          <a:ext cx="1752600" cy="1865328"/>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{D}</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4"/>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532992" name="Group 64">
            <a:extLst>
              <a:ext uri="{FF2B5EF4-FFF2-40B4-BE49-F238E27FC236}">
                <a16:creationId xmlns:a16="http://schemas.microsoft.com/office/drawing/2014/main" id="{A10DBF23-89E9-CE99-34BA-65CFAC434700}"/>
              </a:ext>
            </a:extLst>
          </p:cNvPr>
          <p:cNvGraphicFramePr>
            <a:graphicFrameLocks noGrp="1"/>
          </p:cNvGraphicFramePr>
          <p:nvPr>
            <p:extLst>
              <p:ext uri="{D42A27DB-BD31-4B8C-83A1-F6EECF244321}">
                <p14:modId xmlns:p14="http://schemas.microsoft.com/office/powerpoint/2010/main" val="533534854"/>
              </p:ext>
            </p:extLst>
          </p:nvPr>
        </p:nvGraphicFramePr>
        <p:xfrm>
          <a:off x="5943600" y="1371600"/>
          <a:ext cx="1752600" cy="155427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12" name="Group 84">
            <a:extLst>
              <a:ext uri="{FF2B5EF4-FFF2-40B4-BE49-F238E27FC236}">
                <a16:creationId xmlns:a16="http://schemas.microsoft.com/office/drawing/2014/main" id="{25028DCD-C9F3-4691-EF4A-535F627F64F7}"/>
              </a:ext>
            </a:extLst>
          </p:cNvPr>
          <p:cNvGraphicFramePr>
            <a:graphicFrameLocks noGrp="1"/>
          </p:cNvGraphicFramePr>
          <p:nvPr>
            <p:extLst>
              <p:ext uri="{D42A27DB-BD31-4B8C-83A1-F6EECF244321}">
                <p14:modId xmlns:p14="http://schemas.microsoft.com/office/powerpoint/2010/main" val="2463673612"/>
              </p:ext>
            </p:extLst>
          </p:nvPr>
        </p:nvGraphicFramePr>
        <p:xfrm>
          <a:off x="6553200" y="3581400"/>
          <a:ext cx="1143000" cy="2176461"/>
        </p:xfrm>
        <a:graphic>
          <a:graphicData uri="http://schemas.openxmlformats.org/drawingml/2006/table">
            <a:tbl>
              <a:tblPr/>
              <a:tblGrid>
                <a:gridCol w="1143000">
                  <a:extLst>
                    <a:ext uri="{9D8B030D-6E8A-4147-A177-3AD203B41FA5}">
                      <a16:colId xmlns:a16="http://schemas.microsoft.com/office/drawing/2014/main" val="20000"/>
                    </a:ext>
                  </a:extLst>
                </a:gridCol>
              </a:tblGrid>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30" name="Group 102">
            <a:extLst>
              <a:ext uri="{FF2B5EF4-FFF2-40B4-BE49-F238E27FC236}">
                <a16:creationId xmlns:a16="http://schemas.microsoft.com/office/drawing/2014/main" id="{8BE4B78C-A2F2-48F1-AAEA-04E08592B0A7}"/>
              </a:ext>
            </a:extLst>
          </p:cNvPr>
          <p:cNvGraphicFramePr>
            <a:graphicFrameLocks noGrp="1"/>
          </p:cNvGraphicFramePr>
          <p:nvPr>
            <p:extLst>
              <p:ext uri="{D42A27DB-BD31-4B8C-83A1-F6EECF244321}">
                <p14:modId xmlns:p14="http://schemas.microsoft.com/office/powerpoint/2010/main" val="3191956719"/>
              </p:ext>
            </p:extLst>
          </p:nvPr>
        </p:nvGraphicFramePr>
        <p:xfrm>
          <a:off x="3200400" y="3429000"/>
          <a:ext cx="1752600" cy="2005192"/>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56" name="Group 128">
            <a:extLst>
              <a:ext uri="{FF2B5EF4-FFF2-40B4-BE49-F238E27FC236}">
                <a16:creationId xmlns:a16="http://schemas.microsoft.com/office/drawing/2014/main" id="{8787D792-02A8-5914-ACC3-07B81B1B6CA7}"/>
              </a:ext>
            </a:extLst>
          </p:cNvPr>
          <p:cNvGraphicFramePr>
            <a:graphicFrameLocks noGrp="1"/>
          </p:cNvGraphicFramePr>
          <p:nvPr>
            <p:extLst>
              <p:ext uri="{D42A27DB-BD31-4B8C-83A1-F6EECF244321}">
                <p14:modId xmlns:p14="http://schemas.microsoft.com/office/powerpoint/2010/main" val="898072992"/>
              </p:ext>
            </p:extLst>
          </p:nvPr>
        </p:nvGraphicFramePr>
        <p:xfrm>
          <a:off x="762000" y="3862388"/>
          <a:ext cx="1752600" cy="143213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76" name="Group 148">
            <a:extLst>
              <a:ext uri="{FF2B5EF4-FFF2-40B4-BE49-F238E27FC236}">
                <a16:creationId xmlns:a16="http://schemas.microsoft.com/office/drawing/2014/main" id="{17033C63-F27A-5910-2A89-C16DB5082EEC}"/>
              </a:ext>
            </a:extLst>
          </p:cNvPr>
          <p:cNvGraphicFramePr>
            <a:graphicFrameLocks noGrp="1"/>
          </p:cNvGraphicFramePr>
          <p:nvPr>
            <p:extLst>
              <p:ext uri="{D42A27DB-BD31-4B8C-83A1-F6EECF244321}">
                <p14:modId xmlns:p14="http://schemas.microsoft.com/office/powerpoint/2010/main" val="3253974482"/>
              </p:ext>
            </p:extLst>
          </p:nvPr>
        </p:nvGraphicFramePr>
        <p:xfrm>
          <a:off x="1143000" y="5867400"/>
          <a:ext cx="1143000" cy="658813"/>
        </p:xfrm>
        <a:graphic>
          <a:graphicData uri="http://schemas.openxmlformats.org/drawingml/2006/table">
            <a:tbl>
              <a:tblPr/>
              <a:tblGrid>
                <a:gridCol w="1143000">
                  <a:extLst>
                    <a:ext uri="{9D8B030D-6E8A-4147-A177-3AD203B41FA5}">
                      <a16:colId xmlns:a16="http://schemas.microsoft.com/office/drawing/2014/main" val="20000"/>
                    </a:ext>
                  </a:extLst>
                </a:gridCol>
              </a:tblGrid>
              <a:tr h="31101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47797">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33084" name="Group 156">
            <a:extLst>
              <a:ext uri="{FF2B5EF4-FFF2-40B4-BE49-F238E27FC236}">
                <a16:creationId xmlns:a16="http://schemas.microsoft.com/office/drawing/2014/main" id="{FFF9CBE8-C1F0-EEE9-FC54-86DA02E742C3}"/>
              </a:ext>
            </a:extLst>
          </p:cNvPr>
          <p:cNvGraphicFramePr>
            <a:graphicFrameLocks noGrp="1"/>
          </p:cNvGraphicFramePr>
          <p:nvPr>
            <p:extLst>
              <p:ext uri="{D42A27DB-BD31-4B8C-83A1-F6EECF244321}">
                <p14:modId xmlns:p14="http://schemas.microsoft.com/office/powerpoint/2010/main" val="77701412"/>
              </p:ext>
            </p:extLst>
          </p:nvPr>
        </p:nvGraphicFramePr>
        <p:xfrm>
          <a:off x="4572000" y="5867400"/>
          <a:ext cx="1752600" cy="619126"/>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816" name="Text Box 167">
            <a:extLst>
              <a:ext uri="{FF2B5EF4-FFF2-40B4-BE49-F238E27FC236}">
                <a16:creationId xmlns:a16="http://schemas.microsoft.com/office/drawing/2014/main" id="{54ECA23A-5B0B-C50F-8B93-6F45FCB4D64C}"/>
              </a:ext>
            </a:extLst>
          </p:cNvPr>
          <p:cNvSpPr txBox="1">
            <a:spLocks noChangeArrowheads="1"/>
          </p:cNvSpPr>
          <p:nvPr/>
        </p:nvSpPr>
        <p:spPr bwMode="auto">
          <a:xfrm>
            <a:off x="1828800" y="1143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a:latin typeface="Times New Roman" panose="02020603050405020304" pitchFamily="18" charset="0"/>
                <a:cs typeface="Times New Roman" panose="02020603050405020304" pitchFamily="18" charset="0"/>
              </a:rPr>
              <a:t>Sup</a:t>
            </a:r>
            <a:r>
              <a:rPr lang="en-US" altLang="en-US" baseline="-25000">
                <a:latin typeface="Times New Roman" panose="02020603050405020304" pitchFamily="18" charset="0"/>
                <a:cs typeface="Times New Roman" panose="02020603050405020304" pitchFamily="18" charset="0"/>
              </a:rPr>
              <a:t>min</a:t>
            </a:r>
            <a:r>
              <a:rPr lang="en-US" altLang="en-US">
                <a:latin typeface="Times New Roman" panose="02020603050405020304" pitchFamily="18" charset="0"/>
                <a:cs typeface="Times New Roman" panose="02020603050405020304" pitchFamily="18" charset="0"/>
              </a:rPr>
              <a:t> =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96FBED1F-59C5-7131-1C7E-EDD2D84854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908C3A9-07B4-433F-9A44-1F60B900EB07}" type="slidenum">
              <a:rPr lang="en-US" altLang="en-US" sz="1200"/>
              <a:pPr eaLnBrk="1" hangingPunct="1"/>
              <a:t>19</a:t>
            </a:fld>
            <a:endParaRPr lang="en-US" altLang="en-US" sz="1200"/>
          </a:p>
        </p:txBody>
      </p:sp>
      <p:sp>
        <p:nvSpPr>
          <p:cNvPr id="28675" name="Rectangle 2">
            <a:extLst>
              <a:ext uri="{FF2B5EF4-FFF2-40B4-BE49-F238E27FC236}">
                <a16:creationId xmlns:a16="http://schemas.microsoft.com/office/drawing/2014/main" id="{771EB3D5-ECD0-FE7F-7401-01AD81E01F46}"/>
              </a:ext>
            </a:extLst>
          </p:cNvPr>
          <p:cNvSpPr>
            <a:spLocks noGrp="1" noChangeArrowheads="1"/>
          </p:cNvSpPr>
          <p:nvPr>
            <p:ph type="title"/>
          </p:nvPr>
        </p:nvSpPr>
        <p:spPr>
          <a:xfrm>
            <a:off x="762000" y="304800"/>
            <a:ext cx="75438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The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Algorithm (Pseudo-Code</a:t>
            </a:r>
            <a:r>
              <a:rPr lang="en-US" altLang="en-US" sz="3200" u="sng" dirty="0">
                <a:solidFill>
                  <a:srgbClr val="002060"/>
                </a:solidFill>
                <a:effectLst/>
                <a:latin typeface="Times New Roman" panose="02020603050405020304" pitchFamily="18" charset="0"/>
                <a:cs typeface="Times New Roman" panose="02020603050405020304" pitchFamily="18" charset="0"/>
              </a:rPr>
              <a:t>)</a:t>
            </a:r>
          </a:p>
        </p:txBody>
      </p:sp>
      <p:sp>
        <p:nvSpPr>
          <p:cNvPr id="28676" name="Rectangle 3">
            <a:extLst>
              <a:ext uri="{FF2B5EF4-FFF2-40B4-BE49-F238E27FC236}">
                <a16:creationId xmlns:a16="http://schemas.microsoft.com/office/drawing/2014/main" id="{FD4EAFC6-6DD7-BC15-6DF3-250A753A29DB}"/>
              </a:ext>
            </a:extLst>
          </p:cNvPr>
          <p:cNvSpPr>
            <a:spLocks noGrp="1" noChangeArrowheads="1"/>
          </p:cNvSpPr>
          <p:nvPr>
            <p:ph type="body" idx="1"/>
          </p:nvPr>
        </p:nvSpPr>
        <p:spPr>
          <a:xfrm>
            <a:off x="685800" y="1447800"/>
            <a:ext cx="7620000" cy="4114800"/>
          </a:xfrm>
        </p:spPr>
        <p:txBody>
          <a:bodyPr>
            <a:normAutofit/>
          </a:bodyPr>
          <a:lstStyle/>
          <a:p>
            <a:pPr eaLnBrk="1" hangingPunct="1">
              <a:lnSpc>
                <a:spcPct val="110000"/>
              </a:lnSpc>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Candidate itemset of size k</a:t>
            </a:r>
          </a:p>
          <a:p>
            <a:pPr eaLnBrk="1" hangingPunct="1">
              <a:lnSpc>
                <a:spcPct val="110000"/>
              </a:lnSpc>
              <a:spcBef>
                <a:spcPct val="0"/>
              </a:spcBef>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 frequent itemset of size k</a:t>
            </a:r>
          </a:p>
          <a:p>
            <a:pPr eaLnBrk="1" hangingPunct="1">
              <a:lnSpc>
                <a:spcPct val="110000"/>
              </a:lnSpc>
              <a:spcBef>
                <a:spcPct val="0"/>
              </a:spcBef>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 {frequent items};</a:t>
            </a:r>
          </a:p>
          <a:p>
            <a:pPr eaLnBrk="1" hangingPunct="1">
              <a:lnSpc>
                <a:spcPct val="110000"/>
              </a:lnSpc>
              <a:spcBef>
                <a:spcPct val="0"/>
              </a:spcBef>
              <a:buFont typeface="Wingdings" panose="05000000000000000000" pitchFamily="2" charset="2"/>
              <a:buNone/>
            </a:pPr>
            <a:r>
              <a:rPr lang="en-US" altLang="en-US" sz="2000" b="1" dirty="0">
                <a:solidFill>
                  <a:srgbClr val="F83F24"/>
                </a:solidFill>
                <a:latin typeface="Times New Roman" panose="02020603050405020304" pitchFamily="18" charset="0"/>
                <a:cs typeface="Times New Roman" panose="02020603050405020304" pitchFamily="18" charset="0"/>
              </a:rPr>
              <a:t>for</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t>
            </a:r>
            <a:r>
              <a:rPr lang="en-US" altLang="en-US" sz="2000" i="1"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 1;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do begin</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 candidates generated from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for each</a:t>
            </a:r>
            <a:r>
              <a:rPr lang="en-US" altLang="en-US" sz="2000" dirty="0">
                <a:latin typeface="Times New Roman" panose="02020603050405020304" pitchFamily="18" charset="0"/>
                <a:cs typeface="Times New Roman" panose="02020603050405020304" pitchFamily="18" charset="0"/>
              </a:rPr>
              <a:t> transaction </a:t>
            </a:r>
            <a:r>
              <a:rPr lang="en-US" altLang="en-US" sz="2000" i="1" dirty="0">
                <a:latin typeface="Times New Roman" panose="02020603050405020304" pitchFamily="18" charset="0"/>
                <a:cs typeface="Times New Roman" panose="02020603050405020304" pitchFamily="18" charset="0"/>
              </a:rPr>
              <a:t>t</a:t>
            </a:r>
            <a:r>
              <a:rPr lang="en-US" altLang="en-US" sz="2000" dirty="0">
                <a:latin typeface="Times New Roman" panose="02020603050405020304" pitchFamily="18" charset="0"/>
                <a:cs typeface="Times New Roman" panose="02020603050405020304" pitchFamily="18" charset="0"/>
              </a:rPr>
              <a:t> in database do</a:t>
            </a:r>
          </a:p>
          <a:p>
            <a:pPr lvl="1"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increment the count of all candidates in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that are contained in </a:t>
            </a:r>
            <a:r>
              <a:rPr lang="en-US" altLang="en-US" sz="2000" i="1" dirty="0">
                <a:latin typeface="Times New Roman" panose="02020603050405020304" pitchFamily="18" charset="0"/>
                <a:cs typeface="Times New Roman" panose="02020603050405020304" pitchFamily="18" charset="0"/>
              </a:rPr>
              <a:t>t</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 candidates in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with </a:t>
            </a:r>
            <a:r>
              <a:rPr lang="en-US" altLang="en-US" sz="2000" dirty="0" err="1">
                <a:latin typeface="Times New Roman" panose="02020603050405020304" pitchFamily="18" charset="0"/>
                <a:cs typeface="Times New Roman" panose="02020603050405020304" pitchFamily="18" charset="0"/>
              </a:rPr>
              <a:t>min_support</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 end</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b="1" dirty="0">
                <a:solidFill>
                  <a:srgbClr val="F83F24"/>
                </a:solidFill>
                <a:latin typeface="Times New Roman" panose="02020603050405020304" pitchFamily="18" charset="0"/>
                <a:cs typeface="Times New Roman" panose="02020603050405020304" pitchFamily="18" charset="0"/>
              </a:rPr>
              <a:t>return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5D4EC39-BF62-694A-EE46-3C80EAEFF2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BA5A4CD-EED8-48A4-8072-3C680D3A8969}" type="slidenum">
              <a:rPr lang="en-US" altLang="en-US" sz="1200"/>
              <a:pPr eaLnBrk="1" hangingPunct="1"/>
              <a:t>20</a:t>
            </a:fld>
            <a:endParaRPr lang="en-US" altLang="en-US" sz="1200"/>
          </a:p>
        </p:txBody>
      </p:sp>
      <p:sp>
        <p:nvSpPr>
          <p:cNvPr id="29699" name="Rectangle 2">
            <a:extLst>
              <a:ext uri="{FF2B5EF4-FFF2-40B4-BE49-F238E27FC236}">
                <a16:creationId xmlns:a16="http://schemas.microsoft.com/office/drawing/2014/main" id="{5A0A92B9-A067-5655-52D8-2EE4CCAAA8EF}"/>
              </a:ext>
            </a:extLst>
          </p:cNvPr>
          <p:cNvSpPr>
            <a:spLocks noGrp="1" noChangeArrowheads="1"/>
          </p:cNvSpPr>
          <p:nvPr>
            <p:ph type="title"/>
          </p:nvPr>
        </p:nvSpPr>
        <p:spPr>
          <a:xfrm>
            <a:off x="457200" y="274638"/>
            <a:ext cx="8229600" cy="639762"/>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Implementation of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endParaRPr lang="en-US" altLang="en-US" sz="3200" dirty="0">
              <a:solidFill>
                <a:srgbClr val="002060"/>
              </a:solidFill>
              <a:effectLst/>
              <a:latin typeface="Times New Roman" panose="02020603050405020304" pitchFamily="18" charset="0"/>
              <a:cs typeface="Times New Roman" panose="02020603050405020304" pitchFamily="18" charset="0"/>
            </a:endParaRPr>
          </a:p>
        </p:txBody>
      </p:sp>
      <p:sp>
        <p:nvSpPr>
          <p:cNvPr id="29700" name="Rectangle 3">
            <a:extLst>
              <a:ext uri="{FF2B5EF4-FFF2-40B4-BE49-F238E27FC236}">
                <a16:creationId xmlns:a16="http://schemas.microsoft.com/office/drawing/2014/main" id="{A503E84C-B267-A8E8-AD3E-E67B821C4576}"/>
              </a:ext>
            </a:extLst>
          </p:cNvPr>
          <p:cNvSpPr>
            <a:spLocks noGrp="1" noChangeArrowheads="1"/>
          </p:cNvSpPr>
          <p:nvPr>
            <p:ph type="body" idx="1"/>
          </p:nvPr>
        </p:nvSpPr>
        <p:spPr>
          <a:xfrm>
            <a:off x="381000" y="1447800"/>
            <a:ext cx="8382000" cy="50292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How to generate candidates?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Step 1: self-joining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Step 2: pruning</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Example of Candidate-generation</a:t>
            </a:r>
          </a:p>
          <a:p>
            <a:pPr lvl="1" eaLnBrk="1" hangingPunct="1">
              <a:lnSpc>
                <a:spcPct val="110000"/>
              </a:lnSpc>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r>
              <a:rPr lang="en-US" altLang="en-US" sz="2000" i="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a:t>
            </a:r>
            <a:r>
              <a:rPr lang="en-US" altLang="en-US" sz="2000" i="1" dirty="0" err="1">
                <a:latin typeface="Times New Roman" panose="02020603050405020304" pitchFamily="18" charset="0"/>
                <a:cs typeface="Times New Roman" panose="02020603050405020304" pitchFamily="18" charset="0"/>
              </a:rPr>
              <a:t>abc</a:t>
            </a:r>
            <a:r>
              <a:rPr lang="en-US" altLang="en-US" sz="2000" i="1"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abd</a:t>
            </a:r>
            <a:r>
              <a:rPr lang="en-US" altLang="en-US" sz="2000" i="1"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acd</a:t>
            </a:r>
            <a:r>
              <a:rPr lang="en-US" altLang="en-US" sz="2000" i="1" dirty="0">
                <a:latin typeface="Times New Roman" panose="02020603050405020304" pitchFamily="18" charset="0"/>
                <a:cs typeface="Times New Roman" panose="02020603050405020304" pitchFamily="18" charset="0"/>
              </a:rPr>
              <a:t>, ace, </a:t>
            </a:r>
            <a:r>
              <a:rPr lang="en-US" altLang="en-US" sz="2000" i="1" dirty="0" err="1">
                <a:latin typeface="Times New Roman" panose="02020603050405020304" pitchFamily="18" charset="0"/>
                <a:cs typeface="Times New Roman" panose="02020603050405020304" pitchFamily="18" charset="0"/>
              </a:rPr>
              <a:t>bcd</a:t>
            </a:r>
            <a:r>
              <a:rPr lang="en-US" altLang="en-US" sz="2000" dirty="0">
                <a:latin typeface="Times New Roman" panose="02020603050405020304" pitchFamily="18" charset="0"/>
                <a:cs typeface="Times New Roman" panose="02020603050405020304" pitchFamily="18" charset="0"/>
              </a:rPr>
              <a:t>}</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Self-joining: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endParaRPr lang="en-US" altLang="en-US" sz="2000" i="1" dirty="0">
              <a:latin typeface="Times New Roman" panose="02020603050405020304" pitchFamily="18" charset="0"/>
              <a:cs typeface="Times New Roman" panose="02020603050405020304" pitchFamily="18" charset="0"/>
            </a:endParaRP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abcd</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from </a:t>
            </a:r>
            <a:r>
              <a:rPr lang="en-US" altLang="en-US" sz="2000" i="1" dirty="0" err="1">
                <a:latin typeface="Times New Roman" panose="02020603050405020304" pitchFamily="18" charset="0"/>
                <a:cs typeface="Times New Roman" panose="02020603050405020304" pitchFamily="18" charset="0"/>
              </a:rPr>
              <a:t>abc</a:t>
            </a:r>
            <a:r>
              <a:rPr lang="en-US" altLang="en-US" sz="2000" dirty="0">
                <a:latin typeface="Times New Roman" panose="02020603050405020304" pitchFamily="18" charset="0"/>
                <a:cs typeface="Times New Roman" panose="02020603050405020304" pitchFamily="18" charset="0"/>
              </a:rPr>
              <a:t> and </a:t>
            </a:r>
            <a:r>
              <a:rPr lang="en-US" altLang="en-US" sz="2000" i="1" dirty="0" err="1">
                <a:latin typeface="Times New Roman" panose="02020603050405020304" pitchFamily="18" charset="0"/>
                <a:cs typeface="Times New Roman" panose="02020603050405020304" pitchFamily="18" charset="0"/>
              </a:rPr>
              <a:t>abd</a:t>
            </a:r>
            <a:endParaRPr lang="en-US" altLang="en-US" sz="2000" i="1" dirty="0">
              <a:latin typeface="Times New Roman" panose="02020603050405020304" pitchFamily="18" charset="0"/>
              <a:cs typeface="Times New Roman" panose="02020603050405020304" pitchFamily="18" charset="0"/>
            </a:endParaRP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acde</a:t>
            </a:r>
            <a:r>
              <a:rPr lang="en-US" altLang="en-US" sz="2000" dirty="0">
                <a:latin typeface="Times New Roman" panose="02020603050405020304" pitchFamily="18" charset="0"/>
                <a:cs typeface="Times New Roman" panose="02020603050405020304" pitchFamily="18" charset="0"/>
              </a:rPr>
              <a:t> from </a:t>
            </a:r>
            <a:r>
              <a:rPr lang="en-US" altLang="en-US" sz="2000" i="1" dirty="0" err="1">
                <a:latin typeface="Times New Roman" panose="02020603050405020304" pitchFamily="18" charset="0"/>
                <a:cs typeface="Times New Roman" panose="02020603050405020304" pitchFamily="18" charset="0"/>
              </a:rPr>
              <a:t>acd</a:t>
            </a:r>
            <a:r>
              <a:rPr lang="en-US" altLang="en-US" sz="2000" dirty="0">
                <a:latin typeface="Times New Roman" panose="02020603050405020304" pitchFamily="18" charset="0"/>
                <a:cs typeface="Times New Roman" panose="02020603050405020304" pitchFamily="18" charset="0"/>
              </a:rPr>
              <a:t> and </a:t>
            </a:r>
            <a:r>
              <a:rPr lang="en-US" altLang="en-US" sz="2000" i="1" dirty="0">
                <a:latin typeface="Times New Roman" panose="02020603050405020304" pitchFamily="18" charset="0"/>
                <a:cs typeface="Times New Roman" panose="02020603050405020304" pitchFamily="18" charset="0"/>
              </a:rPr>
              <a:t>ace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Pruning:</a:t>
            </a: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acde</a:t>
            </a:r>
            <a:r>
              <a:rPr lang="en-US" altLang="en-US" sz="2000" dirty="0">
                <a:latin typeface="Times New Roman" panose="02020603050405020304" pitchFamily="18" charset="0"/>
                <a:cs typeface="Times New Roman" panose="02020603050405020304" pitchFamily="18" charset="0"/>
              </a:rPr>
              <a:t> is removed because </a:t>
            </a:r>
            <a:r>
              <a:rPr lang="en-US" altLang="en-US" sz="2000" i="1" dirty="0" err="1">
                <a:latin typeface="Times New Roman" panose="02020603050405020304" pitchFamily="18" charset="0"/>
                <a:cs typeface="Times New Roman" panose="02020603050405020304" pitchFamily="18" charset="0"/>
              </a:rPr>
              <a:t>ade</a:t>
            </a:r>
            <a:r>
              <a:rPr lang="en-US" altLang="en-US" sz="2000" dirty="0">
                <a:latin typeface="Times New Roman" panose="02020603050405020304" pitchFamily="18" charset="0"/>
                <a:cs typeface="Times New Roman" panose="02020603050405020304" pitchFamily="18" charset="0"/>
              </a:rPr>
              <a:t> is not in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p>
          <a:p>
            <a:pPr lvl="1" eaLnBrk="1" hangingPunct="1">
              <a:lnSpc>
                <a:spcPct val="110000"/>
              </a:lnSpc>
            </a:pP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4 </a:t>
            </a:r>
            <a:r>
              <a:rPr lang="en-US" altLang="en-US" sz="2000"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abcd</a:t>
            </a:r>
            <a:r>
              <a:rPr lang="en-US" altLang="en-US" sz="2000" dirty="0">
                <a:latin typeface="Times New Roman" panose="02020603050405020304" pitchFamily="18" charset="0"/>
                <a:cs typeface="Times New Roman" panose="02020603050405020304" pitchFamily="18" charset="0"/>
              </a:rPr>
              <a:t>}</a:t>
            </a:r>
          </a:p>
          <a:p>
            <a:pPr eaLnBrk="1" hangingPunct="1">
              <a:lnSpc>
                <a:spcPct val="110000"/>
              </a:lnSpc>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DA65AAF8-934E-5E44-F554-ECDB31E977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F4AB149-B38C-4C79-AF0B-4350EF8B475B}" type="slidenum">
              <a:rPr lang="en-US" altLang="en-US" sz="1200"/>
              <a:pPr eaLnBrk="1" hangingPunct="1"/>
              <a:t>21</a:t>
            </a:fld>
            <a:endParaRPr lang="en-US" altLang="en-US" sz="1200"/>
          </a:p>
        </p:txBody>
      </p:sp>
      <p:sp>
        <p:nvSpPr>
          <p:cNvPr id="30723" name="Rectangle 2">
            <a:extLst>
              <a:ext uri="{FF2B5EF4-FFF2-40B4-BE49-F238E27FC236}">
                <a16:creationId xmlns:a16="http://schemas.microsoft.com/office/drawing/2014/main" id="{159E0CCF-C6B6-2AB2-DE8C-2B4401D8EA9F}"/>
              </a:ext>
            </a:extLst>
          </p:cNvPr>
          <p:cNvSpPr>
            <a:spLocks noGrp="1" noChangeArrowheads="1"/>
          </p:cNvSpPr>
          <p:nvPr>
            <p:ph type="title"/>
          </p:nvPr>
        </p:nvSpPr>
        <p:spPr>
          <a:xfrm>
            <a:off x="457200" y="381000"/>
            <a:ext cx="8153400" cy="685800"/>
          </a:xfrm>
        </p:spPr>
        <p:txBody>
          <a:bodyPr/>
          <a:lstStyle/>
          <a:p>
            <a:pPr algn="ctr" eaLnBrk="1" hangingPunct="1"/>
            <a:r>
              <a:rPr lang="en-US" altLang="en-US" sz="3200" dirty="0">
                <a:latin typeface="Times New Roman" panose="02020603050405020304" pitchFamily="18" charset="0"/>
                <a:cs typeface="Times New Roman" panose="02020603050405020304" pitchFamily="18" charset="0"/>
              </a:rPr>
              <a:t>How to Count Supports of Candidates?</a:t>
            </a:r>
          </a:p>
        </p:txBody>
      </p:sp>
      <p:sp>
        <p:nvSpPr>
          <p:cNvPr id="30724" name="Rectangle 3">
            <a:extLst>
              <a:ext uri="{FF2B5EF4-FFF2-40B4-BE49-F238E27FC236}">
                <a16:creationId xmlns:a16="http://schemas.microsoft.com/office/drawing/2014/main" id="{44E356DC-1129-AC8A-01F1-3E6DA9FEB02E}"/>
              </a:ext>
            </a:extLst>
          </p:cNvPr>
          <p:cNvSpPr>
            <a:spLocks noGrp="1" noChangeArrowheads="1"/>
          </p:cNvSpPr>
          <p:nvPr>
            <p:ph type="body" idx="1"/>
          </p:nvPr>
        </p:nvSpPr>
        <p:spPr>
          <a:xfrm>
            <a:off x="457200" y="1676400"/>
            <a:ext cx="8229600" cy="47244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Why counting supports of candidates a problem?</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The total number of candidates can be very huge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 One transaction may contain many candidates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Method:</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Candidate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are stored in a </a:t>
            </a:r>
            <a:r>
              <a:rPr lang="en-US" altLang="en-US" sz="2000" i="1" dirty="0">
                <a:solidFill>
                  <a:schemeClr val="hlink"/>
                </a:solidFill>
                <a:latin typeface="Times New Roman" panose="02020603050405020304" pitchFamily="18" charset="0"/>
                <a:cs typeface="Times New Roman" panose="02020603050405020304" pitchFamily="18" charset="0"/>
              </a:rPr>
              <a:t>hash-tree</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Leaf </a:t>
            </a:r>
            <a:r>
              <a:rPr lang="en-US" altLang="en-US" sz="2000" dirty="0">
                <a:solidFill>
                  <a:schemeClr val="hlink"/>
                </a:solidFill>
                <a:latin typeface="Times New Roman" panose="02020603050405020304" pitchFamily="18" charset="0"/>
                <a:cs typeface="Times New Roman" panose="02020603050405020304" pitchFamily="18" charset="0"/>
              </a:rPr>
              <a:t>node </a:t>
            </a:r>
            <a:r>
              <a:rPr lang="en-US" altLang="en-US" sz="2000" dirty="0">
                <a:latin typeface="Times New Roman" panose="02020603050405020304" pitchFamily="18" charset="0"/>
                <a:cs typeface="Times New Roman" panose="02020603050405020304" pitchFamily="18" charset="0"/>
              </a:rPr>
              <a:t>of hash-tree contains a list of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and counts</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Interior </a:t>
            </a:r>
            <a:r>
              <a:rPr lang="en-US" altLang="en-US" sz="2000" dirty="0">
                <a:solidFill>
                  <a:schemeClr val="hlink"/>
                </a:solidFill>
                <a:latin typeface="Times New Roman" panose="02020603050405020304" pitchFamily="18" charset="0"/>
                <a:cs typeface="Times New Roman" panose="02020603050405020304" pitchFamily="18" charset="0"/>
              </a:rPr>
              <a:t>node</a:t>
            </a:r>
            <a:r>
              <a:rPr lang="en-US" altLang="en-US" sz="2000" dirty="0">
                <a:latin typeface="Times New Roman" panose="02020603050405020304" pitchFamily="18" charset="0"/>
                <a:cs typeface="Times New Roman" panose="02020603050405020304" pitchFamily="18" charset="0"/>
              </a:rPr>
              <a:t> contains a hash table</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Subset function</a:t>
            </a:r>
            <a:r>
              <a:rPr lang="en-US" altLang="en-US" sz="2000" dirty="0">
                <a:latin typeface="Times New Roman" panose="02020603050405020304" pitchFamily="18" charset="0"/>
                <a:cs typeface="Times New Roman" panose="02020603050405020304" pitchFamily="18" charset="0"/>
              </a:rPr>
              <a:t>: finds all the candidates contained in a transaction</a:t>
            </a:r>
            <a:endParaRPr lang="en-US" altLang="en-US" sz="20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FE7233B9-9888-9DF3-D923-630464E2A8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34307C2-4861-4BA6-BC1D-E5B4352CA741}" type="slidenum">
              <a:rPr lang="en-US" altLang="en-US" sz="1200"/>
              <a:pPr eaLnBrk="1" hangingPunct="1"/>
              <a:t>22</a:t>
            </a:fld>
            <a:endParaRPr lang="en-US" altLang="en-US" sz="1200"/>
          </a:p>
        </p:txBody>
      </p:sp>
      <p:sp>
        <p:nvSpPr>
          <p:cNvPr id="40963" name="Rectangle 2">
            <a:extLst>
              <a:ext uri="{FF2B5EF4-FFF2-40B4-BE49-F238E27FC236}">
                <a16:creationId xmlns:a16="http://schemas.microsoft.com/office/drawing/2014/main" id="{A0B7B57C-CEDC-018F-C1CC-21A0EB5A7DC2}"/>
              </a:ext>
            </a:extLst>
          </p:cNvPr>
          <p:cNvSpPr>
            <a:spLocks noGrp="1" noChangeArrowheads="1"/>
          </p:cNvSpPr>
          <p:nvPr>
            <p:ph type="title"/>
          </p:nvPr>
        </p:nvSpPr>
        <p:spPr>
          <a:xfrm>
            <a:off x="0" y="228600"/>
            <a:ext cx="9144000" cy="914400"/>
          </a:xfrm>
        </p:spPr>
        <p:txBody>
          <a:bodyPr>
            <a:normAutofit fontScale="90000"/>
          </a:bodyPr>
          <a:lstStyle/>
          <a:p>
            <a:pPr eaLnBrk="1" hangingPunct="1"/>
            <a:r>
              <a:rPr lang="en-US" altLang="en-US" sz="3200"/>
              <a:t>Pattern-Growth Approach: Mining Frequent Patterns Without Candidate Generation</a:t>
            </a:r>
          </a:p>
        </p:txBody>
      </p:sp>
      <p:sp>
        <p:nvSpPr>
          <p:cNvPr id="40964" name="Rectangle 3">
            <a:extLst>
              <a:ext uri="{FF2B5EF4-FFF2-40B4-BE49-F238E27FC236}">
                <a16:creationId xmlns:a16="http://schemas.microsoft.com/office/drawing/2014/main" id="{EDAB5696-9F26-D23A-B369-96DA682C545B}"/>
              </a:ext>
            </a:extLst>
          </p:cNvPr>
          <p:cNvSpPr>
            <a:spLocks noGrp="1" noChangeArrowheads="1"/>
          </p:cNvSpPr>
          <p:nvPr>
            <p:ph type="body" idx="1"/>
          </p:nvPr>
        </p:nvSpPr>
        <p:spPr>
          <a:xfrm>
            <a:off x="304800" y="1447800"/>
            <a:ext cx="8597900" cy="5054600"/>
          </a:xfrm>
        </p:spPr>
        <p:txBody>
          <a:bodyPr>
            <a:normAutofit fontScale="92500"/>
          </a:bodyPr>
          <a:lstStyle/>
          <a:p>
            <a:pPr eaLnBrk="1" hangingPunct="1">
              <a:lnSpc>
                <a:spcPct val="120000"/>
              </a:lnSpc>
            </a:pPr>
            <a:r>
              <a:rPr lang="en-US" altLang="en-US" sz="2000"/>
              <a:t>Bottlenecks of the Apriori approach</a:t>
            </a:r>
          </a:p>
          <a:p>
            <a:pPr lvl="1" eaLnBrk="1" hangingPunct="1">
              <a:lnSpc>
                <a:spcPct val="120000"/>
              </a:lnSpc>
            </a:pPr>
            <a:r>
              <a:rPr lang="en-US" altLang="en-US" sz="2000"/>
              <a:t>Breadth-first (i.e., level-wise) search</a:t>
            </a:r>
          </a:p>
          <a:p>
            <a:pPr lvl="1" eaLnBrk="1" hangingPunct="1">
              <a:lnSpc>
                <a:spcPct val="120000"/>
              </a:lnSpc>
            </a:pPr>
            <a:r>
              <a:rPr lang="en-US" altLang="en-US" sz="2000"/>
              <a:t>Candidate generation and test</a:t>
            </a:r>
          </a:p>
          <a:p>
            <a:pPr lvl="2" eaLnBrk="1" hangingPunct="1">
              <a:lnSpc>
                <a:spcPct val="120000"/>
              </a:lnSpc>
            </a:pPr>
            <a:r>
              <a:rPr lang="en-US" altLang="en-US" sz="2000"/>
              <a:t>Often generates a huge number of candidates</a:t>
            </a:r>
          </a:p>
          <a:p>
            <a:pPr eaLnBrk="1" hangingPunct="1">
              <a:lnSpc>
                <a:spcPct val="120000"/>
              </a:lnSpc>
            </a:pPr>
            <a:r>
              <a:rPr lang="en-US" altLang="en-US" sz="2000"/>
              <a:t>The FPGrowth Approach (J. Han, J. Pei, and Y. Yin, SIGMOD’ 00)</a:t>
            </a:r>
          </a:p>
          <a:p>
            <a:pPr lvl="1" eaLnBrk="1" hangingPunct="1">
              <a:lnSpc>
                <a:spcPct val="120000"/>
              </a:lnSpc>
            </a:pPr>
            <a:r>
              <a:rPr lang="en-US" altLang="en-US" sz="2000"/>
              <a:t>Depth-first search</a:t>
            </a:r>
          </a:p>
          <a:p>
            <a:pPr lvl="1" eaLnBrk="1" hangingPunct="1">
              <a:lnSpc>
                <a:spcPct val="120000"/>
              </a:lnSpc>
            </a:pPr>
            <a:r>
              <a:rPr lang="en-US" altLang="en-US" sz="2000"/>
              <a:t>Avoid explicit candidate generation</a:t>
            </a:r>
            <a:endParaRPr lang="en-US" altLang="en-US" sz="2000">
              <a:solidFill>
                <a:schemeClr val="hlink"/>
              </a:solidFill>
            </a:endParaRPr>
          </a:p>
          <a:p>
            <a:pPr eaLnBrk="1" hangingPunct="1">
              <a:lnSpc>
                <a:spcPct val="120000"/>
              </a:lnSpc>
            </a:pPr>
            <a:r>
              <a:rPr lang="en-US" altLang="en-US" sz="2000"/>
              <a:t>Major philosophy: Grow long patterns from short ones using local frequent items only</a:t>
            </a:r>
          </a:p>
          <a:p>
            <a:pPr lvl="1" eaLnBrk="1" hangingPunct="1">
              <a:lnSpc>
                <a:spcPct val="120000"/>
              </a:lnSpc>
            </a:pPr>
            <a:r>
              <a:rPr lang="en-US" altLang="en-US" sz="2000"/>
              <a:t>“abc” is a frequent pattern</a:t>
            </a:r>
          </a:p>
          <a:p>
            <a:pPr lvl="1" eaLnBrk="1" hangingPunct="1">
              <a:lnSpc>
                <a:spcPct val="120000"/>
              </a:lnSpc>
            </a:pPr>
            <a:r>
              <a:rPr lang="en-US" altLang="en-US" sz="2000"/>
              <a:t>Get all transactions having “abc”, i.e., project DB on abc: DB|abc</a:t>
            </a:r>
          </a:p>
          <a:p>
            <a:pPr lvl="1" eaLnBrk="1" hangingPunct="1">
              <a:lnSpc>
                <a:spcPct val="120000"/>
              </a:lnSpc>
            </a:pPr>
            <a:r>
              <a:rPr lang="en-US" altLang="en-US" sz="2000"/>
              <a:t>“d” is a local frequent item in DB|abc </a:t>
            </a:r>
            <a:r>
              <a:rPr lang="en-US" altLang="en-US" sz="2000">
                <a:sym typeface="Wingdings" panose="05000000000000000000" pitchFamily="2" charset="2"/>
              </a:rPr>
              <a:t> abcd is a frequent pattern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2ECC400A-5FEA-5CD0-D295-1B81F16DFC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EC702B7-B7FA-4869-A0CC-F83193D8AA8A}" type="slidenum">
              <a:rPr lang="en-US" altLang="en-US" sz="1200"/>
              <a:pPr eaLnBrk="1" hangingPunct="1"/>
              <a:t>23</a:t>
            </a:fld>
            <a:endParaRPr lang="en-US" altLang="en-US" sz="1200"/>
          </a:p>
        </p:txBody>
      </p:sp>
      <p:sp>
        <p:nvSpPr>
          <p:cNvPr id="41987" name="Rectangle 2">
            <a:extLst>
              <a:ext uri="{FF2B5EF4-FFF2-40B4-BE49-F238E27FC236}">
                <a16:creationId xmlns:a16="http://schemas.microsoft.com/office/drawing/2014/main" id="{3A117ED5-0039-8DCD-E0FF-7E3E10AB744E}"/>
              </a:ext>
            </a:extLst>
          </p:cNvPr>
          <p:cNvSpPr>
            <a:spLocks noGrp="1" noChangeArrowheads="1"/>
          </p:cNvSpPr>
          <p:nvPr>
            <p:ph type="title"/>
          </p:nvPr>
        </p:nvSpPr>
        <p:spPr>
          <a:xfrm>
            <a:off x="152400" y="304800"/>
            <a:ext cx="8763000" cy="685800"/>
          </a:xfrm>
        </p:spPr>
        <p:txBody>
          <a:bodyPr>
            <a:normAutofit fontScale="90000"/>
          </a:bodyPr>
          <a:lstStyle/>
          <a:p>
            <a:pPr eaLnBrk="1" hangingPunct="1"/>
            <a:r>
              <a:rPr lang="en-US" altLang="en-US" sz="3200"/>
              <a:t>Construct FP-tree from a Transaction Database</a:t>
            </a:r>
          </a:p>
        </p:txBody>
      </p:sp>
      <p:grpSp>
        <p:nvGrpSpPr>
          <p:cNvPr id="41988" name="Group 3">
            <a:extLst>
              <a:ext uri="{FF2B5EF4-FFF2-40B4-BE49-F238E27FC236}">
                <a16:creationId xmlns:a16="http://schemas.microsoft.com/office/drawing/2014/main" id="{0AE82762-C9DF-08AC-2F2A-CAA2CC0FFB59}"/>
              </a:ext>
            </a:extLst>
          </p:cNvPr>
          <p:cNvGrpSpPr>
            <a:grpSpLocks/>
          </p:cNvGrpSpPr>
          <p:nvPr/>
        </p:nvGrpSpPr>
        <p:grpSpPr bwMode="auto">
          <a:xfrm>
            <a:off x="4191000" y="2971800"/>
            <a:ext cx="4579938" cy="3624263"/>
            <a:chOff x="2496" y="1772"/>
            <a:chExt cx="2926" cy="2218"/>
          </a:xfrm>
        </p:grpSpPr>
        <p:sp>
          <p:nvSpPr>
            <p:cNvPr id="41993" name="Text Box 4">
              <a:extLst>
                <a:ext uri="{FF2B5EF4-FFF2-40B4-BE49-F238E27FC236}">
                  <a16:creationId xmlns:a16="http://schemas.microsoft.com/office/drawing/2014/main" id="{772CA4CD-5A29-61E4-CEC9-6817D4907D3B}"/>
                </a:ext>
              </a:extLst>
            </p:cNvPr>
            <p:cNvSpPr txBox="1">
              <a:spLocks noChangeArrowheads="1"/>
            </p:cNvSpPr>
            <p:nvPr/>
          </p:nvSpPr>
          <p:spPr bwMode="auto">
            <a:xfrm>
              <a:off x="4796" y="1772"/>
              <a:ext cx="28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1994" name="Text Box 5">
              <a:extLst>
                <a:ext uri="{FF2B5EF4-FFF2-40B4-BE49-F238E27FC236}">
                  <a16:creationId xmlns:a16="http://schemas.microsoft.com/office/drawing/2014/main" id="{5C183315-B970-57C9-CACC-2BD8D2E73E78}"/>
                </a:ext>
              </a:extLst>
            </p:cNvPr>
            <p:cNvSpPr txBox="1">
              <a:spLocks noChangeArrowheads="1"/>
            </p:cNvSpPr>
            <p:nvPr/>
          </p:nvSpPr>
          <p:spPr bwMode="auto">
            <a:xfrm>
              <a:off x="4508" y="2205"/>
              <a:ext cx="305"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41995" name="Text Box 6">
              <a:extLst>
                <a:ext uri="{FF2B5EF4-FFF2-40B4-BE49-F238E27FC236}">
                  <a16:creationId xmlns:a16="http://schemas.microsoft.com/office/drawing/2014/main" id="{A784423D-0DB0-E6D1-EC4D-510E9CE1F1C7}"/>
                </a:ext>
              </a:extLst>
            </p:cNvPr>
            <p:cNvSpPr txBox="1">
              <a:spLocks noChangeArrowheads="1"/>
            </p:cNvSpPr>
            <p:nvPr/>
          </p:nvSpPr>
          <p:spPr bwMode="auto">
            <a:xfrm>
              <a:off x="5084" y="2205"/>
              <a:ext cx="333"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41996" name="Text Box 7">
              <a:extLst>
                <a:ext uri="{FF2B5EF4-FFF2-40B4-BE49-F238E27FC236}">
                  <a16:creationId xmlns:a16="http://schemas.microsoft.com/office/drawing/2014/main" id="{CE093A86-F41B-E4FC-B05F-743DA0C9F3CC}"/>
                </a:ext>
              </a:extLst>
            </p:cNvPr>
            <p:cNvSpPr txBox="1">
              <a:spLocks noChangeArrowheads="1"/>
            </p:cNvSpPr>
            <p:nvPr/>
          </p:nvSpPr>
          <p:spPr bwMode="auto">
            <a:xfrm>
              <a:off x="5080" y="2588"/>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1997" name="Text Box 8">
              <a:extLst>
                <a:ext uri="{FF2B5EF4-FFF2-40B4-BE49-F238E27FC236}">
                  <a16:creationId xmlns:a16="http://schemas.microsoft.com/office/drawing/2014/main" id="{6931440F-73FE-0458-25F9-73C9804A5D0A}"/>
                </a:ext>
              </a:extLst>
            </p:cNvPr>
            <p:cNvSpPr txBox="1">
              <a:spLocks noChangeArrowheads="1"/>
            </p:cNvSpPr>
            <p:nvPr/>
          </p:nvSpPr>
          <p:spPr bwMode="auto">
            <a:xfrm>
              <a:off x="5080" y="2971"/>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41998" name="AutoShape 9">
              <a:extLst>
                <a:ext uri="{FF2B5EF4-FFF2-40B4-BE49-F238E27FC236}">
                  <a16:creationId xmlns:a16="http://schemas.microsoft.com/office/drawing/2014/main" id="{84204A37-586D-7CEE-A7DC-B1D6F9B7CBAB}"/>
                </a:ext>
              </a:extLst>
            </p:cNvPr>
            <p:cNvCxnSpPr>
              <a:cxnSpLocks noChangeShapeType="1"/>
              <a:stCxn id="41995" idx="2"/>
              <a:endCxn id="41996" idx="0"/>
            </p:cNvCxnSpPr>
            <p:nvPr/>
          </p:nvCxnSpPr>
          <p:spPr bwMode="auto">
            <a:xfrm>
              <a:off x="5248" y="2458"/>
              <a:ext cx="1"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1999" name="AutoShape 10">
              <a:extLst>
                <a:ext uri="{FF2B5EF4-FFF2-40B4-BE49-F238E27FC236}">
                  <a16:creationId xmlns:a16="http://schemas.microsoft.com/office/drawing/2014/main" id="{A6DFA7DB-1C4E-38FA-4ADD-0FF75299ACCE}"/>
                </a:ext>
              </a:extLst>
            </p:cNvPr>
            <p:cNvCxnSpPr>
              <a:cxnSpLocks noChangeShapeType="1"/>
              <a:stCxn id="41996" idx="2"/>
              <a:endCxn id="41997" idx="0"/>
            </p:cNvCxnSpPr>
            <p:nvPr/>
          </p:nvCxnSpPr>
          <p:spPr bwMode="auto">
            <a:xfrm>
              <a:off x="5249"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0" name="AutoShape 11">
              <a:extLst>
                <a:ext uri="{FF2B5EF4-FFF2-40B4-BE49-F238E27FC236}">
                  <a16:creationId xmlns:a16="http://schemas.microsoft.com/office/drawing/2014/main" id="{C939DD1A-4088-3B49-4BC7-6CA5AF847CA5}"/>
                </a:ext>
              </a:extLst>
            </p:cNvPr>
            <p:cNvCxnSpPr>
              <a:cxnSpLocks noChangeShapeType="1"/>
              <a:stCxn id="41993" idx="2"/>
              <a:endCxn id="41995" idx="0"/>
            </p:cNvCxnSpPr>
            <p:nvPr/>
          </p:nvCxnSpPr>
          <p:spPr bwMode="auto">
            <a:xfrm>
              <a:off x="4935" y="2026"/>
              <a:ext cx="313"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1" name="AutoShape 12">
              <a:extLst>
                <a:ext uri="{FF2B5EF4-FFF2-40B4-BE49-F238E27FC236}">
                  <a16:creationId xmlns:a16="http://schemas.microsoft.com/office/drawing/2014/main" id="{EC9A47DD-5E0C-39CD-EF8F-E731894BF531}"/>
                </a:ext>
              </a:extLst>
            </p:cNvPr>
            <p:cNvCxnSpPr>
              <a:cxnSpLocks noChangeShapeType="1"/>
              <a:stCxn id="41993" idx="2"/>
              <a:endCxn id="41994"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02" name="Text Box 13">
              <a:extLst>
                <a:ext uri="{FF2B5EF4-FFF2-40B4-BE49-F238E27FC236}">
                  <a16:creationId xmlns:a16="http://schemas.microsoft.com/office/drawing/2014/main" id="{96DCB311-31B1-FB61-259E-CF73D31DB18D}"/>
                </a:ext>
              </a:extLst>
            </p:cNvPr>
            <p:cNvSpPr txBox="1">
              <a:spLocks noChangeArrowheads="1"/>
            </p:cNvSpPr>
            <p:nvPr/>
          </p:nvSpPr>
          <p:spPr bwMode="auto">
            <a:xfrm>
              <a:off x="4700" y="2588"/>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2003" name="Text Box 14">
              <a:extLst>
                <a:ext uri="{FF2B5EF4-FFF2-40B4-BE49-F238E27FC236}">
                  <a16:creationId xmlns:a16="http://schemas.microsoft.com/office/drawing/2014/main" id="{BF086C8C-7555-6272-6404-E680C1D163B2}"/>
                </a:ext>
              </a:extLst>
            </p:cNvPr>
            <p:cNvSpPr txBox="1">
              <a:spLocks noChangeArrowheads="1"/>
            </p:cNvSpPr>
            <p:nvPr/>
          </p:nvSpPr>
          <p:spPr bwMode="auto">
            <a:xfrm>
              <a:off x="4321" y="2588"/>
              <a:ext cx="33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42004" name="AutoShape 15">
              <a:extLst>
                <a:ext uri="{FF2B5EF4-FFF2-40B4-BE49-F238E27FC236}">
                  <a16:creationId xmlns:a16="http://schemas.microsoft.com/office/drawing/2014/main" id="{B58C23DC-DFD7-A706-DA18-45A2616DAD61}"/>
                </a:ext>
              </a:extLst>
            </p:cNvPr>
            <p:cNvCxnSpPr>
              <a:cxnSpLocks noChangeShapeType="1"/>
              <a:stCxn id="41994" idx="2"/>
              <a:endCxn id="42003"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5" name="AutoShape 16">
              <a:extLst>
                <a:ext uri="{FF2B5EF4-FFF2-40B4-BE49-F238E27FC236}">
                  <a16:creationId xmlns:a16="http://schemas.microsoft.com/office/drawing/2014/main" id="{9C85167C-ECCE-A079-10FD-3E06F2C9F56D}"/>
                </a:ext>
              </a:extLst>
            </p:cNvPr>
            <p:cNvCxnSpPr>
              <a:cxnSpLocks noChangeShapeType="1"/>
              <a:stCxn id="41994" idx="2"/>
              <a:endCxn id="42002" idx="0"/>
            </p:cNvCxnSpPr>
            <p:nvPr/>
          </p:nvCxnSpPr>
          <p:spPr bwMode="auto">
            <a:xfrm>
              <a:off x="4659" y="2458"/>
              <a:ext cx="21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06" name="Text Box 17">
              <a:extLst>
                <a:ext uri="{FF2B5EF4-FFF2-40B4-BE49-F238E27FC236}">
                  <a16:creationId xmlns:a16="http://schemas.microsoft.com/office/drawing/2014/main" id="{FC035611-8607-5145-C2BF-69282CCE58BA}"/>
                </a:ext>
              </a:extLst>
            </p:cNvPr>
            <p:cNvSpPr txBox="1">
              <a:spLocks noChangeArrowheads="1"/>
            </p:cNvSpPr>
            <p:nvPr/>
          </p:nvSpPr>
          <p:spPr bwMode="auto">
            <a:xfrm>
              <a:off x="4315" y="2971"/>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42007" name="Text Box 18">
              <a:extLst>
                <a:ext uri="{FF2B5EF4-FFF2-40B4-BE49-F238E27FC236}">
                  <a16:creationId xmlns:a16="http://schemas.microsoft.com/office/drawing/2014/main" id="{8CC32C6A-31E8-EC63-B057-15160A3A9347}"/>
                </a:ext>
              </a:extLst>
            </p:cNvPr>
            <p:cNvSpPr txBox="1">
              <a:spLocks noChangeArrowheads="1"/>
            </p:cNvSpPr>
            <p:nvPr/>
          </p:nvSpPr>
          <p:spPr bwMode="auto">
            <a:xfrm>
              <a:off x="4556" y="3356"/>
              <a:ext cx="342" cy="25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2008" name="Text Box 19">
              <a:extLst>
                <a:ext uri="{FF2B5EF4-FFF2-40B4-BE49-F238E27FC236}">
                  <a16:creationId xmlns:a16="http://schemas.microsoft.com/office/drawing/2014/main" id="{D3458139-A9F6-221A-A477-4252079B05DC}"/>
                </a:ext>
              </a:extLst>
            </p:cNvPr>
            <p:cNvSpPr txBox="1">
              <a:spLocks noChangeArrowheads="1"/>
            </p:cNvSpPr>
            <p:nvPr/>
          </p:nvSpPr>
          <p:spPr bwMode="auto">
            <a:xfrm>
              <a:off x="4130" y="3356"/>
              <a:ext cx="378" cy="25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42009" name="Text Box 20">
              <a:extLst>
                <a:ext uri="{FF2B5EF4-FFF2-40B4-BE49-F238E27FC236}">
                  <a16:creationId xmlns:a16="http://schemas.microsoft.com/office/drawing/2014/main" id="{5C6587E8-4646-1648-9FDB-95C0C1C7CB5B}"/>
                </a:ext>
              </a:extLst>
            </p:cNvPr>
            <p:cNvSpPr txBox="1">
              <a:spLocks noChangeArrowheads="1"/>
            </p:cNvSpPr>
            <p:nvPr/>
          </p:nvSpPr>
          <p:spPr bwMode="auto">
            <a:xfrm>
              <a:off x="4148" y="3739"/>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42010" name="AutoShape 21">
              <a:extLst>
                <a:ext uri="{FF2B5EF4-FFF2-40B4-BE49-F238E27FC236}">
                  <a16:creationId xmlns:a16="http://schemas.microsoft.com/office/drawing/2014/main" id="{715753D8-94BC-7C95-CBA5-EFFB22E9E811}"/>
                </a:ext>
              </a:extLst>
            </p:cNvPr>
            <p:cNvCxnSpPr>
              <a:cxnSpLocks noChangeShapeType="1"/>
              <a:stCxn id="42003" idx="2"/>
              <a:endCxn id="42006" idx="0"/>
            </p:cNvCxnSpPr>
            <p:nvPr/>
          </p:nvCxnSpPr>
          <p:spPr bwMode="auto">
            <a:xfrm>
              <a:off x="4485"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1" name="AutoShape 22">
              <a:extLst>
                <a:ext uri="{FF2B5EF4-FFF2-40B4-BE49-F238E27FC236}">
                  <a16:creationId xmlns:a16="http://schemas.microsoft.com/office/drawing/2014/main" id="{8F0B7858-C2A8-B781-122F-572895D57CF8}"/>
                </a:ext>
              </a:extLst>
            </p:cNvPr>
            <p:cNvCxnSpPr>
              <a:cxnSpLocks noChangeShapeType="1"/>
              <a:stCxn id="42006" idx="2"/>
              <a:endCxn id="42008"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2" name="AutoShape 23">
              <a:extLst>
                <a:ext uri="{FF2B5EF4-FFF2-40B4-BE49-F238E27FC236}">
                  <a16:creationId xmlns:a16="http://schemas.microsoft.com/office/drawing/2014/main" id="{901DBBAC-49B3-CA23-7755-2CFB4F28724C}"/>
                </a:ext>
              </a:extLst>
            </p:cNvPr>
            <p:cNvCxnSpPr>
              <a:cxnSpLocks noChangeShapeType="1"/>
              <a:stCxn id="42006" idx="2"/>
              <a:endCxn id="42007" idx="0"/>
            </p:cNvCxnSpPr>
            <p:nvPr/>
          </p:nvCxnSpPr>
          <p:spPr bwMode="auto">
            <a:xfrm>
              <a:off x="4485" y="3226"/>
              <a:ext cx="24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3" name="AutoShape 24">
              <a:extLst>
                <a:ext uri="{FF2B5EF4-FFF2-40B4-BE49-F238E27FC236}">
                  <a16:creationId xmlns:a16="http://schemas.microsoft.com/office/drawing/2014/main" id="{8344CBD8-2694-FBD1-B734-DA4440F9447D}"/>
                </a:ext>
              </a:extLst>
            </p:cNvPr>
            <p:cNvCxnSpPr>
              <a:cxnSpLocks noChangeShapeType="1"/>
              <a:stCxn id="42008" idx="2"/>
              <a:endCxn id="42009" idx="0"/>
            </p:cNvCxnSpPr>
            <p:nvPr/>
          </p:nvCxnSpPr>
          <p:spPr bwMode="auto">
            <a:xfrm>
              <a:off x="4317"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14" name="Text Box 25">
              <a:extLst>
                <a:ext uri="{FF2B5EF4-FFF2-40B4-BE49-F238E27FC236}">
                  <a16:creationId xmlns:a16="http://schemas.microsoft.com/office/drawing/2014/main" id="{0848279B-AADE-DA3B-3B32-EED7D7D2D8C1}"/>
                </a:ext>
              </a:extLst>
            </p:cNvPr>
            <p:cNvSpPr txBox="1">
              <a:spLocks noChangeArrowheads="1"/>
            </p:cNvSpPr>
            <p:nvPr/>
          </p:nvSpPr>
          <p:spPr bwMode="auto">
            <a:xfrm>
              <a:off x="4538" y="3739"/>
              <a:ext cx="378"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42015" name="AutoShape 26">
              <a:extLst>
                <a:ext uri="{FF2B5EF4-FFF2-40B4-BE49-F238E27FC236}">
                  <a16:creationId xmlns:a16="http://schemas.microsoft.com/office/drawing/2014/main" id="{83148291-835C-E7DF-16D3-0BC2CAD9A089}"/>
                </a:ext>
              </a:extLst>
            </p:cNvPr>
            <p:cNvCxnSpPr>
              <a:cxnSpLocks noChangeShapeType="1"/>
              <a:stCxn id="42007" idx="2"/>
              <a:endCxn id="42014" idx="0"/>
            </p:cNvCxnSpPr>
            <p:nvPr/>
          </p:nvCxnSpPr>
          <p:spPr bwMode="auto">
            <a:xfrm>
              <a:off x="4725"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16" name="Text Box 27">
              <a:extLst>
                <a:ext uri="{FF2B5EF4-FFF2-40B4-BE49-F238E27FC236}">
                  <a16:creationId xmlns:a16="http://schemas.microsoft.com/office/drawing/2014/main" id="{EC951ED3-CC2B-72BF-029F-85933800BECE}"/>
                </a:ext>
              </a:extLst>
            </p:cNvPr>
            <p:cNvSpPr txBox="1">
              <a:spLocks noChangeArrowheads="1"/>
            </p:cNvSpPr>
            <p:nvPr/>
          </p:nvSpPr>
          <p:spPr bwMode="auto">
            <a:xfrm>
              <a:off x="2496" y="1935"/>
              <a:ext cx="1625" cy="1577"/>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endParaRPr lang="en-US" altLang="en-US" sz="2000" b="1">
                <a:latin typeface="Times New Roman" panose="02020603050405020304" pitchFamily="18" charset="0"/>
              </a:endParaRP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42017" name="Freeform 28">
              <a:extLst>
                <a:ext uri="{FF2B5EF4-FFF2-40B4-BE49-F238E27FC236}">
                  <a16:creationId xmlns:a16="http://schemas.microsoft.com/office/drawing/2014/main" id="{7314070C-79A5-FE5C-8060-FD7CE2121DBC}"/>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18" name="Freeform 29">
              <a:extLst>
                <a:ext uri="{FF2B5EF4-FFF2-40B4-BE49-F238E27FC236}">
                  <a16:creationId xmlns:a16="http://schemas.microsoft.com/office/drawing/2014/main" id="{1559C510-CBD5-AAED-976F-35C9557C35A8}"/>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 name="T6" fmla="*/ 0 w 432"/>
                <a:gd name="T7" fmla="*/ 0 h 1"/>
                <a:gd name="T8" fmla="*/ 432 w 432"/>
                <a:gd name="T9" fmla="*/ 1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19" name="Freeform 30">
              <a:extLst>
                <a:ext uri="{FF2B5EF4-FFF2-40B4-BE49-F238E27FC236}">
                  <a16:creationId xmlns:a16="http://schemas.microsoft.com/office/drawing/2014/main" id="{49E1C03B-4E48-394F-8BE8-600BF7F27573}"/>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0" name="Freeform 31">
              <a:extLst>
                <a:ext uri="{FF2B5EF4-FFF2-40B4-BE49-F238E27FC236}">
                  <a16:creationId xmlns:a16="http://schemas.microsoft.com/office/drawing/2014/main" id="{8667D4EC-C35F-2B53-31A8-B0C5ED49561D}"/>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1" name="Freeform 32">
              <a:extLst>
                <a:ext uri="{FF2B5EF4-FFF2-40B4-BE49-F238E27FC236}">
                  <a16:creationId xmlns:a16="http://schemas.microsoft.com/office/drawing/2014/main" id="{E4DD38A0-B16E-B01C-368F-07E38C0D9266}"/>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2" name="Freeform 33">
              <a:extLst>
                <a:ext uri="{FF2B5EF4-FFF2-40B4-BE49-F238E27FC236}">
                  <a16:creationId xmlns:a16="http://schemas.microsoft.com/office/drawing/2014/main" id="{E1676AE4-C662-F416-2495-7BBD6F9B0386}"/>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3" name="Line 34">
              <a:extLst>
                <a:ext uri="{FF2B5EF4-FFF2-40B4-BE49-F238E27FC236}">
                  <a16:creationId xmlns:a16="http://schemas.microsoft.com/office/drawing/2014/main" id="{69177C0E-6BFF-CA99-704A-7C25C9D019B6}"/>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2024" name="Freeform 35">
              <a:extLst>
                <a:ext uri="{FF2B5EF4-FFF2-40B4-BE49-F238E27FC236}">
                  <a16:creationId xmlns:a16="http://schemas.microsoft.com/office/drawing/2014/main" id="{E8E470D3-BB9A-EF40-C187-8A1DFFEC0372}"/>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5" name="Freeform 36">
              <a:extLst>
                <a:ext uri="{FF2B5EF4-FFF2-40B4-BE49-F238E27FC236}">
                  <a16:creationId xmlns:a16="http://schemas.microsoft.com/office/drawing/2014/main" id="{484ECFEC-C327-894B-56B7-9B63D608FF62}"/>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6" name="Freeform 37">
              <a:extLst>
                <a:ext uri="{FF2B5EF4-FFF2-40B4-BE49-F238E27FC236}">
                  <a16:creationId xmlns:a16="http://schemas.microsoft.com/office/drawing/2014/main" id="{59A09FF7-59FC-D9DA-4812-A262195732D0}"/>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7" name="Freeform 38">
              <a:extLst>
                <a:ext uri="{FF2B5EF4-FFF2-40B4-BE49-F238E27FC236}">
                  <a16:creationId xmlns:a16="http://schemas.microsoft.com/office/drawing/2014/main" id="{00D6ED07-6547-4632-4C5A-67ACB22A0AF9}"/>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41989" name="Text Box 39">
            <a:extLst>
              <a:ext uri="{FF2B5EF4-FFF2-40B4-BE49-F238E27FC236}">
                <a16:creationId xmlns:a16="http://schemas.microsoft.com/office/drawing/2014/main" id="{EFCDF708-CD00-17EC-B6EC-32985FB6A12D}"/>
              </a:ext>
            </a:extLst>
          </p:cNvPr>
          <p:cNvSpPr txBox="1">
            <a:spLocks noChangeArrowheads="1"/>
          </p:cNvSpPr>
          <p:nvPr/>
        </p:nvSpPr>
        <p:spPr bwMode="auto">
          <a:xfrm>
            <a:off x="6705600" y="2362200"/>
            <a:ext cx="2097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60000"/>
              </a:lnSpc>
              <a:spcBef>
                <a:spcPct val="50000"/>
              </a:spcBef>
            </a:pPr>
            <a:r>
              <a:rPr lang="en-US" altLang="en-US" sz="2000" b="1" i="1">
                <a:latin typeface="Times New Roman" panose="02020603050405020304" pitchFamily="18" charset="0"/>
              </a:rPr>
              <a:t>min_support = 3</a:t>
            </a:r>
            <a:endParaRPr lang="en-US" altLang="en-US" b="1" u="sng">
              <a:latin typeface="Times New Roman" panose="02020603050405020304" pitchFamily="18" charset="0"/>
            </a:endParaRPr>
          </a:p>
        </p:txBody>
      </p:sp>
      <p:sp>
        <p:nvSpPr>
          <p:cNvPr id="41990" name="Rectangle 40">
            <a:extLst>
              <a:ext uri="{FF2B5EF4-FFF2-40B4-BE49-F238E27FC236}">
                <a16:creationId xmlns:a16="http://schemas.microsoft.com/office/drawing/2014/main" id="{30D96FA9-3ADF-9891-6F00-681AB58D67FA}"/>
              </a:ext>
            </a:extLst>
          </p:cNvPr>
          <p:cNvSpPr>
            <a:spLocks noChangeArrowheads="1"/>
          </p:cNvSpPr>
          <p:nvPr/>
        </p:nvSpPr>
        <p:spPr bwMode="auto">
          <a:xfrm>
            <a:off x="914400" y="1676400"/>
            <a:ext cx="59563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40000"/>
              </a:lnSpc>
              <a:spcBef>
                <a:spcPct val="50000"/>
              </a:spcBef>
            </a:pPr>
            <a:r>
              <a:rPr lang="en-US" altLang="en-US" sz="2000" b="1" i="1" u="sng">
                <a:latin typeface="Times New Roman" panose="02020603050405020304" pitchFamily="18" charset="0"/>
              </a:rPr>
              <a:t>TID		Items bought	  (ordered) frequent items</a:t>
            </a:r>
          </a:p>
          <a:p>
            <a:pPr>
              <a:lnSpc>
                <a:spcPct val="40000"/>
              </a:lnSpc>
              <a:spcBef>
                <a:spcPct val="50000"/>
              </a:spcBef>
            </a:pPr>
            <a:r>
              <a:rPr lang="en-US" altLang="en-US" sz="2000" b="1">
                <a:latin typeface="Times New Roman" panose="02020603050405020304" pitchFamily="18" charset="0"/>
              </a:rPr>
              <a:t>100		{</a:t>
            </a:r>
            <a:r>
              <a:rPr lang="en-US" altLang="en-US" sz="2000" b="1" i="1">
                <a:latin typeface="Times New Roman" panose="02020603050405020304" pitchFamily="18" charset="0"/>
              </a:rPr>
              <a:t>f, a, c, d, g, i, m,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200		{</a:t>
            </a:r>
            <a:r>
              <a:rPr lang="en-US" altLang="en-US" sz="2000" b="1" i="1">
                <a:latin typeface="Times New Roman" panose="02020603050405020304" pitchFamily="18" charset="0"/>
              </a:rPr>
              <a:t>a, b, c, f, l, m, o</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b, m</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300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f, h, j, o, w</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b</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400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c, k, s,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c, b,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500</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a, f, c, e, l, p, m, n</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p:txBody>
      </p:sp>
      <p:sp>
        <p:nvSpPr>
          <p:cNvPr id="41991" name="Text Box 41">
            <a:extLst>
              <a:ext uri="{FF2B5EF4-FFF2-40B4-BE49-F238E27FC236}">
                <a16:creationId xmlns:a16="http://schemas.microsoft.com/office/drawing/2014/main" id="{86F14618-58A8-795E-0860-534F14477C76}"/>
              </a:ext>
            </a:extLst>
          </p:cNvPr>
          <p:cNvSpPr txBox="1">
            <a:spLocks noChangeArrowheads="1"/>
          </p:cNvSpPr>
          <p:nvPr/>
        </p:nvSpPr>
        <p:spPr bwMode="auto">
          <a:xfrm>
            <a:off x="304800" y="3489325"/>
            <a:ext cx="35814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buFontTx/>
              <a:buAutoNum type="arabicPeriod"/>
            </a:pPr>
            <a:r>
              <a:rPr lang="en-US" altLang="en-US" sz="2000"/>
              <a:t>Scan DB once, find frequent 1-itemset (single item pattern)</a:t>
            </a:r>
          </a:p>
          <a:p>
            <a:pPr eaLnBrk="1" hangingPunct="1">
              <a:spcBef>
                <a:spcPct val="50000"/>
              </a:spcBef>
              <a:buFontTx/>
              <a:buAutoNum type="arabicPeriod"/>
            </a:pPr>
            <a:r>
              <a:rPr lang="en-US" altLang="en-US" sz="2000"/>
              <a:t>Sort frequent items in frequency descending order, f-list</a:t>
            </a:r>
          </a:p>
          <a:p>
            <a:pPr eaLnBrk="1" hangingPunct="1">
              <a:spcBef>
                <a:spcPct val="50000"/>
              </a:spcBef>
              <a:buFontTx/>
              <a:buAutoNum type="arabicPeriod"/>
            </a:pPr>
            <a:r>
              <a:rPr lang="en-US" altLang="en-US" sz="2000"/>
              <a:t>Scan DB again, construct FP-tree</a:t>
            </a:r>
          </a:p>
        </p:txBody>
      </p:sp>
      <p:sp>
        <p:nvSpPr>
          <p:cNvPr id="41992" name="Text Box 42">
            <a:extLst>
              <a:ext uri="{FF2B5EF4-FFF2-40B4-BE49-F238E27FC236}">
                <a16:creationId xmlns:a16="http://schemas.microsoft.com/office/drawing/2014/main" id="{47AAE1EA-E969-8717-B4FA-FF44075C57A5}"/>
              </a:ext>
            </a:extLst>
          </p:cNvPr>
          <p:cNvSpPr txBox="1">
            <a:spLocks noChangeArrowheads="1"/>
          </p:cNvSpPr>
          <p:nvPr/>
        </p:nvSpPr>
        <p:spPr bwMode="auto">
          <a:xfrm>
            <a:off x="3565525" y="6129338"/>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chemeClr val="hlink"/>
                </a:solidFill>
              </a:rPr>
              <a:t>F-list </a:t>
            </a:r>
            <a:r>
              <a:rPr lang="en-US" altLang="en-US"/>
              <a:t>= f-c-a-b-m-p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819DECFC-7BF3-267A-4275-A433603D9C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F2B7BFA-3754-41F7-849C-8DABFB473243}" type="slidenum">
              <a:rPr lang="en-US" altLang="en-US" sz="1200"/>
              <a:pPr eaLnBrk="1" hangingPunct="1"/>
              <a:t>24</a:t>
            </a:fld>
            <a:endParaRPr lang="en-US" altLang="en-US" sz="1200"/>
          </a:p>
        </p:txBody>
      </p:sp>
      <p:sp>
        <p:nvSpPr>
          <p:cNvPr id="43011" name="Rectangle 2">
            <a:extLst>
              <a:ext uri="{FF2B5EF4-FFF2-40B4-BE49-F238E27FC236}">
                <a16:creationId xmlns:a16="http://schemas.microsoft.com/office/drawing/2014/main" id="{2FCD50C3-FC5C-C102-9C70-7AC6FE620753}"/>
              </a:ext>
            </a:extLst>
          </p:cNvPr>
          <p:cNvSpPr>
            <a:spLocks noGrp="1" noChangeArrowheads="1"/>
          </p:cNvSpPr>
          <p:nvPr>
            <p:ph type="title"/>
          </p:nvPr>
        </p:nvSpPr>
        <p:spPr/>
        <p:txBody>
          <a:bodyPr>
            <a:normAutofit fontScale="90000"/>
          </a:bodyPr>
          <a:lstStyle/>
          <a:p>
            <a:pPr eaLnBrk="1" hangingPunct="1"/>
            <a:r>
              <a:rPr lang="en-US" altLang="en-US"/>
              <a:t>Partition Patterns and Databases</a:t>
            </a:r>
          </a:p>
        </p:txBody>
      </p:sp>
      <p:sp>
        <p:nvSpPr>
          <p:cNvPr id="43012" name="Rectangle 3">
            <a:extLst>
              <a:ext uri="{FF2B5EF4-FFF2-40B4-BE49-F238E27FC236}">
                <a16:creationId xmlns:a16="http://schemas.microsoft.com/office/drawing/2014/main" id="{9FAD4EEE-652F-1E9A-06EA-133A7B8589A4}"/>
              </a:ext>
            </a:extLst>
          </p:cNvPr>
          <p:cNvSpPr>
            <a:spLocks noGrp="1" noChangeArrowheads="1"/>
          </p:cNvSpPr>
          <p:nvPr>
            <p:ph type="body" idx="1"/>
          </p:nvPr>
        </p:nvSpPr>
        <p:spPr>
          <a:xfrm>
            <a:off x="381000" y="1524000"/>
            <a:ext cx="8382000" cy="4953000"/>
          </a:xfrm>
        </p:spPr>
        <p:txBody>
          <a:bodyPr/>
          <a:lstStyle/>
          <a:p>
            <a:pPr eaLnBrk="1" hangingPunct="1"/>
            <a:r>
              <a:rPr lang="en-US" altLang="en-US"/>
              <a:t>Frequent patterns can be partitioned into subsets according to f-list</a:t>
            </a:r>
          </a:p>
          <a:p>
            <a:pPr lvl="1" eaLnBrk="1" hangingPunct="1"/>
            <a:r>
              <a:rPr lang="en-US" altLang="en-US"/>
              <a:t>F-list = f-c-a-b-m-p</a:t>
            </a:r>
          </a:p>
          <a:p>
            <a:pPr lvl="1" eaLnBrk="1" hangingPunct="1"/>
            <a:r>
              <a:rPr lang="en-US" altLang="en-US"/>
              <a:t>Patterns containing p</a:t>
            </a:r>
          </a:p>
          <a:p>
            <a:pPr lvl="1" eaLnBrk="1" hangingPunct="1"/>
            <a:r>
              <a:rPr lang="en-US" altLang="en-US"/>
              <a:t>Patterns having m but no p</a:t>
            </a:r>
          </a:p>
          <a:p>
            <a:pPr lvl="1" eaLnBrk="1" hangingPunct="1"/>
            <a:r>
              <a:rPr lang="en-US" altLang="en-US"/>
              <a:t>…</a:t>
            </a:r>
          </a:p>
          <a:p>
            <a:pPr lvl="1" eaLnBrk="1" hangingPunct="1"/>
            <a:r>
              <a:rPr lang="en-US" altLang="en-US"/>
              <a:t>Patterns having c but no a nor b, m, p</a:t>
            </a:r>
          </a:p>
          <a:p>
            <a:pPr lvl="1" eaLnBrk="1" hangingPunct="1"/>
            <a:r>
              <a:rPr lang="en-US" altLang="en-US"/>
              <a:t>Pattern f</a:t>
            </a:r>
          </a:p>
          <a:p>
            <a:pPr eaLnBrk="1" hangingPunct="1"/>
            <a:r>
              <a:rPr lang="en-US" altLang="en-US"/>
              <a:t>Completeness and non-redundency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F0587588-7A15-6CB9-4645-D6FB27238A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9CD4088-2E0D-44BD-8893-133E2DAACD1B}" type="slidenum">
              <a:rPr lang="en-US" altLang="en-US" sz="1200"/>
              <a:pPr eaLnBrk="1" hangingPunct="1"/>
              <a:t>25</a:t>
            </a:fld>
            <a:endParaRPr lang="en-US" altLang="en-US" sz="1200"/>
          </a:p>
        </p:txBody>
      </p:sp>
      <p:sp>
        <p:nvSpPr>
          <p:cNvPr id="44035" name="Rectangle 2">
            <a:extLst>
              <a:ext uri="{FF2B5EF4-FFF2-40B4-BE49-F238E27FC236}">
                <a16:creationId xmlns:a16="http://schemas.microsoft.com/office/drawing/2014/main" id="{3D7C535A-4C72-B352-1479-26C92252DC49}"/>
              </a:ext>
            </a:extLst>
          </p:cNvPr>
          <p:cNvSpPr>
            <a:spLocks noGrp="1" noChangeArrowheads="1"/>
          </p:cNvSpPr>
          <p:nvPr>
            <p:ph type="title"/>
          </p:nvPr>
        </p:nvSpPr>
        <p:spPr>
          <a:xfrm>
            <a:off x="0" y="304800"/>
            <a:ext cx="9144000" cy="685800"/>
          </a:xfrm>
        </p:spPr>
        <p:txBody>
          <a:bodyPr>
            <a:normAutofit fontScale="90000"/>
          </a:bodyPr>
          <a:lstStyle/>
          <a:p>
            <a:pPr eaLnBrk="1" hangingPunct="1">
              <a:lnSpc>
                <a:spcPct val="90000"/>
              </a:lnSpc>
            </a:pPr>
            <a:r>
              <a:rPr lang="en-US" altLang="en-US" sz="2800"/>
              <a:t>Find Patterns Having P From P-conditional Database</a:t>
            </a:r>
          </a:p>
        </p:txBody>
      </p:sp>
      <p:sp>
        <p:nvSpPr>
          <p:cNvPr id="44036" name="Rectangle 3">
            <a:extLst>
              <a:ext uri="{FF2B5EF4-FFF2-40B4-BE49-F238E27FC236}">
                <a16:creationId xmlns:a16="http://schemas.microsoft.com/office/drawing/2014/main" id="{0EBA5B10-644C-1F8C-4AD9-5B7476CCE20A}"/>
              </a:ext>
            </a:extLst>
          </p:cNvPr>
          <p:cNvSpPr>
            <a:spLocks noGrp="1" noChangeArrowheads="1"/>
          </p:cNvSpPr>
          <p:nvPr>
            <p:ph type="body" idx="1"/>
          </p:nvPr>
        </p:nvSpPr>
        <p:spPr>
          <a:xfrm>
            <a:off x="381000" y="1447800"/>
            <a:ext cx="8382000" cy="1524000"/>
          </a:xfrm>
        </p:spPr>
        <p:txBody>
          <a:bodyPr/>
          <a:lstStyle/>
          <a:p>
            <a:pPr eaLnBrk="1" hangingPunct="1">
              <a:lnSpc>
                <a:spcPct val="80000"/>
              </a:lnSpc>
            </a:pPr>
            <a:r>
              <a:rPr lang="en-US" altLang="en-US" sz="2100"/>
              <a:t>Starting at the frequent item header table in the FP-tree</a:t>
            </a:r>
          </a:p>
          <a:p>
            <a:pPr eaLnBrk="1" hangingPunct="1">
              <a:lnSpc>
                <a:spcPct val="80000"/>
              </a:lnSpc>
            </a:pPr>
            <a:r>
              <a:rPr lang="en-US" altLang="en-US" sz="2100"/>
              <a:t>Traverse the FP-tree by following the link of each frequent item </a:t>
            </a:r>
            <a:r>
              <a:rPr lang="en-US" altLang="en-US" sz="2100" i="1"/>
              <a:t>p</a:t>
            </a:r>
          </a:p>
          <a:p>
            <a:pPr eaLnBrk="1" hangingPunct="1">
              <a:lnSpc>
                <a:spcPct val="80000"/>
              </a:lnSpc>
            </a:pPr>
            <a:r>
              <a:rPr lang="en-US" altLang="en-US" sz="2100"/>
              <a:t>Accumulate all of </a:t>
            </a:r>
            <a:r>
              <a:rPr lang="en-US" altLang="en-US" sz="2100" i="1">
                <a:solidFill>
                  <a:schemeClr val="hlink"/>
                </a:solidFill>
              </a:rPr>
              <a:t>transformed prefix paths</a:t>
            </a:r>
            <a:r>
              <a:rPr lang="en-US" altLang="en-US" sz="2100"/>
              <a:t> of item </a:t>
            </a:r>
            <a:r>
              <a:rPr lang="en-US" altLang="en-US" sz="2100" i="1"/>
              <a:t>p </a:t>
            </a:r>
            <a:r>
              <a:rPr lang="en-US" altLang="en-US" sz="2100"/>
              <a:t>to form </a:t>
            </a:r>
            <a:r>
              <a:rPr lang="en-US" altLang="en-US" sz="2100" i="1"/>
              <a:t>p’</a:t>
            </a:r>
            <a:r>
              <a:rPr lang="en-US" altLang="en-US" sz="2100"/>
              <a:t>s conditional pattern base</a:t>
            </a:r>
          </a:p>
        </p:txBody>
      </p:sp>
      <p:sp>
        <p:nvSpPr>
          <p:cNvPr id="44037" name="Rectangle 4">
            <a:extLst>
              <a:ext uri="{FF2B5EF4-FFF2-40B4-BE49-F238E27FC236}">
                <a16:creationId xmlns:a16="http://schemas.microsoft.com/office/drawing/2014/main" id="{5AA719F7-99CC-BA00-01B8-769C7AF88A3A}"/>
              </a:ext>
            </a:extLst>
          </p:cNvPr>
          <p:cNvSpPr>
            <a:spLocks noChangeArrowheads="1"/>
          </p:cNvSpPr>
          <p:nvPr/>
        </p:nvSpPr>
        <p:spPr bwMode="auto">
          <a:xfrm>
            <a:off x="5461000" y="3667125"/>
            <a:ext cx="3327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2000" b="1" i="1">
                <a:latin typeface="Times New Roman" panose="02020603050405020304" pitchFamily="18" charset="0"/>
              </a:rPr>
              <a:t>Conditional </a:t>
            </a:r>
            <a:r>
              <a:rPr lang="en-US" altLang="en-US" sz="2000" b="1">
                <a:latin typeface="Times New Roman" panose="02020603050405020304" pitchFamily="18" charset="0"/>
              </a:rPr>
              <a:t>pattern bases</a:t>
            </a:r>
          </a:p>
          <a:p>
            <a:pPr>
              <a:lnSpc>
                <a:spcPct val="80000"/>
              </a:lnSpc>
              <a:spcBef>
                <a:spcPct val="50000"/>
              </a:spcBef>
            </a:pPr>
            <a:r>
              <a:rPr lang="en-US" altLang="en-US" sz="2000" b="1" i="1" u="sng">
                <a:latin typeface="Times New Roman" panose="02020603050405020304" pitchFamily="18" charset="0"/>
              </a:rPr>
              <a:t>item	cond. pattern base</a:t>
            </a:r>
          </a:p>
          <a:p>
            <a:pPr>
              <a:lnSpc>
                <a:spcPct val="80000"/>
              </a:lnSpc>
              <a:spcBef>
                <a:spcPct val="50000"/>
              </a:spcBef>
            </a:pPr>
            <a:r>
              <a:rPr lang="en-US" altLang="en-US" sz="2000" b="1" i="1">
                <a:latin typeface="Times New Roman" panose="02020603050405020304" pitchFamily="18" charset="0"/>
              </a:rPr>
              <a:t>c	f:3</a:t>
            </a:r>
          </a:p>
          <a:p>
            <a:pPr>
              <a:lnSpc>
                <a:spcPct val="80000"/>
              </a:lnSpc>
              <a:spcBef>
                <a:spcPct val="50000"/>
              </a:spcBef>
            </a:pPr>
            <a:r>
              <a:rPr lang="en-US" altLang="en-US" sz="2000" b="1" i="1">
                <a:latin typeface="Times New Roman" panose="02020603050405020304" pitchFamily="18" charset="0"/>
              </a:rPr>
              <a:t>a	fc:3</a:t>
            </a:r>
          </a:p>
          <a:p>
            <a:pPr>
              <a:lnSpc>
                <a:spcPct val="80000"/>
              </a:lnSpc>
              <a:spcBef>
                <a:spcPct val="50000"/>
              </a:spcBef>
            </a:pPr>
            <a:r>
              <a:rPr lang="en-US" altLang="en-US" sz="2000" b="1" i="1">
                <a:latin typeface="Times New Roman" panose="02020603050405020304" pitchFamily="18" charset="0"/>
              </a:rPr>
              <a:t>b	fca:1, f:1, c:1</a:t>
            </a:r>
          </a:p>
          <a:p>
            <a:pPr>
              <a:lnSpc>
                <a:spcPct val="80000"/>
              </a:lnSpc>
              <a:spcBef>
                <a:spcPct val="50000"/>
              </a:spcBef>
            </a:pPr>
            <a:r>
              <a:rPr lang="en-US" altLang="en-US" sz="2000" b="1" i="1">
                <a:latin typeface="Times New Roman" panose="02020603050405020304" pitchFamily="18" charset="0"/>
              </a:rPr>
              <a:t>m	fca:2, fcab:1</a:t>
            </a:r>
          </a:p>
          <a:p>
            <a:pPr>
              <a:lnSpc>
                <a:spcPct val="80000"/>
              </a:lnSpc>
              <a:spcBef>
                <a:spcPct val="50000"/>
              </a:spcBef>
            </a:pPr>
            <a:r>
              <a:rPr lang="en-US" altLang="en-US" sz="2000" b="1" i="1">
                <a:latin typeface="Times New Roman" panose="02020603050405020304" pitchFamily="18" charset="0"/>
              </a:rPr>
              <a:t>p	fcam:2, cb:1</a:t>
            </a:r>
          </a:p>
        </p:txBody>
      </p:sp>
      <p:grpSp>
        <p:nvGrpSpPr>
          <p:cNvPr id="44038" name="Group 5">
            <a:extLst>
              <a:ext uri="{FF2B5EF4-FFF2-40B4-BE49-F238E27FC236}">
                <a16:creationId xmlns:a16="http://schemas.microsoft.com/office/drawing/2014/main" id="{A2D02F42-383D-6906-157B-27F9E0804382}"/>
              </a:ext>
            </a:extLst>
          </p:cNvPr>
          <p:cNvGrpSpPr>
            <a:grpSpLocks/>
          </p:cNvGrpSpPr>
          <p:nvPr/>
        </p:nvGrpSpPr>
        <p:grpSpPr bwMode="auto">
          <a:xfrm>
            <a:off x="304800" y="3048000"/>
            <a:ext cx="4637088" cy="3525838"/>
            <a:chOff x="2496" y="1772"/>
            <a:chExt cx="2921" cy="2226"/>
          </a:xfrm>
        </p:grpSpPr>
        <p:sp>
          <p:nvSpPr>
            <p:cNvPr id="44039" name="Text Box 6">
              <a:extLst>
                <a:ext uri="{FF2B5EF4-FFF2-40B4-BE49-F238E27FC236}">
                  <a16:creationId xmlns:a16="http://schemas.microsoft.com/office/drawing/2014/main" id="{2118A60B-80FD-9D53-56AE-AC8EA12E0CD1}"/>
                </a:ext>
              </a:extLst>
            </p:cNvPr>
            <p:cNvSpPr txBox="1">
              <a:spLocks noChangeArrowheads="1"/>
            </p:cNvSpPr>
            <p:nvPr/>
          </p:nvSpPr>
          <p:spPr bwMode="auto">
            <a:xfrm>
              <a:off x="4796" y="1772"/>
              <a:ext cx="278"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4040" name="Text Box 7">
              <a:extLst>
                <a:ext uri="{FF2B5EF4-FFF2-40B4-BE49-F238E27FC236}">
                  <a16:creationId xmlns:a16="http://schemas.microsoft.com/office/drawing/2014/main" id="{5CE3CF2F-4D77-7543-34C2-ECBA01367E5E}"/>
                </a:ext>
              </a:extLst>
            </p:cNvPr>
            <p:cNvSpPr txBox="1">
              <a:spLocks noChangeArrowheads="1"/>
            </p:cNvSpPr>
            <p:nvPr/>
          </p:nvSpPr>
          <p:spPr bwMode="auto">
            <a:xfrm>
              <a:off x="4508" y="2205"/>
              <a:ext cx="301"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44041" name="Text Box 8">
              <a:extLst>
                <a:ext uri="{FF2B5EF4-FFF2-40B4-BE49-F238E27FC236}">
                  <a16:creationId xmlns:a16="http://schemas.microsoft.com/office/drawing/2014/main" id="{6D3E0673-2AD0-6726-C77D-9C52BB951CF6}"/>
                </a:ext>
              </a:extLst>
            </p:cNvPr>
            <p:cNvSpPr txBox="1">
              <a:spLocks noChangeArrowheads="1"/>
            </p:cNvSpPr>
            <p:nvPr/>
          </p:nvSpPr>
          <p:spPr bwMode="auto">
            <a:xfrm>
              <a:off x="5084" y="2205"/>
              <a:ext cx="328"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44042" name="Text Box 9">
              <a:extLst>
                <a:ext uri="{FF2B5EF4-FFF2-40B4-BE49-F238E27FC236}">
                  <a16:creationId xmlns:a16="http://schemas.microsoft.com/office/drawing/2014/main" id="{995208B1-CEF5-5F31-0AAF-E03358280306}"/>
                </a:ext>
              </a:extLst>
            </p:cNvPr>
            <p:cNvSpPr txBox="1">
              <a:spLocks noChangeArrowheads="1"/>
            </p:cNvSpPr>
            <p:nvPr/>
          </p:nvSpPr>
          <p:spPr bwMode="auto">
            <a:xfrm>
              <a:off x="5080" y="2588"/>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43" name="Text Box 10">
              <a:extLst>
                <a:ext uri="{FF2B5EF4-FFF2-40B4-BE49-F238E27FC236}">
                  <a16:creationId xmlns:a16="http://schemas.microsoft.com/office/drawing/2014/main" id="{BDA3D6D2-E71E-1990-5D9C-B98FB82517EE}"/>
                </a:ext>
              </a:extLst>
            </p:cNvPr>
            <p:cNvSpPr txBox="1">
              <a:spLocks noChangeArrowheads="1"/>
            </p:cNvSpPr>
            <p:nvPr/>
          </p:nvSpPr>
          <p:spPr bwMode="auto">
            <a:xfrm>
              <a:off x="5080" y="2971"/>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44044" name="AutoShape 11">
              <a:extLst>
                <a:ext uri="{FF2B5EF4-FFF2-40B4-BE49-F238E27FC236}">
                  <a16:creationId xmlns:a16="http://schemas.microsoft.com/office/drawing/2014/main" id="{D83F6488-CF13-906F-CCA1-C42E0C95DBF4}"/>
                </a:ext>
              </a:extLst>
            </p:cNvPr>
            <p:cNvCxnSpPr>
              <a:cxnSpLocks noChangeShapeType="1"/>
              <a:stCxn id="44041" idx="2"/>
              <a:endCxn id="44042" idx="0"/>
            </p:cNvCxnSpPr>
            <p:nvPr/>
          </p:nvCxnSpPr>
          <p:spPr bwMode="auto">
            <a:xfrm>
              <a:off x="5248" y="2458"/>
              <a:ext cx="1"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5" name="AutoShape 12">
              <a:extLst>
                <a:ext uri="{FF2B5EF4-FFF2-40B4-BE49-F238E27FC236}">
                  <a16:creationId xmlns:a16="http://schemas.microsoft.com/office/drawing/2014/main" id="{D1D2AE0F-5D84-8951-5EB7-94859D3FDED1}"/>
                </a:ext>
              </a:extLst>
            </p:cNvPr>
            <p:cNvCxnSpPr>
              <a:cxnSpLocks noChangeShapeType="1"/>
              <a:stCxn id="44042" idx="2"/>
              <a:endCxn id="44043" idx="0"/>
            </p:cNvCxnSpPr>
            <p:nvPr/>
          </p:nvCxnSpPr>
          <p:spPr bwMode="auto">
            <a:xfrm>
              <a:off x="5249"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6" name="AutoShape 13">
              <a:extLst>
                <a:ext uri="{FF2B5EF4-FFF2-40B4-BE49-F238E27FC236}">
                  <a16:creationId xmlns:a16="http://schemas.microsoft.com/office/drawing/2014/main" id="{9D9C1060-3847-12D4-BA7F-729523BBDD20}"/>
                </a:ext>
              </a:extLst>
            </p:cNvPr>
            <p:cNvCxnSpPr>
              <a:cxnSpLocks noChangeShapeType="1"/>
              <a:stCxn id="44039" idx="2"/>
              <a:endCxn id="44041" idx="0"/>
            </p:cNvCxnSpPr>
            <p:nvPr/>
          </p:nvCxnSpPr>
          <p:spPr bwMode="auto">
            <a:xfrm>
              <a:off x="4935" y="2026"/>
              <a:ext cx="313"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7" name="AutoShape 14">
              <a:extLst>
                <a:ext uri="{FF2B5EF4-FFF2-40B4-BE49-F238E27FC236}">
                  <a16:creationId xmlns:a16="http://schemas.microsoft.com/office/drawing/2014/main" id="{5674CA81-0869-854C-0644-7FDEEDCE3C63}"/>
                </a:ext>
              </a:extLst>
            </p:cNvPr>
            <p:cNvCxnSpPr>
              <a:cxnSpLocks noChangeShapeType="1"/>
              <a:stCxn id="44039" idx="2"/>
              <a:endCxn id="44040"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48" name="Text Box 15">
              <a:extLst>
                <a:ext uri="{FF2B5EF4-FFF2-40B4-BE49-F238E27FC236}">
                  <a16:creationId xmlns:a16="http://schemas.microsoft.com/office/drawing/2014/main" id="{ABF20EFC-35ED-2BBE-1A5A-4771304DC023}"/>
                </a:ext>
              </a:extLst>
            </p:cNvPr>
            <p:cNvSpPr txBox="1">
              <a:spLocks noChangeArrowheads="1"/>
            </p:cNvSpPr>
            <p:nvPr/>
          </p:nvSpPr>
          <p:spPr bwMode="auto">
            <a:xfrm>
              <a:off x="4700" y="2588"/>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49" name="Text Box 16">
              <a:extLst>
                <a:ext uri="{FF2B5EF4-FFF2-40B4-BE49-F238E27FC236}">
                  <a16:creationId xmlns:a16="http://schemas.microsoft.com/office/drawing/2014/main" id="{6077D103-D119-D8E9-73F1-373D8EB6BFB4}"/>
                </a:ext>
              </a:extLst>
            </p:cNvPr>
            <p:cNvSpPr txBox="1">
              <a:spLocks noChangeArrowheads="1"/>
            </p:cNvSpPr>
            <p:nvPr/>
          </p:nvSpPr>
          <p:spPr bwMode="auto">
            <a:xfrm>
              <a:off x="4321" y="2588"/>
              <a:ext cx="328"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44050" name="AutoShape 17">
              <a:extLst>
                <a:ext uri="{FF2B5EF4-FFF2-40B4-BE49-F238E27FC236}">
                  <a16:creationId xmlns:a16="http://schemas.microsoft.com/office/drawing/2014/main" id="{31A45E7C-57EA-56EC-B75A-357C70318D92}"/>
                </a:ext>
              </a:extLst>
            </p:cNvPr>
            <p:cNvCxnSpPr>
              <a:cxnSpLocks noChangeShapeType="1"/>
              <a:stCxn id="44040" idx="2"/>
              <a:endCxn id="44049"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1" name="AutoShape 18">
              <a:extLst>
                <a:ext uri="{FF2B5EF4-FFF2-40B4-BE49-F238E27FC236}">
                  <a16:creationId xmlns:a16="http://schemas.microsoft.com/office/drawing/2014/main" id="{51707618-3567-DBDC-EFCC-4A2D036A2157}"/>
                </a:ext>
              </a:extLst>
            </p:cNvPr>
            <p:cNvCxnSpPr>
              <a:cxnSpLocks noChangeShapeType="1"/>
              <a:stCxn id="44040" idx="2"/>
              <a:endCxn id="44048" idx="0"/>
            </p:cNvCxnSpPr>
            <p:nvPr/>
          </p:nvCxnSpPr>
          <p:spPr bwMode="auto">
            <a:xfrm>
              <a:off x="4659" y="2458"/>
              <a:ext cx="21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52" name="Text Box 19">
              <a:extLst>
                <a:ext uri="{FF2B5EF4-FFF2-40B4-BE49-F238E27FC236}">
                  <a16:creationId xmlns:a16="http://schemas.microsoft.com/office/drawing/2014/main" id="{ABD0FB20-7580-A78C-DB29-5698CA7DBC19}"/>
                </a:ext>
              </a:extLst>
            </p:cNvPr>
            <p:cNvSpPr txBox="1">
              <a:spLocks noChangeArrowheads="1"/>
            </p:cNvSpPr>
            <p:nvPr/>
          </p:nvSpPr>
          <p:spPr bwMode="auto">
            <a:xfrm>
              <a:off x="4316" y="2971"/>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44053" name="Text Box 20">
              <a:extLst>
                <a:ext uri="{FF2B5EF4-FFF2-40B4-BE49-F238E27FC236}">
                  <a16:creationId xmlns:a16="http://schemas.microsoft.com/office/drawing/2014/main" id="{034B3EC0-8201-F4F3-2523-3160EA2DC452}"/>
                </a:ext>
              </a:extLst>
            </p:cNvPr>
            <p:cNvSpPr txBox="1">
              <a:spLocks noChangeArrowheads="1"/>
            </p:cNvSpPr>
            <p:nvPr/>
          </p:nvSpPr>
          <p:spPr bwMode="auto">
            <a:xfrm>
              <a:off x="4556" y="3356"/>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54" name="Text Box 21">
              <a:extLst>
                <a:ext uri="{FF2B5EF4-FFF2-40B4-BE49-F238E27FC236}">
                  <a16:creationId xmlns:a16="http://schemas.microsoft.com/office/drawing/2014/main" id="{CA094978-916A-AF6C-3A6D-B6BCF1D2663D}"/>
                </a:ext>
              </a:extLst>
            </p:cNvPr>
            <p:cNvSpPr txBox="1">
              <a:spLocks noChangeArrowheads="1"/>
            </p:cNvSpPr>
            <p:nvPr/>
          </p:nvSpPr>
          <p:spPr bwMode="auto">
            <a:xfrm>
              <a:off x="4130" y="3356"/>
              <a:ext cx="373"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44055" name="Text Box 22">
              <a:extLst>
                <a:ext uri="{FF2B5EF4-FFF2-40B4-BE49-F238E27FC236}">
                  <a16:creationId xmlns:a16="http://schemas.microsoft.com/office/drawing/2014/main" id="{413C00C0-6C58-7195-FCC3-81F1F232FA11}"/>
                </a:ext>
              </a:extLst>
            </p:cNvPr>
            <p:cNvSpPr txBox="1">
              <a:spLocks noChangeArrowheads="1"/>
            </p:cNvSpPr>
            <p:nvPr/>
          </p:nvSpPr>
          <p:spPr bwMode="auto">
            <a:xfrm>
              <a:off x="4148" y="3739"/>
              <a:ext cx="337"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44056" name="AutoShape 23">
              <a:extLst>
                <a:ext uri="{FF2B5EF4-FFF2-40B4-BE49-F238E27FC236}">
                  <a16:creationId xmlns:a16="http://schemas.microsoft.com/office/drawing/2014/main" id="{44FC17C1-57DB-5648-D0FF-36B1FA1BC581}"/>
                </a:ext>
              </a:extLst>
            </p:cNvPr>
            <p:cNvCxnSpPr>
              <a:cxnSpLocks noChangeShapeType="1"/>
              <a:stCxn id="44049" idx="2"/>
              <a:endCxn id="44052" idx="0"/>
            </p:cNvCxnSpPr>
            <p:nvPr/>
          </p:nvCxnSpPr>
          <p:spPr bwMode="auto">
            <a:xfrm>
              <a:off x="4485"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7" name="AutoShape 24">
              <a:extLst>
                <a:ext uri="{FF2B5EF4-FFF2-40B4-BE49-F238E27FC236}">
                  <a16:creationId xmlns:a16="http://schemas.microsoft.com/office/drawing/2014/main" id="{AD07C543-C549-175C-CFC8-1FACDD7A0214}"/>
                </a:ext>
              </a:extLst>
            </p:cNvPr>
            <p:cNvCxnSpPr>
              <a:cxnSpLocks noChangeShapeType="1"/>
              <a:stCxn id="44052" idx="2"/>
              <a:endCxn id="44054"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8" name="AutoShape 25">
              <a:extLst>
                <a:ext uri="{FF2B5EF4-FFF2-40B4-BE49-F238E27FC236}">
                  <a16:creationId xmlns:a16="http://schemas.microsoft.com/office/drawing/2014/main" id="{BB2D42DA-78AE-7C88-24C1-6B5398B063BB}"/>
                </a:ext>
              </a:extLst>
            </p:cNvPr>
            <p:cNvCxnSpPr>
              <a:cxnSpLocks noChangeShapeType="1"/>
              <a:stCxn id="44052" idx="2"/>
              <a:endCxn id="44053" idx="0"/>
            </p:cNvCxnSpPr>
            <p:nvPr/>
          </p:nvCxnSpPr>
          <p:spPr bwMode="auto">
            <a:xfrm>
              <a:off x="4485" y="3226"/>
              <a:ext cx="24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9" name="AutoShape 26">
              <a:extLst>
                <a:ext uri="{FF2B5EF4-FFF2-40B4-BE49-F238E27FC236}">
                  <a16:creationId xmlns:a16="http://schemas.microsoft.com/office/drawing/2014/main" id="{9DD402DC-B187-8E54-4156-24733018E6B2}"/>
                </a:ext>
              </a:extLst>
            </p:cNvPr>
            <p:cNvCxnSpPr>
              <a:cxnSpLocks noChangeShapeType="1"/>
              <a:stCxn id="44054" idx="2"/>
              <a:endCxn id="44055" idx="0"/>
            </p:cNvCxnSpPr>
            <p:nvPr/>
          </p:nvCxnSpPr>
          <p:spPr bwMode="auto">
            <a:xfrm>
              <a:off x="4317"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60" name="Text Box 27">
              <a:extLst>
                <a:ext uri="{FF2B5EF4-FFF2-40B4-BE49-F238E27FC236}">
                  <a16:creationId xmlns:a16="http://schemas.microsoft.com/office/drawing/2014/main" id="{0EBA6EC0-C881-AB97-A0D9-81267774256B}"/>
                </a:ext>
              </a:extLst>
            </p:cNvPr>
            <p:cNvSpPr txBox="1">
              <a:spLocks noChangeArrowheads="1"/>
            </p:cNvSpPr>
            <p:nvPr/>
          </p:nvSpPr>
          <p:spPr bwMode="auto">
            <a:xfrm>
              <a:off x="4538" y="3739"/>
              <a:ext cx="373"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44061" name="AutoShape 28">
              <a:extLst>
                <a:ext uri="{FF2B5EF4-FFF2-40B4-BE49-F238E27FC236}">
                  <a16:creationId xmlns:a16="http://schemas.microsoft.com/office/drawing/2014/main" id="{F401E577-E1FB-DBFD-75FE-AD5994A3CDB5}"/>
                </a:ext>
              </a:extLst>
            </p:cNvPr>
            <p:cNvCxnSpPr>
              <a:cxnSpLocks noChangeShapeType="1"/>
              <a:stCxn id="44053" idx="2"/>
              <a:endCxn id="44060" idx="0"/>
            </p:cNvCxnSpPr>
            <p:nvPr/>
          </p:nvCxnSpPr>
          <p:spPr bwMode="auto">
            <a:xfrm>
              <a:off x="4725"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62" name="Text Box 29">
              <a:extLst>
                <a:ext uri="{FF2B5EF4-FFF2-40B4-BE49-F238E27FC236}">
                  <a16:creationId xmlns:a16="http://schemas.microsoft.com/office/drawing/2014/main" id="{0B66DC77-990F-9D1E-7265-77B1BEB08B7E}"/>
                </a:ext>
              </a:extLst>
            </p:cNvPr>
            <p:cNvSpPr txBox="1">
              <a:spLocks noChangeArrowheads="1"/>
            </p:cNvSpPr>
            <p:nvPr/>
          </p:nvSpPr>
          <p:spPr bwMode="auto">
            <a:xfrm>
              <a:off x="2496" y="1935"/>
              <a:ext cx="1602" cy="1627"/>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endParaRPr lang="en-US" altLang="en-US" sz="2000" b="1">
                <a:latin typeface="Times New Roman" panose="02020603050405020304" pitchFamily="18" charset="0"/>
              </a:endParaRP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44063" name="Freeform 30">
              <a:extLst>
                <a:ext uri="{FF2B5EF4-FFF2-40B4-BE49-F238E27FC236}">
                  <a16:creationId xmlns:a16="http://schemas.microsoft.com/office/drawing/2014/main" id="{4BDB3239-3BBA-2C71-3CB5-74C7DA47F4B5}"/>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4" name="Freeform 31">
              <a:extLst>
                <a:ext uri="{FF2B5EF4-FFF2-40B4-BE49-F238E27FC236}">
                  <a16:creationId xmlns:a16="http://schemas.microsoft.com/office/drawing/2014/main" id="{70AE2DBF-1513-1E72-987D-B3406A6EB07D}"/>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 name="T6" fmla="*/ 0 w 432"/>
                <a:gd name="T7" fmla="*/ 0 h 1"/>
                <a:gd name="T8" fmla="*/ 432 w 432"/>
                <a:gd name="T9" fmla="*/ 1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5" name="Freeform 32">
              <a:extLst>
                <a:ext uri="{FF2B5EF4-FFF2-40B4-BE49-F238E27FC236}">
                  <a16:creationId xmlns:a16="http://schemas.microsoft.com/office/drawing/2014/main" id="{55C239A7-F4C6-7E03-20FC-6B05BA194130}"/>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6" name="Freeform 33">
              <a:extLst>
                <a:ext uri="{FF2B5EF4-FFF2-40B4-BE49-F238E27FC236}">
                  <a16:creationId xmlns:a16="http://schemas.microsoft.com/office/drawing/2014/main" id="{7BABE2E8-8CCD-8F5E-56E6-5046783C4604}"/>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7" name="Freeform 34">
              <a:extLst>
                <a:ext uri="{FF2B5EF4-FFF2-40B4-BE49-F238E27FC236}">
                  <a16:creationId xmlns:a16="http://schemas.microsoft.com/office/drawing/2014/main" id="{4FF75506-3CB3-E88F-CC42-7EDC41D36CD1}"/>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8" name="Freeform 35">
              <a:extLst>
                <a:ext uri="{FF2B5EF4-FFF2-40B4-BE49-F238E27FC236}">
                  <a16:creationId xmlns:a16="http://schemas.microsoft.com/office/drawing/2014/main" id="{8C4896F2-051A-CA65-9E7D-FB8DB41EECC1}"/>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9" name="Line 36">
              <a:extLst>
                <a:ext uri="{FF2B5EF4-FFF2-40B4-BE49-F238E27FC236}">
                  <a16:creationId xmlns:a16="http://schemas.microsoft.com/office/drawing/2014/main" id="{20122B65-1173-D851-4534-2CA3907C8992}"/>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4070" name="Freeform 37">
              <a:extLst>
                <a:ext uri="{FF2B5EF4-FFF2-40B4-BE49-F238E27FC236}">
                  <a16:creationId xmlns:a16="http://schemas.microsoft.com/office/drawing/2014/main" id="{351DE5B3-904B-66C5-3CF4-F6F4A5B72F71}"/>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1" name="Freeform 38">
              <a:extLst>
                <a:ext uri="{FF2B5EF4-FFF2-40B4-BE49-F238E27FC236}">
                  <a16:creationId xmlns:a16="http://schemas.microsoft.com/office/drawing/2014/main" id="{AE7B32D0-40FD-6026-1961-F50A5D39CBC8}"/>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2" name="Freeform 39">
              <a:extLst>
                <a:ext uri="{FF2B5EF4-FFF2-40B4-BE49-F238E27FC236}">
                  <a16:creationId xmlns:a16="http://schemas.microsoft.com/office/drawing/2014/main" id="{1D418AE0-6008-1582-C420-1E214B94ED8C}"/>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3" name="Freeform 40">
              <a:extLst>
                <a:ext uri="{FF2B5EF4-FFF2-40B4-BE49-F238E27FC236}">
                  <a16:creationId xmlns:a16="http://schemas.microsoft.com/office/drawing/2014/main" id="{04718837-9CF1-0A9C-C819-18C385355D3D}"/>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8E3FFFA2-5045-ABAF-7D14-9E1D81224CC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0F293A9-D263-4154-A820-E34B2F138FC5}" type="slidenum">
              <a:rPr lang="en-US" altLang="en-US" sz="1200"/>
              <a:pPr eaLnBrk="1" hangingPunct="1"/>
              <a:t>26</a:t>
            </a:fld>
            <a:endParaRPr lang="en-US" altLang="en-US" sz="1200"/>
          </a:p>
        </p:txBody>
      </p:sp>
      <p:sp>
        <p:nvSpPr>
          <p:cNvPr id="45059" name="Rectangle 2">
            <a:extLst>
              <a:ext uri="{FF2B5EF4-FFF2-40B4-BE49-F238E27FC236}">
                <a16:creationId xmlns:a16="http://schemas.microsoft.com/office/drawing/2014/main" id="{E58B94CA-3B0A-43C4-C8B0-0A40374F3157}"/>
              </a:ext>
            </a:extLst>
          </p:cNvPr>
          <p:cNvSpPr>
            <a:spLocks noGrp="1" noChangeArrowheads="1"/>
          </p:cNvSpPr>
          <p:nvPr>
            <p:ph type="title"/>
          </p:nvPr>
        </p:nvSpPr>
        <p:spPr>
          <a:xfrm>
            <a:off x="0" y="457200"/>
            <a:ext cx="9144000" cy="609600"/>
          </a:xfrm>
        </p:spPr>
        <p:txBody>
          <a:bodyPr>
            <a:normAutofit fontScale="90000"/>
          </a:bodyPr>
          <a:lstStyle/>
          <a:p>
            <a:pPr eaLnBrk="1" hangingPunct="1">
              <a:lnSpc>
                <a:spcPct val="90000"/>
              </a:lnSpc>
            </a:pPr>
            <a:r>
              <a:rPr lang="en-US" altLang="en-US" sz="2800"/>
              <a:t>From Conditional Pattern-bases to Conditional FP-trees</a:t>
            </a:r>
            <a:r>
              <a:rPr lang="en-US" altLang="en-US"/>
              <a:t> </a:t>
            </a:r>
          </a:p>
        </p:txBody>
      </p:sp>
      <p:sp>
        <p:nvSpPr>
          <p:cNvPr id="45060" name="Rectangle 3">
            <a:extLst>
              <a:ext uri="{FF2B5EF4-FFF2-40B4-BE49-F238E27FC236}">
                <a16:creationId xmlns:a16="http://schemas.microsoft.com/office/drawing/2014/main" id="{53DA7BA4-30FB-1B62-F253-25BB8F86327F}"/>
              </a:ext>
            </a:extLst>
          </p:cNvPr>
          <p:cNvSpPr>
            <a:spLocks noGrp="1" noChangeArrowheads="1"/>
          </p:cNvSpPr>
          <p:nvPr>
            <p:ph type="body" idx="1"/>
          </p:nvPr>
        </p:nvSpPr>
        <p:spPr>
          <a:xfrm>
            <a:off x="612775" y="1371600"/>
            <a:ext cx="8048625" cy="1957388"/>
          </a:xfrm>
        </p:spPr>
        <p:txBody>
          <a:bodyPr/>
          <a:lstStyle/>
          <a:p>
            <a:pPr eaLnBrk="1" hangingPunct="1"/>
            <a:r>
              <a:rPr lang="en-US" altLang="en-US" sz="2400"/>
              <a:t>For each pattern-base</a:t>
            </a:r>
          </a:p>
          <a:p>
            <a:pPr lvl="1" eaLnBrk="1" hangingPunct="1"/>
            <a:r>
              <a:rPr lang="en-US" altLang="en-US" sz="2400"/>
              <a:t>Accumulate the count for each item in the base</a:t>
            </a:r>
          </a:p>
          <a:p>
            <a:pPr lvl="1" eaLnBrk="1" hangingPunct="1"/>
            <a:r>
              <a:rPr lang="en-US" altLang="en-US" sz="2400"/>
              <a:t>Construct the FP-tree for the frequent items of the pattern base</a:t>
            </a:r>
          </a:p>
        </p:txBody>
      </p:sp>
      <p:sp>
        <p:nvSpPr>
          <p:cNvPr id="45061" name="Rectangle 4">
            <a:extLst>
              <a:ext uri="{FF2B5EF4-FFF2-40B4-BE49-F238E27FC236}">
                <a16:creationId xmlns:a16="http://schemas.microsoft.com/office/drawing/2014/main" id="{011C6D01-1716-7281-7C91-C82320EA0963}"/>
              </a:ext>
            </a:extLst>
          </p:cNvPr>
          <p:cNvSpPr>
            <a:spLocks noChangeArrowheads="1"/>
          </p:cNvSpPr>
          <p:nvPr/>
        </p:nvSpPr>
        <p:spPr bwMode="auto">
          <a:xfrm>
            <a:off x="5181600" y="3429000"/>
            <a:ext cx="3276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m-conditional </a:t>
            </a:r>
            <a:r>
              <a:rPr lang="en-US" altLang="en-US" sz="1800" b="1">
                <a:latin typeface="Times New Roman" panose="02020603050405020304" pitchFamily="18" charset="0"/>
              </a:rPr>
              <a:t>pattern base:</a:t>
            </a:r>
          </a:p>
          <a:p>
            <a:pPr lvl="1"/>
            <a:r>
              <a:rPr lang="en-US" altLang="en-US" sz="1800" b="1" i="1">
                <a:latin typeface="Times New Roman" panose="02020603050405020304" pitchFamily="18" charset="0"/>
              </a:rPr>
              <a:t>fca:2, fcab:1</a:t>
            </a:r>
          </a:p>
        </p:txBody>
      </p:sp>
      <p:grpSp>
        <p:nvGrpSpPr>
          <p:cNvPr id="45062" name="Group 5">
            <a:extLst>
              <a:ext uri="{FF2B5EF4-FFF2-40B4-BE49-F238E27FC236}">
                <a16:creationId xmlns:a16="http://schemas.microsoft.com/office/drawing/2014/main" id="{31194622-F26E-2F4E-7263-8A83CFD198D6}"/>
              </a:ext>
            </a:extLst>
          </p:cNvPr>
          <p:cNvGrpSpPr>
            <a:grpSpLocks/>
          </p:cNvGrpSpPr>
          <p:nvPr/>
        </p:nvGrpSpPr>
        <p:grpSpPr bwMode="auto">
          <a:xfrm>
            <a:off x="5257800" y="4343400"/>
            <a:ext cx="2298700" cy="2324100"/>
            <a:chOff x="3312" y="2736"/>
            <a:chExt cx="1448" cy="1464"/>
          </a:xfrm>
        </p:grpSpPr>
        <p:grpSp>
          <p:nvGrpSpPr>
            <p:cNvPr id="45101" name="Group 6">
              <a:extLst>
                <a:ext uri="{FF2B5EF4-FFF2-40B4-BE49-F238E27FC236}">
                  <a16:creationId xmlns:a16="http://schemas.microsoft.com/office/drawing/2014/main" id="{F3C89E9A-D4D6-4A78-7904-BA56C2194EC8}"/>
                </a:ext>
              </a:extLst>
            </p:cNvPr>
            <p:cNvGrpSpPr>
              <a:grpSpLocks/>
            </p:cNvGrpSpPr>
            <p:nvPr/>
          </p:nvGrpSpPr>
          <p:grpSpPr bwMode="auto">
            <a:xfrm>
              <a:off x="3792" y="2736"/>
              <a:ext cx="329" cy="1297"/>
              <a:chOff x="2282" y="2456"/>
              <a:chExt cx="329" cy="1297"/>
            </a:xfrm>
          </p:grpSpPr>
          <p:sp>
            <p:nvSpPr>
              <p:cNvPr id="45103" name="Text Box 7">
                <a:extLst>
                  <a:ext uri="{FF2B5EF4-FFF2-40B4-BE49-F238E27FC236}">
                    <a16:creationId xmlns:a16="http://schemas.microsoft.com/office/drawing/2014/main" id="{3358C1E2-9586-895D-85B0-A5C2CF90DD90}"/>
                  </a:ext>
                </a:extLst>
              </p:cNvPr>
              <p:cNvSpPr txBox="1">
                <a:spLocks noChangeArrowheads="1"/>
              </p:cNvSpPr>
              <p:nvPr/>
            </p:nvSpPr>
            <p:spPr bwMode="auto">
              <a:xfrm>
                <a:off x="2312" y="2456"/>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5104" name="Text Box 8">
                <a:extLst>
                  <a:ext uri="{FF2B5EF4-FFF2-40B4-BE49-F238E27FC236}">
                    <a16:creationId xmlns:a16="http://schemas.microsoft.com/office/drawing/2014/main" id="{04109127-E6A8-B8A5-D245-D06732471996}"/>
                  </a:ext>
                </a:extLst>
              </p:cNvPr>
              <p:cNvSpPr txBox="1">
                <a:spLocks noChangeArrowheads="1"/>
              </p:cNvSpPr>
              <p:nvPr/>
            </p:nvSpPr>
            <p:spPr bwMode="auto">
              <a:xfrm>
                <a:off x="2300" y="2840"/>
                <a:ext cx="2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sp>
            <p:nvSpPr>
              <p:cNvPr id="45105" name="Text Box 9">
                <a:extLst>
                  <a:ext uri="{FF2B5EF4-FFF2-40B4-BE49-F238E27FC236}">
                    <a16:creationId xmlns:a16="http://schemas.microsoft.com/office/drawing/2014/main" id="{1BD7055C-82F7-3040-934E-C89608E6D598}"/>
                  </a:ext>
                </a:extLst>
              </p:cNvPr>
              <p:cNvSpPr txBox="1">
                <a:spLocks noChangeArrowheads="1"/>
              </p:cNvSpPr>
              <p:nvPr/>
            </p:nvSpPr>
            <p:spPr bwMode="auto">
              <a:xfrm>
                <a:off x="2287" y="3167"/>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sp>
            <p:nvSpPr>
              <p:cNvPr id="45106" name="Text Box 10">
                <a:extLst>
                  <a:ext uri="{FF2B5EF4-FFF2-40B4-BE49-F238E27FC236}">
                    <a16:creationId xmlns:a16="http://schemas.microsoft.com/office/drawing/2014/main" id="{9631D40E-A996-AB91-6690-F482FA1911FA}"/>
                  </a:ext>
                </a:extLst>
              </p:cNvPr>
              <p:cNvSpPr txBox="1">
                <a:spLocks noChangeArrowheads="1"/>
              </p:cNvSpPr>
              <p:nvPr/>
            </p:nvSpPr>
            <p:spPr bwMode="auto">
              <a:xfrm>
                <a:off x="2282" y="3503"/>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cxnSp>
            <p:nvCxnSpPr>
              <p:cNvPr id="45107" name="AutoShape 11">
                <a:extLst>
                  <a:ext uri="{FF2B5EF4-FFF2-40B4-BE49-F238E27FC236}">
                    <a16:creationId xmlns:a16="http://schemas.microsoft.com/office/drawing/2014/main" id="{C499E6D6-8BBE-6A2B-CB52-320D70AC7CCE}"/>
                  </a:ext>
                </a:extLst>
              </p:cNvPr>
              <p:cNvCxnSpPr>
                <a:cxnSpLocks noChangeShapeType="1"/>
                <a:stCxn id="45103" idx="2"/>
                <a:endCxn id="45104" idx="0"/>
              </p:cNvCxnSpPr>
              <p:nvPr/>
            </p:nvCxnSpPr>
            <p:spPr bwMode="auto">
              <a:xfrm>
                <a:off x="2447" y="2706"/>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5108" name="AutoShape 12">
                <a:extLst>
                  <a:ext uri="{FF2B5EF4-FFF2-40B4-BE49-F238E27FC236}">
                    <a16:creationId xmlns:a16="http://schemas.microsoft.com/office/drawing/2014/main" id="{3E798E13-B2E5-F73C-3091-96C4E912C481}"/>
                  </a:ext>
                </a:extLst>
              </p:cNvPr>
              <p:cNvCxnSpPr>
                <a:cxnSpLocks noChangeShapeType="1"/>
                <a:stCxn id="45104" idx="2"/>
                <a:endCxn id="45105" idx="0"/>
              </p:cNvCxnSpPr>
              <p:nvPr/>
            </p:nvCxnSpPr>
            <p:spPr bwMode="auto">
              <a:xfrm>
                <a:off x="2447" y="3090"/>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5109" name="AutoShape 13">
                <a:extLst>
                  <a:ext uri="{FF2B5EF4-FFF2-40B4-BE49-F238E27FC236}">
                    <a16:creationId xmlns:a16="http://schemas.microsoft.com/office/drawing/2014/main" id="{E9C4F569-F4F7-E7FC-431E-6D7B9135759F}"/>
                  </a:ext>
                </a:extLst>
              </p:cNvPr>
              <p:cNvCxnSpPr>
                <a:cxnSpLocks noChangeShapeType="1"/>
                <a:stCxn id="45105" idx="2"/>
                <a:endCxn id="45106" idx="0"/>
              </p:cNvCxnSpPr>
              <p:nvPr/>
            </p:nvCxnSpPr>
            <p:spPr bwMode="auto">
              <a:xfrm>
                <a:off x="2447" y="3417"/>
                <a:ext cx="0" cy="86"/>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sp>
          <p:nvSpPr>
            <p:cNvPr id="45102" name="Text Box 14">
              <a:extLst>
                <a:ext uri="{FF2B5EF4-FFF2-40B4-BE49-F238E27FC236}">
                  <a16:creationId xmlns:a16="http://schemas.microsoft.com/office/drawing/2014/main" id="{5B8AB9AF-1B10-3477-2CF0-F6427A3A3696}"/>
                </a:ext>
              </a:extLst>
            </p:cNvPr>
            <p:cNvSpPr txBox="1">
              <a:spLocks noChangeArrowheads="1"/>
            </p:cNvSpPr>
            <p:nvPr/>
          </p:nvSpPr>
          <p:spPr bwMode="auto">
            <a:xfrm>
              <a:off x="3312" y="3969"/>
              <a:ext cx="14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grpSp>
      <p:sp>
        <p:nvSpPr>
          <p:cNvPr id="45063" name="Rectangle 15">
            <a:extLst>
              <a:ext uri="{FF2B5EF4-FFF2-40B4-BE49-F238E27FC236}">
                <a16:creationId xmlns:a16="http://schemas.microsoft.com/office/drawing/2014/main" id="{3AB70FAA-F5D0-785E-B78D-AE9625E581C9}"/>
              </a:ext>
            </a:extLst>
          </p:cNvPr>
          <p:cNvSpPr>
            <a:spLocks noChangeArrowheads="1"/>
          </p:cNvSpPr>
          <p:nvPr/>
        </p:nvSpPr>
        <p:spPr bwMode="auto">
          <a:xfrm>
            <a:off x="6934200" y="4114800"/>
            <a:ext cx="2209800"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70000"/>
              </a:lnSpc>
              <a:spcBef>
                <a:spcPct val="50000"/>
              </a:spcBef>
            </a:pPr>
            <a:r>
              <a:rPr lang="en-US" altLang="en-US" sz="1800" b="1">
                <a:latin typeface="Times New Roman" panose="02020603050405020304" pitchFamily="18" charset="0"/>
              </a:rPr>
              <a:t>All frequent patterns relate to</a:t>
            </a:r>
            <a:r>
              <a:rPr lang="en-US" altLang="en-US" sz="1800" b="1" i="1">
                <a:latin typeface="Times New Roman" panose="02020603050405020304" pitchFamily="18" charset="0"/>
              </a:rPr>
              <a:t> m</a:t>
            </a:r>
          </a:p>
          <a:p>
            <a:pPr>
              <a:lnSpc>
                <a:spcPct val="70000"/>
              </a:lnSpc>
              <a:spcBef>
                <a:spcPct val="50000"/>
              </a:spcBef>
            </a:pPr>
            <a:r>
              <a:rPr lang="en-US" altLang="en-US" sz="1800" b="1" i="1">
                <a:latin typeface="Times New Roman" panose="02020603050405020304" pitchFamily="18" charset="0"/>
              </a:rPr>
              <a:t>m, </a:t>
            </a:r>
          </a:p>
          <a:p>
            <a:pPr>
              <a:lnSpc>
                <a:spcPct val="70000"/>
              </a:lnSpc>
              <a:spcBef>
                <a:spcPct val="50000"/>
              </a:spcBef>
            </a:pPr>
            <a:r>
              <a:rPr lang="en-US" altLang="en-US" sz="1800" b="1" i="1">
                <a:latin typeface="Times New Roman" panose="02020603050405020304" pitchFamily="18" charset="0"/>
              </a:rPr>
              <a:t>fm, cm, am, </a:t>
            </a:r>
          </a:p>
          <a:p>
            <a:pPr>
              <a:lnSpc>
                <a:spcPct val="70000"/>
              </a:lnSpc>
              <a:spcBef>
                <a:spcPct val="50000"/>
              </a:spcBef>
            </a:pPr>
            <a:r>
              <a:rPr lang="en-US" altLang="en-US" sz="1800" b="1" i="1">
                <a:latin typeface="Times New Roman" panose="02020603050405020304" pitchFamily="18" charset="0"/>
              </a:rPr>
              <a:t>fcm, fam, cam, </a:t>
            </a:r>
          </a:p>
          <a:p>
            <a:pPr>
              <a:lnSpc>
                <a:spcPct val="70000"/>
              </a:lnSpc>
              <a:spcBef>
                <a:spcPct val="50000"/>
              </a:spcBef>
            </a:pPr>
            <a:r>
              <a:rPr lang="en-US" altLang="en-US" sz="1800" b="1" i="1">
                <a:latin typeface="Times New Roman" panose="02020603050405020304" pitchFamily="18" charset="0"/>
              </a:rPr>
              <a:t>fcam</a:t>
            </a:r>
          </a:p>
        </p:txBody>
      </p:sp>
      <p:sp>
        <p:nvSpPr>
          <p:cNvPr id="45064" name="Text Box 16">
            <a:extLst>
              <a:ext uri="{FF2B5EF4-FFF2-40B4-BE49-F238E27FC236}">
                <a16:creationId xmlns:a16="http://schemas.microsoft.com/office/drawing/2014/main" id="{13EDA54C-2C03-3069-4611-9D6AD66CFCDF}"/>
              </a:ext>
            </a:extLst>
          </p:cNvPr>
          <p:cNvSpPr txBox="1">
            <a:spLocks noChangeArrowheads="1"/>
          </p:cNvSpPr>
          <p:nvPr/>
        </p:nvSpPr>
        <p:spPr bwMode="auto">
          <a:xfrm>
            <a:off x="5105400" y="4724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b="1">
                <a:latin typeface="Times New Roman" panose="02020603050405020304" pitchFamily="18" charset="0"/>
                <a:sym typeface="Wingdings 3" panose="05040102010807070707" pitchFamily="18" charset="2"/>
              </a:rPr>
              <a:t></a:t>
            </a:r>
            <a:endParaRPr lang="en-US" altLang="en-US" b="1">
              <a:latin typeface="Times New Roman" panose="02020603050405020304" pitchFamily="18" charset="0"/>
            </a:endParaRPr>
          </a:p>
        </p:txBody>
      </p:sp>
      <p:sp>
        <p:nvSpPr>
          <p:cNvPr id="45065" name="Rectangle 17">
            <a:extLst>
              <a:ext uri="{FF2B5EF4-FFF2-40B4-BE49-F238E27FC236}">
                <a16:creationId xmlns:a16="http://schemas.microsoft.com/office/drawing/2014/main" id="{A55E394C-B93E-E88A-736E-A4D9EC4368B0}"/>
              </a:ext>
            </a:extLst>
          </p:cNvPr>
          <p:cNvSpPr>
            <a:spLocks noChangeArrowheads="1"/>
          </p:cNvSpPr>
          <p:nvPr/>
        </p:nvSpPr>
        <p:spPr bwMode="auto">
          <a:xfrm>
            <a:off x="6400800" y="4876800"/>
            <a:ext cx="49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b="1">
                <a:latin typeface="Times New Roman" panose="02020603050405020304" pitchFamily="18" charset="0"/>
                <a:sym typeface="Wingdings 3" panose="05040102010807070707" pitchFamily="18" charset="2"/>
              </a:rPr>
              <a:t></a:t>
            </a:r>
          </a:p>
        </p:txBody>
      </p:sp>
      <p:sp>
        <p:nvSpPr>
          <p:cNvPr id="45066" name="Text Box 18">
            <a:extLst>
              <a:ext uri="{FF2B5EF4-FFF2-40B4-BE49-F238E27FC236}">
                <a16:creationId xmlns:a16="http://schemas.microsoft.com/office/drawing/2014/main" id="{036AD844-FAD8-43DB-AA8D-C003CC6E7FF0}"/>
              </a:ext>
            </a:extLst>
          </p:cNvPr>
          <p:cNvSpPr txBox="1">
            <a:spLocks noChangeArrowheads="1"/>
          </p:cNvSpPr>
          <p:nvPr/>
        </p:nvSpPr>
        <p:spPr bwMode="auto">
          <a:xfrm>
            <a:off x="3892550" y="3595688"/>
            <a:ext cx="441325"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5067" name="Text Box 19">
            <a:extLst>
              <a:ext uri="{FF2B5EF4-FFF2-40B4-BE49-F238E27FC236}">
                <a16:creationId xmlns:a16="http://schemas.microsoft.com/office/drawing/2014/main" id="{BD6D99B3-0857-2AD1-E93A-C7B535D45590}"/>
              </a:ext>
            </a:extLst>
          </p:cNvPr>
          <p:cNvSpPr txBox="1">
            <a:spLocks noChangeArrowheads="1"/>
          </p:cNvSpPr>
          <p:nvPr/>
        </p:nvSpPr>
        <p:spPr bwMode="auto">
          <a:xfrm>
            <a:off x="3430588" y="4140200"/>
            <a:ext cx="477837"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f:4</a:t>
            </a:r>
          </a:p>
        </p:txBody>
      </p:sp>
      <p:sp>
        <p:nvSpPr>
          <p:cNvPr id="45068" name="Text Box 20">
            <a:extLst>
              <a:ext uri="{FF2B5EF4-FFF2-40B4-BE49-F238E27FC236}">
                <a16:creationId xmlns:a16="http://schemas.microsoft.com/office/drawing/2014/main" id="{052951C5-978C-542B-EF8B-BF19D8E702C6}"/>
              </a:ext>
            </a:extLst>
          </p:cNvPr>
          <p:cNvSpPr txBox="1">
            <a:spLocks noChangeArrowheads="1"/>
          </p:cNvSpPr>
          <p:nvPr/>
        </p:nvSpPr>
        <p:spPr bwMode="auto">
          <a:xfrm>
            <a:off x="4351338" y="4140200"/>
            <a:ext cx="5207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45069" name="Text Box 21">
            <a:extLst>
              <a:ext uri="{FF2B5EF4-FFF2-40B4-BE49-F238E27FC236}">
                <a16:creationId xmlns:a16="http://schemas.microsoft.com/office/drawing/2014/main" id="{9B0B5D4F-E058-5A73-219F-719993B9B77E}"/>
              </a:ext>
            </a:extLst>
          </p:cNvPr>
          <p:cNvSpPr txBox="1">
            <a:spLocks noChangeArrowheads="1"/>
          </p:cNvSpPr>
          <p:nvPr/>
        </p:nvSpPr>
        <p:spPr bwMode="auto">
          <a:xfrm>
            <a:off x="4343400" y="4622800"/>
            <a:ext cx="5334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5070" name="Text Box 22">
            <a:extLst>
              <a:ext uri="{FF2B5EF4-FFF2-40B4-BE49-F238E27FC236}">
                <a16:creationId xmlns:a16="http://schemas.microsoft.com/office/drawing/2014/main" id="{78772EED-9E64-2179-519B-4BEC53675516}"/>
              </a:ext>
            </a:extLst>
          </p:cNvPr>
          <p:cNvSpPr txBox="1">
            <a:spLocks noChangeArrowheads="1"/>
          </p:cNvSpPr>
          <p:nvPr/>
        </p:nvSpPr>
        <p:spPr bwMode="auto">
          <a:xfrm>
            <a:off x="4343400" y="5105400"/>
            <a:ext cx="5334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45071" name="AutoShape 23">
            <a:extLst>
              <a:ext uri="{FF2B5EF4-FFF2-40B4-BE49-F238E27FC236}">
                <a16:creationId xmlns:a16="http://schemas.microsoft.com/office/drawing/2014/main" id="{72EFD6D4-FCBB-18E0-5CD5-B1B281FFD269}"/>
              </a:ext>
            </a:extLst>
          </p:cNvPr>
          <p:cNvCxnSpPr>
            <a:cxnSpLocks noChangeShapeType="1"/>
            <a:stCxn id="45068" idx="2"/>
            <a:endCxn id="45069" idx="0"/>
          </p:cNvCxnSpPr>
          <p:nvPr/>
        </p:nvCxnSpPr>
        <p:spPr bwMode="auto">
          <a:xfrm>
            <a:off x="4613275" y="4459288"/>
            <a:ext cx="1588"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2" name="AutoShape 24">
            <a:extLst>
              <a:ext uri="{FF2B5EF4-FFF2-40B4-BE49-F238E27FC236}">
                <a16:creationId xmlns:a16="http://schemas.microsoft.com/office/drawing/2014/main" id="{727346E2-FF65-6CAE-E088-D419A2CA6821}"/>
              </a:ext>
            </a:extLst>
          </p:cNvPr>
          <p:cNvCxnSpPr>
            <a:cxnSpLocks noChangeShapeType="1"/>
            <a:stCxn id="45069" idx="2"/>
            <a:endCxn id="45070" idx="0"/>
          </p:cNvCxnSpPr>
          <p:nvPr/>
        </p:nvCxnSpPr>
        <p:spPr bwMode="auto">
          <a:xfrm>
            <a:off x="4614863" y="4941888"/>
            <a:ext cx="0" cy="16986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3" name="AutoShape 25">
            <a:extLst>
              <a:ext uri="{FF2B5EF4-FFF2-40B4-BE49-F238E27FC236}">
                <a16:creationId xmlns:a16="http://schemas.microsoft.com/office/drawing/2014/main" id="{6BB0DD0E-5F7D-E5E7-BFAC-6993FBCD05B2}"/>
              </a:ext>
            </a:extLst>
          </p:cNvPr>
          <p:cNvCxnSpPr>
            <a:cxnSpLocks noChangeShapeType="1"/>
            <a:stCxn id="45066" idx="2"/>
            <a:endCxn id="45068" idx="0"/>
          </p:cNvCxnSpPr>
          <p:nvPr/>
        </p:nvCxnSpPr>
        <p:spPr bwMode="auto">
          <a:xfrm>
            <a:off x="4113213" y="3914775"/>
            <a:ext cx="500062" cy="2301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4" name="AutoShape 26">
            <a:extLst>
              <a:ext uri="{FF2B5EF4-FFF2-40B4-BE49-F238E27FC236}">
                <a16:creationId xmlns:a16="http://schemas.microsoft.com/office/drawing/2014/main" id="{E718ED0B-0076-CC5E-E1C3-64011FDE5090}"/>
              </a:ext>
            </a:extLst>
          </p:cNvPr>
          <p:cNvCxnSpPr>
            <a:cxnSpLocks noChangeShapeType="1"/>
            <a:stCxn id="45066" idx="2"/>
            <a:endCxn id="45067" idx="0"/>
          </p:cNvCxnSpPr>
          <p:nvPr/>
        </p:nvCxnSpPr>
        <p:spPr bwMode="auto">
          <a:xfrm flipH="1">
            <a:off x="3671888" y="3914775"/>
            <a:ext cx="441325" cy="2301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75" name="Text Box 27">
            <a:extLst>
              <a:ext uri="{FF2B5EF4-FFF2-40B4-BE49-F238E27FC236}">
                <a16:creationId xmlns:a16="http://schemas.microsoft.com/office/drawing/2014/main" id="{99E1EFA6-F498-06A5-4642-3CEB714932E6}"/>
              </a:ext>
            </a:extLst>
          </p:cNvPr>
          <p:cNvSpPr txBox="1">
            <a:spLocks noChangeArrowheads="1"/>
          </p:cNvSpPr>
          <p:nvPr/>
        </p:nvSpPr>
        <p:spPr bwMode="auto">
          <a:xfrm>
            <a:off x="3736975" y="4622800"/>
            <a:ext cx="534988"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5076" name="Text Box 28">
            <a:extLst>
              <a:ext uri="{FF2B5EF4-FFF2-40B4-BE49-F238E27FC236}">
                <a16:creationId xmlns:a16="http://schemas.microsoft.com/office/drawing/2014/main" id="{0DE78FBB-E10D-0213-8006-5E6056E8B552}"/>
              </a:ext>
            </a:extLst>
          </p:cNvPr>
          <p:cNvSpPr txBox="1">
            <a:spLocks noChangeArrowheads="1"/>
          </p:cNvSpPr>
          <p:nvPr/>
        </p:nvSpPr>
        <p:spPr bwMode="auto">
          <a:xfrm>
            <a:off x="3133725" y="4622800"/>
            <a:ext cx="519113"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c:3</a:t>
            </a:r>
          </a:p>
        </p:txBody>
      </p:sp>
      <p:cxnSp>
        <p:nvCxnSpPr>
          <p:cNvPr id="45077" name="AutoShape 29">
            <a:extLst>
              <a:ext uri="{FF2B5EF4-FFF2-40B4-BE49-F238E27FC236}">
                <a16:creationId xmlns:a16="http://schemas.microsoft.com/office/drawing/2014/main" id="{8A593B51-685A-CC8B-DED2-6858B1EB1CAA}"/>
              </a:ext>
            </a:extLst>
          </p:cNvPr>
          <p:cNvCxnSpPr>
            <a:cxnSpLocks noChangeShapeType="1"/>
            <a:stCxn id="45067" idx="2"/>
            <a:endCxn id="45076" idx="0"/>
          </p:cNvCxnSpPr>
          <p:nvPr/>
        </p:nvCxnSpPr>
        <p:spPr bwMode="auto">
          <a:xfrm flipH="1">
            <a:off x="3394075" y="4459288"/>
            <a:ext cx="277813"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78" name="AutoShape 30">
            <a:extLst>
              <a:ext uri="{FF2B5EF4-FFF2-40B4-BE49-F238E27FC236}">
                <a16:creationId xmlns:a16="http://schemas.microsoft.com/office/drawing/2014/main" id="{EB97A9E4-AE2A-646F-E4F3-8D29464D88A9}"/>
              </a:ext>
            </a:extLst>
          </p:cNvPr>
          <p:cNvCxnSpPr>
            <a:cxnSpLocks noChangeShapeType="1"/>
            <a:stCxn id="45067" idx="2"/>
            <a:endCxn id="45075" idx="0"/>
          </p:cNvCxnSpPr>
          <p:nvPr/>
        </p:nvCxnSpPr>
        <p:spPr bwMode="auto">
          <a:xfrm>
            <a:off x="3671888" y="4459288"/>
            <a:ext cx="334962"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79" name="Text Box 31">
            <a:extLst>
              <a:ext uri="{FF2B5EF4-FFF2-40B4-BE49-F238E27FC236}">
                <a16:creationId xmlns:a16="http://schemas.microsoft.com/office/drawing/2014/main" id="{8EF35B79-9D9D-7342-E8D8-072F51CA21E0}"/>
              </a:ext>
            </a:extLst>
          </p:cNvPr>
          <p:cNvSpPr txBox="1">
            <a:spLocks noChangeArrowheads="1"/>
          </p:cNvSpPr>
          <p:nvPr/>
        </p:nvSpPr>
        <p:spPr bwMode="auto">
          <a:xfrm>
            <a:off x="3124200" y="5105400"/>
            <a:ext cx="534988"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a:3</a:t>
            </a:r>
          </a:p>
        </p:txBody>
      </p:sp>
      <p:sp>
        <p:nvSpPr>
          <p:cNvPr id="45080" name="Text Box 32">
            <a:extLst>
              <a:ext uri="{FF2B5EF4-FFF2-40B4-BE49-F238E27FC236}">
                <a16:creationId xmlns:a16="http://schemas.microsoft.com/office/drawing/2014/main" id="{83747FD4-8D07-F5A2-EC46-F1EFE73D068C}"/>
              </a:ext>
            </a:extLst>
          </p:cNvPr>
          <p:cNvSpPr txBox="1">
            <a:spLocks noChangeArrowheads="1"/>
          </p:cNvSpPr>
          <p:nvPr/>
        </p:nvSpPr>
        <p:spPr bwMode="auto">
          <a:xfrm>
            <a:off x="3506788" y="5588000"/>
            <a:ext cx="534987"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b:1</a:t>
            </a:r>
          </a:p>
        </p:txBody>
      </p:sp>
      <p:sp>
        <p:nvSpPr>
          <p:cNvPr id="45081" name="Text Box 33">
            <a:extLst>
              <a:ext uri="{FF2B5EF4-FFF2-40B4-BE49-F238E27FC236}">
                <a16:creationId xmlns:a16="http://schemas.microsoft.com/office/drawing/2014/main" id="{F1AD62E3-8CB2-8F3F-B695-336012D4B04E}"/>
              </a:ext>
            </a:extLst>
          </p:cNvPr>
          <p:cNvSpPr txBox="1">
            <a:spLocks noChangeArrowheads="1"/>
          </p:cNvSpPr>
          <p:nvPr/>
        </p:nvSpPr>
        <p:spPr bwMode="auto">
          <a:xfrm>
            <a:off x="2822575" y="5588000"/>
            <a:ext cx="592138"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m:2</a:t>
            </a:r>
          </a:p>
        </p:txBody>
      </p:sp>
      <p:sp>
        <p:nvSpPr>
          <p:cNvPr id="45082" name="Text Box 34">
            <a:extLst>
              <a:ext uri="{FF2B5EF4-FFF2-40B4-BE49-F238E27FC236}">
                <a16:creationId xmlns:a16="http://schemas.microsoft.com/office/drawing/2014/main" id="{8E9FEB1E-31BD-7E8E-0886-90CA0EECD02E}"/>
              </a:ext>
            </a:extLst>
          </p:cNvPr>
          <p:cNvSpPr txBox="1">
            <a:spLocks noChangeArrowheads="1"/>
          </p:cNvSpPr>
          <p:nvPr/>
        </p:nvSpPr>
        <p:spPr bwMode="auto">
          <a:xfrm>
            <a:off x="2855913" y="6072188"/>
            <a:ext cx="536575"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45083" name="AutoShape 35">
            <a:extLst>
              <a:ext uri="{FF2B5EF4-FFF2-40B4-BE49-F238E27FC236}">
                <a16:creationId xmlns:a16="http://schemas.microsoft.com/office/drawing/2014/main" id="{9A7470A9-55DB-9C1D-C23E-800C8F10FD63}"/>
              </a:ext>
            </a:extLst>
          </p:cNvPr>
          <p:cNvCxnSpPr>
            <a:cxnSpLocks noChangeShapeType="1"/>
            <a:stCxn id="45076" idx="2"/>
            <a:endCxn id="45079" idx="0"/>
          </p:cNvCxnSpPr>
          <p:nvPr/>
        </p:nvCxnSpPr>
        <p:spPr bwMode="auto">
          <a:xfrm>
            <a:off x="3394075" y="4941888"/>
            <a:ext cx="0" cy="169862"/>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4" name="AutoShape 36">
            <a:extLst>
              <a:ext uri="{FF2B5EF4-FFF2-40B4-BE49-F238E27FC236}">
                <a16:creationId xmlns:a16="http://schemas.microsoft.com/office/drawing/2014/main" id="{2C8F4C35-0B06-F050-DC84-3EC9B30C8452}"/>
              </a:ext>
            </a:extLst>
          </p:cNvPr>
          <p:cNvCxnSpPr>
            <a:cxnSpLocks noChangeShapeType="1"/>
            <a:stCxn id="45079" idx="2"/>
            <a:endCxn id="45081" idx="0"/>
          </p:cNvCxnSpPr>
          <p:nvPr/>
        </p:nvCxnSpPr>
        <p:spPr bwMode="auto">
          <a:xfrm flipH="1">
            <a:off x="3124200" y="5426075"/>
            <a:ext cx="269875"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5" name="AutoShape 37">
            <a:extLst>
              <a:ext uri="{FF2B5EF4-FFF2-40B4-BE49-F238E27FC236}">
                <a16:creationId xmlns:a16="http://schemas.microsoft.com/office/drawing/2014/main" id="{783F7855-2EA1-1F69-6A68-07E37402E62B}"/>
              </a:ext>
            </a:extLst>
          </p:cNvPr>
          <p:cNvCxnSpPr>
            <a:cxnSpLocks noChangeShapeType="1"/>
            <a:stCxn id="45079" idx="2"/>
            <a:endCxn id="45080" idx="0"/>
          </p:cNvCxnSpPr>
          <p:nvPr/>
        </p:nvCxnSpPr>
        <p:spPr bwMode="auto">
          <a:xfrm>
            <a:off x="3394075" y="5426075"/>
            <a:ext cx="382588"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6" name="AutoShape 38">
            <a:extLst>
              <a:ext uri="{FF2B5EF4-FFF2-40B4-BE49-F238E27FC236}">
                <a16:creationId xmlns:a16="http://schemas.microsoft.com/office/drawing/2014/main" id="{48099D65-2BE1-25B6-CCBF-6ECFD8D16E5E}"/>
              </a:ext>
            </a:extLst>
          </p:cNvPr>
          <p:cNvCxnSpPr>
            <a:cxnSpLocks noChangeShapeType="1"/>
            <a:stCxn id="45081" idx="2"/>
            <a:endCxn id="45082" idx="0"/>
          </p:cNvCxnSpPr>
          <p:nvPr/>
        </p:nvCxnSpPr>
        <p:spPr bwMode="auto">
          <a:xfrm>
            <a:off x="3124200" y="5908675"/>
            <a:ext cx="0"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87" name="Text Box 39">
            <a:extLst>
              <a:ext uri="{FF2B5EF4-FFF2-40B4-BE49-F238E27FC236}">
                <a16:creationId xmlns:a16="http://schemas.microsoft.com/office/drawing/2014/main" id="{226502EB-C2CB-052F-BF2C-0F369E5689D5}"/>
              </a:ext>
            </a:extLst>
          </p:cNvPr>
          <p:cNvSpPr txBox="1">
            <a:spLocks noChangeArrowheads="1"/>
          </p:cNvSpPr>
          <p:nvPr/>
        </p:nvSpPr>
        <p:spPr bwMode="auto">
          <a:xfrm>
            <a:off x="3478213" y="6072188"/>
            <a:ext cx="593725"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rPr>
              <a:t>m:1</a:t>
            </a:r>
          </a:p>
        </p:txBody>
      </p:sp>
      <p:cxnSp>
        <p:nvCxnSpPr>
          <p:cNvPr id="45088" name="AutoShape 40">
            <a:extLst>
              <a:ext uri="{FF2B5EF4-FFF2-40B4-BE49-F238E27FC236}">
                <a16:creationId xmlns:a16="http://schemas.microsoft.com/office/drawing/2014/main" id="{484F55AB-0A29-84F3-D3EC-96E447DA4E81}"/>
              </a:ext>
            </a:extLst>
          </p:cNvPr>
          <p:cNvCxnSpPr>
            <a:cxnSpLocks noChangeShapeType="1"/>
            <a:stCxn id="45080" idx="2"/>
            <a:endCxn id="45087" idx="0"/>
          </p:cNvCxnSpPr>
          <p:nvPr/>
        </p:nvCxnSpPr>
        <p:spPr bwMode="auto">
          <a:xfrm>
            <a:off x="3776663" y="5908675"/>
            <a:ext cx="0"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sp>
        <p:nvSpPr>
          <p:cNvPr id="45089" name="Text Box 41">
            <a:extLst>
              <a:ext uri="{FF2B5EF4-FFF2-40B4-BE49-F238E27FC236}">
                <a16:creationId xmlns:a16="http://schemas.microsoft.com/office/drawing/2014/main" id="{4CE9C4E9-B959-7176-9A81-B07E99E9DF01}"/>
              </a:ext>
            </a:extLst>
          </p:cNvPr>
          <p:cNvSpPr txBox="1">
            <a:spLocks noChangeArrowheads="1"/>
          </p:cNvSpPr>
          <p:nvPr/>
        </p:nvSpPr>
        <p:spPr bwMode="auto">
          <a:xfrm>
            <a:off x="214313" y="3824288"/>
            <a:ext cx="2543175" cy="23018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45090" name="Freeform 42">
            <a:extLst>
              <a:ext uri="{FF2B5EF4-FFF2-40B4-BE49-F238E27FC236}">
                <a16:creationId xmlns:a16="http://schemas.microsoft.com/office/drawing/2014/main" id="{2ECE6BFF-346C-177B-1194-F3AE86E22B11}"/>
              </a:ext>
            </a:extLst>
          </p:cNvPr>
          <p:cNvSpPr>
            <a:spLocks/>
          </p:cNvSpPr>
          <p:nvPr/>
        </p:nvSpPr>
        <p:spPr bwMode="auto">
          <a:xfrm>
            <a:off x="2424113" y="4311650"/>
            <a:ext cx="1074737" cy="301625"/>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1" name="Freeform 43">
            <a:extLst>
              <a:ext uri="{FF2B5EF4-FFF2-40B4-BE49-F238E27FC236}">
                <a16:creationId xmlns:a16="http://schemas.microsoft.com/office/drawing/2014/main" id="{B0FC5BD2-FB4F-0313-4954-A15946C8917F}"/>
              </a:ext>
            </a:extLst>
          </p:cNvPr>
          <p:cNvSpPr>
            <a:spLocks/>
          </p:cNvSpPr>
          <p:nvPr/>
        </p:nvSpPr>
        <p:spPr bwMode="auto">
          <a:xfrm>
            <a:off x="2424113" y="4795838"/>
            <a:ext cx="690562" cy="0"/>
          </a:xfrm>
          <a:custGeom>
            <a:avLst/>
            <a:gdLst>
              <a:gd name="T0" fmla="*/ 0 w 432"/>
              <a:gd name="T1" fmla="*/ 0 h 1"/>
              <a:gd name="T2" fmla="*/ 2147483647 w 432"/>
              <a:gd name="T3" fmla="*/ 0 h 1"/>
              <a:gd name="T4" fmla="*/ 0 60000 65536"/>
              <a:gd name="T5" fmla="*/ 0 60000 65536"/>
              <a:gd name="T6" fmla="*/ 0 w 432"/>
              <a:gd name="T7" fmla="*/ 0 h 1"/>
              <a:gd name="T8" fmla="*/ 432 w 432"/>
              <a:gd name="T9" fmla="*/ 0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2" name="Freeform 44">
            <a:extLst>
              <a:ext uri="{FF2B5EF4-FFF2-40B4-BE49-F238E27FC236}">
                <a16:creationId xmlns:a16="http://schemas.microsoft.com/office/drawing/2014/main" id="{14B0DEA9-FB64-A0DF-D6E0-EA8A282603E1}"/>
              </a:ext>
            </a:extLst>
          </p:cNvPr>
          <p:cNvSpPr>
            <a:spLocks/>
          </p:cNvSpPr>
          <p:nvPr/>
        </p:nvSpPr>
        <p:spPr bwMode="auto">
          <a:xfrm>
            <a:off x="3575050" y="4311650"/>
            <a:ext cx="768350" cy="484188"/>
          </a:xfrm>
          <a:custGeom>
            <a:avLst/>
            <a:gdLst>
              <a:gd name="T0" fmla="*/ 0 w 480"/>
              <a:gd name="T1" fmla="*/ 2147483647 h 384"/>
              <a:gd name="T2" fmla="*/ 2147483647 w 480"/>
              <a:gd name="T3" fmla="*/ 2147483647 h 384"/>
              <a:gd name="T4" fmla="*/ 2147483647 w 480"/>
              <a:gd name="T5" fmla="*/ 2147483647 h 384"/>
              <a:gd name="T6" fmla="*/ 2147483647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3" name="Freeform 45">
            <a:extLst>
              <a:ext uri="{FF2B5EF4-FFF2-40B4-BE49-F238E27FC236}">
                <a16:creationId xmlns:a16="http://schemas.microsoft.com/office/drawing/2014/main" id="{6B4E1FA0-7034-A30C-1277-E3943E959E52}"/>
              </a:ext>
            </a:extLst>
          </p:cNvPr>
          <p:cNvSpPr>
            <a:spLocks/>
          </p:cNvSpPr>
          <p:nvPr/>
        </p:nvSpPr>
        <p:spPr bwMode="auto">
          <a:xfrm>
            <a:off x="2424113" y="5051425"/>
            <a:ext cx="690562" cy="241300"/>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4" name="Freeform 46">
            <a:extLst>
              <a:ext uri="{FF2B5EF4-FFF2-40B4-BE49-F238E27FC236}">
                <a16:creationId xmlns:a16="http://schemas.microsoft.com/office/drawing/2014/main" id="{7AFF07EF-CD56-BB8C-8ABD-4D584929E5F2}"/>
              </a:ext>
            </a:extLst>
          </p:cNvPr>
          <p:cNvSpPr>
            <a:spLocks/>
          </p:cNvSpPr>
          <p:nvPr/>
        </p:nvSpPr>
        <p:spPr bwMode="auto">
          <a:xfrm>
            <a:off x="2439988" y="5232400"/>
            <a:ext cx="1149350" cy="482600"/>
          </a:xfrm>
          <a:custGeom>
            <a:avLst/>
            <a:gdLst>
              <a:gd name="T0" fmla="*/ 0 w 720"/>
              <a:gd name="T1" fmla="*/ 0 h 384"/>
              <a:gd name="T2" fmla="*/ 2147483647 w 720"/>
              <a:gd name="T3" fmla="*/ 2147483647 h 384"/>
              <a:gd name="T4" fmla="*/ 2147483647 w 720"/>
              <a:gd name="T5" fmla="*/ 2147483647 h 384"/>
              <a:gd name="T6" fmla="*/ 2147483647 w 720"/>
              <a:gd name="T7" fmla="*/ 2147483647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5" name="Freeform 47">
            <a:extLst>
              <a:ext uri="{FF2B5EF4-FFF2-40B4-BE49-F238E27FC236}">
                <a16:creationId xmlns:a16="http://schemas.microsoft.com/office/drawing/2014/main" id="{83A4C9FF-0096-E448-698A-B95000F51807}"/>
              </a:ext>
            </a:extLst>
          </p:cNvPr>
          <p:cNvSpPr>
            <a:spLocks/>
          </p:cNvSpPr>
          <p:nvPr/>
        </p:nvSpPr>
        <p:spPr bwMode="auto">
          <a:xfrm>
            <a:off x="3973513" y="4929188"/>
            <a:ext cx="90487" cy="846137"/>
          </a:xfrm>
          <a:custGeom>
            <a:avLst/>
            <a:gdLst>
              <a:gd name="T0" fmla="*/ 0 w 56"/>
              <a:gd name="T1" fmla="*/ 2147483647 h 672"/>
              <a:gd name="T2" fmla="*/ 2147483647 w 56"/>
              <a:gd name="T3" fmla="*/ 2147483647 h 672"/>
              <a:gd name="T4" fmla="*/ 2147483647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6" name="Line 48">
            <a:extLst>
              <a:ext uri="{FF2B5EF4-FFF2-40B4-BE49-F238E27FC236}">
                <a16:creationId xmlns:a16="http://schemas.microsoft.com/office/drawing/2014/main" id="{F1A39ADA-E4ED-8813-2930-1BB1DDDEC507}"/>
              </a:ext>
            </a:extLst>
          </p:cNvPr>
          <p:cNvSpPr>
            <a:spLocks noChangeShapeType="1"/>
          </p:cNvSpPr>
          <p:nvPr/>
        </p:nvSpPr>
        <p:spPr bwMode="auto">
          <a:xfrm>
            <a:off x="4189413" y="4795838"/>
            <a:ext cx="153987"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5097" name="Freeform 49">
            <a:extLst>
              <a:ext uri="{FF2B5EF4-FFF2-40B4-BE49-F238E27FC236}">
                <a16:creationId xmlns:a16="http://schemas.microsoft.com/office/drawing/2014/main" id="{0D1FC270-6564-6720-3EB1-FC41DF2C67B0}"/>
              </a:ext>
            </a:extLst>
          </p:cNvPr>
          <p:cNvSpPr>
            <a:spLocks/>
          </p:cNvSpPr>
          <p:nvPr/>
        </p:nvSpPr>
        <p:spPr bwMode="auto">
          <a:xfrm>
            <a:off x="2439988" y="5473700"/>
            <a:ext cx="460375" cy="301625"/>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8" name="Freeform 50">
            <a:extLst>
              <a:ext uri="{FF2B5EF4-FFF2-40B4-BE49-F238E27FC236}">
                <a16:creationId xmlns:a16="http://schemas.microsoft.com/office/drawing/2014/main" id="{CB485EF6-F32D-08EE-BEBC-A0FD8E69E8DA}"/>
              </a:ext>
            </a:extLst>
          </p:cNvPr>
          <p:cNvSpPr>
            <a:spLocks/>
          </p:cNvSpPr>
          <p:nvPr/>
        </p:nvSpPr>
        <p:spPr bwMode="auto">
          <a:xfrm>
            <a:off x="3359150" y="5775325"/>
            <a:ext cx="153988" cy="484188"/>
          </a:xfrm>
          <a:custGeom>
            <a:avLst/>
            <a:gdLst>
              <a:gd name="T0" fmla="*/ 0 w 96"/>
              <a:gd name="T1" fmla="*/ 0 h 384"/>
              <a:gd name="T2" fmla="*/ 2147483647 w 96"/>
              <a:gd name="T3" fmla="*/ 2147483647 h 384"/>
              <a:gd name="T4" fmla="*/ 2147483647 w 96"/>
              <a:gd name="T5" fmla="*/ 2147483647 h 384"/>
              <a:gd name="T6" fmla="*/ 2147483647 w 96"/>
              <a:gd name="T7" fmla="*/ 2147483647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099" name="Freeform 51">
            <a:extLst>
              <a:ext uri="{FF2B5EF4-FFF2-40B4-BE49-F238E27FC236}">
                <a16:creationId xmlns:a16="http://schemas.microsoft.com/office/drawing/2014/main" id="{C8358D12-4194-EF46-AD3B-EECB7918398B}"/>
              </a:ext>
            </a:extLst>
          </p:cNvPr>
          <p:cNvSpPr>
            <a:spLocks/>
          </p:cNvSpPr>
          <p:nvPr/>
        </p:nvSpPr>
        <p:spPr bwMode="auto">
          <a:xfrm>
            <a:off x="2439988" y="5715000"/>
            <a:ext cx="460375" cy="544513"/>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5100" name="Freeform 52">
            <a:extLst>
              <a:ext uri="{FF2B5EF4-FFF2-40B4-BE49-F238E27FC236}">
                <a16:creationId xmlns:a16="http://schemas.microsoft.com/office/drawing/2014/main" id="{7155DAB5-6F2C-9C96-AD63-3740A6A00390}"/>
              </a:ext>
            </a:extLst>
          </p:cNvPr>
          <p:cNvSpPr>
            <a:spLocks/>
          </p:cNvSpPr>
          <p:nvPr/>
        </p:nvSpPr>
        <p:spPr bwMode="auto">
          <a:xfrm>
            <a:off x="3359150" y="5413375"/>
            <a:ext cx="1228725" cy="846138"/>
          </a:xfrm>
          <a:custGeom>
            <a:avLst/>
            <a:gdLst>
              <a:gd name="T0" fmla="*/ 0 w 768"/>
              <a:gd name="T1" fmla="*/ 2147483647 h 672"/>
              <a:gd name="T2" fmla="*/ 2147483647 w 768"/>
              <a:gd name="T3" fmla="*/ 2147483647 h 672"/>
              <a:gd name="T4" fmla="*/ 2147483647 w 768"/>
              <a:gd name="T5" fmla="*/ 2147483647 h 672"/>
              <a:gd name="T6" fmla="*/ 2147483647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425CEC7E-0E72-5CE2-C4E5-836D74991F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7FC63C8-96C2-4D1E-BF35-2E69D1F3E308}" type="slidenum">
              <a:rPr lang="en-US" altLang="en-US" sz="1200"/>
              <a:pPr eaLnBrk="1" hangingPunct="1"/>
              <a:t>27</a:t>
            </a:fld>
            <a:endParaRPr lang="en-US" altLang="en-US" sz="1200"/>
          </a:p>
        </p:txBody>
      </p:sp>
      <p:sp>
        <p:nvSpPr>
          <p:cNvPr id="46083" name="Rectangle 2">
            <a:extLst>
              <a:ext uri="{FF2B5EF4-FFF2-40B4-BE49-F238E27FC236}">
                <a16:creationId xmlns:a16="http://schemas.microsoft.com/office/drawing/2014/main" id="{1706F771-BC1E-E6CF-374A-1B821E14402A}"/>
              </a:ext>
            </a:extLst>
          </p:cNvPr>
          <p:cNvSpPr>
            <a:spLocks noGrp="1" noChangeArrowheads="1"/>
          </p:cNvSpPr>
          <p:nvPr>
            <p:ph type="title"/>
          </p:nvPr>
        </p:nvSpPr>
        <p:spPr>
          <a:xfrm>
            <a:off x="381000" y="381000"/>
            <a:ext cx="8542338" cy="685800"/>
          </a:xfrm>
        </p:spPr>
        <p:txBody>
          <a:bodyPr>
            <a:normAutofit fontScale="90000"/>
          </a:bodyPr>
          <a:lstStyle/>
          <a:p>
            <a:pPr eaLnBrk="1" hangingPunct="1"/>
            <a:r>
              <a:rPr lang="en-US" altLang="en-US" sz="3200"/>
              <a:t>Recursion: Mining Each Conditional FP-tree</a:t>
            </a:r>
          </a:p>
        </p:txBody>
      </p:sp>
      <p:grpSp>
        <p:nvGrpSpPr>
          <p:cNvPr id="46084" name="Group 3">
            <a:extLst>
              <a:ext uri="{FF2B5EF4-FFF2-40B4-BE49-F238E27FC236}">
                <a16:creationId xmlns:a16="http://schemas.microsoft.com/office/drawing/2014/main" id="{992701D6-97D3-82EB-C856-146406AAB6D8}"/>
              </a:ext>
            </a:extLst>
          </p:cNvPr>
          <p:cNvGrpSpPr>
            <a:grpSpLocks/>
          </p:cNvGrpSpPr>
          <p:nvPr/>
        </p:nvGrpSpPr>
        <p:grpSpPr bwMode="auto">
          <a:xfrm>
            <a:off x="533400" y="2057400"/>
            <a:ext cx="2298700" cy="2324100"/>
            <a:chOff x="3312" y="2736"/>
            <a:chExt cx="1448" cy="1464"/>
          </a:xfrm>
        </p:grpSpPr>
        <p:grpSp>
          <p:nvGrpSpPr>
            <p:cNvPr id="46103" name="Group 4">
              <a:extLst>
                <a:ext uri="{FF2B5EF4-FFF2-40B4-BE49-F238E27FC236}">
                  <a16:creationId xmlns:a16="http://schemas.microsoft.com/office/drawing/2014/main" id="{7CFD7BAB-3021-93AC-0B96-02F5EA565536}"/>
                </a:ext>
              </a:extLst>
            </p:cNvPr>
            <p:cNvGrpSpPr>
              <a:grpSpLocks/>
            </p:cNvGrpSpPr>
            <p:nvPr/>
          </p:nvGrpSpPr>
          <p:grpSpPr bwMode="auto">
            <a:xfrm>
              <a:off x="3792" y="2736"/>
              <a:ext cx="329" cy="1297"/>
              <a:chOff x="2282" y="2456"/>
              <a:chExt cx="329" cy="1297"/>
            </a:xfrm>
          </p:grpSpPr>
          <p:sp>
            <p:nvSpPr>
              <p:cNvPr id="46105" name="Text Box 5">
                <a:extLst>
                  <a:ext uri="{FF2B5EF4-FFF2-40B4-BE49-F238E27FC236}">
                    <a16:creationId xmlns:a16="http://schemas.microsoft.com/office/drawing/2014/main" id="{F2994DA6-7760-AAD3-CC5B-B71F8D6C2258}"/>
                  </a:ext>
                </a:extLst>
              </p:cNvPr>
              <p:cNvSpPr txBox="1">
                <a:spLocks noChangeArrowheads="1"/>
              </p:cNvSpPr>
              <p:nvPr/>
            </p:nvSpPr>
            <p:spPr bwMode="auto">
              <a:xfrm>
                <a:off x="2312" y="2456"/>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6106" name="Text Box 6">
                <a:extLst>
                  <a:ext uri="{FF2B5EF4-FFF2-40B4-BE49-F238E27FC236}">
                    <a16:creationId xmlns:a16="http://schemas.microsoft.com/office/drawing/2014/main" id="{AE66587C-AC81-ED61-BEAD-CC7BAB29D8CC}"/>
                  </a:ext>
                </a:extLst>
              </p:cNvPr>
              <p:cNvSpPr txBox="1">
                <a:spLocks noChangeArrowheads="1"/>
              </p:cNvSpPr>
              <p:nvPr/>
            </p:nvSpPr>
            <p:spPr bwMode="auto">
              <a:xfrm>
                <a:off x="2300" y="2840"/>
                <a:ext cx="2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sp>
            <p:nvSpPr>
              <p:cNvPr id="46107" name="Text Box 7">
                <a:extLst>
                  <a:ext uri="{FF2B5EF4-FFF2-40B4-BE49-F238E27FC236}">
                    <a16:creationId xmlns:a16="http://schemas.microsoft.com/office/drawing/2014/main" id="{D41F23C6-FF3F-7929-E7AC-DB922DC09600}"/>
                  </a:ext>
                </a:extLst>
              </p:cNvPr>
              <p:cNvSpPr txBox="1">
                <a:spLocks noChangeArrowheads="1"/>
              </p:cNvSpPr>
              <p:nvPr/>
            </p:nvSpPr>
            <p:spPr bwMode="auto">
              <a:xfrm>
                <a:off x="2287" y="3167"/>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sp>
            <p:nvSpPr>
              <p:cNvPr id="46108" name="Text Box 8">
                <a:extLst>
                  <a:ext uri="{FF2B5EF4-FFF2-40B4-BE49-F238E27FC236}">
                    <a16:creationId xmlns:a16="http://schemas.microsoft.com/office/drawing/2014/main" id="{D70FEECC-3BF3-24E9-AB3B-AC3273833464}"/>
                  </a:ext>
                </a:extLst>
              </p:cNvPr>
              <p:cNvSpPr txBox="1">
                <a:spLocks noChangeArrowheads="1"/>
              </p:cNvSpPr>
              <p:nvPr/>
            </p:nvSpPr>
            <p:spPr bwMode="auto">
              <a:xfrm>
                <a:off x="2282" y="3503"/>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cxnSp>
            <p:nvCxnSpPr>
              <p:cNvPr id="46109" name="AutoShape 9">
                <a:extLst>
                  <a:ext uri="{FF2B5EF4-FFF2-40B4-BE49-F238E27FC236}">
                    <a16:creationId xmlns:a16="http://schemas.microsoft.com/office/drawing/2014/main" id="{09ABA00C-F612-448C-BB6B-89713767B900}"/>
                  </a:ext>
                </a:extLst>
              </p:cNvPr>
              <p:cNvCxnSpPr>
                <a:cxnSpLocks noChangeShapeType="1"/>
                <a:stCxn id="46105" idx="2"/>
                <a:endCxn id="46106" idx="0"/>
              </p:cNvCxnSpPr>
              <p:nvPr/>
            </p:nvCxnSpPr>
            <p:spPr bwMode="auto">
              <a:xfrm>
                <a:off x="2447" y="2706"/>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6110" name="AutoShape 10">
                <a:extLst>
                  <a:ext uri="{FF2B5EF4-FFF2-40B4-BE49-F238E27FC236}">
                    <a16:creationId xmlns:a16="http://schemas.microsoft.com/office/drawing/2014/main" id="{24B35503-DF2D-0347-2018-6277B69BE96A}"/>
                  </a:ext>
                </a:extLst>
              </p:cNvPr>
              <p:cNvCxnSpPr>
                <a:cxnSpLocks noChangeShapeType="1"/>
                <a:stCxn id="46106" idx="2"/>
                <a:endCxn id="46107" idx="0"/>
              </p:cNvCxnSpPr>
              <p:nvPr/>
            </p:nvCxnSpPr>
            <p:spPr bwMode="auto">
              <a:xfrm>
                <a:off x="2447" y="3090"/>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6111" name="AutoShape 11">
                <a:extLst>
                  <a:ext uri="{FF2B5EF4-FFF2-40B4-BE49-F238E27FC236}">
                    <a16:creationId xmlns:a16="http://schemas.microsoft.com/office/drawing/2014/main" id="{058964B2-FCF1-F7A7-D7CE-CAF18981DBE9}"/>
                  </a:ext>
                </a:extLst>
              </p:cNvPr>
              <p:cNvCxnSpPr>
                <a:cxnSpLocks noChangeShapeType="1"/>
                <a:stCxn id="46107" idx="2"/>
                <a:endCxn id="46108" idx="0"/>
              </p:cNvCxnSpPr>
              <p:nvPr/>
            </p:nvCxnSpPr>
            <p:spPr bwMode="auto">
              <a:xfrm>
                <a:off x="2447" y="3417"/>
                <a:ext cx="0" cy="86"/>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sp>
          <p:nvSpPr>
            <p:cNvPr id="46104" name="Text Box 12">
              <a:extLst>
                <a:ext uri="{FF2B5EF4-FFF2-40B4-BE49-F238E27FC236}">
                  <a16:creationId xmlns:a16="http://schemas.microsoft.com/office/drawing/2014/main" id="{F460BF70-58C1-41EB-105E-39C7E71A7574}"/>
                </a:ext>
              </a:extLst>
            </p:cNvPr>
            <p:cNvSpPr txBox="1">
              <a:spLocks noChangeArrowheads="1"/>
            </p:cNvSpPr>
            <p:nvPr/>
          </p:nvSpPr>
          <p:spPr bwMode="auto">
            <a:xfrm>
              <a:off x="3312" y="3969"/>
              <a:ext cx="14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grpSp>
      <p:sp>
        <p:nvSpPr>
          <p:cNvPr id="46085" name="Text Box 13">
            <a:extLst>
              <a:ext uri="{FF2B5EF4-FFF2-40B4-BE49-F238E27FC236}">
                <a16:creationId xmlns:a16="http://schemas.microsoft.com/office/drawing/2014/main" id="{D3745974-9C6A-9570-1AA9-5E44EFD37D07}"/>
              </a:ext>
            </a:extLst>
          </p:cNvPr>
          <p:cNvSpPr txBox="1">
            <a:spLocks noChangeArrowheads="1"/>
          </p:cNvSpPr>
          <p:nvPr/>
        </p:nvSpPr>
        <p:spPr bwMode="auto">
          <a:xfrm>
            <a:off x="2590800" y="1981200"/>
            <a:ext cx="481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Cond. pattern base of “am”: (fc:3)</a:t>
            </a:r>
          </a:p>
        </p:txBody>
      </p:sp>
      <p:grpSp>
        <p:nvGrpSpPr>
          <p:cNvPr id="46086" name="Group 14">
            <a:extLst>
              <a:ext uri="{FF2B5EF4-FFF2-40B4-BE49-F238E27FC236}">
                <a16:creationId xmlns:a16="http://schemas.microsoft.com/office/drawing/2014/main" id="{FA130421-59CE-6D71-F84A-3856A6A8257D}"/>
              </a:ext>
            </a:extLst>
          </p:cNvPr>
          <p:cNvGrpSpPr>
            <a:grpSpLocks/>
          </p:cNvGrpSpPr>
          <p:nvPr/>
        </p:nvGrpSpPr>
        <p:grpSpPr bwMode="auto">
          <a:xfrm>
            <a:off x="6781800" y="1371600"/>
            <a:ext cx="2413000" cy="1866900"/>
            <a:chOff x="4393" y="1248"/>
            <a:chExt cx="1520" cy="1176"/>
          </a:xfrm>
        </p:grpSpPr>
        <p:sp>
          <p:nvSpPr>
            <p:cNvPr id="46097" name="Text Box 15">
              <a:extLst>
                <a:ext uri="{FF2B5EF4-FFF2-40B4-BE49-F238E27FC236}">
                  <a16:creationId xmlns:a16="http://schemas.microsoft.com/office/drawing/2014/main" id="{D718E7F1-E861-CB97-5958-BD5B74E1ABD1}"/>
                </a:ext>
              </a:extLst>
            </p:cNvPr>
            <p:cNvSpPr txBox="1">
              <a:spLocks noChangeArrowheads="1"/>
            </p:cNvSpPr>
            <p:nvPr/>
          </p:nvSpPr>
          <p:spPr bwMode="auto">
            <a:xfrm>
              <a:off x="4878" y="1248"/>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6098" name="Text Box 16">
              <a:extLst>
                <a:ext uri="{FF2B5EF4-FFF2-40B4-BE49-F238E27FC236}">
                  <a16:creationId xmlns:a16="http://schemas.microsoft.com/office/drawing/2014/main" id="{75EABD2A-E053-590E-0D83-D3BE2A8F741B}"/>
                </a:ext>
              </a:extLst>
            </p:cNvPr>
            <p:cNvSpPr txBox="1">
              <a:spLocks noChangeArrowheads="1"/>
            </p:cNvSpPr>
            <p:nvPr/>
          </p:nvSpPr>
          <p:spPr bwMode="auto">
            <a:xfrm>
              <a:off x="4866" y="1632"/>
              <a:ext cx="2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sp>
          <p:nvSpPr>
            <p:cNvPr id="46099" name="Text Box 17">
              <a:extLst>
                <a:ext uri="{FF2B5EF4-FFF2-40B4-BE49-F238E27FC236}">
                  <a16:creationId xmlns:a16="http://schemas.microsoft.com/office/drawing/2014/main" id="{0044C01B-E144-FB97-54F1-B71AEBAEAC0B}"/>
                </a:ext>
              </a:extLst>
            </p:cNvPr>
            <p:cNvSpPr txBox="1">
              <a:spLocks noChangeArrowheads="1"/>
            </p:cNvSpPr>
            <p:nvPr/>
          </p:nvSpPr>
          <p:spPr bwMode="auto">
            <a:xfrm>
              <a:off x="4853" y="1959"/>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46100" name="AutoShape 18">
              <a:extLst>
                <a:ext uri="{FF2B5EF4-FFF2-40B4-BE49-F238E27FC236}">
                  <a16:creationId xmlns:a16="http://schemas.microsoft.com/office/drawing/2014/main" id="{480F4B09-838A-5868-594A-1EC033D15ADF}"/>
                </a:ext>
              </a:extLst>
            </p:cNvPr>
            <p:cNvCxnSpPr>
              <a:cxnSpLocks noChangeShapeType="1"/>
              <a:stCxn id="46097" idx="2"/>
              <a:endCxn id="46098" idx="0"/>
            </p:cNvCxnSpPr>
            <p:nvPr/>
          </p:nvCxnSpPr>
          <p:spPr bwMode="auto">
            <a:xfrm>
              <a:off x="5013" y="1498"/>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6101" name="AutoShape 19">
              <a:extLst>
                <a:ext uri="{FF2B5EF4-FFF2-40B4-BE49-F238E27FC236}">
                  <a16:creationId xmlns:a16="http://schemas.microsoft.com/office/drawing/2014/main" id="{50D5C5B0-4858-ACF9-C56C-F7157D35D153}"/>
                </a:ext>
              </a:extLst>
            </p:cNvPr>
            <p:cNvCxnSpPr>
              <a:cxnSpLocks noChangeShapeType="1"/>
              <a:stCxn id="46098" idx="2"/>
              <a:endCxn id="46099" idx="0"/>
            </p:cNvCxnSpPr>
            <p:nvPr/>
          </p:nvCxnSpPr>
          <p:spPr bwMode="auto">
            <a:xfrm>
              <a:off x="5013" y="1882"/>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46102" name="Text Box 20">
              <a:extLst>
                <a:ext uri="{FF2B5EF4-FFF2-40B4-BE49-F238E27FC236}">
                  <a16:creationId xmlns:a16="http://schemas.microsoft.com/office/drawing/2014/main" id="{93247A0D-67A0-1199-E7F1-A22987CAA208}"/>
                </a:ext>
              </a:extLst>
            </p:cNvPr>
            <p:cNvSpPr txBox="1">
              <a:spLocks noChangeArrowheads="1"/>
            </p:cNvSpPr>
            <p:nvPr/>
          </p:nvSpPr>
          <p:spPr bwMode="auto">
            <a:xfrm>
              <a:off x="4393" y="2193"/>
              <a:ext cx="15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am-conditional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grpSp>
      <p:sp>
        <p:nvSpPr>
          <p:cNvPr id="46087" name="Text Box 21">
            <a:extLst>
              <a:ext uri="{FF2B5EF4-FFF2-40B4-BE49-F238E27FC236}">
                <a16:creationId xmlns:a16="http://schemas.microsoft.com/office/drawing/2014/main" id="{747651CE-C0C6-4F8A-5CCE-86F5E84D4FC4}"/>
              </a:ext>
            </a:extLst>
          </p:cNvPr>
          <p:cNvSpPr txBox="1">
            <a:spLocks noChangeArrowheads="1"/>
          </p:cNvSpPr>
          <p:nvPr/>
        </p:nvSpPr>
        <p:spPr bwMode="auto">
          <a:xfrm>
            <a:off x="2743200" y="3429000"/>
            <a:ext cx="465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Cond. pattern base of “cm”: (f:3)</a:t>
            </a:r>
          </a:p>
        </p:txBody>
      </p:sp>
      <p:sp>
        <p:nvSpPr>
          <p:cNvPr id="46088" name="Text Box 22">
            <a:extLst>
              <a:ext uri="{FF2B5EF4-FFF2-40B4-BE49-F238E27FC236}">
                <a16:creationId xmlns:a16="http://schemas.microsoft.com/office/drawing/2014/main" id="{5A1088EE-A314-B281-DCA9-A3CE3C242838}"/>
              </a:ext>
            </a:extLst>
          </p:cNvPr>
          <p:cNvSpPr txBox="1">
            <a:spLocks noChangeArrowheads="1"/>
          </p:cNvSpPr>
          <p:nvPr/>
        </p:nvSpPr>
        <p:spPr bwMode="auto">
          <a:xfrm>
            <a:off x="7551738" y="3200400"/>
            <a:ext cx="428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6089" name="Text Box 23">
            <a:extLst>
              <a:ext uri="{FF2B5EF4-FFF2-40B4-BE49-F238E27FC236}">
                <a16:creationId xmlns:a16="http://schemas.microsoft.com/office/drawing/2014/main" id="{AB453099-4C2C-A588-AEEC-85AC180E7C6D}"/>
              </a:ext>
            </a:extLst>
          </p:cNvPr>
          <p:cNvSpPr txBox="1">
            <a:spLocks noChangeArrowheads="1"/>
          </p:cNvSpPr>
          <p:nvPr/>
        </p:nvSpPr>
        <p:spPr bwMode="auto">
          <a:xfrm>
            <a:off x="7532688" y="3810000"/>
            <a:ext cx="465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cxnSp>
        <p:nvCxnSpPr>
          <p:cNvPr id="46090" name="AutoShape 24">
            <a:extLst>
              <a:ext uri="{FF2B5EF4-FFF2-40B4-BE49-F238E27FC236}">
                <a16:creationId xmlns:a16="http://schemas.microsoft.com/office/drawing/2014/main" id="{A050392C-DEB9-9376-484F-9CEAEC013DB2}"/>
              </a:ext>
            </a:extLst>
          </p:cNvPr>
          <p:cNvCxnSpPr>
            <a:cxnSpLocks noChangeShapeType="1"/>
            <a:stCxn id="46088" idx="2"/>
            <a:endCxn id="46089" idx="0"/>
          </p:cNvCxnSpPr>
          <p:nvPr/>
        </p:nvCxnSpPr>
        <p:spPr bwMode="auto">
          <a:xfrm>
            <a:off x="7766050" y="3597275"/>
            <a:ext cx="0" cy="212725"/>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46091" name="Text Box 25">
            <a:extLst>
              <a:ext uri="{FF2B5EF4-FFF2-40B4-BE49-F238E27FC236}">
                <a16:creationId xmlns:a16="http://schemas.microsoft.com/office/drawing/2014/main" id="{45F25128-385F-E9FC-C19D-AF1B7D7C6A6F}"/>
              </a:ext>
            </a:extLst>
          </p:cNvPr>
          <p:cNvSpPr txBox="1">
            <a:spLocks noChangeArrowheads="1"/>
          </p:cNvSpPr>
          <p:nvPr/>
        </p:nvSpPr>
        <p:spPr bwMode="auto">
          <a:xfrm>
            <a:off x="6781800" y="4243388"/>
            <a:ext cx="2400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cm-conditional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sp>
        <p:nvSpPr>
          <p:cNvPr id="46092" name="Text Box 26">
            <a:extLst>
              <a:ext uri="{FF2B5EF4-FFF2-40B4-BE49-F238E27FC236}">
                <a16:creationId xmlns:a16="http://schemas.microsoft.com/office/drawing/2014/main" id="{52D18FDD-07A8-7B76-F79E-47EEEC88A6F2}"/>
              </a:ext>
            </a:extLst>
          </p:cNvPr>
          <p:cNvSpPr txBox="1">
            <a:spLocks noChangeArrowheads="1"/>
          </p:cNvSpPr>
          <p:nvPr/>
        </p:nvSpPr>
        <p:spPr bwMode="auto">
          <a:xfrm>
            <a:off x="381000" y="5334000"/>
            <a:ext cx="481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Cond. pattern base of “cam”: (f:3)</a:t>
            </a:r>
          </a:p>
        </p:txBody>
      </p:sp>
      <p:sp>
        <p:nvSpPr>
          <p:cNvPr id="46093" name="Text Box 27">
            <a:extLst>
              <a:ext uri="{FF2B5EF4-FFF2-40B4-BE49-F238E27FC236}">
                <a16:creationId xmlns:a16="http://schemas.microsoft.com/office/drawing/2014/main" id="{D939D0F4-E5D0-0B48-8D97-1DFC986E4B59}"/>
              </a:ext>
            </a:extLst>
          </p:cNvPr>
          <p:cNvSpPr txBox="1">
            <a:spLocks noChangeArrowheads="1"/>
          </p:cNvSpPr>
          <p:nvPr/>
        </p:nvSpPr>
        <p:spPr bwMode="auto">
          <a:xfrm>
            <a:off x="5646738" y="4876800"/>
            <a:ext cx="428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6094" name="Text Box 28">
            <a:extLst>
              <a:ext uri="{FF2B5EF4-FFF2-40B4-BE49-F238E27FC236}">
                <a16:creationId xmlns:a16="http://schemas.microsoft.com/office/drawing/2014/main" id="{595C7569-392F-5BC6-C2F6-AC0CEC73F42B}"/>
              </a:ext>
            </a:extLst>
          </p:cNvPr>
          <p:cNvSpPr txBox="1">
            <a:spLocks noChangeArrowheads="1"/>
          </p:cNvSpPr>
          <p:nvPr/>
        </p:nvSpPr>
        <p:spPr bwMode="auto">
          <a:xfrm>
            <a:off x="5627688" y="5486400"/>
            <a:ext cx="465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cxnSp>
        <p:nvCxnSpPr>
          <p:cNvPr id="46095" name="AutoShape 29">
            <a:extLst>
              <a:ext uri="{FF2B5EF4-FFF2-40B4-BE49-F238E27FC236}">
                <a16:creationId xmlns:a16="http://schemas.microsoft.com/office/drawing/2014/main" id="{86CC3401-C561-DF7B-B3FE-DE3D9BA6DB3A}"/>
              </a:ext>
            </a:extLst>
          </p:cNvPr>
          <p:cNvCxnSpPr>
            <a:cxnSpLocks noChangeShapeType="1"/>
            <a:stCxn id="46093" idx="2"/>
            <a:endCxn id="46094" idx="0"/>
          </p:cNvCxnSpPr>
          <p:nvPr/>
        </p:nvCxnSpPr>
        <p:spPr bwMode="auto">
          <a:xfrm>
            <a:off x="5861050" y="5273675"/>
            <a:ext cx="0" cy="212725"/>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46096" name="Text Box 30">
            <a:extLst>
              <a:ext uri="{FF2B5EF4-FFF2-40B4-BE49-F238E27FC236}">
                <a16:creationId xmlns:a16="http://schemas.microsoft.com/office/drawing/2014/main" id="{4A0C24CE-78ED-90FE-88D9-AF44536F5EA0}"/>
              </a:ext>
            </a:extLst>
          </p:cNvPr>
          <p:cNvSpPr txBox="1">
            <a:spLocks noChangeArrowheads="1"/>
          </p:cNvSpPr>
          <p:nvPr/>
        </p:nvSpPr>
        <p:spPr bwMode="auto">
          <a:xfrm>
            <a:off x="4876800" y="5919788"/>
            <a:ext cx="2514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cam-conditional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E3878430-290D-8A2B-91D2-F59C817DE5E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E8A5DCA-07D5-47A0-A61A-5E2BAE548E8F}" type="slidenum">
              <a:rPr lang="en-US" altLang="en-US" sz="1200"/>
              <a:pPr eaLnBrk="1" hangingPunct="1"/>
              <a:t>28</a:t>
            </a:fld>
            <a:endParaRPr lang="en-US" altLang="en-US" sz="1200"/>
          </a:p>
        </p:txBody>
      </p:sp>
      <p:sp>
        <p:nvSpPr>
          <p:cNvPr id="47107" name="Rectangle 2">
            <a:extLst>
              <a:ext uri="{FF2B5EF4-FFF2-40B4-BE49-F238E27FC236}">
                <a16:creationId xmlns:a16="http://schemas.microsoft.com/office/drawing/2014/main" id="{BFB6F658-7442-F8AB-0C10-A6B15658C7D7}"/>
              </a:ext>
            </a:extLst>
          </p:cNvPr>
          <p:cNvSpPr>
            <a:spLocks noGrp="1" noChangeArrowheads="1"/>
          </p:cNvSpPr>
          <p:nvPr>
            <p:ph type="title"/>
          </p:nvPr>
        </p:nvSpPr>
        <p:spPr>
          <a:xfrm>
            <a:off x="304800" y="533400"/>
            <a:ext cx="8458200" cy="528638"/>
          </a:xfrm>
        </p:spPr>
        <p:txBody>
          <a:bodyPr>
            <a:normAutofit fontScale="90000"/>
          </a:bodyPr>
          <a:lstStyle/>
          <a:p>
            <a:pPr eaLnBrk="1" hangingPunct="1">
              <a:lnSpc>
                <a:spcPct val="90000"/>
              </a:lnSpc>
            </a:pPr>
            <a:r>
              <a:rPr lang="en-US" altLang="en-US" sz="3200"/>
              <a:t>A Special Case: Single Prefix Path in FP-tree</a:t>
            </a:r>
          </a:p>
        </p:txBody>
      </p:sp>
      <p:sp>
        <p:nvSpPr>
          <p:cNvPr id="47108" name="Rectangle 3">
            <a:extLst>
              <a:ext uri="{FF2B5EF4-FFF2-40B4-BE49-F238E27FC236}">
                <a16:creationId xmlns:a16="http://schemas.microsoft.com/office/drawing/2014/main" id="{8C84CE1D-4074-872D-6855-1A4E42B2353A}"/>
              </a:ext>
            </a:extLst>
          </p:cNvPr>
          <p:cNvSpPr>
            <a:spLocks noGrp="1" noChangeArrowheads="1"/>
          </p:cNvSpPr>
          <p:nvPr>
            <p:ph type="body" idx="1"/>
          </p:nvPr>
        </p:nvSpPr>
        <p:spPr>
          <a:xfrm>
            <a:off x="1143000" y="1447800"/>
            <a:ext cx="7696200" cy="2743200"/>
          </a:xfrm>
        </p:spPr>
        <p:txBody>
          <a:bodyPr>
            <a:normAutofit fontScale="92500"/>
          </a:bodyPr>
          <a:lstStyle/>
          <a:p>
            <a:pPr eaLnBrk="1" hangingPunct="1">
              <a:lnSpc>
                <a:spcPct val="120000"/>
              </a:lnSpc>
            </a:pPr>
            <a:r>
              <a:rPr lang="en-US" altLang="en-US" sz="2400"/>
              <a:t>Suppose a (conditional) FP-tree T has a shared single prefix-path P</a:t>
            </a:r>
          </a:p>
          <a:p>
            <a:pPr eaLnBrk="1" hangingPunct="1">
              <a:lnSpc>
                <a:spcPct val="120000"/>
              </a:lnSpc>
            </a:pPr>
            <a:r>
              <a:rPr lang="en-US" altLang="en-US" sz="2400"/>
              <a:t>Mining can be decomposed into two parts</a:t>
            </a:r>
          </a:p>
          <a:p>
            <a:pPr lvl="1" eaLnBrk="1" hangingPunct="1">
              <a:lnSpc>
                <a:spcPct val="120000"/>
              </a:lnSpc>
            </a:pPr>
            <a:r>
              <a:rPr lang="en-US" altLang="en-US" sz="2400"/>
              <a:t>Reduction of the single prefix path into one node</a:t>
            </a:r>
          </a:p>
          <a:p>
            <a:pPr lvl="1" eaLnBrk="1" hangingPunct="1">
              <a:lnSpc>
                <a:spcPct val="120000"/>
              </a:lnSpc>
            </a:pPr>
            <a:r>
              <a:rPr lang="en-US" altLang="en-US" sz="2400"/>
              <a:t>Concatenation of the mining results of the two parts</a:t>
            </a:r>
          </a:p>
        </p:txBody>
      </p:sp>
      <p:sp>
        <p:nvSpPr>
          <p:cNvPr id="47109" name="Rectangle 4">
            <a:extLst>
              <a:ext uri="{FF2B5EF4-FFF2-40B4-BE49-F238E27FC236}">
                <a16:creationId xmlns:a16="http://schemas.microsoft.com/office/drawing/2014/main" id="{3E82DD40-EA7B-4C00-3A24-9D07FB4130EB}"/>
              </a:ext>
            </a:extLst>
          </p:cNvPr>
          <p:cNvSpPr>
            <a:spLocks noChangeArrowheads="1"/>
          </p:cNvSpPr>
          <p:nvPr/>
        </p:nvSpPr>
        <p:spPr bwMode="auto">
          <a:xfrm>
            <a:off x="2438400" y="5486400"/>
            <a:ext cx="49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b="1">
                <a:latin typeface="Times New Roman" panose="02020603050405020304" pitchFamily="18" charset="0"/>
                <a:sym typeface="Wingdings 3" panose="05040102010807070707" pitchFamily="18" charset="2"/>
              </a:rPr>
              <a:t></a:t>
            </a:r>
          </a:p>
        </p:txBody>
      </p:sp>
      <p:grpSp>
        <p:nvGrpSpPr>
          <p:cNvPr id="47110" name="Group 5">
            <a:extLst>
              <a:ext uri="{FF2B5EF4-FFF2-40B4-BE49-F238E27FC236}">
                <a16:creationId xmlns:a16="http://schemas.microsoft.com/office/drawing/2014/main" id="{620F6D69-DA57-70AC-A6E6-577B3AF352FE}"/>
              </a:ext>
            </a:extLst>
          </p:cNvPr>
          <p:cNvGrpSpPr>
            <a:grpSpLocks/>
          </p:cNvGrpSpPr>
          <p:nvPr/>
        </p:nvGrpSpPr>
        <p:grpSpPr bwMode="auto">
          <a:xfrm>
            <a:off x="381000" y="2819400"/>
            <a:ext cx="2128838" cy="3643313"/>
            <a:chOff x="0" y="1824"/>
            <a:chExt cx="1341" cy="2295"/>
          </a:xfrm>
        </p:grpSpPr>
        <p:grpSp>
          <p:nvGrpSpPr>
            <p:cNvPr id="47135" name="Group 6">
              <a:extLst>
                <a:ext uri="{FF2B5EF4-FFF2-40B4-BE49-F238E27FC236}">
                  <a16:creationId xmlns:a16="http://schemas.microsoft.com/office/drawing/2014/main" id="{1CD2AB8E-78CD-051E-2484-7D35DA436B77}"/>
                </a:ext>
              </a:extLst>
            </p:cNvPr>
            <p:cNvGrpSpPr>
              <a:grpSpLocks/>
            </p:cNvGrpSpPr>
            <p:nvPr/>
          </p:nvGrpSpPr>
          <p:grpSpPr bwMode="auto">
            <a:xfrm>
              <a:off x="240" y="1824"/>
              <a:ext cx="438" cy="1251"/>
              <a:chOff x="144" y="1824"/>
              <a:chExt cx="438" cy="1251"/>
            </a:xfrm>
          </p:grpSpPr>
          <p:sp>
            <p:nvSpPr>
              <p:cNvPr id="47145" name="Text Box 7">
                <a:extLst>
                  <a:ext uri="{FF2B5EF4-FFF2-40B4-BE49-F238E27FC236}">
                    <a16:creationId xmlns:a16="http://schemas.microsoft.com/office/drawing/2014/main" id="{46FDB5FA-855E-0225-3272-558439E9D193}"/>
                  </a:ext>
                </a:extLst>
              </p:cNvPr>
              <p:cNvSpPr txBox="1">
                <a:spLocks noChangeArrowheads="1"/>
              </p:cNvSpPr>
              <p:nvPr/>
            </p:nvSpPr>
            <p:spPr bwMode="auto">
              <a:xfrm>
                <a:off x="149" y="2504"/>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2</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2</a:t>
                </a:r>
              </a:p>
            </p:txBody>
          </p:sp>
          <p:sp>
            <p:nvSpPr>
              <p:cNvPr id="47146" name="Text Box 8">
                <a:extLst>
                  <a:ext uri="{FF2B5EF4-FFF2-40B4-BE49-F238E27FC236}">
                    <a16:creationId xmlns:a16="http://schemas.microsoft.com/office/drawing/2014/main" id="{569BAEBD-F45F-FDF9-D36B-8E508C9731FD}"/>
                  </a:ext>
                </a:extLst>
              </p:cNvPr>
              <p:cNvSpPr txBox="1">
                <a:spLocks noChangeArrowheads="1"/>
              </p:cNvSpPr>
              <p:nvPr/>
            </p:nvSpPr>
            <p:spPr bwMode="auto">
              <a:xfrm>
                <a:off x="144" y="2825"/>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3</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3</a:t>
                </a:r>
              </a:p>
            </p:txBody>
          </p:sp>
          <p:sp>
            <p:nvSpPr>
              <p:cNvPr id="47147" name="Text Box 9">
                <a:extLst>
                  <a:ext uri="{FF2B5EF4-FFF2-40B4-BE49-F238E27FC236}">
                    <a16:creationId xmlns:a16="http://schemas.microsoft.com/office/drawing/2014/main" id="{7D9B3665-A341-B86B-EF75-CC64B634C826}"/>
                  </a:ext>
                </a:extLst>
              </p:cNvPr>
              <p:cNvSpPr txBox="1">
                <a:spLocks noChangeArrowheads="1"/>
              </p:cNvSpPr>
              <p:nvPr/>
            </p:nvSpPr>
            <p:spPr bwMode="auto">
              <a:xfrm>
                <a:off x="144" y="2191"/>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1</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1</a:t>
                </a:r>
              </a:p>
            </p:txBody>
          </p:sp>
          <p:grpSp>
            <p:nvGrpSpPr>
              <p:cNvPr id="47148" name="Group 10">
                <a:extLst>
                  <a:ext uri="{FF2B5EF4-FFF2-40B4-BE49-F238E27FC236}">
                    <a16:creationId xmlns:a16="http://schemas.microsoft.com/office/drawing/2014/main" id="{4499FDD6-415E-7F29-C38E-6C9C147293C3}"/>
                  </a:ext>
                </a:extLst>
              </p:cNvPr>
              <p:cNvGrpSpPr>
                <a:grpSpLocks/>
              </p:cNvGrpSpPr>
              <p:nvPr/>
            </p:nvGrpSpPr>
            <p:grpSpPr bwMode="auto">
              <a:xfrm>
                <a:off x="155" y="1824"/>
                <a:ext cx="270" cy="1001"/>
                <a:chOff x="2312" y="2456"/>
                <a:chExt cx="290" cy="1047"/>
              </a:xfrm>
            </p:grpSpPr>
            <p:sp>
              <p:nvSpPr>
                <p:cNvPr id="47149" name="Text Box 11">
                  <a:extLst>
                    <a:ext uri="{FF2B5EF4-FFF2-40B4-BE49-F238E27FC236}">
                      <a16:creationId xmlns:a16="http://schemas.microsoft.com/office/drawing/2014/main" id="{DBC98C03-A2E3-6A23-F351-D85CEDCE47A3}"/>
                    </a:ext>
                  </a:extLst>
                </p:cNvPr>
                <p:cNvSpPr txBox="1">
                  <a:spLocks noChangeArrowheads="1"/>
                </p:cNvSpPr>
                <p:nvPr/>
              </p:nvSpPr>
              <p:spPr bwMode="auto">
                <a:xfrm>
                  <a:off x="2312" y="2456"/>
                  <a:ext cx="290"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cxnSp>
              <p:nvCxnSpPr>
                <p:cNvPr id="47150" name="AutoShape 12">
                  <a:extLst>
                    <a:ext uri="{FF2B5EF4-FFF2-40B4-BE49-F238E27FC236}">
                      <a16:creationId xmlns:a16="http://schemas.microsoft.com/office/drawing/2014/main" id="{9ECED749-1CAF-DDFC-B131-025D6C69A322}"/>
                    </a:ext>
                  </a:extLst>
                </p:cNvPr>
                <p:cNvCxnSpPr>
                  <a:cxnSpLocks noChangeShapeType="1"/>
                  <a:stCxn id="47149" idx="2"/>
                  <a:endCxn id="47147" idx="0"/>
                </p:cNvCxnSpPr>
                <p:nvPr/>
              </p:nvCxnSpPr>
              <p:spPr bwMode="auto">
                <a:xfrm>
                  <a:off x="2447" y="2706"/>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7151" name="AutoShape 13">
                  <a:extLst>
                    <a:ext uri="{FF2B5EF4-FFF2-40B4-BE49-F238E27FC236}">
                      <a16:creationId xmlns:a16="http://schemas.microsoft.com/office/drawing/2014/main" id="{2FACC7FB-D41F-98F8-71B4-8C33B9B0F4FA}"/>
                    </a:ext>
                  </a:extLst>
                </p:cNvPr>
                <p:cNvCxnSpPr>
                  <a:cxnSpLocks noChangeShapeType="1"/>
                  <a:stCxn id="47147" idx="2"/>
                  <a:endCxn id="47145" idx="0"/>
                </p:cNvCxnSpPr>
                <p:nvPr/>
              </p:nvCxnSpPr>
              <p:spPr bwMode="auto">
                <a:xfrm>
                  <a:off x="2447" y="3090"/>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7152" name="AutoShape 14">
                  <a:extLst>
                    <a:ext uri="{FF2B5EF4-FFF2-40B4-BE49-F238E27FC236}">
                      <a16:creationId xmlns:a16="http://schemas.microsoft.com/office/drawing/2014/main" id="{1FA03861-F93C-5157-D0BE-D253ED78C3E4}"/>
                    </a:ext>
                  </a:extLst>
                </p:cNvPr>
                <p:cNvCxnSpPr>
                  <a:cxnSpLocks noChangeShapeType="1"/>
                  <a:stCxn id="47145" idx="2"/>
                  <a:endCxn id="47146" idx="0"/>
                </p:cNvCxnSpPr>
                <p:nvPr/>
              </p:nvCxnSpPr>
              <p:spPr bwMode="auto">
                <a:xfrm>
                  <a:off x="2447" y="3417"/>
                  <a:ext cx="0" cy="86"/>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grpSp>
          <p:nvGrpSpPr>
            <p:cNvPr id="47136" name="Group 15">
              <a:extLst>
                <a:ext uri="{FF2B5EF4-FFF2-40B4-BE49-F238E27FC236}">
                  <a16:creationId xmlns:a16="http://schemas.microsoft.com/office/drawing/2014/main" id="{72D75CEA-368A-10A3-8B66-2C16ECBC67D9}"/>
                </a:ext>
              </a:extLst>
            </p:cNvPr>
            <p:cNvGrpSpPr>
              <a:grpSpLocks/>
            </p:cNvGrpSpPr>
            <p:nvPr/>
          </p:nvGrpSpPr>
          <p:grpSpPr bwMode="auto">
            <a:xfrm>
              <a:off x="0" y="3120"/>
              <a:ext cx="1341" cy="999"/>
              <a:chOff x="0" y="3120"/>
              <a:chExt cx="1341" cy="999"/>
            </a:xfrm>
          </p:grpSpPr>
          <p:sp>
            <p:nvSpPr>
              <p:cNvPr id="47137" name="Line 16">
                <a:extLst>
                  <a:ext uri="{FF2B5EF4-FFF2-40B4-BE49-F238E27FC236}">
                    <a16:creationId xmlns:a16="http://schemas.microsoft.com/office/drawing/2014/main" id="{F936594E-ED91-8195-7901-890E09351243}"/>
                  </a:ext>
                </a:extLst>
              </p:cNvPr>
              <p:cNvSpPr>
                <a:spLocks noChangeShapeType="1"/>
              </p:cNvSpPr>
              <p:nvPr/>
            </p:nvSpPr>
            <p:spPr bwMode="auto">
              <a:xfrm flipH="1">
                <a:off x="144" y="3120"/>
                <a:ext cx="24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38" name="Line 17">
                <a:extLst>
                  <a:ext uri="{FF2B5EF4-FFF2-40B4-BE49-F238E27FC236}">
                    <a16:creationId xmlns:a16="http://schemas.microsoft.com/office/drawing/2014/main" id="{C99B3643-E179-F3EE-85D7-5ED375B3661D}"/>
                  </a:ext>
                </a:extLst>
              </p:cNvPr>
              <p:cNvSpPr>
                <a:spLocks noChangeShapeType="1"/>
              </p:cNvSpPr>
              <p:nvPr/>
            </p:nvSpPr>
            <p:spPr bwMode="auto">
              <a:xfrm>
                <a:off x="432" y="3120"/>
                <a:ext cx="24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39" name="Text Box 18">
                <a:extLst>
                  <a:ext uri="{FF2B5EF4-FFF2-40B4-BE49-F238E27FC236}">
                    <a16:creationId xmlns:a16="http://schemas.microsoft.com/office/drawing/2014/main" id="{20F18C55-4E6D-68DF-CC83-B53B06C84CD7}"/>
                  </a:ext>
                </a:extLst>
              </p:cNvPr>
              <p:cNvSpPr txBox="1">
                <a:spLocks noChangeArrowheads="1"/>
              </p:cNvSpPr>
              <p:nvPr/>
            </p:nvSpPr>
            <p:spPr bwMode="auto">
              <a:xfrm>
                <a:off x="0" y="3424"/>
                <a:ext cx="4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b</a:t>
                </a:r>
                <a:r>
                  <a:rPr lang="en-US" altLang="en-US" sz="1800" i="1" baseline="-25000"/>
                  <a:t>1</a:t>
                </a:r>
                <a:r>
                  <a:rPr lang="en-US" altLang="en-US" sz="1800" i="1"/>
                  <a:t>:m</a:t>
                </a:r>
                <a:r>
                  <a:rPr lang="en-US" altLang="en-US" sz="1800" i="1" baseline="-25000"/>
                  <a:t>1</a:t>
                </a:r>
              </a:p>
            </p:txBody>
          </p:sp>
          <p:sp>
            <p:nvSpPr>
              <p:cNvPr id="47140" name="Text Box 19">
                <a:extLst>
                  <a:ext uri="{FF2B5EF4-FFF2-40B4-BE49-F238E27FC236}">
                    <a16:creationId xmlns:a16="http://schemas.microsoft.com/office/drawing/2014/main" id="{259612C2-86D3-7E2B-F60B-FEAF49EA47E9}"/>
                  </a:ext>
                </a:extLst>
              </p:cNvPr>
              <p:cNvSpPr txBox="1">
                <a:spLocks noChangeArrowheads="1"/>
              </p:cNvSpPr>
              <p:nvPr/>
            </p:nvSpPr>
            <p:spPr bwMode="auto">
              <a:xfrm>
                <a:off x="662" y="3380"/>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1</a:t>
                </a:r>
                <a:r>
                  <a:rPr lang="en-US" altLang="en-US" sz="1800" i="1"/>
                  <a:t>:k</a:t>
                </a:r>
                <a:r>
                  <a:rPr lang="en-US" altLang="en-US" sz="1800" i="1" baseline="-25000"/>
                  <a:t>1</a:t>
                </a:r>
              </a:p>
            </p:txBody>
          </p:sp>
          <p:sp>
            <p:nvSpPr>
              <p:cNvPr id="47141" name="Line 20">
                <a:extLst>
                  <a:ext uri="{FF2B5EF4-FFF2-40B4-BE49-F238E27FC236}">
                    <a16:creationId xmlns:a16="http://schemas.microsoft.com/office/drawing/2014/main" id="{767FEC95-8879-5B84-3897-18C450E6B4FC}"/>
                  </a:ext>
                </a:extLst>
              </p:cNvPr>
              <p:cNvSpPr>
                <a:spLocks noChangeShapeType="1"/>
              </p:cNvSpPr>
              <p:nvPr/>
            </p:nvSpPr>
            <p:spPr bwMode="auto">
              <a:xfrm flipH="1">
                <a:off x="528" y="364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42" name="Line 21">
                <a:extLst>
                  <a:ext uri="{FF2B5EF4-FFF2-40B4-BE49-F238E27FC236}">
                    <a16:creationId xmlns:a16="http://schemas.microsoft.com/office/drawing/2014/main" id="{E7A143D1-1622-1557-251E-DBB91A1FC85B}"/>
                  </a:ext>
                </a:extLst>
              </p:cNvPr>
              <p:cNvSpPr>
                <a:spLocks noChangeShapeType="1"/>
              </p:cNvSpPr>
              <p:nvPr/>
            </p:nvSpPr>
            <p:spPr bwMode="auto">
              <a:xfrm>
                <a:off x="864" y="3648"/>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43" name="Rectangle 22">
                <a:extLst>
                  <a:ext uri="{FF2B5EF4-FFF2-40B4-BE49-F238E27FC236}">
                    <a16:creationId xmlns:a16="http://schemas.microsoft.com/office/drawing/2014/main" id="{3EA5270D-8141-DD5A-BFFF-FA00587E57B2}"/>
                  </a:ext>
                </a:extLst>
              </p:cNvPr>
              <p:cNvSpPr>
                <a:spLocks noChangeArrowheads="1"/>
              </p:cNvSpPr>
              <p:nvPr/>
            </p:nvSpPr>
            <p:spPr bwMode="auto">
              <a:xfrm>
                <a:off x="288" y="3888"/>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2</a:t>
                </a:r>
                <a:r>
                  <a:rPr lang="en-US" altLang="en-US" sz="1800" i="1"/>
                  <a:t>:k</a:t>
                </a:r>
                <a:r>
                  <a:rPr lang="en-US" altLang="en-US" sz="1800" i="1" baseline="-25000"/>
                  <a:t>2</a:t>
                </a:r>
              </a:p>
            </p:txBody>
          </p:sp>
          <p:sp>
            <p:nvSpPr>
              <p:cNvPr id="47144" name="Rectangle 23">
                <a:extLst>
                  <a:ext uri="{FF2B5EF4-FFF2-40B4-BE49-F238E27FC236}">
                    <a16:creationId xmlns:a16="http://schemas.microsoft.com/office/drawing/2014/main" id="{3B4D7838-0DD6-0675-EBCF-9FEF6A6555E2}"/>
                  </a:ext>
                </a:extLst>
              </p:cNvPr>
              <p:cNvSpPr>
                <a:spLocks noChangeArrowheads="1"/>
              </p:cNvSpPr>
              <p:nvPr/>
            </p:nvSpPr>
            <p:spPr bwMode="auto">
              <a:xfrm>
                <a:off x="912" y="3888"/>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3</a:t>
                </a:r>
                <a:r>
                  <a:rPr lang="en-US" altLang="en-US" sz="1800" i="1"/>
                  <a:t>:k</a:t>
                </a:r>
                <a:r>
                  <a:rPr lang="en-US" altLang="en-US" sz="1800" i="1" baseline="-25000"/>
                  <a:t>3</a:t>
                </a:r>
              </a:p>
            </p:txBody>
          </p:sp>
        </p:grpSp>
      </p:grpSp>
      <p:grpSp>
        <p:nvGrpSpPr>
          <p:cNvPr id="47111" name="Group 24">
            <a:extLst>
              <a:ext uri="{FF2B5EF4-FFF2-40B4-BE49-F238E27FC236}">
                <a16:creationId xmlns:a16="http://schemas.microsoft.com/office/drawing/2014/main" id="{2883A04B-C797-B7EE-0CFE-EA1E44E87139}"/>
              </a:ext>
            </a:extLst>
          </p:cNvPr>
          <p:cNvGrpSpPr>
            <a:grpSpLocks/>
          </p:cNvGrpSpPr>
          <p:nvPr/>
        </p:nvGrpSpPr>
        <p:grpSpPr bwMode="auto">
          <a:xfrm>
            <a:off x="6172200" y="4572000"/>
            <a:ext cx="2128838" cy="2043113"/>
            <a:chOff x="2304" y="2880"/>
            <a:chExt cx="1341" cy="1287"/>
          </a:xfrm>
        </p:grpSpPr>
        <p:grpSp>
          <p:nvGrpSpPr>
            <p:cNvPr id="47125" name="Group 25">
              <a:extLst>
                <a:ext uri="{FF2B5EF4-FFF2-40B4-BE49-F238E27FC236}">
                  <a16:creationId xmlns:a16="http://schemas.microsoft.com/office/drawing/2014/main" id="{963D5742-3FE3-3E09-F5E7-7BAC69231FA3}"/>
                </a:ext>
              </a:extLst>
            </p:cNvPr>
            <p:cNvGrpSpPr>
              <a:grpSpLocks/>
            </p:cNvGrpSpPr>
            <p:nvPr/>
          </p:nvGrpSpPr>
          <p:grpSpPr bwMode="auto">
            <a:xfrm>
              <a:off x="2304" y="3168"/>
              <a:ext cx="1341" cy="999"/>
              <a:chOff x="0" y="3120"/>
              <a:chExt cx="1341" cy="999"/>
            </a:xfrm>
          </p:grpSpPr>
          <p:sp>
            <p:nvSpPr>
              <p:cNvPr id="47127" name="Line 26">
                <a:extLst>
                  <a:ext uri="{FF2B5EF4-FFF2-40B4-BE49-F238E27FC236}">
                    <a16:creationId xmlns:a16="http://schemas.microsoft.com/office/drawing/2014/main" id="{A70F54FC-42C0-6B99-0C62-DD9428C9B2EC}"/>
                  </a:ext>
                </a:extLst>
              </p:cNvPr>
              <p:cNvSpPr>
                <a:spLocks noChangeShapeType="1"/>
              </p:cNvSpPr>
              <p:nvPr/>
            </p:nvSpPr>
            <p:spPr bwMode="auto">
              <a:xfrm flipH="1">
                <a:off x="144" y="3120"/>
                <a:ext cx="24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28" name="Line 27">
                <a:extLst>
                  <a:ext uri="{FF2B5EF4-FFF2-40B4-BE49-F238E27FC236}">
                    <a16:creationId xmlns:a16="http://schemas.microsoft.com/office/drawing/2014/main" id="{9FE4BF35-FD08-C41F-9F56-6EB5CDB82C88}"/>
                  </a:ext>
                </a:extLst>
              </p:cNvPr>
              <p:cNvSpPr>
                <a:spLocks noChangeShapeType="1"/>
              </p:cNvSpPr>
              <p:nvPr/>
            </p:nvSpPr>
            <p:spPr bwMode="auto">
              <a:xfrm>
                <a:off x="432" y="3120"/>
                <a:ext cx="24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29" name="Text Box 28">
                <a:extLst>
                  <a:ext uri="{FF2B5EF4-FFF2-40B4-BE49-F238E27FC236}">
                    <a16:creationId xmlns:a16="http://schemas.microsoft.com/office/drawing/2014/main" id="{2F99CEA7-BE00-3004-5CFD-CD7F292794BE}"/>
                  </a:ext>
                </a:extLst>
              </p:cNvPr>
              <p:cNvSpPr txBox="1">
                <a:spLocks noChangeArrowheads="1"/>
              </p:cNvSpPr>
              <p:nvPr/>
            </p:nvSpPr>
            <p:spPr bwMode="auto">
              <a:xfrm>
                <a:off x="0" y="3424"/>
                <a:ext cx="4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b</a:t>
                </a:r>
                <a:r>
                  <a:rPr lang="en-US" altLang="en-US" sz="1800" i="1" baseline="-25000"/>
                  <a:t>1</a:t>
                </a:r>
                <a:r>
                  <a:rPr lang="en-US" altLang="en-US" sz="1800" i="1"/>
                  <a:t>:m</a:t>
                </a:r>
                <a:r>
                  <a:rPr lang="en-US" altLang="en-US" sz="1800" i="1" baseline="-25000"/>
                  <a:t>1</a:t>
                </a:r>
              </a:p>
            </p:txBody>
          </p:sp>
          <p:sp>
            <p:nvSpPr>
              <p:cNvPr id="47130" name="Text Box 29">
                <a:extLst>
                  <a:ext uri="{FF2B5EF4-FFF2-40B4-BE49-F238E27FC236}">
                    <a16:creationId xmlns:a16="http://schemas.microsoft.com/office/drawing/2014/main" id="{026C0C3F-789D-1A55-FAFC-F877EDC870B1}"/>
                  </a:ext>
                </a:extLst>
              </p:cNvPr>
              <p:cNvSpPr txBox="1">
                <a:spLocks noChangeArrowheads="1"/>
              </p:cNvSpPr>
              <p:nvPr/>
            </p:nvSpPr>
            <p:spPr bwMode="auto">
              <a:xfrm>
                <a:off x="662" y="3380"/>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1</a:t>
                </a:r>
                <a:r>
                  <a:rPr lang="en-US" altLang="en-US" sz="1800" i="1"/>
                  <a:t>:k</a:t>
                </a:r>
                <a:r>
                  <a:rPr lang="en-US" altLang="en-US" sz="1800" i="1" baseline="-25000"/>
                  <a:t>1</a:t>
                </a:r>
              </a:p>
            </p:txBody>
          </p:sp>
          <p:sp>
            <p:nvSpPr>
              <p:cNvPr id="47131" name="Line 30">
                <a:extLst>
                  <a:ext uri="{FF2B5EF4-FFF2-40B4-BE49-F238E27FC236}">
                    <a16:creationId xmlns:a16="http://schemas.microsoft.com/office/drawing/2014/main" id="{5230CB6C-41EF-B385-FB09-004E32ABD26E}"/>
                  </a:ext>
                </a:extLst>
              </p:cNvPr>
              <p:cNvSpPr>
                <a:spLocks noChangeShapeType="1"/>
              </p:cNvSpPr>
              <p:nvPr/>
            </p:nvSpPr>
            <p:spPr bwMode="auto">
              <a:xfrm flipH="1">
                <a:off x="528" y="364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32" name="Line 31">
                <a:extLst>
                  <a:ext uri="{FF2B5EF4-FFF2-40B4-BE49-F238E27FC236}">
                    <a16:creationId xmlns:a16="http://schemas.microsoft.com/office/drawing/2014/main" id="{75509AC8-672C-6072-551B-0AA138A715D8}"/>
                  </a:ext>
                </a:extLst>
              </p:cNvPr>
              <p:cNvSpPr>
                <a:spLocks noChangeShapeType="1"/>
              </p:cNvSpPr>
              <p:nvPr/>
            </p:nvSpPr>
            <p:spPr bwMode="auto">
              <a:xfrm>
                <a:off x="864" y="3648"/>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47133" name="Rectangle 32">
                <a:extLst>
                  <a:ext uri="{FF2B5EF4-FFF2-40B4-BE49-F238E27FC236}">
                    <a16:creationId xmlns:a16="http://schemas.microsoft.com/office/drawing/2014/main" id="{D881BAF3-E510-74EA-D778-2CD60ADB5E6C}"/>
                  </a:ext>
                </a:extLst>
              </p:cNvPr>
              <p:cNvSpPr>
                <a:spLocks noChangeArrowheads="1"/>
              </p:cNvSpPr>
              <p:nvPr/>
            </p:nvSpPr>
            <p:spPr bwMode="auto">
              <a:xfrm>
                <a:off x="288" y="3888"/>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2</a:t>
                </a:r>
                <a:r>
                  <a:rPr lang="en-US" altLang="en-US" sz="1800" i="1"/>
                  <a:t>:k</a:t>
                </a:r>
                <a:r>
                  <a:rPr lang="en-US" altLang="en-US" sz="1800" i="1" baseline="-25000"/>
                  <a:t>2</a:t>
                </a:r>
              </a:p>
            </p:txBody>
          </p:sp>
          <p:sp>
            <p:nvSpPr>
              <p:cNvPr id="47134" name="Rectangle 33">
                <a:extLst>
                  <a:ext uri="{FF2B5EF4-FFF2-40B4-BE49-F238E27FC236}">
                    <a16:creationId xmlns:a16="http://schemas.microsoft.com/office/drawing/2014/main" id="{267490E7-9BBE-E9AC-1948-754868928828}"/>
                  </a:ext>
                </a:extLst>
              </p:cNvPr>
              <p:cNvSpPr>
                <a:spLocks noChangeArrowheads="1"/>
              </p:cNvSpPr>
              <p:nvPr/>
            </p:nvSpPr>
            <p:spPr bwMode="auto">
              <a:xfrm>
                <a:off x="912" y="3888"/>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C</a:t>
                </a:r>
                <a:r>
                  <a:rPr lang="en-US" altLang="en-US" sz="1800" i="1" baseline="-25000"/>
                  <a:t>3</a:t>
                </a:r>
                <a:r>
                  <a:rPr lang="en-US" altLang="en-US" sz="1800" i="1"/>
                  <a:t>:k</a:t>
                </a:r>
                <a:r>
                  <a:rPr lang="en-US" altLang="en-US" sz="1800" i="1" baseline="-25000"/>
                  <a:t>3</a:t>
                </a:r>
              </a:p>
            </p:txBody>
          </p:sp>
        </p:grpSp>
        <p:sp>
          <p:nvSpPr>
            <p:cNvPr id="47126" name="Text Box 34">
              <a:extLst>
                <a:ext uri="{FF2B5EF4-FFF2-40B4-BE49-F238E27FC236}">
                  <a16:creationId xmlns:a16="http://schemas.microsoft.com/office/drawing/2014/main" id="{565B86F5-D014-A309-48D0-B7A6695869D0}"/>
                </a:ext>
              </a:extLst>
            </p:cNvPr>
            <p:cNvSpPr txBox="1">
              <a:spLocks noChangeArrowheads="1"/>
            </p:cNvSpPr>
            <p:nvPr/>
          </p:nvSpPr>
          <p:spPr bwMode="auto">
            <a:xfrm>
              <a:off x="2640" y="2880"/>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i="1"/>
                <a:t>r</a:t>
              </a:r>
              <a:r>
                <a:rPr lang="en-US" altLang="en-US" sz="1800" i="1" baseline="-25000"/>
                <a:t>1</a:t>
              </a:r>
            </a:p>
          </p:txBody>
        </p:sp>
      </p:grpSp>
      <p:sp>
        <p:nvSpPr>
          <p:cNvPr id="47112" name="Rectangle 35">
            <a:extLst>
              <a:ext uri="{FF2B5EF4-FFF2-40B4-BE49-F238E27FC236}">
                <a16:creationId xmlns:a16="http://schemas.microsoft.com/office/drawing/2014/main" id="{9F37DD9C-819C-31E0-4E1D-79CF0FD3DE1D}"/>
              </a:ext>
            </a:extLst>
          </p:cNvPr>
          <p:cNvSpPr>
            <a:spLocks noChangeArrowheads="1"/>
          </p:cNvSpPr>
          <p:nvPr/>
        </p:nvSpPr>
        <p:spPr bwMode="auto">
          <a:xfrm>
            <a:off x="5410200" y="5334000"/>
            <a:ext cx="444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3600" b="1">
                <a:latin typeface="Times New Roman" panose="02020603050405020304" pitchFamily="18" charset="0"/>
                <a:sym typeface="Wingdings 3" panose="05040102010807070707" pitchFamily="18" charset="2"/>
              </a:rPr>
              <a:t>+</a:t>
            </a:r>
          </a:p>
        </p:txBody>
      </p:sp>
      <p:grpSp>
        <p:nvGrpSpPr>
          <p:cNvPr id="47113" name="Group 36">
            <a:extLst>
              <a:ext uri="{FF2B5EF4-FFF2-40B4-BE49-F238E27FC236}">
                <a16:creationId xmlns:a16="http://schemas.microsoft.com/office/drawing/2014/main" id="{3EC6C354-EBB4-C585-428C-A79C77A2A131}"/>
              </a:ext>
            </a:extLst>
          </p:cNvPr>
          <p:cNvGrpSpPr>
            <a:grpSpLocks/>
          </p:cNvGrpSpPr>
          <p:nvPr/>
        </p:nvGrpSpPr>
        <p:grpSpPr bwMode="auto">
          <a:xfrm>
            <a:off x="3352800" y="4648200"/>
            <a:ext cx="1609725" cy="1985963"/>
            <a:chOff x="2112" y="2928"/>
            <a:chExt cx="1014" cy="1251"/>
          </a:xfrm>
        </p:grpSpPr>
        <p:grpSp>
          <p:nvGrpSpPr>
            <p:cNvPr id="47114" name="Group 37">
              <a:extLst>
                <a:ext uri="{FF2B5EF4-FFF2-40B4-BE49-F238E27FC236}">
                  <a16:creationId xmlns:a16="http://schemas.microsoft.com/office/drawing/2014/main" id="{EBD342C7-52D4-2A80-2616-C9DE07E43139}"/>
                </a:ext>
              </a:extLst>
            </p:cNvPr>
            <p:cNvGrpSpPr>
              <a:grpSpLocks/>
            </p:cNvGrpSpPr>
            <p:nvPr/>
          </p:nvGrpSpPr>
          <p:grpSpPr bwMode="auto">
            <a:xfrm>
              <a:off x="2688" y="2928"/>
              <a:ext cx="438" cy="1251"/>
              <a:chOff x="144" y="1824"/>
              <a:chExt cx="438" cy="1251"/>
            </a:xfrm>
          </p:grpSpPr>
          <p:sp>
            <p:nvSpPr>
              <p:cNvPr id="47117" name="Text Box 38">
                <a:extLst>
                  <a:ext uri="{FF2B5EF4-FFF2-40B4-BE49-F238E27FC236}">
                    <a16:creationId xmlns:a16="http://schemas.microsoft.com/office/drawing/2014/main" id="{E62CECC2-E9B1-162D-E64C-BC06C24A2F21}"/>
                  </a:ext>
                </a:extLst>
              </p:cNvPr>
              <p:cNvSpPr txBox="1">
                <a:spLocks noChangeArrowheads="1"/>
              </p:cNvSpPr>
              <p:nvPr/>
            </p:nvSpPr>
            <p:spPr bwMode="auto">
              <a:xfrm>
                <a:off x="149" y="2504"/>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2</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2</a:t>
                </a:r>
              </a:p>
            </p:txBody>
          </p:sp>
          <p:sp>
            <p:nvSpPr>
              <p:cNvPr id="47118" name="Text Box 39">
                <a:extLst>
                  <a:ext uri="{FF2B5EF4-FFF2-40B4-BE49-F238E27FC236}">
                    <a16:creationId xmlns:a16="http://schemas.microsoft.com/office/drawing/2014/main" id="{6F93C064-BECC-7D1D-2E2A-39AA86CD0BE8}"/>
                  </a:ext>
                </a:extLst>
              </p:cNvPr>
              <p:cNvSpPr txBox="1">
                <a:spLocks noChangeArrowheads="1"/>
              </p:cNvSpPr>
              <p:nvPr/>
            </p:nvSpPr>
            <p:spPr bwMode="auto">
              <a:xfrm>
                <a:off x="144" y="2825"/>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3</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3</a:t>
                </a:r>
              </a:p>
            </p:txBody>
          </p:sp>
          <p:sp>
            <p:nvSpPr>
              <p:cNvPr id="47119" name="Text Box 40">
                <a:extLst>
                  <a:ext uri="{FF2B5EF4-FFF2-40B4-BE49-F238E27FC236}">
                    <a16:creationId xmlns:a16="http://schemas.microsoft.com/office/drawing/2014/main" id="{48607BBD-3DDB-76C0-2B96-4EA74DE6E3AA}"/>
                  </a:ext>
                </a:extLst>
              </p:cNvPr>
              <p:cNvSpPr txBox="1">
                <a:spLocks noChangeArrowheads="1"/>
              </p:cNvSpPr>
              <p:nvPr/>
            </p:nvSpPr>
            <p:spPr bwMode="auto">
              <a:xfrm>
                <a:off x="144" y="2191"/>
                <a:ext cx="4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a:t>
                </a:r>
                <a:r>
                  <a:rPr lang="en-US" altLang="en-US" sz="2000" i="1" baseline="-25000">
                    <a:latin typeface="Times New Roman" panose="02020603050405020304" pitchFamily="18" charset="0"/>
                  </a:rPr>
                  <a:t>1</a:t>
                </a:r>
                <a:r>
                  <a:rPr lang="en-US" altLang="en-US" sz="2000" i="1">
                    <a:latin typeface="Times New Roman" panose="02020603050405020304" pitchFamily="18" charset="0"/>
                  </a:rPr>
                  <a:t>:n</a:t>
                </a:r>
                <a:r>
                  <a:rPr lang="en-US" altLang="en-US" sz="2000" i="1" baseline="-25000">
                    <a:latin typeface="Times New Roman" panose="02020603050405020304" pitchFamily="18" charset="0"/>
                  </a:rPr>
                  <a:t>1</a:t>
                </a:r>
              </a:p>
            </p:txBody>
          </p:sp>
          <p:grpSp>
            <p:nvGrpSpPr>
              <p:cNvPr id="47120" name="Group 41">
                <a:extLst>
                  <a:ext uri="{FF2B5EF4-FFF2-40B4-BE49-F238E27FC236}">
                    <a16:creationId xmlns:a16="http://schemas.microsoft.com/office/drawing/2014/main" id="{90E6F606-3C8C-8BF2-215C-7EC6325CA910}"/>
                  </a:ext>
                </a:extLst>
              </p:cNvPr>
              <p:cNvGrpSpPr>
                <a:grpSpLocks/>
              </p:cNvGrpSpPr>
              <p:nvPr/>
            </p:nvGrpSpPr>
            <p:grpSpPr bwMode="auto">
              <a:xfrm>
                <a:off x="155" y="1824"/>
                <a:ext cx="270" cy="1001"/>
                <a:chOff x="2312" y="2456"/>
                <a:chExt cx="290" cy="1047"/>
              </a:xfrm>
            </p:grpSpPr>
            <p:sp>
              <p:nvSpPr>
                <p:cNvPr id="47121" name="Text Box 42">
                  <a:extLst>
                    <a:ext uri="{FF2B5EF4-FFF2-40B4-BE49-F238E27FC236}">
                      <a16:creationId xmlns:a16="http://schemas.microsoft.com/office/drawing/2014/main" id="{12B61F49-20C7-893F-4B6A-E7667E25E962}"/>
                    </a:ext>
                  </a:extLst>
                </p:cNvPr>
                <p:cNvSpPr txBox="1">
                  <a:spLocks noChangeArrowheads="1"/>
                </p:cNvSpPr>
                <p:nvPr/>
              </p:nvSpPr>
              <p:spPr bwMode="auto">
                <a:xfrm>
                  <a:off x="2312" y="2456"/>
                  <a:ext cx="290"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cxnSp>
              <p:nvCxnSpPr>
                <p:cNvPr id="47122" name="AutoShape 43">
                  <a:extLst>
                    <a:ext uri="{FF2B5EF4-FFF2-40B4-BE49-F238E27FC236}">
                      <a16:creationId xmlns:a16="http://schemas.microsoft.com/office/drawing/2014/main" id="{F2F8744C-4B56-1A80-18EC-DEAA8DB4746A}"/>
                    </a:ext>
                  </a:extLst>
                </p:cNvPr>
                <p:cNvCxnSpPr>
                  <a:cxnSpLocks noChangeShapeType="1"/>
                  <a:stCxn id="47121" idx="2"/>
                  <a:endCxn id="47119" idx="0"/>
                </p:cNvCxnSpPr>
                <p:nvPr/>
              </p:nvCxnSpPr>
              <p:spPr bwMode="auto">
                <a:xfrm>
                  <a:off x="2447" y="2706"/>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7123" name="AutoShape 44">
                  <a:extLst>
                    <a:ext uri="{FF2B5EF4-FFF2-40B4-BE49-F238E27FC236}">
                      <a16:creationId xmlns:a16="http://schemas.microsoft.com/office/drawing/2014/main" id="{8BF981F5-3F23-A254-201A-B75DB7EE84DB}"/>
                    </a:ext>
                  </a:extLst>
                </p:cNvPr>
                <p:cNvCxnSpPr>
                  <a:cxnSpLocks noChangeShapeType="1"/>
                  <a:stCxn id="47119" idx="2"/>
                  <a:endCxn id="47117" idx="0"/>
                </p:cNvCxnSpPr>
                <p:nvPr/>
              </p:nvCxnSpPr>
              <p:spPr bwMode="auto">
                <a:xfrm>
                  <a:off x="2447" y="3090"/>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7124" name="AutoShape 45">
                  <a:extLst>
                    <a:ext uri="{FF2B5EF4-FFF2-40B4-BE49-F238E27FC236}">
                      <a16:creationId xmlns:a16="http://schemas.microsoft.com/office/drawing/2014/main" id="{9303A196-1A6E-CE68-A558-F9DD527D9F60}"/>
                    </a:ext>
                  </a:extLst>
                </p:cNvPr>
                <p:cNvCxnSpPr>
                  <a:cxnSpLocks noChangeShapeType="1"/>
                  <a:stCxn id="47117" idx="2"/>
                  <a:endCxn id="47118" idx="0"/>
                </p:cNvCxnSpPr>
                <p:nvPr/>
              </p:nvCxnSpPr>
              <p:spPr bwMode="auto">
                <a:xfrm>
                  <a:off x="2447" y="3417"/>
                  <a:ext cx="0" cy="86"/>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sp>
          <p:nvSpPr>
            <p:cNvPr id="47115" name="Text Box 46">
              <a:extLst>
                <a:ext uri="{FF2B5EF4-FFF2-40B4-BE49-F238E27FC236}">
                  <a16:creationId xmlns:a16="http://schemas.microsoft.com/office/drawing/2014/main" id="{E95E8929-4819-E3BD-CE2B-519CDAFC9514}"/>
                </a:ext>
              </a:extLst>
            </p:cNvPr>
            <p:cNvSpPr txBox="1">
              <a:spLocks noChangeArrowheads="1"/>
            </p:cNvSpPr>
            <p:nvPr/>
          </p:nvSpPr>
          <p:spPr bwMode="auto">
            <a:xfrm>
              <a:off x="2112" y="3408"/>
              <a:ext cx="2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i="1"/>
                <a:t>r</a:t>
              </a:r>
              <a:r>
                <a:rPr lang="en-US" altLang="en-US" sz="2000" i="1" baseline="-25000"/>
                <a:t>1</a:t>
              </a:r>
            </a:p>
          </p:txBody>
        </p:sp>
        <p:sp>
          <p:nvSpPr>
            <p:cNvPr id="47116" name="Rectangle 47">
              <a:extLst>
                <a:ext uri="{FF2B5EF4-FFF2-40B4-BE49-F238E27FC236}">
                  <a16:creationId xmlns:a16="http://schemas.microsoft.com/office/drawing/2014/main" id="{296D1FE9-6513-9863-DED8-ECA50329553F}"/>
                </a:ext>
              </a:extLst>
            </p:cNvPr>
            <p:cNvSpPr>
              <a:spLocks noChangeArrowheads="1"/>
            </p:cNvSpPr>
            <p:nvPr/>
          </p:nvSpPr>
          <p:spPr bwMode="auto">
            <a:xfrm>
              <a:off x="2352" y="3408"/>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2800" b="1">
                  <a:latin typeface="Times New Roman" panose="02020603050405020304" pitchFamily="18" charset="0"/>
                  <a:sym typeface="Wingdings 3" panose="05040102010807070707" pitchFamily="18" charset="2"/>
                </a:rPr>
                <a:t>=</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7A424209-576F-99C5-673A-23ADBB3D15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DC6DD58-DD7B-448C-AD69-A328AA663D56}" type="slidenum">
              <a:rPr lang="en-US" altLang="en-US" sz="1200"/>
              <a:pPr eaLnBrk="1" hangingPunct="1"/>
              <a:t>29</a:t>
            </a:fld>
            <a:endParaRPr lang="en-US" altLang="en-US" sz="1200"/>
          </a:p>
        </p:txBody>
      </p:sp>
      <p:sp>
        <p:nvSpPr>
          <p:cNvPr id="48131" name="Rectangle 2">
            <a:extLst>
              <a:ext uri="{FF2B5EF4-FFF2-40B4-BE49-F238E27FC236}">
                <a16:creationId xmlns:a16="http://schemas.microsoft.com/office/drawing/2014/main" id="{39EEAE8D-7008-6F37-5B40-03CDE3782520}"/>
              </a:ext>
            </a:extLst>
          </p:cNvPr>
          <p:cNvSpPr>
            <a:spLocks noGrp="1" noChangeArrowheads="1"/>
          </p:cNvSpPr>
          <p:nvPr>
            <p:ph type="title"/>
          </p:nvPr>
        </p:nvSpPr>
        <p:spPr>
          <a:xfrm>
            <a:off x="623888" y="422275"/>
            <a:ext cx="7989887" cy="568325"/>
          </a:xfrm>
        </p:spPr>
        <p:txBody>
          <a:bodyPr>
            <a:normAutofit fontScale="90000"/>
          </a:bodyPr>
          <a:lstStyle/>
          <a:p>
            <a:pPr eaLnBrk="1" hangingPunct="1"/>
            <a:r>
              <a:rPr lang="en-US" altLang="en-US" sz="3200"/>
              <a:t>Benefits of the FP-tree Structure</a:t>
            </a:r>
          </a:p>
        </p:txBody>
      </p:sp>
      <p:sp>
        <p:nvSpPr>
          <p:cNvPr id="48132" name="Rectangle 3">
            <a:extLst>
              <a:ext uri="{FF2B5EF4-FFF2-40B4-BE49-F238E27FC236}">
                <a16:creationId xmlns:a16="http://schemas.microsoft.com/office/drawing/2014/main" id="{222BA9F8-C8EF-7089-F654-3DFC22FF9C81}"/>
              </a:ext>
            </a:extLst>
          </p:cNvPr>
          <p:cNvSpPr>
            <a:spLocks noGrp="1" noChangeArrowheads="1"/>
          </p:cNvSpPr>
          <p:nvPr>
            <p:ph type="body" idx="1"/>
          </p:nvPr>
        </p:nvSpPr>
        <p:spPr>
          <a:xfrm>
            <a:off x="304800" y="1447800"/>
            <a:ext cx="8610600" cy="5029200"/>
          </a:xfrm>
          <a:noFill/>
        </p:spPr>
        <p:txBody>
          <a:bodyPr/>
          <a:lstStyle/>
          <a:p>
            <a:pPr eaLnBrk="1" hangingPunct="1">
              <a:lnSpc>
                <a:spcPct val="110000"/>
              </a:lnSpc>
            </a:pPr>
            <a:r>
              <a:rPr lang="en-US" altLang="en-US" sz="2400"/>
              <a:t>Completeness </a:t>
            </a:r>
          </a:p>
          <a:p>
            <a:pPr lvl="1" eaLnBrk="1" hangingPunct="1">
              <a:lnSpc>
                <a:spcPct val="110000"/>
              </a:lnSpc>
            </a:pPr>
            <a:r>
              <a:rPr lang="en-US" altLang="en-US" sz="2400"/>
              <a:t>Preserve complete information for frequent pattern mining</a:t>
            </a:r>
          </a:p>
          <a:p>
            <a:pPr lvl="1" eaLnBrk="1" hangingPunct="1">
              <a:lnSpc>
                <a:spcPct val="110000"/>
              </a:lnSpc>
            </a:pPr>
            <a:r>
              <a:rPr lang="en-US" altLang="en-US" sz="2400"/>
              <a:t>Never break a long pattern of any transaction</a:t>
            </a:r>
          </a:p>
          <a:p>
            <a:pPr eaLnBrk="1" hangingPunct="1">
              <a:lnSpc>
                <a:spcPct val="110000"/>
              </a:lnSpc>
            </a:pPr>
            <a:r>
              <a:rPr lang="en-US" altLang="en-US" sz="2400"/>
              <a:t>Compactness</a:t>
            </a:r>
          </a:p>
          <a:p>
            <a:pPr lvl="1" eaLnBrk="1" hangingPunct="1">
              <a:lnSpc>
                <a:spcPct val="110000"/>
              </a:lnSpc>
            </a:pPr>
            <a:r>
              <a:rPr lang="en-US" altLang="en-US" sz="2400"/>
              <a:t>Reduce irrelevant info—infrequent items are gone</a:t>
            </a:r>
          </a:p>
          <a:p>
            <a:pPr lvl="1" eaLnBrk="1" hangingPunct="1">
              <a:lnSpc>
                <a:spcPct val="110000"/>
              </a:lnSpc>
            </a:pPr>
            <a:r>
              <a:rPr lang="en-US" altLang="en-US" sz="2400"/>
              <a:t>Items in frequency descending order: the more frequently occurring, the more likely to be shared</a:t>
            </a:r>
          </a:p>
          <a:p>
            <a:pPr lvl="1" eaLnBrk="1" hangingPunct="1">
              <a:lnSpc>
                <a:spcPct val="110000"/>
              </a:lnSpc>
            </a:pPr>
            <a:r>
              <a:rPr lang="en-US" altLang="en-US" sz="2400"/>
              <a:t>Never be larger than the original database (not count node-links and the </a:t>
            </a:r>
            <a:r>
              <a:rPr lang="en-US" altLang="en-US" sz="2400" i="1"/>
              <a:t>count</a:t>
            </a:r>
            <a:r>
              <a:rPr lang="en-US" altLang="en-US" sz="2400"/>
              <a:t> field)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BD1793BF-B875-66A1-CC25-FB1666AE61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D72F3A5-3769-4CE4-823F-1DEC885C6F5F}" type="slidenum">
              <a:rPr lang="en-US" altLang="en-US" sz="1200"/>
              <a:pPr eaLnBrk="1" hangingPunct="1"/>
              <a:t>30</a:t>
            </a:fld>
            <a:endParaRPr lang="en-US" altLang="en-US" sz="1200"/>
          </a:p>
        </p:txBody>
      </p:sp>
      <p:sp>
        <p:nvSpPr>
          <p:cNvPr id="49155" name="Rectangle 2">
            <a:extLst>
              <a:ext uri="{FF2B5EF4-FFF2-40B4-BE49-F238E27FC236}">
                <a16:creationId xmlns:a16="http://schemas.microsoft.com/office/drawing/2014/main" id="{B33DF9BF-A53E-9965-5A33-6271418B1C5D}"/>
              </a:ext>
            </a:extLst>
          </p:cNvPr>
          <p:cNvSpPr>
            <a:spLocks noGrp="1" noChangeArrowheads="1"/>
          </p:cNvSpPr>
          <p:nvPr>
            <p:ph type="title"/>
          </p:nvPr>
        </p:nvSpPr>
        <p:spPr>
          <a:xfrm>
            <a:off x="152400" y="228600"/>
            <a:ext cx="8763000" cy="762000"/>
          </a:xfrm>
        </p:spPr>
        <p:txBody>
          <a:bodyPr>
            <a:normAutofit fontScale="90000"/>
          </a:bodyPr>
          <a:lstStyle/>
          <a:p>
            <a:pPr eaLnBrk="1" hangingPunct="1"/>
            <a:r>
              <a:rPr lang="en-US" altLang="en-US" sz="3200"/>
              <a:t>The Frequent Pattern Growth Mining Method</a:t>
            </a:r>
          </a:p>
        </p:txBody>
      </p:sp>
      <p:sp>
        <p:nvSpPr>
          <p:cNvPr id="49156" name="Rectangle 3">
            <a:extLst>
              <a:ext uri="{FF2B5EF4-FFF2-40B4-BE49-F238E27FC236}">
                <a16:creationId xmlns:a16="http://schemas.microsoft.com/office/drawing/2014/main" id="{C5ED24A4-A857-F25D-FBDD-4ECCB93F33BB}"/>
              </a:ext>
            </a:extLst>
          </p:cNvPr>
          <p:cNvSpPr>
            <a:spLocks noGrp="1" noChangeArrowheads="1"/>
          </p:cNvSpPr>
          <p:nvPr>
            <p:ph type="body" idx="1"/>
          </p:nvPr>
        </p:nvSpPr>
        <p:spPr>
          <a:xfrm>
            <a:off x="381000" y="1371600"/>
            <a:ext cx="8458200" cy="5283200"/>
          </a:xfrm>
        </p:spPr>
        <p:txBody>
          <a:bodyPr/>
          <a:lstStyle/>
          <a:p>
            <a:pPr eaLnBrk="1" hangingPunct="1"/>
            <a:r>
              <a:rPr lang="en-US" altLang="en-US" sz="2400"/>
              <a:t>Idea: Frequent pattern growth</a:t>
            </a:r>
          </a:p>
          <a:p>
            <a:pPr lvl="1" eaLnBrk="1" hangingPunct="1"/>
            <a:r>
              <a:rPr lang="en-US" altLang="en-US" sz="2400"/>
              <a:t>Recursively grow frequent patterns by pattern and database partition</a:t>
            </a:r>
          </a:p>
          <a:p>
            <a:pPr eaLnBrk="1" hangingPunct="1"/>
            <a:r>
              <a:rPr lang="en-US" altLang="en-US" sz="2400"/>
              <a:t>Method </a:t>
            </a:r>
          </a:p>
          <a:p>
            <a:pPr lvl="1" eaLnBrk="1" hangingPunct="1"/>
            <a:r>
              <a:rPr lang="en-US" altLang="en-US" sz="2400"/>
              <a:t>For each frequent item, construct its conditional pattern-base, and then its conditional FP-tree</a:t>
            </a:r>
          </a:p>
          <a:p>
            <a:pPr lvl="1" eaLnBrk="1" hangingPunct="1"/>
            <a:r>
              <a:rPr lang="en-US" altLang="en-US" sz="2400"/>
              <a:t>Repeat the process on each newly created conditional FP-tree </a:t>
            </a:r>
          </a:p>
          <a:p>
            <a:pPr lvl="1" eaLnBrk="1" hangingPunct="1"/>
            <a:r>
              <a:rPr lang="en-US" altLang="en-US" sz="2400"/>
              <a:t>Until the resulting FP-tree is empty, or it contains only one path—single path will generate all the combinations of its sub-paths, each of which is a frequent pattern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58AC8015-8E92-5C85-4505-7ED7B530CFF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D517A44-4764-4CA0-8069-EFDDFF519245}" type="slidenum">
              <a:rPr lang="en-US" altLang="en-US" sz="1200"/>
              <a:pPr eaLnBrk="1" hangingPunct="1"/>
              <a:t>31</a:t>
            </a:fld>
            <a:endParaRPr lang="en-US" altLang="en-US" sz="1200"/>
          </a:p>
        </p:txBody>
      </p:sp>
      <p:sp>
        <p:nvSpPr>
          <p:cNvPr id="50179" name="Rectangle 2">
            <a:extLst>
              <a:ext uri="{FF2B5EF4-FFF2-40B4-BE49-F238E27FC236}">
                <a16:creationId xmlns:a16="http://schemas.microsoft.com/office/drawing/2014/main" id="{6CFDE60E-5443-632B-898E-F931DFD09E9B}"/>
              </a:ext>
            </a:extLst>
          </p:cNvPr>
          <p:cNvSpPr>
            <a:spLocks noGrp="1" noChangeArrowheads="1"/>
          </p:cNvSpPr>
          <p:nvPr>
            <p:ph type="title"/>
          </p:nvPr>
        </p:nvSpPr>
        <p:spPr>
          <a:xfrm>
            <a:off x="381000" y="381000"/>
            <a:ext cx="8382000" cy="601663"/>
          </a:xfrm>
        </p:spPr>
        <p:txBody>
          <a:bodyPr lIns="92075" tIns="46038" rIns="92075" bIns="46038" anchor="ctr">
            <a:normAutofit fontScale="90000"/>
          </a:bodyPr>
          <a:lstStyle/>
          <a:p>
            <a:pPr eaLnBrk="1" hangingPunct="1"/>
            <a:r>
              <a:rPr lang="en-US" altLang="en-US" sz="3200"/>
              <a:t>Scaling FP-growth by Database Projection</a:t>
            </a:r>
            <a:endParaRPr lang="en-US" altLang="en-US" sz="3200" b="1"/>
          </a:p>
        </p:txBody>
      </p:sp>
      <p:sp>
        <p:nvSpPr>
          <p:cNvPr id="50180" name="Rectangle 3">
            <a:extLst>
              <a:ext uri="{FF2B5EF4-FFF2-40B4-BE49-F238E27FC236}">
                <a16:creationId xmlns:a16="http://schemas.microsoft.com/office/drawing/2014/main" id="{A1D2D670-0418-2342-5877-5887887F8649}"/>
              </a:ext>
            </a:extLst>
          </p:cNvPr>
          <p:cNvSpPr>
            <a:spLocks noGrp="1" noChangeArrowheads="1"/>
          </p:cNvSpPr>
          <p:nvPr>
            <p:ph type="body" idx="1"/>
          </p:nvPr>
        </p:nvSpPr>
        <p:spPr>
          <a:xfrm>
            <a:off x="381000" y="1371600"/>
            <a:ext cx="8458200" cy="5105400"/>
          </a:xfrm>
          <a:noFill/>
        </p:spPr>
        <p:txBody>
          <a:bodyPr lIns="92075" tIns="46038" rIns="92075" bIns="46038"/>
          <a:lstStyle/>
          <a:p>
            <a:pPr eaLnBrk="1" hangingPunct="1">
              <a:lnSpc>
                <a:spcPct val="110000"/>
              </a:lnSpc>
            </a:pPr>
            <a:r>
              <a:rPr lang="en-US" altLang="en-US" sz="2000"/>
              <a:t>What about if FP-tree cannot fit in memory?</a:t>
            </a:r>
          </a:p>
          <a:p>
            <a:pPr lvl="1" eaLnBrk="1" hangingPunct="1">
              <a:lnSpc>
                <a:spcPct val="110000"/>
              </a:lnSpc>
            </a:pPr>
            <a:r>
              <a:rPr lang="en-US" altLang="en-US" sz="2000"/>
              <a:t>DB projection</a:t>
            </a:r>
          </a:p>
          <a:p>
            <a:pPr eaLnBrk="1" hangingPunct="1">
              <a:lnSpc>
                <a:spcPct val="110000"/>
              </a:lnSpc>
            </a:pPr>
            <a:r>
              <a:rPr lang="en-US" altLang="en-US" sz="2000"/>
              <a:t>First partition a database into a set of projected DBs</a:t>
            </a:r>
          </a:p>
          <a:p>
            <a:pPr eaLnBrk="1" hangingPunct="1">
              <a:lnSpc>
                <a:spcPct val="110000"/>
              </a:lnSpc>
            </a:pPr>
            <a:r>
              <a:rPr lang="en-US" altLang="en-US" sz="2000"/>
              <a:t>Then construct and mine FP-tree for each projected DB</a:t>
            </a:r>
          </a:p>
          <a:p>
            <a:pPr eaLnBrk="1" hangingPunct="1">
              <a:lnSpc>
                <a:spcPct val="110000"/>
              </a:lnSpc>
            </a:pPr>
            <a:r>
              <a:rPr lang="en-US" altLang="en-US" sz="2000">
                <a:solidFill>
                  <a:schemeClr val="hlink"/>
                </a:solidFill>
              </a:rPr>
              <a:t>Parallel projection</a:t>
            </a:r>
            <a:r>
              <a:rPr lang="en-US" altLang="en-US" sz="2000"/>
              <a:t> vs. </a:t>
            </a:r>
            <a:r>
              <a:rPr lang="en-US" altLang="en-US" sz="2000">
                <a:solidFill>
                  <a:schemeClr val="hlink"/>
                </a:solidFill>
              </a:rPr>
              <a:t>partition projection</a:t>
            </a:r>
            <a:r>
              <a:rPr lang="en-US" altLang="en-US" sz="2000"/>
              <a:t> techniques</a:t>
            </a:r>
          </a:p>
          <a:p>
            <a:pPr lvl="1" eaLnBrk="1" hangingPunct="1">
              <a:lnSpc>
                <a:spcPct val="110000"/>
              </a:lnSpc>
            </a:pPr>
            <a:r>
              <a:rPr lang="en-US" altLang="en-US" sz="2000"/>
              <a:t>Parallel projection</a:t>
            </a:r>
          </a:p>
          <a:p>
            <a:pPr lvl="2" eaLnBrk="1" hangingPunct="1">
              <a:lnSpc>
                <a:spcPct val="110000"/>
              </a:lnSpc>
            </a:pPr>
            <a:r>
              <a:rPr lang="en-US" altLang="en-US" sz="2000"/>
              <a:t>Project the DB in parallel for each frequent item</a:t>
            </a:r>
          </a:p>
          <a:p>
            <a:pPr lvl="2" eaLnBrk="1" hangingPunct="1">
              <a:lnSpc>
                <a:spcPct val="110000"/>
              </a:lnSpc>
            </a:pPr>
            <a:r>
              <a:rPr lang="en-US" altLang="en-US" sz="2000"/>
              <a:t>Parallel projection is space costly</a:t>
            </a:r>
          </a:p>
          <a:p>
            <a:pPr lvl="2" eaLnBrk="1" hangingPunct="1">
              <a:lnSpc>
                <a:spcPct val="110000"/>
              </a:lnSpc>
            </a:pPr>
            <a:r>
              <a:rPr lang="en-US" altLang="en-US" sz="2000"/>
              <a:t>All the partitions can be processed in parallel</a:t>
            </a:r>
          </a:p>
          <a:p>
            <a:pPr lvl="1" eaLnBrk="1" hangingPunct="1">
              <a:lnSpc>
                <a:spcPct val="110000"/>
              </a:lnSpc>
            </a:pPr>
            <a:r>
              <a:rPr lang="en-US" altLang="en-US" sz="2000"/>
              <a:t>Partition projection</a:t>
            </a:r>
          </a:p>
          <a:p>
            <a:pPr lvl="2" eaLnBrk="1" hangingPunct="1">
              <a:lnSpc>
                <a:spcPct val="110000"/>
              </a:lnSpc>
            </a:pPr>
            <a:r>
              <a:rPr lang="en-US" altLang="en-US" sz="2000"/>
              <a:t>Partition the DB based on the ordered frequent items</a:t>
            </a:r>
          </a:p>
          <a:p>
            <a:pPr lvl="2" eaLnBrk="1" hangingPunct="1">
              <a:lnSpc>
                <a:spcPct val="110000"/>
              </a:lnSpc>
            </a:pPr>
            <a:r>
              <a:rPr lang="en-US" altLang="en-US" sz="2000"/>
              <a:t>Passing the unprocessed parts to the subsequent partitions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F311395B-51F4-BB70-4FB0-C78E60CBF8D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3E31EFC-5B8C-4E9D-9059-151FFF0F7570}" type="slidenum">
              <a:rPr lang="en-US" altLang="en-US" sz="1200"/>
              <a:pPr eaLnBrk="1" hangingPunct="1"/>
              <a:t>32</a:t>
            </a:fld>
            <a:endParaRPr lang="en-US" altLang="en-US" sz="1200"/>
          </a:p>
        </p:txBody>
      </p:sp>
      <p:sp>
        <p:nvSpPr>
          <p:cNvPr id="51203" name="Rectangle 2">
            <a:extLst>
              <a:ext uri="{FF2B5EF4-FFF2-40B4-BE49-F238E27FC236}">
                <a16:creationId xmlns:a16="http://schemas.microsoft.com/office/drawing/2014/main" id="{89A0DC44-A48B-E7C4-76B2-9A070D758BC1}"/>
              </a:ext>
            </a:extLst>
          </p:cNvPr>
          <p:cNvSpPr>
            <a:spLocks noGrp="1" noChangeArrowheads="1"/>
          </p:cNvSpPr>
          <p:nvPr>
            <p:ph type="title"/>
          </p:nvPr>
        </p:nvSpPr>
        <p:spPr>
          <a:xfrm>
            <a:off x="914400" y="457200"/>
            <a:ext cx="7856538" cy="609600"/>
          </a:xfrm>
        </p:spPr>
        <p:txBody>
          <a:bodyPr lIns="92075" tIns="46038" rIns="92075" bIns="46038" anchor="ctr"/>
          <a:lstStyle/>
          <a:p>
            <a:pPr eaLnBrk="1" hangingPunct="1"/>
            <a:r>
              <a:rPr lang="en-US" altLang="en-US" sz="3200"/>
              <a:t>Partition-Based Projection</a:t>
            </a:r>
          </a:p>
        </p:txBody>
      </p:sp>
      <p:sp>
        <p:nvSpPr>
          <p:cNvPr id="51204" name="Rectangle 3">
            <a:extLst>
              <a:ext uri="{FF2B5EF4-FFF2-40B4-BE49-F238E27FC236}">
                <a16:creationId xmlns:a16="http://schemas.microsoft.com/office/drawing/2014/main" id="{0719ABF6-5BDC-7DEA-ACA0-3E3D14C42E15}"/>
              </a:ext>
            </a:extLst>
          </p:cNvPr>
          <p:cNvSpPr>
            <a:spLocks noGrp="1" noChangeArrowheads="1"/>
          </p:cNvSpPr>
          <p:nvPr>
            <p:ph type="body" idx="1"/>
          </p:nvPr>
        </p:nvSpPr>
        <p:spPr>
          <a:xfrm>
            <a:off x="152400" y="1752600"/>
            <a:ext cx="4114800" cy="1371600"/>
          </a:xfrm>
          <a:noFill/>
        </p:spPr>
        <p:txBody>
          <a:bodyPr lIns="92075" tIns="46038" rIns="92075" bIns="46038"/>
          <a:lstStyle/>
          <a:p>
            <a:pPr eaLnBrk="1" hangingPunct="1">
              <a:lnSpc>
                <a:spcPct val="110000"/>
              </a:lnSpc>
            </a:pPr>
            <a:r>
              <a:rPr lang="en-US" altLang="en-US" sz="2000">
                <a:solidFill>
                  <a:schemeClr val="hlink"/>
                </a:solidFill>
              </a:rPr>
              <a:t>Parallel projection </a:t>
            </a:r>
            <a:r>
              <a:rPr lang="en-US" altLang="en-US" sz="2000"/>
              <a:t>needs a lot of disk space </a:t>
            </a:r>
          </a:p>
          <a:p>
            <a:pPr eaLnBrk="1" hangingPunct="1">
              <a:lnSpc>
                <a:spcPct val="110000"/>
              </a:lnSpc>
            </a:pPr>
            <a:r>
              <a:rPr lang="en-US" altLang="en-US" sz="2000">
                <a:solidFill>
                  <a:schemeClr val="hlink"/>
                </a:solidFill>
              </a:rPr>
              <a:t>Partition projection </a:t>
            </a:r>
            <a:r>
              <a:rPr lang="en-US" altLang="en-US" sz="2000"/>
              <a:t>saves it</a:t>
            </a:r>
          </a:p>
        </p:txBody>
      </p:sp>
      <p:grpSp>
        <p:nvGrpSpPr>
          <p:cNvPr id="51205" name="Group 4">
            <a:extLst>
              <a:ext uri="{FF2B5EF4-FFF2-40B4-BE49-F238E27FC236}">
                <a16:creationId xmlns:a16="http://schemas.microsoft.com/office/drawing/2014/main" id="{66C2BC43-423A-82DD-6A84-7642C330F2C4}"/>
              </a:ext>
            </a:extLst>
          </p:cNvPr>
          <p:cNvGrpSpPr>
            <a:grpSpLocks/>
          </p:cNvGrpSpPr>
          <p:nvPr/>
        </p:nvGrpSpPr>
        <p:grpSpPr bwMode="auto">
          <a:xfrm>
            <a:off x="762000" y="1905000"/>
            <a:ext cx="8134350" cy="4641850"/>
            <a:chOff x="480" y="1200"/>
            <a:chExt cx="5124" cy="2924"/>
          </a:xfrm>
        </p:grpSpPr>
        <p:sp>
          <p:nvSpPr>
            <p:cNvPr id="51206" name="Text Box 5">
              <a:extLst>
                <a:ext uri="{FF2B5EF4-FFF2-40B4-BE49-F238E27FC236}">
                  <a16:creationId xmlns:a16="http://schemas.microsoft.com/office/drawing/2014/main" id="{F5CCDFC3-F533-B068-D68F-B0A7B0AE9DE4}"/>
                </a:ext>
              </a:extLst>
            </p:cNvPr>
            <p:cNvSpPr txBox="1">
              <a:spLocks noChangeArrowheads="1"/>
            </p:cNvSpPr>
            <p:nvPr/>
          </p:nvSpPr>
          <p:spPr bwMode="auto">
            <a:xfrm>
              <a:off x="2719" y="1200"/>
              <a:ext cx="716" cy="9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i="1" u="sng"/>
                <a:t>Tran. DB </a:t>
              </a:r>
            </a:p>
            <a:p>
              <a:pPr eaLnBrk="1" hangingPunct="1"/>
              <a:r>
                <a:rPr lang="en-US" altLang="en-US" sz="1600"/>
                <a:t>fcamp</a:t>
              </a:r>
            </a:p>
            <a:p>
              <a:pPr eaLnBrk="1" hangingPunct="1"/>
              <a:r>
                <a:rPr lang="en-US" altLang="en-US" sz="1600"/>
                <a:t>fcabm</a:t>
              </a:r>
            </a:p>
            <a:p>
              <a:pPr eaLnBrk="1" hangingPunct="1"/>
              <a:r>
                <a:rPr lang="en-US" altLang="en-US" sz="1600"/>
                <a:t>fb</a:t>
              </a:r>
            </a:p>
            <a:p>
              <a:pPr eaLnBrk="1" hangingPunct="1"/>
              <a:r>
                <a:rPr lang="en-US" altLang="en-US" sz="1600"/>
                <a:t>cbp</a:t>
              </a:r>
            </a:p>
            <a:p>
              <a:pPr eaLnBrk="1" hangingPunct="1"/>
              <a:r>
                <a:rPr lang="en-US" altLang="en-US" sz="1600"/>
                <a:t>fcamp</a:t>
              </a:r>
            </a:p>
          </p:txBody>
        </p:sp>
        <p:sp>
          <p:nvSpPr>
            <p:cNvPr id="51207" name="Text Box 6">
              <a:extLst>
                <a:ext uri="{FF2B5EF4-FFF2-40B4-BE49-F238E27FC236}">
                  <a16:creationId xmlns:a16="http://schemas.microsoft.com/office/drawing/2014/main" id="{F3BE2CFB-1255-E388-9673-C86BD73ECA89}"/>
                </a:ext>
              </a:extLst>
            </p:cNvPr>
            <p:cNvSpPr txBox="1">
              <a:spLocks noChangeArrowheads="1"/>
            </p:cNvSpPr>
            <p:nvPr/>
          </p:nvSpPr>
          <p:spPr bwMode="auto">
            <a:xfrm>
              <a:off x="480" y="2374"/>
              <a:ext cx="861" cy="7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p-proj DB </a:t>
              </a:r>
            </a:p>
            <a:p>
              <a:pPr eaLnBrk="1" hangingPunct="1"/>
              <a:r>
                <a:rPr lang="en-US" altLang="en-US" sz="1800"/>
                <a:t>fcam</a:t>
              </a:r>
            </a:p>
            <a:p>
              <a:pPr eaLnBrk="1" hangingPunct="1"/>
              <a:r>
                <a:rPr lang="en-US" altLang="en-US" sz="1800"/>
                <a:t>cb</a:t>
              </a:r>
            </a:p>
            <a:p>
              <a:pPr eaLnBrk="1" hangingPunct="1"/>
              <a:r>
                <a:rPr lang="en-US" altLang="en-US" sz="1800"/>
                <a:t>fcam</a:t>
              </a:r>
            </a:p>
          </p:txBody>
        </p:sp>
        <p:sp>
          <p:nvSpPr>
            <p:cNvPr id="51208" name="Text Box 7">
              <a:extLst>
                <a:ext uri="{FF2B5EF4-FFF2-40B4-BE49-F238E27FC236}">
                  <a16:creationId xmlns:a16="http://schemas.microsoft.com/office/drawing/2014/main" id="{3A639ABE-8BCD-A078-7279-4EF910E3BB66}"/>
                </a:ext>
              </a:extLst>
            </p:cNvPr>
            <p:cNvSpPr txBox="1">
              <a:spLocks noChangeArrowheads="1"/>
            </p:cNvSpPr>
            <p:nvPr/>
          </p:nvSpPr>
          <p:spPr bwMode="auto">
            <a:xfrm>
              <a:off x="1331" y="2374"/>
              <a:ext cx="906" cy="7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m-proj DB </a:t>
              </a:r>
            </a:p>
            <a:p>
              <a:pPr eaLnBrk="1" hangingPunct="1"/>
              <a:r>
                <a:rPr lang="en-US" altLang="en-US" sz="1800"/>
                <a:t>fcab</a:t>
              </a:r>
            </a:p>
            <a:p>
              <a:pPr eaLnBrk="1" hangingPunct="1"/>
              <a:r>
                <a:rPr lang="en-US" altLang="en-US" sz="1800">
                  <a:solidFill>
                    <a:schemeClr val="hlink"/>
                  </a:solidFill>
                </a:rPr>
                <a:t>fca</a:t>
              </a:r>
            </a:p>
            <a:p>
              <a:pPr eaLnBrk="1" hangingPunct="1"/>
              <a:r>
                <a:rPr lang="en-US" altLang="en-US" sz="1800">
                  <a:solidFill>
                    <a:schemeClr val="hlink"/>
                  </a:solidFill>
                </a:rPr>
                <a:t>fca</a:t>
              </a:r>
            </a:p>
          </p:txBody>
        </p:sp>
        <p:sp>
          <p:nvSpPr>
            <p:cNvPr id="51209" name="Text Box 8">
              <a:extLst>
                <a:ext uri="{FF2B5EF4-FFF2-40B4-BE49-F238E27FC236}">
                  <a16:creationId xmlns:a16="http://schemas.microsoft.com/office/drawing/2014/main" id="{59AB1DAF-3862-7C94-2484-8901412F11C1}"/>
                </a:ext>
              </a:extLst>
            </p:cNvPr>
            <p:cNvSpPr txBox="1">
              <a:spLocks noChangeArrowheads="1"/>
            </p:cNvSpPr>
            <p:nvPr/>
          </p:nvSpPr>
          <p:spPr bwMode="auto">
            <a:xfrm>
              <a:off x="2226" y="2374"/>
              <a:ext cx="861" cy="7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b-proj DB </a:t>
              </a:r>
            </a:p>
            <a:p>
              <a:pPr eaLnBrk="1" hangingPunct="1"/>
              <a:r>
                <a:rPr lang="en-US" altLang="en-US" sz="1800"/>
                <a:t>f</a:t>
              </a:r>
            </a:p>
            <a:p>
              <a:pPr eaLnBrk="1" hangingPunct="1"/>
              <a:r>
                <a:rPr lang="en-US" altLang="en-US" sz="1800">
                  <a:solidFill>
                    <a:schemeClr val="hlink"/>
                  </a:solidFill>
                </a:rPr>
                <a:t>cb</a:t>
              </a:r>
            </a:p>
            <a:p>
              <a:pPr eaLnBrk="1" hangingPunct="1"/>
              <a:r>
                <a:rPr lang="en-US" altLang="en-US" sz="1800"/>
                <a:t>…</a:t>
              </a:r>
            </a:p>
          </p:txBody>
        </p:sp>
        <p:sp>
          <p:nvSpPr>
            <p:cNvPr id="51210" name="Text Box 9">
              <a:extLst>
                <a:ext uri="{FF2B5EF4-FFF2-40B4-BE49-F238E27FC236}">
                  <a16:creationId xmlns:a16="http://schemas.microsoft.com/office/drawing/2014/main" id="{7C803BD4-6041-2344-86F1-E89C91D4823D}"/>
                </a:ext>
              </a:extLst>
            </p:cNvPr>
            <p:cNvSpPr txBox="1">
              <a:spLocks noChangeArrowheads="1"/>
            </p:cNvSpPr>
            <p:nvPr/>
          </p:nvSpPr>
          <p:spPr bwMode="auto">
            <a:xfrm>
              <a:off x="3077" y="2374"/>
              <a:ext cx="813" cy="5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a-proj DB</a:t>
              </a:r>
            </a:p>
            <a:p>
              <a:pPr eaLnBrk="1" hangingPunct="1"/>
              <a:r>
                <a:rPr lang="en-US" altLang="en-US" sz="1800">
                  <a:solidFill>
                    <a:schemeClr val="hlink"/>
                  </a:solidFill>
                </a:rPr>
                <a:t>fc</a:t>
              </a:r>
            </a:p>
            <a:p>
              <a:pPr eaLnBrk="1" hangingPunct="1"/>
              <a:r>
                <a:rPr lang="en-US" altLang="en-US" sz="1800"/>
                <a:t>…</a:t>
              </a:r>
            </a:p>
          </p:txBody>
        </p:sp>
        <p:sp>
          <p:nvSpPr>
            <p:cNvPr id="51211" name="Text Box 10">
              <a:extLst>
                <a:ext uri="{FF2B5EF4-FFF2-40B4-BE49-F238E27FC236}">
                  <a16:creationId xmlns:a16="http://schemas.microsoft.com/office/drawing/2014/main" id="{95BA563E-3155-D53E-0035-C3E0BE417C83}"/>
                </a:ext>
              </a:extLst>
            </p:cNvPr>
            <p:cNvSpPr txBox="1">
              <a:spLocks noChangeArrowheads="1"/>
            </p:cNvSpPr>
            <p:nvPr/>
          </p:nvSpPr>
          <p:spPr bwMode="auto">
            <a:xfrm>
              <a:off x="3928" y="2374"/>
              <a:ext cx="804" cy="5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c-proj DB</a:t>
              </a:r>
            </a:p>
            <a:p>
              <a:pPr eaLnBrk="1" hangingPunct="1"/>
              <a:r>
                <a:rPr lang="en-US" altLang="en-US" sz="1800">
                  <a:solidFill>
                    <a:schemeClr val="hlink"/>
                  </a:solidFill>
                </a:rPr>
                <a:t>f</a:t>
              </a:r>
            </a:p>
            <a:p>
              <a:pPr eaLnBrk="1" hangingPunct="1"/>
              <a:r>
                <a:rPr lang="en-US" altLang="en-US" sz="1800"/>
                <a:t>…</a:t>
              </a:r>
            </a:p>
          </p:txBody>
        </p:sp>
        <p:sp>
          <p:nvSpPr>
            <p:cNvPr id="51212" name="Text Box 11">
              <a:extLst>
                <a:ext uri="{FF2B5EF4-FFF2-40B4-BE49-F238E27FC236}">
                  <a16:creationId xmlns:a16="http://schemas.microsoft.com/office/drawing/2014/main" id="{CEDDE0A7-ED1D-4CCF-5EE8-D0B26549130A}"/>
                </a:ext>
              </a:extLst>
            </p:cNvPr>
            <p:cNvSpPr txBox="1">
              <a:spLocks noChangeArrowheads="1"/>
            </p:cNvSpPr>
            <p:nvPr/>
          </p:nvSpPr>
          <p:spPr bwMode="auto">
            <a:xfrm>
              <a:off x="4779" y="2374"/>
              <a:ext cx="825" cy="4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f-proj DB </a:t>
              </a:r>
            </a:p>
            <a:p>
              <a:pPr eaLnBrk="1" hangingPunct="1"/>
              <a:r>
                <a:rPr lang="en-US" altLang="en-US" sz="1800"/>
                <a:t>…</a:t>
              </a:r>
            </a:p>
          </p:txBody>
        </p:sp>
        <p:sp>
          <p:nvSpPr>
            <p:cNvPr id="51213" name="Freeform 12">
              <a:extLst>
                <a:ext uri="{FF2B5EF4-FFF2-40B4-BE49-F238E27FC236}">
                  <a16:creationId xmlns:a16="http://schemas.microsoft.com/office/drawing/2014/main" id="{C419A6D6-11EA-2CDE-3FB4-69F85AA06991}"/>
                </a:ext>
              </a:extLst>
            </p:cNvPr>
            <p:cNvSpPr>
              <a:spLocks/>
            </p:cNvSpPr>
            <p:nvPr/>
          </p:nvSpPr>
          <p:spPr bwMode="auto">
            <a:xfrm>
              <a:off x="838" y="2646"/>
              <a:ext cx="538" cy="180"/>
            </a:xfrm>
            <a:custGeom>
              <a:avLst/>
              <a:gdLst>
                <a:gd name="T0" fmla="*/ 0 w 576"/>
                <a:gd name="T1" fmla="*/ 0 h 240"/>
                <a:gd name="T2" fmla="*/ 156 w 576"/>
                <a:gd name="T3" fmla="*/ 81 h 240"/>
                <a:gd name="T4" fmla="*/ 470 w 576"/>
                <a:gd name="T5" fmla="*/ 101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cubicBezTo>
                    <a:pt x="48" y="76"/>
                    <a:pt x="96" y="152"/>
                    <a:pt x="192" y="192"/>
                  </a:cubicBezTo>
                  <a:cubicBezTo>
                    <a:pt x="288" y="232"/>
                    <a:pt x="432" y="236"/>
                    <a:pt x="576" y="240"/>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14" name="Freeform 13">
              <a:extLst>
                <a:ext uri="{FF2B5EF4-FFF2-40B4-BE49-F238E27FC236}">
                  <a16:creationId xmlns:a16="http://schemas.microsoft.com/office/drawing/2014/main" id="{ABFF696D-A68C-FDAF-ECE8-F9730E5D2E30}"/>
                </a:ext>
              </a:extLst>
            </p:cNvPr>
            <p:cNvSpPr>
              <a:spLocks/>
            </p:cNvSpPr>
            <p:nvPr/>
          </p:nvSpPr>
          <p:spPr bwMode="auto">
            <a:xfrm>
              <a:off x="1599" y="2691"/>
              <a:ext cx="1523" cy="414"/>
            </a:xfrm>
            <a:custGeom>
              <a:avLst/>
              <a:gdLst>
                <a:gd name="T0" fmla="*/ 0 w 1632"/>
                <a:gd name="T1" fmla="*/ 119 h 440"/>
                <a:gd name="T2" fmla="*/ 312 w 1632"/>
                <a:gd name="T3" fmla="*/ 279 h 440"/>
                <a:gd name="T4" fmla="*/ 897 w 1632"/>
                <a:gd name="T5" fmla="*/ 320 h 440"/>
                <a:gd name="T6" fmla="*/ 1326 w 1632"/>
                <a:gd name="T7" fmla="*/ 0 h 440"/>
                <a:gd name="T8" fmla="*/ 0 60000 65536"/>
                <a:gd name="T9" fmla="*/ 0 60000 65536"/>
                <a:gd name="T10" fmla="*/ 0 60000 65536"/>
                <a:gd name="T11" fmla="*/ 0 60000 65536"/>
                <a:gd name="T12" fmla="*/ 0 w 1632"/>
                <a:gd name="T13" fmla="*/ 0 h 440"/>
                <a:gd name="T14" fmla="*/ 1632 w 1632"/>
                <a:gd name="T15" fmla="*/ 440 h 440"/>
              </a:gdLst>
              <a:ahLst/>
              <a:cxnLst>
                <a:cxn ang="T8">
                  <a:pos x="T0" y="T1"/>
                </a:cxn>
                <a:cxn ang="T9">
                  <a:pos x="T2" y="T3"/>
                </a:cxn>
                <a:cxn ang="T10">
                  <a:pos x="T4" y="T5"/>
                </a:cxn>
                <a:cxn ang="T11">
                  <a:pos x="T6" y="T7"/>
                </a:cxn>
              </a:cxnLst>
              <a:rect l="T12" t="T13" r="T14" b="T15"/>
              <a:pathLst>
                <a:path w="1632" h="440">
                  <a:moveTo>
                    <a:pt x="0" y="144"/>
                  </a:moveTo>
                  <a:cubicBezTo>
                    <a:pt x="100" y="220"/>
                    <a:pt x="200" y="296"/>
                    <a:pt x="384" y="336"/>
                  </a:cubicBezTo>
                  <a:cubicBezTo>
                    <a:pt x="568" y="376"/>
                    <a:pt x="896" y="440"/>
                    <a:pt x="1104" y="384"/>
                  </a:cubicBezTo>
                  <a:cubicBezTo>
                    <a:pt x="1312" y="328"/>
                    <a:pt x="1472" y="164"/>
                    <a:pt x="1632" y="0"/>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15" name="Freeform 14">
              <a:extLst>
                <a:ext uri="{FF2B5EF4-FFF2-40B4-BE49-F238E27FC236}">
                  <a16:creationId xmlns:a16="http://schemas.microsoft.com/office/drawing/2014/main" id="{B84411FF-935C-E268-0E6C-1D87B5A26E46}"/>
                </a:ext>
              </a:extLst>
            </p:cNvPr>
            <p:cNvSpPr>
              <a:spLocks/>
            </p:cNvSpPr>
            <p:nvPr/>
          </p:nvSpPr>
          <p:spPr bwMode="auto">
            <a:xfrm>
              <a:off x="3256" y="2646"/>
              <a:ext cx="716" cy="52"/>
            </a:xfrm>
            <a:custGeom>
              <a:avLst/>
              <a:gdLst>
                <a:gd name="T0" fmla="*/ 0 w 672"/>
                <a:gd name="T1" fmla="*/ 0 h 104"/>
                <a:gd name="T2" fmla="*/ 465 w 672"/>
                <a:gd name="T3" fmla="*/ 12 h 104"/>
                <a:gd name="T4" fmla="*/ 813 w 672"/>
                <a:gd name="T5" fmla="*/ 6 h 104"/>
                <a:gd name="T6" fmla="*/ 0 60000 65536"/>
                <a:gd name="T7" fmla="*/ 0 60000 65536"/>
                <a:gd name="T8" fmla="*/ 0 60000 65536"/>
                <a:gd name="T9" fmla="*/ 0 w 672"/>
                <a:gd name="T10" fmla="*/ 0 h 104"/>
                <a:gd name="T11" fmla="*/ 672 w 672"/>
                <a:gd name="T12" fmla="*/ 104 h 104"/>
              </a:gdLst>
              <a:ahLst/>
              <a:cxnLst>
                <a:cxn ang="T6">
                  <a:pos x="T0" y="T1"/>
                </a:cxn>
                <a:cxn ang="T7">
                  <a:pos x="T2" y="T3"/>
                </a:cxn>
                <a:cxn ang="T8">
                  <a:pos x="T4" y="T5"/>
                </a:cxn>
              </a:cxnLst>
              <a:rect l="T9" t="T10" r="T11" b="T12"/>
              <a:pathLst>
                <a:path w="672" h="104">
                  <a:moveTo>
                    <a:pt x="0" y="0"/>
                  </a:moveTo>
                  <a:cubicBezTo>
                    <a:pt x="136" y="44"/>
                    <a:pt x="272" y="88"/>
                    <a:pt x="384" y="96"/>
                  </a:cubicBezTo>
                  <a:cubicBezTo>
                    <a:pt x="496" y="104"/>
                    <a:pt x="584" y="76"/>
                    <a:pt x="672" y="48"/>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16" name="Line 15">
              <a:extLst>
                <a:ext uri="{FF2B5EF4-FFF2-40B4-BE49-F238E27FC236}">
                  <a16:creationId xmlns:a16="http://schemas.microsoft.com/office/drawing/2014/main" id="{539E0573-530C-CA5C-786D-D3408496E164}"/>
                </a:ext>
              </a:extLst>
            </p:cNvPr>
            <p:cNvSpPr>
              <a:spLocks noChangeShapeType="1"/>
            </p:cNvSpPr>
            <p:nvPr/>
          </p:nvSpPr>
          <p:spPr bwMode="auto">
            <a:xfrm flipH="1">
              <a:off x="883" y="2149"/>
              <a:ext cx="2149"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17" name="Line 16">
              <a:extLst>
                <a:ext uri="{FF2B5EF4-FFF2-40B4-BE49-F238E27FC236}">
                  <a16:creationId xmlns:a16="http://schemas.microsoft.com/office/drawing/2014/main" id="{1C5C4829-0E91-0D4E-7874-CC7042A144C0}"/>
                </a:ext>
              </a:extLst>
            </p:cNvPr>
            <p:cNvSpPr>
              <a:spLocks noChangeShapeType="1"/>
            </p:cNvSpPr>
            <p:nvPr/>
          </p:nvSpPr>
          <p:spPr bwMode="auto">
            <a:xfrm flipH="1">
              <a:off x="1734" y="2149"/>
              <a:ext cx="1298"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18" name="Line 17">
              <a:extLst>
                <a:ext uri="{FF2B5EF4-FFF2-40B4-BE49-F238E27FC236}">
                  <a16:creationId xmlns:a16="http://schemas.microsoft.com/office/drawing/2014/main" id="{4ADA0EE3-4E1D-083B-7BC9-D3FB82929197}"/>
                </a:ext>
              </a:extLst>
            </p:cNvPr>
            <p:cNvSpPr>
              <a:spLocks noChangeShapeType="1"/>
            </p:cNvSpPr>
            <p:nvPr/>
          </p:nvSpPr>
          <p:spPr bwMode="auto">
            <a:xfrm flipH="1">
              <a:off x="2629" y="2149"/>
              <a:ext cx="403"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19" name="Line 18">
              <a:extLst>
                <a:ext uri="{FF2B5EF4-FFF2-40B4-BE49-F238E27FC236}">
                  <a16:creationId xmlns:a16="http://schemas.microsoft.com/office/drawing/2014/main" id="{27766E7B-5CCA-9B8E-D039-6A89371CE9A0}"/>
                </a:ext>
              </a:extLst>
            </p:cNvPr>
            <p:cNvSpPr>
              <a:spLocks noChangeShapeType="1"/>
            </p:cNvSpPr>
            <p:nvPr/>
          </p:nvSpPr>
          <p:spPr bwMode="auto">
            <a:xfrm>
              <a:off x="3032" y="2149"/>
              <a:ext cx="448"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20" name="Line 19">
              <a:extLst>
                <a:ext uri="{FF2B5EF4-FFF2-40B4-BE49-F238E27FC236}">
                  <a16:creationId xmlns:a16="http://schemas.microsoft.com/office/drawing/2014/main" id="{79FB66C9-7922-F6AD-6BD6-E0A984E0A909}"/>
                </a:ext>
              </a:extLst>
            </p:cNvPr>
            <p:cNvSpPr>
              <a:spLocks noChangeShapeType="1"/>
            </p:cNvSpPr>
            <p:nvPr/>
          </p:nvSpPr>
          <p:spPr bwMode="auto">
            <a:xfrm>
              <a:off x="3032" y="2149"/>
              <a:ext cx="1299"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21" name="Line 20">
              <a:extLst>
                <a:ext uri="{FF2B5EF4-FFF2-40B4-BE49-F238E27FC236}">
                  <a16:creationId xmlns:a16="http://schemas.microsoft.com/office/drawing/2014/main" id="{0E4D878D-CBDE-C36E-0449-655F528097DB}"/>
                </a:ext>
              </a:extLst>
            </p:cNvPr>
            <p:cNvSpPr>
              <a:spLocks noChangeShapeType="1"/>
            </p:cNvSpPr>
            <p:nvPr/>
          </p:nvSpPr>
          <p:spPr bwMode="auto">
            <a:xfrm>
              <a:off x="3032" y="2149"/>
              <a:ext cx="2194" cy="2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22" name="Text Box 21">
              <a:extLst>
                <a:ext uri="{FF2B5EF4-FFF2-40B4-BE49-F238E27FC236}">
                  <a16:creationId xmlns:a16="http://schemas.microsoft.com/office/drawing/2014/main" id="{5B7F37CB-A00E-3A35-AF50-EBDB4542B0DC}"/>
                </a:ext>
              </a:extLst>
            </p:cNvPr>
            <p:cNvSpPr txBox="1">
              <a:spLocks noChangeArrowheads="1"/>
            </p:cNvSpPr>
            <p:nvPr/>
          </p:nvSpPr>
          <p:spPr bwMode="auto">
            <a:xfrm>
              <a:off x="1286" y="3368"/>
              <a:ext cx="992" cy="7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am-proj DB </a:t>
              </a:r>
            </a:p>
            <a:p>
              <a:pPr eaLnBrk="1" hangingPunct="1"/>
              <a:r>
                <a:rPr lang="en-US" altLang="en-US" sz="1800"/>
                <a:t>fc</a:t>
              </a:r>
            </a:p>
            <a:p>
              <a:pPr eaLnBrk="1" hangingPunct="1"/>
              <a:r>
                <a:rPr lang="en-US" altLang="en-US" sz="1800"/>
                <a:t>fc</a:t>
              </a:r>
            </a:p>
            <a:p>
              <a:pPr eaLnBrk="1" hangingPunct="1"/>
              <a:r>
                <a:rPr lang="en-US" altLang="en-US" sz="1800"/>
                <a:t>fc</a:t>
              </a:r>
            </a:p>
          </p:txBody>
        </p:sp>
        <p:sp>
          <p:nvSpPr>
            <p:cNvPr id="51223" name="Freeform 22">
              <a:extLst>
                <a:ext uri="{FF2B5EF4-FFF2-40B4-BE49-F238E27FC236}">
                  <a16:creationId xmlns:a16="http://schemas.microsoft.com/office/drawing/2014/main" id="{CEE376BD-C015-FC49-B34B-4B7C05237488}"/>
                </a:ext>
              </a:extLst>
            </p:cNvPr>
            <p:cNvSpPr>
              <a:spLocks/>
            </p:cNvSpPr>
            <p:nvPr/>
          </p:nvSpPr>
          <p:spPr bwMode="auto">
            <a:xfrm>
              <a:off x="838" y="3007"/>
              <a:ext cx="538" cy="53"/>
            </a:xfrm>
            <a:custGeom>
              <a:avLst/>
              <a:gdLst>
                <a:gd name="T0" fmla="*/ 0 w 576"/>
                <a:gd name="T1" fmla="*/ 0 h 56"/>
                <a:gd name="T2" fmla="*/ 156 w 576"/>
                <a:gd name="T3" fmla="*/ 41 h 56"/>
                <a:gd name="T4" fmla="*/ 351 w 576"/>
                <a:gd name="T5" fmla="*/ 41 h 56"/>
                <a:gd name="T6" fmla="*/ 470 w 576"/>
                <a:gd name="T7" fmla="*/ 0 h 56"/>
                <a:gd name="T8" fmla="*/ 0 60000 65536"/>
                <a:gd name="T9" fmla="*/ 0 60000 65536"/>
                <a:gd name="T10" fmla="*/ 0 60000 65536"/>
                <a:gd name="T11" fmla="*/ 0 60000 65536"/>
                <a:gd name="T12" fmla="*/ 0 w 576"/>
                <a:gd name="T13" fmla="*/ 0 h 56"/>
                <a:gd name="T14" fmla="*/ 576 w 576"/>
                <a:gd name="T15" fmla="*/ 56 h 56"/>
              </a:gdLst>
              <a:ahLst/>
              <a:cxnLst>
                <a:cxn ang="T8">
                  <a:pos x="T0" y="T1"/>
                </a:cxn>
                <a:cxn ang="T9">
                  <a:pos x="T2" y="T3"/>
                </a:cxn>
                <a:cxn ang="T10">
                  <a:pos x="T4" y="T5"/>
                </a:cxn>
                <a:cxn ang="T11">
                  <a:pos x="T6" y="T7"/>
                </a:cxn>
              </a:cxnLst>
              <a:rect l="T12" t="T13" r="T14" b="T15"/>
              <a:pathLst>
                <a:path w="576" h="56">
                  <a:moveTo>
                    <a:pt x="0" y="0"/>
                  </a:moveTo>
                  <a:cubicBezTo>
                    <a:pt x="60" y="20"/>
                    <a:pt x="120" y="40"/>
                    <a:pt x="192" y="48"/>
                  </a:cubicBezTo>
                  <a:cubicBezTo>
                    <a:pt x="264" y="56"/>
                    <a:pt x="368" y="56"/>
                    <a:pt x="432" y="48"/>
                  </a:cubicBezTo>
                  <a:cubicBezTo>
                    <a:pt x="496" y="40"/>
                    <a:pt x="536" y="20"/>
                    <a:pt x="576" y="0"/>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24" name="Line 23">
              <a:extLst>
                <a:ext uri="{FF2B5EF4-FFF2-40B4-BE49-F238E27FC236}">
                  <a16:creationId xmlns:a16="http://schemas.microsoft.com/office/drawing/2014/main" id="{94E076B3-ABBE-F974-B78F-F159499BB4E7}"/>
                </a:ext>
              </a:extLst>
            </p:cNvPr>
            <p:cNvSpPr>
              <a:spLocks noChangeShapeType="1"/>
            </p:cNvSpPr>
            <p:nvPr/>
          </p:nvSpPr>
          <p:spPr bwMode="auto">
            <a:xfrm>
              <a:off x="1778" y="3097"/>
              <a:ext cx="0" cy="27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25" name="Freeform 24">
              <a:extLst>
                <a:ext uri="{FF2B5EF4-FFF2-40B4-BE49-F238E27FC236}">
                  <a16:creationId xmlns:a16="http://schemas.microsoft.com/office/drawing/2014/main" id="{43E36703-238B-A59C-6C48-97E4CFB9607D}"/>
                </a:ext>
              </a:extLst>
            </p:cNvPr>
            <p:cNvSpPr>
              <a:spLocks/>
            </p:cNvSpPr>
            <p:nvPr/>
          </p:nvSpPr>
          <p:spPr bwMode="auto">
            <a:xfrm>
              <a:off x="1017" y="3007"/>
              <a:ext cx="761" cy="632"/>
            </a:xfrm>
            <a:custGeom>
              <a:avLst/>
              <a:gdLst>
                <a:gd name="T0" fmla="*/ 559 w 776"/>
                <a:gd name="T1" fmla="*/ 0 h 672"/>
                <a:gd name="T2" fmla="*/ 649 w 776"/>
                <a:gd name="T3" fmla="*/ 160 h 672"/>
                <a:gd name="T4" fmla="*/ 61 w 776"/>
                <a:gd name="T5" fmla="*/ 359 h 672"/>
                <a:gd name="T6" fmla="*/ 286 w 776"/>
                <a:gd name="T7" fmla="*/ 559 h 672"/>
                <a:gd name="T8" fmla="*/ 0 60000 65536"/>
                <a:gd name="T9" fmla="*/ 0 60000 65536"/>
                <a:gd name="T10" fmla="*/ 0 60000 65536"/>
                <a:gd name="T11" fmla="*/ 0 60000 65536"/>
                <a:gd name="T12" fmla="*/ 0 w 776"/>
                <a:gd name="T13" fmla="*/ 0 h 672"/>
                <a:gd name="T14" fmla="*/ 776 w 776"/>
                <a:gd name="T15" fmla="*/ 672 h 672"/>
              </a:gdLst>
              <a:ahLst/>
              <a:cxnLst>
                <a:cxn ang="T8">
                  <a:pos x="T0" y="T1"/>
                </a:cxn>
                <a:cxn ang="T9">
                  <a:pos x="T2" y="T3"/>
                </a:cxn>
                <a:cxn ang="T10">
                  <a:pos x="T4" y="T5"/>
                </a:cxn>
                <a:cxn ang="T11">
                  <a:pos x="T6" y="T7"/>
                </a:cxn>
              </a:cxnLst>
              <a:rect l="T12" t="T13" r="T14" b="T15"/>
              <a:pathLst>
                <a:path w="776" h="672">
                  <a:moveTo>
                    <a:pt x="592" y="0"/>
                  </a:moveTo>
                  <a:cubicBezTo>
                    <a:pt x="684" y="60"/>
                    <a:pt x="776" y="120"/>
                    <a:pt x="688" y="192"/>
                  </a:cubicBezTo>
                  <a:cubicBezTo>
                    <a:pt x="600" y="264"/>
                    <a:pt x="128" y="352"/>
                    <a:pt x="64" y="432"/>
                  </a:cubicBezTo>
                  <a:cubicBezTo>
                    <a:pt x="0" y="512"/>
                    <a:pt x="152" y="592"/>
                    <a:pt x="304" y="672"/>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26" name="Freeform 25">
              <a:extLst>
                <a:ext uri="{FF2B5EF4-FFF2-40B4-BE49-F238E27FC236}">
                  <a16:creationId xmlns:a16="http://schemas.microsoft.com/office/drawing/2014/main" id="{1D3141C8-7019-7416-3864-825F823E43AC}"/>
                </a:ext>
              </a:extLst>
            </p:cNvPr>
            <p:cNvSpPr>
              <a:spLocks/>
            </p:cNvSpPr>
            <p:nvPr/>
          </p:nvSpPr>
          <p:spPr bwMode="auto">
            <a:xfrm>
              <a:off x="1017" y="2826"/>
              <a:ext cx="761" cy="994"/>
            </a:xfrm>
            <a:custGeom>
              <a:avLst/>
              <a:gdLst>
                <a:gd name="T0" fmla="*/ 559 w 776"/>
                <a:gd name="T1" fmla="*/ 0 h 672"/>
                <a:gd name="T2" fmla="*/ 649 w 776"/>
                <a:gd name="T3" fmla="*/ 621 h 672"/>
                <a:gd name="T4" fmla="*/ 61 w 776"/>
                <a:gd name="T5" fmla="*/ 1398 h 672"/>
                <a:gd name="T6" fmla="*/ 286 w 776"/>
                <a:gd name="T7" fmla="*/ 2174 h 672"/>
                <a:gd name="T8" fmla="*/ 0 60000 65536"/>
                <a:gd name="T9" fmla="*/ 0 60000 65536"/>
                <a:gd name="T10" fmla="*/ 0 60000 65536"/>
                <a:gd name="T11" fmla="*/ 0 60000 65536"/>
                <a:gd name="T12" fmla="*/ 0 w 776"/>
                <a:gd name="T13" fmla="*/ 0 h 672"/>
                <a:gd name="T14" fmla="*/ 776 w 776"/>
                <a:gd name="T15" fmla="*/ 672 h 672"/>
              </a:gdLst>
              <a:ahLst/>
              <a:cxnLst>
                <a:cxn ang="T8">
                  <a:pos x="T0" y="T1"/>
                </a:cxn>
                <a:cxn ang="T9">
                  <a:pos x="T2" y="T3"/>
                </a:cxn>
                <a:cxn ang="T10">
                  <a:pos x="T4" y="T5"/>
                </a:cxn>
                <a:cxn ang="T11">
                  <a:pos x="T6" y="T7"/>
                </a:cxn>
              </a:cxnLst>
              <a:rect l="T12" t="T13" r="T14" b="T15"/>
              <a:pathLst>
                <a:path w="776" h="672">
                  <a:moveTo>
                    <a:pt x="592" y="0"/>
                  </a:moveTo>
                  <a:cubicBezTo>
                    <a:pt x="684" y="60"/>
                    <a:pt x="776" y="120"/>
                    <a:pt x="688" y="192"/>
                  </a:cubicBezTo>
                  <a:cubicBezTo>
                    <a:pt x="600" y="264"/>
                    <a:pt x="128" y="352"/>
                    <a:pt x="64" y="432"/>
                  </a:cubicBezTo>
                  <a:cubicBezTo>
                    <a:pt x="0" y="512"/>
                    <a:pt x="152" y="592"/>
                    <a:pt x="304" y="672"/>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27" name="Freeform 26">
              <a:extLst>
                <a:ext uri="{FF2B5EF4-FFF2-40B4-BE49-F238E27FC236}">
                  <a16:creationId xmlns:a16="http://schemas.microsoft.com/office/drawing/2014/main" id="{49CE3674-91CE-0A0F-2A3F-D28834E3E7D6}"/>
                </a:ext>
              </a:extLst>
            </p:cNvPr>
            <p:cNvSpPr>
              <a:spLocks/>
            </p:cNvSpPr>
            <p:nvPr/>
          </p:nvSpPr>
          <p:spPr bwMode="auto">
            <a:xfrm>
              <a:off x="973" y="2646"/>
              <a:ext cx="850" cy="1355"/>
            </a:xfrm>
            <a:custGeom>
              <a:avLst/>
              <a:gdLst>
                <a:gd name="T0" fmla="*/ 778 w 776"/>
                <a:gd name="T1" fmla="*/ 0 h 672"/>
                <a:gd name="T2" fmla="*/ 905 w 776"/>
                <a:gd name="T3" fmla="*/ 1573 h 672"/>
                <a:gd name="T4" fmla="*/ 84 w 776"/>
                <a:gd name="T5" fmla="*/ 3541 h 672"/>
                <a:gd name="T6" fmla="*/ 400 w 776"/>
                <a:gd name="T7" fmla="*/ 5509 h 672"/>
                <a:gd name="T8" fmla="*/ 0 60000 65536"/>
                <a:gd name="T9" fmla="*/ 0 60000 65536"/>
                <a:gd name="T10" fmla="*/ 0 60000 65536"/>
                <a:gd name="T11" fmla="*/ 0 60000 65536"/>
                <a:gd name="T12" fmla="*/ 0 w 776"/>
                <a:gd name="T13" fmla="*/ 0 h 672"/>
                <a:gd name="T14" fmla="*/ 776 w 776"/>
                <a:gd name="T15" fmla="*/ 672 h 672"/>
              </a:gdLst>
              <a:ahLst/>
              <a:cxnLst>
                <a:cxn ang="T8">
                  <a:pos x="T0" y="T1"/>
                </a:cxn>
                <a:cxn ang="T9">
                  <a:pos x="T2" y="T3"/>
                </a:cxn>
                <a:cxn ang="T10">
                  <a:pos x="T4" y="T5"/>
                </a:cxn>
                <a:cxn ang="T11">
                  <a:pos x="T6" y="T7"/>
                </a:cxn>
              </a:cxnLst>
              <a:rect l="T12" t="T13" r="T14" b="T15"/>
              <a:pathLst>
                <a:path w="776" h="672">
                  <a:moveTo>
                    <a:pt x="592" y="0"/>
                  </a:moveTo>
                  <a:cubicBezTo>
                    <a:pt x="684" y="60"/>
                    <a:pt x="776" y="120"/>
                    <a:pt x="688" y="192"/>
                  </a:cubicBezTo>
                  <a:cubicBezTo>
                    <a:pt x="600" y="264"/>
                    <a:pt x="128" y="352"/>
                    <a:pt x="64" y="432"/>
                  </a:cubicBezTo>
                  <a:cubicBezTo>
                    <a:pt x="0" y="512"/>
                    <a:pt x="152" y="592"/>
                    <a:pt x="304" y="672"/>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51228" name="Text Box 27">
              <a:extLst>
                <a:ext uri="{FF2B5EF4-FFF2-40B4-BE49-F238E27FC236}">
                  <a16:creationId xmlns:a16="http://schemas.microsoft.com/office/drawing/2014/main" id="{800B2BF5-844F-FBFB-A53E-CD97E3155F32}"/>
                </a:ext>
              </a:extLst>
            </p:cNvPr>
            <p:cNvSpPr txBox="1">
              <a:spLocks noChangeArrowheads="1"/>
            </p:cNvSpPr>
            <p:nvPr/>
          </p:nvSpPr>
          <p:spPr bwMode="auto">
            <a:xfrm>
              <a:off x="2316" y="3368"/>
              <a:ext cx="983" cy="7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i="1" u="sng"/>
                <a:t>cm-proj DB </a:t>
              </a:r>
            </a:p>
            <a:p>
              <a:pPr eaLnBrk="1" hangingPunct="1"/>
              <a:r>
                <a:rPr lang="en-US" altLang="en-US" sz="1800"/>
                <a:t>f</a:t>
              </a:r>
            </a:p>
            <a:p>
              <a:pPr eaLnBrk="1" hangingPunct="1"/>
              <a:r>
                <a:rPr lang="en-US" altLang="en-US" sz="1800"/>
                <a:t>f</a:t>
              </a:r>
            </a:p>
            <a:p>
              <a:pPr eaLnBrk="1" hangingPunct="1"/>
              <a:r>
                <a:rPr lang="en-US" altLang="en-US" sz="1800"/>
                <a:t>f</a:t>
              </a:r>
            </a:p>
          </p:txBody>
        </p:sp>
        <p:sp>
          <p:nvSpPr>
            <p:cNvPr id="51229" name="Line 28">
              <a:extLst>
                <a:ext uri="{FF2B5EF4-FFF2-40B4-BE49-F238E27FC236}">
                  <a16:creationId xmlns:a16="http://schemas.microsoft.com/office/drawing/2014/main" id="{E1E1D0F2-1A0F-E3FD-83AE-F8B600F8F3B8}"/>
                </a:ext>
              </a:extLst>
            </p:cNvPr>
            <p:cNvSpPr>
              <a:spLocks noChangeShapeType="1"/>
            </p:cNvSpPr>
            <p:nvPr/>
          </p:nvSpPr>
          <p:spPr bwMode="auto">
            <a:xfrm>
              <a:off x="1465" y="3639"/>
              <a:ext cx="896" cy="0"/>
            </a:xfrm>
            <a:prstGeom prst="line">
              <a:avLst/>
            </a:prstGeom>
            <a:noFill/>
            <a:ln w="28575">
              <a:solidFill>
                <a:schemeClr val="hlink"/>
              </a:solidFill>
              <a:miter lim="800000"/>
              <a:headEnd/>
              <a:tailEnd type="stealth" w="med" len="med"/>
            </a:ln>
            <a:extLst>
              <a:ext uri="{909E8E84-426E-40DD-AFC4-6F175D3DCCD1}">
                <a14:hiddenFill xmlns:a14="http://schemas.microsoft.com/office/drawing/2010/main">
                  <a:noFill/>
                </a14:hiddenFill>
              </a:ext>
            </a:extLst>
          </p:spPr>
          <p:txBody>
            <a:bodyPr wrap="none"/>
            <a:lstStyle/>
            <a:p>
              <a:endParaRPr lang="en-IN"/>
            </a:p>
          </p:txBody>
        </p:sp>
        <p:sp>
          <p:nvSpPr>
            <p:cNvPr id="51230" name="Line 29">
              <a:extLst>
                <a:ext uri="{FF2B5EF4-FFF2-40B4-BE49-F238E27FC236}">
                  <a16:creationId xmlns:a16="http://schemas.microsoft.com/office/drawing/2014/main" id="{09427348-A485-0A82-ACF1-4AF9562E1822}"/>
                </a:ext>
              </a:extLst>
            </p:cNvPr>
            <p:cNvSpPr>
              <a:spLocks noChangeShapeType="1"/>
            </p:cNvSpPr>
            <p:nvPr/>
          </p:nvSpPr>
          <p:spPr bwMode="auto">
            <a:xfrm>
              <a:off x="1465" y="3820"/>
              <a:ext cx="896" cy="0"/>
            </a:xfrm>
            <a:prstGeom prst="line">
              <a:avLst/>
            </a:prstGeom>
            <a:noFill/>
            <a:ln w="28575">
              <a:solidFill>
                <a:schemeClr val="hlink"/>
              </a:solidFill>
              <a:miter lim="800000"/>
              <a:headEnd/>
              <a:tailEnd type="stealth" w="med" len="med"/>
            </a:ln>
            <a:extLst>
              <a:ext uri="{909E8E84-426E-40DD-AFC4-6F175D3DCCD1}">
                <a14:hiddenFill xmlns:a14="http://schemas.microsoft.com/office/drawing/2010/main">
                  <a:noFill/>
                </a14:hiddenFill>
              </a:ext>
            </a:extLst>
          </p:spPr>
          <p:txBody>
            <a:bodyPr wrap="none"/>
            <a:lstStyle/>
            <a:p>
              <a:endParaRPr lang="en-IN"/>
            </a:p>
          </p:txBody>
        </p:sp>
        <p:sp>
          <p:nvSpPr>
            <p:cNvPr id="51231" name="Line 30">
              <a:extLst>
                <a:ext uri="{FF2B5EF4-FFF2-40B4-BE49-F238E27FC236}">
                  <a16:creationId xmlns:a16="http://schemas.microsoft.com/office/drawing/2014/main" id="{F02CF791-6F1E-6393-7D78-7FB3E10770F9}"/>
                </a:ext>
              </a:extLst>
            </p:cNvPr>
            <p:cNvSpPr>
              <a:spLocks noChangeShapeType="1"/>
            </p:cNvSpPr>
            <p:nvPr/>
          </p:nvSpPr>
          <p:spPr bwMode="auto">
            <a:xfrm>
              <a:off x="1465" y="3956"/>
              <a:ext cx="896" cy="0"/>
            </a:xfrm>
            <a:prstGeom prst="line">
              <a:avLst/>
            </a:prstGeom>
            <a:noFill/>
            <a:ln w="28575">
              <a:solidFill>
                <a:schemeClr val="hlink"/>
              </a:solidFill>
              <a:miter lim="800000"/>
              <a:headEnd/>
              <a:tailEnd type="stealth" w="med" len="med"/>
            </a:ln>
            <a:extLst>
              <a:ext uri="{909E8E84-426E-40DD-AFC4-6F175D3DCCD1}">
                <a14:hiddenFill xmlns:a14="http://schemas.microsoft.com/office/drawing/2010/main">
                  <a:noFill/>
                </a14:hiddenFill>
              </a:ext>
            </a:extLst>
          </p:spPr>
          <p:txBody>
            <a:bodyPr wrap="none"/>
            <a:lstStyle/>
            <a:p>
              <a:endParaRPr lang="en-IN"/>
            </a:p>
          </p:txBody>
        </p:sp>
        <p:sp>
          <p:nvSpPr>
            <p:cNvPr id="51232" name="Line 31">
              <a:extLst>
                <a:ext uri="{FF2B5EF4-FFF2-40B4-BE49-F238E27FC236}">
                  <a16:creationId xmlns:a16="http://schemas.microsoft.com/office/drawing/2014/main" id="{04EECEFF-FA02-8758-3E02-AC4BD45A4451}"/>
                </a:ext>
              </a:extLst>
            </p:cNvPr>
            <p:cNvSpPr>
              <a:spLocks noChangeShapeType="1"/>
            </p:cNvSpPr>
            <p:nvPr/>
          </p:nvSpPr>
          <p:spPr bwMode="auto">
            <a:xfrm>
              <a:off x="1778" y="3097"/>
              <a:ext cx="1030" cy="27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33" name="Text Box 32">
              <a:extLst>
                <a:ext uri="{FF2B5EF4-FFF2-40B4-BE49-F238E27FC236}">
                  <a16:creationId xmlns:a16="http://schemas.microsoft.com/office/drawing/2014/main" id="{45ED7C44-EB35-AF5D-CEF2-F0824F69D28E}"/>
                </a:ext>
              </a:extLst>
            </p:cNvPr>
            <p:cNvSpPr txBox="1">
              <a:spLocks noChangeArrowheads="1"/>
            </p:cNvSpPr>
            <p:nvPr/>
          </p:nvSpPr>
          <p:spPr bwMode="auto">
            <a:xfrm>
              <a:off x="3605" y="3448"/>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a:t>…</a:t>
              </a:r>
            </a:p>
          </p:txBody>
        </p:sp>
        <p:sp>
          <p:nvSpPr>
            <p:cNvPr id="51234" name="Freeform 33">
              <a:extLst>
                <a:ext uri="{FF2B5EF4-FFF2-40B4-BE49-F238E27FC236}">
                  <a16:creationId xmlns:a16="http://schemas.microsoft.com/office/drawing/2014/main" id="{23CD1F6E-DB1A-32B2-94CA-7148032D9462}"/>
                </a:ext>
              </a:extLst>
            </p:cNvPr>
            <p:cNvSpPr>
              <a:spLocks/>
            </p:cNvSpPr>
            <p:nvPr/>
          </p:nvSpPr>
          <p:spPr bwMode="auto">
            <a:xfrm>
              <a:off x="816" y="2832"/>
              <a:ext cx="1440" cy="101"/>
            </a:xfrm>
            <a:custGeom>
              <a:avLst/>
              <a:gdLst>
                <a:gd name="T0" fmla="*/ 0 w 576"/>
                <a:gd name="T1" fmla="*/ 0 h 56"/>
                <a:gd name="T2" fmla="*/ 3000 w 576"/>
                <a:gd name="T3" fmla="*/ 283 h 56"/>
                <a:gd name="T4" fmla="*/ 6750 w 576"/>
                <a:gd name="T5" fmla="*/ 283 h 56"/>
                <a:gd name="T6" fmla="*/ 9000 w 576"/>
                <a:gd name="T7" fmla="*/ 0 h 56"/>
                <a:gd name="T8" fmla="*/ 0 60000 65536"/>
                <a:gd name="T9" fmla="*/ 0 60000 65536"/>
                <a:gd name="T10" fmla="*/ 0 60000 65536"/>
                <a:gd name="T11" fmla="*/ 0 60000 65536"/>
                <a:gd name="T12" fmla="*/ 0 w 576"/>
                <a:gd name="T13" fmla="*/ 0 h 56"/>
                <a:gd name="T14" fmla="*/ 576 w 576"/>
                <a:gd name="T15" fmla="*/ 56 h 56"/>
              </a:gdLst>
              <a:ahLst/>
              <a:cxnLst>
                <a:cxn ang="T8">
                  <a:pos x="T0" y="T1"/>
                </a:cxn>
                <a:cxn ang="T9">
                  <a:pos x="T2" y="T3"/>
                </a:cxn>
                <a:cxn ang="T10">
                  <a:pos x="T4" y="T5"/>
                </a:cxn>
                <a:cxn ang="T11">
                  <a:pos x="T6" y="T7"/>
                </a:cxn>
              </a:cxnLst>
              <a:rect l="T12" t="T13" r="T14" b="T15"/>
              <a:pathLst>
                <a:path w="576" h="56">
                  <a:moveTo>
                    <a:pt x="0" y="0"/>
                  </a:moveTo>
                  <a:cubicBezTo>
                    <a:pt x="60" y="20"/>
                    <a:pt x="120" y="40"/>
                    <a:pt x="192" y="48"/>
                  </a:cubicBezTo>
                  <a:cubicBezTo>
                    <a:pt x="264" y="56"/>
                    <a:pt x="368" y="56"/>
                    <a:pt x="432" y="48"/>
                  </a:cubicBezTo>
                  <a:cubicBezTo>
                    <a:pt x="496" y="40"/>
                    <a:pt x="536" y="20"/>
                    <a:pt x="576" y="0"/>
                  </a:cubicBezTo>
                </a:path>
              </a:pathLst>
            </a:custGeom>
            <a:noFill/>
            <a:ln w="28575">
              <a:solidFill>
                <a:schemeClr val="hlink"/>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0157DBA5-1456-A67E-1E56-7A93AE89F9A8}"/>
              </a:ext>
            </a:extLst>
          </p:cNvPr>
          <p:cNvSpPr>
            <a:spLocks noGrp="1"/>
          </p:cNvSpPr>
          <p:nvPr>
            <p:ph type="title"/>
          </p:nvPr>
        </p:nvSpPr>
        <p:spPr>
          <a:xfrm>
            <a:off x="-76200" y="304800"/>
            <a:ext cx="9229725" cy="609600"/>
          </a:xfrm>
        </p:spPr>
        <p:txBody>
          <a:bodyPr>
            <a:normAutofit fontScale="90000"/>
          </a:bodyPr>
          <a:lstStyle/>
          <a:p>
            <a:r>
              <a:rPr lang="en-US" altLang="en-US"/>
              <a:t>Performance of FPGrowth in Large Datasets</a:t>
            </a:r>
          </a:p>
        </p:txBody>
      </p:sp>
      <p:sp>
        <p:nvSpPr>
          <p:cNvPr id="52227" name="Content Placeholder 2">
            <a:extLst>
              <a:ext uri="{FF2B5EF4-FFF2-40B4-BE49-F238E27FC236}">
                <a16:creationId xmlns:a16="http://schemas.microsoft.com/office/drawing/2014/main" id="{61B1B83F-876B-B470-8FAB-883E8815513E}"/>
              </a:ext>
            </a:extLst>
          </p:cNvPr>
          <p:cNvSpPr>
            <a:spLocks noGrp="1"/>
          </p:cNvSpPr>
          <p:nvPr>
            <p:ph idx="1"/>
          </p:nvPr>
        </p:nvSpPr>
        <p:spPr>
          <a:xfrm>
            <a:off x="688975" y="5133975"/>
            <a:ext cx="3657600" cy="609600"/>
          </a:xfrm>
        </p:spPr>
        <p:txBody>
          <a:bodyPr/>
          <a:lstStyle/>
          <a:p>
            <a:pPr marL="0" indent="0" algn="ctr">
              <a:buFont typeface="Wingdings" panose="05000000000000000000" pitchFamily="2" charset="2"/>
              <a:buNone/>
            </a:pPr>
            <a:r>
              <a:rPr lang="en-US" altLang="en-US" sz="2400"/>
              <a:t>FP-Growth vs. Apriori</a:t>
            </a:r>
          </a:p>
        </p:txBody>
      </p:sp>
      <p:sp>
        <p:nvSpPr>
          <p:cNvPr id="52228" name="Slide Number Placeholder 3">
            <a:extLst>
              <a:ext uri="{FF2B5EF4-FFF2-40B4-BE49-F238E27FC236}">
                <a16:creationId xmlns:a16="http://schemas.microsoft.com/office/drawing/2014/main" id="{9B9A960E-3737-26B8-FBE4-EE9762999F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00A61AF-A2B2-44C1-8E34-C4A5AA03E945}" type="slidenum">
              <a:rPr lang="en-US" altLang="en-US" sz="1200"/>
              <a:pPr eaLnBrk="1" hangingPunct="1"/>
              <a:t>33</a:t>
            </a:fld>
            <a:endParaRPr lang="en-US" altLang="en-US" sz="1200"/>
          </a:p>
        </p:txBody>
      </p:sp>
      <p:graphicFrame>
        <p:nvGraphicFramePr>
          <p:cNvPr id="52229" name="Object 4">
            <a:extLst>
              <a:ext uri="{FF2B5EF4-FFF2-40B4-BE49-F238E27FC236}">
                <a16:creationId xmlns:a16="http://schemas.microsoft.com/office/drawing/2014/main" id="{95D48C60-2B84-553A-4D52-8686B28C2D32}"/>
              </a:ext>
            </a:extLst>
          </p:cNvPr>
          <p:cNvGraphicFramePr>
            <a:graphicFrameLocks noChangeAspect="1"/>
          </p:cNvGraphicFramePr>
          <p:nvPr/>
        </p:nvGraphicFramePr>
        <p:xfrm>
          <a:off x="0" y="1752600"/>
          <a:ext cx="4686300" cy="3103563"/>
        </p:xfrm>
        <a:graphic>
          <a:graphicData uri="http://schemas.openxmlformats.org/presentationml/2006/ole">
            <mc:AlternateContent xmlns:mc="http://schemas.openxmlformats.org/markup-compatibility/2006">
              <mc:Choice xmlns:v="urn:schemas-microsoft-com:vml" Requires="v">
                <p:oleObj name="Chart" r:id="rId2" imgW="4600996" imgH="3286426" progId="Excel.Chart.8">
                  <p:embed/>
                </p:oleObj>
              </mc:Choice>
              <mc:Fallback>
                <p:oleObj name="Chart" r:id="rId2" imgW="4600996" imgH="3286426" progId="Excel.Chart.8">
                  <p:embed/>
                  <p:pic>
                    <p:nvPicPr>
                      <p:cNvPr id="52229" name="Object 4">
                        <a:extLst>
                          <a:ext uri="{FF2B5EF4-FFF2-40B4-BE49-F238E27FC236}">
                            <a16:creationId xmlns:a16="http://schemas.microsoft.com/office/drawing/2014/main" id="{95D48C60-2B84-553A-4D52-8686B28C2D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46863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0" name="Text Box 4">
            <a:extLst>
              <a:ext uri="{FF2B5EF4-FFF2-40B4-BE49-F238E27FC236}">
                <a16:creationId xmlns:a16="http://schemas.microsoft.com/office/drawing/2014/main" id="{42FC5E7D-F3B3-A07B-FE1C-A95C51D543D5}"/>
              </a:ext>
            </a:extLst>
          </p:cNvPr>
          <p:cNvSpPr txBox="1">
            <a:spLocks noChangeArrowheads="1"/>
          </p:cNvSpPr>
          <p:nvPr/>
        </p:nvSpPr>
        <p:spPr bwMode="auto">
          <a:xfrm>
            <a:off x="2133600" y="2971800"/>
            <a:ext cx="2232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Data set T25I20D10K</a:t>
            </a:r>
          </a:p>
        </p:txBody>
      </p:sp>
      <p:graphicFrame>
        <p:nvGraphicFramePr>
          <p:cNvPr id="52231" name="Object 6">
            <a:extLst>
              <a:ext uri="{FF2B5EF4-FFF2-40B4-BE49-F238E27FC236}">
                <a16:creationId xmlns:a16="http://schemas.microsoft.com/office/drawing/2014/main" id="{1C39FD97-3E38-907B-31FC-F0D501794121}"/>
              </a:ext>
            </a:extLst>
          </p:cNvPr>
          <p:cNvGraphicFramePr>
            <a:graphicFrameLocks noChangeAspect="1"/>
          </p:cNvGraphicFramePr>
          <p:nvPr/>
        </p:nvGraphicFramePr>
        <p:xfrm>
          <a:off x="4365625" y="1787525"/>
          <a:ext cx="4759325" cy="3282950"/>
        </p:xfrm>
        <a:graphic>
          <a:graphicData uri="http://schemas.openxmlformats.org/presentationml/2006/ole">
            <mc:AlternateContent xmlns:mc="http://schemas.openxmlformats.org/markup-compatibility/2006">
              <mc:Choice xmlns:v="urn:schemas-microsoft-com:vml" Requires="v">
                <p:oleObj name="Chart" r:id="rId4" imgW="4858207" imgH="2791054" progId="Excel.Chart.8">
                  <p:embed/>
                </p:oleObj>
              </mc:Choice>
              <mc:Fallback>
                <p:oleObj name="Chart" r:id="rId4" imgW="4858207" imgH="2791054" progId="Excel.Chart.8">
                  <p:embed/>
                  <p:pic>
                    <p:nvPicPr>
                      <p:cNvPr id="52231" name="Object 6">
                        <a:extLst>
                          <a:ext uri="{FF2B5EF4-FFF2-40B4-BE49-F238E27FC236}">
                            <a16:creationId xmlns:a16="http://schemas.microsoft.com/office/drawing/2014/main" id="{1C39FD97-3E38-907B-31FC-F0D5017941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5625" y="1787525"/>
                        <a:ext cx="4759325"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2" name="Text Box 4">
            <a:extLst>
              <a:ext uri="{FF2B5EF4-FFF2-40B4-BE49-F238E27FC236}">
                <a16:creationId xmlns:a16="http://schemas.microsoft.com/office/drawing/2014/main" id="{4A277D0E-BF34-14E2-072D-12A640A5A01D}"/>
              </a:ext>
            </a:extLst>
          </p:cNvPr>
          <p:cNvSpPr txBox="1">
            <a:spLocks noChangeArrowheads="1"/>
          </p:cNvSpPr>
          <p:nvPr/>
        </p:nvSpPr>
        <p:spPr bwMode="auto">
          <a:xfrm>
            <a:off x="6781800" y="29718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Data set T25I20D100K</a:t>
            </a:r>
          </a:p>
        </p:txBody>
      </p:sp>
      <p:sp>
        <p:nvSpPr>
          <p:cNvPr id="52233" name="Content Placeholder 2">
            <a:extLst>
              <a:ext uri="{FF2B5EF4-FFF2-40B4-BE49-F238E27FC236}">
                <a16:creationId xmlns:a16="http://schemas.microsoft.com/office/drawing/2014/main" id="{D2052238-E0F3-82CE-05CE-9942EFC77486}"/>
              </a:ext>
            </a:extLst>
          </p:cNvPr>
          <p:cNvSpPr txBox="1">
            <a:spLocks/>
          </p:cNvSpPr>
          <p:nvPr/>
        </p:nvSpPr>
        <p:spPr bwMode="auto">
          <a:xfrm>
            <a:off x="4733925" y="5153025"/>
            <a:ext cx="441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20000"/>
              </a:spcBef>
              <a:buClr>
                <a:schemeClr val="folHlink"/>
              </a:buClr>
              <a:buSzPct val="60000"/>
              <a:buFont typeface="Wingdings" panose="05000000000000000000" pitchFamily="2" charset="2"/>
              <a:buNone/>
            </a:pPr>
            <a:r>
              <a:rPr lang="en-US" altLang="en-US"/>
              <a:t>FP-Growth vs. Tree-Projection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9040406A-4AF2-D837-4EDE-35CDBA7C2C6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A51A901-0D00-4AC4-84FA-23180A30B934}" type="slidenum">
              <a:rPr lang="en-US" altLang="en-US" sz="1200"/>
              <a:pPr eaLnBrk="1" hangingPunct="1"/>
              <a:t>34</a:t>
            </a:fld>
            <a:endParaRPr lang="en-US" altLang="en-US" sz="1200"/>
          </a:p>
        </p:txBody>
      </p:sp>
      <p:sp>
        <p:nvSpPr>
          <p:cNvPr id="53251" name="Rectangle 2">
            <a:extLst>
              <a:ext uri="{FF2B5EF4-FFF2-40B4-BE49-F238E27FC236}">
                <a16:creationId xmlns:a16="http://schemas.microsoft.com/office/drawing/2014/main" id="{1D538C81-57B6-F08E-96A7-AA2FD82893FA}"/>
              </a:ext>
            </a:extLst>
          </p:cNvPr>
          <p:cNvSpPr>
            <a:spLocks noGrp="1" noChangeArrowheads="1"/>
          </p:cNvSpPr>
          <p:nvPr>
            <p:ph type="title"/>
          </p:nvPr>
        </p:nvSpPr>
        <p:spPr>
          <a:xfrm>
            <a:off x="0" y="422275"/>
            <a:ext cx="9144000" cy="492125"/>
          </a:xfrm>
        </p:spPr>
        <p:txBody>
          <a:bodyPr>
            <a:normAutofit fontScale="90000"/>
          </a:bodyPr>
          <a:lstStyle/>
          <a:p>
            <a:pPr eaLnBrk="1" hangingPunct="1"/>
            <a:r>
              <a:rPr lang="en-US" altLang="en-US" sz="3200"/>
              <a:t>Advantages of the Pattern Growth Approach</a:t>
            </a:r>
          </a:p>
        </p:txBody>
      </p:sp>
      <p:sp>
        <p:nvSpPr>
          <p:cNvPr id="53252" name="Rectangle 3">
            <a:extLst>
              <a:ext uri="{FF2B5EF4-FFF2-40B4-BE49-F238E27FC236}">
                <a16:creationId xmlns:a16="http://schemas.microsoft.com/office/drawing/2014/main" id="{0036F879-C0FE-6449-8429-B8C538EB756A}"/>
              </a:ext>
            </a:extLst>
          </p:cNvPr>
          <p:cNvSpPr>
            <a:spLocks noGrp="1" noChangeArrowheads="1"/>
          </p:cNvSpPr>
          <p:nvPr>
            <p:ph type="body" idx="1"/>
          </p:nvPr>
        </p:nvSpPr>
        <p:spPr>
          <a:xfrm>
            <a:off x="381000" y="1371600"/>
            <a:ext cx="8305800" cy="5181600"/>
          </a:xfrm>
        </p:spPr>
        <p:txBody>
          <a:bodyPr>
            <a:normAutofit lnSpcReduction="10000"/>
          </a:bodyPr>
          <a:lstStyle/>
          <a:p>
            <a:pPr eaLnBrk="1" hangingPunct="1">
              <a:lnSpc>
                <a:spcPct val="120000"/>
              </a:lnSpc>
            </a:pPr>
            <a:r>
              <a:rPr lang="en-US" altLang="en-US" sz="2000"/>
              <a:t>Divide-and-conquer: </a:t>
            </a:r>
          </a:p>
          <a:p>
            <a:pPr lvl="1" eaLnBrk="1" hangingPunct="1">
              <a:lnSpc>
                <a:spcPct val="120000"/>
              </a:lnSpc>
            </a:pPr>
            <a:r>
              <a:rPr lang="en-US" altLang="en-US" sz="2000"/>
              <a:t>Decompose both the mining task and DB according to the frequent patterns obtained so far</a:t>
            </a:r>
          </a:p>
          <a:p>
            <a:pPr lvl="1" eaLnBrk="1" hangingPunct="1">
              <a:lnSpc>
                <a:spcPct val="120000"/>
              </a:lnSpc>
            </a:pPr>
            <a:r>
              <a:rPr lang="en-US" altLang="en-US" sz="2000"/>
              <a:t>Lead to focused search of smaller databases</a:t>
            </a:r>
          </a:p>
          <a:p>
            <a:pPr eaLnBrk="1" hangingPunct="1">
              <a:lnSpc>
                <a:spcPct val="120000"/>
              </a:lnSpc>
            </a:pPr>
            <a:r>
              <a:rPr lang="en-US" altLang="en-US" sz="2000"/>
              <a:t>Other factors</a:t>
            </a:r>
          </a:p>
          <a:p>
            <a:pPr lvl="1" eaLnBrk="1" hangingPunct="1">
              <a:lnSpc>
                <a:spcPct val="120000"/>
              </a:lnSpc>
            </a:pPr>
            <a:r>
              <a:rPr lang="en-US" altLang="en-US" sz="2000"/>
              <a:t>No candidate generation, no candidate test</a:t>
            </a:r>
          </a:p>
          <a:p>
            <a:pPr lvl="1" eaLnBrk="1" hangingPunct="1">
              <a:lnSpc>
                <a:spcPct val="120000"/>
              </a:lnSpc>
            </a:pPr>
            <a:r>
              <a:rPr lang="en-US" altLang="en-US" sz="2000"/>
              <a:t>Compressed database: FP-tree structure</a:t>
            </a:r>
          </a:p>
          <a:p>
            <a:pPr lvl="1" eaLnBrk="1" hangingPunct="1">
              <a:lnSpc>
                <a:spcPct val="120000"/>
              </a:lnSpc>
            </a:pPr>
            <a:r>
              <a:rPr lang="en-US" altLang="en-US" sz="2000"/>
              <a:t>No repeated scan of entire database </a:t>
            </a:r>
          </a:p>
          <a:p>
            <a:pPr lvl="1" eaLnBrk="1" hangingPunct="1">
              <a:lnSpc>
                <a:spcPct val="120000"/>
              </a:lnSpc>
            </a:pPr>
            <a:r>
              <a:rPr lang="en-US" altLang="en-US" sz="2000"/>
              <a:t>Basic ops: counting local freq items and building sub FP-tree, no pattern search and matching</a:t>
            </a:r>
          </a:p>
          <a:p>
            <a:pPr eaLnBrk="1" hangingPunct="1">
              <a:lnSpc>
                <a:spcPct val="120000"/>
              </a:lnSpc>
            </a:pPr>
            <a:r>
              <a:rPr lang="en-US" altLang="en-US" sz="2000"/>
              <a:t>A good open-source implementation and refinement of FPGrowth</a:t>
            </a:r>
          </a:p>
          <a:p>
            <a:pPr lvl="1" eaLnBrk="1" hangingPunct="1">
              <a:lnSpc>
                <a:spcPct val="120000"/>
              </a:lnSpc>
            </a:pPr>
            <a:r>
              <a:rPr lang="en-US" altLang="en-US" sz="2000"/>
              <a:t>FPGrowth+ (Grahne and J. Zhu, FIMI'03)</a:t>
            </a:r>
          </a:p>
          <a:p>
            <a:pPr lvl="1" eaLnBrk="1" hangingPunct="1">
              <a:lnSpc>
                <a:spcPct val="110000"/>
              </a:lnSpc>
            </a:pPr>
            <a:endParaRPr lang="en-US" altLang="en-US"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ACA1C585-7B05-82BB-B979-21A34FB1E71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2F37F6E4-6A3B-4B65-BD31-977498215329}" type="slidenum">
              <a:rPr lang="en-US" altLang="en-US" sz="1200"/>
              <a:pPr eaLnBrk="1" hangingPunct="1"/>
              <a:t>35</a:t>
            </a:fld>
            <a:endParaRPr lang="en-US" altLang="en-US" sz="1200"/>
          </a:p>
        </p:txBody>
      </p:sp>
      <p:sp>
        <p:nvSpPr>
          <p:cNvPr id="54275" name="Rectangle 2">
            <a:extLst>
              <a:ext uri="{FF2B5EF4-FFF2-40B4-BE49-F238E27FC236}">
                <a16:creationId xmlns:a16="http://schemas.microsoft.com/office/drawing/2014/main" id="{FF1F617D-71DE-2FFA-E325-86CC3BE35B9C}"/>
              </a:ext>
            </a:extLst>
          </p:cNvPr>
          <p:cNvSpPr>
            <a:spLocks noGrp="1" noChangeArrowheads="1"/>
          </p:cNvSpPr>
          <p:nvPr>
            <p:ph type="title"/>
          </p:nvPr>
        </p:nvSpPr>
        <p:spPr>
          <a:xfrm>
            <a:off x="611188" y="381000"/>
            <a:ext cx="7845425" cy="609600"/>
          </a:xfrm>
        </p:spPr>
        <p:txBody>
          <a:bodyPr>
            <a:normAutofit fontScale="90000"/>
          </a:bodyPr>
          <a:lstStyle/>
          <a:p>
            <a:pPr eaLnBrk="1" hangingPunct="1"/>
            <a:r>
              <a:rPr lang="en-US" altLang="en-US" sz="3200"/>
              <a:t>Further Improvements of Mining Methods</a:t>
            </a:r>
          </a:p>
        </p:txBody>
      </p:sp>
      <p:sp>
        <p:nvSpPr>
          <p:cNvPr id="54276" name="Rectangle 3">
            <a:extLst>
              <a:ext uri="{FF2B5EF4-FFF2-40B4-BE49-F238E27FC236}">
                <a16:creationId xmlns:a16="http://schemas.microsoft.com/office/drawing/2014/main" id="{AD392995-8E59-EFE5-2FBA-9EF6168CDCCA}"/>
              </a:ext>
            </a:extLst>
          </p:cNvPr>
          <p:cNvSpPr>
            <a:spLocks noGrp="1" noChangeArrowheads="1"/>
          </p:cNvSpPr>
          <p:nvPr>
            <p:ph type="body" idx="1"/>
          </p:nvPr>
        </p:nvSpPr>
        <p:spPr>
          <a:xfrm>
            <a:off x="381000" y="1447800"/>
            <a:ext cx="8382000" cy="5105400"/>
          </a:xfrm>
        </p:spPr>
        <p:txBody>
          <a:bodyPr/>
          <a:lstStyle/>
          <a:p>
            <a:pPr eaLnBrk="1" hangingPunct="1">
              <a:lnSpc>
                <a:spcPct val="130000"/>
              </a:lnSpc>
            </a:pPr>
            <a:r>
              <a:rPr lang="en-US" altLang="en-US" sz="2000"/>
              <a:t>AFOPT (Liu, et al. @ KDD’03)</a:t>
            </a:r>
          </a:p>
          <a:p>
            <a:pPr lvl="1" eaLnBrk="1" hangingPunct="1">
              <a:lnSpc>
                <a:spcPct val="130000"/>
              </a:lnSpc>
            </a:pPr>
            <a:r>
              <a:rPr lang="en-US" altLang="en-US" sz="2000"/>
              <a:t>A “push-right” method for mining condensed frequent pattern (CFP) tree </a:t>
            </a:r>
          </a:p>
          <a:p>
            <a:pPr eaLnBrk="1" hangingPunct="1">
              <a:lnSpc>
                <a:spcPct val="130000"/>
              </a:lnSpc>
            </a:pPr>
            <a:r>
              <a:rPr lang="en-US" altLang="en-US" sz="2000"/>
              <a:t>Carpenter (Pan, et al. @ KDD’03)</a:t>
            </a:r>
          </a:p>
          <a:p>
            <a:pPr lvl="1" eaLnBrk="1" hangingPunct="1">
              <a:lnSpc>
                <a:spcPct val="130000"/>
              </a:lnSpc>
            </a:pPr>
            <a:r>
              <a:rPr lang="en-US" altLang="en-US" sz="2000"/>
              <a:t>Mine data sets with small rows but numerous columns</a:t>
            </a:r>
          </a:p>
          <a:p>
            <a:pPr lvl="1" eaLnBrk="1" hangingPunct="1">
              <a:lnSpc>
                <a:spcPct val="130000"/>
              </a:lnSpc>
            </a:pPr>
            <a:r>
              <a:rPr lang="en-US" altLang="en-US" sz="2000"/>
              <a:t>Construct a row-enumeration tree for efficient mining</a:t>
            </a:r>
          </a:p>
          <a:p>
            <a:pPr eaLnBrk="1" hangingPunct="1">
              <a:lnSpc>
                <a:spcPct val="130000"/>
              </a:lnSpc>
            </a:pPr>
            <a:r>
              <a:rPr lang="en-US" altLang="en-US" sz="2000"/>
              <a:t>FPgrowth+ (Grahne and Zhu, FIMI’03)</a:t>
            </a:r>
          </a:p>
          <a:p>
            <a:pPr lvl="1" eaLnBrk="1" hangingPunct="1">
              <a:lnSpc>
                <a:spcPct val="130000"/>
              </a:lnSpc>
            </a:pPr>
            <a:r>
              <a:rPr lang="en-US" altLang="en-US" sz="2000"/>
              <a:t>Efficiently Using Prefix-Trees in Mining Frequent Itemsets, Proc. ICDM'03 Int. Workshop on Frequent Itemset Mining Implementations (FIMI'03),  Melbourne, FL, Nov. 2003</a:t>
            </a:r>
          </a:p>
          <a:p>
            <a:pPr eaLnBrk="1" hangingPunct="1">
              <a:lnSpc>
                <a:spcPct val="130000"/>
              </a:lnSpc>
            </a:pPr>
            <a:r>
              <a:rPr lang="en-US" altLang="en-US" sz="2000"/>
              <a:t>TD-Close (Liu, et al, SDM’06)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F028A64B-E8A1-FF43-17D2-83BCB1BD91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28A3EEAF-FF87-4B22-B652-CCE6F5D3F21B}" type="slidenum">
              <a:rPr lang="en-US" altLang="en-US" sz="1200"/>
              <a:pPr eaLnBrk="1" hangingPunct="1"/>
              <a:t>36</a:t>
            </a:fld>
            <a:endParaRPr lang="en-US" altLang="en-US" sz="1200"/>
          </a:p>
        </p:txBody>
      </p:sp>
      <p:sp>
        <p:nvSpPr>
          <p:cNvPr id="55299" name="Rectangle 2">
            <a:extLst>
              <a:ext uri="{FF2B5EF4-FFF2-40B4-BE49-F238E27FC236}">
                <a16:creationId xmlns:a16="http://schemas.microsoft.com/office/drawing/2014/main" id="{F1010DC2-1EA5-656F-8A95-7AFFA986101F}"/>
              </a:ext>
            </a:extLst>
          </p:cNvPr>
          <p:cNvSpPr>
            <a:spLocks noGrp="1" noChangeArrowheads="1"/>
          </p:cNvSpPr>
          <p:nvPr>
            <p:ph type="title"/>
          </p:nvPr>
        </p:nvSpPr>
        <p:spPr>
          <a:xfrm>
            <a:off x="0" y="304800"/>
            <a:ext cx="9144000" cy="568325"/>
          </a:xfrm>
          <a:noFill/>
        </p:spPr>
        <p:txBody>
          <a:bodyPr lIns="92075" tIns="46038" rIns="92075" bIns="46038" anchor="ctr">
            <a:normAutofit fontScale="90000"/>
          </a:bodyPr>
          <a:lstStyle/>
          <a:p>
            <a:pPr eaLnBrk="1" hangingPunct="1"/>
            <a:r>
              <a:rPr lang="en-US" altLang="en-US" sz="3200"/>
              <a:t>Extension of Pattern Growth Mining Methodology </a:t>
            </a:r>
          </a:p>
        </p:txBody>
      </p:sp>
      <p:sp>
        <p:nvSpPr>
          <p:cNvPr id="55300" name="Rectangle 3">
            <a:extLst>
              <a:ext uri="{FF2B5EF4-FFF2-40B4-BE49-F238E27FC236}">
                <a16:creationId xmlns:a16="http://schemas.microsoft.com/office/drawing/2014/main" id="{3E18E85E-89D2-158E-88D8-960971B817B9}"/>
              </a:ext>
            </a:extLst>
          </p:cNvPr>
          <p:cNvSpPr>
            <a:spLocks noGrp="1" noChangeArrowheads="1"/>
          </p:cNvSpPr>
          <p:nvPr>
            <p:ph type="body" idx="1"/>
          </p:nvPr>
        </p:nvSpPr>
        <p:spPr>
          <a:xfrm>
            <a:off x="304800" y="1371600"/>
            <a:ext cx="8610600" cy="5334000"/>
          </a:xfrm>
          <a:noFill/>
        </p:spPr>
        <p:txBody>
          <a:bodyPr lIns="92075" tIns="46038" rIns="92075" bIns="46038">
            <a:normAutofit lnSpcReduction="10000"/>
          </a:bodyPr>
          <a:lstStyle/>
          <a:p>
            <a:pPr eaLnBrk="1" hangingPunct="1"/>
            <a:r>
              <a:rPr lang="en-US" altLang="en-US" sz="2000"/>
              <a:t>Mining closed frequent itemsets and max-patterns</a:t>
            </a:r>
          </a:p>
          <a:p>
            <a:pPr lvl="1" eaLnBrk="1" hangingPunct="1"/>
            <a:r>
              <a:rPr lang="en-US" altLang="en-US" sz="2000">
                <a:solidFill>
                  <a:schemeClr val="hlink"/>
                </a:solidFill>
              </a:rPr>
              <a:t>CLOSET (DMKD’00), FPclose, and FPMax (Grahne &amp; Zhu, Fimi’03)</a:t>
            </a:r>
          </a:p>
          <a:p>
            <a:pPr eaLnBrk="1" hangingPunct="1"/>
            <a:r>
              <a:rPr lang="en-US" altLang="en-US" sz="2000"/>
              <a:t>Mining sequential patterns</a:t>
            </a:r>
          </a:p>
          <a:p>
            <a:pPr lvl="1" eaLnBrk="1" hangingPunct="1"/>
            <a:r>
              <a:rPr lang="en-US" altLang="en-US" sz="2000">
                <a:solidFill>
                  <a:schemeClr val="hlink"/>
                </a:solidFill>
              </a:rPr>
              <a:t>PrefixSpan (ICDE’01), CloSpan (SDM’03), BIDE (ICDE’04)</a:t>
            </a:r>
          </a:p>
          <a:p>
            <a:pPr eaLnBrk="1" hangingPunct="1"/>
            <a:r>
              <a:rPr lang="en-US" altLang="en-US" sz="2000"/>
              <a:t>Mining graph patterns</a:t>
            </a:r>
          </a:p>
          <a:p>
            <a:pPr lvl="1" eaLnBrk="1" hangingPunct="1"/>
            <a:r>
              <a:rPr lang="en-US" altLang="en-US" sz="2000">
                <a:solidFill>
                  <a:schemeClr val="hlink"/>
                </a:solidFill>
              </a:rPr>
              <a:t>gSpan (ICDM’02), CloseGraph (KDD’03)</a:t>
            </a:r>
          </a:p>
          <a:p>
            <a:pPr eaLnBrk="1" hangingPunct="1"/>
            <a:r>
              <a:rPr lang="en-US" altLang="en-US" sz="2000"/>
              <a:t>Constraint-based mining of frequent patterns</a:t>
            </a:r>
          </a:p>
          <a:p>
            <a:pPr lvl="1" eaLnBrk="1" hangingPunct="1"/>
            <a:r>
              <a:rPr lang="en-US" altLang="en-US" sz="2000">
                <a:solidFill>
                  <a:schemeClr val="hlink"/>
                </a:solidFill>
              </a:rPr>
              <a:t>Convertible constraints (ICDE’01), gPrune (PAKDD’03)</a:t>
            </a:r>
          </a:p>
          <a:p>
            <a:pPr eaLnBrk="1" hangingPunct="1"/>
            <a:r>
              <a:rPr lang="en-US" altLang="en-US" sz="2000"/>
              <a:t>Computing iceberg data cubes with complex measures </a:t>
            </a:r>
          </a:p>
          <a:p>
            <a:pPr lvl="1" eaLnBrk="1" hangingPunct="1"/>
            <a:r>
              <a:rPr lang="en-US" altLang="en-US" sz="2000">
                <a:solidFill>
                  <a:schemeClr val="hlink"/>
                </a:solidFill>
              </a:rPr>
              <a:t>H-tree, H-cubing, and Star-cubing (SIGMOD’01, VLDB’03)</a:t>
            </a:r>
          </a:p>
          <a:p>
            <a:pPr eaLnBrk="1" hangingPunct="1"/>
            <a:r>
              <a:rPr lang="en-US" altLang="en-US" sz="2000"/>
              <a:t>Pattern-growth-based Clustering</a:t>
            </a:r>
          </a:p>
          <a:p>
            <a:pPr lvl="1" eaLnBrk="1" hangingPunct="1"/>
            <a:r>
              <a:rPr lang="en-US" altLang="en-US" sz="2000">
                <a:solidFill>
                  <a:schemeClr val="hlink"/>
                </a:solidFill>
              </a:rPr>
              <a:t>MaPle (Pei, et al., ICDM’03) </a:t>
            </a:r>
          </a:p>
          <a:p>
            <a:pPr eaLnBrk="1" hangingPunct="1"/>
            <a:r>
              <a:rPr lang="en-US" altLang="en-US" sz="2000"/>
              <a:t>Pattern-Growth-Based Classification</a:t>
            </a:r>
          </a:p>
          <a:p>
            <a:pPr lvl="1" eaLnBrk="1" hangingPunct="1"/>
            <a:r>
              <a:rPr lang="en-US" altLang="en-US" sz="2000">
                <a:solidFill>
                  <a:schemeClr val="hlink"/>
                </a:solidFill>
              </a:rPr>
              <a:t>Mining frequent and discriminative patterns (Cheng, et al, ICDE’07)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20527</TotalTime>
  <Words>3641</Words>
  <Application>Microsoft Office PowerPoint</Application>
  <PresentationFormat>On-screen Show (4:3)</PresentationFormat>
  <Paragraphs>598</Paragraphs>
  <Slides>37</Slides>
  <Notes>25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7" baseType="lpstr">
      <vt:lpstr>Aptos</vt:lpstr>
      <vt:lpstr>Lucida Sans Unicode</vt:lpstr>
      <vt:lpstr>Tahoma</vt:lpstr>
      <vt:lpstr>Times New Roman</vt:lpstr>
      <vt:lpstr>Verdana</vt:lpstr>
      <vt:lpstr>Wingdings</vt:lpstr>
      <vt:lpstr>Wingdings 2</vt:lpstr>
      <vt:lpstr>Wingdings 3</vt:lpstr>
      <vt:lpstr>Concourse</vt:lpstr>
      <vt:lpstr>Microsoft Excel Chart</vt:lpstr>
      <vt:lpstr>Data Mining Unit-II: Association Analysis</vt:lpstr>
      <vt:lpstr>Course Overview</vt:lpstr>
      <vt:lpstr>Data Mining Syllabus</vt:lpstr>
      <vt:lpstr>PowerPoint Presentation</vt:lpstr>
      <vt:lpstr>UNIT – II: Association Analysis</vt:lpstr>
      <vt:lpstr>Frequent itemset mining</vt:lpstr>
      <vt:lpstr>Market Basket Analysis</vt:lpstr>
      <vt:lpstr>Market Basket Analysis</vt:lpstr>
      <vt:lpstr>Market Basket Analysis Contd..</vt:lpstr>
      <vt:lpstr>Market Basket Analysis Contd..</vt:lpstr>
      <vt:lpstr>What Is Frequent Pattern Analysis?</vt:lpstr>
      <vt:lpstr>What Is Frequent Pattern Analysis?</vt:lpstr>
      <vt:lpstr>Why Is Freq. Pattern Mining Important?</vt:lpstr>
      <vt:lpstr>Basic Concepts: Frequent Patterns</vt:lpstr>
      <vt:lpstr>Basic Concepts: Association Rules</vt:lpstr>
      <vt:lpstr>Scalable Frequent Itemset Mining Methods</vt:lpstr>
      <vt:lpstr>Apriori: A Candidate Generation &amp; Test Approach</vt:lpstr>
      <vt:lpstr>The Apriori Algorithm—An Example </vt:lpstr>
      <vt:lpstr>The Apriori Algorithm (Pseudo-Code)</vt:lpstr>
      <vt:lpstr>Implementation of Apriori</vt:lpstr>
      <vt:lpstr>How to Count Supports of Candidates?</vt:lpstr>
      <vt:lpstr>Pattern-Growth Approach: Mining Frequent Patterns Without Candidate Generation</vt:lpstr>
      <vt:lpstr>Construct FP-tree from a Transaction Database</vt:lpstr>
      <vt:lpstr>Partition Patterns and Databases</vt:lpstr>
      <vt:lpstr>Find Patterns Having P From P-conditional Database</vt:lpstr>
      <vt:lpstr>From Conditional Pattern-bases to Conditional FP-trees </vt:lpstr>
      <vt:lpstr>Recursion: Mining Each Conditional FP-tree</vt:lpstr>
      <vt:lpstr>A Special Case: Single Prefix Path in FP-tree</vt:lpstr>
      <vt:lpstr>Benefits of the FP-tree Structure</vt:lpstr>
      <vt:lpstr>The Frequent Pattern Growth Mining Method</vt:lpstr>
      <vt:lpstr>Scaling FP-growth by Database Projection</vt:lpstr>
      <vt:lpstr>Partition-Based Projection</vt:lpstr>
      <vt:lpstr>Performance of FPGrowth in Large Datasets</vt:lpstr>
      <vt:lpstr>Advantages of the Pattern Growth Approach</vt:lpstr>
      <vt:lpstr>Further Improvements of Mining Methods</vt:lpstr>
      <vt:lpstr>Extension of Pattern Growth Mining Methodology </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29</cp:revision>
  <dcterms:created xsi:type="dcterms:W3CDTF">2024-02-25T13:29:34Z</dcterms:created>
  <dcterms:modified xsi:type="dcterms:W3CDTF">2026-07-21T16:20:25Z</dcterms:modified>
</cp:coreProperties>
</file>