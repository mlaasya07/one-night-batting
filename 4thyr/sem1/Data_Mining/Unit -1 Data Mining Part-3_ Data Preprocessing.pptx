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256" r:id="rId2"/>
    <p:sldId id="297" r:id="rId3"/>
    <p:sldId id="300" r:id="rId4"/>
    <p:sldId id="301" r:id="rId5"/>
    <p:sldId id="1067" r:id="rId6"/>
    <p:sldId id="298" r:id="rId7"/>
    <p:sldId id="1026" r:id="rId8"/>
    <p:sldId id="1068" r:id="rId9"/>
    <p:sldId id="1041" r:id="rId10"/>
    <p:sldId id="1043" r:id="rId11"/>
    <p:sldId id="1044" r:id="rId12"/>
    <p:sldId id="1045" r:id="rId13"/>
    <p:sldId id="1140" r:id="rId14"/>
    <p:sldId id="1053" r:id="rId15"/>
    <p:sldId id="1054" r:id="rId16"/>
    <p:sldId id="431" r:id="rId17"/>
    <p:sldId id="433" r:id="rId18"/>
    <p:sldId id="476" r:id="rId19"/>
    <p:sldId id="477" r:id="rId20"/>
    <p:sldId id="478" r:id="rId21"/>
    <p:sldId id="479" r:id="rId22"/>
    <p:sldId id="480" r:id="rId23"/>
    <p:sldId id="508" r:id="rId24"/>
    <p:sldId id="505" r:id="rId25"/>
    <p:sldId id="506" r:id="rId26"/>
    <p:sldId id="507" r:id="rId27"/>
    <p:sldId id="481" r:id="rId28"/>
    <p:sldId id="482" r:id="rId29"/>
    <p:sldId id="527" r:id="rId30"/>
    <p:sldId id="483" r:id="rId31"/>
    <p:sldId id="484" r:id="rId32"/>
    <p:sldId id="485" r:id="rId33"/>
    <p:sldId id="486" r:id="rId34"/>
    <p:sldId id="487" r:id="rId35"/>
    <p:sldId id="488" r:id="rId36"/>
    <p:sldId id="489" r:id="rId37"/>
    <p:sldId id="528" r:id="rId38"/>
    <p:sldId id="490" r:id="rId39"/>
    <p:sldId id="491" r:id="rId40"/>
    <p:sldId id="492" r:id="rId41"/>
    <p:sldId id="493" r:id="rId42"/>
    <p:sldId id="494" r:id="rId43"/>
    <p:sldId id="495" r:id="rId44"/>
    <p:sldId id="496" r:id="rId45"/>
    <p:sldId id="497" r:id="rId46"/>
    <p:sldId id="498" r:id="rId47"/>
    <p:sldId id="499" r:id="rId48"/>
    <p:sldId id="500" r:id="rId49"/>
    <p:sldId id="501" r:id="rId50"/>
    <p:sldId id="502" r:id="rId51"/>
    <p:sldId id="503" r:id="rId52"/>
    <p:sldId id="504" r:id="rId53"/>
    <p:sldId id="524" r:id="rId54"/>
    <p:sldId id="1119" r:id="rId55"/>
    <p:sldId id="1000" r:id="rId56"/>
    <p:sldId id="995" r:id="rId57"/>
    <p:sldId id="1142" r:id="rId58"/>
    <p:sldId id="991" r:id="rId59"/>
    <p:sldId id="992" r:id="rId60"/>
    <p:sldId id="1144" r:id="rId61"/>
    <p:sldId id="1145" r:id="rId62"/>
    <p:sldId id="295"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B931D-A433-438F-AEBB-1ECA22CB9E4C}" type="datetimeFigureOut">
              <a:rPr lang="en-IN" smtClean="0"/>
              <a:t>27-07-2026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D8915-607C-443A-B92B-ABCCA54276B7}" type="slidenum">
              <a:rPr lang="en-IN" smtClean="0"/>
              <a:t>‹#›</a:t>
            </a:fld>
            <a:endParaRPr lang="en-IN"/>
          </a:p>
        </p:txBody>
      </p:sp>
    </p:spTree>
    <p:extLst>
      <p:ext uri="{BB962C8B-B14F-4D97-AF65-F5344CB8AC3E}">
        <p14:creationId xmlns:p14="http://schemas.microsoft.com/office/powerpoint/2010/main" val="441779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C9081AFE-768D-5505-C082-2D18665418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B3C01A30-37F5-498F-A0CB-1623B6FF9BF8}" type="slidenum">
              <a:rPr lang="en-US" altLang="en-US" sz="1200">
                <a:latin typeface="Times New Roman" panose="02020603050405020304" pitchFamily="18" charset="0"/>
              </a:rPr>
              <a:pPr/>
              <a:t>8</a:t>
            </a:fld>
            <a:endParaRPr lang="en-US" altLang="en-US" sz="1200">
              <a:latin typeface="Times New Roman" panose="02020603050405020304" pitchFamily="18" charset="0"/>
            </a:endParaRPr>
          </a:p>
        </p:txBody>
      </p:sp>
      <p:sp>
        <p:nvSpPr>
          <p:cNvPr id="72707" name="Rectangle 2">
            <a:extLst>
              <a:ext uri="{FF2B5EF4-FFF2-40B4-BE49-F238E27FC236}">
                <a16:creationId xmlns:a16="http://schemas.microsoft.com/office/drawing/2014/main" id="{D1A4DE0B-ABA1-470C-1BED-A34153B24946}"/>
              </a:ext>
            </a:extLst>
          </p:cNvPr>
          <p:cNvSpPr>
            <a:spLocks noGrp="1" noRot="1" noChangeAspect="1" noChangeArrowheads="1" noTextEdit="1"/>
          </p:cNvSpPr>
          <p:nvPr>
            <p:ph type="sldImg"/>
          </p:nvPr>
        </p:nvSpPr>
        <p:spPr>
          <a:xfrm>
            <a:off x="1196975" y="692150"/>
            <a:ext cx="4618038" cy="3463925"/>
          </a:xfrm>
          <a:ln/>
        </p:spPr>
      </p:sp>
      <p:sp>
        <p:nvSpPr>
          <p:cNvPr id="72708" name="Rectangle 3">
            <a:extLst>
              <a:ext uri="{FF2B5EF4-FFF2-40B4-BE49-F238E27FC236}">
                <a16:creationId xmlns:a16="http://schemas.microsoft.com/office/drawing/2014/main" id="{578196EB-E215-1F58-3097-9B307EAEB8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488" tIns="46744" rIns="93488" bIns="46744"/>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5C190C60-C985-7BDD-5BEC-8CEF7B12EB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6A0E68D-1CE1-45F0-AEB4-817731F1BD8E}" type="slidenum">
              <a:rPr lang="en-US" altLang="en-US" sz="1200">
                <a:latin typeface="Times New Roman" panose="02020603050405020304" pitchFamily="18" charset="0"/>
              </a:rPr>
              <a:pPr/>
              <a:t>9</a:t>
            </a:fld>
            <a:endParaRPr lang="en-US" altLang="en-US" sz="1200">
              <a:latin typeface="Times New Roman" panose="02020603050405020304" pitchFamily="18" charset="0"/>
            </a:endParaRPr>
          </a:p>
        </p:txBody>
      </p:sp>
      <p:sp>
        <p:nvSpPr>
          <p:cNvPr id="73731" name="Rectangle 2">
            <a:extLst>
              <a:ext uri="{FF2B5EF4-FFF2-40B4-BE49-F238E27FC236}">
                <a16:creationId xmlns:a16="http://schemas.microsoft.com/office/drawing/2014/main" id="{4CED89F3-282A-1FDA-7F3F-414836101430}"/>
              </a:ext>
            </a:extLst>
          </p:cNvPr>
          <p:cNvSpPr>
            <a:spLocks noGrp="1" noRot="1" noChangeAspect="1" noChangeArrowheads="1" noTextEdit="1"/>
          </p:cNvSpPr>
          <p:nvPr>
            <p:ph type="sldImg"/>
          </p:nvPr>
        </p:nvSpPr>
        <p:spPr>
          <a:xfrm>
            <a:off x="1196975" y="692150"/>
            <a:ext cx="4618038" cy="3463925"/>
          </a:xfrm>
          <a:ln/>
        </p:spPr>
      </p:sp>
      <p:sp>
        <p:nvSpPr>
          <p:cNvPr id="73732" name="Rectangle 3">
            <a:extLst>
              <a:ext uri="{FF2B5EF4-FFF2-40B4-BE49-F238E27FC236}">
                <a16:creationId xmlns:a16="http://schemas.microsoft.com/office/drawing/2014/main" id="{B1BC92A2-9581-3E33-603A-CB1D6639D1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64C0F023-F2BB-34FE-058E-8CB124AB90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736C19-73DB-401D-BEED-E526B65E5970}" type="slidenum">
              <a:rPr lang="en-US" altLang="en-US" sz="1200">
                <a:latin typeface="Times New Roman" panose="02020603050405020304" pitchFamily="18" charset="0"/>
              </a:rPr>
              <a:pPr/>
              <a:t>10</a:t>
            </a:fld>
            <a:endParaRPr lang="en-US" altLang="en-US" sz="1200">
              <a:latin typeface="Times New Roman" panose="02020603050405020304" pitchFamily="18" charset="0"/>
            </a:endParaRPr>
          </a:p>
        </p:txBody>
      </p:sp>
      <p:sp>
        <p:nvSpPr>
          <p:cNvPr id="75779" name="Rectangle 2">
            <a:extLst>
              <a:ext uri="{FF2B5EF4-FFF2-40B4-BE49-F238E27FC236}">
                <a16:creationId xmlns:a16="http://schemas.microsoft.com/office/drawing/2014/main" id="{9783C6C3-23B0-EFD9-4B96-E27A45265DCB}"/>
              </a:ext>
            </a:extLst>
          </p:cNvPr>
          <p:cNvSpPr>
            <a:spLocks noGrp="1" noRot="1" noChangeAspect="1" noChangeArrowheads="1" noTextEdit="1"/>
          </p:cNvSpPr>
          <p:nvPr>
            <p:ph type="sldImg"/>
          </p:nvPr>
        </p:nvSpPr>
        <p:spPr>
          <a:xfrm>
            <a:off x="1196975" y="692150"/>
            <a:ext cx="4618038" cy="3463925"/>
          </a:xfrm>
          <a:ln/>
        </p:spPr>
      </p:sp>
      <p:sp>
        <p:nvSpPr>
          <p:cNvPr id="75780" name="Rectangle 3">
            <a:extLst>
              <a:ext uri="{FF2B5EF4-FFF2-40B4-BE49-F238E27FC236}">
                <a16:creationId xmlns:a16="http://schemas.microsoft.com/office/drawing/2014/main" id="{FB72AA71-9726-978C-D022-C5C74236FF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A1DC13F5-2F44-FE92-3020-7F9148C946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3EC853E-672B-4B9F-8177-D27332246A43}" type="slidenum">
              <a:rPr lang="en-US" altLang="en-US" sz="1200">
                <a:latin typeface="Times New Roman" panose="02020603050405020304" pitchFamily="18" charset="0"/>
              </a:rPr>
              <a:pPr/>
              <a:t>11</a:t>
            </a:fld>
            <a:endParaRPr lang="en-US" altLang="en-US" sz="1200">
              <a:latin typeface="Times New Roman" panose="02020603050405020304" pitchFamily="18" charset="0"/>
            </a:endParaRPr>
          </a:p>
        </p:txBody>
      </p:sp>
      <p:sp>
        <p:nvSpPr>
          <p:cNvPr id="76803" name="Rectangle 2">
            <a:extLst>
              <a:ext uri="{FF2B5EF4-FFF2-40B4-BE49-F238E27FC236}">
                <a16:creationId xmlns:a16="http://schemas.microsoft.com/office/drawing/2014/main" id="{60C47C3A-CC98-828C-4A8D-782F6422DC57}"/>
              </a:ext>
            </a:extLst>
          </p:cNvPr>
          <p:cNvSpPr>
            <a:spLocks noGrp="1" noRot="1" noChangeAspect="1" noChangeArrowheads="1" noTextEdit="1"/>
          </p:cNvSpPr>
          <p:nvPr>
            <p:ph type="sldImg"/>
          </p:nvPr>
        </p:nvSpPr>
        <p:spPr>
          <a:xfrm>
            <a:off x="1196975" y="692150"/>
            <a:ext cx="4618038" cy="3463925"/>
          </a:xfrm>
          <a:ln/>
        </p:spPr>
      </p:sp>
      <p:sp>
        <p:nvSpPr>
          <p:cNvPr id="76804" name="Rectangle 3">
            <a:extLst>
              <a:ext uri="{FF2B5EF4-FFF2-40B4-BE49-F238E27FC236}">
                <a16:creationId xmlns:a16="http://schemas.microsoft.com/office/drawing/2014/main" id="{415EBA6E-9CEA-D671-A08B-9A9319949F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4C9C017A-9417-1C29-CB37-85278CE8D2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EAB41C1-9287-484F-B77F-428E861BF412}" type="slidenum">
              <a:rPr lang="en-US" altLang="en-US" sz="1200">
                <a:latin typeface="Times New Roman" panose="02020603050405020304" pitchFamily="18" charset="0"/>
              </a:rPr>
              <a:pPr/>
              <a:t>12</a:t>
            </a:fld>
            <a:endParaRPr lang="en-US" altLang="en-US" sz="1200">
              <a:latin typeface="Times New Roman" panose="02020603050405020304" pitchFamily="18" charset="0"/>
            </a:endParaRPr>
          </a:p>
        </p:txBody>
      </p:sp>
      <p:sp>
        <p:nvSpPr>
          <p:cNvPr id="77827" name="Rectangle 2">
            <a:extLst>
              <a:ext uri="{FF2B5EF4-FFF2-40B4-BE49-F238E27FC236}">
                <a16:creationId xmlns:a16="http://schemas.microsoft.com/office/drawing/2014/main" id="{4C67BC7B-84BD-E455-F365-68F2EFDA9642}"/>
              </a:ext>
            </a:extLst>
          </p:cNvPr>
          <p:cNvSpPr>
            <a:spLocks noGrp="1" noRot="1" noChangeAspect="1" noChangeArrowheads="1" noTextEdit="1"/>
          </p:cNvSpPr>
          <p:nvPr>
            <p:ph type="sldImg"/>
          </p:nvPr>
        </p:nvSpPr>
        <p:spPr>
          <a:xfrm>
            <a:off x="1196975" y="692150"/>
            <a:ext cx="4618038" cy="3463925"/>
          </a:xfrm>
          <a:ln/>
        </p:spPr>
      </p:sp>
      <p:sp>
        <p:nvSpPr>
          <p:cNvPr id="77828" name="Rectangle 3">
            <a:extLst>
              <a:ext uri="{FF2B5EF4-FFF2-40B4-BE49-F238E27FC236}">
                <a16:creationId xmlns:a16="http://schemas.microsoft.com/office/drawing/2014/main" id="{643446F0-53BA-5DFF-FDFB-4530CCF4AC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5C92E72F-BC3E-C3A7-2419-7C27365319FA}"/>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12F9CEBB-2816-413B-97A7-27008747719C}" type="slidenum">
              <a:rPr lang="en-US" altLang="en-US" sz="1200">
                <a:latin typeface="Times New Roman" panose="02020603050405020304" pitchFamily="18" charset="0"/>
              </a:rPr>
              <a:pPr algn="r"/>
              <a:t>13</a:t>
            </a:fld>
            <a:endParaRPr lang="en-US" altLang="en-US" sz="1200">
              <a:latin typeface="Times New Roman" panose="02020603050405020304" pitchFamily="18" charset="0"/>
            </a:endParaRPr>
          </a:p>
        </p:txBody>
      </p:sp>
      <p:sp>
        <p:nvSpPr>
          <p:cNvPr id="78851" name="Rectangle 2">
            <a:extLst>
              <a:ext uri="{FF2B5EF4-FFF2-40B4-BE49-F238E27FC236}">
                <a16:creationId xmlns:a16="http://schemas.microsoft.com/office/drawing/2014/main" id="{13A81FED-C6EE-7789-16B2-6619B5EF78F3}"/>
              </a:ext>
            </a:extLst>
          </p:cNvPr>
          <p:cNvSpPr>
            <a:spLocks noGrp="1" noRot="1" noChangeAspect="1" noChangeArrowheads="1" noTextEdit="1"/>
          </p:cNvSpPr>
          <p:nvPr>
            <p:ph type="sldImg"/>
          </p:nvPr>
        </p:nvSpPr>
        <p:spPr>
          <a:xfrm>
            <a:off x="1196975" y="692150"/>
            <a:ext cx="4618038" cy="3463925"/>
          </a:xfrm>
          <a:ln/>
        </p:spPr>
      </p:sp>
      <p:sp>
        <p:nvSpPr>
          <p:cNvPr id="78852" name="Rectangle 3">
            <a:extLst>
              <a:ext uri="{FF2B5EF4-FFF2-40B4-BE49-F238E27FC236}">
                <a16:creationId xmlns:a16="http://schemas.microsoft.com/office/drawing/2014/main" id="{3804D6E9-1F12-66C3-33D1-DD14F6B7DB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EF920435-954B-FEF6-B69A-A31F101F7E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B06FB0E7-AD49-467D-9524-9C801C702F0D}" type="slidenum">
              <a:rPr lang="en-US" altLang="en-US" sz="1200">
                <a:latin typeface="Times New Roman" panose="02020603050405020304" pitchFamily="18" charset="0"/>
              </a:rPr>
              <a:pPr/>
              <a:t>14</a:t>
            </a:fld>
            <a:endParaRPr lang="en-US" altLang="en-US" sz="1200">
              <a:latin typeface="Times New Roman" panose="02020603050405020304" pitchFamily="18" charset="0"/>
            </a:endParaRPr>
          </a:p>
        </p:txBody>
      </p:sp>
      <p:sp>
        <p:nvSpPr>
          <p:cNvPr id="79875" name="Rectangle 2">
            <a:extLst>
              <a:ext uri="{FF2B5EF4-FFF2-40B4-BE49-F238E27FC236}">
                <a16:creationId xmlns:a16="http://schemas.microsoft.com/office/drawing/2014/main" id="{AB6ACAB9-824C-ACB0-3733-B6E33E5ED90C}"/>
              </a:ext>
            </a:extLst>
          </p:cNvPr>
          <p:cNvSpPr>
            <a:spLocks noGrp="1" noRot="1" noChangeAspect="1" noChangeArrowheads="1" noTextEdit="1"/>
          </p:cNvSpPr>
          <p:nvPr>
            <p:ph type="sldImg"/>
          </p:nvPr>
        </p:nvSpPr>
        <p:spPr>
          <a:xfrm>
            <a:off x="1196975" y="692150"/>
            <a:ext cx="4618038" cy="3463925"/>
          </a:xfrm>
          <a:ln/>
        </p:spPr>
      </p:sp>
      <p:sp>
        <p:nvSpPr>
          <p:cNvPr id="79876" name="Rectangle 3">
            <a:extLst>
              <a:ext uri="{FF2B5EF4-FFF2-40B4-BE49-F238E27FC236}">
                <a16:creationId xmlns:a16="http://schemas.microsoft.com/office/drawing/2014/main" id="{1036ADC2-FF61-FFA0-D05E-1A91F6EF90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D7F8A7FD-D3FB-D618-0FE0-E94AD43F30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BF33306-41BD-415D-8B30-1F7837E2D981}" type="slidenum">
              <a:rPr lang="en-US" altLang="en-US" sz="1200">
                <a:latin typeface="Times New Roman" panose="02020603050405020304" pitchFamily="18" charset="0"/>
              </a:rPr>
              <a:pPr/>
              <a:t>15</a:t>
            </a:fld>
            <a:endParaRPr lang="en-US" altLang="en-US" sz="1200">
              <a:latin typeface="Times New Roman" panose="02020603050405020304" pitchFamily="18" charset="0"/>
            </a:endParaRPr>
          </a:p>
        </p:txBody>
      </p:sp>
      <p:sp>
        <p:nvSpPr>
          <p:cNvPr id="80899" name="Rectangle 2">
            <a:extLst>
              <a:ext uri="{FF2B5EF4-FFF2-40B4-BE49-F238E27FC236}">
                <a16:creationId xmlns:a16="http://schemas.microsoft.com/office/drawing/2014/main" id="{1A171235-6E29-882C-733D-62DA5063B580}"/>
              </a:ext>
            </a:extLst>
          </p:cNvPr>
          <p:cNvSpPr>
            <a:spLocks noGrp="1" noRot="1" noChangeAspect="1" noChangeArrowheads="1" noTextEdit="1"/>
          </p:cNvSpPr>
          <p:nvPr>
            <p:ph type="sldImg"/>
          </p:nvPr>
        </p:nvSpPr>
        <p:spPr>
          <a:xfrm>
            <a:off x="1196975" y="692150"/>
            <a:ext cx="4618038" cy="3463925"/>
          </a:xfrm>
          <a:ln/>
        </p:spPr>
      </p:sp>
      <p:sp>
        <p:nvSpPr>
          <p:cNvPr id="80900" name="Rectangle 3">
            <a:extLst>
              <a:ext uri="{FF2B5EF4-FFF2-40B4-BE49-F238E27FC236}">
                <a16:creationId xmlns:a16="http://schemas.microsoft.com/office/drawing/2014/main" id="{EB54A061-C460-F977-0E47-85A7D4C4D8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982EB81-FC60-43B2-AC07-8490AD558802}" type="slidenum">
              <a:rPr lang="en-US" smtClean="0"/>
              <a:pPr>
                <a:defRPr/>
              </a:pPr>
              <a:t>16</a:t>
            </a:fld>
            <a:endParaRPr lang="en-US"/>
          </a:p>
        </p:txBody>
      </p:sp>
    </p:spTree>
    <p:extLst>
      <p:ext uri="{BB962C8B-B14F-4D97-AF65-F5344CB8AC3E}">
        <p14:creationId xmlns:p14="http://schemas.microsoft.com/office/powerpoint/2010/main" val="1725885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8CE45C3B-6829-2C79-BD6B-4F2B4B00CBE3}"/>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011CA9BB-B35A-466F-A452-2980449924E2}" type="slidenum">
              <a:rPr lang="en-US" altLang="en-US" sz="1200">
                <a:latin typeface="Times New Roman" panose="02020603050405020304" pitchFamily="18" charset="0"/>
              </a:rPr>
              <a:pPr algn="r"/>
              <a:t>54</a:t>
            </a:fld>
            <a:endParaRPr lang="en-US" altLang="en-US" sz="1200">
              <a:latin typeface="Times New Roman" panose="02020603050405020304" pitchFamily="18" charset="0"/>
            </a:endParaRPr>
          </a:p>
        </p:txBody>
      </p:sp>
      <p:sp>
        <p:nvSpPr>
          <p:cNvPr id="120835" name="Rectangle 2">
            <a:extLst>
              <a:ext uri="{FF2B5EF4-FFF2-40B4-BE49-F238E27FC236}">
                <a16:creationId xmlns:a16="http://schemas.microsoft.com/office/drawing/2014/main" id="{329C2236-CBA8-0943-18FE-E9405B77FBCE}"/>
              </a:ext>
            </a:extLst>
          </p:cNvPr>
          <p:cNvSpPr>
            <a:spLocks noGrp="1" noRot="1" noChangeAspect="1" noChangeArrowheads="1" noTextEdit="1"/>
          </p:cNvSpPr>
          <p:nvPr>
            <p:ph type="sldImg"/>
          </p:nvPr>
        </p:nvSpPr>
        <p:spPr>
          <a:xfrm>
            <a:off x="1196975" y="692150"/>
            <a:ext cx="4618038" cy="3463925"/>
          </a:xfrm>
          <a:ln/>
        </p:spPr>
      </p:sp>
      <p:sp>
        <p:nvSpPr>
          <p:cNvPr id="120836" name="Rectangle 3">
            <a:extLst>
              <a:ext uri="{FF2B5EF4-FFF2-40B4-BE49-F238E27FC236}">
                <a16:creationId xmlns:a16="http://schemas.microsoft.com/office/drawing/2014/main" id="{0B991ACA-92FB-125D-AAE4-C13C9976DF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ED581392-4778-AAEF-B375-6E81C2D8DF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8B17B62-7EF4-43D2-BD24-D602C213F2CC}" type="slidenum">
              <a:rPr lang="en-US" altLang="en-US" sz="1200">
                <a:latin typeface="Times New Roman" panose="02020603050405020304" pitchFamily="18" charset="0"/>
              </a:rPr>
              <a:pPr/>
              <a:t>55</a:t>
            </a:fld>
            <a:endParaRPr lang="en-US" altLang="en-US" sz="1200">
              <a:latin typeface="Times New Roman" panose="02020603050405020304" pitchFamily="18" charset="0"/>
            </a:endParaRPr>
          </a:p>
        </p:txBody>
      </p:sp>
      <p:sp>
        <p:nvSpPr>
          <p:cNvPr id="121859" name="Rectangle 2">
            <a:extLst>
              <a:ext uri="{FF2B5EF4-FFF2-40B4-BE49-F238E27FC236}">
                <a16:creationId xmlns:a16="http://schemas.microsoft.com/office/drawing/2014/main" id="{43A6E2FE-CEAB-169C-6AFC-4F0D3B40AD05}"/>
              </a:ext>
            </a:extLst>
          </p:cNvPr>
          <p:cNvSpPr>
            <a:spLocks noGrp="1" noRot="1" noChangeAspect="1" noChangeArrowheads="1" noTextEdit="1"/>
          </p:cNvSpPr>
          <p:nvPr>
            <p:ph type="sldImg"/>
          </p:nvPr>
        </p:nvSpPr>
        <p:spPr>
          <a:xfrm>
            <a:off x="1196975" y="692150"/>
            <a:ext cx="4618038" cy="3463925"/>
          </a:xfrm>
          <a:ln/>
        </p:spPr>
      </p:sp>
      <p:sp>
        <p:nvSpPr>
          <p:cNvPr id="121860" name="Rectangle 3">
            <a:extLst>
              <a:ext uri="{FF2B5EF4-FFF2-40B4-BE49-F238E27FC236}">
                <a16:creationId xmlns:a16="http://schemas.microsoft.com/office/drawing/2014/main" id="{C984E497-C737-B7EE-E4EE-1D10103A18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CB7F1C45-6832-297A-2943-CB2786FFEF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81D0DC6-36A4-4184-944E-10702B2ABEC2}" type="slidenum">
              <a:rPr lang="en-US" altLang="en-US" sz="1200">
                <a:latin typeface="Times New Roman" panose="02020603050405020304" pitchFamily="18" charset="0"/>
              </a:rPr>
              <a:pPr/>
              <a:t>56</a:t>
            </a:fld>
            <a:endParaRPr lang="en-US" altLang="en-US" sz="1200">
              <a:latin typeface="Times New Roman" panose="02020603050405020304" pitchFamily="18" charset="0"/>
            </a:endParaRPr>
          </a:p>
        </p:txBody>
      </p:sp>
      <p:sp>
        <p:nvSpPr>
          <p:cNvPr id="122883" name="Rectangle 2">
            <a:extLst>
              <a:ext uri="{FF2B5EF4-FFF2-40B4-BE49-F238E27FC236}">
                <a16:creationId xmlns:a16="http://schemas.microsoft.com/office/drawing/2014/main" id="{F4D6500D-DB66-4AD9-6D54-FD6B33CD89E5}"/>
              </a:ext>
            </a:extLst>
          </p:cNvPr>
          <p:cNvSpPr>
            <a:spLocks noGrp="1" noRot="1" noChangeAspect="1" noChangeArrowheads="1" noTextEdit="1"/>
          </p:cNvSpPr>
          <p:nvPr>
            <p:ph type="sldImg"/>
          </p:nvPr>
        </p:nvSpPr>
        <p:spPr>
          <a:xfrm>
            <a:off x="1196975" y="692150"/>
            <a:ext cx="4618038" cy="3463925"/>
          </a:xfrm>
          <a:ln/>
        </p:spPr>
      </p:sp>
      <p:sp>
        <p:nvSpPr>
          <p:cNvPr id="122884" name="Rectangle 3">
            <a:extLst>
              <a:ext uri="{FF2B5EF4-FFF2-40B4-BE49-F238E27FC236}">
                <a16:creationId xmlns:a16="http://schemas.microsoft.com/office/drawing/2014/main" id="{1EBD7998-0E12-624D-5378-7B4E42094D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513AC23A-E3B9-6E68-68B9-957AE134BB0E}"/>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CA304265-1DEE-4637-996B-0B7DE3C9B14D}" type="slidenum">
              <a:rPr lang="en-US" altLang="en-US" sz="1200">
                <a:latin typeface="Times New Roman" panose="02020603050405020304" pitchFamily="18" charset="0"/>
              </a:rPr>
              <a:pPr algn="r"/>
              <a:t>57</a:t>
            </a:fld>
            <a:endParaRPr lang="en-US" altLang="en-US" sz="1200">
              <a:latin typeface="Times New Roman" panose="02020603050405020304" pitchFamily="18" charset="0"/>
            </a:endParaRPr>
          </a:p>
        </p:txBody>
      </p:sp>
      <p:sp>
        <p:nvSpPr>
          <p:cNvPr id="123907" name="Rectangle 2">
            <a:extLst>
              <a:ext uri="{FF2B5EF4-FFF2-40B4-BE49-F238E27FC236}">
                <a16:creationId xmlns:a16="http://schemas.microsoft.com/office/drawing/2014/main" id="{FBCB8C72-166C-4FD1-B9E8-40BCC088D901}"/>
              </a:ext>
            </a:extLst>
          </p:cNvPr>
          <p:cNvSpPr>
            <a:spLocks noGrp="1" noRot="1" noChangeAspect="1" noChangeArrowheads="1" noTextEdit="1"/>
          </p:cNvSpPr>
          <p:nvPr>
            <p:ph type="sldImg"/>
          </p:nvPr>
        </p:nvSpPr>
        <p:spPr>
          <a:xfrm>
            <a:off x="1196975" y="692150"/>
            <a:ext cx="4618038" cy="3463925"/>
          </a:xfrm>
          <a:ln/>
        </p:spPr>
      </p:sp>
      <p:sp>
        <p:nvSpPr>
          <p:cNvPr id="123908" name="Rectangle 3">
            <a:extLst>
              <a:ext uri="{FF2B5EF4-FFF2-40B4-BE49-F238E27FC236}">
                <a16:creationId xmlns:a16="http://schemas.microsoft.com/office/drawing/2014/main" id="{1B4466F6-74E8-8394-6554-E3DB22C8F2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DDB65227-AFAE-7C61-D3C2-DAE1E5E446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91DE908-4E5E-477F-98EB-511DC9C7C998}" type="slidenum">
              <a:rPr lang="en-US" altLang="en-US" sz="1200">
                <a:latin typeface="Times New Roman" panose="02020603050405020304" pitchFamily="18" charset="0"/>
              </a:rPr>
              <a:pPr/>
              <a:t>58</a:t>
            </a:fld>
            <a:endParaRPr lang="en-US" altLang="en-US" sz="1200">
              <a:latin typeface="Times New Roman" panose="02020603050405020304" pitchFamily="18" charset="0"/>
            </a:endParaRPr>
          </a:p>
        </p:txBody>
      </p:sp>
      <p:sp>
        <p:nvSpPr>
          <p:cNvPr id="124931" name="Rectangle 2">
            <a:extLst>
              <a:ext uri="{FF2B5EF4-FFF2-40B4-BE49-F238E27FC236}">
                <a16:creationId xmlns:a16="http://schemas.microsoft.com/office/drawing/2014/main" id="{F6574D3F-AC74-856C-BADB-10F7F76CEC9B}"/>
              </a:ext>
            </a:extLst>
          </p:cNvPr>
          <p:cNvSpPr>
            <a:spLocks noGrp="1" noRot="1" noChangeAspect="1" noChangeArrowheads="1" noTextEdit="1"/>
          </p:cNvSpPr>
          <p:nvPr>
            <p:ph type="sldImg"/>
          </p:nvPr>
        </p:nvSpPr>
        <p:spPr>
          <a:xfrm>
            <a:off x="1196975" y="692150"/>
            <a:ext cx="4618038" cy="3463925"/>
          </a:xfrm>
          <a:ln/>
        </p:spPr>
      </p:sp>
      <p:sp>
        <p:nvSpPr>
          <p:cNvPr id="124932" name="Rectangle 3">
            <a:extLst>
              <a:ext uri="{FF2B5EF4-FFF2-40B4-BE49-F238E27FC236}">
                <a16:creationId xmlns:a16="http://schemas.microsoft.com/office/drawing/2014/main" id="{73FAD85C-6DAD-68E0-9E00-8763ACEB9C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69E7C9C1-1F93-05BA-3CBB-5654D459BC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93F77AB-98F4-4EF8-8447-A0E26D10D2DE}" type="slidenum">
              <a:rPr lang="en-US" altLang="en-US" sz="1200">
                <a:latin typeface="Times New Roman" panose="02020603050405020304" pitchFamily="18" charset="0"/>
              </a:rPr>
              <a:pPr/>
              <a:t>59</a:t>
            </a:fld>
            <a:endParaRPr lang="en-US" altLang="en-US" sz="1200">
              <a:latin typeface="Times New Roman" panose="02020603050405020304" pitchFamily="18" charset="0"/>
            </a:endParaRPr>
          </a:p>
        </p:txBody>
      </p:sp>
      <p:sp>
        <p:nvSpPr>
          <p:cNvPr id="125955" name="Rectangle 2">
            <a:extLst>
              <a:ext uri="{FF2B5EF4-FFF2-40B4-BE49-F238E27FC236}">
                <a16:creationId xmlns:a16="http://schemas.microsoft.com/office/drawing/2014/main" id="{DA913125-6EB3-57C5-B50F-968E3A55484A}"/>
              </a:ext>
            </a:extLst>
          </p:cNvPr>
          <p:cNvSpPr>
            <a:spLocks noGrp="1" noRot="1" noChangeAspect="1" noChangeArrowheads="1" noTextEdit="1"/>
          </p:cNvSpPr>
          <p:nvPr>
            <p:ph type="sldImg"/>
          </p:nvPr>
        </p:nvSpPr>
        <p:spPr>
          <a:xfrm>
            <a:off x="1196975" y="692150"/>
            <a:ext cx="4618038" cy="3463925"/>
          </a:xfrm>
          <a:ln/>
        </p:spPr>
      </p:sp>
      <p:sp>
        <p:nvSpPr>
          <p:cNvPr id="125956" name="Rectangle 3">
            <a:extLst>
              <a:ext uri="{FF2B5EF4-FFF2-40B4-BE49-F238E27FC236}">
                <a16:creationId xmlns:a16="http://schemas.microsoft.com/office/drawing/2014/main" id="{9FC60AF3-96BE-4C31-6AF6-C64D2371DB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D43CC4F3-EA95-6553-334A-D3907FE1DC28}"/>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55F79888-4E57-4EDF-BFF7-9D64AAB3F837}" type="slidenum">
              <a:rPr lang="en-US" altLang="en-US" sz="1200">
                <a:latin typeface="Times New Roman" panose="02020603050405020304" pitchFamily="18" charset="0"/>
              </a:rPr>
              <a:pPr algn="r"/>
              <a:t>60</a:t>
            </a:fld>
            <a:endParaRPr lang="en-US" altLang="en-US" sz="1200">
              <a:latin typeface="Times New Roman" panose="02020603050405020304" pitchFamily="18" charset="0"/>
            </a:endParaRPr>
          </a:p>
        </p:txBody>
      </p:sp>
      <p:sp>
        <p:nvSpPr>
          <p:cNvPr id="126979" name="Rectangle 2">
            <a:extLst>
              <a:ext uri="{FF2B5EF4-FFF2-40B4-BE49-F238E27FC236}">
                <a16:creationId xmlns:a16="http://schemas.microsoft.com/office/drawing/2014/main" id="{605C03FB-0E69-BACC-5888-7A40E33953D3}"/>
              </a:ext>
            </a:extLst>
          </p:cNvPr>
          <p:cNvSpPr>
            <a:spLocks noGrp="1" noRot="1" noChangeAspect="1" noChangeArrowheads="1" noTextEdit="1"/>
          </p:cNvSpPr>
          <p:nvPr>
            <p:ph type="sldImg"/>
          </p:nvPr>
        </p:nvSpPr>
        <p:spPr>
          <a:xfrm>
            <a:off x="1198563" y="693738"/>
            <a:ext cx="4616450" cy="3462337"/>
          </a:xfrm>
          <a:ln/>
        </p:spPr>
      </p:sp>
      <p:sp>
        <p:nvSpPr>
          <p:cNvPr id="126980" name="Rectangle 3">
            <a:extLst>
              <a:ext uri="{FF2B5EF4-FFF2-40B4-BE49-F238E27FC236}">
                <a16:creationId xmlns:a16="http://schemas.microsoft.com/office/drawing/2014/main" id="{FA74136D-5528-B612-4DE7-08B296ADD6F3}"/>
              </a:ext>
            </a:extLst>
          </p:cNvPr>
          <p:cNvSpPr>
            <a:spLocks noGrp="1" noChangeArrowheads="1"/>
          </p:cNvSpPr>
          <p:nvPr>
            <p:ph type="body" idx="1"/>
          </p:nvPr>
        </p:nvSpPr>
        <p:spPr>
          <a:xfrm>
            <a:off x="935038" y="4386263"/>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072399CF-5D02-81B8-5B02-475B25494CC3}"/>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6949C78-6B89-4A54-B780-3545FAB2A140}" type="slidenum">
              <a:rPr lang="en-US" altLang="en-US" sz="1200">
                <a:latin typeface="Times New Roman" panose="02020603050405020304" pitchFamily="18" charset="0"/>
              </a:rPr>
              <a:pPr algn="r"/>
              <a:t>61</a:t>
            </a:fld>
            <a:endParaRPr lang="en-US" altLang="en-US" sz="1200">
              <a:latin typeface="Times New Roman" panose="02020603050405020304" pitchFamily="18" charset="0"/>
            </a:endParaRPr>
          </a:p>
        </p:txBody>
      </p:sp>
      <p:sp>
        <p:nvSpPr>
          <p:cNvPr id="128003" name="Rectangle 2">
            <a:extLst>
              <a:ext uri="{FF2B5EF4-FFF2-40B4-BE49-F238E27FC236}">
                <a16:creationId xmlns:a16="http://schemas.microsoft.com/office/drawing/2014/main" id="{D024514D-C9F5-EADB-C956-8A3024EA3026}"/>
              </a:ext>
            </a:extLst>
          </p:cNvPr>
          <p:cNvSpPr>
            <a:spLocks noGrp="1" noRot="1" noChangeAspect="1" noChangeArrowheads="1" noTextEdit="1"/>
          </p:cNvSpPr>
          <p:nvPr>
            <p:ph type="sldImg"/>
          </p:nvPr>
        </p:nvSpPr>
        <p:spPr>
          <a:xfrm>
            <a:off x="1198563" y="693738"/>
            <a:ext cx="4616450" cy="3462337"/>
          </a:xfrm>
          <a:ln/>
        </p:spPr>
      </p:sp>
      <p:sp>
        <p:nvSpPr>
          <p:cNvPr id="128004" name="Rectangle 3">
            <a:extLst>
              <a:ext uri="{FF2B5EF4-FFF2-40B4-BE49-F238E27FC236}">
                <a16:creationId xmlns:a16="http://schemas.microsoft.com/office/drawing/2014/main" id="{C3F85CDB-681F-A873-5BD5-74E02FBDEAB1}"/>
              </a:ext>
            </a:extLst>
          </p:cNvPr>
          <p:cNvSpPr>
            <a:spLocks noGrp="1" noChangeArrowheads="1"/>
          </p:cNvSpPr>
          <p:nvPr>
            <p:ph type="body" idx="1"/>
          </p:nvPr>
        </p:nvSpPr>
        <p:spPr>
          <a:xfrm>
            <a:off x="935038" y="4386263"/>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77E622D-688E-4B32-BEB3-4970C061C57D}" type="datetimeFigureOut">
              <a:rPr lang="en-US" smtClean="0"/>
              <a:pPr/>
              <a:t>7/27/2026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C821317-7AA6-422E-89DF-D41F562F285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77E622D-688E-4B32-BEB3-4970C061C57D}"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77E622D-688E-4B32-BEB3-4970C061C57D}" type="datetimeFigureOut">
              <a:rPr lang="en-US" smtClean="0"/>
              <a:pPr/>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77E622D-688E-4B32-BEB3-4970C061C57D}" type="datetimeFigureOut">
              <a:rPr lang="en-US" smtClean="0"/>
              <a:pPr/>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77E622D-688E-4B32-BEB3-4970C061C57D}" type="datetimeFigureOut">
              <a:rPr lang="en-US" smtClean="0"/>
              <a:pPr/>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821317-7AA6-422E-89DF-D41F562F2851}"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7E622D-688E-4B32-BEB3-4970C061C57D}"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077E622D-688E-4B32-BEB3-4970C061C57D}" type="datetimeFigureOut">
              <a:rPr lang="en-US" smtClean="0"/>
              <a:pPr/>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77E622D-688E-4B32-BEB3-4970C061C57D}" type="datetimeFigureOut">
              <a:rPr lang="en-US" smtClean="0"/>
              <a:pPr/>
              <a:t>7/27/2026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C821317-7AA6-422E-89DF-D41F562F2851}"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763000" cy="609600"/>
          </a:xfrm>
        </p:spPr>
        <p:txBody>
          <a:bodyPr/>
          <a:lstStyle/>
          <a:p>
            <a:r>
              <a:rPr lang="en-US"/>
              <a:t>Click to edit Master title style</a:t>
            </a:r>
          </a:p>
        </p:txBody>
      </p:sp>
      <p:sp>
        <p:nvSpPr>
          <p:cNvPr id="3" name="Text Placeholder 2"/>
          <p:cNvSpPr>
            <a:spLocks noGrp="1"/>
          </p:cNvSpPr>
          <p:nvPr>
            <p:ph type="body" sz="half" idx="1"/>
          </p:nvPr>
        </p:nvSpPr>
        <p:spPr>
          <a:xfrm>
            <a:off x="304800" y="12954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0" y="1295400"/>
            <a:ext cx="41148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0" y="3962400"/>
            <a:ext cx="41148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59">
            <a:extLst>
              <a:ext uri="{FF2B5EF4-FFF2-40B4-BE49-F238E27FC236}">
                <a16:creationId xmlns:a16="http://schemas.microsoft.com/office/drawing/2014/main" id="{2350B890-48B5-4F58-14C3-609BC6426F78}"/>
              </a:ext>
            </a:extLst>
          </p:cNvPr>
          <p:cNvSpPr>
            <a:spLocks noGrp="1" noChangeArrowheads="1"/>
          </p:cNvSpPr>
          <p:nvPr>
            <p:ph type="dt" sz="half" idx="10"/>
          </p:nvPr>
        </p:nvSpPr>
        <p:spPr>
          <a:ln/>
        </p:spPr>
        <p:txBody>
          <a:bodyPr/>
          <a:lstStyle>
            <a:lvl1pPr>
              <a:defRPr/>
            </a:lvl1pPr>
          </a:lstStyle>
          <a:p>
            <a:pPr>
              <a:defRPr/>
            </a:pPr>
            <a:fld id="{A92BEF28-F483-4286-AB41-FCF33444A8BC}" type="datetime1">
              <a:rPr lang="en-US"/>
              <a:pPr>
                <a:defRPr/>
              </a:pPr>
              <a:t>7/27/2026</a:t>
            </a:fld>
            <a:endParaRPr lang="en-US"/>
          </a:p>
        </p:txBody>
      </p:sp>
      <p:sp>
        <p:nvSpPr>
          <p:cNvPr id="7" name="Rectangle 2060">
            <a:extLst>
              <a:ext uri="{FF2B5EF4-FFF2-40B4-BE49-F238E27FC236}">
                <a16:creationId xmlns:a16="http://schemas.microsoft.com/office/drawing/2014/main" id="{64A66F96-8DA5-CA7B-D904-FEB5BDD0E7CF}"/>
              </a:ext>
            </a:extLst>
          </p:cNvPr>
          <p:cNvSpPr>
            <a:spLocks noGrp="1" noChangeArrowheads="1"/>
          </p:cNvSpPr>
          <p:nvPr>
            <p:ph type="ftr" sz="quarter" idx="11"/>
          </p:nvPr>
        </p:nvSpPr>
        <p:spPr>
          <a:ln/>
        </p:spPr>
        <p:txBody>
          <a:bodyPr/>
          <a:lstStyle>
            <a:lvl1pPr>
              <a:defRPr/>
            </a:lvl1pPr>
          </a:lstStyle>
          <a:p>
            <a:pPr>
              <a:defRPr/>
            </a:pPr>
            <a:r>
              <a:rPr lang="en-US"/>
              <a:t>Data Mining: Concepts and Techniques</a:t>
            </a:r>
          </a:p>
        </p:txBody>
      </p:sp>
      <p:sp>
        <p:nvSpPr>
          <p:cNvPr id="8" name="Rectangle 2061">
            <a:extLst>
              <a:ext uri="{FF2B5EF4-FFF2-40B4-BE49-F238E27FC236}">
                <a16:creationId xmlns:a16="http://schemas.microsoft.com/office/drawing/2014/main" id="{DDA3E9F0-2559-B0A4-2555-9EE8E6E74FE8}"/>
              </a:ext>
            </a:extLst>
          </p:cNvPr>
          <p:cNvSpPr>
            <a:spLocks noGrp="1" noChangeArrowheads="1"/>
          </p:cNvSpPr>
          <p:nvPr>
            <p:ph type="sldNum" sz="quarter" idx="12"/>
          </p:nvPr>
        </p:nvSpPr>
        <p:spPr>
          <a:ln/>
        </p:spPr>
        <p:txBody>
          <a:bodyPr/>
          <a:lstStyle>
            <a:lvl1pPr>
              <a:defRPr/>
            </a:lvl1pPr>
          </a:lstStyle>
          <a:p>
            <a:fld id="{E044B5FC-6209-4C64-85AC-873F42388B96}" type="slidenum">
              <a:rPr lang="en-US" altLang="en-US"/>
              <a:pPr/>
              <a:t>‹#›</a:t>
            </a:fld>
            <a:endParaRPr lang="en-US" altLang="en-US"/>
          </a:p>
        </p:txBody>
      </p:sp>
    </p:spTree>
    <p:extLst>
      <p:ext uri="{BB962C8B-B14F-4D97-AF65-F5344CB8AC3E}">
        <p14:creationId xmlns:p14="http://schemas.microsoft.com/office/powerpoint/2010/main" val="1322651279"/>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77E622D-688E-4B32-BEB3-4970C061C57D}" type="datetimeFigureOut">
              <a:rPr lang="en-US" smtClean="0"/>
              <a:pPr/>
              <a:t>7/27/2026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C821317-7AA6-422E-89DF-D41F562F285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24.wmf"/><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4.bin"/><Relationship Id="rId14" Type="http://schemas.openxmlformats.org/officeDocument/2006/relationships/image" Target="../media/image25.w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914399"/>
          </a:xfrm>
        </p:spPr>
        <p:txBody>
          <a:bodyPr>
            <a:normAutofit fontScale="90000"/>
          </a:bodyPr>
          <a:lstStyle/>
          <a:p>
            <a:r>
              <a:rPr lang="en-US" dirty="0">
                <a:solidFill>
                  <a:srgbClr val="002060"/>
                </a:solidFill>
                <a:latin typeface="Times New Roman" pitchFamily="18" charset="0"/>
                <a:cs typeface="Times New Roman" pitchFamily="18" charset="0"/>
              </a:rPr>
              <a:t>Data Mining</a:t>
            </a:r>
            <a:br>
              <a:rPr lang="en-US" dirty="0">
                <a:solidFill>
                  <a:srgbClr val="002060"/>
                </a:solidFill>
                <a:latin typeface="Times New Roman" pitchFamily="18" charset="0"/>
                <a:cs typeface="Times New Roman" pitchFamily="18" charset="0"/>
              </a:rPr>
            </a:br>
            <a:r>
              <a:rPr lang="en-US" sz="2200" dirty="0">
                <a:solidFill>
                  <a:srgbClr val="002060"/>
                </a:solidFill>
                <a:effectLst/>
                <a:latin typeface="Times New Roman" panose="02020603050405020304" pitchFamily="18" charset="0"/>
                <a:cs typeface="Times New Roman" panose="02020603050405020304" pitchFamily="18" charset="0"/>
              </a:rPr>
              <a:t>Unit-I: Introduction to Data Mining</a:t>
            </a:r>
            <a:endParaRPr lang="en-US" sz="2200" dirty="0">
              <a:solidFill>
                <a:srgbClr val="002060"/>
              </a:solidFill>
              <a:effectLst/>
            </a:endParaRPr>
          </a:p>
        </p:txBody>
      </p:sp>
      <p:sp>
        <p:nvSpPr>
          <p:cNvPr id="4" name="TextBox 3">
            <a:extLst>
              <a:ext uri="{FF2B5EF4-FFF2-40B4-BE49-F238E27FC236}">
                <a16:creationId xmlns:a16="http://schemas.microsoft.com/office/drawing/2014/main" id="{7F283DA4-7B6E-EABD-9B92-3DDB1E9DFE59}"/>
              </a:ext>
            </a:extLst>
          </p:cNvPr>
          <p:cNvSpPr txBox="1"/>
          <p:nvPr/>
        </p:nvSpPr>
        <p:spPr>
          <a:xfrm>
            <a:off x="5715000" y="3581400"/>
            <a:ext cx="2057400" cy="923330"/>
          </a:xfrm>
          <a:prstGeom prst="rect">
            <a:avLst/>
          </a:prstGeom>
          <a:noFill/>
        </p:spPr>
        <p:txBody>
          <a:bodyPr wrap="square">
            <a:spAutoFit/>
          </a:bodyPr>
          <a:lstStyle/>
          <a:p>
            <a:r>
              <a:rPr lang="en-US" dirty="0" err="1">
                <a:solidFill>
                  <a:srgbClr val="002060"/>
                </a:solidFill>
                <a:latin typeface="Times New Roman" pitchFamily="18" charset="0"/>
                <a:cs typeface="Times New Roman" pitchFamily="18" charset="0"/>
              </a:rPr>
              <a:t>Dr.G.Padmavathi</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Associate professor</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CRRAO AIMSCS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782DFA-BB00-CAEC-DE94-CEA86293C426}"/>
              </a:ext>
            </a:extLst>
          </p:cNvPr>
          <p:cNvSpPr>
            <a:spLocks noGrp="1"/>
          </p:cNvSpPr>
          <p:nvPr>
            <p:ph idx="1"/>
          </p:nvPr>
        </p:nvSpPr>
        <p:spPr>
          <a:xfrm>
            <a:off x="457200" y="973394"/>
            <a:ext cx="8229600" cy="4525963"/>
          </a:xfrm>
        </p:spPr>
        <p:txBody>
          <a:bodyPr>
            <a:normAutofit/>
          </a:bodyPr>
          <a:lstStyle/>
          <a:p>
            <a:r>
              <a:rPr lang="en-IN" dirty="0">
                <a:latin typeface="Times New Roman" panose="02020603050405020304" pitchFamily="18" charset="0"/>
                <a:cs typeface="Times New Roman" panose="02020603050405020304" pitchFamily="18" charset="0"/>
              </a:rPr>
              <a:t>Credits: 3 (L-T-P: 3-0-0)</a:t>
            </a:r>
          </a:p>
          <a:p>
            <a:r>
              <a:rPr lang="en-IN" dirty="0">
                <a:latin typeface="Times New Roman" panose="02020603050405020304" pitchFamily="18" charset="0"/>
                <a:cs typeface="Times New Roman" panose="02020603050405020304" pitchFamily="18" charset="0"/>
              </a:rPr>
              <a:t>Pre-requisites: Database Management Systems</a:t>
            </a:r>
          </a:p>
          <a:p>
            <a:r>
              <a:rPr lang="en-IN" dirty="0">
                <a:latin typeface="Times New Roman" panose="02020603050405020304" pitchFamily="18" charset="0"/>
                <a:cs typeface="Times New Roman" panose="02020603050405020304" pitchFamily="18" charset="0"/>
              </a:rPr>
              <a:t>Probability and Statistics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Goal: Introduce key data mining techniques &amp; their applications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25DDA09-B579-C2F7-8169-01A2DCEE2F48}"/>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Course Overview</a:t>
            </a:r>
          </a:p>
        </p:txBody>
      </p:sp>
    </p:spTree>
    <p:extLst>
      <p:ext uri="{BB962C8B-B14F-4D97-AF65-F5344CB8AC3E}">
        <p14:creationId xmlns:p14="http://schemas.microsoft.com/office/powerpoint/2010/main" val="164434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3C9514-1AFC-5B37-4DC9-4151E7197ABA}"/>
              </a:ext>
            </a:extLst>
          </p:cNvPr>
          <p:cNvSpPr>
            <a:spLocks noGrp="1"/>
          </p:cNvSpPr>
          <p:nvPr>
            <p:ph idx="1"/>
          </p:nvPr>
        </p:nvSpPr>
        <p:spPr>
          <a:xfrm>
            <a:off x="471948" y="507027"/>
            <a:ext cx="8229600" cy="6019800"/>
          </a:xfrm>
        </p:spPr>
        <p:txBody>
          <a:bodyPr>
            <a:noAutofit/>
          </a:bodyPr>
          <a:lstStyle/>
          <a:p>
            <a:pPr marL="109728" indent="0">
              <a:buNone/>
            </a:pPr>
            <a:r>
              <a:rPr lang="en-US" sz="1400" b="1" dirty="0">
                <a:latin typeface="Times New Roman" panose="02020603050405020304" pitchFamily="18" charset="0"/>
                <a:cs typeface="Times New Roman" panose="02020603050405020304" pitchFamily="18" charset="0"/>
              </a:rPr>
              <a:t>UNIT - 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Introduction to Data Mining:</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What Data mining? Kinds of Data, Knowledge Discovery process, Data Mining Functionalities, Kinds of Patterns, Major Issues in Data Mining. Data Objects and Attribute Types, Basic Statistical Descriptions of Data, Data Visualization, Measuring Data Similarity and Dissimilarity, Data Pre-processing</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Major Tasks in Data Pre-processing, Data Cleaning, Data Integration, Data Reduction, Data Transformation and Data Discretization.</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Association Analysis: </a:t>
            </a:r>
            <a:r>
              <a:rPr lang="en-US" sz="1400" dirty="0">
                <a:latin typeface="Times New Roman" panose="02020603050405020304" pitchFamily="18" charset="0"/>
                <a:cs typeface="Times New Roman" panose="02020603050405020304" pitchFamily="18" charset="0"/>
              </a:rPr>
              <a:t>Basic Concepts, Market Basket Analysis, </a:t>
            </a:r>
            <a:r>
              <a:rPr lang="en-US" sz="1400" dirty="0" err="1">
                <a:latin typeface="Times New Roman" panose="02020603050405020304" pitchFamily="18" charset="0"/>
                <a:cs typeface="Times New Roman" panose="02020603050405020304" pitchFamily="18" charset="0"/>
              </a:rPr>
              <a:t>Apriori</a:t>
            </a:r>
            <a:r>
              <a:rPr lang="en-US" sz="1400" dirty="0">
                <a:latin typeface="Times New Roman" panose="02020603050405020304" pitchFamily="18" charset="0"/>
                <a:cs typeface="Times New Roman" panose="02020603050405020304" pitchFamily="18" charset="0"/>
              </a:rPr>
              <a:t> Algorithm, FP-growth, From Association Analysis to Correlation Analysis, Pattern Mining in Multilevel Associations and Multidimensional Associations.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Classification: </a:t>
            </a:r>
            <a:r>
              <a:rPr lang="en-US" sz="1400" dirty="0">
                <a:latin typeface="Times New Roman" panose="02020603050405020304" pitchFamily="18" charset="0"/>
                <a:cs typeface="Times New Roman" panose="02020603050405020304" pitchFamily="18" charset="0"/>
              </a:rPr>
              <a:t>Basic Concepts, Decision Tree Induction, Bayes Classification Methods, Rule-Based Classification, Metrics for Evaluating Classifier Performance, Ensemble Methods, Multilayer Feed- Forward Neural Network, Support Vector Machines, k-Nearest-Neighbor Classifiers.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Cluster Analysis: </a:t>
            </a:r>
            <a:r>
              <a:rPr lang="en-US" sz="1400" dirty="0">
                <a:latin typeface="Times New Roman" panose="02020603050405020304" pitchFamily="18" charset="0"/>
                <a:cs typeface="Times New Roman" panose="02020603050405020304" pitchFamily="18" charset="0"/>
              </a:rPr>
              <a:t>Requirements for Cluster Analysis, Overview of Basic Clustering Methods, Partitioning Methods-k-Means, k-Medoids, Hierarchical Methods-AGENES, DIANA, BIRCH, Density- Based Method-DBSCAN, Outlier Analysis: Types of Outliers, Challenges of Outlier Detection, and Overview of Outlier Detection Methods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UNIT - 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Advanced Concepts: </a:t>
            </a:r>
            <a:r>
              <a:rPr lang="en-US" sz="1400" dirty="0">
                <a:latin typeface="Times New Roman" panose="02020603050405020304" pitchFamily="18" charset="0"/>
                <a:cs typeface="Times New Roman" panose="02020603050405020304" pitchFamily="18" charset="0"/>
              </a:rPr>
              <a:t>Web Mining- Web Content Mining, Web Structure Mining, Web Usage Mining, Spatial Mining- Spatial Data Overview, Spatial Data Mining Primitives, Spatial Rules, Spatial Classification Algorithm, Spatial Clustering Algorithms, Temporal Mining- Modeling Temporal Events, Time Series, Pattern Detection, Sequences, Temporal Association Rules.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559E7D3-4393-3786-9AB0-8A133DB04BFD}"/>
              </a:ext>
            </a:extLst>
          </p:cNvPr>
          <p:cNvSpPr>
            <a:spLocks noGrp="1"/>
          </p:cNvSpPr>
          <p:nvPr>
            <p:ph type="title"/>
          </p:nvPr>
        </p:nvSpPr>
        <p:spPr>
          <a:xfrm>
            <a:off x="457200" y="19665"/>
            <a:ext cx="8229600" cy="487362"/>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Data Mining Syllabus</a:t>
            </a:r>
          </a:p>
        </p:txBody>
      </p:sp>
    </p:spTree>
    <p:extLst>
      <p:ext uri="{BB962C8B-B14F-4D97-AF65-F5344CB8AC3E}">
        <p14:creationId xmlns:p14="http://schemas.microsoft.com/office/powerpoint/2010/main" val="384747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D8B92D-28DA-CD2D-5048-336BEB13CBED}"/>
              </a:ext>
            </a:extLst>
          </p:cNvPr>
          <p:cNvSpPr>
            <a:spLocks noGrp="1"/>
          </p:cNvSpPr>
          <p:nvPr>
            <p:ph idx="1"/>
          </p:nvPr>
        </p:nvSpPr>
        <p:spPr>
          <a:xfrm>
            <a:off x="381000" y="457200"/>
            <a:ext cx="8229600" cy="4525963"/>
          </a:xfrm>
        </p:spPr>
        <p:txBody>
          <a:bodyPr>
            <a:normAutofit/>
          </a:bodyPr>
          <a:lstStyle/>
          <a:p>
            <a:r>
              <a:rPr lang="en-US" sz="2000" b="1" dirty="0">
                <a:latin typeface="Times New Roman" panose="02020603050405020304" pitchFamily="18" charset="0"/>
                <a:cs typeface="Times New Roman" panose="02020603050405020304" pitchFamily="18" charset="0"/>
              </a:rPr>
              <a:t>TEXT BOOKS:</a:t>
            </a:r>
          </a:p>
          <a:p>
            <a:endParaRPr lang="en-US" sz="2000" b="1"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Jiawei Han, Micheline Kamber, Jian Pei., Data Mining: Concepts and Techniques, 3rd Edition, Morgan Kaufmann/Elsevier, 2012.</a:t>
            </a:r>
            <a:endParaRPr lang="en-IN" sz="2000" b="1"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Margaret H Dunham, Data Mining Introductory and Advanced Topics, 2nd Edition, Pearson Education, India, 2006.</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REFERENCE BOOKS:</a:t>
            </a:r>
          </a:p>
          <a:p>
            <a:pPr marL="109728" indent="0">
              <a:buNone/>
            </a:pP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Data Mining Techniques, Arun K Pujari, 3rd Edition, Universities Press.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Pang-Ning Tan, Michael Steinbach, Anuj </a:t>
            </a:r>
            <a:r>
              <a:rPr lang="en-US" sz="2000" dirty="0" err="1">
                <a:latin typeface="Times New Roman" panose="02020603050405020304" pitchFamily="18" charset="0"/>
                <a:cs typeface="Times New Roman" panose="02020603050405020304" pitchFamily="18" charset="0"/>
              </a:rPr>
              <a:t>Karpatne</a:t>
            </a:r>
            <a:r>
              <a:rPr lang="en-US" sz="2000" dirty="0">
                <a:latin typeface="Times New Roman" panose="02020603050405020304" pitchFamily="18" charset="0"/>
                <a:cs typeface="Times New Roman" panose="02020603050405020304" pitchFamily="18" charset="0"/>
              </a:rPr>
              <a:t> and Vipin Kumar, Introduction to Data Mining, 2nd Edition, Pearson Education India, 2021.</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Amitesh Sinha, Data Warehousing, Thomson Learning, India, 2007.</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566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B3060C-79DB-F72C-D4E0-7474AA245925}"/>
              </a:ext>
            </a:extLst>
          </p:cNvPr>
          <p:cNvSpPr>
            <a:spLocks noGrp="1"/>
          </p:cNvSpPr>
          <p:nvPr>
            <p:ph idx="1"/>
          </p:nvPr>
        </p:nvSpPr>
        <p:spPr>
          <a:xfrm>
            <a:off x="457200" y="1481329"/>
            <a:ext cx="4495800" cy="2404872"/>
          </a:xfrm>
        </p:spPr>
        <p:txBody>
          <a:bodyPr>
            <a:normAutofit/>
          </a:bodyPr>
          <a:lstStyle/>
          <a:p>
            <a:r>
              <a:rPr lang="en-US" sz="2000" dirty="0">
                <a:latin typeface="Times New Roman" panose="02020603050405020304" pitchFamily="18" charset="0"/>
                <a:cs typeface="Times New Roman" panose="02020603050405020304" pitchFamily="18" charset="0"/>
              </a:rPr>
              <a:t>What Data mining? </a:t>
            </a:r>
          </a:p>
          <a:p>
            <a:r>
              <a:rPr lang="en-US" sz="2000" dirty="0">
                <a:latin typeface="Times New Roman" panose="02020603050405020304" pitchFamily="18" charset="0"/>
                <a:cs typeface="Times New Roman" panose="02020603050405020304" pitchFamily="18" charset="0"/>
              </a:rPr>
              <a:t>Kinds of Data,</a:t>
            </a:r>
          </a:p>
          <a:p>
            <a:r>
              <a:rPr lang="en-US" sz="2000" dirty="0">
                <a:latin typeface="Times New Roman" panose="02020603050405020304" pitchFamily="18" charset="0"/>
                <a:cs typeface="Times New Roman" panose="02020603050405020304" pitchFamily="18" charset="0"/>
              </a:rPr>
              <a:t> Knowledge Discovery process, </a:t>
            </a:r>
          </a:p>
          <a:p>
            <a:r>
              <a:rPr lang="en-US" sz="2000" dirty="0">
                <a:latin typeface="Times New Roman" panose="02020603050405020304" pitchFamily="18" charset="0"/>
                <a:cs typeface="Times New Roman" panose="02020603050405020304" pitchFamily="18" charset="0"/>
              </a:rPr>
              <a:t>Data Mining Functionalities, </a:t>
            </a:r>
          </a:p>
          <a:p>
            <a:r>
              <a:rPr lang="en-US" sz="2000" dirty="0">
                <a:latin typeface="Times New Roman" panose="02020603050405020304" pitchFamily="18" charset="0"/>
                <a:cs typeface="Times New Roman" panose="02020603050405020304" pitchFamily="18" charset="0"/>
              </a:rPr>
              <a:t>Kinds of Patterns, </a:t>
            </a:r>
          </a:p>
          <a:p>
            <a:r>
              <a:rPr lang="en-US" sz="2000" dirty="0">
                <a:latin typeface="Times New Roman" panose="02020603050405020304" pitchFamily="18" charset="0"/>
                <a:cs typeface="Times New Roman" panose="02020603050405020304" pitchFamily="18" charset="0"/>
              </a:rPr>
              <a:t>Major Issues in Data Mining. </a:t>
            </a:r>
          </a:p>
        </p:txBody>
      </p:sp>
      <p:sp>
        <p:nvSpPr>
          <p:cNvPr id="3" name="Title 2">
            <a:extLst>
              <a:ext uri="{FF2B5EF4-FFF2-40B4-BE49-F238E27FC236}">
                <a16:creationId xmlns:a16="http://schemas.microsoft.com/office/drawing/2014/main" id="{27D30880-6A30-4448-609B-28B8A565754E}"/>
              </a:ext>
            </a:extLst>
          </p:cNvPr>
          <p:cNvSpPr>
            <a:spLocks noGrp="1"/>
          </p:cNvSpPr>
          <p:nvPr>
            <p:ph type="title"/>
          </p:nvPr>
        </p:nvSpPr>
        <p:spPr/>
        <p:txBody>
          <a:bodyPr>
            <a:no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UNIT - I</a:t>
            </a:r>
            <a:br>
              <a:rPr lang="en-IN" sz="3200" dirty="0">
                <a:solidFill>
                  <a:srgbClr val="002060"/>
                </a:solidFill>
                <a:latin typeface="Times New Roman" panose="02020603050405020304" pitchFamily="18" charset="0"/>
                <a:cs typeface="Times New Roman" panose="02020603050405020304" pitchFamily="18" charset="0"/>
              </a:rPr>
            </a:br>
            <a:r>
              <a:rPr lang="en-US" sz="3200" dirty="0">
                <a:solidFill>
                  <a:srgbClr val="002060"/>
                </a:solidFill>
                <a:latin typeface="Times New Roman" panose="02020603050405020304" pitchFamily="18" charset="0"/>
                <a:cs typeface="Times New Roman" panose="02020603050405020304" pitchFamily="18" charset="0"/>
              </a:rPr>
              <a:t>Introduction to Data Mining</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F7B9F7-A100-6EEE-D5F4-E1A71FB0B908}"/>
              </a:ext>
            </a:extLst>
          </p:cNvPr>
          <p:cNvSpPr txBox="1"/>
          <p:nvPr/>
        </p:nvSpPr>
        <p:spPr>
          <a:xfrm>
            <a:off x="5334000" y="1600200"/>
            <a:ext cx="3433916" cy="240065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Data Pre-processing</a:t>
            </a:r>
            <a:r>
              <a:rPr lang="en-US" sz="2400" b="1"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Major Tasks in Data Pre-processing, </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Cleaning,</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Data Integration, </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Reduction,</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Data Transformation and Data Discretization.</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61E2F3D-F9D2-A93C-A4A8-DBFA268BFC78}"/>
              </a:ext>
            </a:extLst>
          </p:cNvPr>
          <p:cNvSpPr txBox="1"/>
          <p:nvPr/>
        </p:nvSpPr>
        <p:spPr>
          <a:xfrm>
            <a:off x="990600" y="4277856"/>
            <a:ext cx="4576916" cy="1754326"/>
          </a:xfrm>
          <a:prstGeom prst="rect">
            <a:avLst/>
          </a:prstGeom>
          <a:noFill/>
        </p:spPr>
        <p:txBody>
          <a:bodyPr wrap="square">
            <a:spAutoFit/>
          </a:bodyPr>
          <a:lstStyle/>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Objects and Attribute Types</a:t>
            </a: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 Basic Statistical Descriptions of Data,</a:t>
            </a:r>
          </a:p>
          <a:p>
            <a:r>
              <a:rPr lang="en-US" sz="1800" b="1"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Visualization,</a:t>
            </a: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 Measuring Data Similarity and Dissimilarity, </a:t>
            </a:r>
          </a:p>
        </p:txBody>
      </p:sp>
    </p:spTree>
    <p:extLst>
      <p:ext uri="{BB962C8B-B14F-4D97-AF65-F5344CB8AC3E}">
        <p14:creationId xmlns:p14="http://schemas.microsoft.com/office/powerpoint/2010/main" val="189725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016D4-9036-CF88-9569-2F1AF5DAD4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B5A013-173F-0D55-B1C3-35697771D51B}"/>
              </a:ext>
            </a:extLst>
          </p:cNvPr>
          <p:cNvSpPr>
            <a:spLocks noGrp="1"/>
          </p:cNvSpPr>
          <p:nvPr>
            <p:ph idx="1"/>
          </p:nvPr>
        </p:nvSpPr>
        <p:spPr>
          <a:xfrm>
            <a:off x="457200" y="973394"/>
            <a:ext cx="8229600" cy="4525963"/>
          </a:xfrm>
        </p:spPr>
        <p:txBody>
          <a:bodyPr>
            <a:normAutofit/>
          </a:bodyPr>
          <a:lstStyle/>
          <a:p>
            <a:r>
              <a:rPr lang="en-US" dirty="0">
                <a:latin typeface="Times New Roman" panose="02020603050405020304" pitchFamily="18" charset="0"/>
                <a:cs typeface="Times New Roman" panose="02020603050405020304" pitchFamily="18" charset="0"/>
              </a:rPr>
              <a:t>Data mining definitions, goals, and processes</a:t>
            </a:r>
          </a:p>
          <a:p>
            <a:r>
              <a:rPr lang="en-US" dirty="0">
                <a:latin typeface="Times New Roman" panose="02020603050405020304" pitchFamily="18" charset="0"/>
                <a:cs typeface="Times New Roman" panose="02020603050405020304" pitchFamily="18" charset="0"/>
              </a:rPr>
              <a:t>Types of data, patterns, and issues</a:t>
            </a:r>
          </a:p>
          <a:p>
            <a:r>
              <a:rPr lang="en-IN" dirty="0">
                <a:latin typeface="Times New Roman" panose="02020603050405020304" pitchFamily="18" charset="0"/>
                <a:cs typeface="Times New Roman" panose="02020603050405020304" pitchFamily="18" charset="0"/>
              </a:rPr>
              <a:t>Data visualization, similarity measures</a:t>
            </a:r>
          </a:p>
          <a:p>
            <a:r>
              <a:rPr lang="en-IN" dirty="0">
                <a:latin typeface="Times New Roman" panose="02020603050405020304" pitchFamily="18" charset="0"/>
                <a:cs typeface="Times New Roman" panose="02020603050405020304" pitchFamily="18" charset="0"/>
              </a:rPr>
              <a:t>Data cleaning, integration, transformation</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B51CCBF-A35D-02B0-BF17-D4027C192016}"/>
              </a:ext>
            </a:extLst>
          </p:cNvPr>
          <p:cNvSpPr>
            <a:spLocks noGrp="1"/>
          </p:cNvSpPr>
          <p:nvPr>
            <p:ph type="title"/>
          </p:nvPr>
        </p:nvSpPr>
        <p:spPr>
          <a:xfrm>
            <a:off x="457200" y="274638"/>
            <a:ext cx="8229600" cy="715962"/>
          </a:xfrm>
        </p:spPr>
        <p:txBody>
          <a:bodyPr>
            <a:normAutofit/>
          </a:bodyPr>
          <a:lstStyle/>
          <a:p>
            <a:pPr algn="ctr"/>
            <a:r>
              <a:rPr lang="en-IN" sz="3200" dirty="0">
                <a:solidFill>
                  <a:srgbClr val="002060"/>
                </a:solidFill>
                <a:latin typeface="Times New Roman" panose="02020603050405020304" pitchFamily="18" charset="0"/>
                <a:cs typeface="Times New Roman" panose="02020603050405020304" pitchFamily="18" charset="0"/>
              </a:rPr>
              <a:t>Unit I: </a:t>
            </a:r>
            <a:r>
              <a:rPr lang="en-IN" sz="3200" dirty="0" err="1">
                <a:solidFill>
                  <a:srgbClr val="002060"/>
                </a:solidFill>
                <a:latin typeface="Times New Roman" panose="02020603050405020304" pitchFamily="18" charset="0"/>
                <a:cs typeface="Times New Roman" panose="02020603050405020304" pitchFamily="18" charset="0"/>
              </a:rPr>
              <a:t>Introductionto</a:t>
            </a:r>
            <a:r>
              <a:rPr lang="en-IN" sz="3200" dirty="0">
                <a:solidFill>
                  <a:srgbClr val="002060"/>
                </a:solidFill>
                <a:latin typeface="Times New Roman" panose="02020603050405020304" pitchFamily="18" charset="0"/>
                <a:cs typeface="Times New Roman" panose="02020603050405020304" pitchFamily="18" charset="0"/>
              </a:rPr>
              <a:t> Data Mining</a:t>
            </a:r>
          </a:p>
        </p:txBody>
      </p:sp>
    </p:spTree>
    <p:extLst>
      <p:ext uri="{BB962C8B-B14F-4D97-AF65-F5344CB8AC3E}">
        <p14:creationId xmlns:p14="http://schemas.microsoft.com/office/powerpoint/2010/main" val="3409630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7F0DA0F-5727-2193-6BB3-83C649A1034F}"/>
              </a:ext>
            </a:extLst>
          </p:cNvPr>
          <p:cNvSpPr>
            <a:spLocks noGrp="1"/>
          </p:cNvSpPr>
          <p:nvPr>
            <p:ph type="title"/>
          </p:nvPr>
        </p:nvSpPr>
        <p:spPr>
          <a:xfrm>
            <a:off x="381000" y="228600"/>
            <a:ext cx="8229600" cy="762000"/>
          </a:xfrm>
        </p:spPr>
        <p:txBody>
          <a:bodyPr>
            <a:noAutofit/>
          </a:bodyPr>
          <a:lstStyle/>
          <a:p>
            <a:pPr algn="ctr"/>
            <a:r>
              <a:rPr lang="en-US" altLang="en-US" sz="4000" dirty="0">
                <a:solidFill>
                  <a:srgbClr val="002060"/>
                </a:solidFill>
                <a:effectLst/>
                <a:latin typeface="Times New Roman" panose="02020603050405020304" pitchFamily="18" charset="0"/>
                <a:cs typeface="Times New Roman" panose="02020603050405020304" pitchFamily="18" charset="0"/>
              </a:rPr>
              <a:t>Chapter 3 in Prescribed textbook</a:t>
            </a:r>
            <a:endParaRPr lang="en-IN" sz="2000" dirty="0">
              <a:solidFill>
                <a:srgbClr val="00206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B957A9C-ADB1-F1B4-4B4F-606B9E5DD7EA}"/>
              </a:ext>
            </a:extLst>
          </p:cNvPr>
          <p:cNvSpPr txBox="1"/>
          <p:nvPr/>
        </p:nvSpPr>
        <p:spPr>
          <a:xfrm>
            <a:off x="762000" y="1371600"/>
            <a:ext cx="3810000" cy="3231654"/>
          </a:xfrm>
          <a:prstGeom prst="rect">
            <a:avLst/>
          </a:prstGeom>
          <a:noFill/>
        </p:spPr>
        <p:txBody>
          <a:bodyPr wrap="square">
            <a:spAutoFit/>
          </a:bodyPr>
          <a:lstStyle/>
          <a:p>
            <a:r>
              <a:rPr lang="en-IN" sz="1200" b="1" dirty="0">
                <a:latin typeface="Times New Roman" panose="02020603050405020304" pitchFamily="18" charset="0"/>
                <a:cs typeface="Times New Roman" panose="02020603050405020304" pitchFamily="18" charset="0"/>
              </a:rPr>
              <a:t>Data Preprocessing </a:t>
            </a:r>
          </a:p>
          <a:p>
            <a:endParaRPr lang="en-IN" sz="1200" b="1" dirty="0">
              <a:latin typeface="Times New Roman" panose="02020603050405020304" pitchFamily="18" charset="0"/>
              <a:cs typeface="Times New Roman" panose="02020603050405020304" pitchFamily="18" charset="0"/>
            </a:endParaRPr>
          </a:p>
          <a:p>
            <a:endParaRPr lang="en-IN" sz="12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Data Preprocessing: An Overview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Data Quality: Why Preprocess the Data?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Major Tasks in Data Preprocessing </a:t>
            </a:r>
          </a:p>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Data Cleaning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 Missing Values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 Noisy Data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 Data Cleaning as a Process </a:t>
            </a:r>
          </a:p>
          <a:p>
            <a:r>
              <a:rPr lang="en-IN" sz="1200" b="1" dirty="0">
                <a:latin typeface="Times New Roman" panose="02020603050405020304" pitchFamily="18" charset="0"/>
                <a:cs typeface="Times New Roman" panose="02020603050405020304" pitchFamily="18" charset="0"/>
              </a:rPr>
              <a:t>Data Integration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Entity Identification Problem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Redundancy and Correlation Analysis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Tuple Duplication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 Data Value Conflict Detection and Resolution </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BE44E2E-E988-2E5A-AE35-214DDC6B6FBD}"/>
              </a:ext>
            </a:extLst>
          </p:cNvPr>
          <p:cNvSpPr txBox="1"/>
          <p:nvPr/>
        </p:nvSpPr>
        <p:spPr>
          <a:xfrm>
            <a:off x="5105402" y="1624548"/>
            <a:ext cx="3357714" cy="3970318"/>
          </a:xfrm>
          <a:prstGeom prst="rect">
            <a:avLst/>
          </a:prstGeom>
          <a:noFill/>
        </p:spPr>
        <p:txBody>
          <a:bodyPr wrap="square">
            <a:spAutoFit/>
          </a:bodyPr>
          <a:lstStyle/>
          <a:p>
            <a:r>
              <a:rPr lang="en-IN" sz="1200" b="1" dirty="0">
                <a:latin typeface="Times New Roman" panose="02020603050405020304" pitchFamily="18" charset="0"/>
                <a:cs typeface="Times New Roman" panose="02020603050405020304" pitchFamily="18" charset="0"/>
              </a:rPr>
              <a:t>Data Reduction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Overview of Data Reduction Strategies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 Wavelet Transforms </a:t>
            </a:r>
          </a:p>
          <a:p>
            <a:pPr marL="171450" indent="-1714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 Principal Components </a:t>
            </a:r>
            <a:r>
              <a:rPr lang="fr-FR" sz="1200" dirty="0" err="1">
                <a:latin typeface="Times New Roman" panose="02020603050405020304" pitchFamily="18" charset="0"/>
                <a:cs typeface="Times New Roman" panose="02020603050405020304" pitchFamily="18" charset="0"/>
              </a:rPr>
              <a:t>Analysis</a:t>
            </a:r>
            <a:r>
              <a:rPr lang="fr-FR" sz="1200" dirty="0">
                <a:latin typeface="Times New Roman" panose="02020603050405020304" pitchFamily="18" charset="0"/>
                <a:cs typeface="Times New Roman" panose="02020603050405020304" pitchFamily="18" charset="0"/>
              </a:rPr>
              <a:t>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Attribute Subset Selection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 Regression and Log-Linear Models: Parametric </a:t>
            </a:r>
            <a:r>
              <a:rPr lang="en-IN" sz="1200" dirty="0">
                <a:latin typeface="Times New Roman" panose="02020603050405020304" pitchFamily="18" charset="0"/>
                <a:cs typeface="Times New Roman" panose="02020603050405020304" pitchFamily="18" charset="0"/>
              </a:rPr>
              <a:t>Data Reduction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 Histograms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 Clustering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Sampling </a:t>
            </a:r>
          </a:p>
          <a:p>
            <a:pPr marL="171450" indent="-171450">
              <a:buFont typeface="Arial" panose="020B0604020202020204" pitchFamily="34" charset="0"/>
              <a:buChar char="•"/>
            </a:pPr>
            <a:r>
              <a:rPr lang="it-IT" sz="1200" dirty="0">
                <a:latin typeface="Times New Roman" panose="02020603050405020304" pitchFamily="18" charset="0"/>
                <a:cs typeface="Times New Roman" panose="02020603050405020304" pitchFamily="18" charset="0"/>
              </a:rPr>
              <a:t>Data Cube Aggregation </a:t>
            </a:r>
          </a:p>
          <a:p>
            <a:endParaRPr lang="en-IN"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Data Transformation and Data Discretization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Data Transformation Strategies Overview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Data Transformation by Normalization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Discretization by Binning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Discretization by Histogram Analysis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Discretization by Cluster, Decision Tree, and Correlation </a:t>
            </a:r>
            <a:r>
              <a:rPr lang="en-IN" sz="1200" dirty="0">
                <a:latin typeface="Times New Roman" panose="02020603050405020304" pitchFamily="18" charset="0"/>
                <a:cs typeface="Times New Roman" panose="02020603050405020304" pitchFamily="18" charset="0"/>
              </a:rPr>
              <a:t>Analyses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Concept Hierarchy Generation for Nominal Data </a:t>
            </a:r>
            <a:endParaRPr lang="en-IN" dirty="0"/>
          </a:p>
        </p:txBody>
      </p:sp>
    </p:spTree>
    <p:extLst>
      <p:ext uri="{BB962C8B-B14F-4D97-AF65-F5344CB8AC3E}">
        <p14:creationId xmlns:p14="http://schemas.microsoft.com/office/powerpoint/2010/main" val="587325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061">
            <a:extLst>
              <a:ext uri="{FF2B5EF4-FFF2-40B4-BE49-F238E27FC236}">
                <a16:creationId xmlns:a16="http://schemas.microsoft.com/office/drawing/2014/main" id="{B4C5F827-9A98-EE89-0368-61FF5D465DDE}"/>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C1A1BEC0-A41E-4CFC-B0EB-D6464623A029}" type="slidenum">
              <a:rPr lang="en-US" altLang="en-US" sz="1200"/>
              <a:pPr eaLnBrk="1" hangingPunct="1"/>
              <a:t>8</a:t>
            </a:fld>
            <a:endParaRPr lang="en-US" altLang="en-US" sz="1200"/>
          </a:p>
        </p:txBody>
      </p:sp>
      <p:sp>
        <p:nvSpPr>
          <p:cNvPr id="7171" name="Rectangle 2">
            <a:extLst>
              <a:ext uri="{FF2B5EF4-FFF2-40B4-BE49-F238E27FC236}">
                <a16:creationId xmlns:a16="http://schemas.microsoft.com/office/drawing/2014/main" id="{D832C393-FA37-0B0B-106F-A711FC9DF7EE}"/>
              </a:ext>
            </a:extLst>
          </p:cNvPr>
          <p:cNvSpPr>
            <a:spLocks noGrp="1" noChangeArrowheads="1"/>
          </p:cNvSpPr>
          <p:nvPr>
            <p:ph type="title"/>
          </p:nvPr>
        </p:nvSpPr>
        <p:spPr>
          <a:xfrm>
            <a:off x="0" y="304800"/>
            <a:ext cx="9144000" cy="685800"/>
          </a:xfrm>
        </p:spPr>
        <p:txBody>
          <a:bodyPr/>
          <a:lstStyle/>
          <a:p>
            <a:pP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Data Quality: Why Preprocess the Data?</a:t>
            </a:r>
            <a:endParaRPr lang="en-US" altLang="en-US" dirty="0">
              <a:solidFill>
                <a:srgbClr val="002060"/>
              </a:solidFill>
              <a:effectLst/>
              <a:latin typeface="Times New Roman" panose="02020603050405020304" pitchFamily="18" charset="0"/>
              <a:cs typeface="Times New Roman" panose="02020603050405020304" pitchFamily="18" charset="0"/>
            </a:endParaRPr>
          </a:p>
        </p:txBody>
      </p:sp>
      <p:sp>
        <p:nvSpPr>
          <p:cNvPr id="7172" name="Rectangle 3">
            <a:extLst>
              <a:ext uri="{FF2B5EF4-FFF2-40B4-BE49-F238E27FC236}">
                <a16:creationId xmlns:a16="http://schemas.microsoft.com/office/drawing/2014/main" id="{EA63E4A2-E967-7ACE-1498-4AF735A6F261}"/>
              </a:ext>
            </a:extLst>
          </p:cNvPr>
          <p:cNvSpPr>
            <a:spLocks noGrp="1" noChangeArrowheads="1"/>
          </p:cNvSpPr>
          <p:nvPr>
            <p:ph type="body" idx="1"/>
          </p:nvPr>
        </p:nvSpPr>
        <p:spPr>
          <a:xfrm>
            <a:off x="304800" y="1295400"/>
            <a:ext cx="8382000" cy="4946650"/>
          </a:xfrm>
        </p:spPr>
        <p:txBody>
          <a:bodyPr/>
          <a:lstStyle/>
          <a:p>
            <a:pPr eaLnBrk="1" hangingPunct="1">
              <a:lnSpc>
                <a:spcPct val="140000"/>
              </a:lnSpc>
            </a:pPr>
            <a:r>
              <a:rPr lang="en-US" altLang="en-US" sz="2400" dirty="0">
                <a:latin typeface="Times New Roman" panose="02020603050405020304" pitchFamily="18" charset="0"/>
                <a:cs typeface="Times New Roman" panose="02020603050405020304" pitchFamily="18" charset="0"/>
              </a:rPr>
              <a:t>Measures for data quality: A multidimensional view</a:t>
            </a:r>
          </a:p>
          <a:p>
            <a:pPr lvl="1" eaLnBrk="1" hangingPunct="1">
              <a:lnSpc>
                <a:spcPct val="140000"/>
              </a:lnSpc>
            </a:pPr>
            <a:r>
              <a:rPr lang="en-US" altLang="en-US" sz="2400" b="1" dirty="0">
                <a:latin typeface="Times New Roman" panose="02020603050405020304" pitchFamily="18" charset="0"/>
                <a:cs typeface="Times New Roman" panose="02020603050405020304" pitchFamily="18" charset="0"/>
              </a:rPr>
              <a:t>Accuracy</a:t>
            </a:r>
            <a:r>
              <a:rPr lang="en-US" altLang="en-US" sz="2400" dirty="0">
                <a:latin typeface="Times New Roman" panose="02020603050405020304" pitchFamily="18" charset="0"/>
                <a:cs typeface="Times New Roman" panose="02020603050405020304" pitchFamily="18" charset="0"/>
              </a:rPr>
              <a:t>: correct or wrong, accurate or not</a:t>
            </a:r>
          </a:p>
          <a:p>
            <a:pPr lvl="1" eaLnBrk="1" hangingPunct="1">
              <a:lnSpc>
                <a:spcPct val="140000"/>
              </a:lnSpc>
            </a:pPr>
            <a:r>
              <a:rPr lang="en-US" altLang="en-US" sz="2400" b="1" dirty="0">
                <a:latin typeface="Times New Roman" panose="02020603050405020304" pitchFamily="18" charset="0"/>
                <a:cs typeface="Times New Roman" panose="02020603050405020304" pitchFamily="18" charset="0"/>
              </a:rPr>
              <a:t>Completeness</a:t>
            </a:r>
            <a:r>
              <a:rPr lang="en-US" altLang="en-US" sz="2400" dirty="0">
                <a:latin typeface="Times New Roman" panose="02020603050405020304" pitchFamily="18" charset="0"/>
                <a:cs typeface="Times New Roman" panose="02020603050405020304" pitchFamily="18" charset="0"/>
              </a:rPr>
              <a:t>: not recorded, unavailable, …</a:t>
            </a:r>
          </a:p>
          <a:p>
            <a:pPr lvl="1" eaLnBrk="1" hangingPunct="1">
              <a:lnSpc>
                <a:spcPct val="140000"/>
              </a:lnSpc>
            </a:pPr>
            <a:r>
              <a:rPr lang="en-US" altLang="en-US" sz="2400" b="1" dirty="0">
                <a:latin typeface="Times New Roman" panose="02020603050405020304" pitchFamily="18" charset="0"/>
                <a:cs typeface="Times New Roman" panose="02020603050405020304" pitchFamily="18" charset="0"/>
              </a:rPr>
              <a:t>Consistency</a:t>
            </a:r>
            <a:r>
              <a:rPr lang="en-US" altLang="en-US" sz="2400" dirty="0">
                <a:latin typeface="Times New Roman" panose="02020603050405020304" pitchFamily="18" charset="0"/>
                <a:cs typeface="Times New Roman" panose="02020603050405020304" pitchFamily="18" charset="0"/>
              </a:rPr>
              <a:t>: some modified but some not, dangling, …</a:t>
            </a:r>
          </a:p>
          <a:p>
            <a:pPr lvl="1" eaLnBrk="1" hangingPunct="1">
              <a:lnSpc>
                <a:spcPct val="140000"/>
              </a:lnSpc>
            </a:pPr>
            <a:r>
              <a:rPr lang="en-US" altLang="en-US" sz="2400" b="1" dirty="0">
                <a:latin typeface="Times New Roman" panose="02020603050405020304" pitchFamily="18" charset="0"/>
                <a:cs typeface="Times New Roman" panose="02020603050405020304" pitchFamily="18" charset="0"/>
              </a:rPr>
              <a:t>Timeliness</a:t>
            </a:r>
            <a:r>
              <a:rPr lang="en-US" altLang="en-US" sz="2400" dirty="0">
                <a:latin typeface="Times New Roman" panose="02020603050405020304" pitchFamily="18" charset="0"/>
                <a:cs typeface="Times New Roman" panose="02020603050405020304" pitchFamily="18" charset="0"/>
              </a:rPr>
              <a:t>: timely update? </a:t>
            </a:r>
          </a:p>
          <a:p>
            <a:pPr lvl="1" eaLnBrk="1" hangingPunct="1">
              <a:lnSpc>
                <a:spcPct val="140000"/>
              </a:lnSpc>
            </a:pPr>
            <a:r>
              <a:rPr lang="en-US" altLang="en-US" sz="2400" b="1" dirty="0">
                <a:latin typeface="Times New Roman" panose="02020603050405020304" pitchFamily="18" charset="0"/>
                <a:cs typeface="Times New Roman" panose="02020603050405020304" pitchFamily="18" charset="0"/>
              </a:rPr>
              <a:t>Believability</a:t>
            </a:r>
            <a:r>
              <a:rPr lang="en-US" altLang="en-US" sz="2400" dirty="0">
                <a:latin typeface="Times New Roman" panose="02020603050405020304" pitchFamily="18" charset="0"/>
                <a:cs typeface="Times New Roman" panose="02020603050405020304" pitchFamily="18" charset="0"/>
              </a:rPr>
              <a:t>: how trustable the data are correct?</a:t>
            </a:r>
          </a:p>
          <a:p>
            <a:pPr lvl="1" eaLnBrk="1" hangingPunct="1">
              <a:lnSpc>
                <a:spcPct val="140000"/>
              </a:lnSpc>
            </a:pPr>
            <a:r>
              <a:rPr lang="en-US" altLang="en-US" sz="2400" b="1" dirty="0">
                <a:latin typeface="Times New Roman" panose="02020603050405020304" pitchFamily="18" charset="0"/>
                <a:cs typeface="Times New Roman" panose="02020603050405020304" pitchFamily="18" charset="0"/>
              </a:rPr>
              <a:t>Interpretability</a:t>
            </a:r>
            <a:r>
              <a:rPr lang="en-US" altLang="en-US" sz="2400" dirty="0">
                <a:latin typeface="Times New Roman" panose="02020603050405020304" pitchFamily="18" charset="0"/>
                <a:cs typeface="Times New Roman" panose="02020603050405020304" pitchFamily="18" charset="0"/>
              </a:rPr>
              <a:t>: how easily the data can be understood?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64143161-B788-B592-E085-263A3B3B379C}"/>
              </a:ext>
            </a:extLst>
          </p:cNvPr>
          <p:cNvSpPr>
            <a:spLocks noGrp="1" noChangeArrowheads="1"/>
          </p:cNvSpPr>
          <p:nvPr>
            <p:ph type="title"/>
          </p:nvPr>
        </p:nvSpPr>
        <p:spPr>
          <a:xfrm>
            <a:off x="0" y="304800"/>
            <a:ext cx="9144000" cy="685800"/>
          </a:xfrm>
        </p:spPr>
        <p:txBody>
          <a:bodyPr/>
          <a:lstStyle/>
          <a:p>
            <a:pPr algn="ctr" eaLnBrk="1" hangingPunct="1"/>
            <a:r>
              <a:rPr lang="en-US" altLang="en-US" sz="3200" dirty="0">
                <a:solidFill>
                  <a:srgbClr val="002060"/>
                </a:solidFill>
                <a:latin typeface="Times New Roman" panose="02020603050405020304" pitchFamily="18" charset="0"/>
                <a:cs typeface="Times New Roman" panose="02020603050405020304" pitchFamily="18" charset="0"/>
              </a:rPr>
              <a:t>Major Tasks in Data Preprocessing</a:t>
            </a:r>
          </a:p>
        </p:txBody>
      </p:sp>
      <p:sp>
        <p:nvSpPr>
          <p:cNvPr id="8196" name="Rectangle 3">
            <a:extLst>
              <a:ext uri="{FF2B5EF4-FFF2-40B4-BE49-F238E27FC236}">
                <a16:creationId xmlns:a16="http://schemas.microsoft.com/office/drawing/2014/main" id="{37F89F10-5D5D-7173-861A-094F21DF834A}"/>
              </a:ext>
            </a:extLst>
          </p:cNvPr>
          <p:cNvSpPr>
            <a:spLocks noGrp="1" noChangeArrowheads="1"/>
          </p:cNvSpPr>
          <p:nvPr>
            <p:ph type="body" idx="1"/>
          </p:nvPr>
        </p:nvSpPr>
        <p:spPr>
          <a:xfrm>
            <a:off x="381000" y="1295400"/>
            <a:ext cx="8305800" cy="5105400"/>
          </a:xfrm>
        </p:spPr>
        <p:txBody>
          <a:bodyPr/>
          <a:lstStyle/>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Data cleaning</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Fill in missing values, smooth noisy data, identify or remove outliers, and resolve inconsistencies</a:t>
            </a: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Data integration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Integration of multiple databases, data cubes, or files</a:t>
            </a: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Data reduction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Dimensionality reduction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Numerosity reduction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Data compression</a:t>
            </a: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Data transformation and data discretization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Normalization </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Concept hierarchy generation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A914C0A0-1698-6B56-15B7-C0D139328B82}"/>
              </a:ext>
            </a:extLst>
          </p:cNvPr>
          <p:cNvSpPr>
            <a:spLocks noGrp="1" noChangeArrowheads="1"/>
          </p:cNvSpPr>
          <p:nvPr>
            <p:ph type="title"/>
          </p:nvPr>
        </p:nvSpPr>
        <p:spPr>
          <a:xfrm>
            <a:off x="457200" y="274638"/>
            <a:ext cx="8229600" cy="639762"/>
          </a:xfrm>
        </p:spPr>
        <p:txBody>
          <a:bodyPr>
            <a:normAutofit/>
          </a:bodyPr>
          <a:lstStyle/>
          <a:p>
            <a:pPr algn="ctr" eaLnBrk="1" hangingPunct="1"/>
            <a:r>
              <a:rPr lang="en-US" altLang="en-US" sz="3200" dirty="0">
                <a:solidFill>
                  <a:srgbClr val="170981"/>
                </a:solidFill>
                <a:latin typeface="Times New Roman" panose="02020603050405020304" pitchFamily="18" charset="0"/>
                <a:cs typeface="Times New Roman" panose="02020603050405020304" pitchFamily="18" charset="0"/>
              </a:rPr>
              <a:t>Data Cleaning</a:t>
            </a:r>
          </a:p>
        </p:txBody>
      </p:sp>
      <p:sp>
        <p:nvSpPr>
          <p:cNvPr id="10244" name="Rectangle 3">
            <a:extLst>
              <a:ext uri="{FF2B5EF4-FFF2-40B4-BE49-F238E27FC236}">
                <a16:creationId xmlns:a16="http://schemas.microsoft.com/office/drawing/2014/main" id="{AE79B21B-CB74-B64A-19BF-58CEF8CE8022}"/>
              </a:ext>
            </a:extLst>
          </p:cNvPr>
          <p:cNvSpPr>
            <a:spLocks noGrp="1" noChangeArrowheads="1"/>
          </p:cNvSpPr>
          <p:nvPr>
            <p:ph type="body" idx="1"/>
          </p:nvPr>
        </p:nvSpPr>
        <p:spPr>
          <a:xfrm>
            <a:off x="417672" y="897194"/>
            <a:ext cx="8229600" cy="5102034"/>
          </a:xfrm>
        </p:spPr>
        <p:txBody>
          <a:bodyPr>
            <a:noAutofit/>
          </a:bodyPr>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Data in the Real World Is Dirty: </a:t>
            </a:r>
            <a:r>
              <a:rPr lang="en-US" altLang="en-US" sz="2000" i="1" dirty="0">
                <a:latin typeface="Times New Roman" panose="02020603050405020304" pitchFamily="18" charset="0"/>
                <a:cs typeface="Times New Roman" panose="02020603050405020304" pitchFamily="18" charset="0"/>
              </a:rPr>
              <a:t>Lots of potentially incorrect data, e.g., instrument faulty, human or computer error, transmission error</a:t>
            </a:r>
          </a:p>
          <a:p>
            <a:pPr lvl="1" eaLnBrk="1" hangingPunct="1">
              <a:lnSpc>
                <a:spcPct val="120000"/>
              </a:lnSpc>
            </a:pPr>
            <a:r>
              <a:rPr lang="en-US" altLang="en-US" sz="2000" b="1" u="sng" dirty="0">
                <a:latin typeface="Times New Roman" panose="02020603050405020304" pitchFamily="18" charset="0"/>
                <a:cs typeface="Times New Roman" panose="02020603050405020304" pitchFamily="18" charset="0"/>
              </a:rPr>
              <a:t>incomplete</a:t>
            </a:r>
            <a:r>
              <a:rPr lang="en-US" altLang="en-US" sz="2000" dirty="0">
                <a:latin typeface="Times New Roman" panose="02020603050405020304" pitchFamily="18" charset="0"/>
                <a:cs typeface="Times New Roman" panose="02020603050405020304" pitchFamily="18" charset="0"/>
              </a:rPr>
              <a:t>: lacking attribute values, lacking certain attributes of interest, or containing only aggregate data</a:t>
            </a:r>
          </a:p>
          <a:p>
            <a:pPr lvl="2" eaLnBrk="1" hangingPunct="1">
              <a:lnSpc>
                <a:spcPct val="110000"/>
              </a:lnSpc>
            </a:pPr>
            <a:r>
              <a:rPr lang="en-US" altLang="en-US" sz="2000" dirty="0">
                <a:latin typeface="Times New Roman" panose="02020603050405020304" pitchFamily="18" charset="0"/>
                <a:cs typeface="Times New Roman" panose="02020603050405020304" pitchFamily="18" charset="0"/>
              </a:rPr>
              <a:t>e.g., </a:t>
            </a:r>
            <a:r>
              <a:rPr lang="en-US" altLang="en-US" sz="2000" i="1" dirty="0">
                <a:latin typeface="Times New Roman" panose="02020603050405020304" pitchFamily="18" charset="0"/>
                <a:cs typeface="Times New Roman" panose="02020603050405020304" pitchFamily="18" charset="0"/>
              </a:rPr>
              <a:t>Occupation</a:t>
            </a:r>
            <a:r>
              <a:rPr lang="en-US" altLang="en-US" sz="2000" dirty="0">
                <a:latin typeface="Times New Roman" panose="02020603050405020304" pitchFamily="18" charset="0"/>
                <a:cs typeface="Times New Roman" panose="02020603050405020304" pitchFamily="18" charset="0"/>
              </a:rPr>
              <a:t>=“ ” (missing data)</a:t>
            </a:r>
          </a:p>
          <a:p>
            <a:pPr lvl="1" eaLnBrk="1" hangingPunct="1">
              <a:lnSpc>
                <a:spcPct val="110000"/>
              </a:lnSpc>
            </a:pPr>
            <a:r>
              <a:rPr lang="en-US" altLang="en-US" sz="2000" b="1" u="sng" dirty="0">
                <a:latin typeface="Times New Roman" panose="02020603050405020304" pitchFamily="18" charset="0"/>
                <a:cs typeface="Times New Roman" panose="02020603050405020304" pitchFamily="18" charset="0"/>
              </a:rPr>
              <a:t>noisy</a:t>
            </a:r>
            <a:r>
              <a:rPr lang="en-US" altLang="en-US" sz="2000" dirty="0">
                <a:latin typeface="Times New Roman" panose="02020603050405020304" pitchFamily="18" charset="0"/>
                <a:cs typeface="Times New Roman" panose="02020603050405020304" pitchFamily="18" charset="0"/>
              </a:rPr>
              <a:t>: containing noise, errors, or outliers</a:t>
            </a:r>
          </a:p>
          <a:p>
            <a:pPr lvl="2" eaLnBrk="1" hangingPunct="1">
              <a:lnSpc>
                <a:spcPct val="110000"/>
              </a:lnSpc>
            </a:pPr>
            <a:r>
              <a:rPr lang="en-US" altLang="en-US" sz="2000" dirty="0">
                <a:latin typeface="Times New Roman" panose="02020603050405020304" pitchFamily="18" charset="0"/>
                <a:cs typeface="Times New Roman" panose="02020603050405020304" pitchFamily="18" charset="0"/>
              </a:rPr>
              <a:t>e.g., </a:t>
            </a:r>
            <a:r>
              <a:rPr lang="en-US" altLang="en-US" sz="2000" i="1" dirty="0">
                <a:latin typeface="Times New Roman" panose="02020603050405020304" pitchFamily="18" charset="0"/>
                <a:cs typeface="Times New Roman" panose="02020603050405020304" pitchFamily="18" charset="0"/>
              </a:rPr>
              <a:t>Salary</a:t>
            </a:r>
            <a:r>
              <a:rPr lang="en-US" altLang="en-US" sz="2000" dirty="0">
                <a:latin typeface="Times New Roman" panose="02020603050405020304" pitchFamily="18" charset="0"/>
                <a:cs typeface="Times New Roman" panose="02020603050405020304" pitchFamily="18" charset="0"/>
              </a:rPr>
              <a:t>=“−10” (an error)</a:t>
            </a:r>
          </a:p>
          <a:p>
            <a:pPr lvl="1" eaLnBrk="1" hangingPunct="1">
              <a:lnSpc>
                <a:spcPct val="110000"/>
              </a:lnSpc>
            </a:pPr>
            <a:r>
              <a:rPr lang="en-US" altLang="en-US" sz="2000" b="1" u="sng" dirty="0">
                <a:latin typeface="Times New Roman" panose="02020603050405020304" pitchFamily="18" charset="0"/>
                <a:cs typeface="Times New Roman" panose="02020603050405020304" pitchFamily="18" charset="0"/>
              </a:rPr>
              <a:t>inconsistent</a:t>
            </a:r>
            <a:r>
              <a:rPr lang="en-US" altLang="en-US" sz="2000" dirty="0">
                <a:latin typeface="Times New Roman" panose="02020603050405020304" pitchFamily="18" charset="0"/>
                <a:cs typeface="Times New Roman" panose="02020603050405020304" pitchFamily="18" charset="0"/>
              </a:rPr>
              <a:t>: containing discrepancies in codes or names, e.g.,</a:t>
            </a:r>
          </a:p>
          <a:p>
            <a:pPr lvl="2" eaLnBrk="1" hangingPunct="1">
              <a:lnSpc>
                <a:spcPct val="110000"/>
              </a:lnSpc>
            </a:pPr>
            <a:r>
              <a:rPr lang="en-US" altLang="en-US" sz="2000" i="1" dirty="0">
                <a:latin typeface="Times New Roman" panose="02020603050405020304" pitchFamily="18" charset="0"/>
                <a:cs typeface="Times New Roman" panose="02020603050405020304" pitchFamily="18" charset="0"/>
              </a:rPr>
              <a:t>Age</a:t>
            </a:r>
            <a:r>
              <a:rPr lang="en-US" altLang="en-US" sz="2000" dirty="0">
                <a:latin typeface="Times New Roman" panose="02020603050405020304" pitchFamily="18" charset="0"/>
                <a:cs typeface="Times New Roman" panose="02020603050405020304" pitchFamily="18" charset="0"/>
              </a:rPr>
              <a:t>=“42”, </a:t>
            </a:r>
            <a:r>
              <a:rPr lang="en-US" altLang="en-US" sz="2000" i="1" dirty="0">
                <a:latin typeface="Times New Roman" panose="02020603050405020304" pitchFamily="18" charset="0"/>
                <a:cs typeface="Times New Roman" panose="02020603050405020304" pitchFamily="18" charset="0"/>
              </a:rPr>
              <a:t>Birthday</a:t>
            </a:r>
            <a:r>
              <a:rPr lang="en-US" altLang="en-US" sz="2000" dirty="0">
                <a:latin typeface="Times New Roman" panose="02020603050405020304" pitchFamily="18" charset="0"/>
                <a:cs typeface="Times New Roman" panose="02020603050405020304" pitchFamily="18" charset="0"/>
              </a:rPr>
              <a:t>=“03/07/2010”</a:t>
            </a:r>
          </a:p>
          <a:p>
            <a:pPr lvl="2" eaLnBrk="1" hangingPunct="1">
              <a:lnSpc>
                <a:spcPct val="110000"/>
              </a:lnSpc>
            </a:pPr>
            <a:r>
              <a:rPr lang="en-US" altLang="en-US" sz="2000" dirty="0">
                <a:latin typeface="Times New Roman" panose="02020603050405020304" pitchFamily="18" charset="0"/>
                <a:cs typeface="Times New Roman" panose="02020603050405020304" pitchFamily="18" charset="0"/>
              </a:rPr>
              <a:t>Was rating “1, 2, 3”, now rating “A, B, C”</a:t>
            </a:r>
          </a:p>
          <a:p>
            <a:pPr lvl="2" eaLnBrk="1" hangingPunct="1">
              <a:lnSpc>
                <a:spcPct val="110000"/>
              </a:lnSpc>
            </a:pPr>
            <a:r>
              <a:rPr lang="en-US" altLang="en-US" sz="2000" dirty="0">
                <a:latin typeface="Times New Roman" panose="02020603050405020304" pitchFamily="18" charset="0"/>
                <a:cs typeface="Times New Roman" panose="02020603050405020304" pitchFamily="18" charset="0"/>
              </a:rPr>
              <a:t>discrepancy between duplicate records</a:t>
            </a:r>
          </a:p>
          <a:p>
            <a:pPr lvl="1" eaLnBrk="1" hangingPunct="1">
              <a:lnSpc>
                <a:spcPct val="120000"/>
              </a:lnSpc>
            </a:pPr>
            <a:r>
              <a:rPr lang="en-US" altLang="en-US" sz="2000" b="1" u="sng" dirty="0">
                <a:latin typeface="Times New Roman" panose="02020603050405020304" pitchFamily="18" charset="0"/>
                <a:cs typeface="Times New Roman" panose="02020603050405020304" pitchFamily="18" charset="0"/>
              </a:rPr>
              <a:t>Intentional </a:t>
            </a:r>
            <a:r>
              <a:rPr lang="en-US" altLang="en-US" sz="2000" dirty="0">
                <a:latin typeface="Times New Roman" panose="02020603050405020304" pitchFamily="18" charset="0"/>
                <a:cs typeface="Times New Roman" panose="02020603050405020304" pitchFamily="18" charset="0"/>
              </a:rPr>
              <a:t>(e.g., </a:t>
            </a:r>
            <a:r>
              <a:rPr lang="en-US" altLang="en-US" sz="2000" i="1" dirty="0">
                <a:latin typeface="Times New Roman" panose="02020603050405020304" pitchFamily="18" charset="0"/>
                <a:cs typeface="Times New Roman" panose="02020603050405020304" pitchFamily="18" charset="0"/>
              </a:rPr>
              <a:t>disguised missing</a:t>
            </a:r>
            <a:r>
              <a:rPr lang="en-US" altLang="en-US" sz="2000" dirty="0">
                <a:latin typeface="Times New Roman" panose="02020603050405020304" pitchFamily="18" charset="0"/>
                <a:cs typeface="Times New Roman" panose="02020603050405020304" pitchFamily="18" charset="0"/>
              </a:rPr>
              <a:t> data)</a:t>
            </a:r>
          </a:p>
          <a:p>
            <a:pPr lvl="2" eaLnBrk="1" hangingPunct="1">
              <a:lnSpc>
                <a:spcPct val="120000"/>
              </a:lnSpc>
            </a:pPr>
            <a:r>
              <a:rPr lang="en-US" altLang="en-US" sz="2000" dirty="0">
                <a:latin typeface="Times New Roman" panose="02020603050405020304" pitchFamily="18" charset="0"/>
                <a:cs typeface="Times New Roman" panose="02020603050405020304" pitchFamily="18" charset="0"/>
              </a:rPr>
              <a:t>Jan. 1 as everyone’s birthday?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5EE8E2BF-FBCB-ABE9-481C-6C5BDAC171C5}"/>
              </a:ext>
            </a:extLst>
          </p:cNvPr>
          <p:cNvSpPr>
            <a:spLocks noGrp="1" noChangeArrowheads="1"/>
          </p:cNvSpPr>
          <p:nvPr>
            <p:ph type="title"/>
          </p:nvPr>
        </p:nvSpPr>
        <p:spPr>
          <a:xfrm>
            <a:off x="869950" y="304800"/>
            <a:ext cx="7169150" cy="609600"/>
          </a:xfrm>
        </p:spPr>
        <p:txBody>
          <a:bodyPr>
            <a:normAutofit/>
          </a:bodyPr>
          <a:lstStyle/>
          <a:p>
            <a:pPr algn="ctr" eaLnBrk="1" hangingPunct="1"/>
            <a:r>
              <a:rPr lang="en-US" altLang="en-US" sz="3200" dirty="0">
                <a:solidFill>
                  <a:srgbClr val="170981"/>
                </a:solidFill>
                <a:latin typeface="Times New Roman" panose="02020603050405020304" pitchFamily="18" charset="0"/>
                <a:cs typeface="Times New Roman" panose="02020603050405020304" pitchFamily="18" charset="0"/>
              </a:rPr>
              <a:t>Incomplete (Missing) Data</a:t>
            </a:r>
          </a:p>
        </p:txBody>
      </p:sp>
      <p:sp>
        <p:nvSpPr>
          <p:cNvPr id="11268" name="Rectangle 3">
            <a:extLst>
              <a:ext uri="{FF2B5EF4-FFF2-40B4-BE49-F238E27FC236}">
                <a16:creationId xmlns:a16="http://schemas.microsoft.com/office/drawing/2014/main" id="{1D7B037C-10DC-451D-49C9-C6952D0007F9}"/>
              </a:ext>
            </a:extLst>
          </p:cNvPr>
          <p:cNvSpPr>
            <a:spLocks noGrp="1" noChangeArrowheads="1"/>
          </p:cNvSpPr>
          <p:nvPr>
            <p:ph type="body" idx="1"/>
          </p:nvPr>
        </p:nvSpPr>
        <p:spPr>
          <a:xfrm>
            <a:off x="381000" y="1371600"/>
            <a:ext cx="8305800" cy="5105400"/>
          </a:xfrm>
        </p:spPr>
        <p:txBody>
          <a:bodyPr>
            <a:normAutofit/>
          </a:bodyPr>
          <a:lstStyle/>
          <a:p>
            <a:pPr eaLnBrk="1" hangingPunct="1">
              <a:lnSpc>
                <a:spcPct val="110000"/>
              </a:lnSpc>
            </a:pPr>
            <a:r>
              <a:rPr lang="en-US" altLang="en-US" sz="2400" dirty="0">
                <a:latin typeface="Times New Roman" panose="02020603050405020304" pitchFamily="18" charset="0"/>
                <a:cs typeface="Times New Roman" panose="02020603050405020304" pitchFamily="18" charset="0"/>
              </a:rPr>
              <a:t>Data is not always available</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E.g., many tuples have no recorded value for several attributes, such as customer income in sales data</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Missing data may be due to </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equipment malfunction</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inconsistent with other recorded data and thus deleted</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data not entered due to misunderstanding</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certain data may not be considered important at the time of entry</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not register history or changes of the data</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Missing data may need to be inferred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5630CD5E-E546-9914-D9EF-E7206D066BD8}"/>
              </a:ext>
            </a:extLst>
          </p:cNvPr>
          <p:cNvSpPr>
            <a:spLocks noGrp="1" noChangeArrowheads="1"/>
          </p:cNvSpPr>
          <p:nvPr>
            <p:ph type="title"/>
          </p:nvPr>
        </p:nvSpPr>
        <p:spPr>
          <a:xfrm>
            <a:off x="762000" y="228600"/>
            <a:ext cx="7543800" cy="762000"/>
          </a:xfrm>
        </p:spPr>
        <p:txBody>
          <a:bodyPr>
            <a:normAutofit/>
          </a:bodyPr>
          <a:lstStyle/>
          <a:p>
            <a:pPr eaLnBrk="1" hangingPunct="1"/>
            <a:r>
              <a:rPr lang="en-US" altLang="en-US" sz="3200" dirty="0">
                <a:latin typeface="Times New Roman" panose="02020603050405020304" pitchFamily="18" charset="0"/>
                <a:cs typeface="Times New Roman" panose="02020603050405020304" pitchFamily="18" charset="0"/>
              </a:rPr>
              <a:t>How to Handle Missing Data?</a:t>
            </a:r>
          </a:p>
        </p:txBody>
      </p:sp>
      <p:sp>
        <p:nvSpPr>
          <p:cNvPr id="12292" name="Rectangle 3">
            <a:extLst>
              <a:ext uri="{FF2B5EF4-FFF2-40B4-BE49-F238E27FC236}">
                <a16:creationId xmlns:a16="http://schemas.microsoft.com/office/drawing/2014/main" id="{B74622C9-4ACD-F6C5-183B-789A0FEFC579}"/>
              </a:ext>
            </a:extLst>
          </p:cNvPr>
          <p:cNvSpPr>
            <a:spLocks noGrp="1" noChangeArrowheads="1"/>
          </p:cNvSpPr>
          <p:nvPr>
            <p:ph type="body" idx="1"/>
          </p:nvPr>
        </p:nvSpPr>
        <p:spPr>
          <a:xfrm>
            <a:off x="304800" y="1295400"/>
            <a:ext cx="8534400" cy="5257800"/>
          </a:xfrm>
        </p:spPr>
        <p:txBody>
          <a:bodyPr>
            <a:normAutofit/>
          </a:bodyPr>
          <a:lstStyle/>
          <a:p>
            <a:pPr eaLnBrk="1" hangingPunct="1">
              <a:lnSpc>
                <a:spcPct val="120000"/>
              </a:lnSpc>
            </a:pPr>
            <a:r>
              <a:rPr lang="en-US" altLang="en-US" sz="2400" dirty="0">
                <a:latin typeface="Times New Roman" panose="02020603050405020304" pitchFamily="18" charset="0"/>
                <a:cs typeface="Times New Roman" panose="02020603050405020304" pitchFamily="18" charset="0"/>
              </a:rPr>
              <a:t>Ignore the tuple: usually done when class label is missing (when doing classification)—not effective when the % of missing values per attribute varies considerably</a:t>
            </a:r>
          </a:p>
          <a:p>
            <a:pPr eaLnBrk="1" hangingPunct="1">
              <a:lnSpc>
                <a:spcPct val="120000"/>
              </a:lnSpc>
            </a:pPr>
            <a:r>
              <a:rPr lang="en-US" altLang="en-US" sz="2400" dirty="0">
                <a:latin typeface="Times New Roman" panose="02020603050405020304" pitchFamily="18" charset="0"/>
                <a:cs typeface="Times New Roman" panose="02020603050405020304" pitchFamily="18" charset="0"/>
              </a:rPr>
              <a:t>Fill in the missing value manually: tedious + infeasible?</a:t>
            </a:r>
          </a:p>
          <a:p>
            <a:pPr eaLnBrk="1" hangingPunct="1">
              <a:lnSpc>
                <a:spcPct val="120000"/>
              </a:lnSpc>
            </a:pPr>
            <a:r>
              <a:rPr lang="en-US" altLang="en-US" sz="2400" dirty="0">
                <a:latin typeface="Times New Roman" panose="02020603050405020304" pitchFamily="18" charset="0"/>
                <a:cs typeface="Times New Roman" panose="02020603050405020304" pitchFamily="18" charset="0"/>
              </a:rPr>
              <a:t>Fill in it automatically with</a:t>
            </a:r>
          </a:p>
          <a:p>
            <a:pPr lvl="1" eaLnBrk="1" hangingPunct="1">
              <a:lnSpc>
                <a:spcPct val="120000"/>
              </a:lnSpc>
            </a:pPr>
            <a:r>
              <a:rPr lang="en-US" altLang="en-US" sz="2400" dirty="0">
                <a:latin typeface="Times New Roman" panose="02020603050405020304" pitchFamily="18" charset="0"/>
                <a:cs typeface="Times New Roman" panose="02020603050405020304" pitchFamily="18" charset="0"/>
              </a:rPr>
              <a:t>a global constant : e.g., “unknown”, a new class?! </a:t>
            </a:r>
          </a:p>
          <a:p>
            <a:pPr lvl="1" eaLnBrk="1" hangingPunct="1">
              <a:lnSpc>
                <a:spcPct val="120000"/>
              </a:lnSpc>
            </a:pPr>
            <a:r>
              <a:rPr lang="en-US" altLang="en-US" sz="2400" dirty="0">
                <a:latin typeface="Times New Roman" panose="02020603050405020304" pitchFamily="18" charset="0"/>
                <a:cs typeface="Times New Roman" panose="02020603050405020304" pitchFamily="18" charset="0"/>
              </a:rPr>
              <a:t>the attribute mean</a:t>
            </a:r>
          </a:p>
          <a:p>
            <a:pPr lvl="1" eaLnBrk="1" hangingPunct="1">
              <a:lnSpc>
                <a:spcPct val="120000"/>
              </a:lnSpc>
            </a:pPr>
            <a:r>
              <a:rPr lang="en-US" altLang="en-US" sz="2400" dirty="0">
                <a:latin typeface="Times New Roman" panose="02020603050405020304" pitchFamily="18" charset="0"/>
                <a:cs typeface="Times New Roman" panose="02020603050405020304" pitchFamily="18" charset="0"/>
              </a:rPr>
              <a:t>the attribute mean for all samples belonging to the same class: smarter</a:t>
            </a:r>
          </a:p>
          <a:p>
            <a:pPr lvl="1" eaLnBrk="1" hangingPunct="1">
              <a:lnSpc>
                <a:spcPct val="120000"/>
              </a:lnSpc>
            </a:pPr>
            <a:r>
              <a:rPr lang="en-US" altLang="en-US" sz="2400" dirty="0">
                <a:solidFill>
                  <a:schemeClr val="hlink"/>
                </a:solidFill>
                <a:latin typeface="Times New Roman" panose="02020603050405020304" pitchFamily="18" charset="0"/>
                <a:cs typeface="Times New Roman" panose="02020603050405020304" pitchFamily="18" charset="0"/>
              </a:rPr>
              <a:t>the most probable value: inference-based such as Bayesian formula or decision tree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BB7D9ED7-2349-796F-D092-B66EC0522E1E}"/>
              </a:ext>
            </a:extLst>
          </p:cNvPr>
          <p:cNvSpPr>
            <a:spLocks noGrp="1" noChangeArrowheads="1"/>
          </p:cNvSpPr>
          <p:nvPr>
            <p:ph type="title" idx="4294967295"/>
          </p:nvPr>
        </p:nvSpPr>
        <p:spPr>
          <a:xfrm>
            <a:off x="1676400" y="228600"/>
            <a:ext cx="5638800" cy="762000"/>
          </a:xfrm>
        </p:spPr>
        <p:txBody>
          <a:bodyPr>
            <a:normAutofit/>
          </a:bodyPr>
          <a:lstStyle/>
          <a:p>
            <a:pPr algn="ctr" eaLnBrk="1" hangingPunct="1"/>
            <a:r>
              <a:rPr lang="en-US" altLang="en-US" sz="3200" dirty="0">
                <a:solidFill>
                  <a:srgbClr val="170981"/>
                </a:solidFill>
                <a:latin typeface="Times New Roman" panose="02020603050405020304" pitchFamily="18" charset="0"/>
                <a:cs typeface="Times New Roman" panose="02020603050405020304" pitchFamily="18" charset="0"/>
              </a:rPr>
              <a:t>Noisy Data</a:t>
            </a:r>
          </a:p>
        </p:txBody>
      </p:sp>
      <p:sp>
        <p:nvSpPr>
          <p:cNvPr id="13316" name="Rectangle 3">
            <a:extLst>
              <a:ext uri="{FF2B5EF4-FFF2-40B4-BE49-F238E27FC236}">
                <a16:creationId xmlns:a16="http://schemas.microsoft.com/office/drawing/2014/main" id="{C23624CD-8253-D6BA-EE50-D9F27F0692BB}"/>
              </a:ext>
            </a:extLst>
          </p:cNvPr>
          <p:cNvSpPr>
            <a:spLocks noGrp="1" noChangeArrowheads="1"/>
          </p:cNvSpPr>
          <p:nvPr>
            <p:ph type="body" idx="4294967295"/>
          </p:nvPr>
        </p:nvSpPr>
        <p:spPr>
          <a:xfrm>
            <a:off x="304800" y="1371600"/>
            <a:ext cx="8382000" cy="4953000"/>
          </a:xfrm>
        </p:spPr>
        <p:txBody>
          <a:bodyPr/>
          <a:lstStyle/>
          <a:p>
            <a:pPr eaLnBrk="1" hangingPunct="1"/>
            <a:r>
              <a:rPr lang="en-US" altLang="en-US" sz="2400" dirty="0">
                <a:solidFill>
                  <a:schemeClr val="folHlink"/>
                </a:solidFill>
                <a:latin typeface="Times New Roman" panose="02020603050405020304" pitchFamily="18" charset="0"/>
                <a:cs typeface="Times New Roman" panose="02020603050405020304" pitchFamily="18" charset="0"/>
              </a:rPr>
              <a:t>Noise</a:t>
            </a:r>
            <a:r>
              <a:rPr lang="en-US" altLang="en-US" sz="2400" dirty="0">
                <a:latin typeface="Times New Roman" panose="02020603050405020304" pitchFamily="18" charset="0"/>
                <a:cs typeface="Times New Roman" panose="02020603050405020304" pitchFamily="18" charset="0"/>
              </a:rPr>
              <a:t>: random error or variance in a measured variable</a:t>
            </a:r>
          </a:p>
          <a:p>
            <a:pPr eaLnBrk="1" hangingPunct="1"/>
            <a:r>
              <a:rPr lang="en-US" altLang="en-US" sz="2400" dirty="0">
                <a:solidFill>
                  <a:schemeClr val="folHlink"/>
                </a:solidFill>
                <a:latin typeface="Times New Roman" panose="02020603050405020304" pitchFamily="18" charset="0"/>
                <a:cs typeface="Times New Roman" panose="02020603050405020304" pitchFamily="18" charset="0"/>
              </a:rPr>
              <a:t>Incorrect attribute values</a:t>
            </a:r>
            <a:r>
              <a:rPr lang="en-US" altLang="en-US" sz="2400" dirty="0">
                <a:latin typeface="Times New Roman" panose="02020603050405020304" pitchFamily="18" charset="0"/>
                <a:cs typeface="Times New Roman" panose="02020603050405020304" pitchFamily="18" charset="0"/>
              </a:rPr>
              <a:t> may be due to</a:t>
            </a:r>
          </a:p>
          <a:p>
            <a:pPr lvl="1" eaLnBrk="1" hangingPunct="1"/>
            <a:r>
              <a:rPr lang="en-US" altLang="en-US" sz="2400" dirty="0">
                <a:latin typeface="Times New Roman" panose="02020603050405020304" pitchFamily="18" charset="0"/>
                <a:cs typeface="Times New Roman" panose="02020603050405020304" pitchFamily="18" charset="0"/>
              </a:rPr>
              <a:t>faulty data collection instruments</a:t>
            </a:r>
          </a:p>
          <a:p>
            <a:pPr lvl="1" eaLnBrk="1" hangingPunct="1"/>
            <a:r>
              <a:rPr lang="en-US" altLang="en-US" sz="2400" dirty="0">
                <a:latin typeface="Times New Roman" panose="02020603050405020304" pitchFamily="18" charset="0"/>
                <a:cs typeface="Times New Roman" panose="02020603050405020304" pitchFamily="18" charset="0"/>
              </a:rPr>
              <a:t>data entry problems</a:t>
            </a:r>
          </a:p>
          <a:p>
            <a:pPr lvl="1" eaLnBrk="1" hangingPunct="1"/>
            <a:r>
              <a:rPr lang="en-US" altLang="en-US" sz="2400" dirty="0">
                <a:latin typeface="Times New Roman" panose="02020603050405020304" pitchFamily="18" charset="0"/>
                <a:cs typeface="Times New Roman" panose="02020603050405020304" pitchFamily="18" charset="0"/>
              </a:rPr>
              <a:t>data transmission problems</a:t>
            </a:r>
          </a:p>
          <a:p>
            <a:pPr lvl="1" eaLnBrk="1" hangingPunct="1"/>
            <a:r>
              <a:rPr lang="en-US" altLang="en-US" sz="2400" dirty="0">
                <a:latin typeface="Times New Roman" panose="02020603050405020304" pitchFamily="18" charset="0"/>
                <a:cs typeface="Times New Roman" panose="02020603050405020304" pitchFamily="18" charset="0"/>
              </a:rPr>
              <a:t>technology limitation</a:t>
            </a:r>
          </a:p>
          <a:p>
            <a:pPr lvl="1" eaLnBrk="1" hangingPunct="1"/>
            <a:r>
              <a:rPr lang="en-US" altLang="en-US" sz="2400" dirty="0">
                <a:latin typeface="Times New Roman" panose="02020603050405020304" pitchFamily="18" charset="0"/>
                <a:cs typeface="Times New Roman" panose="02020603050405020304" pitchFamily="18" charset="0"/>
              </a:rPr>
              <a:t>inconsistency in naming convention </a:t>
            </a:r>
          </a:p>
          <a:p>
            <a:pPr eaLnBrk="1" hangingPunct="1"/>
            <a:r>
              <a:rPr lang="en-US" altLang="en-US" sz="2400" dirty="0">
                <a:solidFill>
                  <a:schemeClr val="folHlink"/>
                </a:solidFill>
                <a:latin typeface="Times New Roman" panose="02020603050405020304" pitchFamily="18" charset="0"/>
                <a:cs typeface="Times New Roman" panose="02020603050405020304" pitchFamily="18" charset="0"/>
              </a:rPr>
              <a:t>Other data problems</a:t>
            </a:r>
            <a:r>
              <a:rPr lang="en-US" altLang="en-US" sz="2400" dirty="0">
                <a:latin typeface="Times New Roman" panose="02020603050405020304" pitchFamily="18" charset="0"/>
                <a:cs typeface="Times New Roman" panose="02020603050405020304" pitchFamily="18" charset="0"/>
              </a:rPr>
              <a:t> which require data cleaning</a:t>
            </a:r>
          </a:p>
          <a:p>
            <a:pPr lvl="1" eaLnBrk="1" hangingPunct="1"/>
            <a:r>
              <a:rPr lang="en-US" altLang="en-US" sz="2400" dirty="0">
                <a:latin typeface="Times New Roman" panose="02020603050405020304" pitchFamily="18" charset="0"/>
                <a:cs typeface="Times New Roman" panose="02020603050405020304" pitchFamily="18" charset="0"/>
              </a:rPr>
              <a:t>duplicate records</a:t>
            </a:r>
          </a:p>
          <a:p>
            <a:pPr lvl="1" eaLnBrk="1" hangingPunct="1"/>
            <a:r>
              <a:rPr lang="en-US" altLang="en-US" sz="2400" dirty="0">
                <a:latin typeface="Times New Roman" panose="02020603050405020304" pitchFamily="18" charset="0"/>
                <a:cs typeface="Times New Roman" panose="02020603050405020304" pitchFamily="18" charset="0"/>
              </a:rPr>
              <a:t>incomplete data</a:t>
            </a:r>
          </a:p>
          <a:p>
            <a:pPr lvl="1" eaLnBrk="1" hangingPunct="1"/>
            <a:r>
              <a:rPr lang="en-US" altLang="en-US" sz="2400" dirty="0">
                <a:latin typeface="Times New Roman" panose="02020603050405020304" pitchFamily="18" charset="0"/>
                <a:cs typeface="Times New Roman" panose="02020603050405020304" pitchFamily="18" charset="0"/>
              </a:rPr>
              <a:t>inconsistent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64FC3497-BA7F-7654-02D3-8F2B25039DE1}"/>
              </a:ext>
            </a:extLst>
          </p:cNvPr>
          <p:cNvSpPr>
            <a:spLocks noGrp="1" noChangeArrowheads="1"/>
          </p:cNvSpPr>
          <p:nvPr>
            <p:ph type="title"/>
          </p:nvPr>
        </p:nvSpPr>
        <p:spPr>
          <a:xfrm>
            <a:off x="323850" y="304800"/>
            <a:ext cx="8591550" cy="609600"/>
          </a:xfrm>
        </p:spPr>
        <p:txBody>
          <a:bodyPr>
            <a:normAutofit/>
          </a:bodyPr>
          <a:lstStyle/>
          <a:p>
            <a:pPr algn="ctr" eaLnBrk="1" hangingPunct="1"/>
            <a:r>
              <a:rPr lang="en-US" altLang="en-US" sz="3200" dirty="0">
                <a:latin typeface="Times New Roman" panose="02020603050405020304" pitchFamily="18" charset="0"/>
                <a:cs typeface="Times New Roman" panose="02020603050405020304" pitchFamily="18" charset="0"/>
              </a:rPr>
              <a:t>How to Handle Noisy Data?</a:t>
            </a:r>
          </a:p>
        </p:txBody>
      </p:sp>
      <p:sp>
        <p:nvSpPr>
          <p:cNvPr id="14340" name="Rectangle 3">
            <a:extLst>
              <a:ext uri="{FF2B5EF4-FFF2-40B4-BE49-F238E27FC236}">
                <a16:creationId xmlns:a16="http://schemas.microsoft.com/office/drawing/2014/main" id="{4DF867B8-A5B2-0FE7-4A26-87AAA48721CD}"/>
              </a:ext>
            </a:extLst>
          </p:cNvPr>
          <p:cNvSpPr>
            <a:spLocks noGrp="1" noChangeArrowheads="1"/>
          </p:cNvSpPr>
          <p:nvPr>
            <p:ph type="body" idx="1"/>
          </p:nvPr>
        </p:nvSpPr>
        <p:spPr>
          <a:xfrm>
            <a:off x="304800" y="1371600"/>
            <a:ext cx="8382000" cy="5029200"/>
          </a:xfrm>
        </p:spPr>
        <p:txBody>
          <a:bodyPr>
            <a:normAutofit/>
          </a:bodyPr>
          <a:lstStyle/>
          <a:p>
            <a:pPr eaLnBrk="1" hangingPunct="1"/>
            <a:r>
              <a:rPr lang="en-US" altLang="en-US" sz="2400" dirty="0">
                <a:solidFill>
                  <a:schemeClr val="folHlink"/>
                </a:solidFill>
                <a:latin typeface="Times New Roman" panose="02020603050405020304" pitchFamily="18" charset="0"/>
                <a:cs typeface="Times New Roman" panose="02020603050405020304" pitchFamily="18" charset="0"/>
              </a:rPr>
              <a:t>Binning</a:t>
            </a:r>
          </a:p>
          <a:p>
            <a:pPr lvl="1" eaLnBrk="1" hangingPunct="1"/>
            <a:r>
              <a:rPr lang="en-US" altLang="en-US" sz="2400" dirty="0">
                <a:latin typeface="Times New Roman" panose="02020603050405020304" pitchFamily="18" charset="0"/>
                <a:cs typeface="Times New Roman" panose="02020603050405020304" pitchFamily="18" charset="0"/>
              </a:rPr>
              <a:t>first sort data and partition into (equal-frequency) bins</a:t>
            </a:r>
          </a:p>
          <a:p>
            <a:pPr lvl="1" eaLnBrk="1" hangingPunct="1"/>
            <a:r>
              <a:rPr lang="en-US" altLang="en-US" sz="2400" dirty="0">
                <a:latin typeface="Times New Roman" panose="02020603050405020304" pitchFamily="18" charset="0"/>
                <a:cs typeface="Times New Roman" panose="02020603050405020304" pitchFamily="18" charset="0"/>
              </a:rPr>
              <a:t>then one can </a:t>
            </a:r>
            <a:r>
              <a:rPr lang="en-US" altLang="en-US" sz="2400" dirty="0">
                <a:solidFill>
                  <a:schemeClr val="hlink"/>
                </a:solidFill>
                <a:latin typeface="Times New Roman" panose="02020603050405020304" pitchFamily="18" charset="0"/>
                <a:cs typeface="Times New Roman" panose="02020603050405020304" pitchFamily="18" charset="0"/>
              </a:rPr>
              <a:t>smooth by bin means,  smooth by bin median, smooth by bin boundaries</a:t>
            </a:r>
            <a:r>
              <a:rPr lang="en-US" altLang="en-US" sz="2400" dirty="0">
                <a:latin typeface="Times New Roman" panose="02020603050405020304" pitchFamily="18" charset="0"/>
                <a:cs typeface="Times New Roman" panose="02020603050405020304" pitchFamily="18" charset="0"/>
              </a:rPr>
              <a:t>, etc.</a:t>
            </a:r>
          </a:p>
          <a:p>
            <a:pPr eaLnBrk="1" hangingPunct="1"/>
            <a:r>
              <a:rPr lang="en-US" altLang="en-US" sz="2400" dirty="0">
                <a:solidFill>
                  <a:schemeClr val="folHlink"/>
                </a:solidFill>
                <a:latin typeface="Times New Roman" panose="02020603050405020304" pitchFamily="18" charset="0"/>
                <a:cs typeface="Times New Roman" panose="02020603050405020304" pitchFamily="18" charset="0"/>
              </a:rPr>
              <a:t>Regression</a:t>
            </a:r>
          </a:p>
          <a:p>
            <a:pPr lvl="1" eaLnBrk="1" hangingPunct="1"/>
            <a:r>
              <a:rPr lang="en-US" altLang="en-US" sz="2400" dirty="0">
                <a:latin typeface="Times New Roman" panose="02020603050405020304" pitchFamily="18" charset="0"/>
                <a:cs typeface="Times New Roman" panose="02020603050405020304" pitchFamily="18" charset="0"/>
              </a:rPr>
              <a:t>smooth by fitting the data into regression functions</a:t>
            </a:r>
          </a:p>
          <a:p>
            <a:pPr eaLnBrk="1" hangingPunct="1"/>
            <a:r>
              <a:rPr lang="en-US" altLang="en-US" sz="2400" dirty="0">
                <a:solidFill>
                  <a:schemeClr val="folHlink"/>
                </a:solidFill>
                <a:latin typeface="Times New Roman" panose="02020603050405020304" pitchFamily="18" charset="0"/>
                <a:cs typeface="Times New Roman" panose="02020603050405020304" pitchFamily="18" charset="0"/>
              </a:rPr>
              <a:t>Clustering</a:t>
            </a:r>
          </a:p>
          <a:p>
            <a:pPr lvl="1" eaLnBrk="1" hangingPunct="1"/>
            <a:r>
              <a:rPr lang="en-US" altLang="en-US" sz="2400" dirty="0">
                <a:latin typeface="Times New Roman" panose="02020603050405020304" pitchFamily="18" charset="0"/>
                <a:cs typeface="Times New Roman" panose="02020603050405020304" pitchFamily="18" charset="0"/>
              </a:rPr>
              <a:t>detect and remove outliers</a:t>
            </a:r>
          </a:p>
          <a:p>
            <a:pPr eaLnBrk="1" hangingPunct="1"/>
            <a:r>
              <a:rPr lang="en-US" altLang="en-US" sz="2400" dirty="0">
                <a:solidFill>
                  <a:schemeClr val="folHlink"/>
                </a:solidFill>
                <a:latin typeface="Times New Roman" panose="02020603050405020304" pitchFamily="18" charset="0"/>
                <a:cs typeface="Times New Roman" panose="02020603050405020304" pitchFamily="18" charset="0"/>
              </a:rPr>
              <a:t>Combined computer and human inspection</a:t>
            </a:r>
          </a:p>
          <a:p>
            <a:pPr lvl="1" eaLnBrk="1" hangingPunct="1"/>
            <a:r>
              <a:rPr lang="en-US" altLang="en-US" sz="2400" dirty="0">
                <a:latin typeface="Times New Roman" panose="02020603050405020304" pitchFamily="18" charset="0"/>
                <a:cs typeface="Times New Roman" panose="02020603050405020304" pitchFamily="18" charset="0"/>
              </a:rPr>
              <a:t>detect suspicious values and check by human (e.g., deal with possible outliers)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3C1A9B39-5D2F-5B64-816A-3D194827CE05}"/>
              </a:ext>
            </a:extLst>
          </p:cNvPr>
          <p:cNvSpPr>
            <a:spLocks noGrp="1" noChangeArrowheads="1"/>
          </p:cNvSpPr>
          <p:nvPr>
            <p:ph type="title"/>
          </p:nvPr>
        </p:nvSpPr>
        <p:spPr>
          <a:xfrm>
            <a:off x="323850" y="304800"/>
            <a:ext cx="8591550" cy="609600"/>
          </a:xfrm>
        </p:spPr>
        <p:txBody>
          <a:bodyPr>
            <a:normAutofit/>
          </a:bodyPr>
          <a:lstStyle/>
          <a:p>
            <a:pPr algn="ctr" eaLnBrk="1" hangingPunct="1"/>
            <a:r>
              <a:rPr lang="en-US" altLang="en-US" sz="3200" dirty="0">
                <a:solidFill>
                  <a:srgbClr val="170981"/>
                </a:solidFill>
                <a:effectLst/>
                <a:latin typeface="Times New Roman" panose="02020603050405020304" pitchFamily="18" charset="0"/>
                <a:cs typeface="Times New Roman" panose="02020603050405020304" pitchFamily="18" charset="0"/>
              </a:rPr>
              <a:t>Data Cleaning as a Process</a:t>
            </a:r>
          </a:p>
        </p:txBody>
      </p:sp>
      <p:sp>
        <p:nvSpPr>
          <p:cNvPr id="15364" name="Rectangle 3">
            <a:extLst>
              <a:ext uri="{FF2B5EF4-FFF2-40B4-BE49-F238E27FC236}">
                <a16:creationId xmlns:a16="http://schemas.microsoft.com/office/drawing/2014/main" id="{1050B202-E42E-D619-F973-52D017770203}"/>
              </a:ext>
            </a:extLst>
          </p:cNvPr>
          <p:cNvSpPr>
            <a:spLocks noGrp="1" noChangeArrowheads="1"/>
          </p:cNvSpPr>
          <p:nvPr>
            <p:ph type="body" idx="1"/>
          </p:nvPr>
        </p:nvSpPr>
        <p:spPr>
          <a:xfrm>
            <a:off x="914399" y="914400"/>
            <a:ext cx="7767285" cy="5181600"/>
          </a:xfrm>
        </p:spPr>
        <p:txBody>
          <a:bodyPr/>
          <a:lstStyle/>
          <a:p>
            <a:pPr eaLnBrk="1" hangingPunct="1">
              <a:lnSpc>
                <a:spcPct val="90000"/>
              </a:lnSpc>
            </a:pPr>
            <a:r>
              <a:rPr lang="en-US" altLang="en-US" sz="2000" dirty="0">
                <a:solidFill>
                  <a:schemeClr val="folHlink"/>
                </a:solidFill>
                <a:latin typeface="Times New Roman" panose="02020603050405020304" pitchFamily="18" charset="0"/>
                <a:cs typeface="Times New Roman" panose="02020603050405020304" pitchFamily="18" charset="0"/>
              </a:rPr>
              <a:t>Data discrepancy detection</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Use metadata (e.g., domain, range, dependency, distribution)</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Check field overloading </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Check uniqueness rule, consecutive rule and null rule</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Use commercial tools</a:t>
            </a:r>
          </a:p>
          <a:p>
            <a:pPr lvl="2" eaLnBrk="1" hangingPunct="1">
              <a:lnSpc>
                <a:spcPct val="90000"/>
              </a:lnSpc>
            </a:pPr>
            <a:r>
              <a:rPr lang="en-US" altLang="en-US" sz="2000" dirty="0">
                <a:latin typeface="Times New Roman" panose="02020603050405020304" pitchFamily="18" charset="0"/>
                <a:cs typeface="Times New Roman" panose="02020603050405020304" pitchFamily="18" charset="0"/>
              </a:rPr>
              <a:t>Data scrubbing: use simple domain knowledge (e.g., postal code, spell-check) to detect errors and make corrections</a:t>
            </a:r>
          </a:p>
          <a:p>
            <a:pPr lvl="2" eaLnBrk="1" hangingPunct="1">
              <a:lnSpc>
                <a:spcPct val="90000"/>
              </a:lnSpc>
            </a:pPr>
            <a:r>
              <a:rPr lang="en-US" altLang="en-US" sz="2000" dirty="0">
                <a:latin typeface="Times New Roman" panose="02020603050405020304" pitchFamily="18" charset="0"/>
                <a:cs typeface="Times New Roman" panose="02020603050405020304" pitchFamily="18" charset="0"/>
              </a:rPr>
              <a:t>Data auditing: by analyzing data to discover rules and relationship to detect violators (e.g., correlation and clustering to find outliers)</a:t>
            </a:r>
          </a:p>
          <a:p>
            <a:pPr eaLnBrk="1" hangingPunct="1">
              <a:lnSpc>
                <a:spcPct val="90000"/>
              </a:lnSpc>
            </a:pPr>
            <a:r>
              <a:rPr lang="en-US" altLang="en-US" sz="2000" dirty="0">
                <a:solidFill>
                  <a:schemeClr val="folHlink"/>
                </a:solidFill>
                <a:latin typeface="Times New Roman" panose="02020603050405020304" pitchFamily="18" charset="0"/>
                <a:cs typeface="Times New Roman" panose="02020603050405020304" pitchFamily="18" charset="0"/>
              </a:rPr>
              <a:t>Data migration and integration</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Data migration tools: allow transformations to be specified</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ETL (Extraction/Transformation/Loading) tools: allow users to specify transformations through a graphical user interface</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Integration of the two processes</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Iterative and interactive (e.g., Potter’s Wheels)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1758" y="944562"/>
            <a:ext cx="8229600" cy="5151438"/>
          </a:xfrm>
        </p:spPr>
        <p:txBody>
          <a:bodyPr>
            <a:normAutofit lnSpcReduction="10000"/>
          </a:bodyPr>
          <a:lstStyle/>
          <a:p>
            <a:pPr marL="623887" lvl="0" indent="-514350" algn="just">
              <a:buFont typeface="+mj-lt"/>
              <a:buAutoNum type="arabicPeriod"/>
            </a:pPr>
            <a:r>
              <a:rPr lang="en-US" sz="2400" dirty="0">
                <a:solidFill>
                  <a:srgbClr val="002060"/>
                </a:solidFill>
                <a:latin typeface="Times New Roman" panose="02020603050405020304" pitchFamily="18" charset="0"/>
                <a:cs typeface="Times New Roman" panose="02020603050405020304" pitchFamily="18" charset="0"/>
              </a:rPr>
              <a:t>Formulate your question(sharp questions)</a:t>
            </a:r>
          </a:p>
          <a:p>
            <a:pPr marL="623887" lvl="0" indent="-514350" algn="just">
              <a:buFont typeface="+mj-lt"/>
              <a:buAutoNum type="arabicPeriod"/>
            </a:pPr>
            <a:r>
              <a:rPr lang="en-US" sz="2400" dirty="0">
                <a:solidFill>
                  <a:srgbClr val="002060"/>
                </a:solidFill>
                <a:latin typeface="Times New Roman" panose="02020603050405020304" pitchFamily="18" charset="0"/>
                <a:cs typeface="Times New Roman" panose="02020603050405020304" pitchFamily="18" charset="0"/>
              </a:rPr>
              <a:t>Read in your data (messy or clear)</a:t>
            </a:r>
          </a:p>
          <a:p>
            <a:pPr marL="623887" indent="-514350" algn="just">
              <a:buFont typeface="+mj-lt"/>
              <a:buAutoNum type="arabicPeriod"/>
            </a:pPr>
            <a:r>
              <a:rPr lang="en-US" sz="2400" dirty="0">
                <a:solidFill>
                  <a:srgbClr val="002060"/>
                </a:solidFill>
                <a:latin typeface="Times New Roman" panose="02020603050405020304" pitchFamily="18" charset="0"/>
                <a:cs typeface="Times New Roman" panose="02020603050405020304" pitchFamily="18" charset="0"/>
              </a:rPr>
              <a:t>Check the packaging(rows, columns, observations..)</a:t>
            </a:r>
          </a:p>
          <a:p>
            <a:pPr marL="623887" lvl="0" indent="-514350" algn="just">
              <a:buFont typeface="+mj-lt"/>
              <a:buAutoNum type="arabicPeriod"/>
            </a:pPr>
            <a:r>
              <a:rPr lang="en-US" sz="2400" dirty="0">
                <a:solidFill>
                  <a:srgbClr val="002060"/>
                </a:solidFill>
                <a:latin typeface="Times New Roman" panose="02020603050405020304" pitchFamily="18" charset="0"/>
                <a:cs typeface="Times New Roman" panose="02020603050405020304" pitchFamily="18" charset="0"/>
              </a:rPr>
              <a:t>Look at the top and the bottom of your data(what to accept and what not to accept)</a:t>
            </a:r>
          </a:p>
          <a:p>
            <a:pPr marL="623887" lvl="0" indent="-514350" algn="just">
              <a:buFont typeface="+mj-lt"/>
              <a:buAutoNum type="arabicPeriod"/>
            </a:pPr>
            <a:r>
              <a:rPr lang="en-US" sz="2400" dirty="0">
                <a:solidFill>
                  <a:srgbClr val="002060"/>
                </a:solidFill>
                <a:latin typeface="Times New Roman" panose="02020603050405020304" pitchFamily="18" charset="0"/>
                <a:cs typeface="Times New Roman" panose="02020603050405020304" pitchFamily="18" charset="0"/>
              </a:rPr>
              <a:t>Check your "</a:t>
            </a:r>
            <a:r>
              <a:rPr lang="en-US" sz="2400" dirty="0" err="1">
                <a:solidFill>
                  <a:srgbClr val="002060"/>
                </a:solidFill>
                <a:latin typeface="Times New Roman" panose="02020603050405020304" pitchFamily="18" charset="0"/>
                <a:cs typeface="Times New Roman" panose="02020603050405020304" pitchFamily="18" charset="0"/>
              </a:rPr>
              <a:t>n"s</a:t>
            </a:r>
            <a:r>
              <a:rPr lang="en-US" sz="2400" dirty="0">
                <a:solidFill>
                  <a:srgbClr val="002060"/>
                </a:solidFill>
                <a:latin typeface="Times New Roman" panose="02020603050405020304" pitchFamily="18" charset="0"/>
                <a:cs typeface="Times New Roman" panose="02020603050405020304" pitchFamily="18" charset="0"/>
              </a:rPr>
              <a:t> (identify some </a:t>
            </a:r>
            <a:r>
              <a:rPr lang="en-US" sz="2400" i="1" dirty="0">
                <a:solidFill>
                  <a:srgbClr val="002060"/>
                </a:solidFill>
                <a:latin typeface="Times New Roman" panose="02020603050405020304" pitchFamily="18" charset="0"/>
                <a:cs typeface="Times New Roman" panose="02020603050405020304" pitchFamily="18" charset="0"/>
              </a:rPr>
              <a:t>landmarks</a:t>
            </a:r>
            <a:r>
              <a:rPr lang="en-US" sz="2400" dirty="0">
                <a:solidFill>
                  <a:srgbClr val="002060"/>
                </a:solidFill>
                <a:latin typeface="Times New Roman" panose="02020603050405020304" pitchFamily="18" charset="0"/>
                <a:cs typeface="Times New Roman" panose="02020603050405020304" pitchFamily="18" charset="0"/>
              </a:rPr>
              <a:t> that can be used to check against your data. </a:t>
            </a:r>
            <a:r>
              <a:rPr lang="en-US" sz="2400" b="1" dirty="0">
                <a:solidFill>
                  <a:srgbClr val="002060"/>
                </a:solidFill>
                <a:latin typeface="Times New Roman" panose="02020603050405020304" pitchFamily="18" charset="0"/>
                <a:cs typeface="Times New Roman" panose="02020603050405020304" pitchFamily="18" charset="0"/>
              </a:rPr>
              <a:t>Suppose n=1000 but there are n=30</a:t>
            </a:r>
            <a:r>
              <a:rPr lang="en-US" sz="2400" dirty="0">
                <a:solidFill>
                  <a:srgbClr val="002060"/>
                </a:solidFill>
                <a:latin typeface="Times New Roman" panose="02020603050405020304" pitchFamily="18" charset="0"/>
                <a:cs typeface="Times New Roman" panose="02020603050405020304" pitchFamily="18" charset="0"/>
              </a:rPr>
              <a:t>)</a:t>
            </a:r>
          </a:p>
          <a:p>
            <a:pPr marL="623887" lvl="0" indent="-514350" algn="just">
              <a:buFont typeface="+mj-lt"/>
              <a:buAutoNum type="arabicPeriod"/>
            </a:pPr>
            <a:r>
              <a:rPr lang="en-US" sz="2400" dirty="0">
                <a:solidFill>
                  <a:srgbClr val="002060"/>
                </a:solidFill>
                <a:latin typeface="Times New Roman" panose="02020603050405020304" pitchFamily="18" charset="0"/>
                <a:cs typeface="Times New Roman" panose="02020603050405020304" pitchFamily="18" charset="0"/>
              </a:rPr>
              <a:t>Validate with at least one external data source</a:t>
            </a:r>
          </a:p>
          <a:p>
            <a:pPr marL="623887" lvl="0" indent="-514350" algn="just">
              <a:buFont typeface="+mj-lt"/>
              <a:buAutoNum type="arabicPeriod"/>
            </a:pPr>
            <a:r>
              <a:rPr lang="en-US" sz="2400" dirty="0">
                <a:solidFill>
                  <a:srgbClr val="002060"/>
                </a:solidFill>
                <a:latin typeface="Times New Roman" panose="02020603050405020304" pitchFamily="18" charset="0"/>
                <a:cs typeface="Times New Roman" panose="02020603050405020304" pitchFamily="18" charset="0"/>
              </a:rPr>
              <a:t>Make a plot(visualize your data )</a:t>
            </a:r>
          </a:p>
          <a:p>
            <a:pPr marL="623887" lvl="0" indent="-514350" algn="just">
              <a:buFont typeface="+mj-lt"/>
              <a:buAutoNum type="arabicPeriod"/>
            </a:pPr>
            <a:r>
              <a:rPr lang="en-US" sz="2400" dirty="0">
                <a:solidFill>
                  <a:srgbClr val="002060"/>
                </a:solidFill>
                <a:latin typeface="Times New Roman" panose="02020603050405020304" pitchFamily="18" charset="0"/>
                <a:cs typeface="Times New Roman" panose="02020603050405020304" pitchFamily="18" charset="0"/>
              </a:rPr>
              <a:t>Try the easy solution first(primary then secondary model))</a:t>
            </a:r>
          </a:p>
          <a:p>
            <a:pPr marL="623887" indent="-514350" algn="just">
              <a:buFont typeface="+mj-lt"/>
              <a:buAutoNum type="arabicPeriod"/>
            </a:pPr>
            <a:r>
              <a:rPr lang="en-US" sz="2400" dirty="0">
                <a:solidFill>
                  <a:srgbClr val="002060"/>
                </a:solidFill>
                <a:latin typeface="Times New Roman" panose="02020603050405020304" pitchFamily="18" charset="0"/>
                <a:cs typeface="Times New Roman" panose="02020603050405020304" pitchFamily="18" charset="0"/>
              </a:rPr>
              <a:t>Follow up(Do you have the right data? ,Do you need other data? ,Do you have the right question? )</a:t>
            </a:r>
          </a:p>
          <a:p>
            <a:endParaRPr lang="en-US" dirty="0"/>
          </a:p>
        </p:txBody>
      </p:sp>
      <p:sp>
        <p:nvSpPr>
          <p:cNvPr id="3" name="Title 2"/>
          <p:cNvSpPr>
            <a:spLocks noGrp="1"/>
          </p:cNvSpPr>
          <p:nvPr>
            <p:ph type="title"/>
          </p:nvPr>
        </p:nvSpPr>
        <p:spPr>
          <a:xfrm>
            <a:off x="473529" y="152400"/>
            <a:ext cx="5562600" cy="792162"/>
          </a:xfrm>
        </p:spPr>
        <p:txBody>
          <a:bodyPr>
            <a:normAutofit/>
          </a:bodyPr>
          <a:lstStyle/>
          <a:p>
            <a:r>
              <a:rPr lang="en-US" sz="3600" dirty="0">
                <a:solidFill>
                  <a:srgbClr val="002060"/>
                </a:solidFill>
                <a:effectLst/>
                <a:latin typeface="Times New Roman" panose="02020603050405020304" pitchFamily="18" charset="0"/>
                <a:cs typeface="Times New Roman" panose="02020603050405020304" pitchFamily="18" charset="0"/>
              </a:rPr>
              <a:t>Data Analysis </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3374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solidFill>
                  <a:srgbClr val="002060"/>
                </a:solidFill>
                <a:latin typeface="Times New Roman" panose="02020603050405020304" pitchFamily="18" charset="0"/>
                <a:cs typeface="Times New Roman" panose="02020603050405020304" pitchFamily="18" charset="0"/>
              </a:rPr>
              <a:t>The first key element of a statistical model is </a:t>
            </a:r>
            <a:r>
              <a:rPr lang="en-US" sz="2400" b="1" i="1" dirty="0">
                <a:solidFill>
                  <a:srgbClr val="002060"/>
                </a:solidFill>
                <a:latin typeface="Times New Roman" panose="02020603050405020304" pitchFamily="18" charset="0"/>
                <a:cs typeface="Times New Roman" panose="02020603050405020304" pitchFamily="18" charset="0"/>
              </a:rPr>
              <a:t>data reduction</a:t>
            </a:r>
            <a:r>
              <a:rPr lang="en-US" sz="2400" dirty="0">
                <a:solidFill>
                  <a:srgbClr val="002060"/>
                </a:solidFill>
                <a:latin typeface="Times New Roman" panose="02020603050405020304" pitchFamily="18" charset="0"/>
                <a:cs typeface="Times New Roman" panose="02020603050405020304" pitchFamily="18" charset="0"/>
              </a:rPr>
              <a:t>. </a:t>
            </a:r>
          </a:p>
          <a:p>
            <a:r>
              <a:rPr lang="en-US" sz="2400" dirty="0">
                <a:solidFill>
                  <a:srgbClr val="002060"/>
                </a:solidFill>
                <a:latin typeface="Times New Roman" panose="02020603050405020304" pitchFamily="18" charset="0"/>
                <a:cs typeface="Times New Roman" panose="02020603050405020304" pitchFamily="18" charset="0"/>
              </a:rPr>
              <a:t>The basic idea is you want to take the original set of numbers consisting of your dataset and transform them into a smaller set of numbers. </a:t>
            </a:r>
          </a:p>
          <a:p>
            <a:r>
              <a:rPr lang="en-US" sz="2400" dirty="0">
                <a:solidFill>
                  <a:srgbClr val="002060"/>
                </a:solidFill>
                <a:latin typeface="Times New Roman" panose="02020603050405020304" pitchFamily="18" charset="0"/>
                <a:cs typeface="Times New Roman" panose="02020603050405020304" pitchFamily="18" charset="0"/>
              </a:rPr>
              <a:t>If you originally started with 20 numbers, your model should produce a summary that is fewer than 20 numbers.</a:t>
            </a:r>
          </a:p>
          <a:p>
            <a:r>
              <a:rPr lang="en-US" sz="2400" dirty="0">
                <a:solidFill>
                  <a:srgbClr val="002060"/>
                </a:solidFill>
                <a:latin typeface="Times New Roman" panose="02020603050405020304" pitchFamily="18" charset="0"/>
                <a:cs typeface="Times New Roman" panose="02020603050405020304" pitchFamily="18" charset="0"/>
              </a:rPr>
              <a:t>The process of data reduction typically ends up with a </a:t>
            </a:r>
            <a:r>
              <a:rPr lang="en-US" sz="2400" i="1" dirty="0">
                <a:solidFill>
                  <a:srgbClr val="002060"/>
                </a:solidFill>
                <a:latin typeface="Times New Roman" panose="02020603050405020304" pitchFamily="18" charset="0"/>
                <a:cs typeface="Times New Roman" panose="02020603050405020304" pitchFamily="18" charset="0"/>
              </a:rPr>
              <a:t>statistic</a:t>
            </a:r>
            <a:r>
              <a:rPr lang="en-US" sz="2400" dirty="0">
                <a:solidFill>
                  <a:srgbClr val="002060"/>
                </a:solidFill>
                <a:latin typeface="Times New Roman" panose="02020603050405020304" pitchFamily="18" charset="0"/>
                <a:cs typeface="Times New Roman" panose="02020603050405020304" pitchFamily="18" charset="0"/>
              </a:rPr>
              <a:t>.</a:t>
            </a:r>
          </a:p>
          <a:p>
            <a:r>
              <a:rPr lang="en-US" sz="2400" dirty="0">
                <a:solidFill>
                  <a:srgbClr val="002060"/>
                </a:solidFill>
                <a:latin typeface="Times New Roman" panose="02020603050405020304" pitchFamily="18" charset="0"/>
                <a:cs typeface="Times New Roman" panose="02020603050405020304" pitchFamily="18" charset="0"/>
              </a:rPr>
              <a:t>statistic is any summary of the data (mean, or average, median, the standard deviation, the maximum, the minimum, and the range. )</a:t>
            </a:r>
          </a:p>
        </p:txBody>
      </p:sp>
      <p:sp>
        <p:nvSpPr>
          <p:cNvPr id="3" name="Title 2"/>
          <p:cNvSpPr>
            <a:spLocks noGrp="1"/>
          </p:cNvSpPr>
          <p:nvPr>
            <p:ph type="title"/>
          </p:nvPr>
        </p:nvSpPr>
        <p:spPr/>
        <p:txBody>
          <a:bodyPr>
            <a:normAutofit/>
          </a:bodyPr>
          <a:lstStyle/>
          <a:p>
            <a:r>
              <a:rPr lang="en-US" sz="3200" dirty="0">
                <a:solidFill>
                  <a:srgbClr val="002060"/>
                </a:solidFill>
                <a:latin typeface="Times New Roman" panose="02020603050405020304" pitchFamily="18" charset="0"/>
                <a:cs typeface="Times New Roman" panose="02020603050405020304" pitchFamily="18" charset="0"/>
              </a:rPr>
              <a:t>Using statistical models</a:t>
            </a:r>
          </a:p>
        </p:txBody>
      </p:sp>
    </p:spTree>
    <p:extLst>
      <p:ext uri="{BB962C8B-B14F-4D97-AF65-F5344CB8AC3E}">
        <p14:creationId xmlns:p14="http://schemas.microsoft.com/office/powerpoint/2010/main" val="1410892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76200"/>
            <a:ext cx="8229600" cy="1143000"/>
          </a:xfrm>
        </p:spPr>
        <p:txBody>
          <a:bodyPr>
            <a:normAutofit/>
          </a:bodyPr>
          <a:lstStyle/>
          <a:p>
            <a:pPr algn="ctr"/>
            <a:r>
              <a:rPr lang="en-US" sz="3600" dirty="0">
                <a:solidFill>
                  <a:srgbClr val="002060"/>
                </a:solidFill>
                <a:latin typeface="Times New Roman" pitchFamily="18" charset="0"/>
                <a:cs typeface="Times New Roman" pitchFamily="18" charset="0"/>
              </a:rPr>
              <a:t>Dimension reduction</a:t>
            </a:r>
          </a:p>
        </p:txBody>
      </p:sp>
      <p:sp>
        <p:nvSpPr>
          <p:cNvPr id="5" name="Content Placeholder 1"/>
          <p:cNvSpPr>
            <a:spLocks noGrp="1"/>
          </p:cNvSpPr>
          <p:nvPr>
            <p:ph idx="1"/>
          </p:nvPr>
        </p:nvSpPr>
        <p:spPr>
          <a:xfrm>
            <a:off x="300789" y="1219200"/>
            <a:ext cx="8229600" cy="1870994"/>
          </a:xfrm>
        </p:spPr>
        <p:txBody>
          <a:bodyPr/>
          <a:lstStyle/>
          <a:p>
            <a:pPr marL="109537" indent="0" algn="just">
              <a:buNone/>
            </a:pPr>
            <a:r>
              <a:rPr lang="en-US" dirty="0">
                <a:solidFill>
                  <a:srgbClr val="002060"/>
                </a:solidFill>
                <a:latin typeface="Times New Roman" panose="02020603050405020304" pitchFamily="18" charset="0"/>
                <a:cs typeface="Times New Roman" panose="02020603050405020304" pitchFamily="18" charset="0"/>
              </a:rPr>
              <a:t>Dimension Reduction refers to the process of converting a set of data having vast dimensions into data with lesser dimensions ensuring that it conveys similar information concisely. </a:t>
            </a:r>
          </a:p>
        </p:txBody>
      </p:sp>
      <p:pic>
        <p:nvPicPr>
          <p:cNvPr id="4" name="Content Placeholder 3"/>
          <p:cNvPicPr>
            <a:picLocks noChangeAspect="1"/>
          </p:cNvPicPr>
          <p:nvPr/>
        </p:nvPicPr>
        <p:blipFill rotWithShape="1">
          <a:blip r:embed="rId2"/>
          <a:srcRect l="9299" t="12732" r="45266" b="35075"/>
          <a:stretch/>
        </p:blipFill>
        <p:spPr bwMode="auto">
          <a:xfrm>
            <a:off x="28075" y="3090194"/>
            <a:ext cx="297982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rotWithShape="1">
          <a:blip r:embed="rId3"/>
          <a:srcRect l="2040" t="3508" r="15057" b="5263"/>
          <a:stretch/>
        </p:blipFill>
        <p:spPr>
          <a:xfrm>
            <a:off x="3661609" y="2590800"/>
            <a:ext cx="4876801" cy="3962400"/>
          </a:xfrm>
          <a:prstGeom prst="rect">
            <a:avLst/>
          </a:prstGeom>
        </p:spPr>
      </p:pic>
    </p:spTree>
    <p:extLst>
      <p:ext uri="{BB962C8B-B14F-4D97-AF65-F5344CB8AC3E}">
        <p14:creationId xmlns:p14="http://schemas.microsoft.com/office/powerpoint/2010/main" val="73398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lgn="ctr"/>
            <a:br>
              <a:rPr lang="en-US" sz="3600" dirty="0">
                <a:solidFill>
                  <a:srgbClr val="002060"/>
                </a:solidFill>
                <a:latin typeface="Times New Roman" panose="02020603050405020304" pitchFamily="18" charset="0"/>
                <a:cs typeface="Times New Roman" panose="02020603050405020304" pitchFamily="18" charset="0"/>
              </a:rPr>
            </a:br>
            <a:r>
              <a:rPr lang="en-US" sz="3600" dirty="0">
                <a:solidFill>
                  <a:srgbClr val="002060"/>
                </a:solidFill>
                <a:latin typeface="Times New Roman" panose="02020603050405020304" pitchFamily="18" charset="0"/>
                <a:cs typeface="Times New Roman" panose="02020603050405020304" pitchFamily="18" charset="0"/>
              </a:rPr>
              <a:t>Benefits of applying Dimension Reduction process</a:t>
            </a:r>
            <a:br>
              <a:rPr lang="en-US" dirty="0"/>
            </a:br>
            <a:endParaRPr lang="en-US" dirty="0"/>
          </a:p>
        </p:txBody>
      </p:sp>
      <p:sp>
        <p:nvSpPr>
          <p:cNvPr id="4" name="Content Placeholder 1"/>
          <p:cNvSpPr>
            <a:spLocks noGrp="1"/>
          </p:cNvSpPr>
          <p:nvPr>
            <p:ph idx="1"/>
          </p:nvPr>
        </p:nvSpPr>
        <p:spPr>
          <a:xfrm>
            <a:off x="477253" y="1359402"/>
            <a:ext cx="8229600" cy="5346198"/>
          </a:xfrm>
        </p:spPr>
        <p:txBody>
          <a:bodyPr/>
          <a:lstStyle/>
          <a:p>
            <a:pPr algn="just"/>
            <a:r>
              <a:rPr lang="en-US" dirty="0">
                <a:latin typeface="Times New Roman" panose="02020603050405020304" pitchFamily="18" charset="0"/>
                <a:cs typeface="Times New Roman" panose="02020603050405020304" pitchFamily="18" charset="0"/>
              </a:rPr>
              <a:t>It helps in data compressing &amp; reducing the storage space required and  fastens the time required for performing same computations.</a:t>
            </a:r>
          </a:p>
          <a:p>
            <a:pPr algn="just"/>
            <a:r>
              <a:rPr lang="en-US" b="1" dirty="0">
                <a:latin typeface="Times New Roman" panose="02020603050405020304" pitchFamily="18" charset="0"/>
                <a:cs typeface="Times New Roman" panose="02020603050405020304" pitchFamily="18" charset="0"/>
              </a:rPr>
              <a:t>Less dimensions leads to less computing. </a:t>
            </a:r>
          </a:p>
          <a:p>
            <a:pPr algn="just"/>
            <a:r>
              <a:rPr lang="en-US" dirty="0">
                <a:latin typeface="Times New Roman" panose="02020603050405020304" pitchFamily="18" charset="0"/>
                <a:cs typeface="Times New Roman" panose="02020603050405020304" pitchFamily="18" charset="0"/>
              </a:rPr>
              <a:t>It takes care of multi-collinearity that improves the model performance. It removes redundant features.</a:t>
            </a: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For example: there is no point in storing a value in two different units (meters and inches).</a:t>
            </a:r>
          </a:p>
          <a:p>
            <a:pPr algn="just"/>
            <a:r>
              <a:rPr lang="en-US" dirty="0">
                <a:latin typeface="Times New Roman" panose="02020603050405020304" pitchFamily="18" charset="0"/>
                <a:cs typeface="Times New Roman" panose="02020603050405020304" pitchFamily="18" charset="0"/>
              </a:rPr>
              <a:t>Useful for solving machine learning problems to obtain better features for a classification or regression task.</a:t>
            </a:r>
          </a:p>
          <a:p>
            <a:endParaRPr lang="en-US" dirty="0"/>
          </a:p>
        </p:txBody>
      </p:sp>
    </p:spTree>
    <p:extLst>
      <p:ext uri="{BB962C8B-B14F-4D97-AF65-F5344CB8AC3E}">
        <p14:creationId xmlns:p14="http://schemas.microsoft.com/office/powerpoint/2010/main" val="1792311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5221" y="762000"/>
            <a:ext cx="8229600" cy="304800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Reducing the dimensions of data to 2D or 3D may allow us to plot and visualize it precisely. </a:t>
            </a:r>
          </a:p>
          <a:p>
            <a:pPr algn="just"/>
            <a:r>
              <a:rPr lang="en-US" dirty="0">
                <a:latin typeface="Times New Roman" panose="02020603050405020304" pitchFamily="18" charset="0"/>
                <a:cs typeface="Times New Roman" panose="02020603050405020304" pitchFamily="18" charset="0"/>
              </a:rPr>
              <a:t>we can then observe patterns more clearly.</a:t>
            </a:r>
          </a:p>
          <a:p>
            <a:pPr algn="just"/>
            <a:r>
              <a:rPr lang="en-US" dirty="0">
                <a:latin typeface="Times New Roman" panose="02020603050405020304" pitchFamily="18" charset="0"/>
                <a:cs typeface="Times New Roman" panose="02020603050405020304" pitchFamily="18" charset="0"/>
              </a:rPr>
              <a:t> From the following fig we can see that, how a 3D data is converted into 2D. </a:t>
            </a:r>
          </a:p>
          <a:p>
            <a:pPr algn="just"/>
            <a:r>
              <a:rPr lang="en-US" dirty="0">
                <a:latin typeface="Times New Roman" panose="02020603050405020304" pitchFamily="18" charset="0"/>
                <a:cs typeface="Times New Roman" panose="02020603050405020304" pitchFamily="18" charset="0"/>
              </a:rPr>
              <a:t>First it has identified the 2D plane then represented the points on these two new axis z1 and z2.</a:t>
            </a:r>
          </a:p>
          <a:p>
            <a:endParaRPr lang="en-US" dirty="0"/>
          </a:p>
        </p:txBody>
      </p:sp>
      <p:sp>
        <p:nvSpPr>
          <p:cNvPr id="4" name="Title 2"/>
          <p:cNvSpPr>
            <a:spLocks noGrp="1"/>
          </p:cNvSpPr>
          <p:nvPr>
            <p:ph type="title"/>
          </p:nvPr>
        </p:nvSpPr>
        <p:spPr>
          <a:xfrm>
            <a:off x="465221" y="0"/>
            <a:ext cx="8229600" cy="762000"/>
          </a:xfrm>
        </p:spPr>
        <p:txBody>
          <a:bodyPr>
            <a:normAutofit fontScale="90000"/>
          </a:bodyPr>
          <a:lstStyle/>
          <a:p>
            <a:pPr algn="ctr"/>
            <a:br>
              <a:rPr lang="en-US" sz="3600" dirty="0">
                <a:solidFill>
                  <a:srgbClr val="002060"/>
                </a:solidFill>
                <a:latin typeface="Times New Roman" panose="02020603050405020304" pitchFamily="18" charset="0"/>
                <a:cs typeface="Times New Roman" panose="02020603050405020304" pitchFamily="18" charset="0"/>
              </a:rPr>
            </a:br>
            <a:r>
              <a:rPr lang="en-US" sz="3100" dirty="0">
                <a:solidFill>
                  <a:srgbClr val="002060"/>
                </a:solidFill>
                <a:latin typeface="Times New Roman" panose="02020603050405020304" pitchFamily="18" charset="0"/>
                <a:cs typeface="Times New Roman" panose="02020603050405020304" pitchFamily="18" charset="0"/>
              </a:rPr>
              <a:t>Benefits of applying Dimension Reduction process</a:t>
            </a:r>
            <a:br>
              <a:rPr lang="en-US" sz="3100" dirty="0"/>
            </a:br>
            <a:endParaRPr lang="en-US" sz="3100" dirty="0"/>
          </a:p>
        </p:txBody>
      </p:sp>
      <p:pic>
        <p:nvPicPr>
          <p:cNvPr id="5" name="Picture 2" descr="Imag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221" y="4038600"/>
            <a:ext cx="82296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7077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5257800"/>
          </a:xfrm>
        </p:spPr>
        <p:txBody>
          <a:bodyPr/>
          <a:lstStyle/>
          <a:p>
            <a:pPr marL="623887" indent="-514350">
              <a:lnSpc>
                <a:spcPct val="150000"/>
              </a:lnSpc>
              <a:buFont typeface="+mj-lt"/>
              <a:buAutoNum type="arabicPeriod"/>
            </a:pPr>
            <a:r>
              <a:rPr lang="en-US" dirty="0">
                <a:solidFill>
                  <a:srgbClr val="002060"/>
                </a:solidFill>
                <a:latin typeface="Times New Roman" panose="02020603050405020304" pitchFamily="18" charset="0"/>
                <a:cs typeface="Times New Roman" panose="02020603050405020304" pitchFamily="18" charset="0"/>
              </a:rPr>
              <a:t>Why Dimension Reduction is Important in machine learning and predictive </a:t>
            </a:r>
            <a:r>
              <a:rPr lang="en-US" dirty="0" err="1">
                <a:solidFill>
                  <a:srgbClr val="002060"/>
                </a:solidFill>
                <a:latin typeface="Times New Roman" panose="02020603050405020304" pitchFamily="18" charset="0"/>
                <a:cs typeface="Times New Roman" panose="02020603050405020304" pitchFamily="18" charset="0"/>
              </a:rPr>
              <a:t>modeling?Is</a:t>
            </a:r>
            <a:r>
              <a:rPr lang="en-US" dirty="0">
                <a:solidFill>
                  <a:srgbClr val="002060"/>
                </a:solidFill>
                <a:latin typeface="Times New Roman" panose="02020603050405020304" pitchFamily="18" charset="0"/>
                <a:cs typeface="Times New Roman" panose="02020603050405020304" pitchFamily="18" charset="0"/>
              </a:rPr>
              <a:t> Dimensionality Reduction good or bad?</a:t>
            </a:r>
          </a:p>
          <a:p>
            <a:pPr marL="623887" indent="-514350">
              <a:lnSpc>
                <a:spcPct val="150000"/>
              </a:lnSpc>
              <a:buFont typeface="+mj-lt"/>
              <a:buAutoNum type="arabicPeriod"/>
            </a:pPr>
            <a:r>
              <a:rPr lang="en-US" dirty="0">
                <a:solidFill>
                  <a:srgbClr val="002060"/>
                </a:solidFill>
                <a:latin typeface="Times New Roman" panose="02020603050405020304" pitchFamily="18" charset="0"/>
                <a:cs typeface="Times New Roman" panose="02020603050405020304" pitchFamily="18" charset="0"/>
              </a:rPr>
              <a:t>What are the common methods to reduce number of Dimensions?</a:t>
            </a:r>
          </a:p>
          <a:p>
            <a:pPr marL="623887" indent="-514350">
              <a:lnSpc>
                <a:spcPct val="150000"/>
              </a:lnSpc>
              <a:buFont typeface="+mj-lt"/>
              <a:buAutoNum type="arabicPeriod"/>
            </a:pPr>
            <a:endParaRPr lang="en-US" dirty="0">
              <a:solidFill>
                <a:srgbClr val="002060"/>
              </a:solidFill>
              <a:latin typeface="Times New Roman" panose="02020603050405020304" pitchFamily="18" charset="0"/>
              <a:cs typeface="Times New Roman" panose="02020603050405020304" pitchFamily="18" charset="0"/>
            </a:endParaRPr>
          </a:p>
          <a:p>
            <a:endParaRPr lang="en-US" dirty="0"/>
          </a:p>
        </p:txBody>
      </p:sp>
      <p:sp>
        <p:nvSpPr>
          <p:cNvPr id="3" name="Title 2"/>
          <p:cNvSpPr>
            <a:spLocks noGrp="1"/>
          </p:cNvSpPr>
          <p:nvPr>
            <p:ph type="title"/>
          </p:nvPr>
        </p:nvSpPr>
        <p:spPr/>
        <p:txBody>
          <a:bodyPr/>
          <a:lstStyle/>
          <a:p>
            <a:pPr algn="ctr"/>
            <a:r>
              <a:rPr lang="en-US" dirty="0" err="1">
                <a:solidFill>
                  <a:srgbClr val="002060"/>
                </a:solidFill>
                <a:latin typeface="Times New Roman" pitchFamily="18" charset="0"/>
                <a:cs typeface="Times New Roman" pitchFamily="18" charset="0"/>
              </a:rPr>
              <a:t>Why,What</a:t>
            </a:r>
            <a:r>
              <a:rPr lang="en-US" dirty="0">
                <a:solidFill>
                  <a:srgbClr val="002060"/>
                </a:solidFill>
                <a:latin typeface="Times New Roman" pitchFamily="18" charset="0"/>
                <a:cs typeface="Times New Roman" pitchFamily="18" charset="0"/>
              </a:rPr>
              <a:t>-Dimension reduction</a:t>
            </a:r>
          </a:p>
        </p:txBody>
      </p:sp>
    </p:spTree>
    <p:extLst>
      <p:ext uri="{BB962C8B-B14F-4D97-AF65-F5344CB8AC3E}">
        <p14:creationId xmlns:p14="http://schemas.microsoft.com/office/powerpoint/2010/main" val="917375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634836"/>
            <a:ext cx="8229600" cy="3962400"/>
          </a:xfrm>
        </p:spPr>
        <p:txBody>
          <a:bodyPr/>
          <a:lstStyle/>
          <a:p>
            <a:pPr marL="109537" indent="0" algn="just">
              <a:buNone/>
            </a:pPr>
            <a:endParaRPr lang="en-US" b="1" dirty="0">
              <a:latin typeface="Times New Roman" panose="02020603050405020304" pitchFamily="18" charset="0"/>
              <a:cs typeface="Times New Roman" panose="02020603050405020304" pitchFamily="18" charset="0"/>
            </a:endParaRPr>
          </a:p>
          <a:p>
            <a:pPr marL="109537" indent="0" algn="just">
              <a:buNone/>
            </a:pPr>
            <a:r>
              <a:rPr lang="en-US" b="1" dirty="0">
                <a:latin typeface="Times New Roman" panose="02020603050405020304" pitchFamily="18" charset="0"/>
                <a:cs typeface="Times New Roman" panose="02020603050405020304" pitchFamily="18" charset="0"/>
              </a:rPr>
              <a:t>Motorbike rider in racing competitions: </a:t>
            </a:r>
          </a:p>
          <a:p>
            <a:pPr marL="109537" indent="0" algn="just">
              <a:buNone/>
            </a:pPr>
            <a:r>
              <a:rPr lang="en-US" dirty="0">
                <a:latin typeface="Times New Roman" panose="02020603050405020304" pitchFamily="18" charset="0"/>
                <a:cs typeface="Times New Roman" panose="02020603050405020304" pitchFamily="18" charset="0"/>
              </a:rPr>
              <a:t>Motorbike rider position and movement gets measured by </a:t>
            </a:r>
          </a:p>
          <a:p>
            <a:pPr algn="just"/>
            <a:r>
              <a:rPr lang="en-US" sz="2800" dirty="0">
                <a:latin typeface="Times New Roman" panose="02020603050405020304" pitchFamily="18" charset="0"/>
                <a:cs typeface="Times New Roman" panose="02020603050405020304" pitchFamily="18" charset="0"/>
              </a:rPr>
              <a:t>GPS sensor on bike,</a:t>
            </a:r>
          </a:p>
          <a:p>
            <a:pPr algn="just"/>
            <a:r>
              <a:rPr lang="en-US" sz="2800" dirty="0">
                <a:latin typeface="Times New Roman" panose="02020603050405020304" pitchFamily="18" charset="0"/>
                <a:cs typeface="Times New Roman" panose="02020603050405020304" pitchFamily="18" charset="0"/>
              </a:rPr>
              <a:t> gyro meters, </a:t>
            </a:r>
          </a:p>
          <a:p>
            <a:pPr algn="just"/>
            <a:r>
              <a:rPr lang="en-US" sz="2800" dirty="0">
                <a:latin typeface="Times New Roman" panose="02020603050405020304" pitchFamily="18" charset="0"/>
                <a:cs typeface="Times New Roman" panose="02020603050405020304" pitchFamily="18" charset="0"/>
              </a:rPr>
              <a:t>multiple video feeds </a:t>
            </a:r>
          </a:p>
          <a:p>
            <a:pPr algn="just"/>
            <a:r>
              <a:rPr lang="en-US" sz="2800" dirty="0">
                <a:latin typeface="Times New Roman" panose="02020603050405020304" pitchFamily="18" charset="0"/>
                <a:cs typeface="Times New Roman" panose="02020603050405020304" pitchFamily="18" charset="0"/>
              </a:rPr>
              <a:t>his smart watch. </a:t>
            </a:r>
          </a:p>
          <a:p>
            <a:pPr marL="109537" indent="0" algn="just">
              <a:buNone/>
            </a:pPr>
            <a:endParaRPr lang="en-US"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228600" y="20052"/>
            <a:ext cx="8229600" cy="1580148"/>
          </a:xfrm>
        </p:spPr>
        <p:txBody>
          <a:bodyPr>
            <a:noAutofit/>
          </a:bodyPr>
          <a:lstStyle/>
          <a:p>
            <a:br>
              <a:rPr lang="en-US" sz="2800" dirty="0">
                <a:solidFill>
                  <a:srgbClr val="002060"/>
                </a:solidFill>
                <a:latin typeface="Times New Roman" panose="02020603050405020304" pitchFamily="18" charset="0"/>
                <a:cs typeface="Times New Roman" panose="02020603050405020304" pitchFamily="18" charset="0"/>
              </a:rPr>
            </a:br>
            <a:r>
              <a:rPr lang="en-US" sz="2800" dirty="0">
                <a:solidFill>
                  <a:srgbClr val="002060"/>
                </a:solidFill>
                <a:latin typeface="Times New Roman" panose="02020603050405020304" pitchFamily="18" charset="0"/>
                <a:cs typeface="Times New Roman" panose="02020603050405020304" pitchFamily="18" charset="0"/>
              </a:rPr>
              <a:t>Why Dimension Reduction is Important in machine learning and predictive </a:t>
            </a:r>
            <a:r>
              <a:rPr lang="en-US" sz="2800" dirty="0" err="1">
                <a:solidFill>
                  <a:srgbClr val="002060"/>
                </a:solidFill>
                <a:latin typeface="Times New Roman" panose="02020603050405020304" pitchFamily="18" charset="0"/>
                <a:cs typeface="Times New Roman" panose="02020603050405020304" pitchFamily="18" charset="0"/>
              </a:rPr>
              <a:t>modeling?Is</a:t>
            </a:r>
            <a:r>
              <a:rPr lang="en-US" sz="2800" dirty="0">
                <a:solidFill>
                  <a:srgbClr val="002060"/>
                </a:solidFill>
                <a:latin typeface="Times New Roman" panose="02020603050405020304" pitchFamily="18" charset="0"/>
                <a:cs typeface="Times New Roman" panose="02020603050405020304" pitchFamily="18" charset="0"/>
              </a:rPr>
              <a:t> Dimensionality Reduction good or bad?</a:t>
            </a:r>
            <a:br>
              <a:rPr lang="en-US" sz="2800" dirty="0">
                <a:solidFill>
                  <a:srgbClr val="002060"/>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2260412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537" indent="0" algn="just">
              <a:buNone/>
            </a:pPr>
            <a:r>
              <a:rPr lang="en-US" dirty="0">
                <a:latin typeface="Times New Roman" panose="02020603050405020304" pitchFamily="18" charset="0"/>
                <a:cs typeface="Times New Roman" panose="02020603050405020304" pitchFamily="18" charset="0"/>
              </a:rPr>
              <a:t>Now assume that an analyst sits with all this data to analyze the racing strategy of the biker –would have a lot of variables / dimensions which are similar and of little (or no) incremental value. </a:t>
            </a:r>
          </a:p>
          <a:p>
            <a:pPr marL="109537" indent="0" algn="just">
              <a:buNone/>
            </a:pPr>
            <a:endParaRPr lang="en-US" dirty="0">
              <a:latin typeface="Times New Roman" panose="02020603050405020304" pitchFamily="18" charset="0"/>
              <a:cs typeface="Times New Roman" panose="02020603050405020304" pitchFamily="18" charset="0"/>
            </a:endParaRPr>
          </a:p>
          <a:p>
            <a:pPr marL="109537" indent="0" algn="just">
              <a:buNone/>
            </a:pPr>
            <a:r>
              <a:rPr lang="en-US" dirty="0">
                <a:latin typeface="Times New Roman" panose="02020603050405020304" pitchFamily="18" charset="0"/>
                <a:cs typeface="Times New Roman" panose="02020603050405020304" pitchFamily="18" charset="0"/>
              </a:rPr>
              <a:t>This is the problem of high unwanted dimensions and needs a treatment of dimension reduction.</a:t>
            </a:r>
          </a:p>
          <a:p>
            <a:endParaRPr lang="en-US" dirty="0"/>
          </a:p>
        </p:txBody>
      </p:sp>
    </p:spTree>
    <p:extLst>
      <p:ext uri="{BB962C8B-B14F-4D97-AF65-F5344CB8AC3E}">
        <p14:creationId xmlns:p14="http://schemas.microsoft.com/office/powerpoint/2010/main" val="3422044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Example 1: You are building a regression with 10 variables, some of them are mildly correlated.</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this case, there is no need to perform any dimensionality reduction. Since there is little correlation among the variables, all of them are bringing in new information. You should keep all the variables in the mix and build a model.</a:t>
            </a:r>
          </a:p>
        </p:txBody>
      </p:sp>
    </p:spTree>
    <p:extLst>
      <p:ext uri="{BB962C8B-B14F-4D97-AF65-F5344CB8AC3E}">
        <p14:creationId xmlns:p14="http://schemas.microsoft.com/office/powerpoint/2010/main" val="1944517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0"/>
            <a:ext cx="8229600" cy="6629400"/>
          </a:xfrm>
        </p:spPr>
        <p:txBody>
          <a:bodyPr/>
          <a:lstStyle/>
          <a:p>
            <a:pPr algn="just"/>
            <a:r>
              <a:rPr lang="en-US" b="1" dirty="0">
                <a:latin typeface="Times New Roman" panose="02020603050405020304" pitchFamily="18" charset="0"/>
                <a:cs typeface="Times New Roman" panose="02020603050405020304" pitchFamily="18" charset="0"/>
              </a:rPr>
              <a:t>Example 2: Again, you are building a regression model. This time with 20 variables and some of these variables would be highly correlated.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 example, in case of telecom - number of calls made by a customer in a month and the monthly bill he / she receives. Or in case of insurance, it could be number of policies and total premium sold by an agent / branch.</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In these cases, because you only have limited number of variables you should only add one of these variables to your model.</a:t>
            </a:r>
          </a:p>
          <a:p>
            <a:pPr algn="just"/>
            <a:r>
              <a:rPr lang="en-US" dirty="0">
                <a:latin typeface="Times New Roman" panose="02020603050405020304" pitchFamily="18" charset="0"/>
                <a:cs typeface="Times New Roman" panose="02020603050405020304" pitchFamily="18" charset="0"/>
              </a:rPr>
              <a:t> You can still do away with applying any formal dimensional reduction technique in this case (even though you are doing it for all practical reasons).</a:t>
            </a:r>
          </a:p>
        </p:txBody>
      </p:sp>
    </p:spTree>
    <p:extLst>
      <p:ext uri="{BB962C8B-B14F-4D97-AF65-F5344CB8AC3E}">
        <p14:creationId xmlns:p14="http://schemas.microsoft.com/office/powerpoint/2010/main" val="3005570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457200"/>
            <a:ext cx="8229600" cy="6019800"/>
          </a:xfrm>
        </p:spPr>
        <p:txBody>
          <a:bodyPr/>
          <a:lstStyle/>
          <a:p>
            <a:pPr algn="just"/>
            <a:r>
              <a:rPr lang="en-US" b="1" dirty="0">
                <a:latin typeface="Times New Roman" panose="02020603050405020304" pitchFamily="18" charset="0"/>
                <a:cs typeface="Times New Roman" panose="02020603050405020304" pitchFamily="18" charset="0"/>
              </a:rPr>
              <a:t>Example 3: Now assume that you have 500 such variables with some of them being correlated with each other.</a:t>
            </a:r>
          </a:p>
          <a:p>
            <a:pPr marL="109537" indent="0" algn="just">
              <a:buNone/>
            </a:pPr>
            <a:r>
              <a:rPr lang="en-US" dirty="0">
                <a:latin typeface="Times New Roman" panose="02020603050405020304" pitchFamily="18" charset="0"/>
                <a:cs typeface="Times New Roman" panose="02020603050405020304" pitchFamily="18" charset="0"/>
              </a:rPr>
              <a:t>For example, data output of sensors from a smartphone.</a:t>
            </a:r>
          </a:p>
          <a:p>
            <a:pPr marL="109537" indent="0" algn="just">
              <a:buNone/>
            </a:pPr>
            <a:endParaRPr lang="en-US" dirty="0">
              <a:latin typeface="Times New Roman" panose="02020603050405020304" pitchFamily="18" charset="0"/>
              <a:cs typeface="Times New Roman" panose="02020603050405020304" pitchFamily="18" charset="0"/>
            </a:endParaRPr>
          </a:p>
          <a:p>
            <a:pPr marL="109537" indent="0" algn="just">
              <a:buNone/>
            </a:pPr>
            <a:r>
              <a:rPr lang="en-US" dirty="0">
                <a:latin typeface="Times New Roman" panose="02020603050405020304" pitchFamily="18" charset="0"/>
                <a:cs typeface="Times New Roman" panose="02020603050405020304" pitchFamily="18" charset="0"/>
              </a:rPr>
              <a:t>In a lot of scenarios like this, you will also see that you will retain more than 90% of information with less that 15 - 20% of variables. </a:t>
            </a:r>
          </a:p>
          <a:p>
            <a:pPr algn="just"/>
            <a:r>
              <a:rPr lang="en-US" dirty="0">
                <a:latin typeface="Times New Roman" panose="02020603050405020304" pitchFamily="18" charset="0"/>
                <a:cs typeface="Times New Roman" panose="02020603050405020304" pitchFamily="18" charset="0"/>
              </a:rPr>
              <a:t>Hence, these can be good applications of dimensionality reduction.</a:t>
            </a:r>
          </a:p>
        </p:txBody>
      </p:sp>
    </p:spTree>
    <p:extLst>
      <p:ext uri="{BB962C8B-B14F-4D97-AF65-F5344CB8AC3E}">
        <p14:creationId xmlns:p14="http://schemas.microsoft.com/office/powerpoint/2010/main" val="4026056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138"/>
            <a:ext cx="5257800" cy="3471862"/>
          </a:xfrm>
        </p:spPr>
        <p:txBody>
          <a:bodyPr/>
          <a:lstStyle/>
          <a:p>
            <a:r>
              <a:rPr lang="en-US" b="1" dirty="0">
                <a:latin typeface="Times New Roman" panose="02020603050405020304" pitchFamily="18" charset="0"/>
                <a:cs typeface="Times New Roman" panose="02020603050405020304" pitchFamily="18" charset="0"/>
              </a:rPr>
              <a:t>Missing Values</a:t>
            </a:r>
          </a:p>
          <a:p>
            <a:r>
              <a:rPr lang="en-US" b="1" dirty="0">
                <a:latin typeface="Times New Roman" panose="02020603050405020304" pitchFamily="18" charset="0"/>
                <a:cs typeface="Times New Roman" panose="02020603050405020304" pitchFamily="18" charset="0"/>
              </a:rPr>
              <a:t>Low Variance</a:t>
            </a:r>
          </a:p>
          <a:p>
            <a:r>
              <a:rPr lang="en-US" b="1" dirty="0">
                <a:latin typeface="Times New Roman" panose="02020603050405020304" pitchFamily="18" charset="0"/>
                <a:cs typeface="Times New Roman" panose="02020603050405020304" pitchFamily="18" charset="0"/>
              </a:rPr>
              <a:t>High Correlation filter</a:t>
            </a:r>
          </a:p>
          <a:p>
            <a:r>
              <a:rPr lang="en-US" b="1" dirty="0">
                <a:latin typeface="Times New Roman" panose="02020603050405020304" pitchFamily="18" charset="0"/>
                <a:cs typeface="Times New Roman" panose="02020603050405020304" pitchFamily="18" charset="0"/>
              </a:rPr>
              <a:t>Random Forest</a:t>
            </a:r>
          </a:p>
          <a:p>
            <a:r>
              <a:rPr lang="en-US" b="1" dirty="0">
                <a:latin typeface="Times New Roman" panose="02020603050405020304" pitchFamily="18" charset="0"/>
                <a:cs typeface="Times New Roman" panose="02020603050405020304" pitchFamily="18" charset="0"/>
              </a:rPr>
              <a:t>Backward Feature Elimination</a:t>
            </a:r>
          </a:p>
          <a:p>
            <a:r>
              <a:rPr lang="en-US" b="1" dirty="0">
                <a:latin typeface="Times New Roman" panose="02020603050405020304" pitchFamily="18" charset="0"/>
                <a:cs typeface="Times New Roman" panose="02020603050405020304" pitchFamily="18" charset="0"/>
              </a:rPr>
              <a:t>Forward Feature Selection</a:t>
            </a:r>
          </a:p>
          <a:p>
            <a:r>
              <a:rPr lang="en-US" b="1" dirty="0">
                <a:latin typeface="Times New Roman" panose="02020603050405020304" pitchFamily="18" charset="0"/>
                <a:cs typeface="Times New Roman" panose="02020603050405020304" pitchFamily="18" charset="0"/>
              </a:rPr>
              <a:t>Principal Component Analysis</a:t>
            </a:r>
          </a:p>
          <a:p>
            <a:endParaRPr lang="en-US" b="1" dirty="0"/>
          </a:p>
          <a:p>
            <a:endParaRPr lang="en-US" b="1" dirty="0"/>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dirty="0"/>
          </a:p>
        </p:txBody>
      </p:sp>
      <p:sp>
        <p:nvSpPr>
          <p:cNvPr id="3" name="Title 2"/>
          <p:cNvSpPr>
            <a:spLocks noGrp="1"/>
          </p:cNvSpPr>
          <p:nvPr>
            <p:ph type="title"/>
          </p:nvPr>
        </p:nvSpPr>
        <p:spPr/>
        <p:txBody>
          <a:bodyPr>
            <a:normAutofit fontScale="90000"/>
          </a:bodyPr>
          <a:lstStyle/>
          <a:p>
            <a:r>
              <a:rPr lang="en-US" sz="4400" dirty="0">
                <a:solidFill>
                  <a:srgbClr val="002060"/>
                </a:solidFill>
                <a:latin typeface="Times New Roman" panose="02020603050405020304" pitchFamily="18" charset="0"/>
                <a:cs typeface="Times New Roman" panose="02020603050405020304" pitchFamily="18" charset="0"/>
              </a:rPr>
              <a:t>What are Dimension Reduction techniques?</a:t>
            </a:r>
            <a:endParaRPr lang="en-US" dirty="0"/>
          </a:p>
        </p:txBody>
      </p:sp>
    </p:spTree>
    <p:extLst>
      <p:ext uri="{BB962C8B-B14F-4D97-AF65-F5344CB8AC3E}">
        <p14:creationId xmlns:p14="http://schemas.microsoft.com/office/powerpoint/2010/main" val="2158102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3600" y="274638"/>
            <a:ext cx="2895600" cy="792162"/>
          </a:xfrm>
        </p:spPr>
        <p:txBody>
          <a:bodyPr>
            <a:normAutofit/>
          </a:bodyPr>
          <a:lstStyle/>
          <a:p>
            <a:r>
              <a:rPr lang="en-US" sz="3200" dirty="0">
                <a:solidFill>
                  <a:srgbClr val="002060"/>
                </a:solidFill>
                <a:latin typeface="Times New Roman" panose="02020603050405020304" pitchFamily="18" charset="0"/>
                <a:cs typeface="Times New Roman" panose="02020603050405020304" pitchFamily="18" charset="0"/>
              </a:rPr>
              <a:t>Missing Values</a:t>
            </a:r>
          </a:p>
        </p:txBody>
      </p:sp>
      <p:sp>
        <p:nvSpPr>
          <p:cNvPr id="4" name="Content Placeholder 3"/>
          <p:cNvSpPr>
            <a:spLocks noGrp="1"/>
          </p:cNvSpPr>
          <p:nvPr>
            <p:ph idx="1"/>
          </p:nvPr>
        </p:nvSpPr>
        <p:spPr>
          <a:xfrm>
            <a:off x="421105" y="1066800"/>
            <a:ext cx="8229600" cy="4525962"/>
          </a:xfrm>
        </p:spPr>
        <p:txBody>
          <a:bodyPr/>
          <a:lstStyle/>
          <a:p>
            <a:r>
              <a:rPr lang="en-US" b="1" dirty="0">
                <a:solidFill>
                  <a:srgbClr val="002060"/>
                </a:solidFill>
                <a:latin typeface="Times New Roman" panose="02020603050405020304" pitchFamily="18" charset="0"/>
                <a:cs typeface="Times New Roman" panose="02020603050405020304" pitchFamily="18" charset="0"/>
              </a:rPr>
              <a:t> </a:t>
            </a:r>
            <a:r>
              <a:rPr lang="en-US" dirty="0">
                <a:solidFill>
                  <a:srgbClr val="002060"/>
                </a:solidFill>
                <a:latin typeface="Times New Roman" panose="02020603050405020304" pitchFamily="18" charset="0"/>
                <a:cs typeface="Times New Roman" panose="02020603050405020304" pitchFamily="18" charset="0"/>
              </a:rPr>
              <a:t>What if we have too many missing values (say more than 50%)? </a:t>
            </a:r>
          </a:p>
          <a:p>
            <a:r>
              <a:rPr lang="en-US" dirty="0">
                <a:solidFill>
                  <a:srgbClr val="002060"/>
                </a:solidFill>
                <a:latin typeface="Times New Roman" panose="02020603050405020304" pitchFamily="18" charset="0"/>
                <a:cs typeface="Times New Roman" panose="02020603050405020304" pitchFamily="18" charset="0"/>
              </a:rPr>
              <a:t>Should we impute(assign) the missing values or drop the variable?</a:t>
            </a:r>
          </a:p>
          <a:p>
            <a:pPr marL="109537" indent="0">
              <a:buNone/>
            </a:pPr>
            <a:r>
              <a:rPr lang="en-US" dirty="0">
                <a:solidFill>
                  <a:srgbClr val="002060"/>
                </a:solidFill>
                <a:latin typeface="Times New Roman" panose="02020603050405020304" pitchFamily="18" charset="0"/>
                <a:cs typeface="Times New Roman" panose="02020603050405020304" pitchFamily="18" charset="0"/>
              </a:rPr>
              <a:t>we can prefer to drop the variable since it will not have much information.</a:t>
            </a:r>
          </a:p>
          <a:p>
            <a:pPr marL="109537" indent="0" algn="ctr">
              <a:buNone/>
            </a:pPr>
            <a:r>
              <a:rPr lang="en-US" dirty="0">
                <a:solidFill>
                  <a:srgbClr val="002060"/>
                </a:solidFill>
                <a:latin typeface="Times New Roman" panose="02020603050405020304" pitchFamily="18" charset="0"/>
                <a:cs typeface="Times New Roman" panose="02020603050405020304" pitchFamily="18" charset="0"/>
              </a:rPr>
              <a:t>OR</a:t>
            </a:r>
          </a:p>
          <a:p>
            <a:pPr marL="109537" indent="0" algn="just">
              <a:buNone/>
            </a:pPr>
            <a:r>
              <a:rPr lang="en-US" dirty="0">
                <a:solidFill>
                  <a:srgbClr val="002060"/>
                </a:solidFill>
                <a:latin typeface="Times New Roman" panose="02020603050405020304" pitchFamily="18" charset="0"/>
                <a:cs typeface="Times New Roman" panose="02020603050405020304" pitchFamily="18" charset="0"/>
              </a:rPr>
              <a:t>We can set a threshold value and if the percentage of missing values in any variable is more than that threshold, we will drop the variable.</a:t>
            </a:r>
            <a:endParaRPr lang="en-US" b="1" dirty="0">
              <a:solidFill>
                <a:srgbClr val="002060"/>
              </a:solidFill>
              <a:latin typeface="Times New Roman" panose="02020603050405020304" pitchFamily="18" charset="0"/>
              <a:cs typeface="Times New Roman" panose="02020603050405020304" pitchFamily="18" charset="0"/>
            </a:endParaRPr>
          </a:p>
          <a:p>
            <a:endParaRPr lang="en-US" b="1" dirty="0"/>
          </a:p>
        </p:txBody>
      </p:sp>
    </p:spTree>
    <p:extLst>
      <p:ext uri="{BB962C8B-B14F-4D97-AF65-F5344CB8AC3E}">
        <p14:creationId xmlns:p14="http://schemas.microsoft.com/office/powerpoint/2010/main" val="2325579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00" name="Table 1"/>
          <p:cNvGraphicFramePr/>
          <p:nvPr/>
        </p:nvGraphicFramePr>
        <p:xfrm>
          <a:off x="914400" y="380880"/>
          <a:ext cx="7467120" cy="5952198"/>
        </p:xfrm>
        <a:graphic>
          <a:graphicData uri="http://schemas.openxmlformats.org/drawingml/2006/table">
            <a:tbl>
              <a:tblPr/>
              <a:tblGrid>
                <a:gridCol w="1904760">
                  <a:extLst>
                    <a:ext uri="{9D8B030D-6E8A-4147-A177-3AD203B41FA5}">
                      <a16:colId xmlns:a16="http://schemas.microsoft.com/office/drawing/2014/main" val="20000"/>
                    </a:ext>
                  </a:extLst>
                </a:gridCol>
                <a:gridCol w="5562360">
                  <a:extLst>
                    <a:ext uri="{9D8B030D-6E8A-4147-A177-3AD203B41FA5}">
                      <a16:colId xmlns:a16="http://schemas.microsoft.com/office/drawing/2014/main" val="20001"/>
                    </a:ext>
                  </a:extLst>
                </a:gridCol>
              </a:tblGrid>
              <a:tr h="519480">
                <a:tc gridSpan="2">
                  <a:txBody>
                    <a:bodyPr/>
                    <a:lstStyle/>
                    <a:p>
                      <a:pPr algn="ctr">
                        <a:lnSpc>
                          <a:spcPct val="115000"/>
                        </a:lnSpc>
                      </a:pPr>
                      <a:r>
                        <a:rPr lang="en-IN" sz="3200" b="1" strike="noStrike" spc="-1" dirty="0">
                          <a:solidFill>
                            <a:srgbClr val="002060"/>
                          </a:solidFill>
                          <a:latin typeface="Times New Roman"/>
                          <a:ea typeface="Calibri"/>
                        </a:rPr>
                        <a:t>Data Analysis with python</a:t>
                      </a:r>
                      <a:endParaRPr lang="en-IN" sz="3200" b="0" strike="noStrike" spc="-1" dirty="0">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n-US"/>
                    </a:p>
                  </a:txBody>
                  <a:tcPr>
                    <a:solidFill>
                      <a:srgbClr val="729FCF"/>
                    </a:solidFill>
                  </a:tcPr>
                </a:tc>
                <a:extLst>
                  <a:ext uri="{0D108BD9-81ED-4DB2-BD59-A6C34878D82A}">
                    <a16:rowId xmlns:a16="http://schemas.microsoft.com/office/drawing/2014/main" val="10000"/>
                  </a:ext>
                </a:extLst>
              </a:tr>
              <a:tr h="453600">
                <a:tc rowSpan="3">
                  <a:txBody>
                    <a:bodyPr/>
                    <a:lstStyle/>
                    <a:p>
                      <a:pPr marL="457200">
                        <a:lnSpc>
                          <a:spcPct val="115000"/>
                        </a:lnSpc>
                      </a:pPr>
                      <a:r>
                        <a:rPr lang="en-IN" sz="2000" b="0" strike="noStrike" spc="-1">
                          <a:solidFill>
                            <a:srgbClr val="002060"/>
                          </a:solidFill>
                          <a:latin typeface="Times New Roman"/>
                          <a:ea typeface="Calibri"/>
                        </a:rPr>
                        <a:t> </a:t>
                      </a:r>
                      <a:endParaRPr lang="en-IN" sz="2000" b="0" strike="noStrike" spc="-1">
                        <a:latin typeface="Arial"/>
                      </a:endParaRPr>
                    </a:p>
                    <a:p>
                      <a:pPr marL="343080" indent="-342720">
                        <a:lnSpc>
                          <a:spcPct val="115000"/>
                        </a:lnSpc>
                        <a:buClr>
                          <a:srgbClr val="002060"/>
                        </a:buClr>
                        <a:buFont typeface="Wingdings" charset="2"/>
                        <a:buChar char=""/>
                      </a:pPr>
                      <a:r>
                        <a:rPr lang="en-IN" sz="2000" b="0" strike="noStrike" spc="-1">
                          <a:solidFill>
                            <a:srgbClr val="002060"/>
                          </a:solidFill>
                          <a:latin typeface="Times New Roman"/>
                          <a:ea typeface="Calibri"/>
                        </a:rPr>
                        <a:t>Scientific Computing Libraries in Python (SCL)</a:t>
                      </a:r>
                      <a:endParaRPr lang="en-IN" sz="2000" b="0" strike="noStrike" spc="-1">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171360" indent="-171000">
                        <a:lnSpc>
                          <a:spcPct val="115000"/>
                        </a:lnSpc>
                        <a:buClr>
                          <a:srgbClr val="002060"/>
                        </a:buClr>
                        <a:buFont typeface="Wingdings" charset="2"/>
                        <a:buChar char=""/>
                      </a:pPr>
                      <a:r>
                        <a:rPr lang="en-IN" sz="2000" b="0" strike="noStrike" spc="-1">
                          <a:solidFill>
                            <a:srgbClr val="002060"/>
                          </a:solidFill>
                          <a:latin typeface="Times New Roman"/>
                          <a:ea typeface="Calibri"/>
                        </a:rPr>
                        <a:t>Pandas(Data Structures and Tools)</a:t>
                      </a:r>
                      <a:endParaRPr lang="en-IN" sz="2000" b="0" strike="noStrike" spc="-1">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29280">
                <a:tc vMerge="1">
                  <a:txBody>
                    <a:bodyPr/>
                    <a:lstStyle/>
                    <a:p>
                      <a:endParaRPr lang="en-US"/>
                    </a:p>
                  </a:txBody>
                  <a:tcPr>
                    <a:solidFill>
                      <a:srgbClr val="729FCF"/>
                    </a:solidFill>
                  </a:tcPr>
                </a:tc>
                <a:tc>
                  <a:txBody>
                    <a:bodyPr/>
                    <a:lstStyle/>
                    <a:p>
                      <a:pPr marL="171360" indent="-171000">
                        <a:lnSpc>
                          <a:spcPct val="115000"/>
                        </a:lnSpc>
                        <a:buClr>
                          <a:srgbClr val="002060"/>
                        </a:buClr>
                        <a:buFont typeface="Wingdings" charset="2"/>
                        <a:buChar char=""/>
                      </a:pPr>
                      <a:r>
                        <a:rPr lang="en-IN" sz="2000" b="0" strike="noStrike" spc="-1">
                          <a:solidFill>
                            <a:srgbClr val="002060"/>
                          </a:solidFill>
                          <a:latin typeface="Times New Roman"/>
                          <a:ea typeface="Calibri"/>
                        </a:rPr>
                        <a:t>Numpy (Arrays and Matrices)</a:t>
                      </a:r>
                      <a:endParaRPr lang="en-IN" sz="2000" b="0" strike="noStrike" spc="-1">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982800">
                <a:tc vMerge="1">
                  <a:txBody>
                    <a:bodyPr/>
                    <a:lstStyle/>
                    <a:p>
                      <a:endParaRPr lang="en-US"/>
                    </a:p>
                  </a:txBody>
                  <a:tcPr>
                    <a:solidFill>
                      <a:srgbClr val="729FCF"/>
                    </a:solidFill>
                  </a:tcPr>
                </a:tc>
                <a:tc>
                  <a:txBody>
                    <a:bodyPr/>
                    <a:lstStyle/>
                    <a:p>
                      <a:pPr marL="171360" indent="-171000">
                        <a:lnSpc>
                          <a:spcPct val="115000"/>
                        </a:lnSpc>
                        <a:buClr>
                          <a:srgbClr val="002060"/>
                        </a:buClr>
                        <a:buFont typeface="Wingdings" charset="2"/>
                        <a:buChar char=""/>
                      </a:pPr>
                      <a:r>
                        <a:rPr lang="en-IN" sz="2000" b="0" strike="noStrike" spc="-1" dirty="0" err="1">
                          <a:solidFill>
                            <a:srgbClr val="002060"/>
                          </a:solidFill>
                          <a:latin typeface="Times New Roman"/>
                          <a:ea typeface="Calibri"/>
                        </a:rPr>
                        <a:t>Scipy</a:t>
                      </a:r>
                      <a:r>
                        <a:rPr lang="en-IN" sz="2000" b="0" strike="noStrike" spc="-1" dirty="0">
                          <a:solidFill>
                            <a:srgbClr val="002060"/>
                          </a:solidFill>
                          <a:latin typeface="Times New Roman"/>
                          <a:ea typeface="Calibri"/>
                        </a:rPr>
                        <a:t> (stats, Integrals, solving differential equations, optimization, </a:t>
                      </a:r>
                      <a:r>
                        <a:rPr lang="en-IN" sz="2000" b="0" strike="noStrike" spc="-1" baseline="0" dirty="0">
                          <a:solidFill>
                            <a:srgbClr val="002060"/>
                          </a:solidFill>
                          <a:latin typeface="Times New Roman"/>
                          <a:ea typeface="Calibri"/>
                        </a:rPr>
                        <a:t>etc </a:t>
                      </a:r>
                      <a:r>
                        <a:rPr lang="en-IN" sz="2000" b="0" strike="noStrike" spc="-1" dirty="0">
                          <a:solidFill>
                            <a:srgbClr val="002060"/>
                          </a:solidFill>
                          <a:latin typeface="Times New Roman"/>
                          <a:ea typeface="Calibri"/>
                        </a:rPr>
                        <a:t>) </a:t>
                      </a:r>
                      <a:endParaRPr lang="en-IN" sz="2000" b="0" strike="noStrike" spc="-1" dirty="0">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r h="629280">
                <a:tc rowSpan="2">
                  <a:txBody>
                    <a:bodyPr/>
                    <a:lstStyle/>
                    <a:p>
                      <a:pPr marL="457200">
                        <a:lnSpc>
                          <a:spcPct val="115000"/>
                        </a:lnSpc>
                      </a:pPr>
                      <a:r>
                        <a:rPr lang="en-IN" sz="2000" b="0" strike="noStrike" spc="-1">
                          <a:solidFill>
                            <a:srgbClr val="002060"/>
                          </a:solidFill>
                          <a:latin typeface="Times New Roman"/>
                          <a:ea typeface="Calibri"/>
                        </a:rPr>
                        <a:t> </a:t>
                      </a:r>
                      <a:endParaRPr lang="en-IN" sz="2000" b="0" strike="noStrike" spc="-1">
                        <a:latin typeface="Arial"/>
                      </a:endParaRPr>
                    </a:p>
                    <a:p>
                      <a:pPr marL="343080" indent="-342720">
                        <a:lnSpc>
                          <a:spcPct val="115000"/>
                        </a:lnSpc>
                        <a:buClr>
                          <a:srgbClr val="002060"/>
                        </a:buClr>
                        <a:buFont typeface="Wingdings" charset="2"/>
                        <a:buChar char=""/>
                      </a:pPr>
                      <a:r>
                        <a:rPr lang="en-IN" sz="2000" b="0" strike="noStrike" spc="-1">
                          <a:solidFill>
                            <a:srgbClr val="002060"/>
                          </a:solidFill>
                          <a:latin typeface="Times New Roman"/>
                          <a:ea typeface="Calibri"/>
                        </a:rPr>
                        <a:t>Visualization Libraries in Python</a:t>
                      </a:r>
                      <a:endParaRPr lang="en-IN" sz="2000" b="0" strike="noStrike" spc="-1">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171360" indent="-171000">
                        <a:lnSpc>
                          <a:spcPct val="115000"/>
                        </a:lnSpc>
                        <a:buClr>
                          <a:srgbClr val="002060"/>
                        </a:buClr>
                        <a:buFont typeface="Wingdings" charset="2"/>
                        <a:buChar char=""/>
                      </a:pPr>
                      <a:r>
                        <a:rPr lang="en-IN" sz="2000" b="0" strike="noStrike" spc="-1" dirty="0" err="1">
                          <a:solidFill>
                            <a:srgbClr val="002060"/>
                          </a:solidFill>
                          <a:latin typeface="Times New Roman"/>
                          <a:ea typeface="Calibri"/>
                        </a:rPr>
                        <a:t>Matplot</a:t>
                      </a:r>
                      <a:r>
                        <a:rPr lang="en-IN" sz="2000" b="0" strike="noStrike" spc="-1" dirty="0">
                          <a:solidFill>
                            <a:srgbClr val="002060"/>
                          </a:solidFill>
                          <a:latin typeface="Times New Roman"/>
                          <a:ea typeface="Calibri"/>
                        </a:rPr>
                        <a:t> lib(Plots and graphs-most popular ones)</a:t>
                      </a:r>
                      <a:endParaRPr lang="en-IN" sz="2000" b="0" strike="noStrike" spc="-1" dirty="0">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4"/>
                  </a:ext>
                </a:extLst>
              </a:tr>
              <a:tr h="974160">
                <a:tc vMerge="1">
                  <a:txBody>
                    <a:bodyPr/>
                    <a:lstStyle/>
                    <a:p>
                      <a:endParaRPr lang="en-US"/>
                    </a:p>
                  </a:txBody>
                  <a:tcPr>
                    <a:solidFill>
                      <a:srgbClr val="729FCF"/>
                    </a:solidFill>
                  </a:tcPr>
                </a:tc>
                <a:tc>
                  <a:txBody>
                    <a:bodyPr/>
                    <a:lstStyle/>
                    <a:p>
                      <a:pPr marL="171360" indent="-171000">
                        <a:lnSpc>
                          <a:spcPct val="115000"/>
                        </a:lnSpc>
                        <a:buClr>
                          <a:srgbClr val="002060"/>
                        </a:buClr>
                        <a:buFont typeface="Wingdings" charset="2"/>
                        <a:buChar char=""/>
                      </a:pPr>
                      <a:r>
                        <a:rPr lang="en-IN" sz="2000" b="0" strike="noStrike" spc="-1" dirty="0" err="1">
                          <a:solidFill>
                            <a:srgbClr val="002060"/>
                          </a:solidFill>
                          <a:latin typeface="Times New Roman"/>
                          <a:ea typeface="Calibri"/>
                        </a:rPr>
                        <a:t>Seaborn</a:t>
                      </a:r>
                      <a:r>
                        <a:rPr lang="en-IN" sz="2000" b="0" strike="noStrike" spc="-1" dirty="0">
                          <a:solidFill>
                            <a:srgbClr val="002060"/>
                          </a:solidFill>
                          <a:latin typeface="Times New Roman"/>
                          <a:ea typeface="Calibri"/>
                        </a:rPr>
                        <a:t> (plots like heat maps, time series, violin plots)</a:t>
                      </a:r>
                      <a:endParaRPr lang="en-IN" sz="2000" b="0" strike="noStrike" spc="-1" dirty="0">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5"/>
                  </a:ext>
                </a:extLst>
              </a:tr>
              <a:tr h="690120">
                <a:tc rowSpan="2">
                  <a:txBody>
                    <a:bodyPr/>
                    <a:lstStyle/>
                    <a:p>
                      <a:pPr marL="457200">
                        <a:lnSpc>
                          <a:spcPct val="115000"/>
                        </a:lnSpc>
                      </a:pPr>
                      <a:r>
                        <a:rPr lang="en-IN" sz="2000" b="0" strike="noStrike" spc="-1">
                          <a:solidFill>
                            <a:srgbClr val="002060"/>
                          </a:solidFill>
                          <a:latin typeface="Times New Roman"/>
                          <a:ea typeface="Calibri"/>
                        </a:rPr>
                        <a:t> </a:t>
                      </a:r>
                      <a:endParaRPr lang="en-IN" sz="2000" b="0" strike="noStrike" spc="-1">
                        <a:latin typeface="Arial"/>
                      </a:endParaRPr>
                    </a:p>
                    <a:p>
                      <a:pPr marL="343080" indent="-342720">
                        <a:lnSpc>
                          <a:spcPct val="115000"/>
                        </a:lnSpc>
                        <a:buClr>
                          <a:srgbClr val="002060"/>
                        </a:buClr>
                        <a:buFont typeface="Wingdings" charset="2"/>
                        <a:buChar char=""/>
                      </a:pPr>
                      <a:r>
                        <a:rPr lang="en-IN" sz="2000" b="0" strike="noStrike" spc="-1">
                          <a:solidFill>
                            <a:srgbClr val="002060"/>
                          </a:solidFill>
                          <a:latin typeface="Times New Roman"/>
                          <a:ea typeface="Calibri"/>
                        </a:rPr>
                        <a:t>Algorithmic Libraries in Python</a:t>
                      </a:r>
                      <a:endParaRPr lang="en-IN" sz="2000" b="0" strike="noStrike" spc="-1">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171360" indent="-171000">
                        <a:lnSpc>
                          <a:spcPct val="115000"/>
                        </a:lnSpc>
                        <a:buClr>
                          <a:srgbClr val="002060"/>
                        </a:buClr>
                        <a:buFont typeface="Wingdings" charset="2"/>
                        <a:buChar char=""/>
                      </a:pPr>
                      <a:r>
                        <a:rPr lang="en-IN" sz="2000" b="0" strike="noStrike" spc="-1">
                          <a:solidFill>
                            <a:srgbClr val="002060"/>
                          </a:solidFill>
                          <a:latin typeface="Times New Roman"/>
                          <a:ea typeface="Calibri"/>
                        </a:rPr>
                        <a:t>Scikit-learn (Machine Learning-regression, classification..)</a:t>
                      </a:r>
                      <a:endParaRPr lang="en-IN" sz="2000" b="0" strike="noStrike" spc="-1">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6"/>
                  </a:ext>
                </a:extLst>
              </a:tr>
              <a:tr h="912240">
                <a:tc vMerge="1">
                  <a:txBody>
                    <a:bodyPr/>
                    <a:lstStyle/>
                    <a:p>
                      <a:endParaRPr lang="en-US"/>
                    </a:p>
                  </a:txBody>
                  <a:tcPr>
                    <a:solidFill>
                      <a:srgbClr val="729FCF"/>
                    </a:solidFill>
                  </a:tcPr>
                </a:tc>
                <a:tc>
                  <a:txBody>
                    <a:bodyPr/>
                    <a:lstStyle/>
                    <a:p>
                      <a:pPr marL="171360" indent="-171000">
                        <a:lnSpc>
                          <a:spcPct val="115000"/>
                        </a:lnSpc>
                        <a:buClr>
                          <a:srgbClr val="002060"/>
                        </a:buClr>
                        <a:buFont typeface="Wingdings" charset="2"/>
                        <a:buChar char=""/>
                      </a:pPr>
                      <a:r>
                        <a:rPr lang="en-IN" sz="2000" b="0" strike="noStrike" spc="-1">
                          <a:solidFill>
                            <a:srgbClr val="002060"/>
                          </a:solidFill>
                          <a:latin typeface="Times New Roman"/>
                          <a:ea typeface="Calibri"/>
                        </a:rPr>
                        <a:t>Statsmodels (Explore data, perform statistical tests)</a:t>
                      </a:r>
                      <a:endParaRPr lang="en-IN" sz="2000" b="0" strike="noStrike" spc="-1">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5368" t="39670" r="50804" b="9188"/>
          <a:stretch/>
        </p:blipFill>
        <p:spPr>
          <a:xfrm>
            <a:off x="152400" y="914400"/>
            <a:ext cx="8305800" cy="5181600"/>
          </a:xfrm>
          <a:prstGeom prst="rect">
            <a:avLst/>
          </a:prstGeom>
        </p:spPr>
      </p:pic>
      <p:sp>
        <p:nvSpPr>
          <p:cNvPr id="3" name="Title 2"/>
          <p:cNvSpPr>
            <a:spLocks noGrp="1"/>
          </p:cNvSpPr>
          <p:nvPr>
            <p:ph type="title"/>
          </p:nvPr>
        </p:nvSpPr>
        <p:spPr>
          <a:xfrm>
            <a:off x="3048000" y="152400"/>
            <a:ext cx="2514600" cy="639762"/>
          </a:xfrm>
        </p:spPr>
        <p:txBody>
          <a:bodyPr>
            <a:noAutofit/>
          </a:bodyPr>
          <a:lstStyle/>
          <a:p>
            <a:pPr algn="ctr"/>
            <a:r>
              <a:rPr lang="en-US" sz="3600" dirty="0">
                <a:latin typeface="Times New Roman" pitchFamily="18" charset="0"/>
                <a:cs typeface="Times New Roman" pitchFamily="18" charset="0"/>
              </a:rPr>
              <a:t>Example</a:t>
            </a:r>
          </a:p>
        </p:txBody>
      </p:sp>
    </p:spTree>
    <p:extLst>
      <p:ext uri="{BB962C8B-B14F-4D97-AF65-F5344CB8AC3E}">
        <p14:creationId xmlns:p14="http://schemas.microsoft.com/office/powerpoint/2010/main" val="3823461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1828800"/>
            <a:ext cx="7924800" cy="2819400"/>
          </a:xfrm>
        </p:spPr>
        <p:txBody>
          <a:bodyPr/>
          <a:lstStyle/>
          <a:p>
            <a:r>
              <a:rPr lang="en-US" dirty="0">
                <a:latin typeface="Times New Roman" panose="02020603050405020304" pitchFamily="18" charset="0"/>
                <a:cs typeface="Times New Roman" panose="02020603050405020304" pitchFamily="18" charset="0"/>
              </a:rPr>
              <a:t>We can impute the values using appropriate methods,</a:t>
            </a:r>
          </a:p>
          <a:p>
            <a:pPr marL="109537" indent="0">
              <a:buNone/>
            </a:pPr>
            <a:r>
              <a:rPr lang="en-US" dirty="0">
                <a:latin typeface="Times New Roman" panose="02020603050405020304" pitchFamily="18" charset="0"/>
                <a:cs typeface="Times New Roman" panose="02020603050405020304" pitchFamily="18" charset="0"/>
              </a:rPr>
              <a:t>                    or </a:t>
            </a:r>
          </a:p>
          <a:p>
            <a:r>
              <a:rPr lang="en-US" dirty="0">
                <a:latin typeface="Times New Roman" panose="02020603050405020304" pitchFamily="18" charset="0"/>
                <a:cs typeface="Times New Roman" panose="02020603050405020304" pitchFamily="18" charset="0"/>
              </a:rPr>
              <a:t>we can set a threshold of, say 20%, and remove the variable having more than 20% missing values. </a:t>
            </a:r>
          </a:p>
          <a:p>
            <a:pPr marL="109537" indent="0">
              <a:buNone/>
            </a:pPr>
            <a:endParaRPr lang="en-US" dirty="0">
              <a:latin typeface="Times New Roman" panose="02020603050405020304" pitchFamily="18" charset="0"/>
              <a:cs typeface="Times New Roman" panose="02020603050405020304" pitchFamily="18" charset="0"/>
            </a:endParaRPr>
          </a:p>
          <a:p>
            <a:pPr marL="109537" indent="0">
              <a:buNone/>
            </a:pPr>
            <a:r>
              <a:rPr lang="en-US" dirty="0">
                <a:latin typeface="Times New Roman" panose="02020603050405020304" pitchFamily="18" charset="0"/>
                <a:cs typeface="Times New Roman" panose="02020603050405020304" pitchFamily="18" charset="0"/>
              </a:rPr>
              <a:t>So we can drop </a:t>
            </a:r>
            <a:r>
              <a:rPr lang="en-US" b="1" dirty="0" err="1">
                <a:solidFill>
                  <a:srgbClr val="C00000"/>
                </a:solidFill>
                <a:latin typeface="Times New Roman" panose="02020603050405020304" pitchFamily="18" charset="0"/>
                <a:cs typeface="Times New Roman" panose="02020603050405020304" pitchFamily="18" charset="0"/>
              </a:rPr>
              <a:t>Outlet_size</a:t>
            </a:r>
            <a:endParaRPr lang="en-US" b="1" dirty="0">
              <a:solidFill>
                <a:srgbClr val="C00000"/>
              </a:solidFill>
              <a:latin typeface="Times New Roman" panose="02020603050405020304" pitchFamily="18" charset="0"/>
              <a:cs typeface="Times New Roman" panose="02020603050405020304" pitchFamily="18" charset="0"/>
            </a:endParaRPr>
          </a:p>
          <a:p>
            <a:pPr marL="109537"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9165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6674" y="685800"/>
            <a:ext cx="8229600" cy="2743200"/>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calculate the variance of all the numerical variables in the given data. </a:t>
            </a:r>
          </a:p>
          <a:p>
            <a:pPr algn="just"/>
            <a:r>
              <a:rPr lang="en-US" dirty="0">
                <a:latin typeface="Times New Roman" panose="02020603050405020304" pitchFamily="18" charset="0"/>
                <a:cs typeface="Times New Roman" panose="02020603050405020304" pitchFamily="18" charset="0"/>
              </a:rPr>
              <a:t>Then drop the variables having low variance as compared to other variables in our dataset. </a:t>
            </a:r>
          </a:p>
          <a:p>
            <a:pPr marL="109537" indent="0" algn="just">
              <a:buNone/>
            </a:pPr>
            <a:r>
              <a:rPr lang="en-US" dirty="0">
                <a:latin typeface="Times New Roman" panose="02020603050405020304" pitchFamily="18" charset="0"/>
                <a:cs typeface="Times New Roman" panose="02020603050405020304" pitchFamily="18" charset="0"/>
              </a:rPr>
              <a:t>From below data, we can observe the variance of </a:t>
            </a:r>
            <a:r>
              <a:rPr lang="en-US" b="1" i="1" dirty="0" err="1">
                <a:solidFill>
                  <a:srgbClr val="C00000"/>
                </a:solidFill>
                <a:latin typeface="Times New Roman" panose="02020603050405020304" pitchFamily="18" charset="0"/>
                <a:cs typeface="Times New Roman" panose="02020603050405020304" pitchFamily="18" charset="0"/>
              </a:rPr>
              <a:t>Item_Visibility</a:t>
            </a:r>
            <a:r>
              <a:rPr lang="en-US" dirty="0">
                <a:latin typeface="Times New Roman" panose="02020603050405020304" pitchFamily="18" charset="0"/>
                <a:cs typeface="Times New Roman" panose="02020603050405020304" pitchFamily="18" charset="0"/>
              </a:rPr>
              <a:t> is very less as compared to the other variables. We can safely drop this column. </a:t>
            </a:r>
          </a:p>
        </p:txBody>
      </p:sp>
      <p:sp>
        <p:nvSpPr>
          <p:cNvPr id="3" name="Title 2"/>
          <p:cNvSpPr>
            <a:spLocks noGrp="1"/>
          </p:cNvSpPr>
          <p:nvPr>
            <p:ph type="title"/>
          </p:nvPr>
        </p:nvSpPr>
        <p:spPr>
          <a:xfrm>
            <a:off x="2362200" y="65631"/>
            <a:ext cx="3048000" cy="792162"/>
          </a:xfrm>
        </p:spPr>
        <p:txBody>
          <a:bodyPr>
            <a:normAutofit fontScale="90000"/>
          </a:bodyPr>
          <a:lstStyle/>
          <a:p>
            <a:br>
              <a:rPr lang="en-US" dirty="0">
                <a:solidFill>
                  <a:srgbClr val="002060"/>
                </a:solidFill>
                <a:latin typeface="Times New Roman" panose="02020603050405020304" pitchFamily="18" charset="0"/>
                <a:cs typeface="Times New Roman" panose="02020603050405020304" pitchFamily="18" charset="0"/>
              </a:rPr>
            </a:br>
            <a:r>
              <a:rPr lang="en-US" dirty="0">
                <a:solidFill>
                  <a:srgbClr val="002060"/>
                </a:solidFill>
                <a:latin typeface="Times New Roman" panose="02020603050405020304" pitchFamily="18" charset="0"/>
                <a:cs typeface="Times New Roman" panose="02020603050405020304" pitchFamily="18" charset="0"/>
              </a:rPr>
              <a:t>Low Variance</a:t>
            </a:r>
            <a:br>
              <a:rPr lang="en-US" dirty="0"/>
            </a:br>
            <a:endParaRPr lang="en-US" dirty="0"/>
          </a:p>
        </p:txBody>
      </p:sp>
      <p:pic>
        <p:nvPicPr>
          <p:cNvPr id="4" name="Picture 3"/>
          <p:cNvPicPr>
            <a:picLocks noChangeAspect="1"/>
          </p:cNvPicPr>
          <p:nvPr/>
        </p:nvPicPr>
        <p:blipFill rotWithShape="1">
          <a:blip r:embed="rId2"/>
          <a:srcRect l="2563" t="45834" r="48243" b="21874"/>
          <a:stretch/>
        </p:blipFill>
        <p:spPr>
          <a:xfrm>
            <a:off x="253903" y="3733800"/>
            <a:ext cx="8458200" cy="2883568"/>
          </a:xfrm>
          <a:prstGeom prst="rect">
            <a:avLst/>
          </a:prstGeom>
        </p:spPr>
      </p:pic>
    </p:spTree>
    <p:extLst>
      <p:ext uri="{BB962C8B-B14F-4D97-AF65-F5344CB8AC3E}">
        <p14:creationId xmlns:p14="http://schemas.microsoft.com/office/powerpoint/2010/main" val="1030216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fade">
                                      <p:cBhvr>
                                        <p:cTn id="18"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High correlation between two variables means they have similar trends and are likely to carry similar information.</a:t>
            </a:r>
          </a:p>
          <a:p>
            <a:pPr algn="just"/>
            <a:r>
              <a:rPr lang="en-US" dirty="0">
                <a:latin typeface="Times New Roman" panose="02020603050405020304" pitchFamily="18" charset="0"/>
                <a:cs typeface="Times New Roman" panose="02020603050405020304" pitchFamily="18" charset="0"/>
              </a:rPr>
              <a:t>We can calculate the correlation between independent numerical variables that are numerical in nature.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If the correlation coefficient crosses a certain threshold value, we can drop one of the variables.</a:t>
            </a:r>
          </a:p>
        </p:txBody>
      </p:sp>
      <p:sp>
        <p:nvSpPr>
          <p:cNvPr id="3" name="Title 2"/>
          <p:cNvSpPr>
            <a:spLocks noGrp="1"/>
          </p:cNvSpPr>
          <p:nvPr>
            <p:ph type="title"/>
          </p:nvPr>
        </p:nvSpPr>
        <p:spPr>
          <a:xfrm>
            <a:off x="457200" y="274638"/>
            <a:ext cx="8229600" cy="868362"/>
          </a:xfrm>
        </p:spPr>
        <p:txBody>
          <a:bodyPr>
            <a:normAutofit fontScale="90000"/>
          </a:bodyPr>
          <a:lstStyle/>
          <a:p>
            <a:br>
              <a:rPr lang="en-US" dirty="0"/>
            </a:br>
            <a:r>
              <a:rPr lang="en-US" dirty="0">
                <a:solidFill>
                  <a:srgbClr val="002060"/>
                </a:solidFill>
                <a:latin typeface="Times New Roman" panose="02020603050405020304" pitchFamily="18" charset="0"/>
                <a:cs typeface="Times New Roman" panose="02020603050405020304" pitchFamily="18" charset="0"/>
              </a:rPr>
              <a:t>High Correlation filter</a:t>
            </a:r>
            <a:br>
              <a:rPr lang="en-US" dirty="0">
                <a:solidFill>
                  <a:srgbClr val="002060"/>
                </a:solidFill>
                <a:latin typeface="Times New Roman" panose="02020603050405020304" pitchFamily="18" charset="0"/>
                <a:cs typeface="Times New Roman" panose="02020603050405020304" pitchFamily="18" charset="0"/>
              </a:rPr>
            </a:b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2845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 t="43038" r="36749" b="10975"/>
          <a:stretch/>
        </p:blipFill>
        <p:spPr>
          <a:xfrm>
            <a:off x="228600" y="1447800"/>
            <a:ext cx="8686800" cy="4449762"/>
          </a:xfrm>
          <a:prstGeom prst="rect">
            <a:avLst/>
          </a:prstGeom>
        </p:spPr>
      </p:pic>
      <p:sp>
        <p:nvSpPr>
          <p:cNvPr id="3" name="Title 2"/>
          <p:cNvSpPr>
            <a:spLocks noGrp="1"/>
          </p:cNvSpPr>
          <p:nvPr>
            <p:ph type="title"/>
          </p:nvPr>
        </p:nvSpPr>
        <p:spPr>
          <a:xfrm>
            <a:off x="457200" y="274638"/>
            <a:ext cx="8229600" cy="1143000"/>
          </a:xfrm>
        </p:spPr>
        <p:txBody>
          <a:bodyPr>
            <a:normAutofit fontScale="90000"/>
          </a:bodyPr>
          <a:lstStyle/>
          <a:p>
            <a:r>
              <a:rPr lang="en-US" sz="2800" b="0" dirty="0">
                <a:latin typeface="Times New Roman" panose="02020603050405020304" pitchFamily="18" charset="0"/>
                <a:cs typeface="Times New Roman" panose="02020603050405020304" pitchFamily="18" charset="0"/>
              </a:rPr>
              <a:t>Here we don’t have any variables with a high correlation(pair of variables is greater than 0.5-0.6) in our dataset.</a:t>
            </a:r>
          </a:p>
        </p:txBody>
      </p:sp>
    </p:spTree>
    <p:extLst>
      <p:ext uri="{BB962C8B-B14F-4D97-AF65-F5344CB8AC3E}">
        <p14:creationId xmlns:p14="http://schemas.microsoft.com/office/powerpoint/2010/main" val="1344023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8811" y="737936"/>
            <a:ext cx="8229600" cy="2233863"/>
          </a:xfrm>
        </p:spPr>
        <p:txBody>
          <a:bodyPr/>
          <a:lstStyle/>
          <a:p>
            <a:pPr algn="just"/>
            <a:r>
              <a:rPr lang="en-US" dirty="0">
                <a:latin typeface="Times New Roman" panose="02020603050405020304" pitchFamily="18" charset="0"/>
                <a:cs typeface="Times New Roman" panose="02020603050405020304" pitchFamily="18" charset="0"/>
              </a:rPr>
              <a:t>We need to convert the data into numeric form by applying one hot encoding, as Random Forest (</a:t>
            </a:r>
            <a:r>
              <a:rPr lang="en-US" dirty="0" err="1">
                <a:latin typeface="Times New Roman" panose="02020603050405020304" pitchFamily="18" charset="0"/>
                <a:cs typeface="Times New Roman" panose="02020603050405020304" pitchFamily="18" charset="0"/>
              </a:rPr>
              <a:t>Scikit</a:t>
            </a:r>
            <a:r>
              <a:rPr lang="en-US" dirty="0">
                <a:latin typeface="Times New Roman" panose="02020603050405020304" pitchFamily="18" charset="0"/>
                <a:cs typeface="Times New Roman" panose="02020603050405020304" pitchFamily="18" charset="0"/>
              </a:rPr>
              <a:t>-Learn Implementation) takes only numeric inputs.</a:t>
            </a:r>
          </a:p>
        </p:txBody>
      </p:sp>
      <p:sp>
        <p:nvSpPr>
          <p:cNvPr id="3" name="Title 2"/>
          <p:cNvSpPr>
            <a:spLocks noGrp="1"/>
          </p:cNvSpPr>
          <p:nvPr>
            <p:ph type="title"/>
          </p:nvPr>
        </p:nvSpPr>
        <p:spPr>
          <a:xfrm>
            <a:off x="385011" y="16042"/>
            <a:ext cx="4038600" cy="762000"/>
          </a:xfrm>
        </p:spPr>
        <p:txBody>
          <a:bodyPr/>
          <a:lstStyle/>
          <a:p>
            <a:r>
              <a:rPr lang="en-US" dirty="0">
                <a:latin typeface="Times New Roman" panose="02020603050405020304" pitchFamily="18" charset="0"/>
                <a:cs typeface="Times New Roman" panose="02020603050405020304" pitchFamily="18" charset="0"/>
              </a:rPr>
              <a:t>Random Forest</a:t>
            </a:r>
          </a:p>
        </p:txBody>
      </p:sp>
      <p:pic>
        <p:nvPicPr>
          <p:cNvPr id="4" name="Picture 3"/>
          <p:cNvPicPr>
            <a:picLocks noChangeAspect="1"/>
          </p:cNvPicPr>
          <p:nvPr/>
        </p:nvPicPr>
        <p:blipFill rotWithShape="1">
          <a:blip r:embed="rId2"/>
          <a:srcRect l="7835" t="35417" r="42970" b="14584"/>
          <a:stretch/>
        </p:blipFill>
        <p:spPr>
          <a:xfrm>
            <a:off x="326822" y="2438400"/>
            <a:ext cx="8382000" cy="4038600"/>
          </a:xfrm>
          <a:prstGeom prst="rect">
            <a:avLst/>
          </a:prstGeom>
        </p:spPr>
      </p:pic>
    </p:spTree>
    <p:extLst>
      <p:ext uri="{BB962C8B-B14F-4D97-AF65-F5344CB8AC3E}">
        <p14:creationId xmlns:p14="http://schemas.microsoft.com/office/powerpoint/2010/main" val="38896610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we can hand pick the top-most features to reduce the dimensionality in our dataset.</a:t>
            </a:r>
          </a:p>
          <a:p>
            <a:endParaRPr lang="en-US" b="1" dirty="0"/>
          </a:p>
          <a:p>
            <a:r>
              <a:rPr lang="en-US" b="1" dirty="0">
                <a:latin typeface="Times New Roman" panose="02020603050405020304" pitchFamily="18" charset="0"/>
                <a:cs typeface="Times New Roman" panose="02020603050405020304" pitchFamily="18" charset="0"/>
              </a:rPr>
              <a:t>we can use the </a:t>
            </a:r>
            <a:r>
              <a:rPr lang="en-US" b="1" i="1" dirty="0" err="1">
                <a:latin typeface="Times New Roman" panose="02020603050405020304" pitchFamily="18" charset="0"/>
                <a:cs typeface="Times New Roman" panose="02020603050405020304" pitchFamily="18" charset="0"/>
              </a:rPr>
              <a:t>SelectFromModel</a:t>
            </a:r>
            <a:r>
              <a:rPr lang="en-US" b="1" dirty="0">
                <a:latin typeface="Times New Roman" panose="02020603050405020304" pitchFamily="18" charset="0"/>
                <a:cs typeface="Times New Roman" panose="02020603050405020304" pitchFamily="18" charset="0"/>
              </a:rPr>
              <a:t> of </a:t>
            </a:r>
            <a:r>
              <a:rPr lang="en-US" b="1" i="1" dirty="0" err="1">
                <a:latin typeface="Times New Roman" panose="02020603050405020304" pitchFamily="18" charset="0"/>
                <a:cs typeface="Times New Roman" panose="02020603050405020304" pitchFamily="18" charset="0"/>
              </a:rPr>
              <a:t>sklearn</a:t>
            </a:r>
            <a:r>
              <a:rPr lang="en-US" b="1" dirty="0">
                <a:latin typeface="Times New Roman" panose="02020603050405020304" pitchFamily="18" charset="0"/>
                <a:cs typeface="Times New Roman" panose="02020603050405020304" pitchFamily="18" charset="0"/>
              </a:rPr>
              <a:t> to do so</a:t>
            </a:r>
            <a:r>
              <a:rPr lang="en-US" dirty="0">
                <a:latin typeface="Times New Roman" panose="02020603050405020304" pitchFamily="18" charset="0"/>
                <a:cs typeface="Times New Roman" panose="02020603050405020304" pitchFamily="18" charset="0"/>
              </a:rPr>
              <a:t>. It selects the features based on the importance of their weights.</a:t>
            </a:r>
          </a:p>
        </p:txBody>
      </p:sp>
      <p:sp>
        <p:nvSpPr>
          <p:cNvPr id="5" name="Title 2"/>
          <p:cNvSpPr>
            <a:spLocks noGrp="1"/>
          </p:cNvSpPr>
          <p:nvPr>
            <p:ph type="title"/>
          </p:nvPr>
        </p:nvSpPr>
        <p:spPr>
          <a:xfrm>
            <a:off x="457200" y="457200"/>
            <a:ext cx="4038600" cy="762000"/>
          </a:xfrm>
        </p:spPr>
        <p:txBody>
          <a:bodyPr/>
          <a:lstStyle/>
          <a:p>
            <a:r>
              <a:rPr lang="en-US" dirty="0">
                <a:latin typeface="Times New Roman" panose="02020603050405020304" pitchFamily="18" charset="0"/>
                <a:cs typeface="Times New Roman" panose="02020603050405020304" pitchFamily="18" charset="0"/>
              </a:rPr>
              <a:t>Random Forest</a:t>
            </a:r>
          </a:p>
        </p:txBody>
      </p:sp>
    </p:spTree>
    <p:extLst>
      <p:ext uri="{BB962C8B-B14F-4D97-AF65-F5344CB8AC3E}">
        <p14:creationId xmlns:p14="http://schemas.microsoft.com/office/powerpoint/2010/main" val="1978230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8248E1-42F7-9040-046C-50F71AC9D0CE}"/>
              </a:ext>
            </a:extLst>
          </p:cNvPr>
          <p:cNvSpPr>
            <a:spLocks noGrp="1"/>
          </p:cNvSpPr>
          <p:nvPr>
            <p:ph idx="1"/>
          </p:nvPr>
        </p:nvSpPr>
        <p:spPr>
          <a:xfrm>
            <a:off x="457200" y="1481138"/>
            <a:ext cx="8229600" cy="1719262"/>
          </a:xfrm>
        </p:spPr>
        <p:txBody>
          <a:bodyPr/>
          <a:lstStyle/>
          <a:p>
            <a:pPr marL="109537" indent="0" algn="ctr">
              <a:buNone/>
            </a:pPr>
            <a:r>
              <a:rPr lang="en-IN" sz="3200" b="1" dirty="0">
                <a:latin typeface="Times New Roman" panose="02020603050405020304" pitchFamily="18" charset="0"/>
                <a:cs typeface="Times New Roman" panose="02020603050405020304" pitchFamily="18" charset="0"/>
              </a:rPr>
              <a:t>Data Pre-processing(continued ……)</a:t>
            </a:r>
          </a:p>
          <a:p>
            <a:pPr marL="109537" indent="0" algn="ctr">
              <a:buNone/>
            </a:pPr>
            <a:r>
              <a:rPr lang="en-IN" sz="3200" b="1" dirty="0">
                <a:latin typeface="Times New Roman" panose="02020603050405020304" pitchFamily="18" charset="0"/>
                <a:cs typeface="Times New Roman" panose="02020603050405020304" pitchFamily="18" charset="0"/>
              </a:rPr>
              <a:t>Dimensionality reduction, Data modeling</a:t>
            </a:r>
          </a:p>
          <a:p>
            <a:pPr algn="ct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6378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990600"/>
            <a:ext cx="8534400" cy="5715000"/>
          </a:xfrm>
        </p:spPr>
        <p:txBody>
          <a:bodyPr/>
          <a:lstStyle/>
          <a:p>
            <a:pPr marL="623887" indent="-514350" algn="just">
              <a:buFont typeface="+mj-lt"/>
              <a:buAutoNum type="arabicPeriod"/>
            </a:pPr>
            <a:r>
              <a:rPr lang="en-US" dirty="0">
                <a:latin typeface="Times New Roman" panose="02020603050405020304" pitchFamily="18" charset="0"/>
                <a:cs typeface="Times New Roman" panose="02020603050405020304" pitchFamily="18" charset="0"/>
              </a:rPr>
              <a:t>We first take all the n variables present in our dataset and train the model using them.</a:t>
            </a:r>
          </a:p>
          <a:p>
            <a:pPr marL="623887" indent="-514350" algn="just">
              <a:buFont typeface="+mj-lt"/>
              <a:buAutoNum type="arabicPeriod"/>
            </a:pPr>
            <a:r>
              <a:rPr lang="en-US" dirty="0">
                <a:latin typeface="Times New Roman" panose="02020603050405020304" pitchFamily="18" charset="0"/>
                <a:cs typeface="Times New Roman" panose="02020603050405020304" pitchFamily="18" charset="0"/>
              </a:rPr>
              <a:t>We then calculate the performance of the model.</a:t>
            </a:r>
          </a:p>
          <a:p>
            <a:pPr marL="623887" indent="-514350" algn="just">
              <a:buFont typeface="+mj-lt"/>
              <a:buAutoNum type="arabicPeriod"/>
            </a:pPr>
            <a:r>
              <a:rPr lang="en-US" dirty="0">
                <a:latin typeface="Times New Roman" panose="02020603050405020304" pitchFamily="18" charset="0"/>
                <a:cs typeface="Times New Roman" panose="02020603050405020304" pitchFamily="18" charset="0"/>
              </a:rPr>
              <a:t>Now, we compute the performance of the model after eliminating each variable (n times), i.e., we drop one variable every time and train the model on the remaining n-1 variables.</a:t>
            </a:r>
          </a:p>
          <a:p>
            <a:pPr marL="623887" indent="-514350" algn="just">
              <a:buFont typeface="+mj-lt"/>
              <a:buAutoNum type="arabicPeriod"/>
            </a:pPr>
            <a:r>
              <a:rPr lang="en-US" dirty="0">
                <a:latin typeface="Times New Roman" panose="02020603050405020304" pitchFamily="18" charset="0"/>
                <a:cs typeface="Times New Roman" panose="02020603050405020304" pitchFamily="18" charset="0"/>
              </a:rPr>
              <a:t>We identify the variable whose removal has produced the smallest (or no) change in the performance of the model, and then drop that variable</a:t>
            </a:r>
          </a:p>
          <a:p>
            <a:pPr marL="623887" indent="-514350" algn="just">
              <a:buFont typeface="+mj-lt"/>
              <a:buAutoNum type="arabicPeriod"/>
            </a:pPr>
            <a:r>
              <a:rPr lang="en-US" dirty="0">
                <a:latin typeface="Times New Roman" panose="02020603050405020304" pitchFamily="18" charset="0"/>
                <a:cs typeface="Times New Roman" panose="02020603050405020304" pitchFamily="18" charset="0"/>
              </a:rPr>
              <a:t>Repeat this process until no variable can be dropped.</a:t>
            </a:r>
          </a:p>
          <a:p>
            <a:pPr marL="623887" indent="-514350" algn="just">
              <a:buFont typeface="+mj-lt"/>
              <a:buAutoNum type="arabicPeriod"/>
            </a:pPr>
            <a:r>
              <a:rPr lang="en-US" b="1" dirty="0">
                <a:latin typeface="Times New Roman" panose="02020603050405020304" pitchFamily="18" charset="0"/>
                <a:cs typeface="Times New Roman" panose="02020603050405020304" pitchFamily="18" charset="0"/>
              </a:rPr>
              <a:t>This method can be used when building Linear Regression or Logistic Regression models.</a:t>
            </a:r>
            <a:endParaRPr lang="en-US" dirty="0">
              <a:latin typeface="Times New Roman" panose="02020603050405020304" pitchFamily="18" charset="0"/>
              <a:cs typeface="Times New Roman" panose="02020603050405020304" pitchFamily="18" charset="0"/>
            </a:endParaRPr>
          </a:p>
          <a:p>
            <a:pPr marL="623887" indent="-514350">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457200" y="304800"/>
            <a:ext cx="8229600" cy="808038"/>
          </a:xfrm>
        </p:spPr>
        <p:txBody>
          <a:bodyPr>
            <a:noAutofit/>
          </a:bodyPr>
          <a:lstStyle/>
          <a:p>
            <a:pPr algn="ctr"/>
            <a:r>
              <a:rPr lang="en-US" sz="3600" dirty="0">
                <a:latin typeface="Times New Roman" pitchFamily="18" charset="0"/>
                <a:cs typeface="Times New Roman" pitchFamily="18" charset="0"/>
              </a:rPr>
              <a:t>Backward Feature Elimination</a:t>
            </a:r>
          </a:p>
        </p:txBody>
      </p:sp>
    </p:spTree>
    <p:extLst>
      <p:ext uri="{BB962C8B-B14F-4D97-AF65-F5344CB8AC3E}">
        <p14:creationId xmlns:p14="http://schemas.microsoft.com/office/powerpoint/2010/main" val="741333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33137" y="950494"/>
            <a:ext cx="8229600" cy="5374105"/>
          </a:xfrm>
        </p:spPr>
        <p:txBody>
          <a:bodyPr/>
          <a:lstStyle/>
          <a:p>
            <a:r>
              <a:rPr lang="en-US" dirty="0">
                <a:latin typeface="Times New Roman" panose="02020603050405020304" pitchFamily="18" charset="0"/>
                <a:cs typeface="Times New Roman" panose="02020603050405020304" pitchFamily="18" charset="0"/>
              </a:rPr>
              <a:t>We start with a single feature. Essentially, we train the model n number of times using each feature separately</a:t>
            </a:r>
          </a:p>
          <a:p>
            <a:r>
              <a:rPr lang="en-US" dirty="0">
                <a:latin typeface="Times New Roman" panose="02020603050405020304" pitchFamily="18" charset="0"/>
                <a:cs typeface="Times New Roman" panose="02020603050405020304" pitchFamily="18" charset="0"/>
              </a:rPr>
              <a:t>The variable giving the best performance is selected as the starting variable</a:t>
            </a:r>
          </a:p>
          <a:p>
            <a:r>
              <a:rPr lang="en-US" dirty="0">
                <a:latin typeface="Times New Roman" panose="02020603050405020304" pitchFamily="18" charset="0"/>
                <a:cs typeface="Times New Roman" panose="02020603050405020304" pitchFamily="18" charset="0"/>
              </a:rPr>
              <a:t>Then we repeat this process and add one variable at a time. The variable that produces the highest increase in performance is retained</a:t>
            </a:r>
          </a:p>
          <a:p>
            <a:r>
              <a:rPr lang="en-US" dirty="0">
                <a:latin typeface="Times New Roman" panose="02020603050405020304" pitchFamily="18" charset="0"/>
                <a:cs typeface="Times New Roman" panose="02020603050405020304" pitchFamily="18" charset="0"/>
              </a:rPr>
              <a:t>We repeat this process until no significant improvement is seen in the model’s performance.</a:t>
            </a:r>
          </a:p>
          <a:p>
            <a:r>
              <a:rPr lang="en-US" b="1" dirty="0">
                <a:latin typeface="Times New Roman" panose="02020603050405020304" pitchFamily="18" charset="0"/>
                <a:cs typeface="Times New Roman" panose="02020603050405020304" pitchFamily="18" charset="0"/>
              </a:rPr>
              <a:t>NOTE</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Both Backward Feature Elimination and Forward Feature Selection are time consuming and computationally expensive</a:t>
            </a:r>
            <a:r>
              <a:rPr lang="en-US" dirty="0">
                <a:latin typeface="Times New Roman" panose="02020603050405020304" pitchFamily="18" charset="0"/>
                <a:cs typeface="Times New Roman" panose="02020603050405020304" pitchFamily="18" charset="0"/>
              </a:rPr>
              <a:t>.</a:t>
            </a:r>
          </a:p>
          <a:p>
            <a:endParaRPr lang="en-US" dirty="0"/>
          </a:p>
        </p:txBody>
      </p:sp>
      <p:sp>
        <p:nvSpPr>
          <p:cNvPr id="3" name="Title 2"/>
          <p:cNvSpPr>
            <a:spLocks noGrp="1"/>
          </p:cNvSpPr>
          <p:nvPr>
            <p:ph type="title"/>
          </p:nvPr>
        </p:nvSpPr>
        <p:spPr>
          <a:xfrm>
            <a:off x="457200" y="274638"/>
            <a:ext cx="5562600" cy="639762"/>
          </a:xfrm>
        </p:spPr>
        <p:txBody>
          <a:bodyPr>
            <a:normAutofit fontScale="90000"/>
          </a:bodyPr>
          <a:lstStyle/>
          <a:p>
            <a:br>
              <a:rPr lang="en-US" dirty="0">
                <a:solidFill>
                  <a:srgbClr val="002060"/>
                </a:solidFill>
                <a:latin typeface="Times New Roman" panose="02020603050405020304" pitchFamily="18" charset="0"/>
                <a:cs typeface="Times New Roman" panose="02020603050405020304" pitchFamily="18" charset="0"/>
              </a:rPr>
            </a:br>
            <a:r>
              <a:rPr lang="en-US" dirty="0">
                <a:solidFill>
                  <a:srgbClr val="002060"/>
                </a:solidFill>
                <a:latin typeface="Times New Roman" panose="02020603050405020304" pitchFamily="18" charset="0"/>
                <a:cs typeface="Times New Roman" panose="02020603050405020304" pitchFamily="18" charset="0"/>
              </a:rPr>
              <a:t>Forward Feature Selection</a:t>
            </a:r>
            <a:br>
              <a:rPr lang="en-US" dirty="0"/>
            </a:br>
            <a:endParaRPr lang="en-US" dirty="0"/>
          </a:p>
        </p:txBody>
      </p:sp>
    </p:spTree>
    <p:extLst>
      <p:ext uri="{BB962C8B-B14F-4D97-AF65-F5344CB8AC3E}">
        <p14:creationId xmlns:p14="http://schemas.microsoft.com/office/powerpoint/2010/main" val="5005739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 the Factor Analysis technique, variables are grouped by their correlations, i.e., all variables in a particular group will have a high correlation among themselves, but a low correlation with variables of other group(s).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Here, each group is known as a factor.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These factors are small in number as compared to the original dimensions of the data. However, these factors are difficult to observe.</a:t>
            </a:r>
          </a:p>
        </p:txBody>
      </p:sp>
      <p:sp>
        <p:nvSpPr>
          <p:cNvPr id="3" name="Title 2"/>
          <p:cNvSpPr>
            <a:spLocks noGrp="1"/>
          </p:cNvSpPr>
          <p:nvPr>
            <p:ph type="title"/>
          </p:nvPr>
        </p:nvSpPr>
        <p:spPr>
          <a:xfrm>
            <a:off x="457200" y="274638"/>
            <a:ext cx="3886200" cy="792162"/>
          </a:xfrm>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dirty="0">
                <a:solidFill>
                  <a:srgbClr val="002060"/>
                </a:solidFill>
                <a:latin typeface="Times New Roman" panose="02020603050405020304" pitchFamily="18" charset="0"/>
                <a:cs typeface="Times New Roman" panose="02020603050405020304" pitchFamily="18" charset="0"/>
              </a:rPr>
              <a:t>Factor Analysis</a:t>
            </a:r>
            <a:br>
              <a:rPr lang="en-US" dirty="0"/>
            </a:br>
            <a:endParaRPr lang="en-US" dirty="0"/>
          </a:p>
        </p:txBody>
      </p:sp>
    </p:spTree>
    <p:extLst>
      <p:ext uri="{BB962C8B-B14F-4D97-AF65-F5344CB8AC3E}">
        <p14:creationId xmlns:p14="http://schemas.microsoft.com/office/powerpoint/2010/main" val="2225028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Principal Component Analysis (PCA) is a method of extracting important variables (in form of components) from a large set of variables available in a data set.</a:t>
            </a:r>
          </a:p>
          <a:p>
            <a:pPr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PCA is more useful when dealing with 3 or higher dimensional data.</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is always performed on a symmetric correlation or covariance matrix. This means the matrix should be numeric and have standardized data.</a:t>
            </a:r>
          </a:p>
        </p:txBody>
      </p:sp>
      <p:sp>
        <p:nvSpPr>
          <p:cNvPr id="3" name="Title 2"/>
          <p:cNvSpPr>
            <a:spLocks noGrp="1"/>
          </p:cNvSpPr>
          <p:nvPr>
            <p:ph type="title"/>
          </p:nvPr>
        </p:nvSpPr>
        <p:spPr/>
        <p:txBody>
          <a:bodyPr/>
          <a:lstStyle/>
          <a:p>
            <a:r>
              <a:rPr lang="en-US" dirty="0">
                <a:solidFill>
                  <a:srgbClr val="002060"/>
                </a:solidFill>
                <a:latin typeface="Times New Roman" panose="02020603050405020304" pitchFamily="18" charset="0"/>
                <a:cs typeface="Times New Roman" panose="02020603050405020304" pitchFamily="18" charset="0"/>
              </a:rPr>
              <a:t>Principal Component Analysis</a:t>
            </a:r>
          </a:p>
        </p:txBody>
      </p:sp>
    </p:spTree>
    <p:extLst>
      <p:ext uri="{BB962C8B-B14F-4D97-AF65-F5344CB8AC3E}">
        <p14:creationId xmlns:p14="http://schemas.microsoft.com/office/powerpoint/2010/main" val="3210986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725" t="32936" r="35802" b="19922"/>
          <a:stretch/>
        </p:blipFill>
        <p:spPr>
          <a:xfrm>
            <a:off x="304800" y="1905000"/>
            <a:ext cx="8382000" cy="4648200"/>
          </a:xfrm>
          <a:prstGeom prst="rect">
            <a:avLst/>
          </a:prstGeom>
        </p:spPr>
      </p:pic>
      <p:sp>
        <p:nvSpPr>
          <p:cNvPr id="3" name="Title 2"/>
          <p:cNvSpPr>
            <a:spLocks noGrp="1"/>
          </p:cNvSpPr>
          <p:nvPr>
            <p:ph type="title"/>
          </p:nvPr>
        </p:nvSpPr>
        <p:spPr>
          <a:xfrm>
            <a:off x="457200" y="274638"/>
            <a:ext cx="8229600" cy="1630362"/>
          </a:xfrm>
        </p:spPr>
        <p:txBody>
          <a:bodyPr>
            <a:noAutofit/>
          </a:bodyPr>
          <a:lstStyle/>
          <a:p>
            <a:r>
              <a:rPr lang="en-US" sz="2400" dirty="0">
                <a:solidFill>
                  <a:srgbClr val="002060"/>
                </a:solidFill>
                <a:latin typeface="Times New Roman" panose="02020603050405020304" pitchFamily="18" charset="0"/>
                <a:cs typeface="Times New Roman" panose="02020603050405020304" pitchFamily="18" charset="0"/>
              </a:rPr>
              <a:t>The image below shows the transformation of a high dimensional data (3 dimension) to low dimensional data (2 dimension) using PCA. Not to forget, each resultant dimension is a linear combination of </a:t>
            </a:r>
            <a:r>
              <a:rPr lang="en-US" sz="2400" i="1" dirty="0">
                <a:solidFill>
                  <a:srgbClr val="002060"/>
                </a:solidFill>
                <a:latin typeface="Times New Roman" panose="02020603050405020304" pitchFamily="18" charset="0"/>
                <a:cs typeface="Times New Roman" panose="02020603050405020304" pitchFamily="18" charset="0"/>
              </a:rPr>
              <a:t>p (here p=3)</a:t>
            </a:r>
            <a:r>
              <a:rPr lang="en-US" sz="2400" dirty="0">
                <a:solidFill>
                  <a:srgbClr val="002060"/>
                </a:solidFill>
                <a:latin typeface="Times New Roman" panose="02020603050405020304" pitchFamily="18" charset="0"/>
                <a:cs typeface="Times New Roman" panose="02020603050405020304" pitchFamily="18" charset="0"/>
              </a:rPr>
              <a:t> features.</a:t>
            </a:r>
          </a:p>
        </p:txBody>
      </p:sp>
    </p:spTree>
    <p:extLst>
      <p:ext uri="{BB962C8B-B14F-4D97-AF65-F5344CB8AC3E}">
        <p14:creationId xmlns:p14="http://schemas.microsoft.com/office/powerpoint/2010/main" val="23884246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First principal component</a:t>
                </a:r>
                <a:r>
                  <a:rPr lang="en-US" dirty="0">
                    <a:latin typeface="Times New Roman" panose="02020603050405020304" pitchFamily="18" charset="0"/>
                    <a:cs typeface="Times New Roman" panose="02020603050405020304" pitchFamily="18" charset="0"/>
                  </a:rPr>
                  <a:t> is a linear combination of original predictor variables which captures the maximum variance in the data set. </a:t>
                </a:r>
              </a:p>
              <a:p>
                <a:pPr algn="just"/>
                <a:r>
                  <a:rPr lang="en-US" dirty="0">
                    <a:latin typeface="Times New Roman" panose="02020603050405020304" pitchFamily="18" charset="0"/>
                    <a:cs typeface="Times New Roman" panose="02020603050405020304" pitchFamily="18" charset="0"/>
                  </a:rPr>
                  <a:t>It determines the direction of highest variability in the data.</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r>
                          <m:rPr>
                            <m:sty m:val="p"/>
                          </m:rPr>
                          <a:rPr lang="en-US" sz="2400" b="0" i="0" smtClean="0">
                            <a:latin typeface="Cambria Math" panose="02040503050406030204" pitchFamily="18" charset="0"/>
                            <a:cs typeface="Times New Roman" panose="02020603050405020304" pitchFamily="18" charset="0"/>
                          </a:rPr>
                          <m:t>Let</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the</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variables</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be</m:t>
                        </m:r>
                        <m:r>
                          <a:rPr lang="en-US" sz="2400" b="0" i="0" smtClean="0">
                            <a:latin typeface="Cambria Math" panose="02040503050406030204" pitchFamily="18" charset="0"/>
                            <a:cs typeface="Times New Roman" panose="02020603050405020304" pitchFamily="18" charset="0"/>
                          </a:rPr>
                          <m:t> </m:t>
                        </m:r>
                        <m:r>
                          <a:rPr lang="en-US" sz="2400" i="1">
                            <a:latin typeface="Cambria Math" panose="02040503050406030204" pitchFamily="18" charset="0"/>
                            <a:cs typeface="Times New Roman" panose="02020603050405020304" pitchFamily="18" charset="0"/>
                          </a:rPr>
                          <m:t>𝑥</m:t>
                        </m:r>
                      </m:e>
                      <m:sup>
                        <m:r>
                          <a:rPr lang="en-US" sz="2400" i="1">
                            <a:latin typeface="Cambria Math" panose="02040503050406030204" pitchFamily="18" charset="0"/>
                            <a:cs typeface="Times New Roman" panose="02020603050405020304" pitchFamily="18" charset="0"/>
                          </a:rPr>
                          <m:t>1</m:t>
                        </m:r>
                      </m:sup>
                    </m:sSup>
                  </m:oMath>
                </a14:m>
                <a:r>
                  <a:rPr lang="en-US" altLang="en-US" sz="2400" dirty="0">
                    <a:latin typeface="Arial Unicode MS" panose="020B0604020202020204" pitchFamily="34" charset="-128"/>
                  </a:rPr>
                  <a:t>, </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cs typeface="Times New Roman" panose="02020603050405020304" pitchFamily="18" charset="0"/>
                          </a:rPr>
                          <m:t>𝑥</m:t>
                        </m:r>
                      </m:e>
                      <m:sup>
                        <m:r>
                          <a:rPr lang="en-US" sz="2400" i="1">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m:t>
                    </m:r>
                    <m:sSup>
                      <m:sSupPr>
                        <m:ctrlPr>
                          <a:rPr lang="en-US" sz="2400" i="1">
                            <a:latin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cs typeface="Times New Roman" panose="02020603050405020304" pitchFamily="18" charset="0"/>
                          </a:rPr>
                          <m:t>𝑥</m:t>
                        </m:r>
                      </m:e>
                      <m:sup>
                        <m:r>
                          <a:rPr lang="en-US" sz="2400" i="1">
                            <a:latin typeface="Cambria Math" panose="02040503050406030204" pitchFamily="18" charset="0"/>
                            <a:cs typeface="Times New Roman" panose="02020603050405020304" pitchFamily="18" charset="0"/>
                          </a:rPr>
                          <m:t>𝑝</m:t>
                        </m:r>
                      </m:sup>
                    </m:sSup>
                  </m:oMath>
                </a14:m>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altLang="en-US" sz="2800" dirty="0">
                    <a:latin typeface="Times New Roman" panose="02020603050405020304" pitchFamily="18" charset="0"/>
                    <a:cs typeface="Times New Roman" panose="02020603050405020304" pitchFamily="18" charset="0"/>
                  </a:rPr>
                  <a:t>Z¹</a:t>
                </a:r>
                <a14:m>
                  <m:oMath xmlns:m="http://schemas.openxmlformats.org/officeDocument/2006/math">
                    <m:r>
                      <a:rPr lang="en-US" i="1">
                        <a:latin typeface="Cambria Math" panose="02040503050406030204" pitchFamily="18" charset="0"/>
                        <a:cs typeface="Times New Roman" panose="02020603050405020304" pitchFamily="18" charset="0"/>
                      </a:rPr>
                      <m:t>=</m:t>
                    </m:r>
                    <m:sSup>
                      <m:sSupPr>
                        <m:ctrlPr>
                          <a:rPr lang="en-US" i="1">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𝑎</m:t>
                        </m:r>
                      </m:e>
                      <m:sup>
                        <m:r>
                          <a:rPr lang="en-US" b="0" i="1" smtClean="0">
                            <a:latin typeface="Cambria Math" panose="02040503050406030204" pitchFamily="18" charset="0"/>
                            <a:cs typeface="Times New Roman" panose="02020603050405020304" pitchFamily="18" charset="0"/>
                          </a:rPr>
                          <m:t>11</m:t>
                        </m:r>
                      </m:sup>
                    </m:sSup>
                    <m:sSup>
                      <m:sSupPr>
                        <m:ctrlPr>
                          <a:rPr lang="en-US" sz="2800" i="1">
                            <a:latin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cs typeface="Times New Roman" panose="02020603050405020304" pitchFamily="18" charset="0"/>
                          </a:rPr>
                          <m:t>𝑥</m:t>
                        </m:r>
                      </m:e>
                      <m:sup>
                        <m:r>
                          <a:rPr lang="en-US" sz="2800" b="0" i="1" smtClean="0">
                            <a:latin typeface="Cambria Math" panose="02040503050406030204" pitchFamily="18" charset="0"/>
                            <a:cs typeface="Times New Roman" panose="02020603050405020304" pitchFamily="18" charset="0"/>
                          </a:rPr>
                          <m:t>1</m:t>
                        </m:r>
                      </m:sup>
                    </m:sSup>
                  </m:oMath>
                </a14:m>
                <a:r>
                  <a:rPr lang="en-US" altLang="en-US" sz="2800" dirty="0">
                    <a:latin typeface="Arial Unicode MS" panose="020B0604020202020204" pitchFamily="34" charset="-128"/>
                  </a:rPr>
                  <a:t>+</a:t>
                </a:r>
                <a14:m>
                  <m:oMath xmlns:m="http://schemas.openxmlformats.org/officeDocument/2006/math">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𝑎</m:t>
                        </m:r>
                      </m:e>
                      <m:sup>
                        <m:r>
                          <a:rPr lang="en-US" b="0" i="1" smtClean="0">
                            <a:latin typeface="Cambria Math" panose="02040503050406030204" pitchFamily="18" charset="0"/>
                            <a:cs typeface="Times New Roman" panose="02020603050405020304" pitchFamily="18" charset="0"/>
                          </a:rPr>
                          <m:t>2</m:t>
                        </m:r>
                        <m:r>
                          <a:rPr lang="en-US" i="1">
                            <a:latin typeface="Cambria Math" panose="02040503050406030204" pitchFamily="18" charset="0"/>
                            <a:cs typeface="Times New Roman" panose="02020603050405020304" pitchFamily="18" charset="0"/>
                          </a:rPr>
                          <m:t>1</m:t>
                        </m:r>
                      </m:sup>
                    </m:sSup>
                    <m:sSup>
                      <m:sSupPr>
                        <m:ctrlPr>
                          <a:rPr lang="en-US" sz="2800" i="1">
                            <a:latin typeface="Cambria Math" panose="02040503050406030204" pitchFamily="18" charset="0"/>
                            <a:cs typeface="Times New Roman" panose="02020603050405020304" pitchFamily="18" charset="0"/>
                          </a:rPr>
                        </m:ctrlPr>
                      </m:sSupPr>
                      <m:e>
                        <m:r>
                          <a:rPr lang="en-US" sz="2800" b="0" i="1" smtClean="0">
                            <a:latin typeface="Cambria Math" panose="02040503050406030204" pitchFamily="18" charset="0"/>
                            <a:cs typeface="Times New Roman" panose="02020603050405020304" pitchFamily="18" charset="0"/>
                          </a:rPr>
                          <m:t>𝑥</m:t>
                        </m:r>
                      </m:e>
                      <m:sup>
                        <m:r>
                          <a:rPr lang="en-US" sz="2800" b="0" i="1" smtClean="0">
                            <a:latin typeface="Cambria Math" panose="02040503050406030204" pitchFamily="18" charset="0"/>
                            <a:cs typeface="Times New Roman" panose="02020603050405020304" pitchFamily="18" charset="0"/>
                          </a:rPr>
                          <m:t>2</m:t>
                        </m:r>
                      </m:sup>
                    </m:sSup>
                  </m:oMath>
                </a14:m>
                <a:r>
                  <a:rPr lang="en-US"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𝑎</m:t>
                        </m:r>
                      </m:e>
                      <m:sup>
                        <m:r>
                          <a:rPr lang="en-US" b="0" i="1" smtClean="0">
                            <a:latin typeface="Cambria Math" panose="02040503050406030204" pitchFamily="18" charset="0"/>
                            <a:cs typeface="Times New Roman" panose="02020603050405020304" pitchFamily="18" charset="0"/>
                          </a:rPr>
                          <m:t>𝑝</m:t>
                        </m:r>
                        <m:r>
                          <a:rPr lang="en-US" i="1">
                            <a:latin typeface="Cambria Math" panose="02040503050406030204" pitchFamily="18" charset="0"/>
                            <a:cs typeface="Times New Roman" panose="02020603050405020304" pitchFamily="18" charset="0"/>
                          </a:rPr>
                          <m:t>1</m:t>
                        </m:r>
                      </m:sup>
                    </m:sSup>
                    <m:sSup>
                      <m:sSupPr>
                        <m:ctrlPr>
                          <a:rPr lang="en-US" sz="2800" i="1">
                            <a:latin typeface="Cambria Math" panose="02040503050406030204" pitchFamily="18" charset="0"/>
                            <a:cs typeface="Times New Roman" panose="02020603050405020304" pitchFamily="18" charset="0"/>
                          </a:rPr>
                        </m:ctrlPr>
                      </m:sSupPr>
                      <m:e>
                        <m:r>
                          <a:rPr lang="en-US" sz="2800" b="0" i="1" smtClean="0">
                            <a:latin typeface="Cambria Math" panose="02040503050406030204" pitchFamily="18" charset="0"/>
                            <a:cs typeface="Times New Roman" panose="02020603050405020304" pitchFamily="18" charset="0"/>
                          </a:rPr>
                          <m:t>𝑥</m:t>
                        </m:r>
                      </m:e>
                      <m:sup>
                        <m:r>
                          <a:rPr lang="en-US" sz="2800" b="0" i="1" smtClean="0">
                            <a:latin typeface="Cambria Math" panose="02040503050406030204" pitchFamily="18" charset="0"/>
                            <a:cs typeface="Times New Roman" panose="02020603050405020304" pitchFamily="18" charset="0"/>
                          </a:rPr>
                          <m:t>𝑝</m:t>
                        </m:r>
                      </m:sup>
                    </m:sSup>
                  </m:oMath>
                </a14:m>
                <a:endParaRPr lang="en-US" dirty="0">
                  <a:latin typeface="Times New Roman" panose="02020603050405020304" pitchFamily="18" charset="0"/>
                  <a:cs typeface="Times New Roman" panose="02020603050405020304" pitchFamily="18"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t="-1348" r="-1407"/>
                </a:stretch>
              </a:blipFill>
            </p:spPr>
            <p:txBody>
              <a:bodyPr/>
              <a:lstStyle/>
              <a:p>
                <a:r>
                  <a:rPr lang="en-US">
                    <a:noFill/>
                  </a:rPr>
                  <a:t> </a:t>
                </a:r>
              </a:p>
            </p:txBody>
          </p:sp>
        </mc:Fallback>
      </mc:AlternateContent>
      <p:sp>
        <p:nvSpPr>
          <p:cNvPr id="3" name="Title 2"/>
          <p:cNvSpPr>
            <a:spLocks noGrp="1"/>
          </p:cNvSpPr>
          <p:nvPr>
            <p:ph type="title"/>
          </p:nvPr>
        </p:nvSpPr>
        <p:spPr>
          <a:xfrm>
            <a:off x="457200" y="274638"/>
            <a:ext cx="1676400" cy="1143000"/>
          </a:xfrm>
        </p:spPr>
        <p:txBody>
          <a:bodyPr/>
          <a:lstStyle/>
          <a:p>
            <a:r>
              <a:rPr lang="en-US" dirty="0">
                <a:latin typeface="Times New Roman" panose="02020603050405020304" pitchFamily="18" charset="0"/>
                <a:cs typeface="Times New Roman" panose="02020603050405020304" pitchFamily="18" charset="0"/>
              </a:rPr>
              <a:t>PC1</a:t>
            </a:r>
          </a:p>
        </p:txBody>
      </p:sp>
    </p:spTree>
    <p:extLst>
      <p:ext uri="{BB962C8B-B14F-4D97-AF65-F5344CB8AC3E}">
        <p14:creationId xmlns:p14="http://schemas.microsoft.com/office/powerpoint/2010/main" val="29120353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481138"/>
                <a:ext cx="7543800" cy="2405062"/>
              </a:xfrm>
            </p:spPr>
            <p:txBody>
              <a:bodyPr/>
              <a:lstStyle/>
              <a:p>
                <a:pPr marL="0" lvl="0" indent="0" algn="just">
                  <a:spcBef>
                    <a:spcPct val="0"/>
                  </a:spcBef>
                  <a:buClrTx/>
                  <a:buSzTx/>
                  <a:buNone/>
                </a:pPr>
                <a:r>
                  <a:rPr lang="en-US" altLang="en-US" sz="2800" b="1" dirty="0">
                    <a:latin typeface="Times New Roman" panose="02020603050405020304" pitchFamily="18" charset="0"/>
                    <a:cs typeface="Times New Roman" panose="02020603050405020304" pitchFamily="18" charset="0"/>
                  </a:rPr>
                  <a:t>Second principal component</a:t>
                </a:r>
                <a:r>
                  <a:rPr lang="en-US" altLang="en-US" sz="2800" dirty="0">
                    <a:latin typeface="Times New Roman" panose="02020603050405020304" pitchFamily="18" charset="0"/>
                    <a:cs typeface="Times New Roman" panose="02020603050405020304" pitchFamily="18" charset="0"/>
                  </a:rPr>
                  <a:t> (Z²) is also a linear</a:t>
                </a:r>
              </a:p>
              <a:p>
                <a:pPr marL="0" lvl="0" indent="0" algn="just">
                  <a:spcBef>
                    <a:spcPct val="0"/>
                  </a:spcBef>
                  <a:buClrTx/>
                  <a:buSzTx/>
                  <a:buNone/>
                </a:pPr>
                <a:r>
                  <a:rPr lang="en-US" altLang="en-US" sz="2800" dirty="0">
                    <a:latin typeface="Times New Roman" panose="02020603050405020304" pitchFamily="18" charset="0"/>
                    <a:cs typeface="Times New Roman" panose="02020603050405020304" pitchFamily="18" charset="0"/>
                  </a:rPr>
                  <a:t> combination of original predictors which captures </a:t>
                </a:r>
              </a:p>
              <a:p>
                <a:pPr marL="0" lvl="0" indent="0" algn="just">
                  <a:spcBef>
                    <a:spcPct val="0"/>
                  </a:spcBef>
                  <a:buClrTx/>
                  <a:buSzTx/>
                  <a:buNone/>
                </a:pPr>
                <a:r>
                  <a:rPr lang="en-US" altLang="en-US" sz="2800" dirty="0">
                    <a:latin typeface="Times New Roman" panose="02020603050405020304" pitchFamily="18" charset="0"/>
                    <a:cs typeface="Times New Roman" panose="02020603050405020304" pitchFamily="18" charset="0"/>
                  </a:rPr>
                  <a:t>the remaining  variance in the data set and is </a:t>
                </a:r>
              </a:p>
              <a:p>
                <a:pPr marL="0" lvl="0" indent="0" algn="just">
                  <a:spcBef>
                    <a:spcPct val="0"/>
                  </a:spcBef>
                  <a:buClrTx/>
                  <a:buSzTx/>
                  <a:buNone/>
                </a:pPr>
                <a:r>
                  <a:rPr lang="en-US" altLang="en-US" sz="2800" dirty="0">
                    <a:latin typeface="Times New Roman" panose="02020603050405020304" pitchFamily="18" charset="0"/>
                    <a:cs typeface="Times New Roman" panose="02020603050405020304" pitchFamily="18" charset="0"/>
                  </a:rPr>
                  <a:t>uncorrelated with Z¹.</a:t>
                </a:r>
              </a:p>
              <a:p>
                <a:pPr marL="0" lvl="0" indent="0" algn="just">
                  <a:spcBef>
                    <a:spcPct val="0"/>
                  </a:spcBef>
                  <a:buClrTx/>
                  <a:buSzTx/>
                  <a:buNone/>
                </a:pPr>
                <a:r>
                  <a:rPr lang="en-US" altLang="en-US" sz="2800" dirty="0">
                    <a:latin typeface="Times New Roman" panose="02020603050405020304" pitchFamily="18" charset="0"/>
                    <a:cs typeface="Times New Roman" panose="02020603050405020304" pitchFamily="18" charset="0"/>
                  </a:rPr>
                  <a:t>Z² </a:t>
                </a:r>
                <a14:m>
                  <m:oMath xmlns:m="http://schemas.openxmlformats.org/officeDocument/2006/math">
                    <m:r>
                      <a:rPr lang="en-US" sz="2800" i="1">
                        <a:latin typeface="Cambria Math" panose="02040503050406030204" pitchFamily="18" charset="0"/>
                        <a:cs typeface="Times New Roman" panose="02020603050405020304" pitchFamily="18" charset="0"/>
                      </a:rPr>
                      <m:t>=</m:t>
                    </m:r>
                    <m:sSup>
                      <m:sSupPr>
                        <m:ctrlPr>
                          <a:rPr lang="en-US" sz="2800" i="1">
                            <a:latin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cs typeface="Times New Roman" panose="02020603050405020304" pitchFamily="18" charset="0"/>
                          </a:rPr>
                          <m:t>𝑎</m:t>
                        </m:r>
                      </m:e>
                      <m:sup>
                        <m:r>
                          <a:rPr lang="en-US" sz="2800" i="1">
                            <a:latin typeface="Cambria Math" panose="02040503050406030204" pitchFamily="18" charset="0"/>
                            <a:cs typeface="Times New Roman" panose="02020603050405020304" pitchFamily="18" charset="0"/>
                          </a:rPr>
                          <m:t>12</m:t>
                        </m:r>
                      </m:sup>
                    </m:sSup>
                    <m:sSup>
                      <m:sSupPr>
                        <m:ctrlPr>
                          <a:rPr lang="en-US" sz="2800" i="1">
                            <a:latin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cs typeface="Times New Roman" panose="02020603050405020304" pitchFamily="18" charset="0"/>
                          </a:rPr>
                          <m:t>𝑥</m:t>
                        </m:r>
                      </m:e>
                      <m:sup>
                        <m:r>
                          <a:rPr lang="en-US" sz="2800" i="1">
                            <a:latin typeface="Cambria Math" panose="02040503050406030204" pitchFamily="18" charset="0"/>
                            <a:cs typeface="Times New Roman" panose="02020603050405020304" pitchFamily="18" charset="0"/>
                          </a:rPr>
                          <m:t>1</m:t>
                        </m:r>
                      </m:sup>
                    </m:sSup>
                  </m:oMath>
                </a14:m>
                <a:r>
                  <a:rPr lang="en-US" altLang="en-US" sz="2800"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2800" i="1">
                            <a:latin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cs typeface="Times New Roman" panose="02020603050405020304" pitchFamily="18" charset="0"/>
                          </a:rPr>
                          <m:t>𝑎</m:t>
                        </m:r>
                      </m:e>
                      <m:sup>
                        <m:r>
                          <a:rPr lang="en-US" sz="2800" i="1">
                            <a:latin typeface="Cambria Math" panose="02040503050406030204" pitchFamily="18" charset="0"/>
                            <a:cs typeface="Times New Roman" panose="02020603050405020304" pitchFamily="18" charset="0"/>
                          </a:rPr>
                          <m:t>22</m:t>
                        </m:r>
                      </m:sup>
                    </m:sSup>
                    <m:sSup>
                      <m:sSupPr>
                        <m:ctrlPr>
                          <a:rPr lang="en-US" sz="2800" i="1">
                            <a:latin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cs typeface="Times New Roman" panose="02020603050405020304" pitchFamily="18" charset="0"/>
                          </a:rPr>
                          <m:t>𝑥</m:t>
                        </m:r>
                      </m:e>
                      <m:sup>
                        <m:r>
                          <a:rPr lang="en-US" sz="2800" i="1">
                            <a:latin typeface="Cambria Math" panose="02040503050406030204" pitchFamily="18" charset="0"/>
                            <a:cs typeface="Times New Roman" panose="02020603050405020304" pitchFamily="18" charset="0"/>
                          </a:rPr>
                          <m:t>2</m:t>
                        </m:r>
                      </m:sup>
                    </m:sSup>
                  </m:oMath>
                </a14:m>
                <a:r>
                  <a:rPr lang="en-US" sz="2800"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2800" i="1">
                            <a:latin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cs typeface="Times New Roman" panose="02020603050405020304" pitchFamily="18" charset="0"/>
                          </a:rPr>
                          <m:t>𝑎</m:t>
                        </m:r>
                      </m:e>
                      <m:sup>
                        <m:r>
                          <a:rPr lang="en-US" sz="2800" i="1">
                            <a:latin typeface="Cambria Math" panose="02040503050406030204" pitchFamily="18" charset="0"/>
                            <a:cs typeface="Times New Roman" panose="02020603050405020304" pitchFamily="18" charset="0"/>
                          </a:rPr>
                          <m:t>𝑝</m:t>
                        </m:r>
                        <m:r>
                          <a:rPr lang="en-US" sz="2800" i="1">
                            <a:latin typeface="Cambria Math" panose="02040503050406030204" pitchFamily="18" charset="0"/>
                            <a:cs typeface="Times New Roman" panose="02020603050405020304" pitchFamily="18" charset="0"/>
                          </a:rPr>
                          <m:t>2</m:t>
                        </m:r>
                      </m:sup>
                    </m:sSup>
                    <m:sSup>
                      <m:sSupPr>
                        <m:ctrlPr>
                          <a:rPr lang="en-US" sz="2800" i="1">
                            <a:latin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cs typeface="Times New Roman" panose="02020603050405020304" pitchFamily="18" charset="0"/>
                          </a:rPr>
                          <m:t>𝑥</m:t>
                        </m:r>
                      </m:e>
                      <m:sup>
                        <m:r>
                          <a:rPr lang="en-US" sz="2800" i="1">
                            <a:latin typeface="Cambria Math" panose="02040503050406030204" pitchFamily="18" charset="0"/>
                            <a:cs typeface="Times New Roman" panose="02020603050405020304" pitchFamily="18" charset="0"/>
                          </a:rPr>
                          <m:t>𝑝</m:t>
                        </m:r>
                      </m:sup>
                    </m:sSup>
                  </m:oMath>
                </a14:m>
                <a:endParaRPr lang="en-US" altLang="en-US" sz="2800" dirty="0">
                  <a:latin typeface="Times New Roman" panose="02020603050405020304" pitchFamily="18" charset="0"/>
                  <a:cs typeface="Times New Roman" panose="02020603050405020304" pitchFamily="18" charset="0"/>
                </a:endParaRPr>
              </a:p>
              <a:p>
                <a:pPr marL="0" lvl="0" indent="0" algn="just">
                  <a:spcBef>
                    <a:spcPct val="0"/>
                  </a:spcBef>
                  <a:buClrTx/>
                  <a:buSzTx/>
                  <a:buNone/>
                </a:pPr>
                <a:endParaRPr lang="en-US" altLang="en-US" sz="2800" dirty="0">
                  <a:latin typeface="Arial" panose="020B0604020202020204" pitchFamily="34" charset="0"/>
                </a:endParaRPr>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481138"/>
                <a:ext cx="7543800" cy="2405062"/>
              </a:xfrm>
              <a:blipFill rotWithShape="0">
                <a:blip r:embed="rId2"/>
                <a:stretch>
                  <a:fillRect l="-1616" t="-2785"/>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PC2</a:t>
            </a:r>
          </a:p>
        </p:txBody>
      </p:sp>
    </p:spTree>
    <p:extLst>
      <p:ext uri="{BB962C8B-B14F-4D97-AF65-F5344CB8AC3E}">
        <p14:creationId xmlns:p14="http://schemas.microsoft.com/office/powerpoint/2010/main" val="1159091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If the two components are uncorrelated, their directions should be orthogonal </a:t>
            </a:r>
            <a:br>
              <a:rPr lang="en-US" sz="4400" dirty="0"/>
            </a:br>
            <a:endParaRPr lang="en-US" dirty="0"/>
          </a:p>
        </p:txBody>
      </p:sp>
      <p:pic>
        <p:nvPicPr>
          <p:cNvPr id="5" name="Picture 4"/>
          <p:cNvPicPr>
            <a:picLocks noChangeAspect="1"/>
          </p:cNvPicPr>
          <p:nvPr/>
        </p:nvPicPr>
        <p:blipFill rotWithShape="1">
          <a:blip r:embed="rId2"/>
          <a:srcRect l="4907" t="31250" r="37701" b="14584"/>
          <a:stretch/>
        </p:blipFill>
        <p:spPr>
          <a:xfrm>
            <a:off x="762000" y="2057400"/>
            <a:ext cx="7467600" cy="3962400"/>
          </a:xfrm>
          <a:prstGeom prst="rect">
            <a:avLst/>
          </a:prstGeom>
        </p:spPr>
      </p:pic>
    </p:spTree>
    <p:extLst>
      <p:ext uri="{BB962C8B-B14F-4D97-AF65-F5344CB8AC3E}">
        <p14:creationId xmlns:p14="http://schemas.microsoft.com/office/powerpoint/2010/main" val="24757581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a:srcRect l="1976" t="12500" r="37116" b="21875"/>
          <a:stretch/>
        </p:blipFill>
        <p:spPr>
          <a:xfrm>
            <a:off x="304800" y="304800"/>
            <a:ext cx="7924800" cy="5791200"/>
          </a:xfrm>
          <a:prstGeom prst="rect">
            <a:avLst/>
          </a:prstGeom>
        </p:spPr>
      </p:pic>
    </p:spTree>
    <p:extLst>
      <p:ext uri="{BB962C8B-B14F-4D97-AF65-F5344CB8AC3E}">
        <p14:creationId xmlns:p14="http://schemas.microsoft.com/office/powerpoint/2010/main" val="9063624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Finding eigenvalues of Correlation matrix R</a:t>
            </a:r>
          </a:p>
        </p:txBody>
      </p:sp>
      <p:pic>
        <p:nvPicPr>
          <p:cNvPr id="4" name="Content Placeholder 3"/>
          <p:cNvPicPr>
            <a:picLocks noGrp="1"/>
          </p:cNvPicPr>
          <p:nvPr>
            <p:ph idx="1"/>
          </p:nvPr>
        </p:nvPicPr>
        <p:blipFill rotWithShape="1">
          <a:blip r:embed="rId2"/>
          <a:srcRect l="-769" t="38541" r="49843" b="29394"/>
          <a:stretch/>
        </p:blipFill>
        <p:spPr bwMode="auto">
          <a:xfrm>
            <a:off x="152400" y="2438400"/>
            <a:ext cx="6626067" cy="2345627"/>
          </a:xfrm>
          <a:prstGeom prst="rect">
            <a:avLst/>
          </a:prstGeom>
          <a:ln>
            <a:noFill/>
          </a:ln>
          <a:extLst>
            <a:ext uri="{53640926-AAD7-44D8-BBD7-CCE9431645EC}">
              <a14:shadowObscured xmlns:a14="http://schemas.microsoft.com/office/drawing/2010/main"/>
            </a:ext>
          </a:extLst>
        </p:spPr>
      </p:pic>
      <p:pic>
        <p:nvPicPr>
          <p:cNvPr id="5" name="Picture 4"/>
          <p:cNvPicPr/>
          <p:nvPr/>
        </p:nvPicPr>
        <p:blipFill rotWithShape="1">
          <a:blip r:embed="rId2"/>
          <a:srcRect l="31668" t="70241" r="62179" b="11630"/>
          <a:stretch/>
        </p:blipFill>
        <p:spPr bwMode="auto">
          <a:xfrm>
            <a:off x="7391400" y="3124200"/>
            <a:ext cx="1051560" cy="12954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091732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rotWithShape="1">
          <a:blip r:embed="rId2"/>
          <a:srcRect t="14367" r="32179" b="28164"/>
          <a:stretch/>
        </p:blipFill>
        <p:spPr bwMode="auto">
          <a:xfrm>
            <a:off x="457200" y="304800"/>
            <a:ext cx="8229600" cy="627856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822432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rotWithShape="1">
          <a:blip r:embed="rId2"/>
          <a:srcRect l="1" t="21437" r="31922" b="22919"/>
          <a:stretch/>
        </p:blipFill>
        <p:spPr bwMode="auto">
          <a:xfrm>
            <a:off x="457200" y="381000"/>
            <a:ext cx="8229600" cy="601979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226461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rotWithShape="1">
          <a:blip r:embed="rId2"/>
          <a:srcRect l="898" t="25313" r="34487" b="18700"/>
          <a:stretch/>
        </p:blipFill>
        <p:spPr bwMode="auto">
          <a:xfrm>
            <a:off x="457200" y="304800"/>
            <a:ext cx="8229600" cy="544385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062912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563562"/>
          </a:xfrm>
        </p:spPr>
        <p:txBody>
          <a:bodyPr>
            <a:normAutofit fontScale="90000"/>
          </a:bodyPr>
          <a:lstStyle/>
          <a:p>
            <a:pPr algn="ctr"/>
            <a:r>
              <a:rPr lang="en-US" sz="3200" dirty="0">
                <a:solidFill>
                  <a:srgbClr val="002060"/>
                </a:solidFill>
                <a:effectLst/>
                <a:latin typeface="Times New Roman" panose="02020603050405020304" pitchFamily="18" charset="0"/>
                <a:cs typeface="Times New Roman" panose="02020603050405020304" pitchFamily="18" charset="0"/>
              </a:rPr>
              <a:t>Converting to standard score</a:t>
            </a:r>
          </a:p>
        </p:txBody>
      </p:sp>
      <p:pic>
        <p:nvPicPr>
          <p:cNvPr id="4" name="Content Placeholder 3"/>
          <p:cNvPicPr>
            <a:picLocks noGrp="1"/>
          </p:cNvPicPr>
          <p:nvPr>
            <p:ph idx="1"/>
          </p:nvPr>
        </p:nvPicPr>
        <p:blipFill rotWithShape="1">
          <a:blip r:embed="rId2"/>
          <a:srcRect l="11539" t="22577" r="19231" b="18129"/>
          <a:stretch/>
        </p:blipFill>
        <p:spPr bwMode="auto">
          <a:xfrm>
            <a:off x="457200" y="1762703"/>
            <a:ext cx="8229600" cy="396283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597958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p:cNvPicPr>
          <p:nvPr>
            <p:ph idx="1"/>
          </p:nvPr>
        </p:nvPicPr>
        <p:blipFill rotWithShape="1">
          <a:blip r:embed="rId2"/>
          <a:srcRect t="17105" r="34999" b="32496"/>
          <a:stretch/>
        </p:blipFill>
        <p:spPr bwMode="auto">
          <a:xfrm>
            <a:off x="609600" y="838200"/>
            <a:ext cx="8229600" cy="445042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27983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descr="https://miro.medium.com/v2/resize:fit:1250/1*WhKA9Jboj_1sHa0MbWQQ7w.png"/>
          <p:cNvPicPr>
            <a:picLocks noChangeAspect="1" noChangeArrowheads="1"/>
          </p:cNvPicPr>
          <p:nvPr/>
        </p:nvPicPr>
        <p:blipFill>
          <a:blip r:embed="rId2"/>
          <a:srcRect r="303" b="5279"/>
          <a:stretch>
            <a:fillRect/>
          </a:stretch>
        </p:blipFill>
        <p:spPr bwMode="auto">
          <a:xfrm>
            <a:off x="609600" y="1219200"/>
            <a:ext cx="7315200" cy="4648200"/>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061">
            <a:extLst>
              <a:ext uri="{FF2B5EF4-FFF2-40B4-BE49-F238E27FC236}">
                <a16:creationId xmlns:a16="http://schemas.microsoft.com/office/drawing/2014/main" id="{D44A2058-E766-57AB-43FE-04C85CB870E1}"/>
              </a:ext>
            </a:extLst>
          </p:cNvPr>
          <p:cNvSpPr>
            <a:spLocks noGrp="1" noChangeArrowheads="1"/>
          </p:cNvSpPr>
          <p:nvPr>
            <p:ph type="sldNum" sz="quarter" idx="4294967295"/>
          </p:nvPr>
        </p:nvSpPr>
        <p:spPr>
          <a:xfrm>
            <a:off x="7239000" y="6477000"/>
            <a:ext cx="1905000" cy="381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F01695F-D0FE-4742-B698-27357366E2B7}" type="slidenum">
              <a:rPr lang="en-US" altLang="en-US" sz="1200"/>
              <a:pPr eaLnBrk="1" hangingPunct="1"/>
              <a:t>54</a:t>
            </a:fld>
            <a:endParaRPr lang="en-US" altLang="en-US" sz="1200"/>
          </a:p>
        </p:txBody>
      </p:sp>
      <p:sp>
        <p:nvSpPr>
          <p:cNvPr id="55299" name="Rectangle 2">
            <a:extLst>
              <a:ext uri="{FF2B5EF4-FFF2-40B4-BE49-F238E27FC236}">
                <a16:creationId xmlns:a16="http://schemas.microsoft.com/office/drawing/2014/main" id="{93DD3E44-53A6-953E-E39C-F1E388A022AB}"/>
              </a:ext>
            </a:extLst>
          </p:cNvPr>
          <p:cNvSpPr>
            <a:spLocks noGrp="1" noChangeArrowheads="1"/>
          </p:cNvSpPr>
          <p:nvPr>
            <p:ph type="title" idx="4294967295"/>
          </p:nvPr>
        </p:nvSpPr>
        <p:spPr>
          <a:xfrm>
            <a:off x="495300" y="304800"/>
            <a:ext cx="8054975" cy="609600"/>
          </a:xfrm>
        </p:spPr>
        <p:txBody>
          <a:bodyPr>
            <a:normAutofit/>
          </a:bodyPr>
          <a:lstStyle/>
          <a:p>
            <a:pPr algn="ctr" eaLnBrk="1" hangingPunct="1"/>
            <a:r>
              <a:rPr lang="en-US" altLang="en-US" sz="3200" dirty="0">
                <a:solidFill>
                  <a:srgbClr val="170981"/>
                </a:solidFill>
                <a:latin typeface="Times New Roman" panose="02020603050405020304" pitchFamily="18" charset="0"/>
                <a:cs typeface="Times New Roman" panose="02020603050405020304" pitchFamily="18" charset="0"/>
              </a:rPr>
              <a:t>Data Transformation</a:t>
            </a:r>
          </a:p>
        </p:txBody>
      </p:sp>
      <p:sp>
        <p:nvSpPr>
          <p:cNvPr id="55300" name="Rectangle 3">
            <a:extLst>
              <a:ext uri="{FF2B5EF4-FFF2-40B4-BE49-F238E27FC236}">
                <a16:creationId xmlns:a16="http://schemas.microsoft.com/office/drawing/2014/main" id="{66B0AB30-8EA4-FCF9-3648-24E4D684FD27}"/>
              </a:ext>
            </a:extLst>
          </p:cNvPr>
          <p:cNvSpPr>
            <a:spLocks noGrp="1" noChangeArrowheads="1"/>
          </p:cNvSpPr>
          <p:nvPr>
            <p:ph type="body" idx="4294967295"/>
          </p:nvPr>
        </p:nvSpPr>
        <p:spPr>
          <a:xfrm>
            <a:off x="304800" y="1219200"/>
            <a:ext cx="8305800" cy="5334000"/>
          </a:xfrm>
        </p:spPr>
        <p:txBody>
          <a:bodyPr>
            <a:normAutofit fontScale="92500" lnSpcReduction="10000"/>
          </a:bodyPr>
          <a:lstStyle/>
          <a:p>
            <a:pPr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A function that maps the entire set of values of a given attribute to a new set of replacement values </a:t>
            </a:r>
            <a:r>
              <a:rPr lang="en-US" altLang="en-US" sz="2000" dirty="0" err="1">
                <a:latin typeface="Times New Roman" panose="02020603050405020304" pitchFamily="18" charset="0"/>
                <a:cs typeface="Times New Roman" panose="02020603050405020304" pitchFamily="18" charset="0"/>
              </a:rPr>
              <a:t>s.t.</a:t>
            </a:r>
            <a:r>
              <a:rPr lang="en-US" altLang="en-US" sz="2000" dirty="0">
                <a:latin typeface="Times New Roman" panose="02020603050405020304" pitchFamily="18" charset="0"/>
                <a:cs typeface="Times New Roman" panose="02020603050405020304" pitchFamily="18" charset="0"/>
              </a:rPr>
              <a:t> each old value can be identified with one of the new values</a:t>
            </a:r>
          </a:p>
          <a:p>
            <a:pPr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Methods</a:t>
            </a:r>
          </a:p>
          <a:p>
            <a:pPr lvl="1"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Smoothing: Remove noise from data</a:t>
            </a:r>
          </a:p>
          <a:p>
            <a:pPr lvl="1"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Attribute/feature construction</a:t>
            </a:r>
          </a:p>
          <a:p>
            <a:pPr lvl="2"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New attributes constructed from the given ones</a:t>
            </a:r>
          </a:p>
          <a:p>
            <a:pPr lvl="1"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Aggregation: Summarization, data cube construction</a:t>
            </a:r>
          </a:p>
          <a:p>
            <a:pPr lvl="1"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Normalization: Scaled to fall within a smaller, specified range</a:t>
            </a:r>
          </a:p>
          <a:p>
            <a:pPr lvl="2"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min-max normalization</a:t>
            </a:r>
          </a:p>
          <a:p>
            <a:pPr lvl="2"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z-score normalization</a:t>
            </a:r>
          </a:p>
          <a:p>
            <a:pPr lvl="2"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normalization by decimal scaling</a:t>
            </a:r>
          </a:p>
          <a:p>
            <a:pPr lvl="1" eaLnBrk="1" hangingPunct="1">
              <a:spcBef>
                <a:spcPts val="600"/>
              </a:spcBef>
              <a:spcAft>
                <a:spcPts val="600"/>
              </a:spcAft>
            </a:pPr>
            <a:r>
              <a:rPr lang="en-US" altLang="en-US" sz="2000" dirty="0">
                <a:latin typeface="Times New Roman" panose="02020603050405020304" pitchFamily="18" charset="0"/>
                <a:cs typeface="Times New Roman" panose="02020603050405020304" pitchFamily="18" charset="0"/>
              </a:rPr>
              <a:t>Discretization: Concept hierarchy climbing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061">
            <a:extLst>
              <a:ext uri="{FF2B5EF4-FFF2-40B4-BE49-F238E27FC236}">
                <a16:creationId xmlns:a16="http://schemas.microsoft.com/office/drawing/2014/main" id="{A03BEE1C-E938-5578-63F7-DDA2BB165B7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72CBF1E-B530-44AB-8BC1-C8BF5A7E7391}" type="slidenum">
              <a:rPr lang="en-US" altLang="en-US" sz="1200"/>
              <a:pPr eaLnBrk="1" hangingPunct="1"/>
              <a:t>55</a:t>
            </a:fld>
            <a:endParaRPr lang="en-US" altLang="en-US" sz="1200"/>
          </a:p>
        </p:txBody>
      </p:sp>
      <p:sp>
        <p:nvSpPr>
          <p:cNvPr id="56323" name="Rectangle 2">
            <a:extLst>
              <a:ext uri="{FF2B5EF4-FFF2-40B4-BE49-F238E27FC236}">
                <a16:creationId xmlns:a16="http://schemas.microsoft.com/office/drawing/2014/main" id="{74E9F913-8631-E0C5-60CB-B4699F69952B}"/>
              </a:ext>
            </a:extLst>
          </p:cNvPr>
          <p:cNvSpPr>
            <a:spLocks noGrp="1" noChangeArrowheads="1"/>
          </p:cNvSpPr>
          <p:nvPr>
            <p:ph type="title"/>
          </p:nvPr>
        </p:nvSpPr>
        <p:spPr>
          <a:xfrm>
            <a:off x="0" y="381000"/>
            <a:ext cx="9144000" cy="6096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Normalization</a:t>
            </a:r>
          </a:p>
        </p:txBody>
      </p:sp>
      <p:sp>
        <p:nvSpPr>
          <p:cNvPr id="56324" name="Rectangle 3">
            <a:extLst>
              <a:ext uri="{FF2B5EF4-FFF2-40B4-BE49-F238E27FC236}">
                <a16:creationId xmlns:a16="http://schemas.microsoft.com/office/drawing/2014/main" id="{65694820-F532-A2DF-52DA-65183CEFE626}"/>
              </a:ext>
            </a:extLst>
          </p:cNvPr>
          <p:cNvSpPr>
            <a:spLocks noGrp="1" noChangeArrowheads="1"/>
          </p:cNvSpPr>
          <p:nvPr>
            <p:ph type="body" sz="half" idx="1"/>
          </p:nvPr>
        </p:nvSpPr>
        <p:spPr>
          <a:xfrm>
            <a:off x="304800" y="1295400"/>
            <a:ext cx="8305800" cy="5029200"/>
          </a:xfrm>
        </p:spPr>
        <p:txBody>
          <a:bodyPr/>
          <a:lstStyle/>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Min-max normalization</a:t>
            </a:r>
            <a:r>
              <a:rPr lang="en-US" altLang="en-US" sz="2000" dirty="0">
                <a:latin typeface="Times New Roman" panose="02020603050405020304" pitchFamily="18" charset="0"/>
                <a:cs typeface="Times New Roman" panose="02020603050405020304" pitchFamily="18" charset="0"/>
              </a:rPr>
              <a:t>: to [</a:t>
            </a:r>
            <a:r>
              <a:rPr lang="en-US" altLang="en-US" sz="2000" dirty="0" err="1">
                <a:latin typeface="Times New Roman" panose="02020603050405020304" pitchFamily="18" charset="0"/>
                <a:cs typeface="Times New Roman" panose="02020603050405020304" pitchFamily="18" charset="0"/>
              </a:rPr>
              <a:t>new_min</a:t>
            </a:r>
            <a:r>
              <a:rPr lang="en-US" altLang="en-US" sz="2000" baseline="-25000" dirty="0" err="1">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new_max</a:t>
            </a:r>
            <a:r>
              <a:rPr lang="en-US" altLang="en-US" sz="2000" baseline="-25000" dirty="0" err="1">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a:t>
            </a:r>
          </a:p>
          <a:p>
            <a:pPr lvl="1"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Ex.  Let income range $12,000 to $98,000 normalized to [0.0, 1.0].  Then $73,000 is mapped to  </a:t>
            </a: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Z-score normalization</a:t>
            </a:r>
            <a:r>
              <a:rPr lang="en-US" altLang="en-US" sz="2000" dirty="0">
                <a:latin typeface="Times New Roman" panose="02020603050405020304" pitchFamily="18" charset="0"/>
                <a:cs typeface="Times New Roman" panose="02020603050405020304" pitchFamily="18" charset="0"/>
              </a:rPr>
              <a:t> (</a:t>
            </a:r>
            <a:r>
              <a:rPr lang="el-GR" altLang="en-US" sz="2000" dirty="0">
                <a:latin typeface="Times New Roman" panose="02020603050405020304" pitchFamily="18" charset="0"/>
                <a:cs typeface="Times New Roman" panose="02020603050405020304" pitchFamily="18" charset="0"/>
              </a:rPr>
              <a:t>μ</a:t>
            </a:r>
            <a:r>
              <a:rPr lang="en-US" altLang="en-US" sz="2000" dirty="0">
                <a:latin typeface="Times New Roman" panose="02020603050405020304" pitchFamily="18" charset="0"/>
                <a:cs typeface="Times New Roman" panose="02020603050405020304" pitchFamily="18" charset="0"/>
              </a:rPr>
              <a:t>: mean, </a:t>
            </a:r>
            <a:r>
              <a:rPr lang="el-GR" altLang="en-US" sz="2000" dirty="0">
                <a:latin typeface="Times New Roman" panose="02020603050405020304" pitchFamily="18" charset="0"/>
                <a:cs typeface="Times New Roman" panose="02020603050405020304" pitchFamily="18" charset="0"/>
              </a:rPr>
              <a:t>σ</a:t>
            </a:r>
            <a:r>
              <a:rPr lang="en-US" altLang="en-US" sz="2000" dirty="0">
                <a:latin typeface="Times New Roman" panose="02020603050405020304" pitchFamily="18" charset="0"/>
                <a:cs typeface="Times New Roman" panose="02020603050405020304" pitchFamily="18" charset="0"/>
              </a:rPr>
              <a:t>: standard deviation):</a:t>
            </a:r>
          </a:p>
          <a:p>
            <a:pPr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Ex. Let </a:t>
            </a:r>
            <a:r>
              <a:rPr lang="el-GR" altLang="en-US" sz="2000" dirty="0">
                <a:latin typeface="Times New Roman" panose="02020603050405020304" pitchFamily="18" charset="0"/>
                <a:cs typeface="Times New Roman" panose="02020603050405020304" pitchFamily="18" charset="0"/>
              </a:rPr>
              <a:t>μ</a:t>
            </a:r>
            <a:r>
              <a:rPr lang="en-US" altLang="en-US" sz="2000" dirty="0">
                <a:latin typeface="Times New Roman" panose="02020603050405020304" pitchFamily="18" charset="0"/>
                <a:cs typeface="Times New Roman" panose="02020603050405020304" pitchFamily="18" charset="0"/>
              </a:rPr>
              <a:t> = 54,000, </a:t>
            </a:r>
            <a:r>
              <a:rPr lang="el-GR" altLang="en-US" sz="2000" dirty="0">
                <a:latin typeface="Times New Roman" panose="02020603050405020304" pitchFamily="18" charset="0"/>
                <a:cs typeface="Times New Roman" panose="02020603050405020304" pitchFamily="18" charset="0"/>
              </a:rPr>
              <a:t>σ</a:t>
            </a:r>
            <a:r>
              <a:rPr lang="en-US" altLang="en-US" sz="2000" dirty="0">
                <a:latin typeface="Times New Roman" panose="02020603050405020304" pitchFamily="18" charset="0"/>
                <a:cs typeface="Times New Roman" panose="02020603050405020304" pitchFamily="18" charset="0"/>
              </a:rPr>
              <a:t> = 16,000.  Then</a:t>
            </a:r>
            <a:endParaRPr lang="el-GR" altLang="en-US" sz="2000" dirty="0">
              <a:latin typeface="Times New Roman" panose="02020603050405020304" pitchFamily="18" charset="0"/>
              <a:cs typeface="Times New Roman" panose="02020603050405020304" pitchFamily="18" charset="0"/>
            </a:endParaRP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Normalization by decimal scaling</a:t>
            </a:r>
          </a:p>
        </p:txBody>
      </p:sp>
      <p:graphicFrame>
        <p:nvGraphicFramePr>
          <p:cNvPr id="56325" name="Object 4">
            <a:extLst>
              <a:ext uri="{FF2B5EF4-FFF2-40B4-BE49-F238E27FC236}">
                <a16:creationId xmlns:a16="http://schemas.microsoft.com/office/drawing/2014/main" id="{6D4D554C-E27A-D87C-0888-BAD94113952E}"/>
              </a:ext>
            </a:extLst>
          </p:cNvPr>
          <p:cNvGraphicFramePr>
            <a:graphicFrameLocks noGrp="1" noChangeAspect="1"/>
          </p:cNvGraphicFramePr>
          <p:nvPr>
            <p:ph sz="quarter" idx="2"/>
          </p:nvPr>
        </p:nvGraphicFramePr>
        <p:xfrm>
          <a:off x="5181600" y="2895600"/>
          <a:ext cx="2514600" cy="488950"/>
        </p:xfrm>
        <a:graphic>
          <a:graphicData uri="http://schemas.openxmlformats.org/presentationml/2006/ole">
            <mc:AlternateContent xmlns:mc="http://schemas.openxmlformats.org/markup-compatibility/2006">
              <mc:Choice xmlns:v="urn:schemas-microsoft-com:vml" Requires="v">
                <p:oleObj name="Equation" r:id="rId3" imgW="2222500" imgH="419100" progId="Equation.3">
                  <p:embed/>
                </p:oleObj>
              </mc:Choice>
              <mc:Fallback>
                <p:oleObj name="Equation" r:id="rId3" imgW="2222500" imgH="419100" progId="Equation.3">
                  <p:embed/>
                  <p:pic>
                    <p:nvPicPr>
                      <p:cNvPr id="56325" name="Object 4">
                        <a:extLst>
                          <a:ext uri="{FF2B5EF4-FFF2-40B4-BE49-F238E27FC236}">
                            <a16:creationId xmlns:a16="http://schemas.microsoft.com/office/drawing/2014/main" id="{6D4D554C-E27A-D87C-0888-BAD9411395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2895600"/>
                        <a:ext cx="25146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5">
            <a:extLst>
              <a:ext uri="{FF2B5EF4-FFF2-40B4-BE49-F238E27FC236}">
                <a16:creationId xmlns:a16="http://schemas.microsoft.com/office/drawing/2014/main" id="{51639F1F-98DA-BF49-9037-345054FA8446}"/>
              </a:ext>
            </a:extLst>
          </p:cNvPr>
          <p:cNvGraphicFramePr>
            <a:graphicFrameLocks noChangeAspect="1"/>
          </p:cNvGraphicFramePr>
          <p:nvPr/>
        </p:nvGraphicFramePr>
        <p:xfrm>
          <a:off x="1905000" y="1828800"/>
          <a:ext cx="5943600" cy="709613"/>
        </p:xfrm>
        <a:graphic>
          <a:graphicData uri="http://schemas.openxmlformats.org/presentationml/2006/ole">
            <mc:AlternateContent xmlns:mc="http://schemas.openxmlformats.org/markup-compatibility/2006">
              <mc:Choice xmlns:v="urn:schemas-microsoft-com:vml" Requires="v">
                <p:oleObj name="Equation" r:id="rId5" imgW="3340100" imgH="393700" progId="Equation.3">
                  <p:embed/>
                </p:oleObj>
              </mc:Choice>
              <mc:Fallback>
                <p:oleObj name="Equation" r:id="rId5" imgW="3340100" imgH="393700" progId="Equation.3">
                  <p:embed/>
                  <p:pic>
                    <p:nvPicPr>
                      <p:cNvPr id="56326" name="Object 5">
                        <a:extLst>
                          <a:ext uri="{FF2B5EF4-FFF2-40B4-BE49-F238E27FC236}">
                            <a16:creationId xmlns:a16="http://schemas.microsoft.com/office/drawing/2014/main" id="{51639F1F-98DA-BF49-9037-345054FA84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828800"/>
                        <a:ext cx="59436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7" name="Object 6">
            <a:extLst>
              <a:ext uri="{FF2B5EF4-FFF2-40B4-BE49-F238E27FC236}">
                <a16:creationId xmlns:a16="http://schemas.microsoft.com/office/drawing/2014/main" id="{E031837C-1CC0-AF2D-EA64-3203C692B1C4}"/>
              </a:ext>
            </a:extLst>
          </p:cNvPr>
          <p:cNvGraphicFramePr>
            <a:graphicFrameLocks noChangeAspect="1"/>
          </p:cNvGraphicFramePr>
          <p:nvPr/>
        </p:nvGraphicFramePr>
        <p:xfrm>
          <a:off x="1981200" y="3886200"/>
          <a:ext cx="1447800" cy="679450"/>
        </p:xfrm>
        <a:graphic>
          <a:graphicData uri="http://schemas.openxmlformats.org/presentationml/2006/ole">
            <mc:AlternateContent xmlns:mc="http://schemas.openxmlformats.org/markup-compatibility/2006">
              <mc:Choice xmlns:v="urn:schemas-microsoft-com:vml" Requires="v">
                <p:oleObj name="Equation" r:id="rId7" imgW="634725" imgH="393529" progId="Equation.3">
                  <p:embed/>
                </p:oleObj>
              </mc:Choice>
              <mc:Fallback>
                <p:oleObj name="Equation" r:id="rId7" imgW="634725" imgH="393529" progId="Equation.3">
                  <p:embed/>
                  <p:pic>
                    <p:nvPicPr>
                      <p:cNvPr id="56327" name="Object 6">
                        <a:extLst>
                          <a:ext uri="{FF2B5EF4-FFF2-40B4-BE49-F238E27FC236}">
                            <a16:creationId xmlns:a16="http://schemas.microsoft.com/office/drawing/2014/main" id="{E031837C-1CC0-AF2D-EA64-3203C692B1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3886200"/>
                        <a:ext cx="14478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7">
            <a:extLst>
              <a:ext uri="{FF2B5EF4-FFF2-40B4-BE49-F238E27FC236}">
                <a16:creationId xmlns:a16="http://schemas.microsoft.com/office/drawing/2014/main" id="{11328A7F-928D-B999-BE9E-E17D7350C1B2}"/>
              </a:ext>
            </a:extLst>
          </p:cNvPr>
          <p:cNvGraphicFramePr>
            <a:graphicFrameLocks noChangeAspect="1"/>
          </p:cNvGraphicFramePr>
          <p:nvPr/>
        </p:nvGraphicFramePr>
        <p:xfrm>
          <a:off x="1219200" y="5486400"/>
          <a:ext cx="1066800" cy="847725"/>
        </p:xfrm>
        <a:graphic>
          <a:graphicData uri="http://schemas.openxmlformats.org/presentationml/2006/ole">
            <mc:AlternateContent xmlns:mc="http://schemas.openxmlformats.org/markup-compatibility/2006">
              <mc:Choice xmlns:v="urn:schemas-microsoft-com:vml" Requires="v">
                <p:oleObj name="Equation" r:id="rId9" imgW="495085" imgH="393529" progId="Equation.3">
                  <p:embed/>
                </p:oleObj>
              </mc:Choice>
              <mc:Fallback>
                <p:oleObj name="Equation" r:id="rId9" imgW="495085" imgH="393529" progId="Equation.3">
                  <p:embed/>
                  <p:pic>
                    <p:nvPicPr>
                      <p:cNvPr id="56328" name="Object 7">
                        <a:extLst>
                          <a:ext uri="{FF2B5EF4-FFF2-40B4-BE49-F238E27FC236}">
                            <a16:creationId xmlns:a16="http://schemas.microsoft.com/office/drawing/2014/main" id="{11328A7F-928D-B999-BE9E-E17D7350C1B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9200" y="5486400"/>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8">
            <a:extLst>
              <a:ext uri="{FF2B5EF4-FFF2-40B4-BE49-F238E27FC236}">
                <a16:creationId xmlns:a16="http://schemas.microsoft.com/office/drawing/2014/main" id="{C02FDE23-A0CC-E3E9-DCBF-A329299DE53A}"/>
              </a:ext>
            </a:extLst>
          </p:cNvPr>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name="Equation" r:id="rId11" imgW="114151" imgH="215619" progId="Equation.3">
                  <p:embed/>
                </p:oleObj>
              </mc:Choice>
              <mc:Fallback>
                <p:oleObj name="Equation" r:id="rId11" imgW="114151" imgH="215619" progId="Equation.3">
                  <p:embed/>
                  <p:pic>
                    <p:nvPicPr>
                      <p:cNvPr id="56329" name="Object 8">
                        <a:extLst>
                          <a:ext uri="{FF2B5EF4-FFF2-40B4-BE49-F238E27FC236}">
                            <a16:creationId xmlns:a16="http://schemas.microsoft.com/office/drawing/2014/main" id="{C02FDE23-A0CC-E3E9-DCBF-A329299DE53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0" name="Text Box 9">
            <a:extLst>
              <a:ext uri="{FF2B5EF4-FFF2-40B4-BE49-F238E27FC236}">
                <a16:creationId xmlns:a16="http://schemas.microsoft.com/office/drawing/2014/main" id="{75576360-BF2C-2ED1-F29E-597DFD0BD5C7}"/>
              </a:ext>
            </a:extLst>
          </p:cNvPr>
          <p:cNvSpPr txBox="1">
            <a:spLocks noChangeArrowheads="1"/>
          </p:cNvSpPr>
          <p:nvPr/>
        </p:nvSpPr>
        <p:spPr bwMode="auto">
          <a:xfrm>
            <a:off x="2514600" y="5638800"/>
            <a:ext cx="612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Where </a:t>
            </a:r>
            <a:r>
              <a:rPr lang="en-US" altLang="en-US" i="1">
                <a:latin typeface="Times New Roman" panose="02020603050405020304" pitchFamily="18" charset="0"/>
              </a:rPr>
              <a:t>j</a:t>
            </a:r>
            <a:r>
              <a:rPr lang="en-US" altLang="en-US" sz="2000">
                <a:latin typeface="Times New Roman" panose="02020603050405020304" pitchFamily="18" charset="0"/>
              </a:rPr>
              <a:t> is the smallest integer such that Max(|</a:t>
            </a:r>
            <a:r>
              <a:rPr lang="el-GR" altLang="en-US" sz="2000">
                <a:latin typeface="Times New Roman" panose="02020603050405020304" pitchFamily="18" charset="0"/>
                <a:cs typeface="Times New Roman" panose="02020603050405020304" pitchFamily="18" charset="0"/>
              </a:rPr>
              <a:t>ν</a:t>
            </a:r>
            <a:r>
              <a:rPr lang="en-US" altLang="en-US" sz="2000">
                <a:latin typeface="Times New Roman" panose="02020603050405020304" pitchFamily="18" charset="0"/>
                <a:cs typeface="Times New Roman" panose="02020603050405020304" pitchFamily="18" charset="0"/>
              </a:rPr>
              <a:t>’</a:t>
            </a:r>
            <a:r>
              <a:rPr lang="en-US" altLang="en-US" sz="2000">
                <a:latin typeface="Times New Roman" panose="02020603050405020304" pitchFamily="18" charset="0"/>
              </a:rPr>
              <a:t>|) &lt; 1</a:t>
            </a:r>
            <a:endParaRPr lang="en-US" altLang="en-US">
              <a:latin typeface="Times New Roman" panose="02020603050405020304" pitchFamily="18" charset="0"/>
            </a:endParaRPr>
          </a:p>
        </p:txBody>
      </p:sp>
      <p:graphicFrame>
        <p:nvGraphicFramePr>
          <p:cNvPr id="56331" name="Object 10">
            <a:extLst>
              <a:ext uri="{FF2B5EF4-FFF2-40B4-BE49-F238E27FC236}">
                <a16:creationId xmlns:a16="http://schemas.microsoft.com/office/drawing/2014/main" id="{660B7520-528F-A4FB-D1B7-80E148199B0A}"/>
              </a:ext>
            </a:extLst>
          </p:cNvPr>
          <p:cNvGraphicFramePr>
            <a:graphicFrameLocks noGrp="1" noChangeAspect="1"/>
          </p:cNvGraphicFramePr>
          <p:nvPr>
            <p:ph sz="quarter" idx="3"/>
          </p:nvPr>
        </p:nvGraphicFramePr>
        <p:xfrm>
          <a:off x="5562600" y="4592638"/>
          <a:ext cx="1952625" cy="563562"/>
        </p:xfrm>
        <a:graphic>
          <a:graphicData uri="http://schemas.openxmlformats.org/presentationml/2006/ole">
            <mc:AlternateContent xmlns:mc="http://schemas.openxmlformats.org/markup-compatibility/2006">
              <mc:Choice xmlns:v="urn:schemas-microsoft-com:vml" Requires="v">
                <p:oleObj name="Equation" r:id="rId13" imgW="1498600" imgH="419100" progId="Equation.3">
                  <p:embed/>
                </p:oleObj>
              </mc:Choice>
              <mc:Fallback>
                <p:oleObj name="Equation" r:id="rId13" imgW="1498600" imgH="419100" progId="Equation.3">
                  <p:embed/>
                  <p:pic>
                    <p:nvPicPr>
                      <p:cNvPr id="56331" name="Object 10">
                        <a:extLst>
                          <a:ext uri="{FF2B5EF4-FFF2-40B4-BE49-F238E27FC236}">
                            <a16:creationId xmlns:a16="http://schemas.microsoft.com/office/drawing/2014/main" id="{660B7520-528F-A4FB-D1B7-80E148199B0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62600" y="4592638"/>
                        <a:ext cx="19526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061">
            <a:extLst>
              <a:ext uri="{FF2B5EF4-FFF2-40B4-BE49-F238E27FC236}">
                <a16:creationId xmlns:a16="http://schemas.microsoft.com/office/drawing/2014/main" id="{62B63845-4FD9-5101-201B-BA8A6DC154FC}"/>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39CBAF88-3E3D-4813-85F4-2368A507F064}" type="slidenum">
              <a:rPr lang="en-US" altLang="en-US" sz="1200"/>
              <a:pPr eaLnBrk="1" hangingPunct="1"/>
              <a:t>56</a:t>
            </a:fld>
            <a:endParaRPr lang="en-US" altLang="en-US" sz="1200"/>
          </a:p>
        </p:txBody>
      </p:sp>
      <p:sp>
        <p:nvSpPr>
          <p:cNvPr id="57347" name="Rectangle 2">
            <a:extLst>
              <a:ext uri="{FF2B5EF4-FFF2-40B4-BE49-F238E27FC236}">
                <a16:creationId xmlns:a16="http://schemas.microsoft.com/office/drawing/2014/main" id="{B1046380-859F-89B7-6B90-A975A3DAB5E2}"/>
              </a:ext>
            </a:extLst>
          </p:cNvPr>
          <p:cNvSpPr>
            <a:spLocks noGrp="1" noChangeArrowheads="1"/>
          </p:cNvSpPr>
          <p:nvPr>
            <p:ph type="title"/>
          </p:nvPr>
        </p:nvSpPr>
        <p:spPr>
          <a:xfrm>
            <a:off x="457200" y="274638"/>
            <a:ext cx="8229600" cy="487362"/>
          </a:xfrm>
        </p:spPr>
        <p:txBody>
          <a:bodyPr>
            <a:normAutofit fontScale="90000"/>
          </a:bodyPr>
          <a:lstStyle/>
          <a:p>
            <a:pPr algn="ctr" eaLnBrk="1" hangingPunct="1"/>
            <a:r>
              <a:rPr lang="en-US" altLang="en-US" sz="3200" dirty="0">
                <a:solidFill>
                  <a:srgbClr val="170981"/>
                </a:solidFill>
                <a:effectLst/>
              </a:rPr>
              <a:t>Discretization</a:t>
            </a:r>
            <a:r>
              <a:rPr lang="en-US" altLang="en-US" sz="3200" dirty="0">
                <a:solidFill>
                  <a:schemeClr val="hlink"/>
                </a:solidFill>
                <a:effectLst/>
              </a:rPr>
              <a:t> </a:t>
            </a:r>
          </a:p>
        </p:txBody>
      </p:sp>
      <p:sp>
        <p:nvSpPr>
          <p:cNvPr id="57348" name="Rectangle 3">
            <a:extLst>
              <a:ext uri="{FF2B5EF4-FFF2-40B4-BE49-F238E27FC236}">
                <a16:creationId xmlns:a16="http://schemas.microsoft.com/office/drawing/2014/main" id="{103C6B46-D3C1-8904-8281-1AFCEEF5C8B3}"/>
              </a:ext>
            </a:extLst>
          </p:cNvPr>
          <p:cNvSpPr>
            <a:spLocks noGrp="1" noChangeArrowheads="1"/>
          </p:cNvSpPr>
          <p:nvPr>
            <p:ph type="body" idx="1"/>
          </p:nvPr>
        </p:nvSpPr>
        <p:spPr>
          <a:xfrm>
            <a:off x="304800" y="1219200"/>
            <a:ext cx="8534400" cy="5334000"/>
          </a:xfrm>
        </p:spPr>
        <p:txBody>
          <a:bodyPr>
            <a:normAutofit/>
          </a:bodyPr>
          <a:lstStyle/>
          <a:p>
            <a:pPr eaLnBrk="1" hangingPunct="1">
              <a:lnSpc>
                <a:spcPct val="120000"/>
              </a:lnSpc>
            </a:pPr>
            <a:r>
              <a:rPr lang="en-US" altLang="en-US" sz="2000" dirty="0">
                <a:latin typeface="Times New Roman" panose="02020603050405020304" pitchFamily="18" charset="0"/>
                <a:cs typeface="Times New Roman" panose="02020603050405020304" pitchFamily="18" charset="0"/>
              </a:rPr>
              <a:t>Three types of attributes</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Nominal—values from an unordered set, e.g., color, profession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Ordinal—values from an ordered set, e.g., military or academic rank </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Numeric—real numbers, e.g., integer or real numbers</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Discretization: Divide the range of a continuous attribute into intervals</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Interval labels can then be used to replace actual data values </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Reduce data size by discretization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Supervised vs. unsupervised</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Split (top-down) vs. merge (bottom-up)</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Discretization can be performed recursively on an attribute</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Prepare for further analysis, e.g., classification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061">
            <a:extLst>
              <a:ext uri="{FF2B5EF4-FFF2-40B4-BE49-F238E27FC236}">
                <a16:creationId xmlns:a16="http://schemas.microsoft.com/office/drawing/2014/main" id="{A90E3186-EE64-99F2-ACAE-9791FC9DC099}"/>
              </a:ext>
            </a:extLst>
          </p:cNvPr>
          <p:cNvSpPr txBox="1">
            <a:spLocks noGrp="1" noChangeArrowheads="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C7817386-3B13-4CBF-B7F5-F0BE55C02F96}" type="slidenum">
              <a:rPr lang="en-US" altLang="en-US" sz="1200"/>
              <a:pPr algn="r" eaLnBrk="1" hangingPunct="1"/>
              <a:t>57</a:t>
            </a:fld>
            <a:endParaRPr lang="en-US" altLang="en-US" sz="1200"/>
          </a:p>
        </p:txBody>
      </p:sp>
      <p:sp>
        <p:nvSpPr>
          <p:cNvPr id="58371" name="Rectangle 2">
            <a:extLst>
              <a:ext uri="{FF2B5EF4-FFF2-40B4-BE49-F238E27FC236}">
                <a16:creationId xmlns:a16="http://schemas.microsoft.com/office/drawing/2014/main" id="{4CFF419C-0B20-0244-5653-294D68BB7532}"/>
              </a:ext>
            </a:extLst>
          </p:cNvPr>
          <p:cNvSpPr>
            <a:spLocks noGrp="1" noChangeArrowheads="1"/>
          </p:cNvSpPr>
          <p:nvPr>
            <p:ph type="title" idx="4294967295"/>
          </p:nvPr>
        </p:nvSpPr>
        <p:spPr>
          <a:xfrm>
            <a:off x="0" y="228600"/>
            <a:ext cx="8991600" cy="762000"/>
          </a:xfrm>
        </p:spPr>
        <p:txBody>
          <a:bodyPr>
            <a:normAutofit/>
          </a:bodyPr>
          <a:lstStyle/>
          <a:p>
            <a:pPr algn="ctr" eaLnBrk="1" hangingPunct="1"/>
            <a:r>
              <a:rPr lang="en-US" altLang="en-US" sz="3200" dirty="0">
                <a:solidFill>
                  <a:srgbClr val="002060"/>
                </a:solidFill>
                <a:latin typeface="Times New Roman" panose="02020603050405020304" pitchFamily="18" charset="0"/>
                <a:cs typeface="Times New Roman" panose="02020603050405020304" pitchFamily="18" charset="0"/>
              </a:rPr>
              <a:t>Data Discretization Methods</a:t>
            </a:r>
          </a:p>
        </p:txBody>
      </p:sp>
      <p:sp>
        <p:nvSpPr>
          <p:cNvPr id="58372" name="Rectangle 3">
            <a:extLst>
              <a:ext uri="{FF2B5EF4-FFF2-40B4-BE49-F238E27FC236}">
                <a16:creationId xmlns:a16="http://schemas.microsoft.com/office/drawing/2014/main" id="{28F2CEAF-2690-8FE3-79C5-2C037DF1EE07}"/>
              </a:ext>
            </a:extLst>
          </p:cNvPr>
          <p:cNvSpPr>
            <a:spLocks noGrp="1" noChangeArrowheads="1"/>
          </p:cNvSpPr>
          <p:nvPr>
            <p:ph type="body" idx="4294967295"/>
          </p:nvPr>
        </p:nvSpPr>
        <p:spPr>
          <a:xfrm>
            <a:off x="304800" y="1295400"/>
            <a:ext cx="8610600" cy="5181600"/>
          </a:xfrm>
        </p:spPr>
        <p:txBody>
          <a:bodyPr/>
          <a:lstStyle/>
          <a:p>
            <a:pPr eaLnBrk="1" hangingPunct="1">
              <a:lnSpc>
                <a:spcPct val="120000"/>
              </a:lnSpc>
            </a:pPr>
            <a:r>
              <a:rPr lang="en-US" altLang="en-US" sz="2400" dirty="0">
                <a:latin typeface="Times New Roman" panose="02020603050405020304" pitchFamily="18" charset="0"/>
                <a:cs typeface="Times New Roman" panose="02020603050405020304" pitchFamily="18" charset="0"/>
              </a:rPr>
              <a:t>Typical methods: All the methods can be applied recursively</a:t>
            </a:r>
          </a:p>
          <a:p>
            <a:pPr lvl="1" eaLnBrk="1" hangingPunct="1">
              <a:lnSpc>
                <a:spcPct val="120000"/>
              </a:lnSpc>
            </a:pPr>
            <a:r>
              <a:rPr lang="en-US" altLang="en-US" sz="2400" dirty="0">
                <a:solidFill>
                  <a:schemeClr val="hlink"/>
                </a:solidFill>
                <a:latin typeface="Times New Roman" panose="02020603050405020304" pitchFamily="18" charset="0"/>
                <a:cs typeface="Times New Roman" panose="02020603050405020304" pitchFamily="18" charset="0"/>
              </a:rPr>
              <a:t>Binning</a:t>
            </a:r>
            <a:r>
              <a:rPr lang="en-US" altLang="en-US" sz="2400" dirty="0">
                <a:latin typeface="Times New Roman" panose="02020603050405020304" pitchFamily="18" charset="0"/>
                <a:cs typeface="Times New Roman" panose="02020603050405020304" pitchFamily="18" charset="0"/>
              </a:rPr>
              <a:t> </a:t>
            </a:r>
          </a:p>
          <a:p>
            <a:pPr lvl="2" eaLnBrk="1" hangingPunct="1">
              <a:lnSpc>
                <a:spcPct val="120000"/>
              </a:lnSpc>
            </a:pPr>
            <a:r>
              <a:rPr lang="en-US" altLang="en-US" dirty="0">
                <a:latin typeface="Times New Roman" panose="02020603050405020304" pitchFamily="18" charset="0"/>
                <a:cs typeface="Times New Roman" panose="02020603050405020304" pitchFamily="18" charset="0"/>
              </a:rPr>
              <a:t>Top-down split, unsupervised</a:t>
            </a:r>
          </a:p>
          <a:p>
            <a:pPr lvl="1" eaLnBrk="1" hangingPunct="1">
              <a:lnSpc>
                <a:spcPct val="120000"/>
              </a:lnSpc>
            </a:pPr>
            <a:r>
              <a:rPr lang="en-US" altLang="en-US" sz="2400" dirty="0">
                <a:solidFill>
                  <a:schemeClr val="hlink"/>
                </a:solidFill>
                <a:latin typeface="Times New Roman" panose="02020603050405020304" pitchFamily="18" charset="0"/>
                <a:cs typeface="Times New Roman" panose="02020603050405020304" pitchFamily="18" charset="0"/>
              </a:rPr>
              <a:t>Histogram analysis</a:t>
            </a:r>
          </a:p>
          <a:p>
            <a:pPr lvl="2" eaLnBrk="1" hangingPunct="1">
              <a:lnSpc>
                <a:spcPct val="120000"/>
              </a:lnSpc>
            </a:pPr>
            <a:r>
              <a:rPr lang="en-US" altLang="en-US" dirty="0">
                <a:latin typeface="Times New Roman" panose="02020603050405020304" pitchFamily="18" charset="0"/>
                <a:cs typeface="Times New Roman" panose="02020603050405020304" pitchFamily="18" charset="0"/>
              </a:rPr>
              <a:t>Top-down split, unsupervised</a:t>
            </a:r>
          </a:p>
          <a:p>
            <a:pPr lvl="1" eaLnBrk="1" hangingPunct="1">
              <a:lnSpc>
                <a:spcPct val="120000"/>
              </a:lnSpc>
            </a:pPr>
            <a:r>
              <a:rPr lang="en-US" altLang="en-US" sz="2400" dirty="0">
                <a:solidFill>
                  <a:schemeClr val="hlink"/>
                </a:solidFill>
                <a:latin typeface="Times New Roman" panose="02020603050405020304" pitchFamily="18" charset="0"/>
                <a:cs typeface="Times New Roman" panose="02020603050405020304" pitchFamily="18" charset="0"/>
              </a:rPr>
              <a:t>Clustering analysis</a:t>
            </a:r>
            <a:r>
              <a:rPr lang="en-US" altLang="en-US" sz="2400" dirty="0">
                <a:latin typeface="Times New Roman" panose="02020603050405020304" pitchFamily="18" charset="0"/>
                <a:cs typeface="Times New Roman" panose="02020603050405020304" pitchFamily="18" charset="0"/>
              </a:rPr>
              <a:t> (unsupervised, top-down split or bottom-up merge)</a:t>
            </a:r>
          </a:p>
          <a:p>
            <a:pPr lvl="1" eaLnBrk="1" hangingPunct="1">
              <a:lnSpc>
                <a:spcPct val="120000"/>
              </a:lnSpc>
            </a:pPr>
            <a:r>
              <a:rPr lang="en-US" altLang="en-US" sz="2400" dirty="0">
                <a:solidFill>
                  <a:schemeClr val="hlink"/>
                </a:solidFill>
                <a:latin typeface="Times New Roman" panose="02020603050405020304" pitchFamily="18" charset="0"/>
                <a:cs typeface="Times New Roman" panose="02020603050405020304" pitchFamily="18" charset="0"/>
              </a:rPr>
              <a:t>Decision-tree analysis</a:t>
            </a:r>
            <a:r>
              <a:rPr lang="en-US" altLang="en-US" sz="2400" dirty="0">
                <a:latin typeface="Times New Roman" panose="02020603050405020304" pitchFamily="18" charset="0"/>
                <a:cs typeface="Times New Roman" panose="02020603050405020304" pitchFamily="18" charset="0"/>
              </a:rPr>
              <a:t> (supervised, top-down split)</a:t>
            </a:r>
          </a:p>
          <a:p>
            <a:pPr lvl="1" eaLnBrk="1" hangingPunct="1">
              <a:lnSpc>
                <a:spcPct val="120000"/>
              </a:lnSpc>
            </a:pPr>
            <a:r>
              <a:rPr lang="en-US" altLang="en-US" sz="24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Correlation (e.g., </a:t>
            </a:r>
            <a:r>
              <a:rPr lang="en-US" altLang="en-US" sz="2400" baseline="30000" dirty="0">
                <a:solidFill>
                  <a:schemeClr val="hlink"/>
                </a:solidFill>
                <a:latin typeface="Times New Roman" panose="02020603050405020304" pitchFamily="18" charset="0"/>
                <a:cs typeface="Times New Roman" panose="02020603050405020304" pitchFamily="18" charset="0"/>
              </a:rPr>
              <a:t>2</a:t>
            </a:r>
            <a:r>
              <a:rPr lang="en-US" altLang="en-US" sz="2400" dirty="0">
                <a:solidFill>
                  <a:schemeClr val="hlink"/>
                </a:solidFill>
                <a:latin typeface="Times New Roman" panose="02020603050405020304" pitchFamily="18" charset="0"/>
                <a:cs typeface="Times New Roman" panose="02020603050405020304" pitchFamily="18" charset="0"/>
              </a:rPr>
              <a:t>) analysis</a:t>
            </a:r>
            <a:r>
              <a:rPr lang="en-US" altLang="en-US" sz="2400" dirty="0">
                <a:latin typeface="Times New Roman" panose="02020603050405020304" pitchFamily="18" charset="0"/>
                <a:cs typeface="Times New Roman" panose="02020603050405020304" pitchFamily="18" charset="0"/>
              </a:rPr>
              <a:t> (unsupervised, bottom-up merge)</a:t>
            </a:r>
          </a:p>
        </p:txBody>
      </p:sp>
      <p:sp>
        <p:nvSpPr>
          <p:cNvPr id="3" name="TextBox 2">
            <a:extLst>
              <a:ext uri="{FF2B5EF4-FFF2-40B4-BE49-F238E27FC236}">
                <a16:creationId xmlns:a16="http://schemas.microsoft.com/office/drawing/2014/main" id="{3776E1D7-D7BB-B104-69E6-47365E1BB748}"/>
              </a:ext>
            </a:extLst>
          </p:cNvPr>
          <p:cNvSpPr txBox="1"/>
          <p:nvPr/>
        </p:nvSpPr>
        <p:spPr>
          <a:xfrm>
            <a:off x="838200" y="6123179"/>
            <a:ext cx="7353300" cy="369332"/>
          </a:xfrm>
          <a:prstGeom prst="rect">
            <a:avLst/>
          </a:prstGeom>
          <a:noFill/>
        </p:spPr>
        <p:txBody>
          <a:bodyPr wrap="square">
            <a:spAutoFit/>
          </a:bodyPr>
          <a:lstStyle/>
          <a:p>
            <a:r>
              <a:rPr lang="en-IN" dirty="0"/>
              <a:t>https://medium.com/codex/data-discretization-b5faa2b77f06</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061">
            <a:extLst>
              <a:ext uri="{FF2B5EF4-FFF2-40B4-BE49-F238E27FC236}">
                <a16:creationId xmlns:a16="http://schemas.microsoft.com/office/drawing/2014/main" id="{E16D0775-8C13-FA9E-7C97-D34C814EDE95}"/>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D787144-E3F3-43F4-A667-B42439CED1D4}" type="slidenum">
              <a:rPr lang="en-US" altLang="en-US" sz="1200"/>
              <a:pPr eaLnBrk="1" hangingPunct="1"/>
              <a:t>58</a:t>
            </a:fld>
            <a:endParaRPr lang="en-US" altLang="en-US" sz="1200"/>
          </a:p>
        </p:txBody>
      </p:sp>
      <p:sp>
        <p:nvSpPr>
          <p:cNvPr id="59395" name="Rectangle 2">
            <a:extLst>
              <a:ext uri="{FF2B5EF4-FFF2-40B4-BE49-F238E27FC236}">
                <a16:creationId xmlns:a16="http://schemas.microsoft.com/office/drawing/2014/main" id="{210F3F84-31A9-BFA2-6CA4-8DC85AFF23A5}"/>
              </a:ext>
            </a:extLst>
          </p:cNvPr>
          <p:cNvSpPr>
            <a:spLocks noGrp="1" noChangeArrowheads="1"/>
          </p:cNvSpPr>
          <p:nvPr>
            <p:ph type="title"/>
          </p:nvPr>
        </p:nvSpPr>
        <p:spPr>
          <a:xfrm>
            <a:off x="-152400" y="304800"/>
            <a:ext cx="9372600" cy="609600"/>
          </a:xfrm>
        </p:spPr>
        <p:txBody>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Simple Discretization: Binning</a:t>
            </a:r>
            <a:endParaRPr lang="en-US" altLang="en-US" dirty="0">
              <a:solidFill>
                <a:srgbClr val="002060"/>
              </a:solidFill>
              <a:effectLst/>
              <a:latin typeface="Times New Roman" panose="02020603050405020304" pitchFamily="18" charset="0"/>
              <a:cs typeface="Times New Roman" panose="02020603050405020304" pitchFamily="18" charset="0"/>
            </a:endParaRPr>
          </a:p>
        </p:txBody>
      </p:sp>
      <p:sp>
        <p:nvSpPr>
          <p:cNvPr id="59396" name="Rectangle 3">
            <a:extLst>
              <a:ext uri="{FF2B5EF4-FFF2-40B4-BE49-F238E27FC236}">
                <a16:creationId xmlns:a16="http://schemas.microsoft.com/office/drawing/2014/main" id="{63673594-CE93-27CB-B3BF-F59D15609A83}"/>
              </a:ext>
            </a:extLst>
          </p:cNvPr>
          <p:cNvSpPr>
            <a:spLocks noGrp="1" noChangeArrowheads="1"/>
          </p:cNvSpPr>
          <p:nvPr>
            <p:ph type="body" idx="1"/>
          </p:nvPr>
        </p:nvSpPr>
        <p:spPr>
          <a:xfrm>
            <a:off x="304800" y="1295400"/>
            <a:ext cx="8458200" cy="5181600"/>
          </a:xfrm>
        </p:spPr>
        <p:txBody>
          <a:bodyPr>
            <a:normAutofit/>
          </a:bodyPr>
          <a:lstStyle/>
          <a:p>
            <a:pPr eaLnBrk="1" hangingPunct="1">
              <a:lnSpc>
                <a:spcPct val="150000"/>
              </a:lnSpc>
            </a:pPr>
            <a:r>
              <a:rPr lang="en-US" altLang="en-US" sz="2000" dirty="0">
                <a:solidFill>
                  <a:schemeClr val="hlink"/>
                </a:solidFill>
                <a:latin typeface="Times New Roman" panose="02020603050405020304" pitchFamily="18" charset="0"/>
                <a:cs typeface="Times New Roman" panose="02020603050405020304" pitchFamily="18" charset="0"/>
              </a:rPr>
              <a:t>Equal-width</a:t>
            </a:r>
            <a:r>
              <a:rPr lang="en-US" altLang="en-US" sz="2000" dirty="0">
                <a:latin typeface="Times New Roman" panose="02020603050405020304" pitchFamily="18" charset="0"/>
                <a:cs typeface="Times New Roman" panose="02020603050405020304" pitchFamily="18" charset="0"/>
              </a:rPr>
              <a:t> (distance) partitioning</a:t>
            </a:r>
          </a:p>
          <a:p>
            <a:pPr lvl="1" eaLnBrk="1" hangingPunct="1">
              <a:lnSpc>
                <a:spcPct val="150000"/>
              </a:lnSpc>
              <a:spcBef>
                <a:spcPct val="0"/>
              </a:spcBef>
            </a:pPr>
            <a:r>
              <a:rPr lang="en-US" altLang="en-US" sz="2000" dirty="0">
                <a:latin typeface="Times New Roman" panose="02020603050405020304" pitchFamily="18" charset="0"/>
                <a:cs typeface="Times New Roman" panose="02020603050405020304" pitchFamily="18" charset="0"/>
              </a:rPr>
              <a:t>Divides the range into </a:t>
            </a:r>
            <a:r>
              <a:rPr lang="en-US" altLang="en-US" sz="2000" i="1" dirty="0">
                <a:latin typeface="Times New Roman" panose="02020603050405020304" pitchFamily="18" charset="0"/>
                <a:cs typeface="Times New Roman" panose="02020603050405020304" pitchFamily="18" charset="0"/>
              </a:rPr>
              <a:t>N</a:t>
            </a:r>
            <a:r>
              <a:rPr lang="en-US" altLang="en-US" sz="2000" dirty="0">
                <a:latin typeface="Times New Roman" panose="02020603050405020304" pitchFamily="18" charset="0"/>
                <a:cs typeface="Times New Roman" panose="02020603050405020304" pitchFamily="18" charset="0"/>
              </a:rPr>
              <a:t> intervals of equal size: </a:t>
            </a:r>
            <a:r>
              <a:rPr lang="en-US" altLang="en-US" sz="2000" dirty="0">
                <a:solidFill>
                  <a:srgbClr val="39513E"/>
                </a:solidFill>
                <a:latin typeface="Times New Roman" panose="02020603050405020304" pitchFamily="18" charset="0"/>
                <a:cs typeface="Times New Roman" panose="02020603050405020304" pitchFamily="18" charset="0"/>
              </a:rPr>
              <a:t>uniform grid</a:t>
            </a:r>
            <a:endParaRPr lang="en-US" altLang="en-US" sz="2000" dirty="0">
              <a:solidFill>
                <a:schemeClr val="hlink"/>
              </a:solidFill>
              <a:latin typeface="Times New Roman" panose="02020603050405020304" pitchFamily="18" charset="0"/>
              <a:cs typeface="Times New Roman" panose="02020603050405020304" pitchFamily="18" charset="0"/>
            </a:endParaRPr>
          </a:p>
          <a:p>
            <a:pPr lvl="1" eaLnBrk="1" hangingPunct="1">
              <a:lnSpc>
                <a:spcPct val="150000"/>
              </a:lnSpc>
              <a:spcBef>
                <a:spcPct val="0"/>
              </a:spcBef>
            </a:pPr>
            <a:r>
              <a:rPr lang="en-US" altLang="en-US" sz="2000" dirty="0">
                <a:latin typeface="Times New Roman" panose="02020603050405020304" pitchFamily="18" charset="0"/>
                <a:cs typeface="Times New Roman" panose="02020603050405020304" pitchFamily="18" charset="0"/>
              </a:rPr>
              <a:t>if </a:t>
            </a:r>
            <a:r>
              <a:rPr lang="en-US" altLang="en-US" sz="2000" i="1" dirty="0">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 and </a:t>
            </a:r>
            <a:r>
              <a:rPr lang="en-US" altLang="en-US" sz="2000" i="1" dirty="0">
                <a:latin typeface="Times New Roman" panose="02020603050405020304" pitchFamily="18" charset="0"/>
                <a:cs typeface="Times New Roman" panose="02020603050405020304" pitchFamily="18" charset="0"/>
              </a:rPr>
              <a:t>B</a:t>
            </a:r>
            <a:r>
              <a:rPr lang="en-US" altLang="en-US" sz="2000" dirty="0">
                <a:latin typeface="Times New Roman" panose="02020603050405020304" pitchFamily="18" charset="0"/>
                <a:cs typeface="Times New Roman" panose="02020603050405020304" pitchFamily="18" charset="0"/>
              </a:rPr>
              <a:t> are the lowest and highest values of the attribute, the width of intervals will be: </a:t>
            </a:r>
            <a:r>
              <a:rPr lang="en-US" altLang="en-US" sz="2000" i="1" dirty="0">
                <a:latin typeface="Times New Roman" panose="02020603050405020304" pitchFamily="18" charset="0"/>
                <a:cs typeface="Times New Roman" panose="02020603050405020304" pitchFamily="18" charset="0"/>
              </a:rPr>
              <a:t>W </a:t>
            </a: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B </a:t>
            </a:r>
            <a:r>
              <a:rPr lang="en-US" altLang="en-US" sz="2000" dirty="0">
                <a:latin typeface="Times New Roman" panose="02020603050405020304" pitchFamily="18" charset="0"/>
                <a:cs typeface="Times New Roman" panose="02020603050405020304" pitchFamily="18" charset="0"/>
              </a:rPr>
              <a:t>–</a:t>
            </a:r>
            <a:r>
              <a:rPr lang="en-US" altLang="en-US" sz="2000" i="1" dirty="0">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a:t>
            </a:r>
            <a:r>
              <a:rPr lang="en-US" altLang="en-US" sz="2000" i="1" dirty="0">
                <a:latin typeface="Times New Roman" panose="02020603050405020304" pitchFamily="18" charset="0"/>
                <a:cs typeface="Times New Roman" panose="02020603050405020304" pitchFamily="18" charset="0"/>
              </a:rPr>
              <a:t>N.</a:t>
            </a:r>
            <a:endParaRPr lang="en-US" altLang="en-US" sz="2000" dirty="0">
              <a:latin typeface="Times New Roman" panose="02020603050405020304" pitchFamily="18" charset="0"/>
              <a:cs typeface="Times New Roman" panose="02020603050405020304" pitchFamily="18" charset="0"/>
            </a:endParaRPr>
          </a:p>
          <a:p>
            <a:pPr lvl="1" eaLnBrk="1" hangingPunct="1">
              <a:lnSpc>
                <a:spcPct val="150000"/>
              </a:lnSpc>
              <a:spcBef>
                <a:spcPct val="0"/>
              </a:spcBef>
            </a:pPr>
            <a:r>
              <a:rPr lang="en-US" altLang="en-US" sz="2000" dirty="0">
                <a:latin typeface="Times New Roman" panose="02020603050405020304" pitchFamily="18" charset="0"/>
                <a:cs typeface="Times New Roman" panose="02020603050405020304" pitchFamily="18" charset="0"/>
              </a:rPr>
              <a:t>The most straightforward, but outliers may dominate presentation</a:t>
            </a:r>
          </a:p>
          <a:p>
            <a:pPr lvl="1" eaLnBrk="1" hangingPunct="1">
              <a:lnSpc>
                <a:spcPct val="150000"/>
              </a:lnSpc>
              <a:spcBef>
                <a:spcPct val="0"/>
              </a:spcBef>
            </a:pPr>
            <a:r>
              <a:rPr lang="en-US" altLang="en-US" sz="2000" dirty="0">
                <a:latin typeface="Times New Roman" panose="02020603050405020304" pitchFamily="18" charset="0"/>
                <a:cs typeface="Times New Roman" panose="02020603050405020304" pitchFamily="18" charset="0"/>
              </a:rPr>
              <a:t>Skewed data is not handled well</a:t>
            </a:r>
            <a:endParaRPr lang="en-US" altLang="en-US" sz="2000" i="1" dirty="0">
              <a:latin typeface="Times New Roman" panose="02020603050405020304" pitchFamily="18" charset="0"/>
              <a:cs typeface="Times New Roman" panose="02020603050405020304" pitchFamily="18" charset="0"/>
            </a:endParaRPr>
          </a:p>
          <a:p>
            <a:pPr eaLnBrk="1" hangingPunct="1">
              <a:lnSpc>
                <a:spcPct val="150000"/>
              </a:lnSpc>
            </a:pPr>
            <a:r>
              <a:rPr lang="en-US" altLang="en-US" sz="2000" dirty="0">
                <a:solidFill>
                  <a:schemeClr val="hlink"/>
                </a:solidFill>
                <a:latin typeface="Times New Roman" panose="02020603050405020304" pitchFamily="18" charset="0"/>
                <a:cs typeface="Times New Roman" panose="02020603050405020304" pitchFamily="18" charset="0"/>
              </a:rPr>
              <a:t>Equal-depth</a:t>
            </a:r>
            <a:r>
              <a:rPr lang="en-US" altLang="en-US" sz="2000" dirty="0">
                <a:latin typeface="Times New Roman" panose="02020603050405020304" pitchFamily="18" charset="0"/>
                <a:cs typeface="Times New Roman" panose="02020603050405020304" pitchFamily="18" charset="0"/>
              </a:rPr>
              <a:t> (frequency) partitioning</a:t>
            </a:r>
          </a:p>
          <a:p>
            <a:pPr lvl="1" eaLnBrk="1" hangingPunct="1">
              <a:lnSpc>
                <a:spcPct val="150000"/>
              </a:lnSpc>
              <a:spcBef>
                <a:spcPct val="0"/>
              </a:spcBef>
            </a:pPr>
            <a:r>
              <a:rPr lang="en-US" altLang="en-US" sz="2000" dirty="0">
                <a:latin typeface="Times New Roman" panose="02020603050405020304" pitchFamily="18" charset="0"/>
                <a:cs typeface="Times New Roman" panose="02020603050405020304" pitchFamily="18" charset="0"/>
              </a:rPr>
              <a:t>Divides the range into </a:t>
            </a:r>
            <a:r>
              <a:rPr lang="en-US" altLang="en-US" sz="2000" i="1" dirty="0">
                <a:latin typeface="Times New Roman" panose="02020603050405020304" pitchFamily="18" charset="0"/>
                <a:cs typeface="Times New Roman" panose="02020603050405020304" pitchFamily="18" charset="0"/>
              </a:rPr>
              <a:t>N</a:t>
            </a:r>
            <a:r>
              <a:rPr lang="en-US" altLang="en-US" sz="2000" dirty="0">
                <a:latin typeface="Times New Roman" panose="02020603050405020304" pitchFamily="18" charset="0"/>
                <a:cs typeface="Times New Roman" panose="02020603050405020304" pitchFamily="18" charset="0"/>
              </a:rPr>
              <a:t> intervals, each containing approximately same number of samples</a:t>
            </a:r>
          </a:p>
          <a:p>
            <a:pPr lvl="1" eaLnBrk="1" hangingPunct="1">
              <a:lnSpc>
                <a:spcPct val="150000"/>
              </a:lnSpc>
              <a:spcBef>
                <a:spcPct val="0"/>
              </a:spcBef>
            </a:pPr>
            <a:r>
              <a:rPr lang="en-US" altLang="en-US" sz="2000" dirty="0">
                <a:latin typeface="Times New Roman" panose="02020603050405020304" pitchFamily="18" charset="0"/>
                <a:cs typeface="Times New Roman" panose="02020603050405020304" pitchFamily="18" charset="0"/>
              </a:rPr>
              <a:t>Good data scaling</a:t>
            </a:r>
          </a:p>
          <a:p>
            <a:pPr lvl="1" eaLnBrk="1" hangingPunct="1">
              <a:lnSpc>
                <a:spcPct val="150000"/>
              </a:lnSpc>
              <a:spcBef>
                <a:spcPct val="0"/>
              </a:spcBef>
            </a:pPr>
            <a:r>
              <a:rPr lang="en-US" altLang="en-US" sz="2000" dirty="0">
                <a:latin typeface="Times New Roman" panose="02020603050405020304" pitchFamily="18" charset="0"/>
                <a:cs typeface="Times New Roman" panose="02020603050405020304" pitchFamily="18" charset="0"/>
              </a:rPr>
              <a:t>Managing categorical attributes can be tricky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061">
            <a:extLst>
              <a:ext uri="{FF2B5EF4-FFF2-40B4-BE49-F238E27FC236}">
                <a16:creationId xmlns:a16="http://schemas.microsoft.com/office/drawing/2014/main" id="{106A7A1C-191B-5A05-DE31-5A1EC578587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4AF86EC5-4F4C-435C-9CD9-E5B3B224B7DD}" type="slidenum">
              <a:rPr lang="en-US" altLang="en-US" sz="1200"/>
              <a:pPr eaLnBrk="1" hangingPunct="1"/>
              <a:t>59</a:t>
            </a:fld>
            <a:endParaRPr lang="en-US" altLang="en-US" sz="1200"/>
          </a:p>
        </p:txBody>
      </p:sp>
      <p:sp>
        <p:nvSpPr>
          <p:cNvPr id="60419" name="Rectangle 2">
            <a:extLst>
              <a:ext uri="{FF2B5EF4-FFF2-40B4-BE49-F238E27FC236}">
                <a16:creationId xmlns:a16="http://schemas.microsoft.com/office/drawing/2014/main" id="{2C0E9FC0-1364-3BE1-081D-9EB84281B870}"/>
              </a:ext>
            </a:extLst>
          </p:cNvPr>
          <p:cNvSpPr>
            <a:spLocks noGrp="1" noChangeArrowheads="1"/>
          </p:cNvSpPr>
          <p:nvPr>
            <p:ph type="title"/>
          </p:nvPr>
        </p:nvSpPr>
        <p:spPr>
          <a:xfrm>
            <a:off x="76200" y="304800"/>
            <a:ext cx="9067800" cy="609600"/>
          </a:xfrm>
        </p:spPr>
        <p:txBody>
          <a:bodyPr>
            <a:normAutofit fontScale="90000"/>
          </a:bodyPr>
          <a:lstStyle/>
          <a:p>
            <a:pPr algn="ctr" eaLnBrk="1" hangingPunct="1"/>
            <a:r>
              <a:rPr lang="en-US" altLang="en-US" dirty="0">
                <a:solidFill>
                  <a:srgbClr val="002060"/>
                </a:solidFill>
                <a:effectLst/>
                <a:latin typeface="Times New Roman" panose="02020603050405020304" pitchFamily="18" charset="0"/>
                <a:cs typeface="Times New Roman" panose="02020603050405020304" pitchFamily="18" charset="0"/>
              </a:rPr>
              <a:t>Binning Methods for Data Smoothing</a:t>
            </a:r>
          </a:p>
        </p:txBody>
      </p:sp>
      <p:sp>
        <p:nvSpPr>
          <p:cNvPr id="60420" name="Rectangle 3">
            <a:extLst>
              <a:ext uri="{FF2B5EF4-FFF2-40B4-BE49-F238E27FC236}">
                <a16:creationId xmlns:a16="http://schemas.microsoft.com/office/drawing/2014/main" id="{5824E44F-0A06-4BFF-7519-0126E5CC2FCA}"/>
              </a:ext>
            </a:extLst>
          </p:cNvPr>
          <p:cNvSpPr>
            <a:spLocks noGrp="1" noChangeArrowheads="1"/>
          </p:cNvSpPr>
          <p:nvPr>
            <p:ph type="body" idx="1"/>
          </p:nvPr>
        </p:nvSpPr>
        <p:spPr>
          <a:xfrm>
            <a:off x="457200" y="1371600"/>
            <a:ext cx="8077200" cy="5029200"/>
          </a:xfrm>
        </p:spPr>
        <p:txBody>
          <a:bodyPr/>
          <a:lstStyle/>
          <a:p>
            <a:pPr eaLnBrk="1" hangingPunct="1">
              <a:buFont typeface="Wingdings" panose="05000000000000000000" pitchFamily="2" charset="2"/>
              <a:buChar char="q"/>
            </a:pPr>
            <a:r>
              <a:rPr lang="en-US" altLang="en-US" sz="2000" dirty="0">
                <a:latin typeface="Times New Roman" panose="02020603050405020304" pitchFamily="18" charset="0"/>
                <a:cs typeface="Times New Roman" panose="02020603050405020304" pitchFamily="18" charset="0"/>
              </a:rPr>
              <a:t>Sorted data for price (in dollars): 4, 8, 9, 15, 21, 21, 24, 25, 26, 28, 29, 34</a:t>
            </a:r>
          </a:p>
          <a:p>
            <a:pPr eaLnBrk="1" hangingPunct="1">
              <a:buFontTx/>
              <a:buNone/>
            </a:pPr>
            <a:r>
              <a:rPr lang="en-US" altLang="en-US" sz="2000" dirty="0">
                <a:latin typeface="Times New Roman" panose="02020603050405020304" pitchFamily="18" charset="0"/>
                <a:cs typeface="Times New Roman" panose="02020603050405020304" pitchFamily="18" charset="0"/>
              </a:rPr>
              <a:t>*  Partition into equal-frequency (</a:t>
            </a:r>
            <a:r>
              <a:rPr lang="en-US" altLang="en-US" sz="2000" b="1" dirty="0" err="1">
                <a:latin typeface="Times New Roman" panose="02020603050405020304" pitchFamily="18" charset="0"/>
                <a:cs typeface="Times New Roman" panose="02020603050405020304" pitchFamily="18" charset="0"/>
              </a:rPr>
              <a:t>equi</a:t>
            </a:r>
            <a:r>
              <a:rPr lang="en-US" altLang="en-US" sz="2000" b="1" dirty="0">
                <a:latin typeface="Times New Roman" panose="02020603050405020304" pitchFamily="18" charset="0"/>
                <a:cs typeface="Times New Roman" panose="02020603050405020304" pitchFamily="18" charset="0"/>
              </a:rPr>
              <a:t>-depth</a:t>
            </a:r>
            <a:r>
              <a:rPr lang="en-US" altLang="en-US" sz="2000" dirty="0">
                <a:latin typeface="Times New Roman" panose="02020603050405020304" pitchFamily="18" charset="0"/>
                <a:cs typeface="Times New Roman" panose="02020603050405020304" pitchFamily="18" charset="0"/>
              </a:rPr>
              <a:t>) bins:</a:t>
            </a:r>
          </a:p>
          <a:p>
            <a:pPr eaLnBrk="1" hangingPunct="1">
              <a:buFontTx/>
              <a:buNone/>
            </a:pPr>
            <a:r>
              <a:rPr lang="en-US" altLang="en-US" sz="2000" dirty="0">
                <a:latin typeface="Times New Roman" panose="02020603050405020304" pitchFamily="18" charset="0"/>
                <a:cs typeface="Times New Roman" panose="02020603050405020304" pitchFamily="18" charset="0"/>
              </a:rPr>
              <a:t>      - Bin 1: 4, 8, 9, 15</a:t>
            </a:r>
          </a:p>
          <a:p>
            <a:pPr eaLnBrk="1" hangingPunct="1">
              <a:buFontTx/>
              <a:buNone/>
            </a:pPr>
            <a:r>
              <a:rPr lang="en-US" altLang="en-US" sz="2000" dirty="0">
                <a:latin typeface="Times New Roman" panose="02020603050405020304" pitchFamily="18" charset="0"/>
                <a:cs typeface="Times New Roman" panose="02020603050405020304" pitchFamily="18" charset="0"/>
              </a:rPr>
              <a:t>      - Bin 2: 21, 21, 24, 25</a:t>
            </a:r>
          </a:p>
          <a:p>
            <a:pPr eaLnBrk="1" hangingPunct="1">
              <a:buFontTx/>
              <a:buNone/>
            </a:pPr>
            <a:r>
              <a:rPr lang="en-US" altLang="en-US" sz="2000" dirty="0">
                <a:latin typeface="Times New Roman" panose="02020603050405020304" pitchFamily="18" charset="0"/>
                <a:cs typeface="Times New Roman" panose="02020603050405020304" pitchFamily="18" charset="0"/>
              </a:rPr>
              <a:t>      - Bin 3: 26, 28, 29, 34</a:t>
            </a:r>
          </a:p>
          <a:p>
            <a:pPr eaLnBrk="1" hangingPunct="1">
              <a:buFontTx/>
              <a:buNone/>
            </a:pPr>
            <a:r>
              <a:rPr lang="en-US" altLang="en-US" sz="2000" dirty="0">
                <a:latin typeface="Times New Roman" panose="02020603050405020304" pitchFamily="18" charset="0"/>
                <a:cs typeface="Times New Roman" panose="02020603050405020304" pitchFamily="18" charset="0"/>
              </a:rPr>
              <a:t>*  Smoothing by </a:t>
            </a:r>
            <a:r>
              <a:rPr lang="en-US" altLang="en-US" sz="2000" b="1" dirty="0">
                <a:latin typeface="Times New Roman" panose="02020603050405020304" pitchFamily="18" charset="0"/>
                <a:cs typeface="Times New Roman" panose="02020603050405020304" pitchFamily="18" charset="0"/>
              </a:rPr>
              <a:t>bin means</a:t>
            </a:r>
            <a:r>
              <a:rPr lang="en-US" altLang="en-US" sz="2000" dirty="0">
                <a:latin typeface="Times New Roman" panose="02020603050405020304" pitchFamily="18" charset="0"/>
                <a:cs typeface="Times New Roman" panose="02020603050405020304" pitchFamily="18" charset="0"/>
              </a:rPr>
              <a:t>:</a:t>
            </a:r>
          </a:p>
          <a:p>
            <a:pPr eaLnBrk="1" hangingPunct="1">
              <a:buFontTx/>
              <a:buNone/>
            </a:pPr>
            <a:r>
              <a:rPr lang="en-US" altLang="en-US" sz="2000" dirty="0">
                <a:latin typeface="Times New Roman" panose="02020603050405020304" pitchFamily="18" charset="0"/>
                <a:cs typeface="Times New Roman" panose="02020603050405020304" pitchFamily="18" charset="0"/>
              </a:rPr>
              <a:t>      - Bin 1: 9, 9, 9, 9</a:t>
            </a:r>
          </a:p>
          <a:p>
            <a:pPr eaLnBrk="1" hangingPunct="1">
              <a:buFontTx/>
              <a:buNone/>
            </a:pPr>
            <a:r>
              <a:rPr lang="en-US" altLang="en-US" sz="2000" dirty="0">
                <a:latin typeface="Times New Roman" panose="02020603050405020304" pitchFamily="18" charset="0"/>
                <a:cs typeface="Times New Roman" panose="02020603050405020304" pitchFamily="18" charset="0"/>
              </a:rPr>
              <a:t>      - Bin 2: 23, 23, 23, 23</a:t>
            </a:r>
          </a:p>
          <a:p>
            <a:pPr eaLnBrk="1" hangingPunct="1">
              <a:buFontTx/>
              <a:buNone/>
            </a:pPr>
            <a:r>
              <a:rPr lang="en-US" altLang="en-US" sz="2000" dirty="0">
                <a:latin typeface="Times New Roman" panose="02020603050405020304" pitchFamily="18" charset="0"/>
                <a:cs typeface="Times New Roman" panose="02020603050405020304" pitchFamily="18" charset="0"/>
              </a:rPr>
              <a:t>      - Bin 3: 29, 29, 29, 29</a:t>
            </a:r>
          </a:p>
          <a:p>
            <a:pPr eaLnBrk="1" hangingPunct="1">
              <a:buFontTx/>
              <a:buNone/>
            </a:pPr>
            <a:r>
              <a:rPr lang="en-US" altLang="en-US" sz="2000" dirty="0">
                <a:latin typeface="Times New Roman" panose="02020603050405020304" pitchFamily="18" charset="0"/>
                <a:cs typeface="Times New Roman" panose="02020603050405020304" pitchFamily="18" charset="0"/>
              </a:rPr>
              <a:t>*  Smoothing by </a:t>
            </a:r>
            <a:r>
              <a:rPr lang="en-US" altLang="en-US" sz="2000" b="1" dirty="0">
                <a:latin typeface="Times New Roman" panose="02020603050405020304" pitchFamily="18" charset="0"/>
                <a:cs typeface="Times New Roman" panose="02020603050405020304" pitchFamily="18" charset="0"/>
              </a:rPr>
              <a:t>bin boundaries</a:t>
            </a:r>
            <a:r>
              <a:rPr lang="en-US" altLang="en-US" sz="2000" dirty="0">
                <a:latin typeface="Times New Roman" panose="02020603050405020304" pitchFamily="18" charset="0"/>
                <a:cs typeface="Times New Roman" panose="02020603050405020304" pitchFamily="18" charset="0"/>
              </a:rPr>
              <a:t>:</a:t>
            </a:r>
          </a:p>
          <a:p>
            <a:pPr eaLnBrk="1" hangingPunct="1">
              <a:buFontTx/>
              <a:buNone/>
            </a:pPr>
            <a:r>
              <a:rPr lang="en-US" altLang="en-US" sz="2000" dirty="0">
                <a:latin typeface="Times New Roman" panose="02020603050405020304" pitchFamily="18" charset="0"/>
                <a:cs typeface="Times New Roman" panose="02020603050405020304" pitchFamily="18" charset="0"/>
              </a:rPr>
              <a:t>      - Bin 1: 4, 4, 4, 15</a:t>
            </a:r>
          </a:p>
          <a:p>
            <a:pPr eaLnBrk="1" hangingPunct="1">
              <a:buFontTx/>
              <a:buNone/>
            </a:pPr>
            <a:r>
              <a:rPr lang="en-US" altLang="en-US" sz="2000" dirty="0">
                <a:latin typeface="Times New Roman" panose="02020603050405020304" pitchFamily="18" charset="0"/>
                <a:cs typeface="Times New Roman" panose="02020603050405020304" pitchFamily="18" charset="0"/>
              </a:rPr>
              <a:t>      - Bin 2: 21, 21, 25, 25</a:t>
            </a:r>
          </a:p>
          <a:p>
            <a:pPr eaLnBrk="1" hangingPunct="1">
              <a:buFontTx/>
              <a:buNone/>
            </a:pPr>
            <a:r>
              <a:rPr lang="en-US" altLang="en-US" sz="2000" dirty="0">
                <a:latin typeface="Times New Roman" panose="02020603050405020304" pitchFamily="18" charset="0"/>
                <a:cs typeface="Times New Roman" panose="02020603050405020304" pitchFamily="18" charset="0"/>
              </a:rPr>
              <a:t>      - Bin 3: 26, 26, 26, 34</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061">
            <a:extLst>
              <a:ext uri="{FF2B5EF4-FFF2-40B4-BE49-F238E27FC236}">
                <a16:creationId xmlns:a16="http://schemas.microsoft.com/office/drawing/2014/main" id="{15862225-26BB-1CC3-4951-4D40425003F0}"/>
              </a:ext>
            </a:extLst>
          </p:cNvPr>
          <p:cNvSpPr txBox="1">
            <a:spLocks noGrp="1" noChangeArrowheads="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D1328489-5EDF-4B53-857D-AF74B59EFC22}" type="slidenum">
              <a:rPr lang="en-US" altLang="en-US" sz="1200"/>
              <a:pPr algn="r" eaLnBrk="1" hangingPunct="1"/>
              <a:t>60</a:t>
            </a:fld>
            <a:endParaRPr lang="en-US" altLang="en-US" sz="1200"/>
          </a:p>
        </p:txBody>
      </p:sp>
      <p:sp>
        <p:nvSpPr>
          <p:cNvPr id="61443" name="Rectangle 2">
            <a:extLst>
              <a:ext uri="{FF2B5EF4-FFF2-40B4-BE49-F238E27FC236}">
                <a16:creationId xmlns:a16="http://schemas.microsoft.com/office/drawing/2014/main" id="{AEEBC926-383D-8FE4-A479-95DC1475C6E7}"/>
              </a:ext>
            </a:extLst>
          </p:cNvPr>
          <p:cNvSpPr>
            <a:spLocks noGrp="1" noChangeArrowheads="1"/>
          </p:cNvSpPr>
          <p:nvPr>
            <p:ph type="title" idx="4294967295"/>
          </p:nvPr>
        </p:nvSpPr>
        <p:spPr>
          <a:xfrm>
            <a:off x="228600" y="0"/>
            <a:ext cx="8763000" cy="12192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Discretization Without Using Class Labels</a:t>
            </a:r>
            <a:br>
              <a:rPr lang="en-US" altLang="en-US" sz="3200" dirty="0">
                <a:solidFill>
                  <a:srgbClr val="002060"/>
                </a:solidFill>
                <a:effectLst/>
                <a:latin typeface="Times New Roman" panose="02020603050405020304" pitchFamily="18" charset="0"/>
                <a:cs typeface="Times New Roman" panose="02020603050405020304" pitchFamily="18" charset="0"/>
              </a:rPr>
            </a:br>
            <a:r>
              <a:rPr lang="en-US" altLang="en-US" sz="3200" dirty="0">
                <a:solidFill>
                  <a:srgbClr val="002060"/>
                </a:solidFill>
                <a:effectLst/>
                <a:latin typeface="Times New Roman" panose="02020603050405020304" pitchFamily="18" charset="0"/>
                <a:cs typeface="Times New Roman" panose="02020603050405020304" pitchFamily="18" charset="0"/>
              </a:rPr>
              <a:t>(Binning vs. Clustering) </a:t>
            </a:r>
          </a:p>
        </p:txBody>
      </p:sp>
      <p:pic>
        <p:nvPicPr>
          <p:cNvPr id="61444" name="Picture 3">
            <a:extLst>
              <a:ext uri="{FF2B5EF4-FFF2-40B4-BE49-F238E27FC236}">
                <a16:creationId xmlns:a16="http://schemas.microsoft.com/office/drawing/2014/main" id="{59E6BF80-E46E-4EB2-ED9E-4EFA224B81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24000"/>
            <a:ext cx="4114800"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5" name="Picture 4">
            <a:extLst>
              <a:ext uri="{FF2B5EF4-FFF2-40B4-BE49-F238E27FC236}">
                <a16:creationId xmlns:a16="http://schemas.microsoft.com/office/drawing/2014/main" id="{67BB45AC-F0C7-C972-F160-51A71B9C14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447800"/>
            <a:ext cx="44958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6" name="Picture 5">
            <a:extLst>
              <a:ext uri="{FF2B5EF4-FFF2-40B4-BE49-F238E27FC236}">
                <a16:creationId xmlns:a16="http://schemas.microsoft.com/office/drawing/2014/main" id="{A4C80521-EBC6-E9F3-5306-5EFEF23332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810000"/>
            <a:ext cx="41910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1447" name="Text Box 6">
            <a:extLst>
              <a:ext uri="{FF2B5EF4-FFF2-40B4-BE49-F238E27FC236}">
                <a16:creationId xmlns:a16="http://schemas.microsoft.com/office/drawing/2014/main" id="{DC0CF2DE-B270-024F-59C9-E81BBCF03D00}"/>
              </a:ext>
            </a:extLst>
          </p:cNvPr>
          <p:cNvSpPr txBox="1">
            <a:spLocks noChangeArrowheads="1"/>
          </p:cNvSpPr>
          <p:nvPr/>
        </p:nvSpPr>
        <p:spPr bwMode="auto">
          <a:xfrm>
            <a:off x="1676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1448" name="Text Box 7">
            <a:extLst>
              <a:ext uri="{FF2B5EF4-FFF2-40B4-BE49-F238E27FC236}">
                <a16:creationId xmlns:a16="http://schemas.microsoft.com/office/drawing/2014/main" id="{47E0370B-8503-D8FC-9298-6B6C871069B6}"/>
              </a:ext>
            </a:extLst>
          </p:cNvPr>
          <p:cNvSpPr txBox="1">
            <a:spLocks noChangeArrowheads="1"/>
          </p:cNvSpPr>
          <p:nvPr/>
        </p:nvSpPr>
        <p:spPr bwMode="auto">
          <a:xfrm>
            <a:off x="1447800" y="3810000"/>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1400" b="1">
                <a:latin typeface="Arial" panose="020B0604020202020204" pitchFamily="34" charset="0"/>
              </a:rPr>
              <a:t>Data</a:t>
            </a:r>
          </a:p>
        </p:txBody>
      </p:sp>
      <p:sp>
        <p:nvSpPr>
          <p:cNvPr id="61449" name="Text Box 8">
            <a:extLst>
              <a:ext uri="{FF2B5EF4-FFF2-40B4-BE49-F238E27FC236}">
                <a16:creationId xmlns:a16="http://schemas.microsoft.com/office/drawing/2014/main" id="{854F057B-E59B-0B97-60DA-92E9359022AE}"/>
              </a:ext>
            </a:extLst>
          </p:cNvPr>
          <p:cNvSpPr txBox="1">
            <a:spLocks noChangeArrowheads="1"/>
          </p:cNvSpPr>
          <p:nvPr/>
        </p:nvSpPr>
        <p:spPr bwMode="auto">
          <a:xfrm>
            <a:off x="4876800" y="3810000"/>
            <a:ext cx="266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1400" b="1">
                <a:latin typeface="Arial" panose="020B0604020202020204" pitchFamily="34" charset="0"/>
              </a:rPr>
              <a:t>Equal interval width (binning)</a:t>
            </a:r>
          </a:p>
        </p:txBody>
      </p:sp>
      <p:sp>
        <p:nvSpPr>
          <p:cNvPr id="61450" name="Text Box 9">
            <a:extLst>
              <a:ext uri="{FF2B5EF4-FFF2-40B4-BE49-F238E27FC236}">
                <a16:creationId xmlns:a16="http://schemas.microsoft.com/office/drawing/2014/main" id="{E9EE5A11-2ED3-4DE4-D4A6-EB8359DFF330}"/>
              </a:ext>
            </a:extLst>
          </p:cNvPr>
          <p:cNvSpPr txBox="1">
            <a:spLocks noChangeArrowheads="1"/>
          </p:cNvSpPr>
          <p:nvPr/>
        </p:nvSpPr>
        <p:spPr bwMode="auto">
          <a:xfrm>
            <a:off x="1143000" y="6172200"/>
            <a:ext cx="2514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1400" b="1">
                <a:latin typeface="Arial" panose="020B0604020202020204" pitchFamily="34" charset="0"/>
              </a:rPr>
              <a:t>Equal frequency (binning)</a:t>
            </a:r>
          </a:p>
        </p:txBody>
      </p:sp>
      <p:sp>
        <p:nvSpPr>
          <p:cNvPr id="61451" name="Text Box 10">
            <a:extLst>
              <a:ext uri="{FF2B5EF4-FFF2-40B4-BE49-F238E27FC236}">
                <a16:creationId xmlns:a16="http://schemas.microsoft.com/office/drawing/2014/main" id="{8717650A-841E-CEF8-7200-52362F72DD38}"/>
              </a:ext>
            </a:extLst>
          </p:cNvPr>
          <p:cNvSpPr txBox="1">
            <a:spLocks noChangeArrowheads="1"/>
          </p:cNvSpPr>
          <p:nvPr/>
        </p:nvSpPr>
        <p:spPr bwMode="auto">
          <a:xfrm>
            <a:off x="4572000" y="6172200"/>
            <a:ext cx="3733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1400" b="1">
                <a:latin typeface="Arial" panose="020B0604020202020204" pitchFamily="34" charset="0"/>
              </a:rPr>
              <a:t>K-means clustering leads to better results</a:t>
            </a:r>
          </a:p>
        </p:txBody>
      </p:sp>
      <p:pic>
        <p:nvPicPr>
          <p:cNvPr id="61452" name="Picture 11">
            <a:extLst>
              <a:ext uri="{FF2B5EF4-FFF2-40B4-BE49-F238E27FC236}">
                <a16:creationId xmlns:a16="http://schemas.microsoft.com/office/drawing/2014/main" id="{6A3E6EB8-07B6-95B4-3ED3-E767F3FD85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600" y="3768725"/>
            <a:ext cx="4876800"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061">
            <a:extLst>
              <a:ext uri="{FF2B5EF4-FFF2-40B4-BE49-F238E27FC236}">
                <a16:creationId xmlns:a16="http://schemas.microsoft.com/office/drawing/2014/main" id="{5A133086-697F-6506-0E11-4915EC6E5AD9}"/>
              </a:ext>
            </a:extLst>
          </p:cNvPr>
          <p:cNvSpPr txBox="1">
            <a:spLocks noGrp="1" noChangeArrowheads="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AECC889D-4292-46C5-AE08-3C8D599B2B9A}" type="slidenum">
              <a:rPr lang="en-US" altLang="en-US" sz="1200"/>
              <a:pPr algn="r" eaLnBrk="1" hangingPunct="1"/>
              <a:t>61</a:t>
            </a:fld>
            <a:endParaRPr lang="en-US" altLang="en-US" sz="1200"/>
          </a:p>
        </p:txBody>
      </p:sp>
      <p:sp>
        <p:nvSpPr>
          <p:cNvPr id="62467" name="Rectangle 2">
            <a:extLst>
              <a:ext uri="{FF2B5EF4-FFF2-40B4-BE49-F238E27FC236}">
                <a16:creationId xmlns:a16="http://schemas.microsoft.com/office/drawing/2014/main" id="{1E909B0E-4E96-BDBD-DDB1-C5EADB02CB70}"/>
              </a:ext>
            </a:extLst>
          </p:cNvPr>
          <p:cNvSpPr>
            <a:spLocks noGrp="1" noChangeArrowheads="1"/>
          </p:cNvSpPr>
          <p:nvPr>
            <p:ph type="title" idx="4294967295"/>
          </p:nvPr>
        </p:nvSpPr>
        <p:spPr>
          <a:xfrm>
            <a:off x="228600" y="0"/>
            <a:ext cx="8585200" cy="12192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Discretization by Classification &amp; Correlation Analysis</a:t>
            </a:r>
          </a:p>
        </p:txBody>
      </p:sp>
      <p:sp>
        <p:nvSpPr>
          <p:cNvPr id="62468" name="Rectangle 3">
            <a:extLst>
              <a:ext uri="{FF2B5EF4-FFF2-40B4-BE49-F238E27FC236}">
                <a16:creationId xmlns:a16="http://schemas.microsoft.com/office/drawing/2014/main" id="{1470F802-E968-7C42-CFAF-A6D226C7345F}"/>
              </a:ext>
            </a:extLst>
          </p:cNvPr>
          <p:cNvSpPr>
            <a:spLocks noGrp="1" noChangeArrowheads="1"/>
          </p:cNvSpPr>
          <p:nvPr>
            <p:ph type="body" idx="4294967295"/>
          </p:nvPr>
        </p:nvSpPr>
        <p:spPr>
          <a:xfrm>
            <a:off x="457200" y="1295400"/>
            <a:ext cx="8394700" cy="5181600"/>
          </a:xfrm>
          <a:noFill/>
        </p:spPr>
        <p:txBody>
          <a:bodyPr lIns="90488" tIns="44450" rIns="90488" bIns="44450">
            <a:normAutofit/>
          </a:bodyPr>
          <a:lstStyle/>
          <a:p>
            <a:pPr marL="285750" indent="-285750" algn="just" eaLnBrk="1" hangingPunct="1">
              <a:lnSpc>
                <a:spcPct val="145000"/>
              </a:lnSpc>
              <a:tabLst>
                <a:tab pos="1198563" algn="l"/>
              </a:tabLst>
            </a:pPr>
            <a:r>
              <a:rPr lang="en-US" altLang="en-US" sz="2000" dirty="0">
                <a:latin typeface="Times New Roman" panose="02020603050405020304" pitchFamily="18" charset="0"/>
                <a:cs typeface="Times New Roman" panose="02020603050405020304" pitchFamily="18" charset="0"/>
              </a:rPr>
              <a:t>Classification (e.g., decision tree analysis)</a:t>
            </a:r>
          </a:p>
          <a:p>
            <a:pPr lvl="1" algn="just" eaLnBrk="1" hangingPunct="1">
              <a:lnSpc>
                <a:spcPct val="145000"/>
              </a:lnSpc>
              <a:tabLst>
                <a:tab pos="1198563" algn="l"/>
              </a:tabLst>
            </a:pPr>
            <a:r>
              <a:rPr lang="en-US" altLang="en-US" sz="2000" dirty="0">
                <a:latin typeface="Times New Roman" panose="02020603050405020304" pitchFamily="18" charset="0"/>
                <a:cs typeface="Times New Roman" panose="02020603050405020304" pitchFamily="18" charset="0"/>
              </a:rPr>
              <a:t>Supervised: Given class labels, e.g., cancerous vs. benign</a:t>
            </a:r>
          </a:p>
          <a:p>
            <a:pPr lvl="1" algn="just" eaLnBrk="1" hangingPunct="1">
              <a:lnSpc>
                <a:spcPct val="145000"/>
              </a:lnSpc>
              <a:tabLst>
                <a:tab pos="1198563" algn="l"/>
              </a:tabLst>
            </a:pPr>
            <a:r>
              <a:rPr lang="en-US" altLang="en-US" sz="2000" dirty="0">
                <a:latin typeface="Times New Roman" panose="02020603050405020304" pitchFamily="18" charset="0"/>
                <a:cs typeface="Times New Roman" panose="02020603050405020304" pitchFamily="18" charset="0"/>
              </a:rPr>
              <a:t>Using </a:t>
            </a:r>
            <a:r>
              <a:rPr lang="en-US" altLang="en-US" sz="2000" i="1" dirty="0">
                <a:latin typeface="Times New Roman" panose="02020603050405020304" pitchFamily="18" charset="0"/>
                <a:cs typeface="Times New Roman" panose="02020603050405020304" pitchFamily="18" charset="0"/>
              </a:rPr>
              <a:t>entropy</a:t>
            </a:r>
            <a:r>
              <a:rPr lang="en-US" altLang="en-US" sz="2000" dirty="0">
                <a:latin typeface="Times New Roman" panose="02020603050405020304" pitchFamily="18" charset="0"/>
                <a:cs typeface="Times New Roman" panose="02020603050405020304" pitchFamily="18" charset="0"/>
              </a:rPr>
              <a:t> to determine split point (discretization point)</a:t>
            </a:r>
          </a:p>
          <a:p>
            <a:pPr lvl="1" algn="just" eaLnBrk="1" hangingPunct="1">
              <a:lnSpc>
                <a:spcPct val="145000"/>
              </a:lnSpc>
              <a:tabLst>
                <a:tab pos="1198563" algn="l"/>
              </a:tabLst>
            </a:pPr>
            <a:r>
              <a:rPr lang="en-US" altLang="en-US" sz="2000" dirty="0">
                <a:latin typeface="Times New Roman" panose="02020603050405020304" pitchFamily="18" charset="0"/>
                <a:cs typeface="Times New Roman" panose="02020603050405020304" pitchFamily="18" charset="0"/>
              </a:rPr>
              <a:t>Top-down, recursive split</a:t>
            </a:r>
          </a:p>
          <a:p>
            <a:pPr lvl="1" algn="just" eaLnBrk="1" hangingPunct="1">
              <a:lnSpc>
                <a:spcPct val="145000"/>
              </a:lnSpc>
              <a:tabLst>
                <a:tab pos="1198563" algn="l"/>
              </a:tabLst>
            </a:pPr>
            <a:r>
              <a:rPr lang="en-US" altLang="en-US" sz="2000" dirty="0">
                <a:latin typeface="Times New Roman" panose="02020603050405020304" pitchFamily="18" charset="0"/>
                <a:cs typeface="Times New Roman" panose="02020603050405020304" pitchFamily="18" charset="0"/>
              </a:rPr>
              <a:t>Details to be covered in Chapter 7</a:t>
            </a:r>
          </a:p>
          <a:p>
            <a:pPr marL="285750" indent="-285750" algn="just" eaLnBrk="1" hangingPunct="1">
              <a:lnSpc>
                <a:spcPct val="145000"/>
              </a:lnSpc>
              <a:tabLst>
                <a:tab pos="1198563" algn="l"/>
              </a:tabLst>
            </a:pPr>
            <a:r>
              <a:rPr lang="en-US" altLang="en-US" sz="2000" dirty="0">
                <a:latin typeface="Times New Roman" panose="02020603050405020304" pitchFamily="18" charset="0"/>
                <a:cs typeface="Times New Roman" panose="02020603050405020304" pitchFamily="18" charset="0"/>
              </a:rPr>
              <a:t>Correlation analysis (e.g., Chi-merge: </a:t>
            </a:r>
            <a:r>
              <a:rPr lang="el-GR" altLang="en-US" sz="2000" dirty="0">
                <a:latin typeface="Times New Roman" panose="02020603050405020304" pitchFamily="18" charset="0"/>
                <a:cs typeface="Times New Roman" panose="02020603050405020304" pitchFamily="18" charset="0"/>
              </a:rPr>
              <a:t>χ</a:t>
            </a:r>
            <a:r>
              <a:rPr lang="en-US" altLang="en-US" sz="2000" baseline="30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-based discretization)</a:t>
            </a:r>
          </a:p>
          <a:p>
            <a:pPr lvl="1" algn="just" eaLnBrk="1" hangingPunct="1">
              <a:lnSpc>
                <a:spcPct val="145000"/>
              </a:lnSpc>
              <a:tabLst>
                <a:tab pos="1198563" algn="l"/>
              </a:tabLst>
            </a:pPr>
            <a:r>
              <a:rPr lang="en-US" altLang="en-US" sz="2000" dirty="0">
                <a:latin typeface="Times New Roman" panose="02020603050405020304" pitchFamily="18" charset="0"/>
                <a:cs typeface="Times New Roman" panose="02020603050405020304" pitchFamily="18" charset="0"/>
              </a:rPr>
              <a:t>Supervised: use class information</a:t>
            </a:r>
          </a:p>
          <a:p>
            <a:pPr lvl="1" algn="just" eaLnBrk="1" hangingPunct="1">
              <a:lnSpc>
                <a:spcPct val="145000"/>
              </a:lnSpc>
              <a:tabLst>
                <a:tab pos="1198563" algn="l"/>
              </a:tabLst>
            </a:pPr>
            <a:r>
              <a:rPr lang="en-US" altLang="en-US" sz="2000" dirty="0">
                <a:latin typeface="Times New Roman" panose="02020603050405020304" pitchFamily="18" charset="0"/>
                <a:cs typeface="Times New Roman" panose="02020603050405020304" pitchFamily="18" charset="0"/>
              </a:rPr>
              <a:t>Bottom-up merge: find the best neighboring intervals (those having similar distributions of classes, i.e., low </a:t>
            </a:r>
            <a:r>
              <a:rPr lang="el-GR" altLang="en-US" sz="2000" dirty="0">
                <a:latin typeface="Times New Roman" panose="02020603050405020304" pitchFamily="18" charset="0"/>
                <a:cs typeface="Times New Roman" panose="02020603050405020304" pitchFamily="18" charset="0"/>
              </a:rPr>
              <a:t>χ</a:t>
            </a:r>
            <a:r>
              <a:rPr lang="en-US" altLang="en-US" sz="2000" baseline="30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 values) to merge</a:t>
            </a:r>
          </a:p>
          <a:p>
            <a:pPr lvl="1" algn="just" eaLnBrk="1" hangingPunct="1">
              <a:lnSpc>
                <a:spcPct val="145000"/>
              </a:lnSpc>
              <a:tabLst>
                <a:tab pos="1198563" algn="l"/>
              </a:tabLst>
            </a:pPr>
            <a:r>
              <a:rPr lang="en-US" altLang="en-US" sz="2000" dirty="0">
                <a:latin typeface="Times New Roman" panose="02020603050405020304" pitchFamily="18" charset="0"/>
                <a:cs typeface="Times New Roman" panose="02020603050405020304" pitchFamily="18" charset="0"/>
              </a:rPr>
              <a:t>Merge performed recursively, until a predefined stopping condition</a:t>
            </a:r>
          </a:p>
        </p:txBody>
      </p:sp>
      <p:sp>
        <p:nvSpPr>
          <p:cNvPr id="62469" name="Text Box 4">
            <a:extLst>
              <a:ext uri="{FF2B5EF4-FFF2-40B4-BE49-F238E27FC236}">
                <a16:creationId xmlns:a16="http://schemas.microsoft.com/office/drawing/2014/main" id="{FF0B88B6-14A4-12E2-3038-FF397F78A1ED}"/>
              </a:ext>
            </a:extLst>
          </p:cNvPr>
          <p:cNvSpPr txBox="1">
            <a:spLocks noChangeArrowheads="1"/>
          </p:cNvSpPr>
          <p:nvPr/>
        </p:nvSpPr>
        <p:spPr bwMode="auto">
          <a:xfrm>
            <a:off x="1676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2470" name="Rectangle 7">
            <a:extLst>
              <a:ext uri="{FF2B5EF4-FFF2-40B4-BE49-F238E27FC236}">
                <a16:creationId xmlns:a16="http://schemas.microsoft.com/office/drawing/2014/main" id="{0C37CCF2-57FD-C7C8-D979-AC5BDDC0BBF4}"/>
              </a:ext>
            </a:extLst>
          </p:cNvPr>
          <p:cNvSpPr>
            <a:spLocks noChangeArrowheads="1"/>
          </p:cNvSpPr>
          <p:nvPr/>
        </p:nvSpPr>
        <p:spPr bwMode="auto">
          <a:xfrm>
            <a:off x="1717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3600" y="2514600"/>
            <a:ext cx="4953000" cy="1143000"/>
          </a:xfrm>
        </p:spPr>
        <p:txBody>
          <a:bodyPr>
            <a:normAutofit/>
          </a:bodyPr>
          <a:lstStyle/>
          <a:p>
            <a:r>
              <a:rPr lang="en-US" sz="5400" dirty="0">
                <a:latin typeface="Times New Roman" pitchFamily="18" charset="0"/>
                <a:cs typeface="Times New Roman"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Concourse</Template>
  <TotalTime>19040</TotalTime>
  <Words>3946</Words>
  <Application>Microsoft Office PowerPoint</Application>
  <PresentationFormat>On-screen Show (4:3)</PresentationFormat>
  <Paragraphs>434</Paragraphs>
  <Slides>62</Slides>
  <Notes>17</Notes>
  <HiddenSlides>1</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4" baseType="lpstr">
      <vt:lpstr>Aptos</vt:lpstr>
      <vt:lpstr>Arial</vt:lpstr>
      <vt:lpstr>Arial Unicode MS</vt:lpstr>
      <vt:lpstr>Cambria Math</vt:lpstr>
      <vt:lpstr>Lucida Sans Unicode</vt:lpstr>
      <vt:lpstr>Times New Roman</vt:lpstr>
      <vt:lpstr>Verdana</vt:lpstr>
      <vt:lpstr>Wingdings</vt:lpstr>
      <vt:lpstr>Wingdings 2</vt:lpstr>
      <vt:lpstr>Wingdings 3</vt:lpstr>
      <vt:lpstr>Concourse</vt:lpstr>
      <vt:lpstr>Equation</vt:lpstr>
      <vt:lpstr>Data Mining Unit-I: Introduction to Data Mining</vt:lpstr>
      <vt:lpstr>Course Overview</vt:lpstr>
      <vt:lpstr>Data Mining Syllabus</vt:lpstr>
      <vt:lpstr>PowerPoint Presentation</vt:lpstr>
      <vt:lpstr>UNIT - I Introduction to Data Mining</vt:lpstr>
      <vt:lpstr>Unit I: Introductionto Data Mining</vt:lpstr>
      <vt:lpstr>Chapter 3 in Prescribed textbook</vt:lpstr>
      <vt:lpstr>Data Quality: Why Preprocess the Data?</vt:lpstr>
      <vt:lpstr>Major Tasks in Data Preprocessing</vt:lpstr>
      <vt:lpstr>Data Cleaning</vt:lpstr>
      <vt:lpstr>Incomplete (Missing) Data</vt:lpstr>
      <vt:lpstr>How to Handle Missing Data?</vt:lpstr>
      <vt:lpstr>Noisy Data</vt:lpstr>
      <vt:lpstr>How to Handle Noisy Data?</vt:lpstr>
      <vt:lpstr>Data Cleaning as a Process</vt:lpstr>
      <vt:lpstr>Data Analysis </vt:lpstr>
      <vt:lpstr>Using statistical models</vt:lpstr>
      <vt:lpstr>Dimension reduction</vt:lpstr>
      <vt:lpstr> Benefits of applying Dimension Reduction process </vt:lpstr>
      <vt:lpstr> Benefits of applying Dimension Reduction process </vt:lpstr>
      <vt:lpstr>Why,What-Dimension reduction</vt:lpstr>
      <vt:lpstr> Why Dimension Reduction is Important in machine learning and predictive modeling?Is Dimensionality Reduction good or bad? </vt:lpstr>
      <vt:lpstr>PowerPoint Presentation</vt:lpstr>
      <vt:lpstr>PowerPoint Presentation</vt:lpstr>
      <vt:lpstr>PowerPoint Presentation</vt:lpstr>
      <vt:lpstr>PowerPoint Presentation</vt:lpstr>
      <vt:lpstr>What are Dimension Reduction techniques?</vt:lpstr>
      <vt:lpstr>Missing Values</vt:lpstr>
      <vt:lpstr>PowerPoint Presentation</vt:lpstr>
      <vt:lpstr>Example</vt:lpstr>
      <vt:lpstr>PowerPoint Presentation</vt:lpstr>
      <vt:lpstr> Low Variance </vt:lpstr>
      <vt:lpstr> High Correlation filter </vt:lpstr>
      <vt:lpstr>Here we don’t have any variables with a high correlation(pair of variables is greater than 0.5-0.6) in our dataset.</vt:lpstr>
      <vt:lpstr>Random Forest</vt:lpstr>
      <vt:lpstr>Random Forest</vt:lpstr>
      <vt:lpstr>PowerPoint Presentation</vt:lpstr>
      <vt:lpstr>Backward Feature Elimination</vt:lpstr>
      <vt:lpstr> Forward Feature Selection </vt:lpstr>
      <vt:lpstr> Factor Analysis </vt:lpstr>
      <vt:lpstr>Principal Component Analysis</vt:lpstr>
      <vt:lpstr>The image below shows the transformation of a high dimensional data (3 dimension) to low dimensional data (2 dimension) using PCA. Not to forget, each resultant dimension is a linear combination of p (here p=3) features.</vt:lpstr>
      <vt:lpstr>PC1</vt:lpstr>
      <vt:lpstr>PC2</vt:lpstr>
      <vt:lpstr> If the two components are uncorrelated, their directions should be orthogonal  </vt:lpstr>
      <vt:lpstr>PowerPoint Presentation</vt:lpstr>
      <vt:lpstr>Finding eigenvalues of Correlation matrix R</vt:lpstr>
      <vt:lpstr>PowerPoint Presentation</vt:lpstr>
      <vt:lpstr>PowerPoint Presentation</vt:lpstr>
      <vt:lpstr>PowerPoint Presentation</vt:lpstr>
      <vt:lpstr>Converting to standard score</vt:lpstr>
      <vt:lpstr>PowerPoint Presentation</vt:lpstr>
      <vt:lpstr>PowerPoint Presentation</vt:lpstr>
      <vt:lpstr>Data Transformation</vt:lpstr>
      <vt:lpstr>Normalization</vt:lpstr>
      <vt:lpstr>Discretization </vt:lpstr>
      <vt:lpstr>Data Discretization Methods</vt:lpstr>
      <vt:lpstr>Simple Discretization: Binning</vt:lpstr>
      <vt:lpstr>Binning Methods for Data Smoothing</vt:lpstr>
      <vt:lpstr>Discretization Without Using Class Labels (Binning vs. Clustering) </vt:lpstr>
      <vt:lpstr>Discretization by Classification &amp; Correlation Analysis</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Modeling 27-02-2024</dc:title>
  <dc:creator>CRRao AIMSCS</dc:creator>
  <cp:lastModifiedBy>padmavathi</cp:lastModifiedBy>
  <cp:revision>26</cp:revision>
  <dcterms:created xsi:type="dcterms:W3CDTF">2024-02-25T13:29:34Z</dcterms:created>
  <dcterms:modified xsi:type="dcterms:W3CDTF">2026-07-27T04:10:56Z</dcterms:modified>
</cp:coreProperties>
</file>