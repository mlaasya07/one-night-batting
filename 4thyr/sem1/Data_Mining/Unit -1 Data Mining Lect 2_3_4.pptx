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1"/>
  </p:notesMasterIdLst>
  <p:sldIdLst>
    <p:sldId id="256" r:id="rId2"/>
    <p:sldId id="297" r:id="rId3"/>
    <p:sldId id="300" r:id="rId4"/>
    <p:sldId id="301" r:id="rId5"/>
    <p:sldId id="1067" r:id="rId6"/>
    <p:sldId id="298" r:id="rId7"/>
    <p:sldId id="1026" r:id="rId8"/>
    <p:sldId id="829" r:id="rId9"/>
    <p:sldId id="830" r:id="rId10"/>
    <p:sldId id="1020" r:id="rId11"/>
    <p:sldId id="1060" r:id="rId12"/>
    <p:sldId id="1061" r:id="rId13"/>
    <p:sldId id="1062" r:id="rId14"/>
    <p:sldId id="1063" r:id="rId15"/>
    <p:sldId id="1064" r:id="rId16"/>
    <p:sldId id="1025" r:id="rId17"/>
    <p:sldId id="1027" r:id="rId18"/>
    <p:sldId id="1065" r:id="rId19"/>
    <p:sldId id="768" r:id="rId20"/>
    <p:sldId id="769" r:id="rId21"/>
    <p:sldId id="785" r:id="rId22"/>
    <p:sldId id="1066" r:id="rId23"/>
    <p:sldId id="770" r:id="rId24"/>
    <p:sldId id="771" r:id="rId25"/>
    <p:sldId id="772" r:id="rId26"/>
    <p:sldId id="773" r:id="rId27"/>
    <p:sldId id="779" r:id="rId28"/>
    <p:sldId id="774" r:id="rId29"/>
    <p:sldId id="1028" r:id="rId30"/>
    <p:sldId id="775" r:id="rId31"/>
    <p:sldId id="776" r:id="rId32"/>
    <p:sldId id="777" r:id="rId33"/>
    <p:sldId id="795" r:id="rId34"/>
    <p:sldId id="539" r:id="rId35"/>
    <p:sldId id="540" r:id="rId36"/>
    <p:sldId id="541" r:id="rId37"/>
    <p:sldId id="543" r:id="rId38"/>
    <p:sldId id="544" r:id="rId39"/>
    <p:sldId id="545" r:id="rId40"/>
    <p:sldId id="546" r:id="rId41"/>
    <p:sldId id="547" r:id="rId42"/>
    <p:sldId id="548" r:id="rId43"/>
    <p:sldId id="549" r:id="rId44"/>
    <p:sldId id="550" r:id="rId45"/>
    <p:sldId id="551" r:id="rId46"/>
    <p:sldId id="553" r:id="rId47"/>
    <p:sldId id="552" r:id="rId48"/>
    <p:sldId id="554" r:id="rId49"/>
    <p:sldId id="555" r:id="rId50"/>
    <p:sldId id="556" r:id="rId51"/>
    <p:sldId id="557" r:id="rId52"/>
    <p:sldId id="558" r:id="rId53"/>
    <p:sldId id="559" r:id="rId54"/>
    <p:sldId id="560" r:id="rId55"/>
    <p:sldId id="561" r:id="rId56"/>
    <p:sldId id="562" r:id="rId57"/>
    <p:sldId id="563" r:id="rId58"/>
    <p:sldId id="564" r:id="rId59"/>
    <p:sldId id="565" r:id="rId60"/>
    <p:sldId id="566" r:id="rId61"/>
    <p:sldId id="567" r:id="rId62"/>
    <p:sldId id="1029" r:id="rId63"/>
    <p:sldId id="818" r:id="rId64"/>
    <p:sldId id="1054" r:id="rId65"/>
    <p:sldId id="1055" r:id="rId66"/>
    <p:sldId id="897" r:id="rId67"/>
    <p:sldId id="973" r:id="rId68"/>
    <p:sldId id="819" r:id="rId69"/>
    <p:sldId id="802" r:id="rId70"/>
    <p:sldId id="803" r:id="rId71"/>
    <p:sldId id="804" r:id="rId72"/>
    <p:sldId id="805" r:id="rId73"/>
    <p:sldId id="1056" r:id="rId74"/>
    <p:sldId id="806" r:id="rId75"/>
    <p:sldId id="814" r:id="rId76"/>
    <p:sldId id="1057" r:id="rId77"/>
    <p:sldId id="809" r:id="rId78"/>
    <p:sldId id="953" r:id="rId79"/>
    <p:sldId id="811" r:id="rId80"/>
    <p:sldId id="813" r:id="rId81"/>
    <p:sldId id="955" r:id="rId82"/>
    <p:sldId id="954" r:id="rId83"/>
    <p:sldId id="1058" r:id="rId84"/>
    <p:sldId id="1059" r:id="rId85"/>
    <p:sldId id="873" r:id="rId86"/>
    <p:sldId id="837" r:id="rId87"/>
    <p:sldId id="1031" r:id="rId88"/>
    <p:sldId id="1032" r:id="rId89"/>
    <p:sldId id="1030" r:id="rId90"/>
    <p:sldId id="1033" r:id="rId91"/>
    <p:sldId id="861" r:id="rId92"/>
    <p:sldId id="874" r:id="rId93"/>
    <p:sldId id="840" r:id="rId94"/>
    <p:sldId id="864" r:id="rId95"/>
    <p:sldId id="844" r:id="rId96"/>
    <p:sldId id="1036" r:id="rId97"/>
    <p:sldId id="1042" r:id="rId98"/>
    <p:sldId id="1043" r:id="rId99"/>
    <p:sldId id="295" r:id="rId10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55BDE7-668F-4C38-993E-2D2F2A7198D4}" type="doc">
      <dgm:prSet loTypeId="urn:microsoft.com/office/officeart/2005/8/layout/pyramid1" loCatId="pyramid" qsTypeId="urn:microsoft.com/office/officeart/2005/8/quickstyle/simple1" qsCatId="simple" csTypeId="urn:microsoft.com/office/officeart/2005/8/colors/accent1_2" csCatId="accent1" phldr="0"/>
      <dgm:spPr/>
    </dgm:pt>
    <dgm:pt modelId="{72670C43-01FD-4B55-BDF5-B6FF7C0B4422}">
      <dgm:prSet phldrT="[Text]" phldr="1"/>
      <dgm:spPr/>
      <dgm:t>
        <a:bodyPr/>
        <a:lstStyle/>
        <a:p>
          <a:endParaRPr lang="en-IN"/>
        </a:p>
      </dgm:t>
    </dgm:pt>
    <dgm:pt modelId="{81154ACF-08E2-4664-B367-49894B5911AB}" type="parTrans" cxnId="{84F9984D-A130-4BEF-B75A-81EFD0F96585}">
      <dgm:prSet/>
      <dgm:spPr/>
    </dgm:pt>
    <dgm:pt modelId="{1EC5B049-A60D-4E41-B70C-13DA745A031F}" type="sibTrans" cxnId="{84F9984D-A130-4BEF-B75A-81EFD0F96585}">
      <dgm:prSet/>
      <dgm:spPr/>
    </dgm:pt>
    <dgm:pt modelId="{C7D49416-3AC7-4D67-9499-88ADB8B556D5}">
      <dgm:prSet phldrT="[Text]" phldr="1"/>
      <dgm:spPr/>
      <dgm:t>
        <a:bodyPr/>
        <a:lstStyle/>
        <a:p>
          <a:endParaRPr lang="en-IN"/>
        </a:p>
      </dgm:t>
    </dgm:pt>
    <dgm:pt modelId="{9BA72672-F69C-4780-9D8A-704FBD9CA975}" type="parTrans" cxnId="{0267B081-785C-4709-B977-D9104D715EF8}">
      <dgm:prSet/>
      <dgm:spPr/>
    </dgm:pt>
    <dgm:pt modelId="{3210471F-5DDA-40C9-B717-AA005471AFDD}" type="sibTrans" cxnId="{0267B081-785C-4709-B977-D9104D715EF8}">
      <dgm:prSet/>
      <dgm:spPr/>
    </dgm:pt>
    <dgm:pt modelId="{523BBA65-EE23-4A26-AD3C-59D590BF7779}">
      <dgm:prSet phldrT="[Text]" phldr="1"/>
      <dgm:spPr/>
      <dgm:t>
        <a:bodyPr/>
        <a:lstStyle/>
        <a:p>
          <a:endParaRPr lang="en-IN"/>
        </a:p>
      </dgm:t>
    </dgm:pt>
    <dgm:pt modelId="{F9CFDE5E-20BD-4769-905C-3A88EE113611}" type="parTrans" cxnId="{84BF4EC6-F8CC-4640-B818-78BC2E32C189}">
      <dgm:prSet/>
      <dgm:spPr/>
    </dgm:pt>
    <dgm:pt modelId="{0951E87C-F13C-43B9-BB3B-0B9B6EB51D66}" type="sibTrans" cxnId="{84BF4EC6-F8CC-4640-B818-78BC2E32C189}">
      <dgm:prSet/>
      <dgm:spPr/>
    </dgm:pt>
    <dgm:pt modelId="{93ABEF3B-218E-4AAD-BFED-D0D12037C400}" type="pres">
      <dgm:prSet presAssocID="{8F55BDE7-668F-4C38-993E-2D2F2A7198D4}" presName="Name0" presStyleCnt="0">
        <dgm:presLayoutVars>
          <dgm:dir/>
          <dgm:animLvl val="lvl"/>
          <dgm:resizeHandles val="exact"/>
        </dgm:presLayoutVars>
      </dgm:prSet>
      <dgm:spPr/>
    </dgm:pt>
    <dgm:pt modelId="{B9D085D1-6438-4533-A6DF-7F286932C306}" type="pres">
      <dgm:prSet presAssocID="{72670C43-01FD-4B55-BDF5-B6FF7C0B4422}" presName="Name8" presStyleCnt="0"/>
      <dgm:spPr/>
    </dgm:pt>
    <dgm:pt modelId="{B99AC55D-8D22-43EB-A99B-ACD4D5EE113B}" type="pres">
      <dgm:prSet presAssocID="{72670C43-01FD-4B55-BDF5-B6FF7C0B4422}" presName="level" presStyleLbl="node1" presStyleIdx="0" presStyleCnt="3">
        <dgm:presLayoutVars>
          <dgm:chMax val="1"/>
          <dgm:bulletEnabled val="1"/>
        </dgm:presLayoutVars>
      </dgm:prSet>
      <dgm:spPr/>
    </dgm:pt>
    <dgm:pt modelId="{E49FE6AB-BC4D-43E6-B0E1-25C047CD7792}" type="pres">
      <dgm:prSet presAssocID="{72670C43-01FD-4B55-BDF5-B6FF7C0B4422}" presName="levelTx" presStyleLbl="revTx" presStyleIdx="0" presStyleCnt="0">
        <dgm:presLayoutVars>
          <dgm:chMax val="1"/>
          <dgm:bulletEnabled val="1"/>
        </dgm:presLayoutVars>
      </dgm:prSet>
      <dgm:spPr/>
    </dgm:pt>
    <dgm:pt modelId="{D306BDD0-B33A-4062-BFF0-E73C2EA26F9A}" type="pres">
      <dgm:prSet presAssocID="{C7D49416-3AC7-4D67-9499-88ADB8B556D5}" presName="Name8" presStyleCnt="0"/>
      <dgm:spPr/>
    </dgm:pt>
    <dgm:pt modelId="{F04372F7-7D16-4072-80DF-967A171C9FDE}" type="pres">
      <dgm:prSet presAssocID="{C7D49416-3AC7-4D67-9499-88ADB8B556D5}" presName="level" presStyleLbl="node1" presStyleIdx="1" presStyleCnt="3">
        <dgm:presLayoutVars>
          <dgm:chMax val="1"/>
          <dgm:bulletEnabled val="1"/>
        </dgm:presLayoutVars>
      </dgm:prSet>
      <dgm:spPr/>
    </dgm:pt>
    <dgm:pt modelId="{83C87837-C5CB-421C-BD8A-CB78581FE84F}" type="pres">
      <dgm:prSet presAssocID="{C7D49416-3AC7-4D67-9499-88ADB8B556D5}" presName="levelTx" presStyleLbl="revTx" presStyleIdx="0" presStyleCnt="0">
        <dgm:presLayoutVars>
          <dgm:chMax val="1"/>
          <dgm:bulletEnabled val="1"/>
        </dgm:presLayoutVars>
      </dgm:prSet>
      <dgm:spPr/>
    </dgm:pt>
    <dgm:pt modelId="{421D4ADE-D89F-4D81-A4A3-89781BFD2E79}" type="pres">
      <dgm:prSet presAssocID="{523BBA65-EE23-4A26-AD3C-59D590BF7779}" presName="Name8" presStyleCnt="0"/>
      <dgm:spPr/>
    </dgm:pt>
    <dgm:pt modelId="{0915B2E6-8532-4EF8-BDF7-18820AD41E3E}" type="pres">
      <dgm:prSet presAssocID="{523BBA65-EE23-4A26-AD3C-59D590BF7779}" presName="level" presStyleLbl="node1" presStyleIdx="2" presStyleCnt="3">
        <dgm:presLayoutVars>
          <dgm:chMax val="1"/>
          <dgm:bulletEnabled val="1"/>
        </dgm:presLayoutVars>
      </dgm:prSet>
      <dgm:spPr/>
    </dgm:pt>
    <dgm:pt modelId="{D3F65C2C-55D4-4459-9B8C-1C97D09C3B8B}" type="pres">
      <dgm:prSet presAssocID="{523BBA65-EE23-4A26-AD3C-59D590BF7779}" presName="levelTx" presStyleLbl="revTx" presStyleIdx="0" presStyleCnt="0">
        <dgm:presLayoutVars>
          <dgm:chMax val="1"/>
          <dgm:bulletEnabled val="1"/>
        </dgm:presLayoutVars>
      </dgm:prSet>
      <dgm:spPr/>
    </dgm:pt>
  </dgm:ptLst>
  <dgm:cxnLst>
    <dgm:cxn modelId="{60BFBA12-B5BB-41C9-B584-0A25435D529D}" type="presOf" srcId="{72670C43-01FD-4B55-BDF5-B6FF7C0B4422}" destId="{E49FE6AB-BC4D-43E6-B0E1-25C047CD7792}" srcOrd="1" destOrd="0" presId="urn:microsoft.com/office/officeart/2005/8/layout/pyramid1"/>
    <dgm:cxn modelId="{4AEDA91C-7A1C-4507-B857-777F3070A111}" type="presOf" srcId="{72670C43-01FD-4B55-BDF5-B6FF7C0B4422}" destId="{B99AC55D-8D22-43EB-A99B-ACD4D5EE113B}" srcOrd="0" destOrd="0" presId="urn:microsoft.com/office/officeart/2005/8/layout/pyramid1"/>
    <dgm:cxn modelId="{979FED37-03AE-4111-B173-51E7A3664E44}" type="presOf" srcId="{C7D49416-3AC7-4D67-9499-88ADB8B556D5}" destId="{F04372F7-7D16-4072-80DF-967A171C9FDE}" srcOrd="0" destOrd="0" presId="urn:microsoft.com/office/officeart/2005/8/layout/pyramid1"/>
    <dgm:cxn modelId="{BBD83249-5223-4698-AA02-E6D9C0597756}" type="presOf" srcId="{8F55BDE7-668F-4C38-993E-2D2F2A7198D4}" destId="{93ABEF3B-218E-4AAD-BFED-D0D12037C400}" srcOrd="0" destOrd="0" presId="urn:microsoft.com/office/officeart/2005/8/layout/pyramid1"/>
    <dgm:cxn modelId="{84F9984D-A130-4BEF-B75A-81EFD0F96585}" srcId="{8F55BDE7-668F-4C38-993E-2D2F2A7198D4}" destId="{72670C43-01FD-4B55-BDF5-B6FF7C0B4422}" srcOrd="0" destOrd="0" parTransId="{81154ACF-08E2-4664-B367-49894B5911AB}" sibTransId="{1EC5B049-A60D-4E41-B70C-13DA745A031F}"/>
    <dgm:cxn modelId="{0267B081-785C-4709-B977-D9104D715EF8}" srcId="{8F55BDE7-668F-4C38-993E-2D2F2A7198D4}" destId="{C7D49416-3AC7-4D67-9499-88ADB8B556D5}" srcOrd="1" destOrd="0" parTransId="{9BA72672-F69C-4780-9D8A-704FBD9CA975}" sibTransId="{3210471F-5DDA-40C9-B717-AA005471AFDD}"/>
    <dgm:cxn modelId="{4F4B9391-D203-4743-AB1D-A5161E61406B}" type="presOf" srcId="{C7D49416-3AC7-4D67-9499-88ADB8B556D5}" destId="{83C87837-C5CB-421C-BD8A-CB78581FE84F}" srcOrd="1" destOrd="0" presId="urn:microsoft.com/office/officeart/2005/8/layout/pyramid1"/>
    <dgm:cxn modelId="{27DFDAAC-6B86-4CA3-B75E-3826C9C32F02}" type="presOf" srcId="{523BBA65-EE23-4A26-AD3C-59D590BF7779}" destId="{D3F65C2C-55D4-4459-9B8C-1C97D09C3B8B}" srcOrd="1" destOrd="0" presId="urn:microsoft.com/office/officeart/2005/8/layout/pyramid1"/>
    <dgm:cxn modelId="{84BF4EC6-F8CC-4640-B818-78BC2E32C189}" srcId="{8F55BDE7-668F-4C38-993E-2D2F2A7198D4}" destId="{523BBA65-EE23-4A26-AD3C-59D590BF7779}" srcOrd="2" destOrd="0" parTransId="{F9CFDE5E-20BD-4769-905C-3A88EE113611}" sibTransId="{0951E87C-F13C-43B9-BB3B-0B9B6EB51D66}"/>
    <dgm:cxn modelId="{FCFA42F5-4FD1-435D-900B-3611244F1D02}" type="presOf" srcId="{523BBA65-EE23-4A26-AD3C-59D590BF7779}" destId="{0915B2E6-8532-4EF8-BDF7-18820AD41E3E}" srcOrd="0" destOrd="0" presId="urn:microsoft.com/office/officeart/2005/8/layout/pyramid1"/>
    <dgm:cxn modelId="{9856FE00-3416-4E80-8589-BD361A35F8CA}" type="presParOf" srcId="{93ABEF3B-218E-4AAD-BFED-D0D12037C400}" destId="{B9D085D1-6438-4533-A6DF-7F286932C306}" srcOrd="0" destOrd="0" presId="urn:microsoft.com/office/officeart/2005/8/layout/pyramid1"/>
    <dgm:cxn modelId="{9BFC462B-B441-4AC3-926E-537975100628}" type="presParOf" srcId="{B9D085D1-6438-4533-A6DF-7F286932C306}" destId="{B99AC55D-8D22-43EB-A99B-ACD4D5EE113B}" srcOrd="0" destOrd="0" presId="urn:microsoft.com/office/officeart/2005/8/layout/pyramid1"/>
    <dgm:cxn modelId="{4E85692F-8D68-45A3-A897-23FC88AE53D7}" type="presParOf" srcId="{B9D085D1-6438-4533-A6DF-7F286932C306}" destId="{E49FE6AB-BC4D-43E6-B0E1-25C047CD7792}" srcOrd="1" destOrd="0" presId="urn:microsoft.com/office/officeart/2005/8/layout/pyramid1"/>
    <dgm:cxn modelId="{720C7139-7A3E-473F-9CD0-61D566A6A80A}" type="presParOf" srcId="{93ABEF3B-218E-4AAD-BFED-D0D12037C400}" destId="{D306BDD0-B33A-4062-BFF0-E73C2EA26F9A}" srcOrd="1" destOrd="0" presId="urn:microsoft.com/office/officeart/2005/8/layout/pyramid1"/>
    <dgm:cxn modelId="{C2C57F86-2F3B-4F3A-997D-DD76C0B72702}" type="presParOf" srcId="{D306BDD0-B33A-4062-BFF0-E73C2EA26F9A}" destId="{F04372F7-7D16-4072-80DF-967A171C9FDE}" srcOrd="0" destOrd="0" presId="urn:microsoft.com/office/officeart/2005/8/layout/pyramid1"/>
    <dgm:cxn modelId="{A9790736-BC85-45BD-8B17-AD013B7F0483}" type="presParOf" srcId="{D306BDD0-B33A-4062-BFF0-E73C2EA26F9A}" destId="{83C87837-C5CB-421C-BD8A-CB78581FE84F}" srcOrd="1" destOrd="0" presId="urn:microsoft.com/office/officeart/2005/8/layout/pyramid1"/>
    <dgm:cxn modelId="{E40D1C0B-BF1B-4EEE-8ECF-C92023582A31}" type="presParOf" srcId="{93ABEF3B-218E-4AAD-BFED-D0D12037C400}" destId="{421D4ADE-D89F-4D81-A4A3-89781BFD2E79}" srcOrd="2" destOrd="0" presId="urn:microsoft.com/office/officeart/2005/8/layout/pyramid1"/>
    <dgm:cxn modelId="{1BDB878D-99D1-43E0-875F-0E788B858068}" type="presParOf" srcId="{421D4ADE-D89F-4D81-A4A3-89781BFD2E79}" destId="{0915B2E6-8532-4EF8-BDF7-18820AD41E3E}" srcOrd="0" destOrd="0" presId="urn:microsoft.com/office/officeart/2005/8/layout/pyramid1"/>
    <dgm:cxn modelId="{A7749261-5F60-4C2E-B849-C82C6AE8F8E0}" type="presParOf" srcId="{421D4ADE-D89F-4D81-A4A3-89781BFD2E79}" destId="{D3F65C2C-55D4-4459-9B8C-1C97D09C3B8B}"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AC55D-8D22-43EB-A99B-ACD4D5EE113B}">
      <dsp:nvSpPr>
        <dsp:cNvPr id="0" name=""/>
        <dsp:cNvSpPr/>
      </dsp:nvSpPr>
      <dsp:spPr>
        <a:xfrm>
          <a:off x="127000" y="0"/>
          <a:ext cx="127000" cy="77787"/>
        </a:xfrm>
        <a:prstGeom prst="trapezoid">
          <a:avLst>
            <a:gd name="adj" fmla="val 81632"/>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27000" y="0"/>
        <a:ext cx="127000" cy="77787"/>
      </dsp:txXfrm>
    </dsp:sp>
    <dsp:sp modelId="{F04372F7-7D16-4072-80DF-967A171C9FDE}">
      <dsp:nvSpPr>
        <dsp:cNvPr id="0" name=""/>
        <dsp:cNvSpPr/>
      </dsp:nvSpPr>
      <dsp:spPr>
        <a:xfrm>
          <a:off x="63500" y="77787"/>
          <a:ext cx="254000" cy="77787"/>
        </a:xfrm>
        <a:prstGeom prst="trapezoid">
          <a:avLst>
            <a:gd name="adj" fmla="val 81632"/>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07950" y="77787"/>
        <a:ext cx="165100" cy="77787"/>
      </dsp:txXfrm>
    </dsp:sp>
    <dsp:sp modelId="{0915B2E6-8532-4EF8-BDF7-18820AD41E3E}">
      <dsp:nvSpPr>
        <dsp:cNvPr id="0" name=""/>
        <dsp:cNvSpPr/>
      </dsp:nvSpPr>
      <dsp:spPr>
        <a:xfrm>
          <a:off x="0" y="155575"/>
          <a:ext cx="381000" cy="77787"/>
        </a:xfrm>
        <a:prstGeom prst="trapezoid">
          <a:avLst>
            <a:gd name="adj" fmla="val 81632"/>
          </a:avLst>
        </a:prstGeom>
        <a:solidFill>
          <a:schemeClr val="accent1">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6674" y="155575"/>
        <a:ext cx="247650" cy="77787"/>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27-07-2026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0A2DF97-01D7-49B5-3DC1-04C72A90A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0704F0C-8C52-495D-BEA5-79B5BAD4B91C}"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72707" name="Rectangle 2">
            <a:extLst>
              <a:ext uri="{FF2B5EF4-FFF2-40B4-BE49-F238E27FC236}">
                <a16:creationId xmlns:a16="http://schemas.microsoft.com/office/drawing/2014/main" id="{5F3506FC-DCC3-4F3D-F108-C9B292D3E42E}"/>
              </a:ext>
            </a:extLst>
          </p:cNvPr>
          <p:cNvSpPr>
            <a:spLocks noGrp="1" noRot="1" noChangeAspect="1" noChangeArrowheads="1" noTextEdit="1"/>
          </p:cNvSpPr>
          <p:nvPr>
            <p:ph type="sldImg"/>
          </p:nvPr>
        </p:nvSpPr>
        <p:spPr>
          <a:xfrm>
            <a:off x="1198563" y="693738"/>
            <a:ext cx="4616450" cy="3462337"/>
          </a:xfrm>
          <a:ln/>
        </p:spPr>
      </p:sp>
      <p:sp>
        <p:nvSpPr>
          <p:cNvPr id="72708" name="Rectangle 3">
            <a:extLst>
              <a:ext uri="{FF2B5EF4-FFF2-40B4-BE49-F238E27FC236}">
                <a16:creationId xmlns:a16="http://schemas.microsoft.com/office/drawing/2014/main" id="{0A2AA9B2-93BC-855D-417F-A5FD3F5307C9}"/>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E663C123-B982-443B-3784-0B8BBF8CB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DBF76B-5424-4986-9AA5-8D5B3E172E48}"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73731" name="Rectangle 2">
            <a:extLst>
              <a:ext uri="{FF2B5EF4-FFF2-40B4-BE49-F238E27FC236}">
                <a16:creationId xmlns:a16="http://schemas.microsoft.com/office/drawing/2014/main" id="{B793F532-0456-9180-0EE5-D87451AD0CBD}"/>
              </a:ext>
            </a:extLst>
          </p:cNvPr>
          <p:cNvSpPr>
            <a:spLocks noGrp="1" noRot="1" noChangeAspect="1" noChangeArrowheads="1" noTextEdit="1"/>
          </p:cNvSpPr>
          <p:nvPr>
            <p:ph type="sldImg"/>
          </p:nvPr>
        </p:nvSpPr>
        <p:spPr>
          <a:xfrm>
            <a:off x="1198563" y="693738"/>
            <a:ext cx="4616450" cy="3462337"/>
          </a:xfrm>
          <a:ln/>
        </p:spPr>
      </p:sp>
      <p:sp>
        <p:nvSpPr>
          <p:cNvPr id="73732" name="Rectangle 3">
            <a:extLst>
              <a:ext uri="{FF2B5EF4-FFF2-40B4-BE49-F238E27FC236}">
                <a16:creationId xmlns:a16="http://schemas.microsoft.com/office/drawing/2014/main" id="{A29EC8AA-948C-AF41-A734-86022B30A1FF}"/>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F0B3F7F-C223-F0B1-3F2A-8ADA84DB6BA7}"/>
              </a:ext>
            </a:extLst>
          </p:cNvPr>
          <p:cNvSpPr>
            <a:spLocks noGrp="1" noRot="1" noChangeAspect="1" noTextEdit="1"/>
          </p:cNvSpPr>
          <p:nvPr>
            <p:ph type="sldImg"/>
          </p:nvPr>
        </p:nvSpPr>
        <p:spPr>
          <a:ln/>
        </p:spPr>
      </p:sp>
      <p:sp>
        <p:nvSpPr>
          <p:cNvPr id="74755" name="Notes Placeholder 2">
            <a:extLst>
              <a:ext uri="{FF2B5EF4-FFF2-40B4-BE49-F238E27FC236}">
                <a16:creationId xmlns:a16="http://schemas.microsoft.com/office/drawing/2014/main" id="{ADE22AEA-424C-4159-EDE9-38EA5AB51C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a:extLst>
              <a:ext uri="{FF2B5EF4-FFF2-40B4-BE49-F238E27FC236}">
                <a16:creationId xmlns:a16="http://schemas.microsoft.com/office/drawing/2014/main" id="{39D837C1-2B79-1297-6A36-36EAF93DF2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97B1415-7704-4180-B33F-CE343B15732E}"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1762527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EBDD6A3-CC9D-74AA-2860-56CF405AE6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A32FA17-FDE6-4F55-8031-A7C641EFA63C}"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78851" name="Rectangle 2">
            <a:extLst>
              <a:ext uri="{FF2B5EF4-FFF2-40B4-BE49-F238E27FC236}">
                <a16:creationId xmlns:a16="http://schemas.microsoft.com/office/drawing/2014/main" id="{E201CEC1-C705-3114-33CC-9935A5BEDABC}"/>
              </a:ext>
            </a:extLst>
          </p:cNvPr>
          <p:cNvSpPr>
            <a:spLocks noGrp="1" noRot="1" noChangeAspect="1" noChangeArrowheads="1" noTextEdit="1"/>
          </p:cNvSpPr>
          <p:nvPr>
            <p:ph type="sldImg"/>
          </p:nvPr>
        </p:nvSpPr>
        <p:spPr>
          <a:xfrm>
            <a:off x="1198563" y="693738"/>
            <a:ext cx="4616450" cy="3462337"/>
          </a:xfrm>
          <a:ln/>
        </p:spPr>
      </p:sp>
      <p:sp>
        <p:nvSpPr>
          <p:cNvPr id="78852" name="Rectangle 3">
            <a:extLst>
              <a:ext uri="{FF2B5EF4-FFF2-40B4-BE49-F238E27FC236}">
                <a16:creationId xmlns:a16="http://schemas.microsoft.com/office/drawing/2014/main" id="{D0803376-54AC-E0D8-6B0F-5047669DBA62}"/>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4DC0951-F12F-4317-7F1F-32062F1FE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828E555-9CE4-4995-9F64-CC794CAF6F44}"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80899" name="Rectangle 2">
            <a:extLst>
              <a:ext uri="{FF2B5EF4-FFF2-40B4-BE49-F238E27FC236}">
                <a16:creationId xmlns:a16="http://schemas.microsoft.com/office/drawing/2014/main" id="{62E89DD1-64EA-13C6-FD42-960074B5F855}"/>
              </a:ext>
            </a:extLst>
          </p:cNvPr>
          <p:cNvSpPr>
            <a:spLocks noGrp="1" noRot="1" noChangeAspect="1" noChangeArrowheads="1" noTextEdit="1"/>
          </p:cNvSpPr>
          <p:nvPr>
            <p:ph type="sldImg"/>
          </p:nvPr>
        </p:nvSpPr>
        <p:spPr>
          <a:xfrm>
            <a:off x="1158875" y="673100"/>
            <a:ext cx="4692650" cy="3519488"/>
          </a:xfrm>
          <a:ln/>
        </p:spPr>
      </p:sp>
      <p:sp>
        <p:nvSpPr>
          <p:cNvPr id="80900" name="Rectangle 3">
            <a:extLst>
              <a:ext uri="{FF2B5EF4-FFF2-40B4-BE49-F238E27FC236}">
                <a16:creationId xmlns:a16="http://schemas.microsoft.com/office/drawing/2014/main" id="{C31D2DF0-E9D8-B852-50A5-4F04A29E5372}"/>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016DF152-018D-52E1-7A35-FFEDE93D7C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A8C201B-0DBD-4CED-8364-C4AED68F14E6}"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81923" name="Rectangle 2">
            <a:extLst>
              <a:ext uri="{FF2B5EF4-FFF2-40B4-BE49-F238E27FC236}">
                <a16:creationId xmlns:a16="http://schemas.microsoft.com/office/drawing/2014/main" id="{5C66DDB9-A95C-5843-A07B-0CB96EE1CB6B}"/>
              </a:ext>
            </a:extLst>
          </p:cNvPr>
          <p:cNvSpPr>
            <a:spLocks noGrp="1" noRot="1" noChangeAspect="1" noChangeArrowheads="1" noTextEdit="1"/>
          </p:cNvSpPr>
          <p:nvPr>
            <p:ph type="sldImg"/>
          </p:nvPr>
        </p:nvSpPr>
        <p:spPr>
          <a:xfrm>
            <a:off x="1158875" y="673100"/>
            <a:ext cx="4692650" cy="3519488"/>
          </a:xfrm>
          <a:ln/>
        </p:spPr>
      </p:sp>
      <p:sp>
        <p:nvSpPr>
          <p:cNvPr id="81924" name="Rectangle 3">
            <a:extLst>
              <a:ext uri="{FF2B5EF4-FFF2-40B4-BE49-F238E27FC236}">
                <a16:creationId xmlns:a16="http://schemas.microsoft.com/office/drawing/2014/main" id="{832E5FD9-FD15-7B43-7052-6D64C38AC1B8}"/>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6A9E008-C3BC-93A6-2694-7B6FA115EC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13BC30A-A75E-40F1-8223-75D07192B63A}"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82947" name="Rectangle 2">
            <a:extLst>
              <a:ext uri="{FF2B5EF4-FFF2-40B4-BE49-F238E27FC236}">
                <a16:creationId xmlns:a16="http://schemas.microsoft.com/office/drawing/2014/main" id="{E86C66C8-2DDA-2522-4910-077F0C9E55A6}"/>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1D5DC1C9-F871-BC37-FD80-81EADF180C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06416D22-7DAB-A4BB-2697-B2E17E787E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E60EAE-E0ED-4C2F-8259-23661B287322}"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6AE6F8F4-C68C-F24B-212B-2F3006CD02CF}"/>
              </a:ext>
            </a:extLst>
          </p:cNvPr>
          <p:cNvSpPr>
            <a:spLocks noGrp="1" noRot="1" noChangeAspect="1" noChangeArrowheads="1" noTextEdit="1"/>
          </p:cNvSpPr>
          <p:nvPr>
            <p:ph type="sldImg"/>
          </p:nvPr>
        </p:nvSpPr>
        <p:spPr>
          <a:xfrm>
            <a:off x="1158875" y="673100"/>
            <a:ext cx="4692650" cy="3519488"/>
          </a:xfrm>
          <a:ln/>
        </p:spPr>
      </p:sp>
      <p:sp>
        <p:nvSpPr>
          <p:cNvPr id="83972" name="Rectangle 3">
            <a:extLst>
              <a:ext uri="{FF2B5EF4-FFF2-40B4-BE49-F238E27FC236}">
                <a16:creationId xmlns:a16="http://schemas.microsoft.com/office/drawing/2014/main" id="{C6841507-464C-1E26-3782-FFFFB1C2F2BA}"/>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ABA8183-AA00-CD55-8621-8C4221785C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A66E0E4-EADF-415E-A3A2-F617594DFE53}"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84995" name="Rectangle 2">
            <a:extLst>
              <a:ext uri="{FF2B5EF4-FFF2-40B4-BE49-F238E27FC236}">
                <a16:creationId xmlns:a16="http://schemas.microsoft.com/office/drawing/2014/main" id="{1E2F2E90-A080-E37A-4D00-0138C70E8406}"/>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65BA2C0-B212-F93B-8E9F-ED7D868DCD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6EF5DE23-DD4B-CF59-445A-CE61D7D9C9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0D60013-D039-4C12-8E01-4714C8B2931D}"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86019" name="Rectangle 2">
            <a:extLst>
              <a:ext uri="{FF2B5EF4-FFF2-40B4-BE49-F238E27FC236}">
                <a16:creationId xmlns:a16="http://schemas.microsoft.com/office/drawing/2014/main" id="{1073169F-BD07-0998-4FC4-3E39065B2F8F}"/>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72018905-EE56-9A1F-3F79-63B94CD231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5671649-BE41-8D5C-56B0-DFA19FFAAF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E36D074-21B7-4C7D-84B6-6BF8162CACAA}"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87043" name="Rectangle 2">
            <a:extLst>
              <a:ext uri="{FF2B5EF4-FFF2-40B4-BE49-F238E27FC236}">
                <a16:creationId xmlns:a16="http://schemas.microsoft.com/office/drawing/2014/main" id="{3C912A48-5D8C-0B2E-4B60-A8AAD064DF7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4370024-05C0-2655-F4DB-3BC40CEA3A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6DE40B98-6F1A-8E86-2E0C-63EE63BC30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9BAD516-AE59-413E-B54A-5F94F5ABB35C}"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88067" name="Rectangle 2">
            <a:extLst>
              <a:ext uri="{FF2B5EF4-FFF2-40B4-BE49-F238E27FC236}">
                <a16:creationId xmlns:a16="http://schemas.microsoft.com/office/drawing/2014/main" id="{69765403-97D6-CBB7-B79C-A8B509751317}"/>
              </a:ext>
            </a:extLst>
          </p:cNvPr>
          <p:cNvSpPr>
            <a:spLocks noGrp="1" noRot="1" noChangeAspect="1" noChangeArrowheads="1" noTextEdit="1"/>
          </p:cNvSpPr>
          <p:nvPr>
            <p:ph type="sldImg"/>
          </p:nvPr>
        </p:nvSpPr>
        <p:spPr>
          <a:xfrm>
            <a:off x="1158875" y="673100"/>
            <a:ext cx="4692650" cy="3519488"/>
          </a:xfrm>
          <a:ln/>
        </p:spPr>
      </p:sp>
      <p:sp>
        <p:nvSpPr>
          <p:cNvPr id="88068" name="Rectangle 3">
            <a:extLst>
              <a:ext uri="{FF2B5EF4-FFF2-40B4-BE49-F238E27FC236}">
                <a16:creationId xmlns:a16="http://schemas.microsoft.com/office/drawing/2014/main" id="{7D7F0C9B-0BD0-EA9B-34A0-88C9DDA7CAB2}"/>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8639D3E6-6086-1430-900B-8078A5E66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04A2BF2-6F36-411C-9623-F965605D7D1C}"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89091" name="Rectangle 2">
            <a:extLst>
              <a:ext uri="{FF2B5EF4-FFF2-40B4-BE49-F238E27FC236}">
                <a16:creationId xmlns:a16="http://schemas.microsoft.com/office/drawing/2014/main" id="{8B7AEACA-08E2-DA8F-3433-D8173A1E2E3A}"/>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25312C8C-8518-8ED8-0AE1-75DA78D929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6925602F-E6C4-F76F-89ED-72534BE6A6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CCD4C2C-E7E7-4440-A98D-441B7F82CE4E}"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91139" name="Rectangle 2">
            <a:extLst>
              <a:ext uri="{FF2B5EF4-FFF2-40B4-BE49-F238E27FC236}">
                <a16:creationId xmlns:a16="http://schemas.microsoft.com/office/drawing/2014/main" id="{0FB4FE9C-32A7-D624-3C0A-A54537F78922}"/>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AC6331A-4140-18A8-D2A8-DE410CF18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AC37728-EA90-CE60-8122-BA9687CEF9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B25956A-6118-4C46-8DAD-93C6C319F40B}"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92163" name="Rectangle 2">
            <a:extLst>
              <a:ext uri="{FF2B5EF4-FFF2-40B4-BE49-F238E27FC236}">
                <a16:creationId xmlns:a16="http://schemas.microsoft.com/office/drawing/2014/main" id="{3825EFB3-7E98-4665-0630-47E379B31B74}"/>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5F766BA7-3217-F73F-7501-8E3D006C5B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Note: We need to </a:t>
            </a:r>
            <a:r>
              <a:rPr lang="en-US" altLang="en-US" b="1" dirty="0"/>
              <a:t>label</a:t>
            </a:r>
            <a:r>
              <a:rPr lang="en-US" altLang="en-US" dirty="0"/>
              <a:t> the dark plotted points as </a:t>
            </a:r>
            <a:r>
              <a:rPr lang="en-US" altLang="en-US" b="1" dirty="0"/>
              <a:t>Q1, Median, Q3</a:t>
            </a:r>
            <a:r>
              <a:rPr lang="en-US" altLang="en-US" dirty="0"/>
              <a:t> – that would help in understanding this graph.</a:t>
            </a:r>
          </a:p>
          <a:p>
            <a:r>
              <a:rPr lang="en-US" altLang="en-US" dirty="0"/>
              <a:t>Tell audience: There is a shift in distribution of branch 1 WRT branch 2 in that the unit prices of items sold at branch 1 tend to be lower than those at branch 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A81B7F7-5956-0EA3-76DE-F0A388FDF9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A4A0DC0-AFC6-46F8-9D72-97E78AD26870}"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93187" name="Rectangle 2">
            <a:extLst>
              <a:ext uri="{FF2B5EF4-FFF2-40B4-BE49-F238E27FC236}">
                <a16:creationId xmlns:a16="http://schemas.microsoft.com/office/drawing/2014/main" id="{1D9DE536-38FD-E055-574C-790408F22188}"/>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3828D280-8D37-82C7-AA80-8E2907779A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98FC23E8-0722-F4AA-886E-17E7CE9E17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98A2C20-9991-4133-9251-0987E46063F1}"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94211" name="Rectangle 2">
            <a:extLst>
              <a:ext uri="{FF2B5EF4-FFF2-40B4-BE49-F238E27FC236}">
                <a16:creationId xmlns:a16="http://schemas.microsoft.com/office/drawing/2014/main" id="{23C032E7-0D4C-4F59-6EE2-793C8F54F526}"/>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B1C8A461-CBED-B15A-6B3D-CF86FAE6F3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836BA28-A07B-E31C-2353-A6B1C8475E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5F1BE5D-D7C3-4E6C-AA27-B661A70CFD7B}"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97283" name="Rectangle 2">
            <a:extLst>
              <a:ext uri="{FF2B5EF4-FFF2-40B4-BE49-F238E27FC236}">
                <a16:creationId xmlns:a16="http://schemas.microsoft.com/office/drawing/2014/main" id="{B65EE6BA-FB96-96DB-7825-54095FEB3E54}"/>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57160CDA-40DB-D801-5671-ED23C8E9C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05D0E99-E39A-84C3-439D-658F8A35E4CE}"/>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17BB5164-6FC1-4282-8046-10437BA00990}" type="slidenum">
              <a:rPr lang="en-US" altLang="en-US" sz="1200">
                <a:latin typeface="Times New Roman" panose="02020603050405020304" pitchFamily="18" charset="0"/>
              </a:rPr>
              <a:pPr algn="r"/>
              <a:t>64</a:t>
            </a:fld>
            <a:endParaRPr lang="en-US" altLang="en-US" sz="1200">
              <a:latin typeface="Times New Roman" panose="02020603050405020304" pitchFamily="18" charset="0"/>
            </a:endParaRPr>
          </a:p>
        </p:txBody>
      </p:sp>
      <p:sp>
        <p:nvSpPr>
          <p:cNvPr id="98307" name="Rectangle 2">
            <a:extLst>
              <a:ext uri="{FF2B5EF4-FFF2-40B4-BE49-F238E27FC236}">
                <a16:creationId xmlns:a16="http://schemas.microsoft.com/office/drawing/2014/main" id="{95BE1842-3E02-668E-80E4-9C521C7E2E6E}"/>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E6CB877B-BA70-EDD5-87D0-EC66EA298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EDFB1F20-5BCC-A54D-8433-1AFDD3D86525}"/>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250F16E-6224-4BAB-AB45-5EF6FAB1A6CE}" type="slidenum">
              <a:rPr lang="en-US" altLang="en-US" sz="1200">
                <a:latin typeface="Times New Roman" panose="02020603050405020304" pitchFamily="18" charset="0"/>
              </a:rPr>
              <a:pPr algn="r"/>
              <a:t>65</a:t>
            </a:fld>
            <a:endParaRPr lang="en-US" altLang="en-US" sz="1200">
              <a:latin typeface="Times New Roman" panose="02020603050405020304" pitchFamily="18" charset="0"/>
            </a:endParaRPr>
          </a:p>
        </p:txBody>
      </p:sp>
      <p:sp>
        <p:nvSpPr>
          <p:cNvPr id="99331" name="Rectangle 2">
            <a:extLst>
              <a:ext uri="{FF2B5EF4-FFF2-40B4-BE49-F238E27FC236}">
                <a16:creationId xmlns:a16="http://schemas.microsoft.com/office/drawing/2014/main" id="{674E3CD0-4726-7292-8D4D-01F66D83F230}"/>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C8C0DAF9-0F2D-4883-FC0D-73BFB48B70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A27943D6-F3D0-0EBA-AB30-D297B6E14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4F6775-0682-4E65-9B5E-C9372E5CA96E}" type="slidenum">
              <a:rPr lang="en-US" altLang="en-US" sz="1200">
                <a:latin typeface="Times New Roman" panose="02020603050405020304" pitchFamily="18" charset="0"/>
              </a:rPr>
              <a:pPr/>
              <a:t>66</a:t>
            </a:fld>
            <a:endParaRPr lang="en-US" altLang="en-US" sz="1200">
              <a:latin typeface="Times New Roman" panose="02020603050405020304" pitchFamily="18" charset="0"/>
            </a:endParaRPr>
          </a:p>
        </p:txBody>
      </p:sp>
      <p:sp>
        <p:nvSpPr>
          <p:cNvPr id="100355" name="Rectangle 2">
            <a:extLst>
              <a:ext uri="{FF2B5EF4-FFF2-40B4-BE49-F238E27FC236}">
                <a16:creationId xmlns:a16="http://schemas.microsoft.com/office/drawing/2014/main" id="{C0D5A16C-CCEC-CBED-5431-364EBCFB8793}"/>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55BC1A7F-5ECD-5E7E-65DA-58BAF1899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318349F8-6BB3-13D8-010A-A1A59CC84B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D1FB770-EB6B-4880-B3AE-56E53D38EE38}"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101379" name="Rectangle 2">
            <a:extLst>
              <a:ext uri="{FF2B5EF4-FFF2-40B4-BE49-F238E27FC236}">
                <a16:creationId xmlns:a16="http://schemas.microsoft.com/office/drawing/2014/main" id="{7BAA754C-992C-3A11-DE9A-601B35ACD1B2}"/>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058B9766-0BFC-A890-E4AA-042576E44C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http://books.elsevier.com/companions/1558606890/pictures/Chapter_01/fig1-6b.gif</a:t>
            </a:r>
          </a:p>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4CC1AEAF-96E7-DFA2-E31D-B1152EEBA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B3BDA49-AF19-4795-9DD0-FD6CEC54F5EA}"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102403" name="Rectangle 2">
            <a:extLst>
              <a:ext uri="{FF2B5EF4-FFF2-40B4-BE49-F238E27FC236}">
                <a16:creationId xmlns:a16="http://schemas.microsoft.com/office/drawing/2014/main" id="{7F9F00FB-1EB5-388C-A27E-5CD23A8FBC27}"/>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D795FE20-700D-31A9-F42C-5D226361AD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24977A62-21A4-8E30-91D5-4C692E8CBA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76129-685E-45A4-8441-14F7805540CA}"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103427" name="Rectangle 2">
            <a:extLst>
              <a:ext uri="{FF2B5EF4-FFF2-40B4-BE49-F238E27FC236}">
                <a16:creationId xmlns:a16="http://schemas.microsoft.com/office/drawing/2014/main" id="{56044B03-452A-0FB6-35A0-6003FA2600F2}"/>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8FC33622-1415-6D7A-C1D1-C407890F24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07B23CA2-8C20-0E38-054B-8BC58DDC6D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B3672C-03DE-44C2-8975-CA8201D6EF1A}"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104451" name="Rectangle 2">
            <a:extLst>
              <a:ext uri="{FF2B5EF4-FFF2-40B4-BE49-F238E27FC236}">
                <a16:creationId xmlns:a16="http://schemas.microsoft.com/office/drawing/2014/main" id="{CAB193D9-EA87-3102-D2D1-E1975D9A310F}"/>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9A973BCF-A889-0D2C-2776-F15789764E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7E17B07C-9EE1-7092-6369-614928AF55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7594DA-8E4B-4C4F-A1EE-BB52A64B5AAB}"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105475" name="Rectangle 2">
            <a:extLst>
              <a:ext uri="{FF2B5EF4-FFF2-40B4-BE49-F238E27FC236}">
                <a16:creationId xmlns:a16="http://schemas.microsoft.com/office/drawing/2014/main" id="{BE10A0E4-8C3A-4C0B-3B5B-11B260B8046A}"/>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A61693FE-EF62-2512-5399-805C9D83D2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C60F7CBF-C444-E8C2-645E-9E7FD8C556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684AD01-6D8A-4233-9980-9D5DB69EBA05}" type="slidenum">
              <a:rPr lang="en-US" altLang="en-US" sz="1200">
                <a:latin typeface="Times New Roman" panose="02020603050405020304" pitchFamily="18" charset="0"/>
              </a:rPr>
              <a:pPr/>
              <a:t>72</a:t>
            </a:fld>
            <a:endParaRPr lang="en-US" altLang="en-US" sz="1200">
              <a:latin typeface="Times New Roman" panose="02020603050405020304" pitchFamily="18" charset="0"/>
            </a:endParaRPr>
          </a:p>
        </p:txBody>
      </p:sp>
      <p:sp>
        <p:nvSpPr>
          <p:cNvPr id="106499" name="Rectangle 2">
            <a:extLst>
              <a:ext uri="{FF2B5EF4-FFF2-40B4-BE49-F238E27FC236}">
                <a16:creationId xmlns:a16="http://schemas.microsoft.com/office/drawing/2014/main" id="{834AC742-53C8-CA6C-1386-31407E0F8535}"/>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6A836E2D-D331-EF32-06FD-569A048206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0E2311CD-A6F4-CD21-7191-91528CB227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3865307-3629-40BB-AF75-84F031DDF494}" type="slidenum">
              <a:rPr lang="en-US" altLang="en-US" sz="1200">
                <a:latin typeface="Times New Roman" panose="02020603050405020304" pitchFamily="18" charset="0"/>
              </a:rPr>
              <a:pPr/>
              <a:t>73</a:t>
            </a:fld>
            <a:endParaRPr lang="en-US" altLang="en-US" sz="1200">
              <a:latin typeface="Times New Roman" panose="02020603050405020304" pitchFamily="18" charset="0"/>
            </a:endParaRPr>
          </a:p>
        </p:txBody>
      </p:sp>
      <p:sp>
        <p:nvSpPr>
          <p:cNvPr id="107523" name="Rectangle 2">
            <a:extLst>
              <a:ext uri="{FF2B5EF4-FFF2-40B4-BE49-F238E27FC236}">
                <a16:creationId xmlns:a16="http://schemas.microsoft.com/office/drawing/2014/main" id="{1B8E47C4-B0EF-B37E-4031-F6A1580816B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9BCFA4E9-7EE7-548D-164A-AB98679AB4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2AFE7E4F-C06D-2CE1-ADB6-2CC558B633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48322F0-9C55-463C-9F41-046AC4280DFC}"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08547" name="Rectangle 2">
            <a:extLst>
              <a:ext uri="{FF2B5EF4-FFF2-40B4-BE49-F238E27FC236}">
                <a16:creationId xmlns:a16="http://schemas.microsoft.com/office/drawing/2014/main" id="{B7AC3294-53B0-16CC-B4BD-A517780E284E}"/>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F697B6B2-BBF2-5A65-4ADA-D0A66ED831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B7A1EA9C-66E3-CD7E-9BDD-7AFA25A0D9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99A8626D-4E2B-477A-A4D6-7C64C5489D76}"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09571" name="Rectangle 2">
            <a:extLst>
              <a:ext uri="{FF2B5EF4-FFF2-40B4-BE49-F238E27FC236}">
                <a16:creationId xmlns:a16="http://schemas.microsoft.com/office/drawing/2014/main" id="{585DCFBF-8DC6-9D4A-3C1F-5979A72637CC}"/>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A9F463F5-456B-70E1-5738-8E9D896A00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827F504F-8CC1-D5CC-16AE-49D50AF9D0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91FC5C-E43C-4D32-8147-24A67D006F69}" type="slidenum">
              <a:rPr lang="en-US" altLang="en-US" sz="1200">
                <a:latin typeface="Times New Roman" panose="02020603050405020304" pitchFamily="18" charset="0"/>
              </a:rPr>
              <a:pPr/>
              <a:t>76</a:t>
            </a:fld>
            <a:endParaRPr lang="en-US" altLang="en-US" sz="1200">
              <a:latin typeface="Times New Roman" panose="02020603050405020304" pitchFamily="18" charset="0"/>
            </a:endParaRPr>
          </a:p>
        </p:txBody>
      </p:sp>
      <p:sp>
        <p:nvSpPr>
          <p:cNvPr id="110595" name="Rectangle 2">
            <a:extLst>
              <a:ext uri="{FF2B5EF4-FFF2-40B4-BE49-F238E27FC236}">
                <a16:creationId xmlns:a16="http://schemas.microsoft.com/office/drawing/2014/main" id="{E8E606FC-5B3C-4F59-B861-9171EAE294A7}"/>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062E0CA0-76AE-BC8B-2225-964B7E5370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82432C63-4473-37F4-F658-2A2E45E7E6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21468-F612-4416-B83D-57E95D3529B3}"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11619" name="Rectangle 2">
            <a:extLst>
              <a:ext uri="{FF2B5EF4-FFF2-40B4-BE49-F238E27FC236}">
                <a16:creationId xmlns:a16="http://schemas.microsoft.com/office/drawing/2014/main" id="{F5FE826D-AD35-EBBF-44C2-BB2F2454E17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7EC67634-1156-B98E-119B-216C4104D9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9DBC98E2-4224-18AA-A3B2-2D4627843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C72054D-43CE-4F5E-92A2-17F8717E37C6}"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12643" name="Rectangle 2">
            <a:extLst>
              <a:ext uri="{FF2B5EF4-FFF2-40B4-BE49-F238E27FC236}">
                <a16:creationId xmlns:a16="http://schemas.microsoft.com/office/drawing/2014/main" id="{83CF640D-A962-8A08-5B43-72412EEC8848}"/>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BFE15729-B61C-7174-9160-E115DD1F00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6F1EE368-32B1-75DD-2417-C1E17FC2F1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56F64CE-91A2-4973-BC09-99E9A53DBF02}" type="slidenum">
              <a:rPr lang="en-US" altLang="en-US" sz="1200">
                <a:latin typeface="Times New Roman" panose="02020603050405020304" pitchFamily="18" charset="0"/>
              </a:rPr>
              <a:pPr/>
              <a:t>79</a:t>
            </a:fld>
            <a:endParaRPr lang="en-US" altLang="en-US" sz="1200">
              <a:latin typeface="Times New Roman" panose="02020603050405020304" pitchFamily="18" charset="0"/>
            </a:endParaRPr>
          </a:p>
        </p:txBody>
      </p:sp>
      <p:sp>
        <p:nvSpPr>
          <p:cNvPr id="113667" name="Rectangle 2">
            <a:extLst>
              <a:ext uri="{FF2B5EF4-FFF2-40B4-BE49-F238E27FC236}">
                <a16:creationId xmlns:a16="http://schemas.microsoft.com/office/drawing/2014/main" id="{CB5ED0C0-2CAE-1628-919E-1A79377CE326}"/>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0D2AC27B-BA51-00A3-205E-3BDA8F1AE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6E715349-9CA0-0263-5FD3-C3984DBFDF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F46A704-452D-4A00-BDA4-99D1A887F102}" type="slidenum">
              <a:rPr lang="en-US" altLang="en-US" sz="1200">
                <a:latin typeface="Times New Roman" panose="02020603050405020304" pitchFamily="18" charset="0"/>
              </a:rPr>
              <a:pPr/>
              <a:t>80</a:t>
            </a:fld>
            <a:endParaRPr lang="en-US" altLang="en-US" sz="1200">
              <a:latin typeface="Times New Roman" panose="02020603050405020304" pitchFamily="18" charset="0"/>
            </a:endParaRPr>
          </a:p>
        </p:txBody>
      </p:sp>
      <p:sp>
        <p:nvSpPr>
          <p:cNvPr id="114691" name="Rectangle 2">
            <a:extLst>
              <a:ext uri="{FF2B5EF4-FFF2-40B4-BE49-F238E27FC236}">
                <a16:creationId xmlns:a16="http://schemas.microsoft.com/office/drawing/2014/main" id="{6DC9B00F-8871-7709-0ABD-D49F43D527C9}"/>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091040C9-B08F-1FAA-0669-3A3447F468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083155DB-705E-71C1-0A50-46F8623CDC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DE4FCB8-A6FE-40DA-8B6D-D6C9E7B4EC49}"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15715" name="Rectangle 2">
            <a:extLst>
              <a:ext uri="{FF2B5EF4-FFF2-40B4-BE49-F238E27FC236}">
                <a16:creationId xmlns:a16="http://schemas.microsoft.com/office/drawing/2014/main" id="{9ED148D6-0C87-F6C2-D798-CA1538937F82}"/>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7AFA2C07-2C66-4A90-A259-B7F6360AA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4F76AED1-C639-FF55-4452-45DCB22D7C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5979620-CC50-41E0-8504-BEA596029617}" type="slidenum">
              <a:rPr lang="en-US" altLang="en-US" sz="1200">
                <a:latin typeface="Times New Roman" panose="02020603050405020304" pitchFamily="18" charset="0"/>
              </a:rPr>
              <a:pPr/>
              <a:t>82</a:t>
            </a:fld>
            <a:endParaRPr lang="en-US" altLang="en-US" sz="1200">
              <a:latin typeface="Times New Roman" panose="02020603050405020304" pitchFamily="18" charset="0"/>
            </a:endParaRPr>
          </a:p>
        </p:txBody>
      </p:sp>
      <p:sp>
        <p:nvSpPr>
          <p:cNvPr id="116739" name="Rectangle 2">
            <a:extLst>
              <a:ext uri="{FF2B5EF4-FFF2-40B4-BE49-F238E27FC236}">
                <a16:creationId xmlns:a16="http://schemas.microsoft.com/office/drawing/2014/main" id="{3D2C121A-30AE-F88D-36E2-FBB957778650}"/>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9DF002F0-70B1-04E3-D6E6-66BEE47B64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B0F78157-A173-2FE2-B5B5-F06B4EEC0CF1}"/>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7ED9B170-C81D-D49D-2202-2179792E3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5E49FBD8-0BCC-33C9-F8F6-D4B28246A4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86C3078-D5A7-482A-82AF-F3BCA2C113EB}" type="slidenum">
              <a:rPr lang="en-US" altLang="en-US" sz="1200">
                <a:latin typeface="Times New Roman" panose="02020603050405020304" pitchFamily="18" charset="0"/>
              </a:rPr>
              <a:pPr/>
              <a:t>85</a:t>
            </a:fld>
            <a:endParaRPr lang="en-US" altLang="en-US" sz="1200">
              <a:latin typeface="Times New Roman" panose="02020603050405020304" pitchFamily="18" charset="0"/>
            </a:endParaRPr>
          </a:p>
        </p:txBody>
      </p:sp>
      <p:sp>
        <p:nvSpPr>
          <p:cNvPr id="119811" name="Rectangle 2">
            <a:extLst>
              <a:ext uri="{FF2B5EF4-FFF2-40B4-BE49-F238E27FC236}">
                <a16:creationId xmlns:a16="http://schemas.microsoft.com/office/drawing/2014/main" id="{36189E97-FBBF-5CCF-A8DC-0CEF33D13E1E}"/>
              </a:ext>
            </a:extLst>
          </p:cNvPr>
          <p:cNvSpPr>
            <a:spLocks noGrp="1" noRot="1" noChangeAspect="1" noChangeArrowheads="1" noTextEdit="1"/>
          </p:cNvSpPr>
          <p:nvPr>
            <p:ph type="sldImg"/>
          </p:nvPr>
        </p:nvSpPr>
        <p:spPr>
          <a:xfrm>
            <a:off x="1208088" y="700088"/>
            <a:ext cx="4598987" cy="3449637"/>
          </a:xfrm>
          <a:ln/>
        </p:spPr>
      </p:sp>
      <p:sp>
        <p:nvSpPr>
          <p:cNvPr id="119812" name="Rectangle 3">
            <a:extLst>
              <a:ext uri="{FF2B5EF4-FFF2-40B4-BE49-F238E27FC236}">
                <a16:creationId xmlns:a16="http://schemas.microsoft.com/office/drawing/2014/main" id="{B958167D-3639-8712-CA30-3FA18C130195}"/>
              </a:ext>
            </a:extLst>
          </p:cNvPr>
          <p:cNvSpPr>
            <a:spLocks noGrp="1" noChangeArrowheads="1"/>
          </p:cNvSpPr>
          <p:nvPr>
            <p:ph type="body" idx="1"/>
          </p:nvPr>
        </p:nvSpPr>
        <p:spPr>
          <a:xfrm>
            <a:off x="933450" y="4387850"/>
            <a:ext cx="514191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A4F25AC0-888E-B94F-7675-B392A5B99E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64ACD05-1684-479C-932D-DC96CFDCF59F}" type="slidenum">
              <a:rPr lang="en-US" altLang="en-US" sz="1200">
                <a:latin typeface="Times New Roman" panose="02020603050405020304" pitchFamily="18" charset="0"/>
              </a:rPr>
              <a:pPr/>
              <a:t>86</a:t>
            </a:fld>
            <a:endParaRPr lang="en-US" altLang="en-US" sz="1200">
              <a:latin typeface="Times New Roman" panose="02020603050405020304" pitchFamily="18" charset="0"/>
            </a:endParaRPr>
          </a:p>
        </p:txBody>
      </p:sp>
      <p:sp>
        <p:nvSpPr>
          <p:cNvPr id="120835" name="Rectangle 2">
            <a:extLst>
              <a:ext uri="{FF2B5EF4-FFF2-40B4-BE49-F238E27FC236}">
                <a16:creationId xmlns:a16="http://schemas.microsoft.com/office/drawing/2014/main" id="{905FE2CD-B06B-0BFE-9A3E-1C6289B3B036}"/>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5B6D2013-9FFD-B0A4-8478-D5F57F3A34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DECF6ADA-C2EB-3932-BBC4-3CD5D7019E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05F681F-480B-4022-9292-19924642117B}" type="slidenum">
              <a:rPr lang="en-US" altLang="en-US" sz="1200">
                <a:latin typeface="Times New Roman" panose="02020603050405020304" pitchFamily="18" charset="0"/>
              </a:rPr>
              <a:pPr/>
              <a:t>87</a:t>
            </a:fld>
            <a:endParaRPr lang="en-US" altLang="en-US" sz="1200">
              <a:latin typeface="Times New Roman" panose="02020603050405020304" pitchFamily="18" charset="0"/>
            </a:endParaRPr>
          </a:p>
        </p:txBody>
      </p:sp>
      <p:sp>
        <p:nvSpPr>
          <p:cNvPr id="121859" name="Rectangle 2">
            <a:extLst>
              <a:ext uri="{FF2B5EF4-FFF2-40B4-BE49-F238E27FC236}">
                <a16:creationId xmlns:a16="http://schemas.microsoft.com/office/drawing/2014/main" id="{F52AF4A4-2A5F-457E-8526-D2265EEEFBC9}"/>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EA8A9788-A9D7-8D9D-4773-0C8CC64CD9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B0F9A95A-6176-CEB2-076D-A1F5D9826D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3C64359-7987-41E2-8A92-12E9DEA6FDFA}" type="slidenum">
              <a:rPr lang="en-US" altLang="en-US" sz="1200">
                <a:latin typeface="Times New Roman" panose="02020603050405020304" pitchFamily="18" charset="0"/>
              </a:rPr>
              <a:pPr/>
              <a:t>88</a:t>
            </a:fld>
            <a:endParaRPr lang="en-US" altLang="en-US" sz="1200">
              <a:latin typeface="Times New Roman" panose="02020603050405020304" pitchFamily="18" charset="0"/>
            </a:endParaRPr>
          </a:p>
        </p:txBody>
      </p:sp>
      <p:sp>
        <p:nvSpPr>
          <p:cNvPr id="122883" name="Rectangle 2">
            <a:extLst>
              <a:ext uri="{FF2B5EF4-FFF2-40B4-BE49-F238E27FC236}">
                <a16:creationId xmlns:a16="http://schemas.microsoft.com/office/drawing/2014/main" id="{624ECA6A-7557-EF0D-2FE9-616749F71DD3}"/>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D8301EEC-0723-FFF0-2B20-8E3FEEC2A9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67CDCD4D-F228-7F87-15B2-56A1FABED8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576E77B-ABE1-4DD1-94F9-E03916456DB9}" type="slidenum">
              <a:rPr lang="en-US" altLang="en-US" sz="1200">
                <a:latin typeface="Times New Roman" panose="02020603050405020304" pitchFamily="18" charset="0"/>
              </a:rPr>
              <a:pPr/>
              <a:t>89</a:t>
            </a:fld>
            <a:endParaRPr lang="en-US" altLang="en-US" sz="1200">
              <a:latin typeface="Times New Roman" panose="02020603050405020304" pitchFamily="18" charset="0"/>
            </a:endParaRPr>
          </a:p>
        </p:txBody>
      </p:sp>
      <p:sp>
        <p:nvSpPr>
          <p:cNvPr id="123907" name="Rectangle 2">
            <a:extLst>
              <a:ext uri="{FF2B5EF4-FFF2-40B4-BE49-F238E27FC236}">
                <a16:creationId xmlns:a16="http://schemas.microsoft.com/office/drawing/2014/main" id="{1B583566-8B30-50CA-7D8D-B927EED72597}"/>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235FEDFB-B21C-9586-9590-B623D6B718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56CCBDDE-3A20-0586-8FF8-508047BEA8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90C7901C-E11C-4C33-A0D5-D55983884042}" type="slidenum">
              <a:rPr lang="en-US" altLang="en-US" sz="1200">
                <a:latin typeface="Times New Roman" panose="02020603050405020304" pitchFamily="18" charset="0"/>
              </a:rPr>
              <a:pPr/>
              <a:t>90</a:t>
            </a:fld>
            <a:endParaRPr lang="en-US" altLang="en-US" sz="1200">
              <a:latin typeface="Times New Roman" panose="02020603050405020304" pitchFamily="18" charset="0"/>
            </a:endParaRPr>
          </a:p>
        </p:txBody>
      </p:sp>
      <p:sp>
        <p:nvSpPr>
          <p:cNvPr id="124931" name="Rectangle 2">
            <a:extLst>
              <a:ext uri="{FF2B5EF4-FFF2-40B4-BE49-F238E27FC236}">
                <a16:creationId xmlns:a16="http://schemas.microsoft.com/office/drawing/2014/main" id="{15C67FF5-7D4A-E0F8-F627-E744B8B88D8F}"/>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09CA567D-1886-0A4A-CFD1-C8155C0F8A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0864F163-AE5D-D4F2-10E8-259246EF71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74785A0-852E-4429-81A1-547E01560328}" type="slidenum">
              <a:rPr lang="en-US" altLang="en-US" sz="1200">
                <a:latin typeface="Times New Roman" panose="02020603050405020304" pitchFamily="18" charset="0"/>
              </a:rPr>
              <a:pPr/>
              <a:t>91</a:t>
            </a:fld>
            <a:endParaRPr lang="en-US" altLang="en-US" sz="1200">
              <a:latin typeface="Times New Roman" panose="02020603050405020304" pitchFamily="18" charset="0"/>
            </a:endParaRPr>
          </a:p>
        </p:txBody>
      </p:sp>
      <p:sp>
        <p:nvSpPr>
          <p:cNvPr id="125955" name="Rectangle 2">
            <a:extLst>
              <a:ext uri="{FF2B5EF4-FFF2-40B4-BE49-F238E27FC236}">
                <a16:creationId xmlns:a16="http://schemas.microsoft.com/office/drawing/2014/main" id="{3A1D16CA-8727-6E25-0D13-44FF46BC4E52}"/>
              </a:ext>
            </a:extLst>
          </p:cNvPr>
          <p:cNvSpPr>
            <a:spLocks noGrp="1" noRot="1" noChangeAspect="1" noChangeArrowheads="1" noTextEdit="1"/>
          </p:cNvSpPr>
          <p:nvPr>
            <p:ph type="sldImg"/>
          </p:nvPr>
        </p:nvSpPr>
        <p:spPr>
          <a:xfrm>
            <a:off x="1208088" y="700088"/>
            <a:ext cx="4598987" cy="3449637"/>
          </a:xfrm>
          <a:ln/>
        </p:spPr>
      </p:sp>
      <p:sp>
        <p:nvSpPr>
          <p:cNvPr id="125956" name="Rectangle 3">
            <a:extLst>
              <a:ext uri="{FF2B5EF4-FFF2-40B4-BE49-F238E27FC236}">
                <a16:creationId xmlns:a16="http://schemas.microsoft.com/office/drawing/2014/main" id="{11D06FDB-E7B4-A1B5-72BB-E00A6E046EE6}"/>
              </a:ext>
            </a:extLst>
          </p:cNvPr>
          <p:cNvSpPr>
            <a:spLocks noGrp="1" noChangeArrowheads="1"/>
          </p:cNvSpPr>
          <p:nvPr>
            <p:ph type="body" idx="1"/>
          </p:nvPr>
        </p:nvSpPr>
        <p:spPr>
          <a:xfrm>
            <a:off x="933450" y="4387850"/>
            <a:ext cx="514191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8F45CE49-C301-3A13-0B85-6CFA77CC03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83CB210-73F4-44C2-B7B2-5358238570EE}" type="slidenum">
              <a:rPr lang="en-US" altLang="en-US" sz="1200">
                <a:latin typeface="Times New Roman" panose="02020603050405020304" pitchFamily="18" charset="0"/>
              </a:rPr>
              <a:pPr/>
              <a:t>92</a:t>
            </a:fld>
            <a:endParaRPr lang="en-US" altLang="en-US" sz="1200">
              <a:latin typeface="Times New Roman" panose="02020603050405020304" pitchFamily="18" charset="0"/>
            </a:endParaRPr>
          </a:p>
        </p:txBody>
      </p:sp>
      <p:sp>
        <p:nvSpPr>
          <p:cNvPr id="126979" name="Rectangle 2">
            <a:extLst>
              <a:ext uri="{FF2B5EF4-FFF2-40B4-BE49-F238E27FC236}">
                <a16:creationId xmlns:a16="http://schemas.microsoft.com/office/drawing/2014/main" id="{B5C7797F-CF3F-E0E7-4AD9-0E6E698FA1E6}"/>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21B54629-E2A0-A8F8-0E88-62F34F95AE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87F7FFBB-716D-CEA6-13A3-4DFE124BBC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615C9E0-C5C8-4C0C-9870-EB1227EA10FD}" type="slidenum">
              <a:rPr lang="en-US" altLang="en-US" sz="1200">
                <a:latin typeface="Times New Roman" panose="02020603050405020304" pitchFamily="18" charset="0"/>
              </a:rPr>
              <a:pPr/>
              <a:t>93</a:t>
            </a:fld>
            <a:endParaRPr lang="en-US" altLang="en-US" sz="1200">
              <a:latin typeface="Times New Roman" panose="02020603050405020304" pitchFamily="18" charset="0"/>
            </a:endParaRPr>
          </a:p>
        </p:txBody>
      </p:sp>
      <p:sp>
        <p:nvSpPr>
          <p:cNvPr id="128003" name="Rectangle 2">
            <a:extLst>
              <a:ext uri="{FF2B5EF4-FFF2-40B4-BE49-F238E27FC236}">
                <a16:creationId xmlns:a16="http://schemas.microsoft.com/office/drawing/2014/main" id="{16DE885A-9DB7-1E49-AD20-E7642C64D43F}"/>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5CD6C0ED-E7FF-DCEF-89A0-F57E3ED684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 </a:t>
            </a:r>
          </a:p>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DA0048AF-16DD-E97F-F619-B8C407B42D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9FCE5F0-67D7-4344-B25E-FC03470DC913}" type="slidenum">
              <a:rPr lang="en-US" altLang="en-US" sz="1200">
                <a:latin typeface="Times New Roman" panose="02020603050405020304" pitchFamily="18" charset="0"/>
              </a:rPr>
              <a:pPr/>
              <a:t>94</a:t>
            </a:fld>
            <a:endParaRPr lang="en-US" altLang="en-US" sz="1200">
              <a:latin typeface="Times New Roman" panose="02020603050405020304" pitchFamily="18" charset="0"/>
            </a:endParaRPr>
          </a:p>
        </p:txBody>
      </p:sp>
      <p:sp>
        <p:nvSpPr>
          <p:cNvPr id="129027" name="Rectangle 2">
            <a:extLst>
              <a:ext uri="{FF2B5EF4-FFF2-40B4-BE49-F238E27FC236}">
                <a16:creationId xmlns:a16="http://schemas.microsoft.com/office/drawing/2014/main" id="{041EDCCB-ECE6-1EB9-0C58-C53D1B234399}"/>
              </a:ext>
            </a:extLst>
          </p:cNvPr>
          <p:cNvSpPr>
            <a:spLocks noGrp="1" noRot="1" noChangeAspect="1" noChangeArrowheads="1" noTextEdit="1"/>
          </p:cNvSpPr>
          <p:nvPr>
            <p:ph type="sldImg"/>
          </p:nvPr>
        </p:nvSpPr>
        <p:spPr>
          <a:xfrm>
            <a:off x="1208088" y="700088"/>
            <a:ext cx="4598987" cy="3449637"/>
          </a:xfrm>
          <a:ln/>
        </p:spPr>
      </p:sp>
      <p:sp>
        <p:nvSpPr>
          <p:cNvPr id="129028" name="Rectangle 3">
            <a:extLst>
              <a:ext uri="{FF2B5EF4-FFF2-40B4-BE49-F238E27FC236}">
                <a16:creationId xmlns:a16="http://schemas.microsoft.com/office/drawing/2014/main" id="{FA342276-2256-F9B2-FB8C-2104598674FF}"/>
              </a:ext>
            </a:extLst>
          </p:cNvPr>
          <p:cNvSpPr>
            <a:spLocks noGrp="1" noChangeArrowheads="1"/>
          </p:cNvSpPr>
          <p:nvPr>
            <p:ph type="body" idx="1"/>
          </p:nvPr>
        </p:nvSpPr>
        <p:spPr>
          <a:xfrm>
            <a:off x="933450" y="4387850"/>
            <a:ext cx="514191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2157E612-E1D3-601E-8388-9FC56DAB0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70A782D-99A8-45BA-BE55-57C9A28BF5B4}" type="slidenum">
              <a:rPr lang="en-US" altLang="en-US" sz="1200">
                <a:latin typeface="Times New Roman" panose="02020603050405020304" pitchFamily="18" charset="0"/>
              </a:rPr>
              <a:pPr/>
              <a:t>95</a:t>
            </a:fld>
            <a:endParaRPr lang="en-US" altLang="en-US" sz="1200">
              <a:latin typeface="Times New Roman" panose="02020603050405020304" pitchFamily="18" charset="0"/>
            </a:endParaRPr>
          </a:p>
        </p:txBody>
      </p:sp>
      <p:sp>
        <p:nvSpPr>
          <p:cNvPr id="130051" name="Rectangle 2">
            <a:extLst>
              <a:ext uri="{FF2B5EF4-FFF2-40B4-BE49-F238E27FC236}">
                <a16:creationId xmlns:a16="http://schemas.microsoft.com/office/drawing/2014/main" id="{9799AFBB-544A-CA5B-A0CB-285979AE6C73}"/>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FB27C0C9-E04B-C8B2-BEB2-F5A049FE91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423FC357-4511-2CBD-DC48-4B6B7ABC7B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0FD5A15-88F6-49D0-BD9F-944366F11546}" type="slidenum">
              <a:rPr lang="en-US" altLang="en-US" sz="1200">
                <a:latin typeface="Times New Roman" panose="02020603050405020304" pitchFamily="18" charset="0"/>
              </a:rPr>
              <a:pPr/>
              <a:t>96</a:t>
            </a:fld>
            <a:endParaRPr lang="en-US" altLang="en-US" sz="1200">
              <a:latin typeface="Times New Roman" panose="02020603050405020304" pitchFamily="18" charset="0"/>
            </a:endParaRPr>
          </a:p>
        </p:txBody>
      </p:sp>
      <p:sp>
        <p:nvSpPr>
          <p:cNvPr id="131075" name="Rectangle 2">
            <a:extLst>
              <a:ext uri="{FF2B5EF4-FFF2-40B4-BE49-F238E27FC236}">
                <a16:creationId xmlns:a16="http://schemas.microsoft.com/office/drawing/2014/main" id="{2D59D5BC-6871-893E-676D-D8C6EC4A9F51}"/>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D9347CA9-C0CC-E5A6-AA0D-E51DBF7357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A79FDAAA-6071-6B4C-7919-0704D4BA45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1AF25F2-9CB3-4150-81F3-8404B4C940B8}" type="slidenum">
              <a:rPr lang="en-US" altLang="en-US" sz="1200">
                <a:latin typeface="Times New Roman" panose="02020603050405020304" pitchFamily="18" charset="0"/>
              </a:rPr>
              <a:pPr/>
              <a:t>97</a:t>
            </a:fld>
            <a:endParaRPr lang="en-US" altLang="en-US" sz="1200">
              <a:latin typeface="Times New Roman" panose="02020603050405020304" pitchFamily="18" charset="0"/>
            </a:endParaRPr>
          </a:p>
        </p:txBody>
      </p:sp>
      <p:sp>
        <p:nvSpPr>
          <p:cNvPr id="132099" name="Rectangle 2">
            <a:extLst>
              <a:ext uri="{FF2B5EF4-FFF2-40B4-BE49-F238E27FC236}">
                <a16:creationId xmlns:a16="http://schemas.microsoft.com/office/drawing/2014/main" id="{A91F52E1-A93B-56B6-A5FA-EE2345DB1759}"/>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915D2EC5-1942-F530-662B-11E65E1B96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DA5B9340-BEAB-0D35-9C08-95ED87B7BA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AB51936-98AD-4D34-A040-D3320B3729A1}" type="slidenum">
              <a:rPr lang="en-US" altLang="en-US" sz="1200">
                <a:latin typeface="Times New Roman" panose="02020603050405020304" pitchFamily="18" charset="0"/>
              </a:rPr>
              <a:pPr/>
              <a:t>98</a:t>
            </a:fld>
            <a:endParaRPr lang="en-US" altLang="en-US" sz="1200">
              <a:latin typeface="Times New Roman" panose="02020603050405020304" pitchFamily="18" charset="0"/>
            </a:endParaRPr>
          </a:p>
        </p:txBody>
      </p:sp>
      <p:sp>
        <p:nvSpPr>
          <p:cNvPr id="133123" name="Rectangle 2">
            <a:extLst>
              <a:ext uri="{FF2B5EF4-FFF2-40B4-BE49-F238E27FC236}">
                <a16:creationId xmlns:a16="http://schemas.microsoft.com/office/drawing/2014/main" id="{65E06D70-67E3-2B86-F883-0C9FFF3DA4EF}"/>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76031421-85A1-29C7-ED44-0B8261078F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7/27/2026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7/27/2026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0" y="1295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0" y="3962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a:extLst>
              <a:ext uri="{FF2B5EF4-FFF2-40B4-BE49-F238E27FC236}">
                <a16:creationId xmlns:a16="http://schemas.microsoft.com/office/drawing/2014/main" id="{A6B06FFA-1C49-CC56-ABC2-C33D894E645B}"/>
              </a:ext>
            </a:extLst>
          </p:cNvPr>
          <p:cNvSpPr>
            <a:spLocks noGrp="1" noChangeArrowheads="1"/>
          </p:cNvSpPr>
          <p:nvPr>
            <p:ph type="sldNum" sz="quarter" idx="10"/>
          </p:nvPr>
        </p:nvSpPr>
        <p:spPr>
          <a:ln/>
        </p:spPr>
        <p:txBody>
          <a:bodyPr/>
          <a:lstStyle>
            <a:lvl1pPr>
              <a:defRPr/>
            </a:lvl1pPr>
          </a:lstStyle>
          <a:p>
            <a:fld id="{69D1029A-75A1-4C69-98E9-A9C0391C6FCF}" type="slidenum">
              <a:rPr lang="en-US" altLang="en-US"/>
              <a:pPr/>
              <a:t>‹#›</a:t>
            </a:fld>
            <a:endParaRPr lang="en-US" altLang="en-US"/>
          </a:p>
        </p:txBody>
      </p:sp>
    </p:spTree>
    <p:extLst>
      <p:ext uri="{BB962C8B-B14F-4D97-AF65-F5344CB8AC3E}">
        <p14:creationId xmlns:p14="http://schemas.microsoft.com/office/powerpoint/2010/main" val="3367516287"/>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a:extLst>
              <a:ext uri="{FF2B5EF4-FFF2-40B4-BE49-F238E27FC236}">
                <a16:creationId xmlns:a16="http://schemas.microsoft.com/office/drawing/2014/main" id="{BB8BCE65-7103-1523-21FD-653FD9B7D26E}"/>
              </a:ext>
            </a:extLst>
          </p:cNvPr>
          <p:cNvSpPr>
            <a:spLocks noGrp="1" noChangeArrowheads="1"/>
          </p:cNvSpPr>
          <p:nvPr>
            <p:ph type="sldNum" sz="quarter" idx="10"/>
          </p:nvPr>
        </p:nvSpPr>
        <p:spPr>
          <a:ln/>
        </p:spPr>
        <p:txBody>
          <a:bodyPr/>
          <a:lstStyle>
            <a:lvl1pPr>
              <a:defRPr/>
            </a:lvl1pPr>
          </a:lstStyle>
          <a:p>
            <a:fld id="{80BFD7AD-83CC-45F3-96B2-D34D2EEB219F}" type="slidenum">
              <a:rPr lang="en-US" altLang="en-US"/>
              <a:pPr/>
              <a:t>‹#›</a:t>
            </a:fld>
            <a:endParaRPr lang="en-US" altLang="en-US"/>
          </a:p>
        </p:txBody>
      </p:sp>
    </p:spTree>
    <p:extLst>
      <p:ext uri="{BB962C8B-B14F-4D97-AF65-F5344CB8AC3E}">
        <p14:creationId xmlns:p14="http://schemas.microsoft.com/office/powerpoint/2010/main" val="3709701892"/>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572000" y="1295400"/>
            <a:ext cx="4114800" cy="5181600"/>
          </a:xfrm>
        </p:spPr>
        <p:txBody>
          <a:bodyPr/>
          <a:lstStyle/>
          <a:p>
            <a:pPr lvl="0"/>
            <a:endParaRPr lang="en-US" noProof="0"/>
          </a:p>
        </p:txBody>
      </p:sp>
      <p:sp>
        <p:nvSpPr>
          <p:cNvPr id="5" name="Rectangle 2061">
            <a:extLst>
              <a:ext uri="{FF2B5EF4-FFF2-40B4-BE49-F238E27FC236}">
                <a16:creationId xmlns:a16="http://schemas.microsoft.com/office/drawing/2014/main" id="{4D95E9E2-134A-0CF5-BA43-FB2BA611698B}"/>
              </a:ext>
            </a:extLst>
          </p:cNvPr>
          <p:cNvSpPr>
            <a:spLocks noGrp="1" noChangeArrowheads="1"/>
          </p:cNvSpPr>
          <p:nvPr>
            <p:ph type="sldNum" sz="quarter" idx="10"/>
          </p:nvPr>
        </p:nvSpPr>
        <p:spPr>
          <a:ln/>
        </p:spPr>
        <p:txBody>
          <a:bodyPr/>
          <a:lstStyle>
            <a:lvl1pPr>
              <a:defRPr/>
            </a:lvl1pPr>
          </a:lstStyle>
          <a:p>
            <a:fld id="{124B9A98-6D9E-4491-82DB-4BD6987EB2A5}" type="slidenum">
              <a:rPr lang="en-US" altLang="en-US"/>
              <a:pPr/>
              <a:t>‹#›</a:t>
            </a:fld>
            <a:endParaRPr lang="en-US" altLang="en-US"/>
          </a:p>
        </p:txBody>
      </p:sp>
    </p:spTree>
    <p:extLst>
      <p:ext uri="{BB962C8B-B14F-4D97-AF65-F5344CB8AC3E}">
        <p14:creationId xmlns:p14="http://schemas.microsoft.com/office/powerpoint/2010/main" val="269118796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6">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7/27/2026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9.png"/><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5.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9.wmf"/><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0.emf"/></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1.bin"/><Relationship Id="rId1" Type="http://schemas.openxmlformats.org/officeDocument/2006/relationships/slideLayout" Target="../slideLayouts/slideLayout14.xml"/><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image" Target="../media/image27.wmf"/></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kaggle.com/datasets/gilsousa/habermans-survival-data-se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0.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www.wolfram.com/products/mathematica/"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hyperlink" Target="http://mathworld.wolfram.com/ChernoffFace.html" TargetMode="External"/><Relationship Id="rId4" Type="http://schemas.openxmlformats.org/officeDocument/2006/relationships/hyperlink" Target="http://www.amazon.com/exec/obidos/ASIN/0062731025/ref=nosim/weisstein-20"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8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oleObject" Target="../embeddings/oleObject14.bin"/><Relationship Id="rId4" Type="http://schemas.openxmlformats.org/officeDocument/2006/relationships/image" Target="../media/image67.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9.wmf"/></Relationships>
</file>

<file path=ppt/slides/_rels/slide8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0.jpeg"/><Relationship Id="rId7" Type="http://schemas.openxmlformats.org/officeDocument/2006/relationships/diagramColors" Target="../diagrams/colors1.xml"/><Relationship Id="rId12" Type="http://schemas.openxmlformats.org/officeDocument/2006/relationships/image" Target="../media/image74.jpe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diagramQuickStyle" Target="../diagrams/quickStyle1.xml"/><Relationship Id="rId11" Type="http://schemas.openxmlformats.org/officeDocument/2006/relationships/image" Target="../media/image73.jpeg"/><Relationship Id="rId5" Type="http://schemas.openxmlformats.org/officeDocument/2006/relationships/diagramLayout" Target="../diagrams/layout1.xml"/><Relationship Id="rId10" Type="http://schemas.openxmlformats.org/officeDocument/2006/relationships/image" Target="../media/image72.jpeg"/><Relationship Id="rId4" Type="http://schemas.openxmlformats.org/officeDocument/2006/relationships/diagramData" Target="../diagrams/data1.xml"/><Relationship Id="rId9" Type="http://schemas.openxmlformats.org/officeDocument/2006/relationships/image" Target="../media/image71.jpeg"/></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6.wmf"/><Relationship Id="rId5" Type="http://schemas.openxmlformats.org/officeDocument/2006/relationships/oleObject" Target="../embeddings/oleObject17.bin"/><Relationship Id="rId4" Type="http://schemas.openxmlformats.org/officeDocument/2006/relationships/image" Target="../media/image75.wmf"/></Relationships>
</file>

<file path=ppt/slides/_rels/slide90.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78.wmf"/><Relationship Id="rId5" Type="http://schemas.openxmlformats.org/officeDocument/2006/relationships/oleObject" Target="../embeddings/oleObject19.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21.bin"/></Relationships>
</file>

<file path=ppt/slides/_rels/slide91.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22.bin"/><Relationship Id="rId7" Type="http://schemas.openxmlformats.org/officeDocument/2006/relationships/oleObject" Target="../embeddings/oleObject20.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82.emf"/><Relationship Id="rId5" Type="http://schemas.openxmlformats.org/officeDocument/2006/relationships/oleObject" Target="../embeddings/oleObject23.bin"/><Relationship Id="rId4" Type="http://schemas.openxmlformats.org/officeDocument/2006/relationships/image" Target="../media/image81.emf"/></Relationships>
</file>

<file path=ppt/slides/_rels/slide9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87.wmf"/><Relationship Id="rId2" Type="http://schemas.openxmlformats.org/officeDocument/2006/relationships/notesSlide" Target="../notesSlides/notesSlide47.xml"/><Relationship Id="rId1" Type="http://schemas.openxmlformats.org/officeDocument/2006/relationships/slideLayout" Target="../slideLayouts/slideLayout13.xml"/><Relationship Id="rId6" Type="http://schemas.openxmlformats.org/officeDocument/2006/relationships/image" Target="../media/image86.wmf"/><Relationship Id="rId5" Type="http://schemas.openxmlformats.org/officeDocument/2006/relationships/oleObject" Target="../embeddings/oleObject25.bin"/><Relationship Id="rId4" Type="http://schemas.openxmlformats.org/officeDocument/2006/relationships/image" Target="../media/image85.wmf"/></Relationships>
</file>

<file path=ppt/slides/_rels/slide94.xml.rels><?xml version="1.0" encoding="UTF-8" standalone="yes"?>
<Relationships xmlns="http://schemas.openxmlformats.org/package/2006/relationships"><Relationship Id="rId8" Type="http://schemas.openxmlformats.org/officeDocument/2006/relationships/image" Target="../media/image90.e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83.wm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89.e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91.emf"/><Relationship Id="rId4" Type="http://schemas.openxmlformats.org/officeDocument/2006/relationships/image" Target="../media/image88.emf"/><Relationship Id="rId9" Type="http://schemas.openxmlformats.org/officeDocument/2006/relationships/oleObject" Target="../embeddings/oleObject29.bin"/></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93.wmf"/><Relationship Id="rId5" Type="http://schemas.openxmlformats.org/officeDocument/2006/relationships/oleObject" Target="../embeddings/oleObject32.bin"/><Relationship Id="rId4" Type="http://schemas.openxmlformats.org/officeDocument/2006/relationships/image" Target="../media/image92.w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95.wmf"/><Relationship Id="rId5" Type="http://schemas.openxmlformats.org/officeDocument/2006/relationships/oleObject" Target="../embeddings/oleObject34.bin"/><Relationship Id="rId4" Type="http://schemas.openxmlformats.org/officeDocument/2006/relationships/image" Target="../media/image94.wmf"/></Relationships>
</file>

<file path=ppt/slides/_rels/slide9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 Introduction to Data Mining</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B3060C-79DB-F72C-D4E0-7474AA245925}"/>
              </a:ext>
            </a:extLst>
          </p:cNvPr>
          <p:cNvSpPr>
            <a:spLocks noGrp="1"/>
          </p:cNvSpPr>
          <p:nvPr>
            <p:ph idx="1"/>
          </p:nvPr>
        </p:nvSpPr>
        <p:spPr>
          <a:xfrm>
            <a:off x="457200" y="1481329"/>
            <a:ext cx="4495800" cy="2404872"/>
          </a:xfrm>
        </p:spPr>
        <p:txBody>
          <a:bodyPr>
            <a:normAutofit/>
          </a:bodyPr>
          <a:lstStyle/>
          <a:p>
            <a:r>
              <a:rPr lang="en-US" sz="2000" dirty="0">
                <a:latin typeface="Times New Roman" panose="02020603050405020304" pitchFamily="18" charset="0"/>
                <a:cs typeface="Times New Roman" panose="02020603050405020304" pitchFamily="18" charset="0"/>
              </a:rPr>
              <a:t>What Data mining? </a:t>
            </a:r>
          </a:p>
          <a:p>
            <a:r>
              <a:rPr lang="en-US" sz="2000" dirty="0">
                <a:latin typeface="Times New Roman" panose="02020603050405020304" pitchFamily="18" charset="0"/>
                <a:cs typeface="Times New Roman" panose="02020603050405020304" pitchFamily="18" charset="0"/>
              </a:rPr>
              <a:t>Kinds of Data,</a:t>
            </a:r>
          </a:p>
          <a:p>
            <a:r>
              <a:rPr lang="en-US" sz="2000" dirty="0">
                <a:latin typeface="Times New Roman" panose="02020603050405020304" pitchFamily="18" charset="0"/>
                <a:cs typeface="Times New Roman" panose="02020603050405020304" pitchFamily="18" charset="0"/>
              </a:rPr>
              <a:t> Knowledge Discovery process, </a:t>
            </a:r>
          </a:p>
          <a:p>
            <a:r>
              <a:rPr lang="en-US" sz="2000" dirty="0">
                <a:latin typeface="Times New Roman" panose="02020603050405020304" pitchFamily="18" charset="0"/>
                <a:cs typeface="Times New Roman" panose="02020603050405020304" pitchFamily="18" charset="0"/>
              </a:rPr>
              <a:t>Data Mining Functionalities, </a:t>
            </a:r>
          </a:p>
          <a:p>
            <a:r>
              <a:rPr lang="en-US" sz="2000" dirty="0">
                <a:latin typeface="Times New Roman" panose="02020603050405020304" pitchFamily="18" charset="0"/>
                <a:cs typeface="Times New Roman" panose="02020603050405020304" pitchFamily="18" charset="0"/>
              </a:rPr>
              <a:t>Kinds of Patterns, </a:t>
            </a:r>
          </a:p>
          <a:p>
            <a:r>
              <a:rPr lang="en-US" sz="2000" dirty="0">
                <a:latin typeface="Times New Roman" panose="02020603050405020304" pitchFamily="18" charset="0"/>
                <a:cs typeface="Times New Roman" panose="02020603050405020304" pitchFamily="18" charset="0"/>
              </a:rPr>
              <a:t>Major Issues in Data Mining. </a:t>
            </a:r>
          </a:p>
        </p:txBody>
      </p:sp>
      <p:sp>
        <p:nvSpPr>
          <p:cNvPr id="3" name="Title 2">
            <a:extLst>
              <a:ext uri="{FF2B5EF4-FFF2-40B4-BE49-F238E27FC236}">
                <a16:creationId xmlns:a16="http://schemas.microsoft.com/office/drawing/2014/main" id="{27D30880-6A30-4448-609B-28B8A565754E}"/>
              </a:ext>
            </a:extLst>
          </p:cNvPr>
          <p:cNvSpPr>
            <a:spLocks noGrp="1"/>
          </p:cNvSpPr>
          <p:nvPr>
            <p:ph type="title"/>
          </p:nvPr>
        </p:nvSpPr>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UNIT - I</a:t>
            </a:r>
            <a:br>
              <a:rPr lang="en-IN" sz="3200" dirty="0">
                <a:solidFill>
                  <a:srgbClr val="002060"/>
                </a:solidFill>
                <a:latin typeface="Times New Roman" panose="02020603050405020304" pitchFamily="18" charset="0"/>
                <a:cs typeface="Times New Roman" panose="02020603050405020304" pitchFamily="18" charset="0"/>
              </a:rPr>
            </a:br>
            <a:r>
              <a:rPr lang="en-US" sz="3200" dirty="0">
                <a:solidFill>
                  <a:srgbClr val="002060"/>
                </a:solidFill>
                <a:latin typeface="Times New Roman" panose="02020603050405020304" pitchFamily="18" charset="0"/>
                <a:cs typeface="Times New Roman" panose="02020603050405020304" pitchFamily="18" charset="0"/>
              </a:rPr>
              <a:t>Introduction to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F7B9F7-A100-6EEE-D5F4-E1A71FB0B908}"/>
              </a:ext>
            </a:extLst>
          </p:cNvPr>
          <p:cNvSpPr txBox="1"/>
          <p:nvPr/>
        </p:nvSpPr>
        <p:spPr>
          <a:xfrm>
            <a:off x="5334000" y="1600200"/>
            <a:ext cx="3433916" cy="240065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Pre-processing</a:t>
            </a:r>
            <a:r>
              <a:rPr lang="en-US" sz="2400" b="1"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Major Tasks in Data Pre-processing,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Integration,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Reduction,</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Transformation and Data Discretization.</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1E2F3D-F9D2-A93C-A4A8-DBFA268BFC78}"/>
              </a:ext>
            </a:extLst>
          </p:cNvPr>
          <p:cNvSpPr txBox="1"/>
          <p:nvPr/>
        </p:nvSpPr>
        <p:spPr>
          <a:xfrm>
            <a:off x="990600" y="4277856"/>
            <a:ext cx="4576916" cy="1754326"/>
          </a:xfrm>
          <a:prstGeom prst="rect">
            <a:avLst/>
          </a:prstGeom>
          <a:noFill/>
        </p:spPr>
        <p:txBody>
          <a:bodyPr wrap="square">
            <a:spAutoFit/>
          </a:bodyPr>
          <a:lstStyle/>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Objects and Attribute Types</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Basic Statistical Descriptions of Data,</a:t>
            </a:r>
          </a:p>
          <a:p>
            <a:r>
              <a:rPr lang="en-US" sz="1800" b="1"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Measuring Data Similarity and Dissimilarity, </a:t>
            </a:r>
          </a:p>
        </p:txBody>
      </p:sp>
    </p:spTree>
    <p:extLst>
      <p:ext uri="{BB962C8B-B14F-4D97-AF65-F5344CB8AC3E}">
        <p14:creationId xmlns:p14="http://schemas.microsoft.com/office/powerpoint/2010/main" val="189725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6D4-9036-CF88-9569-2F1AF5DAD4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5A013-173F-0D55-B1C3-35697771D51B}"/>
              </a:ext>
            </a:extLst>
          </p:cNvPr>
          <p:cNvSpPr>
            <a:spLocks noGrp="1"/>
          </p:cNvSpPr>
          <p:nvPr>
            <p:ph idx="1"/>
          </p:nvPr>
        </p:nvSpPr>
        <p:spPr>
          <a:xfrm>
            <a:off x="457200" y="973394"/>
            <a:ext cx="8229600" cy="4525963"/>
          </a:xfrm>
        </p:spPr>
        <p:txBody>
          <a:bodyPr>
            <a:normAutofit/>
          </a:bodyPr>
          <a:lstStyle/>
          <a:p>
            <a:r>
              <a:rPr lang="en-US" dirty="0">
                <a:latin typeface="Times New Roman" panose="02020603050405020304" pitchFamily="18" charset="0"/>
                <a:cs typeface="Times New Roman" panose="02020603050405020304" pitchFamily="18" charset="0"/>
              </a:rPr>
              <a:t>Data mining definitions, goals, and processes</a:t>
            </a:r>
          </a:p>
          <a:p>
            <a:r>
              <a:rPr lang="en-US" dirty="0">
                <a:latin typeface="Times New Roman" panose="02020603050405020304" pitchFamily="18" charset="0"/>
                <a:cs typeface="Times New Roman" panose="02020603050405020304" pitchFamily="18" charset="0"/>
              </a:rPr>
              <a:t>Types of data, patterns, and issues</a:t>
            </a:r>
          </a:p>
          <a:p>
            <a:r>
              <a:rPr lang="en-IN" dirty="0">
                <a:latin typeface="Times New Roman" panose="02020603050405020304" pitchFamily="18" charset="0"/>
                <a:cs typeface="Times New Roman" panose="02020603050405020304" pitchFamily="18" charset="0"/>
              </a:rPr>
              <a:t>Data visualization, similarity measures</a:t>
            </a:r>
          </a:p>
          <a:p>
            <a:r>
              <a:rPr lang="en-IN" dirty="0">
                <a:latin typeface="Times New Roman" panose="02020603050405020304" pitchFamily="18" charset="0"/>
                <a:cs typeface="Times New Roman" panose="02020603050405020304" pitchFamily="18" charset="0"/>
              </a:rPr>
              <a:t>Data cleaning, integration, transformation</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51CCBF-A35D-02B0-BF17-D4027C192016}"/>
              </a:ext>
            </a:extLst>
          </p:cNvPr>
          <p:cNvSpPr>
            <a:spLocks noGrp="1"/>
          </p:cNvSpPr>
          <p:nvPr>
            <p:ph type="title"/>
          </p:nvPr>
        </p:nvSpPr>
        <p:spPr>
          <a:xfrm>
            <a:off x="457200" y="274638"/>
            <a:ext cx="8229600" cy="715962"/>
          </a:xfrm>
        </p:spPr>
        <p:txBody>
          <a:bodyPr>
            <a:norm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Unit I: </a:t>
            </a:r>
            <a:r>
              <a:rPr lang="en-IN" sz="3200" dirty="0" err="1">
                <a:solidFill>
                  <a:srgbClr val="002060"/>
                </a:solidFill>
                <a:latin typeface="Times New Roman" panose="02020603050405020304" pitchFamily="18" charset="0"/>
                <a:cs typeface="Times New Roman" panose="02020603050405020304" pitchFamily="18" charset="0"/>
              </a:rPr>
              <a:t>Introductionto</a:t>
            </a:r>
            <a:r>
              <a:rPr lang="en-IN" sz="3200" dirty="0">
                <a:solidFill>
                  <a:srgbClr val="002060"/>
                </a:solidFill>
                <a:latin typeface="Times New Roman" panose="02020603050405020304" pitchFamily="18" charset="0"/>
                <a:cs typeface="Times New Roman" panose="02020603050405020304" pitchFamily="18" charset="0"/>
              </a:rPr>
              <a:t> Data Mining</a:t>
            </a:r>
          </a:p>
        </p:txBody>
      </p:sp>
    </p:spTree>
    <p:extLst>
      <p:ext uri="{BB962C8B-B14F-4D97-AF65-F5344CB8AC3E}">
        <p14:creationId xmlns:p14="http://schemas.microsoft.com/office/powerpoint/2010/main" val="340963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F0DA0F-5727-2193-6BB3-83C649A1034F}"/>
              </a:ext>
            </a:extLst>
          </p:cNvPr>
          <p:cNvSpPr>
            <a:spLocks noGrp="1"/>
          </p:cNvSpPr>
          <p:nvPr>
            <p:ph type="title"/>
          </p:nvPr>
        </p:nvSpPr>
        <p:spPr>
          <a:xfrm>
            <a:off x="609600" y="2057400"/>
            <a:ext cx="8229600" cy="762000"/>
          </a:xfrm>
        </p:spPr>
        <p:txBody>
          <a:bodyPr>
            <a:noAutofit/>
          </a:bodyPr>
          <a:lstStyle/>
          <a:p>
            <a:pPr algn="ctr"/>
            <a:r>
              <a:rPr lang="en-US" altLang="en-US" sz="4000" dirty="0">
                <a:solidFill>
                  <a:srgbClr val="002060"/>
                </a:solidFill>
                <a:effectLst/>
                <a:latin typeface="Times New Roman" panose="02020603050405020304" pitchFamily="18" charset="0"/>
                <a:cs typeface="Times New Roman" panose="02020603050405020304" pitchFamily="18" charset="0"/>
              </a:rPr>
              <a:t>Chapter 2 in Prescribed textbook</a:t>
            </a:r>
            <a:endParaRPr lang="en-IN" sz="2000" dirty="0">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957A9C-ADB1-F1B4-4B4F-606B9E5DD7EA}"/>
              </a:ext>
            </a:extLst>
          </p:cNvPr>
          <p:cNvSpPr txBox="1"/>
          <p:nvPr/>
        </p:nvSpPr>
        <p:spPr>
          <a:xfrm>
            <a:off x="1524000" y="3429000"/>
            <a:ext cx="6553200" cy="1754326"/>
          </a:xfrm>
          <a:prstGeom prst="rect">
            <a:avLst/>
          </a:prstGeom>
          <a:noFill/>
        </p:spPr>
        <p:txBody>
          <a:bodyPr wrap="square">
            <a:spAutoFit/>
          </a:bodyPr>
          <a:lstStyle/>
          <a:p>
            <a:r>
              <a:rPr lang="en-US" altLang="en-US" sz="3600" dirty="0">
                <a:solidFill>
                  <a:srgbClr val="002060"/>
                </a:solidFill>
                <a:effectLst/>
                <a:latin typeface="Times New Roman" panose="02020603050405020304" pitchFamily="18" charset="0"/>
                <a:cs typeface="Times New Roman" panose="02020603050405020304" pitchFamily="18" charset="0"/>
              </a:rPr>
              <a:t>Getting to Know Your Data</a:t>
            </a:r>
          </a:p>
          <a:p>
            <a:pPr lvl="2"/>
            <a:r>
              <a:rPr lang="en-US" dirty="0">
                <a:solidFill>
                  <a:srgbClr val="002060"/>
                </a:solidFill>
                <a:effectLst/>
                <a:latin typeface="Times New Roman" panose="02020603050405020304" pitchFamily="18" charset="0"/>
                <a:cs typeface="Times New Roman" panose="02020603050405020304" pitchFamily="18" charset="0"/>
              </a:rPr>
              <a:t>Data Objects and Attribute Types,</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 Basic Statistical Descriptions of Data, </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Data Visualization, </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Measuring Data Similarity and Dissimilarity</a:t>
            </a:r>
            <a:endParaRPr lang="en-IN" dirty="0"/>
          </a:p>
        </p:txBody>
      </p:sp>
    </p:spTree>
    <p:extLst>
      <p:ext uri="{BB962C8B-B14F-4D97-AF65-F5344CB8AC3E}">
        <p14:creationId xmlns:p14="http://schemas.microsoft.com/office/powerpoint/2010/main" val="58732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8204126E-5C4D-642E-BF5C-99E1F99BFFBD}"/>
              </a:ext>
            </a:extLst>
          </p:cNvPr>
          <p:cNvSpPr>
            <a:spLocks noGrp="1" noChangeArrowheads="1"/>
          </p:cNvSpPr>
          <p:nvPr>
            <p:ph type="title"/>
          </p:nvPr>
        </p:nvSpPr>
        <p:spPr/>
        <p:txBody>
          <a:bodyPr/>
          <a:lstStyle/>
          <a:p>
            <a:pPr algn="ctr" eaLnBrk="1" hangingPunct="1"/>
            <a:r>
              <a:rPr lang="en-US" altLang="en-US" sz="3200" dirty="0">
                <a:solidFill>
                  <a:srgbClr val="170981"/>
                </a:solidFill>
                <a:effectLst/>
                <a:latin typeface="Times New Roman" panose="02020603050405020304" pitchFamily="18" charset="0"/>
                <a:cs typeface="Times New Roman" panose="02020603050405020304" pitchFamily="18" charset="0"/>
              </a:rPr>
              <a:t>Types of Data Sets</a:t>
            </a:r>
            <a:r>
              <a:rPr lang="en-US" altLang="en-US" sz="3200" dirty="0">
                <a:solidFill>
                  <a:schemeClr val="hlink"/>
                </a:solidFill>
                <a:effectLst/>
                <a:latin typeface="Times New Roman" panose="02020603050405020304" pitchFamily="18" charset="0"/>
                <a:cs typeface="Times New Roman" panose="02020603050405020304" pitchFamily="18" charset="0"/>
              </a:rPr>
              <a:t> </a:t>
            </a:r>
          </a:p>
        </p:txBody>
      </p:sp>
      <p:sp>
        <p:nvSpPr>
          <p:cNvPr id="6148" name="Rectangle 3">
            <a:extLst>
              <a:ext uri="{FF2B5EF4-FFF2-40B4-BE49-F238E27FC236}">
                <a16:creationId xmlns:a16="http://schemas.microsoft.com/office/drawing/2014/main" id="{25B0EB35-51A4-BFC6-E218-4BEBDB3A33FD}"/>
              </a:ext>
            </a:extLst>
          </p:cNvPr>
          <p:cNvSpPr>
            <a:spLocks noGrp="1" noChangeArrowheads="1"/>
          </p:cNvSpPr>
          <p:nvPr>
            <p:ph type="body" sz="half" idx="1"/>
          </p:nvPr>
        </p:nvSpPr>
        <p:spPr>
          <a:xfrm>
            <a:off x="304800" y="1295400"/>
            <a:ext cx="4419600" cy="5181600"/>
          </a:xfrm>
          <a:noFill/>
        </p:spPr>
        <p:txBody>
          <a:bodyPr lIns="90488" tIns="44450" rIns="90488" bIns="44450">
            <a:normAutofit/>
          </a:bodyPr>
          <a:lstStyle/>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Record</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Relational records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Data matrix, e.g., numerical matrix, crosstabs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Document data: text documents: term-frequency vector</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Transaction data</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Graph and network</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World Wide Web</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Social or information networks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Molecular Structures</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Ordered</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Video data: sequence of images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Temporal data: time-series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Sequential Data: transaction sequences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Genetic sequence data</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Spatial, image and multimedia:</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Spatial data: maps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Image data: </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Video data:</a:t>
            </a:r>
          </a:p>
        </p:txBody>
      </p:sp>
      <p:graphicFrame>
        <p:nvGraphicFramePr>
          <p:cNvPr id="6149" name="Object 4">
            <a:extLst>
              <a:ext uri="{FF2B5EF4-FFF2-40B4-BE49-F238E27FC236}">
                <a16:creationId xmlns:a16="http://schemas.microsoft.com/office/drawing/2014/main" id="{5ECD8E88-F3F1-FB84-6ADE-6AC48BC35037}"/>
              </a:ext>
            </a:extLst>
          </p:cNvPr>
          <p:cNvGraphicFramePr>
            <a:graphicFrameLocks noGrp="1" noChangeAspect="1"/>
          </p:cNvGraphicFramePr>
          <p:nvPr>
            <p:ph sz="quarter" idx="2"/>
          </p:nvPr>
        </p:nvGraphicFramePr>
        <p:xfrm>
          <a:off x="4114800" y="1592263"/>
          <a:ext cx="4876800" cy="2217737"/>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6149" name="Object 4">
                        <a:extLst>
                          <a:ext uri="{FF2B5EF4-FFF2-40B4-BE49-F238E27FC236}">
                            <a16:creationId xmlns:a16="http://schemas.microsoft.com/office/drawing/2014/main" id="{5ECD8E88-F3F1-FB84-6ADE-6AC48BC350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592263"/>
                        <a:ext cx="487680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0" name="Object 6">
            <a:extLst>
              <a:ext uri="{FF2B5EF4-FFF2-40B4-BE49-F238E27FC236}">
                <a16:creationId xmlns:a16="http://schemas.microsoft.com/office/drawing/2014/main" id="{B55B0768-07ED-A048-CE8E-6DCF9878F4D6}"/>
              </a:ext>
            </a:extLst>
          </p:cNvPr>
          <p:cNvGraphicFramePr>
            <a:graphicFrameLocks noGrp="1" noChangeAspect="1"/>
          </p:cNvGraphicFramePr>
          <p:nvPr>
            <p:ph sz="quarter" idx="3"/>
          </p:nvPr>
        </p:nvGraphicFramePr>
        <p:xfrm>
          <a:off x="5029200" y="4191000"/>
          <a:ext cx="3822700" cy="1998663"/>
        </p:xfrm>
        <a:graphic>
          <a:graphicData uri="http://schemas.openxmlformats.org/presentationml/2006/ole">
            <mc:AlternateContent xmlns:mc="http://schemas.openxmlformats.org/markup-compatibility/2006">
              <mc:Choice xmlns:v="urn:schemas-microsoft-com:vml" Requires="v">
                <p:oleObj name="Document" r:id="rId5" imgW="3823716" imgH="1999488" progId="Word.Document.8">
                  <p:embed/>
                </p:oleObj>
              </mc:Choice>
              <mc:Fallback>
                <p:oleObj name="Document" r:id="rId5" imgW="3823716" imgH="1999488" progId="Word.Document.8">
                  <p:embed/>
                  <p:pic>
                    <p:nvPicPr>
                      <p:cNvPr id="6150" name="Object 6">
                        <a:extLst>
                          <a:ext uri="{FF2B5EF4-FFF2-40B4-BE49-F238E27FC236}">
                            <a16:creationId xmlns:a16="http://schemas.microsoft.com/office/drawing/2014/main" id="{B55B0768-07ED-A048-CE8E-6DCF9878F4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191000"/>
                        <a:ext cx="3822700"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1249C047-B4A7-327C-A9B0-EF12B8CA4AF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8B24D24-D3A0-4AE2-998E-81DA36EDF18A}" type="slidenum">
              <a:rPr lang="en-US" altLang="en-US" sz="1200"/>
              <a:pPr eaLnBrk="1" hangingPunct="1"/>
              <a:t>9</a:t>
            </a:fld>
            <a:endParaRPr lang="en-US" altLang="en-US" sz="1200"/>
          </a:p>
        </p:txBody>
      </p:sp>
      <p:sp>
        <p:nvSpPr>
          <p:cNvPr id="7171" name="Rectangle 2">
            <a:extLst>
              <a:ext uri="{FF2B5EF4-FFF2-40B4-BE49-F238E27FC236}">
                <a16:creationId xmlns:a16="http://schemas.microsoft.com/office/drawing/2014/main" id="{518DAB8B-0876-8DA1-7034-8A1CD4C49A63}"/>
              </a:ext>
            </a:extLst>
          </p:cNvPr>
          <p:cNvSpPr>
            <a:spLocks noGrp="1" noChangeArrowheads="1"/>
          </p:cNvSpPr>
          <p:nvPr>
            <p:ph type="title"/>
          </p:nvPr>
        </p:nvSpPr>
        <p:spPr>
          <a:xfrm>
            <a:off x="381000" y="228600"/>
            <a:ext cx="85852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Important Characteristics of Structured Data</a:t>
            </a:r>
          </a:p>
        </p:txBody>
      </p:sp>
      <p:sp>
        <p:nvSpPr>
          <p:cNvPr id="7172" name="Rectangle 3">
            <a:extLst>
              <a:ext uri="{FF2B5EF4-FFF2-40B4-BE49-F238E27FC236}">
                <a16:creationId xmlns:a16="http://schemas.microsoft.com/office/drawing/2014/main" id="{D5851883-063C-C968-7025-B91E998C524D}"/>
              </a:ext>
            </a:extLst>
          </p:cNvPr>
          <p:cNvSpPr>
            <a:spLocks noGrp="1" noChangeArrowheads="1"/>
          </p:cNvSpPr>
          <p:nvPr>
            <p:ph type="body" idx="1"/>
          </p:nvPr>
        </p:nvSpPr>
        <p:spPr>
          <a:xfrm>
            <a:off x="533400" y="1447800"/>
            <a:ext cx="8013700" cy="5029200"/>
          </a:xfrm>
          <a:noFill/>
        </p:spPr>
        <p:txBody>
          <a:bodyPr lIns="90488" tIns="44450" rIns="90488" bIns="44450">
            <a:normAutofit/>
          </a:bodyPr>
          <a:lstStyle/>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Dimensionality</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Curse of dimensionality</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Sparsity</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Only presence counts</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Resolution</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Patterns depend on the scale </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Distribution</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Centrality and dispersion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9F9FF164-5C8E-114F-BBF9-65C34CD01D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4DD88B5-E328-4762-AEF2-E5B82B8D615F}" type="slidenum">
              <a:rPr lang="en-US" altLang="en-US" sz="1200"/>
              <a:pPr eaLnBrk="1" hangingPunct="1"/>
              <a:t>10</a:t>
            </a:fld>
            <a:endParaRPr lang="en-US" altLang="en-US" sz="1200"/>
          </a:p>
        </p:txBody>
      </p:sp>
      <p:sp>
        <p:nvSpPr>
          <p:cNvPr id="8195" name="Rectangle 2">
            <a:extLst>
              <a:ext uri="{FF2B5EF4-FFF2-40B4-BE49-F238E27FC236}">
                <a16:creationId xmlns:a16="http://schemas.microsoft.com/office/drawing/2014/main" id="{58F548AB-733D-E87E-F577-3604CAFC278B}"/>
              </a:ext>
            </a:extLst>
          </p:cNvPr>
          <p:cNvSpPr>
            <a:spLocks noGrp="1" noChangeArrowheads="1"/>
          </p:cNvSpPr>
          <p:nvPr>
            <p:ph type="title"/>
          </p:nvPr>
        </p:nvSpPr>
        <p:spPr>
          <a:xfrm>
            <a:off x="457200" y="274638"/>
            <a:ext cx="8229600" cy="639762"/>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Objects</a:t>
            </a:r>
          </a:p>
        </p:txBody>
      </p:sp>
      <p:sp>
        <p:nvSpPr>
          <p:cNvPr id="8196" name="Rectangle 3">
            <a:extLst>
              <a:ext uri="{FF2B5EF4-FFF2-40B4-BE49-F238E27FC236}">
                <a16:creationId xmlns:a16="http://schemas.microsoft.com/office/drawing/2014/main" id="{591669A9-D61C-180C-071A-3F886BB7872B}"/>
              </a:ext>
            </a:extLst>
          </p:cNvPr>
          <p:cNvSpPr>
            <a:spLocks noGrp="1" noChangeArrowheads="1"/>
          </p:cNvSpPr>
          <p:nvPr>
            <p:ph type="body" idx="1"/>
          </p:nvPr>
        </p:nvSpPr>
        <p:spPr/>
        <p:txBody>
          <a:bodyPr>
            <a:normAutofit/>
          </a:bodyPr>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 sets are made up of data objects.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A </a:t>
            </a:r>
            <a:r>
              <a:rPr lang="en-US" altLang="en-US" sz="2000" b="1" dirty="0">
                <a:latin typeface="Times New Roman" panose="02020603050405020304" pitchFamily="18" charset="0"/>
                <a:cs typeface="Times New Roman" panose="02020603050405020304" pitchFamily="18" charset="0"/>
              </a:rPr>
              <a:t>data object</a:t>
            </a:r>
            <a:r>
              <a:rPr lang="en-US" altLang="en-US" sz="2000" dirty="0">
                <a:latin typeface="Times New Roman" panose="02020603050405020304" pitchFamily="18" charset="0"/>
                <a:cs typeface="Times New Roman" panose="02020603050405020304" pitchFamily="18" charset="0"/>
              </a:rPr>
              <a:t> represents an entity.</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Examples: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sales database:  customers, store items, sales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medical database: patients, treatments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university database: students, professors, courses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Also called </a:t>
            </a:r>
            <a:r>
              <a:rPr lang="en-US" altLang="en-US" sz="2000" i="1" dirty="0">
                <a:latin typeface="Times New Roman" panose="02020603050405020304" pitchFamily="18" charset="0"/>
                <a:cs typeface="Times New Roman" panose="02020603050405020304" pitchFamily="18" charset="0"/>
              </a:rPr>
              <a:t>samples , examples, instances, data points, objects, tuples</a:t>
            </a:r>
            <a:r>
              <a:rPr lang="en-US" altLang="en-US" sz="2000" dirty="0">
                <a:latin typeface="Times New Roman" panose="02020603050405020304" pitchFamily="18" charset="0"/>
                <a:cs typeface="Times New Roman" panose="02020603050405020304" pitchFamily="18" charset="0"/>
              </a:rPr>
              <a:t>.</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 objects are described by </a:t>
            </a:r>
            <a:r>
              <a:rPr lang="en-US" altLang="en-US" sz="2000" b="1" dirty="0">
                <a:latin typeface="Times New Roman" panose="02020603050405020304" pitchFamily="18" charset="0"/>
                <a:cs typeface="Times New Roman" panose="02020603050405020304" pitchFamily="18" charset="0"/>
              </a:rPr>
              <a:t>attributes</a:t>
            </a:r>
            <a:r>
              <a:rPr lang="en-US" altLang="en-US" sz="2000" dirty="0">
                <a:latin typeface="Times New Roman" panose="02020603050405020304" pitchFamily="18" charset="0"/>
                <a:cs typeface="Times New Roman" panose="02020603050405020304" pitchFamily="18" charset="0"/>
              </a:rPr>
              <a:t>.</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Database rows -&gt; data objects; columns -&gt;attributes.</a:t>
            </a:r>
          </a:p>
        </p:txBody>
      </p:sp>
    </p:spTree>
    <p:extLst>
      <p:ext uri="{BB962C8B-B14F-4D97-AF65-F5344CB8AC3E}">
        <p14:creationId xmlns:p14="http://schemas.microsoft.com/office/powerpoint/2010/main" val="3120506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46F42F-C96D-B4E7-4B93-89A6E6C4E4A0}"/>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Nominal Attributes</a:t>
            </a:r>
          </a:p>
          <a:p>
            <a:r>
              <a:rPr lang="en-IN" sz="2000" dirty="0">
                <a:latin typeface="Times New Roman" panose="02020603050405020304" pitchFamily="18" charset="0"/>
                <a:cs typeface="Times New Roman" panose="02020603050405020304" pitchFamily="18" charset="0"/>
              </a:rPr>
              <a:t>Binary Attributes</a:t>
            </a:r>
          </a:p>
          <a:p>
            <a:r>
              <a:rPr lang="en-IN" sz="2000" dirty="0">
                <a:latin typeface="Times New Roman" panose="02020603050405020304" pitchFamily="18" charset="0"/>
                <a:cs typeface="Times New Roman" panose="02020603050405020304" pitchFamily="18" charset="0"/>
              </a:rPr>
              <a:t>Ordinal Attributes</a:t>
            </a:r>
          </a:p>
          <a:p>
            <a:r>
              <a:rPr lang="en-IN" sz="2000" dirty="0">
                <a:latin typeface="Times New Roman" panose="02020603050405020304" pitchFamily="18" charset="0"/>
                <a:cs typeface="Times New Roman" panose="02020603050405020304" pitchFamily="18" charset="0"/>
              </a:rPr>
              <a:t>Numeric Attributes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ECE0BF3-90DF-2E85-2A25-09C40775E705}"/>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Types of Attributes</a:t>
            </a:r>
          </a:p>
        </p:txBody>
      </p:sp>
    </p:spTree>
    <p:extLst>
      <p:ext uri="{BB962C8B-B14F-4D97-AF65-F5344CB8AC3E}">
        <p14:creationId xmlns:p14="http://schemas.microsoft.com/office/powerpoint/2010/main" val="1156452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B8D44D-B7DB-2FD7-8A49-8008BA23113D}"/>
              </a:ext>
            </a:extLst>
          </p:cNvPr>
          <p:cNvSpPr>
            <a:spLocks noGrp="1"/>
          </p:cNvSpPr>
          <p:nvPr>
            <p:ph idx="1"/>
          </p:nvPr>
        </p:nvSpPr>
        <p:spPr>
          <a:xfrm>
            <a:off x="228600" y="882664"/>
            <a:ext cx="4724400" cy="5594336"/>
          </a:xfrm>
        </p:spPr>
        <p:txBody>
          <a:bodyPr>
            <a:noAutofit/>
          </a:bodyPr>
          <a:lstStyle/>
          <a:p>
            <a:r>
              <a:rPr lang="en-US" sz="2000" dirty="0">
                <a:latin typeface="Times New Roman" panose="02020603050405020304" pitchFamily="18" charset="0"/>
                <a:cs typeface="Times New Roman" panose="02020603050405020304" pitchFamily="18" charset="0"/>
              </a:rPr>
              <a:t>Categorical attributes with values that represent names or labels.</a:t>
            </a:r>
          </a:p>
          <a:p>
            <a:r>
              <a:rPr lang="en-US" sz="2000" dirty="0">
                <a:latin typeface="Times New Roman" panose="02020603050405020304" pitchFamily="18" charset="0"/>
                <a:cs typeface="Times New Roman" panose="02020603050405020304" pitchFamily="18" charset="0"/>
              </a:rPr>
              <a:t>The values do not have any meaningful order.</a:t>
            </a:r>
          </a:p>
          <a:p>
            <a:pPr marL="109728" indent="0">
              <a:buNone/>
            </a:pPr>
            <a:r>
              <a:rPr lang="en-IN" sz="2000" b="1" dirty="0">
                <a:latin typeface="Times New Roman" panose="02020603050405020304" pitchFamily="18" charset="0"/>
                <a:cs typeface="Times New Roman" panose="02020603050405020304" pitchFamily="18" charset="0"/>
              </a:rPr>
              <a:t>Examples </a:t>
            </a:r>
          </a:p>
          <a:p>
            <a:r>
              <a:rPr lang="en-IN" sz="2000" dirty="0">
                <a:latin typeface="Times New Roman" panose="02020603050405020304" pitchFamily="18" charset="0"/>
                <a:cs typeface="Times New Roman" panose="02020603050405020304" pitchFamily="18" charset="0"/>
              </a:rPr>
              <a:t>Gender: male, female</a:t>
            </a:r>
          </a:p>
          <a:p>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blue, green</a:t>
            </a:r>
          </a:p>
          <a:p>
            <a:r>
              <a:rPr lang="en-US" sz="2000" dirty="0">
                <a:latin typeface="Times New Roman" panose="02020603050405020304" pitchFamily="18" charset="0"/>
                <a:cs typeface="Times New Roman" panose="02020603050405020304" pitchFamily="18" charset="0"/>
              </a:rPr>
              <a:t>Blood Group type: A, B, AB, O</a:t>
            </a:r>
          </a:p>
          <a:p>
            <a:r>
              <a:rPr lang="en-IN" sz="2000" dirty="0">
                <a:latin typeface="Times New Roman" panose="02020603050405020304" pitchFamily="18" charset="0"/>
                <a:cs typeface="Times New Roman" panose="02020603050405020304" pitchFamily="18" charset="0"/>
              </a:rPr>
              <a:t>City: Delhi, Mumbai, Chennai</a:t>
            </a:r>
          </a:p>
          <a:p>
            <a:endParaRPr lang="en-IN"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Key Characteristics</a:t>
            </a:r>
          </a:p>
          <a:p>
            <a:r>
              <a:rPr lang="en-US" sz="2000" dirty="0">
                <a:latin typeface="Times New Roman" panose="02020603050405020304" pitchFamily="18" charset="0"/>
                <a:cs typeface="Times New Roman" panose="02020603050405020304" pitchFamily="18" charset="0"/>
              </a:rPr>
              <a:t>No ordering or ranking among values</a:t>
            </a:r>
          </a:p>
          <a:p>
            <a:r>
              <a:rPr lang="en-US" sz="2000" dirty="0">
                <a:latin typeface="Times New Roman" panose="02020603050405020304" pitchFamily="18" charset="0"/>
                <a:cs typeface="Times New Roman" panose="02020603050405020304" pitchFamily="18" charset="0"/>
              </a:rPr>
              <a:t>Can only check for equality or inequality</a:t>
            </a:r>
          </a:p>
          <a:p>
            <a:r>
              <a:rPr lang="en-US" sz="2000" dirty="0">
                <a:latin typeface="Times New Roman" panose="02020603050405020304" pitchFamily="18" charset="0"/>
                <a:cs typeface="Times New Roman" panose="02020603050405020304" pitchFamily="18" charset="0"/>
              </a:rPr>
              <a:t>Values are discrete, not numeric</a:t>
            </a:r>
          </a:p>
          <a:p>
            <a:r>
              <a:rPr lang="en-US" sz="2000" dirty="0">
                <a:latin typeface="Times New Roman" panose="02020603050405020304" pitchFamily="18" charset="0"/>
                <a:cs typeface="Times New Roman" panose="02020603050405020304" pitchFamily="18" charset="0"/>
              </a:rPr>
              <a:t>May be coded using numbers, but these numbers have no mathematical meaning</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A3C98F4-A247-D3D3-53CA-883594080992}"/>
              </a:ext>
            </a:extLst>
          </p:cNvPr>
          <p:cNvSpPr>
            <a:spLocks noGrp="1"/>
          </p:cNvSpPr>
          <p:nvPr>
            <p:ph type="title"/>
          </p:nvPr>
        </p:nvSpPr>
        <p:spPr>
          <a:xfrm>
            <a:off x="457200" y="274638"/>
            <a:ext cx="8229600" cy="576071"/>
          </a:xfrm>
        </p:spPr>
        <p:txBody>
          <a:bodyPr>
            <a:no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Nominal Attributes</a:t>
            </a:r>
          </a:p>
        </p:txBody>
      </p:sp>
      <p:sp>
        <p:nvSpPr>
          <p:cNvPr id="6" name="Content Placeholder 1">
            <a:extLst>
              <a:ext uri="{FF2B5EF4-FFF2-40B4-BE49-F238E27FC236}">
                <a16:creationId xmlns:a16="http://schemas.microsoft.com/office/drawing/2014/main" id="{97139346-B072-421F-656A-9EA07AB614A0}"/>
              </a:ext>
            </a:extLst>
          </p:cNvPr>
          <p:cNvSpPr txBox="1">
            <a:spLocks/>
          </p:cNvSpPr>
          <p:nvPr/>
        </p:nvSpPr>
        <p:spPr>
          <a:xfrm>
            <a:off x="5257800" y="882664"/>
            <a:ext cx="3733800" cy="5365736"/>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endParaRPr lang="en-IN" sz="2000" dirty="0">
              <a:latin typeface="Times New Roman" panose="02020603050405020304" pitchFamily="18" charset="0"/>
              <a:cs typeface="Times New Roman" panose="02020603050405020304" pitchFamily="18" charset="0"/>
            </a:endParaRPr>
          </a:p>
          <a:p>
            <a:pPr marL="109728" indent="0">
              <a:buFont typeface="Wingdings 3"/>
              <a:buNone/>
            </a:pPr>
            <a:r>
              <a:rPr lang="en-IN" sz="2000" b="1" dirty="0">
                <a:latin typeface="Times New Roman" panose="02020603050405020304" pitchFamily="18" charset="0"/>
                <a:cs typeface="Times New Roman" panose="02020603050405020304" pitchFamily="18" charset="0"/>
              </a:rPr>
              <a:t>Operations Allowed</a:t>
            </a:r>
          </a:p>
          <a:p>
            <a:r>
              <a:rPr lang="en-IN" sz="2000" dirty="0">
                <a:latin typeface="Times New Roman" panose="02020603050405020304" pitchFamily="18" charset="0"/>
                <a:cs typeface="Times New Roman" panose="02020603050405020304" pitchFamily="18" charset="0"/>
              </a:rPr>
              <a:t>= (equal)</a:t>
            </a:r>
          </a:p>
          <a:p>
            <a:r>
              <a:rPr lang="en-IN" sz="2000" dirty="0">
                <a:latin typeface="Times New Roman" panose="02020603050405020304" pitchFamily="18" charset="0"/>
                <a:cs typeface="Times New Roman" panose="02020603050405020304" pitchFamily="18" charset="0"/>
              </a:rPr>
              <a:t>≠ (not equal)</a:t>
            </a:r>
          </a:p>
          <a:p>
            <a:r>
              <a:rPr lang="en-US" sz="2000" dirty="0">
                <a:latin typeface="Times New Roman" panose="02020603050405020304" pitchFamily="18" charset="0"/>
                <a:cs typeface="Times New Roman" panose="02020603050405020304" pitchFamily="18" charset="0"/>
              </a:rPr>
              <a:t>Counting frequency of each category</a:t>
            </a:r>
          </a:p>
          <a:p>
            <a:endParaRPr lang="en-US"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Example Use Case</a:t>
            </a:r>
          </a:p>
          <a:p>
            <a:r>
              <a:rPr lang="en-US" sz="2000" dirty="0">
                <a:latin typeface="Times New Roman" panose="02020603050405020304" pitchFamily="18" charset="0"/>
                <a:cs typeface="Times New Roman" panose="02020603050405020304" pitchFamily="18" charset="0"/>
              </a:rPr>
              <a:t>In a dataset of patients, the ‘Blood Group’ attribute is nominal.</a:t>
            </a:r>
          </a:p>
          <a:p>
            <a:r>
              <a:rPr lang="en-US" sz="2000" dirty="0">
                <a:latin typeface="Times New Roman" panose="02020603050405020304" pitchFamily="18" charset="0"/>
                <a:cs typeface="Times New Roman" panose="02020603050405020304" pitchFamily="18" charset="0"/>
              </a:rPr>
              <a:t>We can count how many patients belong to each blood group, but we cannot rank or compare the blood groups.</a:t>
            </a:r>
          </a:p>
        </p:txBody>
      </p:sp>
    </p:spTree>
    <p:extLst>
      <p:ext uri="{BB962C8B-B14F-4D97-AF65-F5344CB8AC3E}">
        <p14:creationId xmlns:p14="http://schemas.microsoft.com/office/powerpoint/2010/main" val="403253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D48F5-4A97-B63F-3FD1-7C7CF8C0EB77}"/>
              </a:ext>
            </a:extLst>
          </p:cNvPr>
          <p:cNvSpPr>
            <a:spLocks noGrp="1"/>
          </p:cNvSpPr>
          <p:nvPr>
            <p:ph idx="1"/>
          </p:nvPr>
        </p:nvSpPr>
        <p:spPr>
          <a:xfrm>
            <a:off x="381000" y="850709"/>
            <a:ext cx="4343400" cy="5245291"/>
          </a:xfrm>
        </p:spPr>
        <p:txBody>
          <a:bodyPr>
            <a:noAutofit/>
          </a:bodyPr>
          <a:lstStyle/>
          <a:p>
            <a:r>
              <a:rPr lang="en-US" sz="2000" dirty="0">
                <a:latin typeface="Times New Roman" panose="02020603050405020304" pitchFamily="18" charset="0"/>
                <a:cs typeface="Times New Roman" panose="02020603050405020304" pitchFamily="18" charset="0"/>
              </a:rPr>
              <a:t>A binary attribute has only two possible values:</a:t>
            </a:r>
          </a:p>
          <a:p>
            <a:pPr lvl="1"/>
            <a:r>
              <a:rPr lang="en-US" sz="1600" dirty="0">
                <a:latin typeface="Times New Roman" panose="02020603050405020304" pitchFamily="18" charset="0"/>
                <a:cs typeface="Times New Roman" panose="02020603050405020304" pitchFamily="18" charset="0"/>
              </a:rPr>
              <a:t>Typically represented as 0/1, True/False, or Yes/No.</a:t>
            </a:r>
          </a:p>
          <a:p>
            <a:endParaRPr lang="en-IN"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Types of Binary Attributes </a:t>
            </a:r>
          </a:p>
          <a:p>
            <a:r>
              <a:rPr lang="en-US" sz="2000" dirty="0">
                <a:latin typeface="Times New Roman" panose="02020603050405020304" pitchFamily="18" charset="0"/>
                <a:cs typeface="Times New Roman" panose="02020603050405020304" pitchFamily="18" charset="0"/>
              </a:rPr>
              <a:t>Symmetric Binary</a:t>
            </a:r>
          </a:p>
          <a:p>
            <a:pPr lvl="1"/>
            <a:r>
              <a:rPr lang="en-US" sz="1600" dirty="0">
                <a:latin typeface="Times New Roman" panose="02020603050405020304" pitchFamily="18" charset="0"/>
                <a:cs typeface="Times New Roman" panose="02020603050405020304" pitchFamily="18" charset="0"/>
              </a:rPr>
              <a:t>Both values are equally important</a:t>
            </a:r>
          </a:p>
          <a:p>
            <a:pPr lvl="1"/>
            <a:r>
              <a:rPr lang="en-IN" sz="1600" dirty="0">
                <a:latin typeface="Times New Roman" panose="02020603050405020304" pitchFamily="18" charset="0"/>
                <a:cs typeface="Times New Roman" panose="02020603050405020304" pitchFamily="18" charset="0"/>
              </a:rPr>
              <a:t>Example: Gender (male/female)</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Asymmetric Binary</a:t>
            </a:r>
          </a:p>
          <a:p>
            <a:pPr lvl="1"/>
            <a:r>
              <a:rPr lang="en-US" sz="1600" dirty="0">
                <a:latin typeface="Times New Roman" panose="02020603050405020304" pitchFamily="18" charset="0"/>
                <a:cs typeface="Times New Roman" panose="02020603050405020304" pitchFamily="18" charset="0"/>
              </a:rPr>
              <a:t>One value is more important (typically 1 = presence)</a:t>
            </a:r>
          </a:p>
          <a:p>
            <a:pPr lvl="1"/>
            <a:r>
              <a:rPr lang="en-US" sz="1600" dirty="0">
                <a:latin typeface="Times New Roman" panose="02020603050405020304" pitchFamily="18" charset="0"/>
                <a:cs typeface="Times New Roman" panose="02020603050405020304" pitchFamily="18" charset="0"/>
              </a:rPr>
              <a:t>Example: Disease (1 = has disease, 0 = does not)</a:t>
            </a:r>
            <a:endParaRPr lang="en-IN" sz="16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33C3753-E4C2-D179-792E-39DA77BA5B89}"/>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Binary Attributes</a:t>
            </a:r>
          </a:p>
        </p:txBody>
      </p:sp>
      <p:sp>
        <p:nvSpPr>
          <p:cNvPr id="4" name="Content Placeholder 1">
            <a:extLst>
              <a:ext uri="{FF2B5EF4-FFF2-40B4-BE49-F238E27FC236}">
                <a16:creationId xmlns:a16="http://schemas.microsoft.com/office/drawing/2014/main" id="{25A66A34-A363-9D5E-2C63-8906B99C7035}"/>
              </a:ext>
            </a:extLst>
          </p:cNvPr>
          <p:cNvSpPr txBox="1">
            <a:spLocks/>
          </p:cNvSpPr>
          <p:nvPr/>
        </p:nvSpPr>
        <p:spPr>
          <a:xfrm>
            <a:off x="4572000" y="1066800"/>
            <a:ext cx="4343400" cy="452596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endParaRPr lang="en-IN" sz="2000" dirty="0">
              <a:latin typeface="Times New Roman" panose="02020603050405020304" pitchFamily="18" charset="0"/>
              <a:cs typeface="Times New Roman" panose="02020603050405020304" pitchFamily="18" charset="0"/>
            </a:endParaRPr>
          </a:p>
          <a:p>
            <a:pPr marL="109728" indent="0">
              <a:buFont typeface="Wingdings 3"/>
              <a:buNone/>
            </a:pPr>
            <a:r>
              <a:rPr lang="en-US" sz="2000" b="1" dirty="0">
                <a:latin typeface="Times New Roman" panose="02020603050405020304" pitchFamily="18" charset="0"/>
                <a:cs typeface="Times New Roman" panose="02020603050405020304" pitchFamily="18" charset="0"/>
              </a:rPr>
              <a:t>Representation</a:t>
            </a:r>
          </a:p>
          <a:p>
            <a:r>
              <a:rPr lang="en-US" sz="2000" dirty="0">
                <a:latin typeface="Times New Roman" panose="02020603050405020304" pitchFamily="18" charset="0"/>
                <a:cs typeface="Times New Roman" panose="02020603050405020304" pitchFamily="18" charset="0"/>
              </a:rPr>
              <a:t>1 → presence of a property</a:t>
            </a:r>
          </a:p>
          <a:p>
            <a:r>
              <a:rPr lang="en-US" sz="2000" dirty="0">
                <a:latin typeface="Times New Roman" panose="02020603050405020304" pitchFamily="18" charset="0"/>
                <a:cs typeface="Times New Roman" panose="02020603050405020304" pitchFamily="18" charset="0"/>
              </a:rPr>
              <a:t>0 → absence of a property</a:t>
            </a:r>
          </a:p>
          <a:p>
            <a:pPr marL="109728" indent="0">
              <a:buFont typeface="Wingdings 3"/>
              <a:buNone/>
            </a:pPr>
            <a:r>
              <a:rPr lang="en-IN" sz="2000" b="1" dirty="0">
                <a:latin typeface="Times New Roman" panose="02020603050405020304" pitchFamily="18" charset="0"/>
                <a:cs typeface="Times New Roman" panose="02020603050405020304" pitchFamily="18" charset="0"/>
              </a:rPr>
              <a:t>Applications</a:t>
            </a:r>
          </a:p>
          <a:p>
            <a:r>
              <a:rPr lang="en-IN" sz="2000" dirty="0">
                <a:latin typeface="Times New Roman" panose="02020603050405020304" pitchFamily="18" charset="0"/>
                <a:cs typeface="Times New Roman" panose="02020603050405020304" pitchFamily="18" charset="0"/>
              </a:rPr>
              <a:t>Medical diagnosis</a:t>
            </a:r>
          </a:p>
          <a:p>
            <a:r>
              <a:rPr lang="en-US" sz="2000" dirty="0">
                <a:latin typeface="Times New Roman" panose="02020603050405020304" pitchFamily="18" charset="0"/>
                <a:cs typeface="Times New Roman" panose="02020603050405020304" pitchFamily="18" charset="0"/>
              </a:rPr>
              <a:t>User preferences (liked = 1, not liked = 0)</a:t>
            </a:r>
          </a:p>
          <a:p>
            <a:r>
              <a:rPr lang="en-IN" sz="2000" dirty="0">
                <a:latin typeface="Times New Roman" panose="02020603050405020304" pitchFamily="18" charset="0"/>
                <a:cs typeface="Times New Roman" panose="02020603050405020304" pitchFamily="18" charset="0"/>
              </a:rPr>
              <a:t>Fraud detection</a:t>
            </a:r>
          </a:p>
          <a:p>
            <a:pPr marL="109728"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67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1750B-E4D8-9147-6C41-69BE89E98336}"/>
              </a:ext>
            </a:extLst>
          </p:cNvPr>
          <p:cNvSpPr>
            <a:spLocks noGrp="1"/>
          </p:cNvSpPr>
          <p:nvPr>
            <p:ph idx="1"/>
          </p:nvPr>
        </p:nvSpPr>
        <p:spPr>
          <a:xfrm>
            <a:off x="442452" y="905257"/>
            <a:ext cx="4815348" cy="5038343"/>
          </a:xfrm>
        </p:spPr>
        <p:txBody>
          <a:bodyPr>
            <a:noAutofit/>
          </a:bodyPr>
          <a:lstStyle/>
          <a:p>
            <a:r>
              <a:rPr lang="en-US" sz="1800" dirty="0">
                <a:latin typeface="Times New Roman" panose="02020603050405020304" pitchFamily="18" charset="0"/>
                <a:cs typeface="Times New Roman" panose="02020603050405020304" pitchFamily="18" charset="0"/>
              </a:rPr>
              <a:t>Ordinal attributes have values that follow a meaningful order or rank, but the differences between them are not necessarily meaningful or equal.</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Examples</a:t>
            </a:r>
          </a:p>
          <a:p>
            <a:r>
              <a:rPr lang="en-US" sz="1800" dirty="0">
                <a:latin typeface="Times New Roman" panose="02020603050405020304" pitchFamily="18" charset="0"/>
                <a:cs typeface="Times New Roman" panose="02020603050405020304" pitchFamily="18" charset="0"/>
              </a:rPr>
              <a:t>Education level: primary &lt; secondary &lt; graduate &lt; postgraduate</a:t>
            </a:r>
          </a:p>
          <a:p>
            <a:r>
              <a:rPr lang="en-IN" sz="1800" dirty="0">
                <a:latin typeface="Times New Roman" panose="02020603050405020304" pitchFamily="18" charset="0"/>
                <a:cs typeface="Times New Roman" panose="02020603050405020304" pitchFamily="18" charset="0"/>
              </a:rPr>
              <a:t>Satisfaction: unsatisfied &lt; neutral &lt; satisfied</a:t>
            </a:r>
          </a:p>
          <a:p>
            <a:r>
              <a:rPr lang="en-IN" sz="1800" dirty="0">
                <a:latin typeface="Times New Roman" panose="02020603050405020304" pitchFamily="18" charset="0"/>
                <a:cs typeface="Times New Roman" panose="02020603050405020304" pitchFamily="18" charset="0"/>
              </a:rPr>
              <a:t>Size: small &lt; medium &lt; large</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Characteristics</a:t>
            </a:r>
          </a:p>
          <a:p>
            <a:r>
              <a:rPr lang="en-US" sz="1800" dirty="0">
                <a:latin typeface="Times New Roman" panose="02020603050405020304" pitchFamily="18" charset="0"/>
                <a:cs typeface="Times New Roman" panose="02020603050405020304" pitchFamily="18" charset="0"/>
              </a:rPr>
              <a:t>Values have a natural ordering</a:t>
            </a:r>
          </a:p>
          <a:p>
            <a:r>
              <a:rPr lang="en-US" sz="1800" dirty="0">
                <a:latin typeface="Times New Roman" panose="02020603050405020304" pitchFamily="18" charset="0"/>
                <a:cs typeface="Times New Roman" panose="02020603050405020304" pitchFamily="18" charset="0"/>
              </a:rPr>
              <a:t>Only rank information is meaningful</a:t>
            </a:r>
          </a:p>
          <a:p>
            <a:r>
              <a:rPr lang="en-US" sz="1800" dirty="0">
                <a:latin typeface="Times New Roman" panose="02020603050405020304" pitchFamily="18" charset="0"/>
                <a:cs typeface="Times New Roman" panose="02020603050405020304" pitchFamily="18" charset="0"/>
              </a:rPr>
              <a:t>Cannot perform arithmetic operations like addition or averaging directly</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557C15E-9166-860D-29FD-5A480575DBBB}"/>
              </a:ext>
            </a:extLst>
          </p:cNvPr>
          <p:cNvSpPr>
            <a:spLocks noGrp="1"/>
          </p:cNvSpPr>
          <p:nvPr>
            <p:ph type="title"/>
          </p:nvPr>
        </p:nvSpPr>
        <p:spPr>
          <a:xfrm>
            <a:off x="457200" y="274638"/>
            <a:ext cx="8229600" cy="576071"/>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Ordinal Attributes</a:t>
            </a:r>
          </a:p>
        </p:txBody>
      </p:sp>
      <p:sp>
        <p:nvSpPr>
          <p:cNvPr id="4" name="Content Placeholder 1">
            <a:extLst>
              <a:ext uri="{FF2B5EF4-FFF2-40B4-BE49-F238E27FC236}">
                <a16:creationId xmlns:a16="http://schemas.microsoft.com/office/drawing/2014/main" id="{8470715A-B6EA-30A8-EFD3-C16783CB9D4C}"/>
              </a:ext>
            </a:extLst>
          </p:cNvPr>
          <p:cNvSpPr txBox="1">
            <a:spLocks/>
          </p:cNvSpPr>
          <p:nvPr/>
        </p:nvSpPr>
        <p:spPr>
          <a:xfrm>
            <a:off x="5257800" y="2438400"/>
            <a:ext cx="3733800" cy="39624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Font typeface="Wingdings 3"/>
              <a:buNone/>
            </a:pPr>
            <a:r>
              <a:rPr lang="en-IN" sz="1800" dirty="0">
                <a:latin typeface="Times New Roman" panose="02020603050405020304" pitchFamily="18" charset="0"/>
                <a:cs typeface="Times New Roman" panose="02020603050405020304" pitchFamily="18" charset="0"/>
              </a:rPr>
              <a:t>Allowed Operations</a:t>
            </a:r>
          </a:p>
          <a:p>
            <a:r>
              <a:rPr lang="en-IN" sz="1800" dirty="0">
                <a:latin typeface="Times New Roman" panose="02020603050405020304" pitchFamily="18" charset="0"/>
                <a:cs typeface="Times New Roman" panose="02020603050405020304" pitchFamily="18" charset="0"/>
              </a:rPr>
              <a:t>Comparisons: =, ≠, &lt;, &gt;</a:t>
            </a:r>
          </a:p>
          <a:p>
            <a:r>
              <a:rPr lang="en-IN" sz="1800" dirty="0">
                <a:latin typeface="Times New Roman" panose="02020603050405020304" pitchFamily="18" charset="0"/>
                <a:cs typeface="Times New Roman" panose="02020603050405020304" pitchFamily="18" charset="0"/>
              </a:rPr>
              <a:t>Frequencies of each level</a:t>
            </a:r>
          </a:p>
          <a:p>
            <a:r>
              <a:rPr lang="en-US" sz="1800" dirty="0">
                <a:latin typeface="Times New Roman" panose="02020603050405020304" pitchFamily="18" charset="0"/>
                <a:cs typeface="Times New Roman" panose="02020603050405020304" pitchFamily="18" charset="0"/>
              </a:rPr>
              <a:t>Median and mode can be used</a:t>
            </a:r>
          </a:p>
          <a:p>
            <a:r>
              <a:rPr lang="en-US" sz="1800" dirty="0">
                <a:latin typeface="Times New Roman" panose="02020603050405020304" pitchFamily="18" charset="0"/>
                <a:cs typeface="Times New Roman" panose="02020603050405020304" pitchFamily="18" charset="0"/>
              </a:rPr>
              <a:t>Data can be transformed into numeric ranks for analysis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US" sz="1800" dirty="0">
                <a:latin typeface="Times New Roman" panose="02020603050405020304" pitchFamily="18" charset="0"/>
                <a:cs typeface="Times New Roman" panose="02020603050405020304" pitchFamily="18" charset="0"/>
              </a:rPr>
              <a:t>Use Cases</a:t>
            </a:r>
          </a:p>
          <a:p>
            <a:r>
              <a:rPr lang="en-US" sz="1800" dirty="0">
                <a:latin typeface="Times New Roman" panose="02020603050405020304" pitchFamily="18" charset="0"/>
                <a:cs typeface="Times New Roman" panose="02020603050405020304" pitchFamily="18" charset="0"/>
              </a:rPr>
              <a:t>Surveys and feedback forms</a:t>
            </a:r>
          </a:p>
          <a:p>
            <a:r>
              <a:rPr lang="en-IN" sz="1800" dirty="0">
                <a:latin typeface="Times New Roman" panose="02020603050405020304" pitchFamily="18" charset="0"/>
                <a:cs typeface="Times New Roman" panose="02020603050405020304" pitchFamily="18" charset="0"/>
              </a:rPr>
              <a:t>Product ratings</a:t>
            </a:r>
          </a:p>
          <a:p>
            <a:r>
              <a:rPr lang="en-IN" sz="1800" dirty="0">
                <a:latin typeface="Times New Roman" panose="02020603050405020304" pitchFamily="18" charset="0"/>
                <a:cs typeface="Times New Roman" panose="02020603050405020304" pitchFamily="18" charset="0"/>
              </a:rPr>
              <a:t>Risk levels in assessments</a:t>
            </a:r>
          </a:p>
        </p:txBody>
      </p:sp>
    </p:spTree>
    <p:extLst>
      <p:ext uri="{BB962C8B-B14F-4D97-AF65-F5344CB8AC3E}">
        <p14:creationId xmlns:p14="http://schemas.microsoft.com/office/powerpoint/2010/main" val="353147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C9531B-D4CA-0ED8-21FB-3EC0C03DF9F9}"/>
              </a:ext>
            </a:extLst>
          </p:cNvPr>
          <p:cNvSpPr>
            <a:spLocks noGrp="1"/>
          </p:cNvSpPr>
          <p:nvPr>
            <p:ph idx="1"/>
          </p:nvPr>
        </p:nvSpPr>
        <p:spPr>
          <a:xfrm>
            <a:off x="152400" y="823670"/>
            <a:ext cx="4419600" cy="5881930"/>
          </a:xfrm>
        </p:spPr>
        <p:txBody>
          <a:bodyPr>
            <a:noAutofit/>
          </a:bodyPr>
          <a:lstStyle/>
          <a:p>
            <a:r>
              <a:rPr lang="en-US" sz="2000" dirty="0">
                <a:latin typeface="Times New Roman" panose="02020603050405020304" pitchFamily="18" charset="0"/>
                <a:cs typeface="Times New Roman" panose="02020603050405020304" pitchFamily="18" charset="0"/>
              </a:rPr>
              <a:t>Numerical attributes are quantitative and represent measurable quantities. They allow arithmetic operations and have meaningful numeric values.</a:t>
            </a:r>
          </a:p>
          <a:p>
            <a:pPr marL="109728" indent="0">
              <a:buNone/>
            </a:pPr>
            <a:r>
              <a:rPr lang="en-US" sz="2000" b="1" dirty="0">
                <a:latin typeface="Times New Roman" panose="02020603050405020304" pitchFamily="18" charset="0"/>
                <a:cs typeface="Times New Roman" panose="02020603050405020304" pitchFamily="18" charset="0"/>
              </a:rPr>
              <a:t>Types of Numerical Attributes</a:t>
            </a:r>
          </a:p>
          <a:p>
            <a:r>
              <a:rPr lang="en-US" sz="2000" b="1" dirty="0">
                <a:latin typeface="Times New Roman" panose="02020603050405020304" pitchFamily="18" charset="0"/>
                <a:cs typeface="Times New Roman" panose="02020603050405020304" pitchFamily="18" charset="0"/>
              </a:rPr>
              <a:t>Interval</a:t>
            </a:r>
          </a:p>
          <a:p>
            <a:pPr lvl="1"/>
            <a:r>
              <a:rPr lang="en-US" sz="2000" dirty="0">
                <a:latin typeface="Times New Roman" panose="02020603050405020304" pitchFamily="18" charset="0"/>
                <a:cs typeface="Times New Roman" panose="02020603050405020304" pitchFamily="18" charset="0"/>
              </a:rPr>
              <a:t>Ordered with meaningful differences</a:t>
            </a:r>
          </a:p>
          <a:p>
            <a:pPr lvl="1"/>
            <a:r>
              <a:rPr lang="en-US" sz="2000" dirty="0">
                <a:latin typeface="Times New Roman" panose="02020603050405020304" pitchFamily="18" charset="0"/>
                <a:cs typeface="Times New Roman" panose="02020603050405020304" pitchFamily="18" charset="0"/>
              </a:rPr>
              <a:t>No true zero(zero doesn’t mean absence of quantity)</a:t>
            </a:r>
          </a:p>
          <a:p>
            <a:pPr lvl="1"/>
            <a:r>
              <a:rPr lang="en-US" sz="2000" dirty="0">
                <a:latin typeface="Times New Roman" panose="02020603050405020304" pitchFamily="18" charset="0"/>
                <a:cs typeface="Times New Roman" panose="02020603050405020304" pitchFamily="18" charset="0"/>
              </a:rPr>
              <a:t>Example: temperature in Celsius or Fahrenheit</a:t>
            </a:r>
          </a:p>
          <a:p>
            <a:r>
              <a:rPr lang="en-US" sz="2000" b="1" dirty="0">
                <a:latin typeface="Times New Roman" panose="02020603050405020304" pitchFamily="18" charset="0"/>
                <a:cs typeface="Times New Roman" panose="02020603050405020304" pitchFamily="18" charset="0"/>
              </a:rPr>
              <a:t>Ratio</a:t>
            </a:r>
          </a:p>
          <a:p>
            <a:pPr lvl="1"/>
            <a:r>
              <a:rPr lang="en-US" sz="2000" dirty="0">
                <a:latin typeface="Times New Roman" panose="02020603050405020304" pitchFamily="18" charset="0"/>
                <a:cs typeface="Times New Roman" panose="02020603050405020304" pitchFamily="18" charset="0"/>
              </a:rPr>
              <a:t>Ordered with meaningful differences and a true zero</a:t>
            </a:r>
          </a:p>
          <a:p>
            <a:pPr lvl="1"/>
            <a:r>
              <a:rPr lang="en-US" sz="2000" dirty="0">
                <a:latin typeface="Times New Roman" panose="02020603050405020304" pitchFamily="18" charset="0"/>
                <a:cs typeface="Times New Roman" panose="02020603050405020304" pitchFamily="18" charset="0"/>
              </a:rPr>
              <a:t>Example: height, weight, age, income</a:t>
            </a:r>
          </a:p>
          <a:p>
            <a:pPr marL="109728" indent="0">
              <a:buNone/>
            </a:pPr>
            <a:endParaRPr lang="en-IN" sz="2000" dirty="0">
              <a:latin typeface="Times New Roman" panose="02020603050405020304" pitchFamily="18" charset="0"/>
              <a:cs typeface="Times New Roman" panose="02020603050405020304" pitchFamily="18" charset="0"/>
            </a:endParaRPr>
          </a:p>
          <a:p>
            <a:pPr marL="393192" lvl="1" indent="0">
              <a:buNone/>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407A2C3-C774-6F30-795D-58789948619B}"/>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Numerical Attributes</a:t>
            </a:r>
          </a:p>
        </p:txBody>
      </p:sp>
      <p:sp>
        <p:nvSpPr>
          <p:cNvPr id="4" name="Content Placeholder 1">
            <a:extLst>
              <a:ext uri="{FF2B5EF4-FFF2-40B4-BE49-F238E27FC236}">
                <a16:creationId xmlns:a16="http://schemas.microsoft.com/office/drawing/2014/main" id="{13228D93-F1CC-6EEC-1F1B-7A04F83A800B}"/>
              </a:ext>
            </a:extLst>
          </p:cNvPr>
          <p:cNvSpPr txBox="1">
            <a:spLocks/>
          </p:cNvSpPr>
          <p:nvPr/>
        </p:nvSpPr>
        <p:spPr>
          <a:xfrm>
            <a:off x="4572000" y="1143000"/>
            <a:ext cx="4267200" cy="53340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None/>
            </a:pPr>
            <a:r>
              <a:rPr lang="en-US" sz="1800" b="1" dirty="0">
                <a:latin typeface="Times New Roman" panose="02020603050405020304" pitchFamily="18" charset="0"/>
                <a:cs typeface="Times New Roman" panose="02020603050405020304" pitchFamily="18" charset="0"/>
              </a:rPr>
              <a:t>Characteristics</a:t>
            </a:r>
          </a:p>
          <a:p>
            <a:r>
              <a:rPr lang="en-US" sz="1800" dirty="0">
                <a:latin typeface="Times New Roman" panose="02020603050405020304" pitchFamily="18" charset="0"/>
                <a:cs typeface="Times New Roman" panose="02020603050405020304" pitchFamily="18" charset="0"/>
              </a:rPr>
              <a:t>Values can be sorted and compared</a:t>
            </a:r>
          </a:p>
          <a:p>
            <a:r>
              <a:rPr lang="en-IN" sz="1800" dirty="0">
                <a:latin typeface="Times New Roman" panose="02020603050405020304" pitchFamily="18" charset="0"/>
                <a:cs typeface="Times New Roman" panose="02020603050405020304" pitchFamily="18" charset="0"/>
              </a:rPr>
              <a:t>Arithmetic operations are valid</a:t>
            </a:r>
          </a:p>
          <a:p>
            <a:r>
              <a:rPr lang="en-US" sz="1800" dirty="0">
                <a:latin typeface="Times New Roman" panose="02020603050405020304" pitchFamily="18" charset="0"/>
                <a:cs typeface="Times New Roman" panose="02020603050405020304" pitchFamily="18" charset="0"/>
              </a:rPr>
              <a:t>Can calculate mean, median, mode, variance, and standard deviation</a:t>
            </a:r>
          </a:p>
          <a:p>
            <a:r>
              <a:rPr lang="en-US" sz="1800" dirty="0">
                <a:latin typeface="Times New Roman" panose="02020603050405020304" pitchFamily="18" charset="0"/>
                <a:cs typeface="Times New Roman" panose="02020603050405020304" pitchFamily="18" charset="0"/>
              </a:rPr>
              <a:t>Outliers and patterns can be </a:t>
            </a:r>
            <a:r>
              <a:rPr lang="en-US" sz="1800" dirty="0" err="1">
                <a:latin typeface="Times New Roman" panose="02020603050405020304" pitchFamily="18" charset="0"/>
                <a:cs typeface="Times New Roman" panose="02020603050405020304" pitchFamily="18" charset="0"/>
              </a:rPr>
              <a:t>analysed</a:t>
            </a:r>
            <a:endParaRPr lang="en-US" sz="1800" dirty="0">
              <a:latin typeface="Times New Roman" panose="02020603050405020304" pitchFamily="18" charset="0"/>
              <a:cs typeface="Times New Roman" panose="02020603050405020304" pitchFamily="18" charset="0"/>
            </a:endParaRPr>
          </a:p>
          <a:p>
            <a:pPr marL="109728" indent="0">
              <a:buNone/>
            </a:pPr>
            <a:r>
              <a:rPr lang="en-IN" sz="1800" b="1" dirty="0">
                <a:latin typeface="Times New Roman" panose="02020603050405020304" pitchFamily="18" charset="0"/>
                <a:cs typeface="Times New Roman" panose="02020603050405020304" pitchFamily="18" charset="0"/>
              </a:rPr>
              <a:t>Allowed Operations</a:t>
            </a:r>
          </a:p>
          <a:p>
            <a:r>
              <a:rPr lang="en-IN" sz="1800" dirty="0">
                <a:latin typeface="Times New Roman" panose="02020603050405020304" pitchFamily="18" charset="0"/>
                <a:cs typeface="Times New Roman" panose="02020603050405020304" pitchFamily="18" charset="0"/>
              </a:rPr>
              <a:t>Comparisons: =, ≠, &lt;, &gt;</a:t>
            </a:r>
          </a:p>
          <a:p>
            <a:r>
              <a:rPr lang="en-IN" sz="1800" dirty="0">
                <a:latin typeface="Times New Roman" panose="02020603050405020304" pitchFamily="18" charset="0"/>
                <a:cs typeface="Times New Roman" panose="02020603050405020304" pitchFamily="18" charset="0"/>
              </a:rPr>
              <a:t>Arithmetic: +, −, ×, ÷</a:t>
            </a:r>
          </a:p>
          <a:p>
            <a:r>
              <a:rPr lang="en-IN" sz="1800" dirty="0">
                <a:latin typeface="Times New Roman" panose="02020603050405020304" pitchFamily="18" charset="0"/>
                <a:cs typeface="Times New Roman" panose="02020603050405020304" pitchFamily="18" charset="0"/>
              </a:rPr>
              <a:t>Statistical analysis: correlation, regression</a:t>
            </a:r>
          </a:p>
          <a:p>
            <a:pPr marL="109728" indent="0">
              <a:buNone/>
            </a:pPr>
            <a:r>
              <a:rPr lang="en-IN" sz="1800" b="1" dirty="0">
                <a:latin typeface="Times New Roman" panose="02020603050405020304" pitchFamily="18" charset="0"/>
                <a:cs typeface="Times New Roman" panose="02020603050405020304" pitchFamily="18" charset="0"/>
              </a:rPr>
              <a:t>Use Cases</a:t>
            </a:r>
          </a:p>
          <a:p>
            <a:r>
              <a:rPr lang="en-IN" sz="1800" dirty="0">
                <a:latin typeface="Times New Roman" panose="02020603050405020304" pitchFamily="18" charset="0"/>
                <a:cs typeface="Times New Roman" panose="02020603050405020304" pitchFamily="18" charset="0"/>
              </a:rPr>
              <a:t>Financial data analysis</a:t>
            </a:r>
          </a:p>
          <a:p>
            <a:r>
              <a:rPr lang="en-IN" sz="1800" dirty="0">
                <a:latin typeface="Times New Roman" panose="02020603050405020304" pitchFamily="18" charset="0"/>
                <a:cs typeface="Times New Roman" panose="02020603050405020304" pitchFamily="18" charset="0"/>
              </a:rPr>
              <a:t>Scientific measurements</a:t>
            </a:r>
          </a:p>
          <a:p>
            <a:r>
              <a:rPr lang="en-IN" sz="1800" dirty="0">
                <a:latin typeface="Times New Roman" panose="02020603050405020304" pitchFamily="18" charset="0"/>
                <a:cs typeface="Times New Roman" panose="02020603050405020304" pitchFamily="18" charset="0"/>
              </a:rPr>
              <a:t>Sensor readings</a:t>
            </a:r>
          </a:p>
          <a:p>
            <a:r>
              <a:rPr lang="en-IN" sz="1800" dirty="0">
                <a:latin typeface="Times New Roman" panose="02020603050405020304" pitchFamily="18" charset="0"/>
                <a:cs typeface="Times New Roman" panose="02020603050405020304" pitchFamily="18" charset="0"/>
              </a:rPr>
              <a:t>Student scores</a:t>
            </a:r>
          </a:p>
          <a:p>
            <a:pPr marL="393192" lvl="1" indent="0">
              <a:buFont typeface="Verdana"/>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303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DE623DF9-6203-B45A-79C3-AB0CF6FCE3F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7E50D12-6EE9-46CC-8F6F-E74F454EABE5}" type="slidenum">
              <a:rPr lang="en-US" altLang="en-US" sz="1200"/>
              <a:pPr eaLnBrk="1" hangingPunct="1"/>
              <a:t>16</a:t>
            </a:fld>
            <a:endParaRPr lang="en-US" altLang="en-US" sz="1200"/>
          </a:p>
        </p:txBody>
      </p:sp>
      <p:sp>
        <p:nvSpPr>
          <p:cNvPr id="12291" name="Rectangle 2">
            <a:extLst>
              <a:ext uri="{FF2B5EF4-FFF2-40B4-BE49-F238E27FC236}">
                <a16:creationId xmlns:a16="http://schemas.microsoft.com/office/drawing/2014/main" id="{321040BF-91BE-F2B8-92F0-0E85068C8490}"/>
              </a:ext>
            </a:extLst>
          </p:cNvPr>
          <p:cNvSpPr>
            <a:spLocks noGrp="1" noChangeArrowheads="1"/>
          </p:cNvSpPr>
          <p:nvPr>
            <p:ph type="title"/>
          </p:nvPr>
        </p:nvSpPr>
        <p:spPr>
          <a:xfrm>
            <a:off x="457200" y="274638"/>
            <a:ext cx="8229600" cy="647858"/>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Discrete vs. Continuous Attributes </a:t>
            </a:r>
          </a:p>
        </p:txBody>
      </p:sp>
      <p:sp>
        <p:nvSpPr>
          <p:cNvPr id="12292" name="Rectangle 3">
            <a:extLst>
              <a:ext uri="{FF2B5EF4-FFF2-40B4-BE49-F238E27FC236}">
                <a16:creationId xmlns:a16="http://schemas.microsoft.com/office/drawing/2014/main" id="{62CD23A3-ABDB-2AF2-FA0B-1D71C228102C}"/>
              </a:ext>
            </a:extLst>
          </p:cNvPr>
          <p:cNvSpPr>
            <a:spLocks noGrp="1" noChangeArrowheads="1"/>
          </p:cNvSpPr>
          <p:nvPr>
            <p:ph type="body" idx="1"/>
          </p:nvPr>
        </p:nvSpPr>
        <p:spPr>
          <a:xfrm>
            <a:off x="304800" y="1219200"/>
            <a:ext cx="4114800" cy="5257800"/>
          </a:xfrm>
        </p:spPr>
        <p:txBody>
          <a:bodyPr>
            <a:noAutofit/>
          </a:bodyPr>
          <a:lstStyle/>
          <a:p>
            <a:pPr eaLnBrk="1" hangingPunct="1">
              <a:lnSpc>
                <a:spcPct val="90000"/>
              </a:lnSpc>
            </a:pPr>
            <a:r>
              <a:rPr lang="en-US" altLang="en-US" sz="1800" b="1" dirty="0">
                <a:latin typeface="Times New Roman" panose="02020603050405020304" pitchFamily="18" charset="0"/>
                <a:cs typeface="Times New Roman" panose="02020603050405020304" pitchFamily="18" charset="0"/>
              </a:rPr>
              <a:t>Discrete</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Attribute</a:t>
            </a:r>
          </a:p>
          <a:p>
            <a:pPr lvl="1"/>
            <a:r>
              <a:rPr lang="en-US" sz="1800" dirty="0">
                <a:latin typeface="Times New Roman" panose="02020603050405020304" pitchFamily="18" charset="0"/>
                <a:cs typeface="Times New Roman" panose="02020603050405020304" pitchFamily="18" charset="0"/>
              </a:rPr>
              <a:t>Take finite or countably infinite values</a:t>
            </a:r>
          </a:p>
          <a:p>
            <a:pPr lvl="1"/>
            <a:r>
              <a:rPr lang="en-IN" sz="1800" dirty="0">
                <a:latin typeface="Times New Roman" panose="02020603050405020304" pitchFamily="18" charset="0"/>
                <a:cs typeface="Times New Roman" panose="02020603050405020304" pitchFamily="18" charset="0"/>
              </a:rPr>
              <a:t>Often integers or categories</a:t>
            </a:r>
          </a:p>
          <a:p>
            <a:pPr lvl="1"/>
            <a:r>
              <a:rPr lang="en-IN" sz="1800" dirty="0">
                <a:latin typeface="Times New Roman" panose="02020603050405020304" pitchFamily="18" charset="0"/>
                <a:cs typeface="Times New Roman" panose="02020603050405020304" pitchFamily="18" charset="0"/>
              </a:rPr>
              <a:t>Example values: 0, 1, 2, 3...</a:t>
            </a:r>
          </a:p>
          <a:p>
            <a:pPr lvl="1"/>
            <a:r>
              <a:rPr lang="en-US" sz="1800" dirty="0">
                <a:latin typeface="Times New Roman" panose="02020603050405020304" pitchFamily="18" charset="0"/>
                <a:cs typeface="Times New Roman" panose="02020603050405020304" pitchFamily="18" charset="0"/>
              </a:rPr>
              <a:t>Can be nominal, ordinal, or numeric</a:t>
            </a:r>
          </a:p>
          <a:p>
            <a:endParaRPr lang="en-IN" sz="1800" dirty="0">
              <a:latin typeface="Times New Roman" panose="02020603050405020304" pitchFamily="18" charset="0"/>
              <a:cs typeface="Times New Roman" panose="02020603050405020304" pitchFamily="18" charset="0"/>
            </a:endParaRPr>
          </a:p>
          <a:p>
            <a:pPr marL="365760" lvl="1" indent="0">
              <a:buNone/>
            </a:pPr>
            <a:r>
              <a:rPr lang="en-IN" sz="1800" b="1" dirty="0">
                <a:latin typeface="Times New Roman" panose="02020603050405020304" pitchFamily="18" charset="0"/>
                <a:cs typeface="Times New Roman" panose="02020603050405020304" pitchFamily="18" charset="0"/>
              </a:rPr>
              <a:t>Examples</a:t>
            </a:r>
          </a:p>
          <a:p>
            <a:pPr lvl="1"/>
            <a:r>
              <a:rPr lang="en-IN" sz="1800" dirty="0">
                <a:latin typeface="Times New Roman" panose="02020603050405020304" pitchFamily="18" charset="0"/>
                <a:cs typeface="Times New Roman" panose="02020603050405020304" pitchFamily="18" charset="0"/>
              </a:rPr>
              <a:t>Number of children</a:t>
            </a:r>
          </a:p>
          <a:p>
            <a:pPr lvl="1"/>
            <a:r>
              <a:rPr lang="en-IN" sz="1800" dirty="0">
                <a:latin typeface="Times New Roman" panose="02020603050405020304" pitchFamily="18" charset="0"/>
                <a:cs typeface="Times New Roman" panose="02020603050405020304" pitchFamily="18" charset="0"/>
              </a:rPr>
              <a:t>Grade levels</a:t>
            </a:r>
          </a:p>
          <a:p>
            <a:pPr lvl="1"/>
            <a:r>
              <a:rPr lang="en-IN" sz="1800" dirty="0">
                <a:latin typeface="Times New Roman" panose="02020603050405020304" pitchFamily="18" charset="0"/>
                <a:cs typeface="Times New Roman" panose="02020603050405020304" pitchFamily="18" charset="0"/>
              </a:rPr>
              <a:t>Product categories</a:t>
            </a:r>
          </a:p>
          <a:p>
            <a:pPr lvl="1"/>
            <a:r>
              <a:rPr lang="en-US" altLang="en-US" sz="1800" dirty="0">
                <a:latin typeface="Times New Roman" panose="02020603050405020304" pitchFamily="18" charset="0"/>
                <a:cs typeface="Times New Roman" panose="02020603050405020304" pitchFamily="18" charset="0"/>
              </a:rPr>
              <a:t>zip codes, </a:t>
            </a:r>
          </a:p>
          <a:p>
            <a:pPr lvl="1"/>
            <a:r>
              <a:rPr lang="en-US" altLang="en-US" sz="1800" dirty="0">
                <a:latin typeface="Times New Roman" panose="02020603050405020304" pitchFamily="18" charset="0"/>
                <a:cs typeface="Times New Roman" panose="02020603050405020304" pitchFamily="18" charset="0"/>
              </a:rPr>
              <a:t> the set of words in a collection of documents </a:t>
            </a:r>
          </a:p>
          <a:p>
            <a:pPr lvl="1"/>
            <a:endParaRPr lang="en-IN" sz="1800" dirty="0">
              <a:latin typeface="Times New Roman" panose="02020603050405020304" pitchFamily="18" charset="0"/>
              <a:cs typeface="Times New Roman" panose="02020603050405020304" pitchFamily="18" charset="0"/>
            </a:endParaRPr>
          </a:p>
          <a:p>
            <a:pPr marL="393192" lvl="1" indent="0" eaLnBrk="1" hangingPunct="1">
              <a:lnSpc>
                <a:spcPct val="90000"/>
              </a:lnSpc>
              <a:buNone/>
            </a:pPr>
            <a:endParaRPr lang="en-US" altLang="en-US" sz="1800"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90841A6-A06A-2AF8-F12E-CED327EB9C35}"/>
              </a:ext>
            </a:extLst>
          </p:cNvPr>
          <p:cNvSpPr txBox="1">
            <a:spLocks noChangeArrowheads="1"/>
          </p:cNvSpPr>
          <p:nvPr/>
        </p:nvSpPr>
        <p:spPr>
          <a:xfrm>
            <a:off x="5029200" y="1150144"/>
            <a:ext cx="3945732" cy="52578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90000"/>
              </a:lnSpc>
            </a:pPr>
            <a:r>
              <a:rPr lang="en-US" altLang="en-US" sz="1800" b="1" dirty="0">
                <a:latin typeface="Times New Roman" panose="02020603050405020304" pitchFamily="18" charset="0"/>
                <a:cs typeface="Times New Roman" panose="02020603050405020304" pitchFamily="18" charset="0"/>
              </a:rPr>
              <a:t>Continuous</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Attribute</a:t>
            </a:r>
          </a:p>
          <a:p>
            <a:pPr lvl="1"/>
            <a:r>
              <a:rPr lang="en-US" sz="1800" dirty="0">
                <a:latin typeface="Times New Roman" panose="02020603050405020304" pitchFamily="18" charset="0"/>
                <a:cs typeface="Times New Roman" panose="02020603050405020304" pitchFamily="18" charset="0"/>
              </a:rPr>
              <a:t>Take infinite, uncountable values within a range</a:t>
            </a:r>
          </a:p>
          <a:p>
            <a:pPr lvl="1"/>
            <a:r>
              <a:rPr lang="en-IN" sz="1800" dirty="0">
                <a:latin typeface="Times New Roman" panose="02020603050405020304" pitchFamily="18" charset="0"/>
                <a:cs typeface="Times New Roman" panose="02020603050405020304" pitchFamily="18" charset="0"/>
              </a:rPr>
              <a:t>Represent measurable quantities</a:t>
            </a:r>
          </a:p>
          <a:p>
            <a:pPr lvl="1"/>
            <a:r>
              <a:rPr lang="en-US" sz="1800" dirty="0">
                <a:latin typeface="Times New Roman" panose="02020603050405020304" pitchFamily="18" charset="0"/>
                <a:cs typeface="Times New Roman" panose="02020603050405020304" pitchFamily="18" charset="0"/>
              </a:rPr>
              <a:t>Often come from physical measurements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IN" sz="1800" b="1" dirty="0">
                <a:latin typeface="Times New Roman" panose="02020603050405020304" pitchFamily="18" charset="0"/>
                <a:cs typeface="Times New Roman" panose="02020603050405020304" pitchFamily="18" charset="0"/>
              </a:rPr>
              <a:t>Examples</a:t>
            </a:r>
          </a:p>
          <a:p>
            <a:r>
              <a:rPr lang="en-IN" sz="1800" dirty="0">
                <a:latin typeface="Times New Roman" panose="02020603050405020304" pitchFamily="18" charset="0"/>
                <a:cs typeface="Times New Roman" panose="02020603050405020304" pitchFamily="18" charset="0"/>
              </a:rPr>
              <a:t>Height: 165.2 cm</a:t>
            </a:r>
          </a:p>
          <a:p>
            <a:r>
              <a:rPr lang="en-IN" sz="1800" dirty="0">
                <a:latin typeface="Times New Roman" panose="02020603050405020304" pitchFamily="18" charset="0"/>
                <a:cs typeface="Times New Roman" panose="02020603050405020304" pitchFamily="18" charset="0"/>
              </a:rPr>
              <a:t>Temperature: 37.6 °C</a:t>
            </a:r>
          </a:p>
          <a:p>
            <a:r>
              <a:rPr lang="en-IN" sz="1800" dirty="0">
                <a:latin typeface="Times New Roman" panose="02020603050405020304" pitchFamily="18" charset="0"/>
                <a:cs typeface="Times New Roman" panose="02020603050405020304" pitchFamily="18" charset="0"/>
              </a:rPr>
              <a:t>Time: 3.15 seconds</a:t>
            </a:r>
          </a:p>
          <a:p>
            <a:endParaRPr lang="en-IN" sz="1800" dirty="0">
              <a:latin typeface="Times New Roman" panose="02020603050405020304" pitchFamily="18" charset="0"/>
              <a:cs typeface="Times New Roman" panose="02020603050405020304" pitchFamily="18" charset="0"/>
            </a:endParaRPr>
          </a:p>
          <a:p>
            <a:pPr marL="393192" lvl="1" indent="0">
              <a:lnSpc>
                <a:spcPct val="90000"/>
              </a:lnSpc>
              <a:buFont typeface="Verdana"/>
              <a:buNone/>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734193-4306-777B-BDFA-0664FA614F71}"/>
              </a:ext>
            </a:extLst>
          </p:cNvPr>
          <p:cNvSpPr>
            <a:spLocks noGrp="1"/>
          </p:cNvSpPr>
          <p:nvPr>
            <p:ph idx="1"/>
          </p:nvPr>
        </p:nvSpPr>
        <p:spPr>
          <a:xfrm>
            <a:off x="457200" y="2286000"/>
            <a:ext cx="8229600" cy="880872"/>
          </a:xfrm>
        </p:spPr>
        <p:txBody>
          <a:bodyPr>
            <a:normAutofit/>
          </a:bodyPr>
          <a:lstStyle/>
          <a:p>
            <a:pPr marL="109728" indent="0" algn="ctr">
              <a:buNone/>
            </a:pPr>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Tree>
    <p:extLst>
      <p:ext uri="{BB962C8B-B14F-4D97-AF65-F5344CB8AC3E}">
        <p14:creationId xmlns:p14="http://schemas.microsoft.com/office/powerpoint/2010/main" val="1753548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DA3591-07FC-B651-06F3-063A91884069}"/>
              </a:ext>
            </a:extLst>
          </p:cNvPr>
          <p:cNvSpPr>
            <a:spLocks noGrp="1"/>
          </p:cNvSpPr>
          <p:nvPr>
            <p:ph idx="1"/>
          </p:nvPr>
        </p:nvSpPr>
        <p:spPr/>
        <p:txBody>
          <a:bodyPr>
            <a:normAutofit/>
          </a:bodyPr>
          <a:lstStyle/>
          <a:p>
            <a:pPr marL="109728" indent="0">
              <a:buNone/>
            </a:pPr>
            <a:r>
              <a:rPr lang="en-US" sz="1800" dirty="0">
                <a:latin typeface="Times New Roman" panose="02020603050405020304" pitchFamily="18" charset="0"/>
                <a:cs typeface="Times New Roman" panose="02020603050405020304" pitchFamily="18" charset="0"/>
              </a:rPr>
              <a:t>To summarize and understand the main features of a dataset using key statistics.</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Measures of Central Tendency</a:t>
            </a:r>
          </a:p>
          <a:p>
            <a:r>
              <a:rPr lang="en-US" sz="1800" dirty="0">
                <a:latin typeface="Times New Roman" panose="02020603050405020304" pitchFamily="18" charset="0"/>
                <a:cs typeface="Times New Roman" panose="02020603050405020304" pitchFamily="18" charset="0"/>
              </a:rPr>
              <a:t>Mean: Average of all values</a:t>
            </a:r>
          </a:p>
          <a:p>
            <a:r>
              <a:rPr lang="en-US" sz="1800" dirty="0">
                <a:latin typeface="Times New Roman" panose="02020603050405020304" pitchFamily="18" charset="0"/>
                <a:cs typeface="Times New Roman" panose="02020603050405020304" pitchFamily="18" charset="0"/>
              </a:rPr>
              <a:t>Median: Middle value when sorted</a:t>
            </a:r>
          </a:p>
          <a:p>
            <a:r>
              <a:rPr lang="en-IN" sz="1800" dirty="0">
                <a:latin typeface="Times New Roman" panose="02020603050405020304" pitchFamily="18" charset="0"/>
                <a:cs typeface="Times New Roman" panose="02020603050405020304" pitchFamily="18" charset="0"/>
              </a:rPr>
              <a:t>Mode: Most frequent value</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Measures of Dispersion (Spread)</a:t>
            </a:r>
          </a:p>
          <a:p>
            <a:r>
              <a:rPr lang="en-US" sz="1800" dirty="0">
                <a:latin typeface="Times New Roman" panose="02020603050405020304" pitchFamily="18" charset="0"/>
                <a:cs typeface="Times New Roman" panose="02020603050405020304" pitchFamily="18" charset="0"/>
              </a:rPr>
              <a:t>Range: Max − Min</a:t>
            </a:r>
          </a:p>
          <a:p>
            <a:r>
              <a:rPr lang="en-US" sz="1800" dirty="0">
                <a:latin typeface="Times New Roman" panose="02020603050405020304" pitchFamily="18" charset="0"/>
                <a:cs typeface="Times New Roman" panose="02020603050405020304" pitchFamily="18" charset="0"/>
              </a:rPr>
              <a:t>Variance: Average squared deviation from mean</a:t>
            </a:r>
          </a:p>
          <a:p>
            <a:r>
              <a:rPr lang="en-US" sz="1800" dirty="0">
                <a:latin typeface="Times New Roman" panose="02020603050405020304" pitchFamily="18" charset="0"/>
                <a:cs typeface="Times New Roman" panose="02020603050405020304" pitchFamily="18" charset="0"/>
              </a:rPr>
              <a:t>Standard Deviation (SD): Square root of variance</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CF008E75-C49B-A692-96F8-410C750906C8}"/>
              </a:ext>
            </a:extLst>
          </p:cNvPr>
          <p:cNvSpPr>
            <a:spLocks noGrp="1" noChangeArrowheads="1"/>
          </p:cNvSpPr>
          <p:nvPr>
            <p:ph type="title"/>
          </p:nvPr>
        </p:nvSpPr>
        <p:spPr>
          <a:xfrm>
            <a:off x="0" y="304800"/>
            <a:ext cx="9144000" cy="762000"/>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Tree>
    <p:extLst>
      <p:ext uri="{BB962C8B-B14F-4D97-AF65-F5344CB8AC3E}">
        <p14:creationId xmlns:p14="http://schemas.microsoft.com/office/powerpoint/2010/main" val="3326236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54506FF3-B799-87D5-2DAB-A5315AE148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7BD3AD7-48E8-4CA7-98AD-12F10FE33F24}" type="slidenum">
              <a:rPr lang="en-US" altLang="en-US" sz="1200"/>
              <a:pPr eaLnBrk="1" hangingPunct="1"/>
              <a:t>19</a:t>
            </a:fld>
            <a:endParaRPr lang="en-US" altLang="en-US" sz="1200"/>
          </a:p>
        </p:txBody>
      </p:sp>
      <p:sp>
        <p:nvSpPr>
          <p:cNvPr id="14339" name="Rectangle 2">
            <a:extLst>
              <a:ext uri="{FF2B5EF4-FFF2-40B4-BE49-F238E27FC236}">
                <a16:creationId xmlns:a16="http://schemas.microsoft.com/office/drawing/2014/main" id="{B126DF67-2B56-9707-9D14-FE21C42F2560}"/>
              </a:ext>
            </a:extLst>
          </p:cNvPr>
          <p:cNvSpPr>
            <a:spLocks noGrp="1" noChangeArrowheads="1"/>
          </p:cNvSpPr>
          <p:nvPr>
            <p:ph type="title"/>
          </p:nvPr>
        </p:nvSpPr>
        <p:spPr>
          <a:xfrm>
            <a:off x="0" y="304800"/>
            <a:ext cx="9144000" cy="762000"/>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
        <p:nvSpPr>
          <p:cNvPr id="14340" name="Rectangle 3">
            <a:extLst>
              <a:ext uri="{FF2B5EF4-FFF2-40B4-BE49-F238E27FC236}">
                <a16:creationId xmlns:a16="http://schemas.microsoft.com/office/drawing/2014/main" id="{05915575-7F6C-0096-B2F9-6674A88E2B3B}"/>
              </a:ext>
            </a:extLst>
          </p:cNvPr>
          <p:cNvSpPr>
            <a:spLocks noGrp="1" noChangeArrowheads="1"/>
          </p:cNvSpPr>
          <p:nvPr>
            <p:ph type="body" idx="1"/>
          </p:nvPr>
        </p:nvSpPr>
        <p:spPr>
          <a:xfrm>
            <a:off x="381000" y="1295400"/>
            <a:ext cx="8305800" cy="5257800"/>
          </a:xfrm>
        </p:spPr>
        <p:txBody>
          <a:bodyPr>
            <a:normAutofit/>
          </a:bodyPr>
          <a:lstStyle/>
          <a:p>
            <a:pPr eaLnBrk="1" hangingPunct="1">
              <a:buSzPct val="80000"/>
            </a:pPr>
            <a:r>
              <a:rPr lang="en-US" altLang="en-US" sz="2000" u="sng" dirty="0">
                <a:latin typeface="Times New Roman" panose="02020603050405020304" pitchFamily="18" charset="0"/>
                <a:cs typeface="Times New Roman" panose="02020603050405020304" pitchFamily="18" charset="0"/>
              </a:rPr>
              <a:t>Motivation</a:t>
            </a:r>
          </a:p>
          <a:p>
            <a:pPr lvl="1" eaLnBrk="1" hangingPunct="1">
              <a:buSzPct val="80000"/>
            </a:pPr>
            <a:r>
              <a:rPr lang="en-US" altLang="en-US" sz="2000" dirty="0">
                <a:latin typeface="Times New Roman" panose="02020603050405020304" pitchFamily="18" charset="0"/>
                <a:cs typeface="Times New Roman" panose="02020603050405020304" pitchFamily="18" charset="0"/>
              </a:rPr>
              <a:t>To better understand the data: central tendency, variation and spread</a:t>
            </a:r>
          </a:p>
          <a:p>
            <a:pPr eaLnBrk="1" hangingPunct="1">
              <a:buSzPct val="80000"/>
            </a:pPr>
            <a:r>
              <a:rPr lang="en-US" altLang="en-US" sz="2000" u="sng" dirty="0">
                <a:latin typeface="Times New Roman" panose="02020603050405020304" pitchFamily="18" charset="0"/>
                <a:cs typeface="Times New Roman" panose="02020603050405020304" pitchFamily="18" charset="0"/>
              </a:rPr>
              <a:t>Data dispersion characteristics</a:t>
            </a:r>
            <a:r>
              <a:rPr lang="en-US" altLang="en-US" sz="2000" dirty="0">
                <a:latin typeface="Times New Roman" panose="02020603050405020304" pitchFamily="18" charset="0"/>
                <a:cs typeface="Times New Roman" panose="02020603050405020304" pitchFamily="18" charset="0"/>
              </a:rPr>
              <a:t> </a:t>
            </a:r>
          </a:p>
          <a:p>
            <a:pPr lvl="1" eaLnBrk="1" hangingPunct="1">
              <a:buSzPct val="80000"/>
            </a:pPr>
            <a:r>
              <a:rPr lang="en-US" altLang="en-US" sz="2000" dirty="0">
                <a:latin typeface="Times New Roman" panose="02020603050405020304" pitchFamily="18" charset="0"/>
                <a:cs typeface="Times New Roman" panose="02020603050405020304" pitchFamily="18" charset="0"/>
              </a:rPr>
              <a:t>median, max, min, quantiles, outliers, variance, etc.</a:t>
            </a:r>
          </a:p>
          <a:p>
            <a:pPr eaLnBrk="1" hangingPunct="1">
              <a:buSzPct val="80000"/>
            </a:pPr>
            <a:r>
              <a:rPr lang="en-US" altLang="en-US" sz="2000" u="sng" dirty="0">
                <a:latin typeface="Times New Roman" panose="02020603050405020304" pitchFamily="18" charset="0"/>
                <a:cs typeface="Times New Roman" panose="02020603050405020304" pitchFamily="18" charset="0"/>
              </a:rPr>
              <a:t>Numerical dimensions</a:t>
            </a:r>
            <a:r>
              <a:rPr lang="en-US" altLang="en-US" sz="2000" dirty="0">
                <a:latin typeface="Times New Roman" panose="02020603050405020304" pitchFamily="18" charset="0"/>
                <a:cs typeface="Times New Roman" panose="02020603050405020304" pitchFamily="18" charset="0"/>
              </a:rPr>
              <a:t> correspond to sorted intervals</a:t>
            </a:r>
          </a:p>
          <a:p>
            <a:pPr lvl="1" eaLnBrk="1" hangingPunct="1">
              <a:buSzPct val="80000"/>
            </a:pPr>
            <a:r>
              <a:rPr lang="en-US" altLang="en-US" sz="2000" dirty="0">
                <a:latin typeface="Times New Roman" panose="02020603050405020304" pitchFamily="18" charset="0"/>
                <a:cs typeface="Times New Roman" panose="02020603050405020304" pitchFamily="18" charset="0"/>
              </a:rPr>
              <a:t>Data dispersion: analyzed with multiple granularities of precision</a:t>
            </a:r>
          </a:p>
          <a:p>
            <a:pPr lvl="1" eaLnBrk="1" hangingPunct="1">
              <a:buSzPct val="80000"/>
            </a:pPr>
            <a:r>
              <a:rPr lang="en-US" altLang="en-US" sz="2000" dirty="0">
                <a:latin typeface="Times New Roman" panose="02020603050405020304" pitchFamily="18" charset="0"/>
                <a:cs typeface="Times New Roman" panose="02020603050405020304" pitchFamily="18" charset="0"/>
              </a:rPr>
              <a:t>Boxplot or quantile analysis on sorted intervals</a:t>
            </a:r>
          </a:p>
          <a:p>
            <a:pPr eaLnBrk="1" hangingPunct="1">
              <a:buSzPct val="80000"/>
            </a:pPr>
            <a:r>
              <a:rPr lang="en-US" altLang="en-US" sz="2000" u="sng" dirty="0">
                <a:latin typeface="Times New Roman" panose="02020603050405020304" pitchFamily="18" charset="0"/>
                <a:cs typeface="Times New Roman" panose="02020603050405020304" pitchFamily="18" charset="0"/>
              </a:rPr>
              <a:t>Dispersion analysis on computed measures</a:t>
            </a:r>
            <a:endParaRPr lang="en-US" altLang="en-US" sz="2000" dirty="0">
              <a:latin typeface="Times New Roman" panose="02020603050405020304" pitchFamily="18" charset="0"/>
              <a:cs typeface="Times New Roman" panose="02020603050405020304" pitchFamily="18" charset="0"/>
            </a:endParaRPr>
          </a:p>
          <a:p>
            <a:pPr lvl="1" eaLnBrk="1" hangingPunct="1">
              <a:buSzPct val="80000"/>
            </a:pPr>
            <a:r>
              <a:rPr lang="en-US" altLang="en-US" sz="2000" dirty="0">
                <a:latin typeface="Times New Roman" panose="02020603050405020304" pitchFamily="18" charset="0"/>
                <a:cs typeface="Times New Roman" panose="02020603050405020304" pitchFamily="18" charset="0"/>
              </a:rPr>
              <a:t>Folding measures into numerical dimensions</a:t>
            </a:r>
          </a:p>
          <a:p>
            <a:pPr lvl="1" eaLnBrk="1" hangingPunct="1">
              <a:buSzPct val="80000"/>
            </a:pPr>
            <a:r>
              <a:rPr lang="en-US" altLang="en-US" sz="2000" dirty="0">
                <a:latin typeface="Times New Roman" panose="02020603050405020304" pitchFamily="18" charset="0"/>
                <a:cs typeface="Times New Roman" panose="02020603050405020304" pitchFamily="18" charset="0"/>
              </a:rPr>
              <a:t>Boxplot or quantile analysis on the transformed cube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FB131854-14AC-CF25-7FE3-02040558DFF3}"/>
              </a:ext>
            </a:extLst>
          </p:cNvPr>
          <p:cNvSpPr>
            <a:spLocks noGrp="1" noChangeArrowheads="1"/>
          </p:cNvSpPr>
          <p:nvPr>
            <p:ph type="title"/>
          </p:nvPr>
        </p:nvSpPr>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Measuring the Central Tendency</a:t>
            </a:r>
          </a:p>
        </p:txBody>
      </p:sp>
      <p:sp>
        <p:nvSpPr>
          <p:cNvPr id="15364" name="Rectangle 3">
            <a:extLst>
              <a:ext uri="{FF2B5EF4-FFF2-40B4-BE49-F238E27FC236}">
                <a16:creationId xmlns:a16="http://schemas.microsoft.com/office/drawing/2014/main" id="{BB97A0D8-D0BD-5DFE-A172-150ED2EB3BB8}"/>
              </a:ext>
            </a:extLst>
          </p:cNvPr>
          <p:cNvSpPr>
            <a:spLocks noGrp="1" noChangeArrowheads="1"/>
          </p:cNvSpPr>
          <p:nvPr>
            <p:ph type="body" sz="half" idx="1"/>
          </p:nvPr>
        </p:nvSpPr>
        <p:spPr>
          <a:xfrm>
            <a:off x="228600" y="1143000"/>
            <a:ext cx="6477000" cy="5029200"/>
          </a:xfrm>
        </p:spPr>
        <p:txBody>
          <a:bodyPr>
            <a:normAutofit lnSpcReduction="10000"/>
          </a:bodyPr>
          <a:lstStyle/>
          <a:p>
            <a:pPr eaLnBrk="1" hangingPunct="1">
              <a:lnSpc>
                <a:spcPct val="130000"/>
              </a:lnSpc>
              <a:buSzPct val="80000"/>
            </a:pPr>
            <a:r>
              <a:rPr lang="en-US" altLang="en-US" sz="1800" u="sng" dirty="0"/>
              <a:t>Mean (algebraic measure) (sample vs. population):</a:t>
            </a:r>
          </a:p>
          <a:p>
            <a:pPr lvl="1" eaLnBrk="1" hangingPunct="1">
              <a:lnSpc>
                <a:spcPct val="130000"/>
              </a:lnSpc>
              <a:buSzPct val="80000"/>
              <a:buFont typeface="Wingdings" panose="05000000000000000000" pitchFamily="2" charset="2"/>
              <a:buNone/>
            </a:pPr>
            <a:r>
              <a:rPr lang="en-US" altLang="en-US" sz="1800" dirty="0"/>
              <a:t>Note: </a:t>
            </a:r>
            <a:r>
              <a:rPr lang="en-US" altLang="en-US" sz="1800" i="1" dirty="0"/>
              <a:t>n</a:t>
            </a:r>
            <a:r>
              <a:rPr lang="en-US" altLang="en-US" sz="1800" dirty="0"/>
              <a:t> is sample size and </a:t>
            </a:r>
            <a:r>
              <a:rPr lang="en-US" altLang="en-US" sz="1800" i="1" dirty="0"/>
              <a:t>N</a:t>
            </a:r>
            <a:r>
              <a:rPr lang="en-US" altLang="en-US" sz="1800" dirty="0"/>
              <a:t> is population size. </a:t>
            </a:r>
          </a:p>
          <a:p>
            <a:pPr lvl="1" eaLnBrk="1" hangingPunct="1">
              <a:lnSpc>
                <a:spcPct val="130000"/>
              </a:lnSpc>
              <a:buSzPct val="80000"/>
            </a:pPr>
            <a:r>
              <a:rPr lang="en-US" altLang="en-US" sz="1800" dirty="0"/>
              <a:t>Weighted arithmetic mean:</a:t>
            </a:r>
          </a:p>
          <a:p>
            <a:pPr lvl="1" eaLnBrk="1" hangingPunct="1">
              <a:lnSpc>
                <a:spcPct val="130000"/>
              </a:lnSpc>
              <a:buSzPct val="80000"/>
            </a:pPr>
            <a:r>
              <a:rPr lang="en-US" altLang="en-US" sz="1800" dirty="0"/>
              <a:t>Trimmed mean: chopping extreme values</a:t>
            </a:r>
          </a:p>
          <a:p>
            <a:pPr eaLnBrk="1" hangingPunct="1">
              <a:lnSpc>
                <a:spcPct val="130000"/>
              </a:lnSpc>
              <a:buSzPct val="80000"/>
            </a:pPr>
            <a:r>
              <a:rPr lang="en-US" altLang="en-US" sz="1800" u="sng" dirty="0"/>
              <a:t>Median</a:t>
            </a:r>
            <a:r>
              <a:rPr lang="en-US" altLang="en-US" sz="1800" dirty="0"/>
              <a:t>: </a:t>
            </a:r>
          </a:p>
          <a:p>
            <a:pPr lvl="1" eaLnBrk="1" hangingPunct="1">
              <a:lnSpc>
                <a:spcPct val="130000"/>
              </a:lnSpc>
              <a:buSzPct val="80000"/>
            </a:pPr>
            <a:r>
              <a:rPr lang="en-US" altLang="en-US" sz="1800" dirty="0"/>
              <a:t>Middle value if odd number of values, or average of the middle two values otherwise</a:t>
            </a:r>
          </a:p>
          <a:p>
            <a:pPr lvl="1" eaLnBrk="1" hangingPunct="1">
              <a:lnSpc>
                <a:spcPct val="130000"/>
              </a:lnSpc>
              <a:buSzPct val="80000"/>
            </a:pPr>
            <a:r>
              <a:rPr lang="en-US" altLang="en-US" sz="1800" dirty="0"/>
              <a:t>Estimated by interpolation (for </a:t>
            </a:r>
            <a:r>
              <a:rPr lang="en-US" altLang="en-US" sz="1800" i="1" dirty="0">
                <a:solidFill>
                  <a:schemeClr val="tx2"/>
                </a:solidFill>
              </a:rPr>
              <a:t>grouped data</a:t>
            </a:r>
            <a:r>
              <a:rPr lang="en-US" altLang="en-US" sz="1800" dirty="0"/>
              <a:t>):</a:t>
            </a:r>
          </a:p>
          <a:p>
            <a:pPr eaLnBrk="1" hangingPunct="1">
              <a:lnSpc>
                <a:spcPct val="130000"/>
              </a:lnSpc>
              <a:buSzPct val="80000"/>
            </a:pPr>
            <a:endParaRPr lang="en-US" altLang="en-US" sz="1800" u="sng" dirty="0"/>
          </a:p>
          <a:p>
            <a:pPr eaLnBrk="1" hangingPunct="1">
              <a:lnSpc>
                <a:spcPct val="130000"/>
              </a:lnSpc>
              <a:buSzPct val="80000"/>
            </a:pPr>
            <a:r>
              <a:rPr lang="en-US" altLang="en-US" sz="1800" u="sng" dirty="0"/>
              <a:t>Mode</a:t>
            </a:r>
          </a:p>
          <a:p>
            <a:pPr lvl="1" eaLnBrk="1" hangingPunct="1">
              <a:lnSpc>
                <a:spcPct val="130000"/>
              </a:lnSpc>
              <a:buSzPct val="80000"/>
            </a:pPr>
            <a:r>
              <a:rPr lang="en-US" altLang="en-US" sz="1800" dirty="0"/>
              <a:t>Value that occurs most frequently in the data</a:t>
            </a:r>
          </a:p>
          <a:p>
            <a:pPr lvl="1" eaLnBrk="1" hangingPunct="1">
              <a:lnSpc>
                <a:spcPct val="130000"/>
              </a:lnSpc>
              <a:buSzPct val="80000"/>
            </a:pPr>
            <a:r>
              <a:rPr lang="en-US" altLang="en-US" sz="1800" dirty="0"/>
              <a:t>Unimodal, bimodal, trimodal</a:t>
            </a:r>
          </a:p>
          <a:p>
            <a:pPr lvl="1" eaLnBrk="1" hangingPunct="1">
              <a:lnSpc>
                <a:spcPct val="130000"/>
              </a:lnSpc>
              <a:buSzPct val="80000"/>
            </a:pPr>
            <a:r>
              <a:rPr lang="en-US" altLang="en-US" sz="1800" dirty="0"/>
              <a:t>Empirical formula:</a:t>
            </a:r>
          </a:p>
          <a:p>
            <a:pPr eaLnBrk="1" hangingPunct="1">
              <a:lnSpc>
                <a:spcPct val="130000"/>
              </a:lnSpc>
              <a:buSzPct val="80000"/>
            </a:pPr>
            <a:endParaRPr lang="en-US" altLang="en-US" sz="1800" dirty="0"/>
          </a:p>
        </p:txBody>
      </p:sp>
      <p:graphicFrame>
        <p:nvGraphicFramePr>
          <p:cNvPr id="15365" name="Object 4">
            <a:extLst>
              <a:ext uri="{FF2B5EF4-FFF2-40B4-BE49-F238E27FC236}">
                <a16:creationId xmlns:a16="http://schemas.microsoft.com/office/drawing/2014/main" id="{058472BA-EBA5-A95D-A23F-C63EDCBCDAAC}"/>
              </a:ext>
            </a:extLst>
          </p:cNvPr>
          <p:cNvGraphicFramePr>
            <a:graphicFrameLocks noChangeAspect="1"/>
          </p:cNvGraphicFramePr>
          <p:nvPr/>
        </p:nvGraphicFramePr>
        <p:xfrm>
          <a:off x="6019800" y="1143000"/>
          <a:ext cx="1752600" cy="846138"/>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5365" name="Object 4">
                        <a:extLst>
                          <a:ext uri="{FF2B5EF4-FFF2-40B4-BE49-F238E27FC236}">
                            <a16:creationId xmlns:a16="http://schemas.microsoft.com/office/drawing/2014/main" id="{058472BA-EBA5-A95D-A23F-C63EDCBCD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143000"/>
                        <a:ext cx="175260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a:extLst>
              <a:ext uri="{FF2B5EF4-FFF2-40B4-BE49-F238E27FC236}">
                <a16:creationId xmlns:a16="http://schemas.microsoft.com/office/drawing/2014/main" id="{DDD73DB7-DE1D-116A-021C-951C7A9F759B}"/>
              </a:ext>
            </a:extLst>
          </p:cNvPr>
          <p:cNvGraphicFramePr>
            <a:graphicFrameLocks noChangeAspect="1"/>
          </p:cNvGraphicFramePr>
          <p:nvPr/>
        </p:nvGraphicFramePr>
        <p:xfrm>
          <a:off x="5715000" y="1981200"/>
          <a:ext cx="1600200" cy="1447800"/>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5366" name="Object 5">
                        <a:extLst>
                          <a:ext uri="{FF2B5EF4-FFF2-40B4-BE49-F238E27FC236}">
                            <a16:creationId xmlns:a16="http://schemas.microsoft.com/office/drawing/2014/main" id="{DDD73DB7-DE1D-116A-021C-951C7A9F75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1981200"/>
                        <a:ext cx="16002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6">
            <a:extLst>
              <a:ext uri="{FF2B5EF4-FFF2-40B4-BE49-F238E27FC236}">
                <a16:creationId xmlns:a16="http://schemas.microsoft.com/office/drawing/2014/main" id="{613B6961-DEBF-0120-D227-BB4147F028C4}"/>
              </a:ext>
            </a:extLst>
          </p:cNvPr>
          <p:cNvGraphicFramePr>
            <a:graphicFrameLocks noChangeAspect="1"/>
          </p:cNvGraphicFramePr>
          <p:nvPr>
            <p:extLst>
              <p:ext uri="{D42A27DB-BD31-4B8C-83A1-F6EECF244321}">
                <p14:modId xmlns:p14="http://schemas.microsoft.com/office/powerpoint/2010/main" val="3214766850"/>
              </p:ext>
            </p:extLst>
          </p:nvPr>
        </p:nvGraphicFramePr>
        <p:xfrm>
          <a:off x="2020529" y="3948112"/>
          <a:ext cx="4648200" cy="914400"/>
        </p:xfrm>
        <a:graphic>
          <a:graphicData uri="http://schemas.openxmlformats.org/presentationml/2006/ole">
            <mc:AlternateContent xmlns:mc="http://schemas.openxmlformats.org/markup-compatibility/2006">
              <mc:Choice xmlns:v="urn:schemas-microsoft-com:vml" Requires="v">
                <p:oleObj name="Equation" r:id="rId7" imgW="2387600" imgH="469900" progId="Equation.3">
                  <p:embed/>
                </p:oleObj>
              </mc:Choice>
              <mc:Fallback>
                <p:oleObj name="Equation" r:id="rId7" imgW="2387600" imgH="469900" progId="Equation.3">
                  <p:embed/>
                  <p:pic>
                    <p:nvPicPr>
                      <p:cNvPr id="15367" name="Object 6">
                        <a:extLst>
                          <a:ext uri="{FF2B5EF4-FFF2-40B4-BE49-F238E27FC236}">
                            <a16:creationId xmlns:a16="http://schemas.microsoft.com/office/drawing/2014/main" id="{613B6961-DEBF-0120-D227-BB4147F028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0529" y="3948112"/>
                        <a:ext cx="4648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7">
            <a:extLst>
              <a:ext uri="{FF2B5EF4-FFF2-40B4-BE49-F238E27FC236}">
                <a16:creationId xmlns:a16="http://schemas.microsoft.com/office/drawing/2014/main" id="{F3AEC7AA-52A7-587F-30E5-52BA75AD95B9}"/>
              </a:ext>
            </a:extLst>
          </p:cNvPr>
          <p:cNvGraphicFramePr>
            <a:graphicFrameLocks noChangeAspect="1"/>
          </p:cNvGraphicFramePr>
          <p:nvPr/>
        </p:nvGraphicFramePr>
        <p:xfrm>
          <a:off x="3124200" y="6096000"/>
          <a:ext cx="4449763" cy="420688"/>
        </p:xfrm>
        <a:graphic>
          <a:graphicData uri="http://schemas.openxmlformats.org/presentationml/2006/ole">
            <mc:AlternateContent xmlns:mc="http://schemas.openxmlformats.org/markup-compatibility/2006">
              <mc:Choice xmlns:v="urn:schemas-microsoft-com:vml" Requires="v">
                <p:oleObj name="Equation" r:id="rId9" imgW="2197100" imgH="203200" progId="Equation.3">
                  <p:embed/>
                </p:oleObj>
              </mc:Choice>
              <mc:Fallback>
                <p:oleObj name="Equation" r:id="rId9" imgW="2197100" imgH="203200" progId="Equation.3">
                  <p:embed/>
                  <p:pic>
                    <p:nvPicPr>
                      <p:cNvPr id="15368" name="Object 7">
                        <a:extLst>
                          <a:ext uri="{FF2B5EF4-FFF2-40B4-BE49-F238E27FC236}">
                            <a16:creationId xmlns:a16="http://schemas.microsoft.com/office/drawing/2014/main" id="{F3AEC7AA-52A7-587F-30E5-52BA75AD95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609600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8">
            <a:extLst>
              <a:ext uri="{FF2B5EF4-FFF2-40B4-BE49-F238E27FC236}">
                <a16:creationId xmlns:a16="http://schemas.microsoft.com/office/drawing/2014/main" id="{8569BF90-C3C9-083A-A355-0B8C14D3AF54}"/>
              </a:ext>
            </a:extLst>
          </p:cNvPr>
          <p:cNvGraphicFramePr>
            <a:graphicFrameLocks noGrp="1" noChangeAspect="1"/>
          </p:cNvGraphicFramePr>
          <p:nvPr>
            <p:ph sz="half" idx="2"/>
          </p:nvPr>
        </p:nvGraphicFramePr>
        <p:xfrm>
          <a:off x="8001000" y="1130300"/>
          <a:ext cx="1066800" cy="771525"/>
        </p:xfrm>
        <a:graphic>
          <a:graphicData uri="http://schemas.openxmlformats.org/presentationml/2006/ole">
            <mc:AlternateContent xmlns:mc="http://schemas.openxmlformats.org/markup-compatibility/2006">
              <mc:Choice xmlns:v="urn:schemas-microsoft-com:vml" Requires="v">
                <p:oleObj name="Equation" r:id="rId11" imgW="596900" imgH="431800" progId="Equation.3">
                  <p:embed/>
                </p:oleObj>
              </mc:Choice>
              <mc:Fallback>
                <p:oleObj name="Equation" r:id="rId11" imgW="596900" imgH="431800" progId="Equation.3">
                  <p:embed/>
                  <p:pic>
                    <p:nvPicPr>
                      <p:cNvPr id="15369" name="Object 8">
                        <a:extLst>
                          <a:ext uri="{FF2B5EF4-FFF2-40B4-BE49-F238E27FC236}">
                            <a16:creationId xmlns:a16="http://schemas.microsoft.com/office/drawing/2014/main" id="{8569BF90-C3C9-083A-A355-0B8C14D3AF5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1000" y="1130300"/>
                        <a:ext cx="1066800"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370" name="Picture 12">
            <a:extLst>
              <a:ext uri="{FF2B5EF4-FFF2-40B4-BE49-F238E27FC236}">
                <a16:creationId xmlns:a16="http://schemas.microsoft.com/office/drawing/2014/main" id="{938EA783-5E75-9B05-A5AB-AF50F986505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1800" y="3505200"/>
            <a:ext cx="2316163"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a:extLst>
              <a:ext uri="{FF2B5EF4-FFF2-40B4-BE49-F238E27FC236}">
                <a16:creationId xmlns:a16="http://schemas.microsoft.com/office/drawing/2014/main" id="{41F94C84-35FB-0F9B-034D-F6F8F499F19E}"/>
              </a:ext>
            </a:extLst>
          </p:cNvPr>
          <p:cNvSpPr>
            <a:spLocks noGrp="1" noChangeArrowheads="1"/>
          </p:cNvSpPr>
          <p:nvPr>
            <p:ph type="title"/>
          </p:nvPr>
        </p:nvSpPr>
        <p:spPr>
          <a:xfrm>
            <a:off x="0" y="228599"/>
            <a:ext cx="5029200" cy="1057275"/>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 </a:t>
            </a:r>
            <a:r>
              <a:rPr lang="en-US" altLang="en-US" dirty="0">
                <a:solidFill>
                  <a:srgbClr val="002060"/>
                </a:solidFill>
                <a:effectLst/>
                <a:latin typeface="Times New Roman" panose="02020603050405020304" pitchFamily="18" charset="0"/>
                <a:cs typeface="Times New Roman" panose="02020603050405020304" pitchFamily="18" charset="0"/>
              </a:rPr>
              <a:t>Symmetric vs. Skewed Data</a:t>
            </a:r>
            <a:endParaRPr lang="en-US" altLang="en-US" sz="3200" dirty="0">
              <a:solidFill>
                <a:srgbClr val="002060"/>
              </a:solidFill>
              <a:effectLst/>
              <a:latin typeface="Times New Roman" panose="02020603050405020304" pitchFamily="18" charset="0"/>
              <a:cs typeface="Times New Roman" panose="02020603050405020304" pitchFamily="18" charset="0"/>
            </a:endParaRPr>
          </a:p>
        </p:txBody>
      </p:sp>
      <p:sp>
        <p:nvSpPr>
          <p:cNvPr id="16390" name="Rectangle 3">
            <a:extLst>
              <a:ext uri="{FF2B5EF4-FFF2-40B4-BE49-F238E27FC236}">
                <a16:creationId xmlns:a16="http://schemas.microsoft.com/office/drawing/2014/main" id="{C7F6613C-01E8-0678-4145-53D016084AB9}"/>
              </a:ext>
            </a:extLst>
          </p:cNvPr>
          <p:cNvSpPr>
            <a:spLocks noGrp="1" noChangeArrowheads="1"/>
          </p:cNvSpPr>
          <p:nvPr>
            <p:ph type="body" sz="half" idx="1"/>
          </p:nvPr>
        </p:nvSpPr>
        <p:spPr>
          <a:xfrm>
            <a:off x="304800" y="1295400"/>
            <a:ext cx="5334000" cy="1255713"/>
          </a:xfrm>
        </p:spPr>
        <p:txBody>
          <a:bodyPr>
            <a:normAutofit/>
          </a:bodyPr>
          <a:lstStyle/>
          <a:p>
            <a:pPr eaLnBrk="1" hangingPunct="1">
              <a:lnSpc>
                <a:spcPct val="120000"/>
              </a:lnSpc>
            </a:pPr>
            <a:r>
              <a:rPr lang="en-US" altLang="en-US" sz="2000" dirty="0">
                <a:solidFill>
                  <a:schemeClr val="tx2"/>
                </a:solidFill>
                <a:latin typeface="Times New Roman" panose="02020603050405020304" pitchFamily="18" charset="0"/>
                <a:cs typeface="Times New Roman" panose="02020603050405020304" pitchFamily="18" charset="0"/>
              </a:rPr>
              <a:t>Median, mean and mode of symmetric, positively and negatively skewed data</a:t>
            </a:r>
          </a:p>
        </p:txBody>
      </p:sp>
      <p:sp>
        <p:nvSpPr>
          <p:cNvPr id="3" name="TextBox 2">
            <a:extLst>
              <a:ext uri="{FF2B5EF4-FFF2-40B4-BE49-F238E27FC236}">
                <a16:creationId xmlns:a16="http://schemas.microsoft.com/office/drawing/2014/main" id="{48E7A854-893A-1C10-75A9-703F21C55B53}"/>
              </a:ext>
            </a:extLst>
          </p:cNvPr>
          <p:cNvSpPr txBox="1"/>
          <p:nvPr/>
        </p:nvSpPr>
        <p:spPr>
          <a:xfrm>
            <a:off x="5181600" y="284347"/>
            <a:ext cx="3500448" cy="2585323"/>
          </a:xfrm>
          <a:prstGeom prst="rect">
            <a:avLst/>
          </a:prstGeom>
          <a:noFill/>
        </p:spPr>
        <p:txBody>
          <a:bodyPr wrap="square">
            <a:spAutoFit/>
          </a:bodyPr>
          <a:lstStyle/>
          <a:p>
            <a:pPr algn="l"/>
            <a:endParaRPr lang="en-IN"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Shape of Data Distribution:</a:t>
            </a:r>
          </a:p>
          <a:p>
            <a:endParaRPr lang="en-US" b="0" i="0" u="none" strike="noStrike" baseline="0" dirty="0">
              <a:solidFill>
                <a:srgbClr val="40404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Skewness</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Measures asymmetry</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Positive skew: tail on right</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Negative skew: tail on left</a:t>
            </a: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2834467-20A0-BF52-AF34-C511D46BC589}"/>
              </a:ext>
            </a:extLst>
          </p:cNvPr>
          <p:cNvPicPr>
            <a:picLocks noChangeAspect="1"/>
          </p:cNvPicPr>
          <p:nvPr/>
        </p:nvPicPr>
        <p:blipFill>
          <a:blip r:embed="rId3"/>
          <a:stretch>
            <a:fillRect/>
          </a:stretch>
        </p:blipFill>
        <p:spPr>
          <a:xfrm>
            <a:off x="685800" y="2869669"/>
            <a:ext cx="8124392" cy="3432181"/>
          </a:xfrm>
          <a:prstGeom prst="rect">
            <a:avLst/>
          </a:prstGeom>
        </p:spPr>
      </p:pic>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7DCF-3A9B-BFC5-5B7F-211D1D3E2DD6}"/>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B5D68418-F4C5-C0A7-5A82-40A75D76489E}"/>
              </a:ext>
            </a:extLst>
          </p:cNvPr>
          <p:cNvSpPr>
            <a:spLocks noGrp="1"/>
          </p:cNvSpPr>
          <p:nvPr>
            <p:ph type="body" sz="half" idx="1"/>
          </p:nvPr>
        </p:nvSpPr>
        <p:spPr>
          <a:xfrm>
            <a:off x="304800" y="1295400"/>
            <a:ext cx="8534400" cy="1600200"/>
          </a:xfrm>
        </p:spPr>
        <p:txBody>
          <a:bodyPr>
            <a:normAutofit/>
          </a:bodyPr>
          <a:lstStyle/>
          <a:p>
            <a:pPr marL="109728" indent="0">
              <a:buNone/>
            </a:pPr>
            <a:r>
              <a:rPr lang="en-IN" sz="2000" dirty="0">
                <a:latin typeface="Times New Roman" panose="02020603050405020304" pitchFamily="18" charset="0"/>
                <a:cs typeface="Times New Roman" panose="02020603050405020304" pitchFamily="18" charset="0"/>
              </a:rPr>
              <a:t>Kurtosis</a:t>
            </a:r>
          </a:p>
          <a:p>
            <a:r>
              <a:rPr lang="en-IN" sz="2000" dirty="0">
                <a:latin typeface="Times New Roman" panose="02020603050405020304" pitchFamily="18" charset="0"/>
                <a:cs typeface="Times New Roman" panose="02020603050405020304" pitchFamily="18" charset="0"/>
              </a:rPr>
              <a:t>Measures "</a:t>
            </a:r>
            <a:r>
              <a:rPr lang="en-IN" sz="2000" dirty="0" err="1">
                <a:latin typeface="Times New Roman" panose="02020603050405020304" pitchFamily="18" charset="0"/>
                <a:cs typeface="Times New Roman" panose="02020603050405020304" pitchFamily="18" charset="0"/>
              </a:rPr>
              <a:t>peakedness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High kurtosis: sharp peak</a:t>
            </a:r>
          </a:p>
          <a:p>
            <a:r>
              <a:rPr lang="en-IN" sz="2000" dirty="0">
                <a:latin typeface="Times New Roman" panose="02020603050405020304" pitchFamily="18" charset="0"/>
                <a:cs typeface="Times New Roman" panose="02020603050405020304" pitchFamily="18" charset="0"/>
              </a:rPr>
              <a:t>Low kurtosis: flat shape</a:t>
            </a:r>
          </a:p>
          <a:p>
            <a:pPr marL="109728"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7D52170-BE66-487E-C731-B52BB2D35E38}"/>
              </a:ext>
            </a:extLst>
          </p:cNvPr>
          <p:cNvPicPr>
            <a:picLocks noChangeAspect="1"/>
          </p:cNvPicPr>
          <p:nvPr/>
        </p:nvPicPr>
        <p:blipFill>
          <a:blip r:embed="rId2"/>
          <a:stretch>
            <a:fillRect/>
          </a:stretch>
        </p:blipFill>
        <p:spPr>
          <a:xfrm>
            <a:off x="609600" y="3048000"/>
            <a:ext cx="8329468" cy="3352800"/>
          </a:xfrm>
          <a:prstGeom prst="rect">
            <a:avLst/>
          </a:prstGeom>
        </p:spPr>
      </p:pic>
    </p:spTree>
    <p:extLst>
      <p:ext uri="{BB962C8B-B14F-4D97-AF65-F5344CB8AC3E}">
        <p14:creationId xmlns:p14="http://schemas.microsoft.com/office/powerpoint/2010/main" val="3775089051"/>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FBB2CDCF-659B-1563-4FC5-CF9348EDA81A}"/>
              </a:ext>
            </a:extLst>
          </p:cNvPr>
          <p:cNvSpPr>
            <a:spLocks noGrp="1" noChangeArrowheads="1"/>
          </p:cNvSpPr>
          <p:nvPr>
            <p:ph type="title"/>
          </p:nvPr>
        </p:nvSpPr>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Measuring the Dispersion of Data</a:t>
            </a:r>
          </a:p>
        </p:txBody>
      </p:sp>
      <p:sp>
        <p:nvSpPr>
          <p:cNvPr id="17412" name="Rectangle 3">
            <a:extLst>
              <a:ext uri="{FF2B5EF4-FFF2-40B4-BE49-F238E27FC236}">
                <a16:creationId xmlns:a16="http://schemas.microsoft.com/office/drawing/2014/main" id="{3E852232-8924-C00C-6666-70FBDDA276AE}"/>
              </a:ext>
            </a:extLst>
          </p:cNvPr>
          <p:cNvSpPr>
            <a:spLocks noGrp="1" noChangeArrowheads="1"/>
          </p:cNvSpPr>
          <p:nvPr>
            <p:ph type="body" sz="half" idx="1"/>
          </p:nvPr>
        </p:nvSpPr>
        <p:spPr>
          <a:xfrm>
            <a:off x="304800" y="1295400"/>
            <a:ext cx="8610600" cy="5029200"/>
          </a:xfrm>
        </p:spPr>
        <p:txBody>
          <a:bodyPr/>
          <a:lstStyle/>
          <a:p>
            <a:pPr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Quartiles, outliers and boxplots</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Quartiles</a:t>
            </a:r>
            <a:r>
              <a:rPr lang="en-US" altLang="en-US" sz="1800" dirty="0">
                <a:latin typeface="Times New Roman" panose="02020603050405020304" pitchFamily="18" charset="0"/>
                <a:cs typeface="Times New Roman" panose="02020603050405020304" pitchFamily="18" charset="0"/>
              </a:rPr>
              <a:t>: Q</a:t>
            </a:r>
            <a:r>
              <a:rPr lang="en-US" altLang="en-US" sz="1800" baseline="-25000" dirty="0">
                <a:latin typeface="Times New Roman" panose="02020603050405020304" pitchFamily="18" charset="0"/>
                <a:cs typeface="Times New Roman" panose="02020603050405020304" pitchFamily="18" charset="0"/>
              </a:rPr>
              <a:t>1</a:t>
            </a:r>
            <a:r>
              <a:rPr lang="en-US" altLang="en-US" sz="1800" dirty="0">
                <a:latin typeface="Times New Roman" panose="02020603050405020304" pitchFamily="18" charset="0"/>
                <a:cs typeface="Times New Roman" panose="02020603050405020304" pitchFamily="18" charset="0"/>
              </a:rPr>
              <a:t> (25</a:t>
            </a:r>
            <a:r>
              <a:rPr lang="en-US" altLang="en-US" sz="1800" baseline="30000" dirty="0">
                <a:latin typeface="Times New Roman" panose="02020603050405020304" pitchFamily="18" charset="0"/>
                <a:cs typeface="Times New Roman" panose="02020603050405020304" pitchFamily="18" charset="0"/>
              </a:rPr>
              <a:t>th</a:t>
            </a:r>
            <a:r>
              <a:rPr lang="en-US" altLang="en-US" sz="1800" dirty="0">
                <a:latin typeface="Times New Roman" panose="02020603050405020304" pitchFamily="18" charset="0"/>
                <a:cs typeface="Times New Roman" panose="02020603050405020304" pitchFamily="18" charset="0"/>
              </a:rPr>
              <a:t> percentile), Q</a:t>
            </a:r>
            <a:r>
              <a:rPr lang="en-US" altLang="en-US" sz="1800" baseline="-25000" dirty="0">
                <a:latin typeface="Times New Roman" panose="02020603050405020304" pitchFamily="18" charset="0"/>
                <a:cs typeface="Times New Roman" panose="02020603050405020304" pitchFamily="18" charset="0"/>
              </a:rPr>
              <a:t>3</a:t>
            </a:r>
            <a:r>
              <a:rPr lang="en-US" altLang="en-US" sz="1800" dirty="0">
                <a:latin typeface="Times New Roman" panose="02020603050405020304" pitchFamily="18" charset="0"/>
                <a:cs typeface="Times New Roman" panose="02020603050405020304" pitchFamily="18" charset="0"/>
              </a:rPr>
              <a:t> (75</a:t>
            </a:r>
            <a:r>
              <a:rPr lang="en-US" altLang="en-US" sz="1800" baseline="30000" dirty="0">
                <a:latin typeface="Times New Roman" panose="02020603050405020304" pitchFamily="18" charset="0"/>
                <a:cs typeface="Times New Roman" panose="02020603050405020304" pitchFamily="18" charset="0"/>
              </a:rPr>
              <a:t>th</a:t>
            </a:r>
            <a:r>
              <a:rPr lang="en-US" altLang="en-US" sz="1800" dirty="0">
                <a:latin typeface="Times New Roman" panose="02020603050405020304" pitchFamily="18" charset="0"/>
                <a:cs typeface="Times New Roman" panose="02020603050405020304" pitchFamily="18" charset="0"/>
              </a:rPr>
              <a:t> percentile)</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Inter-quartile range</a:t>
            </a:r>
            <a:r>
              <a:rPr lang="en-US" altLang="en-US" sz="1800" dirty="0">
                <a:latin typeface="Times New Roman" panose="02020603050405020304" pitchFamily="18" charset="0"/>
                <a:cs typeface="Times New Roman" panose="02020603050405020304" pitchFamily="18" charset="0"/>
              </a:rPr>
              <a:t>: IQR = Q</a:t>
            </a:r>
            <a:r>
              <a:rPr lang="en-US" altLang="en-US" sz="1800" baseline="-25000" dirty="0">
                <a:latin typeface="Times New Roman" panose="02020603050405020304" pitchFamily="18" charset="0"/>
                <a:cs typeface="Times New Roman" panose="02020603050405020304" pitchFamily="18" charset="0"/>
              </a:rPr>
              <a:t>3 </a:t>
            </a:r>
            <a:r>
              <a:rPr lang="en-US" altLang="en-US" sz="1800" dirty="0">
                <a:latin typeface="Times New Roman" panose="02020603050405020304" pitchFamily="18" charset="0"/>
                <a:cs typeface="Times New Roman" panose="02020603050405020304" pitchFamily="18" charset="0"/>
              </a:rPr>
              <a:t>–</a:t>
            </a:r>
            <a:r>
              <a:rPr lang="en-US" altLang="en-US" sz="1800" baseline="-250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Q</a:t>
            </a:r>
            <a:r>
              <a:rPr lang="en-US" altLang="en-US" sz="1800" baseline="-25000" dirty="0">
                <a:latin typeface="Times New Roman" panose="02020603050405020304" pitchFamily="18" charset="0"/>
                <a:cs typeface="Times New Roman" panose="02020603050405020304" pitchFamily="18" charset="0"/>
              </a:rPr>
              <a:t>1 </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Five number summary</a:t>
            </a:r>
            <a:r>
              <a:rPr lang="en-US" altLang="en-US" sz="1800" dirty="0">
                <a:latin typeface="Times New Roman" panose="02020603050405020304" pitchFamily="18" charset="0"/>
                <a:cs typeface="Times New Roman" panose="02020603050405020304" pitchFamily="18" charset="0"/>
              </a:rPr>
              <a:t>: min, Q</a:t>
            </a:r>
            <a:r>
              <a:rPr lang="en-US" altLang="en-US" sz="1800" baseline="-25000" dirty="0">
                <a:latin typeface="Times New Roman" panose="02020603050405020304" pitchFamily="18" charset="0"/>
                <a:cs typeface="Times New Roman" panose="02020603050405020304" pitchFamily="18" charset="0"/>
              </a:rPr>
              <a:t>1</a:t>
            </a:r>
            <a:r>
              <a:rPr lang="en-US" altLang="en-US" sz="1800" dirty="0">
                <a:latin typeface="Times New Roman" panose="02020603050405020304" pitchFamily="18" charset="0"/>
                <a:cs typeface="Times New Roman" panose="02020603050405020304" pitchFamily="18" charset="0"/>
              </a:rPr>
              <a:t>, median,</a:t>
            </a:r>
            <a:r>
              <a:rPr lang="en-US" altLang="en-US" sz="1800" baseline="-250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Q</a:t>
            </a:r>
            <a:r>
              <a:rPr lang="en-US" altLang="en-US" sz="1800" baseline="-25000" dirty="0">
                <a:latin typeface="Times New Roman" panose="02020603050405020304" pitchFamily="18" charset="0"/>
                <a:cs typeface="Times New Roman" panose="02020603050405020304" pitchFamily="18" charset="0"/>
              </a:rPr>
              <a:t>3</a:t>
            </a:r>
            <a:r>
              <a:rPr lang="en-US" altLang="en-US" sz="1800" dirty="0">
                <a:latin typeface="Times New Roman" panose="02020603050405020304" pitchFamily="18" charset="0"/>
                <a:cs typeface="Times New Roman" panose="02020603050405020304" pitchFamily="18" charset="0"/>
              </a:rPr>
              <a:t>, max</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Boxplot</a:t>
            </a:r>
            <a:r>
              <a:rPr lang="en-US" altLang="en-US" sz="1800" dirty="0">
                <a:latin typeface="Times New Roman" panose="02020603050405020304" pitchFamily="18" charset="0"/>
                <a:cs typeface="Times New Roman" panose="02020603050405020304" pitchFamily="18" charset="0"/>
              </a:rPr>
              <a:t>: ends of the box are the quartiles; median is marked; add whiskers, and plot outliers individually</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Outlier</a:t>
            </a:r>
            <a:r>
              <a:rPr lang="en-US" altLang="en-US" sz="1800" dirty="0">
                <a:latin typeface="Times New Roman" panose="02020603050405020304" pitchFamily="18" charset="0"/>
                <a:cs typeface="Times New Roman" panose="02020603050405020304" pitchFamily="18" charset="0"/>
              </a:rPr>
              <a:t>: usually, a value higher/lower than 1.5 x IQR</a:t>
            </a:r>
          </a:p>
          <a:p>
            <a:pPr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Variance and standard deviation (</a:t>
            </a:r>
            <a:r>
              <a:rPr lang="en-US" altLang="en-US" sz="1800" b="1" i="1" dirty="0">
                <a:latin typeface="Times New Roman" panose="02020603050405020304" pitchFamily="18" charset="0"/>
                <a:cs typeface="Times New Roman" panose="02020603050405020304" pitchFamily="18" charset="0"/>
              </a:rPr>
              <a:t>sample:</a:t>
            </a:r>
            <a:r>
              <a:rPr lang="en-US" altLang="en-US" sz="1800" b="1" dirty="0">
                <a:latin typeface="Times New Roman" panose="02020603050405020304" pitchFamily="18" charset="0"/>
                <a:cs typeface="Times New Roman" panose="02020603050405020304" pitchFamily="18" charset="0"/>
              </a:rPr>
              <a:t> </a:t>
            </a:r>
            <a:r>
              <a:rPr lang="en-US" altLang="en-US" sz="1800" b="1" i="1" dirty="0">
                <a:latin typeface="Times New Roman" panose="02020603050405020304" pitchFamily="18" charset="0"/>
                <a:cs typeface="Times New Roman" panose="02020603050405020304" pitchFamily="18" charset="0"/>
              </a:rPr>
              <a:t>s, population: </a:t>
            </a:r>
            <a:r>
              <a:rPr lang="el-GR" altLang="en-US" sz="1800" b="1" i="1" dirty="0">
                <a:latin typeface="Times New Roman" panose="02020603050405020304" pitchFamily="18" charset="0"/>
                <a:cs typeface="Times New Roman" panose="02020603050405020304" pitchFamily="18" charset="0"/>
              </a:rPr>
              <a:t>σ</a:t>
            </a:r>
            <a:r>
              <a:rPr lang="en-US" altLang="en-US" sz="1800" b="1" i="1" dirty="0">
                <a:latin typeface="Times New Roman" panose="02020603050405020304" pitchFamily="18" charset="0"/>
                <a:cs typeface="Times New Roman" panose="02020603050405020304" pitchFamily="18" charset="0"/>
              </a:rPr>
              <a:t>)</a:t>
            </a:r>
            <a:endParaRPr lang="en-US" altLang="en-US" sz="1800" b="1" dirty="0">
              <a:latin typeface="Times New Roman" panose="02020603050405020304" pitchFamily="18" charset="0"/>
              <a:cs typeface="Times New Roman" panose="02020603050405020304" pitchFamily="18" charset="0"/>
            </a:endParaRP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Variance</a:t>
            </a:r>
            <a:r>
              <a:rPr lang="en-US" altLang="en-US" sz="1800" dirty="0">
                <a:latin typeface="Times New Roman" panose="02020603050405020304" pitchFamily="18" charset="0"/>
                <a:cs typeface="Times New Roman" panose="02020603050405020304" pitchFamily="18" charset="0"/>
              </a:rPr>
              <a:t>: (algebraic, scalable computation)</a:t>
            </a:r>
          </a:p>
          <a:p>
            <a:pPr lvl="1" eaLnBrk="1" hangingPunct="1">
              <a:lnSpc>
                <a:spcPct val="130000"/>
              </a:lnSpc>
              <a:buSzPct val="80000"/>
            </a:pPr>
            <a:endParaRPr lang="en-US" altLang="en-US" sz="1800" dirty="0">
              <a:latin typeface="Times New Roman" panose="02020603050405020304" pitchFamily="18" charset="0"/>
              <a:cs typeface="Times New Roman" panose="02020603050405020304" pitchFamily="18" charset="0"/>
            </a:endParaRPr>
          </a:p>
          <a:p>
            <a:pPr lvl="1" eaLnBrk="1" hangingPunct="1">
              <a:lnSpc>
                <a:spcPct val="130000"/>
              </a:lnSpc>
              <a:buSzPct val="80000"/>
            </a:pPr>
            <a:endParaRPr lang="en-US" altLang="en-US" sz="1800" dirty="0">
              <a:latin typeface="Times New Roman" panose="02020603050405020304" pitchFamily="18" charset="0"/>
              <a:cs typeface="Times New Roman" panose="02020603050405020304" pitchFamily="18" charset="0"/>
            </a:endParaRP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Standard deviation</a:t>
            </a:r>
            <a:r>
              <a:rPr lang="en-US" altLang="en-US" sz="1800" i="1" dirty="0">
                <a:latin typeface="Times New Roman" panose="02020603050405020304" pitchFamily="18" charset="0"/>
                <a:cs typeface="Times New Roman" panose="02020603050405020304" pitchFamily="18" charset="0"/>
              </a:rPr>
              <a:t> s (or </a:t>
            </a:r>
            <a:r>
              <a:rPr lang="el-GR" altLang="en-US" sz="1800" i="1" dirty="0">
                <a:latin typeface="Times New Roman" panose="02020603050405020304" pitchFamily="18" charset="0"/>
                <a:cs typeface="Times New Roman" panose="02020603050405020304" pitchFamily="18" charset="0"/>
              </a:rPr>
              <a:t>σ</a:t>
            </a:r>
            <a:r>
              <a:rPr lang="en-US" altLang="en-US" sz="1800" i="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is the square root of variance </a:t>
            </a:r>
            <a:r>
              <a:rPr lang="en-US" altLang="en-US" sz="1800" i="1" dirty="0">
                <a:latin typeface="Times New Roman" panose="02020603050405020304" pitchFamily="18" charset="0"/>
                <a:cs typeface="Times New Roman" panose="02020603050405020304" pitchFamily="18" charset="0"/>
              </a:rPr>
              <a:t>s</a:t>
            </a:r>
            <a:r>
              <a:rPr lang="en-US" altLang="en-US" sz="1800" i="1" baseline="30000" dirty="0">
                <a:latin typeface="Times New Roman" panose="02020603050405020304" pitchFamily="18" charset="0"/>
                <a:cs typeface="Times New Roman" panose="02020603050405020304" pitchFamily="18" charset="0"/>
              </a:rPr>
              <a:t>2 (</a:t>
            </a:r>
            <a:r>
              <a:rPr lang="en-US" altLang="en-US" sz="1800" i="1" dirty="0">
                <a:latin typeface="Times New Roman" panose="02020603050405020304" pitchFamily="18" charset="0"/>
                <a:cs typeface="Times New Roman" panose="02020603050405020304" pitchFamily="18" charset="0"/>
              </a:rPr>
              <a:t>or</a:t>
            </a:r>
            <a:r>
              <a:rPr lang="en-US" altLang="en-US" sz="1800" i="1" baseline="30000" dirty="0">
                <a:latin typeface="Times New Roman" panose="02020603050405020304" pitchFamily="18" charset="0"/>
                <a:cs typeface="Times New Roman" panose="02020603050405020304" pitchFamily="18" charset="0"/>
              </a:rPr>
              <a:t> </a:t>
            </a:r>
            <a:r>
              <a:rPr lang="el-GR" altLang="en-US" sz="1800" i="1" dirty="0">
                <a:latin typeface="Times New Roman" panose="02020603050405020304" pitchFamily="18" charset="0"/>
                <a:cs typeface="Times New Roman" panose="02020603050405020304" pitchFamily="18" charset="0"/>
              </a:rPr>
              <a:t>σ</a:t>
            </a:r>
            <a:r>
              <a:rPr lang="en-US" altLang="en-US" sz="1800" i="1" baseline="30000" dirty="0">
                <a:latin typeface="Times New Roman" panose="02020603050405020304" pitchFamily="18" charset="0"/>
                <a:cs typeface="Times New Roman" panose="02020603050405020304" pitchFamily="18" charset="0"/>
              </a:rPr>
              <a:t>2)</a:t>
            </a:r>
          </a:p>
        </p:txBody>
      </p:sp>
      <p:graphicFrame>
        <p:nvGraphicFramePr>
          <p:cNvPr id="17413" name="Object 10">
            <a:extLst>
              <a:ext uri="{FF2B5EF4-FFF2-40B4-BE49-F238E27FC236}">
                <a16:creationId xmlns:a16="http://schemas.microsoft.com/office/drawing/2014/main" id="{9C872667-F997-4429-E100-6641093A5D6E}"/>
              </a:ext>
            </a:extLst>
          </p:cNvPr>
          <p:cNvGraphicFramePr>
            <a:graphicFrameLocks noChangeAspect="1"/>
          </p:cNvGraphicFramePr>
          <p:nvPr/>
        </p:nvGraphicFramePr>
        <p:xfrm>
          <a:off x="381000" y="5018088"/>
          <a:ext cx="4267200" cy="696912"/>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17413" name="Object 10">
                        <a:extLst>
                          <a:ext uri="{FF2B5EF4-FFF2-40B4-BE49-F238E27FC236}">
                            <a16:creationId xmlns:a16="http://schemas.microsoft.com/office/drawing/2014/main" id="{9C872667-F997-4429-E100-6641093A5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018088"/>
                        <a:ext cx="426720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4" name="Object 11">
            <a:extLst>
              <a:ext uri="{FF2B5EF4-FFF2-40B4-BE49-F238E27FC236}">
                <a16:creationId xmlns:a16="http://schemas.microsoft.com/office/drawing/2014/main" id="{591BF804-239B-B1C8-DA6B-D76EADF0BF44}"/>
              </a:ext>
            </a:extLst>
          </p:cNvPr>
          <p:cNvGraphicFramePr>
            <a:graphicFrameLocks noGrp="1" noChangeAspect="1"/>
          </p:cNvGraphicFramePr>
          <p:nvPr>
            <p:ph sz="half" idx="2"/>
          </p:nvPr>
        </p:nvGraphicFramePr>
        <p:xfrm>
          <a:off x="5105400" y="5054600"/>
          <a:ext cx="3663950" cy="660400"/>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17414" name="Object 11">
                        <a:extLst>
                          <a:ext uri="{FF2B5EF4-FFF2-40B4-BE49-F238E27FC236}">
                            <a16:creationId xmlns:a16="http://schemas.microsoft.com/office/drawing/2014/main" id="{591BF804-239B-B1C8-DA6B-D76EADF0BF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5054600"/>
                        <a:ext cx="366395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1035" descr="box plot">
            <a:extLst>
              <a:ext uri="{FF2B5EF4-FFF2-40B4-BE49-F238E27FC236}">
                <a16:creationId xmlns:a16="http://schemas.microsoft.com/office/drawing/2014/main" id="{79CAB4E3-658B-3BDD-D06E-92E4681B3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288" y="2362200"/>
            <a:ext cx="2830512"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a:extLst>
              <a:ext uri="{FF2B5EF4-FFF2-40B4-BE49-F238E27FC236}">
                <a16:creationId xmlns:a16="http://schemas.microsoft.com/office/drawing/2014/main" id="{C66A4FF5-53D4-E989-0A2B-5321348DC5C1}"/>
              </a:ext>
            </a:extLst>
          </p:cNvPr>
          <p:cNvSpPr>
            <a:spLocks noGrp="1" noChangeArrowheads="1"/>
          </p:cNvSpPr>
          <p:nvPr>
            <p:ph type="title"/>
          </p:nvPr>
        </p:nvSpPr>
        <p:spPr>
          <a:xfrm>
            <a:off x="152400" y="304800"/>
            <a:ext cx="4267200" cy="609600"/>
          </a:xfrm>
        </p:spPr>
        <p:txBody>
          <a:bodyPr>
            <a:normAutofit/>
          </a:bodyPr>
          <a:lstStyle/>
          <a:p>
            <a:pPr eaLnBrk="1" hangingPunct="1"/>
            <a:r>
              <a:rPr lang="en-US" altLang="en-US" sz="3200" dirty="0">
                <a:solidFill>
                  <a:srgbClr val="002060"/>
                </a:solidFill>
                <a:latin typeface="Times New Roman" panose="02020603050405020304" pitchFamily="18" charset="0"/>
                <a:cs typeface="Times New Roman" panose="02020603050405020304" pitchFamily="18" charset="0"/>
              </a:rPr>
              <a:t> Boxplot Analysis</a:t>
            </a:r>
          </a:p>
        </p:txBody>
      </p:sp>
      <p:sp>
        <p:nvSpPr>
          <p:cNvPr id="18437" name="Rectangle 3">
            <a:extLst>
              <a:ext uri="{FF2B5EF4-FFF2-40B4-BE49-F238E27FC236}">
                <a16:creationId xmlns:a16="http://schemas.microsoft.com/office/drawing/2014/main" id="{E65EC437-7CD2-00A2-FA84-B53CA2CF4D15}"/>
              </a:ext>
            </a:extLst>
          </p:cNvPr>
          <p:cNvSpPr>
            <a:spLocks noGrp="1" noChangeArrowheads="1"/>
          </p:cNvSpPr>
          <p:nvPr>
            <p:ph type="body" sz="half" idx="1"/>
          </p:nvPr>
        </p:nvSpPr>
        <p:spPr>
          <a:xfrm>
            <a:off x="381000" y="1371600"/>
            <a:ext cx="6096000" cy="5181600"/>
          </a:xfrm>
        </p:spPr>
        <p:txBody>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Five-number summary</a:t>
            </a:r>
            <a:r>
              <a:rPr lang="en-US" altLang="en-US" sz="2000" dirty="0">
                <a:latin typeface="Times New Roman" panose="02020603050405020304" pitchFamily="18" charset="0"/>
                <a:cs typeface="Times New Roman" panose="02020603050405020304" pitchFamily="18" charset="0"/>
              </a:rPr>
              <a:t> of a distribution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Minimum, Q1, Median, Q3, Maximum</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Boxplot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Data is represented with a box</a:t>
            </a:r>
          </a:p>
          <a:p>
            <a:pPr lvl="1">
              <a:lnSpc>
                <a:spcPct val="120000"/>
              </a:lnSpc>
            </a:pPr>
            <a:r>
              <a:rPr lang="en-US" altLang="en-US" sz="2000" dirty="0">
                <a:latin typeface="Times New Roman" panose="02020603050405020304" pitchFamily="18" charset="0"/>
                <a:cs typeface="Times New Roman" panose="02020603050405020304" pitchFamily="18" charset="0"/>
              </a:rPr>
              <a:t>The ends of the box are at the first and third quartiles, i.e., the height of the box is IQR (</a:t>
            </a:r>
            <a:r>
              <a:rPr lang="en-IN" sz="2000" dirty="0">
                <a:latin typeface="Times New Roman" panose="02020603050405020304" pitchFamily="18" charset="0"/>
                <a:cs typeface="Times New Roman" panose="02020603050405020304" pitchFamily="18" charset="0"/>
              </a:rPr>
              <a:t>Interquartile Range)</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median</a:t>
            </a:r>
            <a:r>
              <a:rPr lang="en-US" altLang="en-US" sz="2000" dirty="0">
                <a:latin typeface="Times New Roman" panose="02020603050405020304" pitchFamily="18" charset="0"/>
                <a:cs typeface="Times New Roman" panose="02020603050405020304" pitchFamily="18" charset="0"/>
              </a:rPr>
              <a:t> is marked by a line within the box</a:t>
            </a:r>
          </a:p>
          <a:p>
            <a:pPr lvl="1" eaLnBrk="1" hangingPunct="1">
              <a:lnSpc>
                <a:spcPct val="120000"/>
              </a:lnSpc>
            </a:pPr>
            <a:r>
              <a:rPr lang="en-US" altLang="en-US" sz="2000" b="1" dirty="0">
                <a:latin typeface="Times New Roman" panose="02020603050405020304" pitchFamily="18" charset="0"/>
                <a:cs typeface="Times New Roman" panose="02020603050405020304" pitchFamily="18" charset="0"/>
              </a:rPr>
              <a:t>Whiskers</a:t>
            </a:r>
            <a:r>
              <a:rPr lang="en-US" altLang="en-US" sz="2000" dirty="0">
                <a:latin typeface="Times New Roman" panose="02020603050405020304" pitchFamily="18" charset="0"/>
                <a:cs typeface="Times New Roman" panose="02020603050405020304" pitchFamily="18" charset="0"/>
              </a:rPr>
              <a:t>: two lines outside the box extended to Minimum and Maximum</a:t>
            </a:r>
          </a:p>
          <a:p>
            <a:pPr lvl="1" eaLnBrk="1" hangingPunct="1">
              <a:lnSpc>
                <a:spcPct val="120000"/>
              </a:lnSpc>
            </a:pPr>
            <a:r>
              <a:rPr lang="en-US" altLang="en-US" sz="2000" b="1" dirty="0">
                <a:latin typeface="Times New Roman" panose="02020603050405020304" pitchFamily="18" charset="0"/>
                <a:cs typeface="Times New Roman" panose="02020603050405020304" pitchFamily="18" charset="0"/>
              </a:rPr>
              <a:t>Outliers</a:t>
            </a:r>
            <a:r>
              <a:rPr lang="en-US" altLang="en-US" sz="2000" dirty="0">
                <a:latin typeface="Times New Roman" panose="02020603050405020304" pitchFamily="18" charset="0"/>
                <a:cs typeface="Times New Roman" panose="02020603050405020304" pitchFamily="18" charset="0"/>
              </a:rPr>
              <a:t>: points beyond a specified outlier threshold, plotted individually</a:t>
            </a:r>
          </a:p>
        </p:txBody>
      </p:sp>
      <p:pic>
        <p:nvPicPr>
          <p:cNvPr id="18438" name="Picture 1038" descr="three">
            <a:extLst>
              <a:ext uri="{FF2B5EF4-FFF2-40B4-BE49-F238E27FC236}">
                <a16:creationId xmlns:a16="http://schemas.microsoft.com/office/drawing/2014/main" id="{B2DE8E3E-5F42-A5D5-3A33-F1DFCD6A3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0175" y="114300"/>
            <a:ext cx="39338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a:extLst>
              <a:ext uri="{FF2B5EF4-FFF2-40B4-BE49-F238E27FC236}">
                <a16:creationId xmlns:a16="http://schemas.microsoft.com/office/drawing/2014/main" id="{DC685F79-9E4A-F3FD-13CB-E6047B1325AB}"/>
              </a:ext>
            </a:extLst>
          </p:cNvPr>
          <p:cNvSpPr>
            <a:spLocks noGrp="1" noChangeArrowheads="1"/>
          </p:cNvSpPr>
          <p:nvPr>
            <p:ph type="title"/>
          </p:nvPr>
        </p:nvSpPr>
        <p:spPr>
          <a:xfrm>
            <a:off x="0" y="381000"/>
            <a:ext cx="9144000" cy="533400"/>
          </a:xfrm>
        </p:spPr>
        <p:txBody>
          <a:bodyPr>
            <a:no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Visualization of Data Dispersion: 3-D Boxplots</a:t>
            </a:r>
          </a:p>
        </p:txBody>
      </p:sp>
      <p:pic>
        <p:nvPicPr>
          <p:cNvPr id="19462" name="Picture 3" descr="1">
            <a:extLst>
              <a:ext uri="{FF2B5EF4-FFF2-40B4-BE49-F238E27FC236}">
                <a16:creationId xmlns:a16="http://schemas.microsoft.com/office/drawing/2014/main" id="{8F0B73B0-A45B-ADD2-2F1D-B541950E3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95400"/>
            <a:ext cx="8458200" cy="523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E4B0447F-59C3-C4E8-055C-503E9F93B6F3}"/>
              </a:ext>
            </a:extLst>
          </p:cNvPr>
          <p:cNvSpPr>
            <a:spLocks noGrp="1" noChangeArrowheads="1"/>
          </p:cNvSpPr>
          <p:nvPr>
            <p:ph type="title"/>
          </p:nvPr>
        </p:nvSpPr>
        <p:spPr>
          <a:xfrm>
            <a:off x="0" y="381000"/>
            <a:ext cx="9144000" cy="609600"/>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Properties of Normal Distribution Curve</a:t>
            </a:r>
          </a:p>
        </p:txBody>
      </p:sp>
      <p:sp>
        <p:nvSpPr>
          <p:cNvPr id="20484" name="Rectangle 3">
            <a:extLst>
              <a:ext uri="{FF2B5EF4-FFF2-40B4-BE49-F238E27FC236}">
                <a16:creationId xmlns:a16="http://schemas.microsoft.com/office/drawing/2014/main" id="{45C7C480-DB88-9DB8-9105-969FA5FCC597}"/>
              </a:ext>
            </a:extLst>
          </p:cNvPr>
          <p:cNvSpPr>
            <a:spLocks noGrp="1" noChangeArrowheads="1"/>
          </p:cNvSpPr>
          <p:nvPr>
            <p:ph type="body" sz="half" idx="1"/>
          </p:nvPr>
        </p:nvSpPr>
        <p:spPr>
          <a:xfrm>
            <a:off x="304800" y="1447800"/>
            <a:ext cx="8686800" cy="2514600"/>
          </a:xfrm>
        </p:spPr>
        <p:txBody>
          <a:bodyPr/>
          <a:lstStyle/>
          <a:p>
            <a:pPr eaLnBrk="1" hangingPunct="1"/>
            <a:r>
              <a:rPr lang="en-US" altLang="en-US" sz="2400" dirty="0">
                <a:solidFill>
                  <a:schemeClr val="tx2"/>
                </a:solidFill>
                <a:latin typeface="Times New Roman" panose="02020603050405020304" pitchFamily="18" charset="0"/>
                <a:cs typeface="Times New Roman" panose="02020603050405020304" pitchFamily="18" charset="0"/>
              </a:rPr>
              <a:t>The normal (distribution) curve</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68% of the measurements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 mean, </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standard deviation)</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 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–2</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+2</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95% of it</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–3</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+3</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99.7% of it</a:t>
            </a:r>
          </a:p>
          <a:p>
            <a:pPr lvl="1" eaLnBrk="1" hangingPunct="1"/>
            <a:endParaRPr lang="en-US" altLang="en-US" sz="2400" dirty="0">
              <a:solidFill>
                <a:schemeClr val="tx2"/>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endParaRPr lang="en-US" altLang="en-US" sz="2000" dirty="0">
              <a:solidFill>
                <a:schemeClr val="hlink"/>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p:txBody>
      </p:sp>
      <p:pic>
        <p:nvPicPr>
          <p:cNvPr id="20485" name="Picture 5" descr="normal1-95">
            <a:extLst>
              <a:ext uri="{FF2B5EF4-FFF2-40B4-BE49-F238E27FC236}">
                <a16:creationId xmlns:a16="http://schemas.microsoft.com/office/drawing/2014/main" id="{78C93226-22B4-F359-C587-5A105E414B0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124200" y="3729038"/>
            <a:ext cx="2895600" cy="2590800"/>
          </a:xfrm>
          <a:noFill/>
        </p:spPr>
      </p:pic>
      <p:pic>
        <p:nvPicPr>
          <p:cNvPr id="20486" name="Picture 7" descr="normal1-68">
            <a:extLst>
              <a:ext uri="{FF2B5EF4-FFF2-40B4-BE49-F238E27FC236}">
                <a16:creationId xmlns:a16="http://schemas.microsoft.com/office/drawing/2014/main" id="{A3EC15C2-99BC-4007-82D7-9FEC63A4E471}"/>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0" y="3886200"/>
            <a:ext cx="2986088" cy="2438400"/>
          </a:xfrm>
          <a:noFill/>
        </p:spPr>
      </p:pic>
      <p:pic>
        <p:nvPicPr>
          <p:cNvPr id="20487" name="Picture 9" descr="normal1-99">
            <a:extLst>
              <a:ext uri="{FF2B5EF4-FFF2-40B4-BE49-F238E27FC236}">
                <a16:creationId xmlns:a16="http://schemas.microsoft.com/office/drawing/2014/main" id="{64970808-2A13-8C0A-FFF1-316BD2136B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7913" y="3810000"/>
            <a:ext cx="298608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B6EDB698-2F81-202D-4E3E-43B8F9974733}"/>
              </a:ext>
            </a:extLst>
          </p:cNvPr>
          <p:cNvSpPr>
            <a:spLocks noGrp="1" noChangeArrowheads="1"/>
          </p:cNvSpPr>
          <p:nvPr>
            <p:ph type="title"/>
          </p:nvPr>
        </p:nvSpPr>
        <p:spPr>
          <a:xfrm>
            <a:off x="0" y="228600"/>
            <a:ext cx="9144000" cy="762000"/>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Graphic Displays of Basic Statistical Descriptions</a:t>
            </a:r>
          </a:p>
        </p:txBody>
      </p:sp>
      <p:sp>
        <p:nvSpPr>
          <p:cNvPr id="21508" name="Rectangle 3">
            <a:extLst>
              <a:ext uri="{FF2B5EF4-FFF2-40B4-BE49-F238E27FC236}">
                <a16:creationId xmlns:a16="http://schemas.microsoft.com/office/drawing/2014/main" id="{34F26467-5D2E-FBCC-5B67-334731849829}"/>
              </a:ext>
            </a:extLst>
          </p:cNvPr>
          <p:cNvSpPr>
            <a:spLocks noGrp="1" noChangeArrowheads="1"/>
          </p:cNvSpPr>
          <p:nvPr>
            <p:ph type="body" idx="1"/>
          </p:nvPr>
        </p:nvSpPr>
        <p:spPr>
          <a:xfrm>
            <a:off x="457200" y="1481328"/>
            <a:ext cx="8077200" cy="4525963"/>
          </a:xfrm>
        </p:spPr>
        <p:txBody>
          <a:bodyPr>
            <a:normAutofit/>
          </a:bodyPr>
          <a:lstStyle/>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Boxplot</a:t>
            </a:r>
            <a:r>
              <a:rPr lang="en-US" altLang="en-US" sz="2000" dirty="0">
                <a:latin typeface="Times New Roman" panose="02020603050405020304" pitchFamily="18" charset="0"/>
                <a:cs typeface="Times New Roman" panose="02020603050405020304" pitchFamily="18" charset="0"/>
              </a:rPr>
              <a:t>: graphic display of five-number summary</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Histogram</a:t>
            </a:r>
            <a:r>
              <a:rPr lang="en-US" altLang="en-US" sz="2000" dirty="0">
                <a:latin typeface="Times New Roman" panose="02020603050405020304" pitchFamily="18" charset="0"/>
                <a:cs typeface="Times New Roman" panose="02020603050405020304" pitchFamily="18" charset="0"/>
              </a:rPr>
              <a:t>: x-axis are values, y-axis </a:t>
            </a:r>
            <a:r>
              <a:rPr lang="en-US" altLang="en-US" sz="2000" dirty="0" err="1">
                <a:latin typeface="Times New Roman" panose="02020603050405020304" pitchFamily="18" charset="0"/>
                <a:cs typeface="Times New Roman" panose="02020603050405020304" pitchFamily="18" charset="0"/>
              </a:rPr>
              <a:t>repres</a:t>
            </a:r>
            <a:r>
              <a:rPr lang="en-US" altLang="en-US" sz="2000" dirty="0">
                <a:latin typeface="Times New Roman" panose="02020603050405020304" pitchFamily="18" charset="0"/>
                <a:cs typeface="Times New Roman" panose="02020603050405020304" pitchFamily="18" charset="0"/>
              </a:rPr>
              <a:t>. frequencies </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Quantile plot</a:t>
            </a:r>
            <a:r>
              <a:rPr lang="en-US" altLang="en-US" sz="2000" dirty="0">
                <a:latin typeface="Times New Roman" panose="02020603050405020304" pitchFamily="18" charset="0"/>
                <a:cs typeface="Times New Roman" panose="02020603050405020304" pitchFamily="18" charset="0"/>
              </a:rPr>
              <a:t>:  each value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is paired with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 </a:t>
            </a:r>
            <a:r>
              <a:rPr lang="en-US" altLang="en-US" sz="2000" dirty="0">
                <a:latin typeface="Times New Roman" panose="02020603050405020304" pitchFamily="18" charset="0"/>
                <a:cs typeface="Times New Roman" panose="02020603050405020304" pitchFamily="18" charset="0"/>
              </a:rPr>
              <a:t> indicating that approximately 100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 </a:t>
            </a:r>
            <a:r>
              <a:rPr lang="en-US" altLang="en-US" sz="2000" dirty="0">
                <a:latin typeface="Times New Roman" panose="02020603050405020304" pitchFamily="18" charset="0"/>
                <a:cs typeface="Times New Roman" panose="02020603050405020304" pitchFamily="18" charset="0"/>
              </a:rPr>
              <a:t>% of data  are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baseline="-25000" dirty="0">
                <a:latin typeface="Times New Roman" panose="02020603050405020304" pitchFamily="18" charset="0"/>
                <a:cs typeface="Times New Roman" panose="02020603050405020304" pitchFamily="18" charset="0"/>
              </a:rPr>
              <a:t> </a:t>
            </a:r>
            <a:endParaRPr lang="en-US" altLang="en-US" sz="2000" dirty="0">
              <a:latin typeface="Times New Roman" panose="02020603050405020304" pitchFamily="18" charset="0"/>
              <a:cs typeface="Times New Roman" panose="02020603050405020304" pitchFamily="18" charset="0"/>
            </a:endParaRP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Quantile-quantile (q-q) plot</a:t>
            </a:r>
            <a:r>
              <a:rPr lang="en-US" altLang="en-US" sz="2000" dirty="0">
                <a:latin typeface="Times New Roman" panose="02020603050405020304" pitchFamily="18" charset="0"/>
                <a:cs typeface="Times New Roman" panose="02020603050405020304" pitchFamily="18" charset="0"/>
              </a:rPr>
              <a:t>: graphs the quantiles of one univariant distribution against the corresponding quantiles of another</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Scatter plot</a:t>
            </a:r>
            <a:r>
              <a:rPr lang="en-US" altLang="en-US" sz="2000" dirty="0">
                <a:latin typeface="Times New Roman" panose="02020603050405020304" pitchFamily="18" charset="0"/>
                <a:cs typeface="Times New Roman" panose="02020603050405020304" pitchFamily="18" charset="0"/>
              </a:rPr>
              <a:t>: each pair of values is a pair of coordinates and plotted as points in the plane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99CC7EE3-3539-2036-3BBA-96F145B26C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B4EC281-AF13-4DA6-A0FF-27E1219CA5E7}" type="slidenum">
              <a:rPr lang="en-US" altLang="en-US" sz="1200"/>
              <a:pPr eaLnBrk="1" hangingPunct="1"/>
              <a:t>28</a:t>
            </a:fld>
            <a:endParaRPr lang="en-US" altLang="en-US" sz="1200"/>
          </a:p>
        </p:txBody>
      </p:sp>
      <p:sp>
        <p:nvSpPr>
          <p:cNvPr id="22531" name="Rectangle 1026">
            <a:extLst>
              <a:ext uri="{FF2B5EF4-FFF2-40B4-BE49-F238E27FC236}">
                <a16:creationId xmlns:a16="http://schemas.microsoft.com/office/drawing/2014/main" id="{8630F626-62CD-72D8-C531-4E6E2ECFBF97}"/>
              </a:ext>
            </a:extLst>
          </p:cNvPr>
          <p:cNvSpPr>
            <a:spLocks noGrp="1" noChangeArrowheads="1"/>
          </p:cNvSpPr>
          <p:nvPr>
            <p:ph type="title"/>
          </p:nvPr>
        </p:nvSpPr>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Histogram Analysis</a:t>
            </a:r>
          </a:p>
        </p:txBody>
      </p:sp>
      <p:sp>
        <p:nvSpPr>
          <p:cNvPr id="22532" name="Rectangle 1027">
            <a:extLst>
              <a:ext uri="{FF2B5EF4-FFF2-40B4-BE49-F238E27FC236}">
                <a16:creationId xmlns:a16="http://schemas.microsoft.com/office/drawing/2014/main" id="{3F95618E-DC05-432F-A4F0-BA1976F86104}"/>
              </a:ext>
            </a:extLst>
          </p:cNvPr>
          <p:cNvSpPr>
            <a:spLocks noGrp="1" noChangeArrowheads="1"/>
          </p:cNvSpPr>
          <p:nvPr>
            <p:ph type="body" sz="half" idx="1"/>
          </p:nvPr>
        </p:nvSpPr>
        <p:spPr>
          <a:xfrm>
            <a:off x="304800" y="1295400"/>
            <a:ext cx="4648200" cy="51816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Histogram: Graph display of tabulated frequencies, shown as bars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It shows what proportion of cases fall into each of several categories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Differs from a bar chart in that it is the </a:t>
            </a:r>
            <a:r>
              <a:rPr lang="en-US" altLang="en-US" sz="2000" i="1" dirty="0">
                <a:latin typeface="Times New Roman" panose="02020603050405020304" pitchFamily="18" charset="0"/>
                <a:cs typeface="Times New Roman" panose="02020603050405020304" pitchFamily="18" charset="0"/>
              </a:rPr>
              <a:t>area</a:t>
            </a:r>
            <a:r>
              <a:rPr lang="en-US" altLang="en-US" sz="2000" dirty="0">
                <a:latin typeface="Times New Roman" panose="02020603050405020304" pitchFamily="18" charset="0"/>
                <a:cs typeface="Times New Roman" panose="02020603050405020304" pitchFamily="18" charset="0"/>
              </a:rPr>
              <a:t> of the bar that denotes the value, not the height as in bar charts, a crucial distinction when the categories are not of uniform width</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The categories are usually specified as non-overlapping intervals of some variable. The categories (bars) must be adjacent</a:t>
            </a:r>
          </a:p>
          <a:p>
            <a:pPr eaLnBrk="1" hangingPunct="1">
              <a:lnSpc>
                <a:spcPct val="110000"/>
              </a:lnSpc>
            </a:pPr>
            <a:endParaRPr lang="en-US" altLang="en-US" sz="1600" dirty="0">
              <a:latin typeface="Times New Roman" panose="02020603050405020304" pitchFamily="18" charset="0"/>
              <a:cs typeface="Times New Roman" panose="02020603050405020304" pitchFamily="18" charset="0"/>
            </a:endParaRPr>
          </a:p>
        </p:txBody>
      </p:sp>
      <p:graphicFrame>
        <p:nvGraphicFramePr>
          <p:cNvPr id="22533" name="Object 1029">
            <a:extLst>
              <a:ext uri="{FF2B5EF4-FFF2-40B4-BE49-F238E27FC236}">
                <a16:creationId xmlns:a16="http://schemas.microsoft.com/office/drawing/2014/main" id="{936270B0-DD03-6D86-6783-0ACD7DF5BDFC}"/>
              </a:ext>
            </a:extLst>
          </p:cNvPr>
          <p:cNvGraphicFramePr>
            <a:graphicFrameLocks noGrp="1"/>
          </p:cNvGraphicFramePr>
          <p:nvPr>
            <p:ph sz="half" idx="2"/>
          </p:nvPr>
        </p:nvGraphicFramePr>
        <p:xfrm>
          <a:off x="4572000" y="1447800"/>
          <a:ext cx="5410200" cy="4343400"/>
        </p:xfrm>
        <a:graphic>
          <a:graphicData uri="http://schemas.openxmlformats.org/presentationml/2006/ole">
            <mc:AlternateContent xmlns:mc="http://schemas.openxmlformats.org/markup-compatibility/2006">
              <mc:Choice xmlns:v="urn:schemas-microsoft-com:vml" Requires="v">
                <p:oleObj name="Chart" r:id="rId3" imgW="9894127" imgH="4810372" progId="MSGraph.Chart.8">
                  <p:embed followColorScheme="full"/>
                </p:oleObj>
              </mc:Choice>
              <mc:Fallback>
                <p:oleObj name="Chart" r:id="rId3" imgW="9894127" imgH="4810372" progId="MSGraph.Chart.8">
                  <p:embed followColorScheme="full"/>
                  <p:pic>
                    <p:nvPicPr>
                      <p:cNvPr id="22533" name="Object 1029">
                        <a:extLst>
                          <a:ext uri="{FF2B5EF4-FFF2-40B4-BE49-F238E27FC236}">
                            <a16:creationId xmlns:a16="http://schemas.microsoft.com/office/drawing/2014/main" id="{936270B0-DD03-6D86-6783-0ACD7DF5BDFC}"/>
                          </a:ext>
                        </a:extLst>
                      </p:cNvPr>
                      <p:cNvPicPr>
                        <a:picLocks noChangeArrowheads="1"/>
                      </p:cNvPicPr>
                      <p:nvPr/>
                    </p:nvPicPr>
                    <p:blipFill>
                      <a:blip r:embed="rId4"/>
                      <a:srcRect/>
                      <a:stretch>
                        <a:fillRect/>
                      </a:stretch>
                    </p:blipFill>
                    <p:spPr bwMode="auto">
                      <a:xfrm>
                        <a:off x="4572000" y="1447800"/>
                        <a:ext cx="54102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D0B1E-9528-D33A-3710-59335EBE2EC4}"/>
              </a:ext>
            </a:extLst>
          </p:cNvPr>
          <p:cNvSpPr>
            <a:spLocks noGrp="1"/>
          </p:cNvSpPr>
          <p:nvPr>
            <p:ph type="title"/>
          </p:nvPr>
        </p:nvSpPr>
        <p:spPr/>
        <p:txBody>
          <a:bodyPr>
            <a:normAutofit/>
          </a:bodyPr>
          <a:lstStyle/>
          <a:p>
            <a:pPr algn="ctr"/>
            <a:r>
              <a:rPr lang="en-US" altLang="en-US" sz="3200" dirty="0">
                <a:solidFill>
                  <a:srgbClr val="002060"/>
                </a:solidFill>
                <a:effectLst/>
                <a:latin typeface="Times New Roman" panose="02020603050405020304" pitchFamily="18" charset="0"/>
                <a:cs typeface="Times New Roman" panose="02020603050405020304" pitchFamily="18" charset="0"/>
              </a:rPr>
              <a:t>Histograms Often Tell More than Boxplots</a:t>
            </a:r>
            <a:endParaRPr lang="en-IN" sz="3200" dirty="0">
              <a:solidFill>
                <a:srgbClr val="002060"/>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744DC4F-3848-3B81-9B37-0FD1B86BDE20}"/>
              </a:ext>
            </a:extLst>
          </p:cNvPr>
          <p:cNvSpPr>
            <a:spLocks noGrp="1"/>
          </p:cNvSpPr>
          <p:nvPr>
            <p:ph type="body" sz="half" idx="1"/>
          </p:nvPr>
        </p:nvSpPr>
        <p:spPr>
          <a:xfrm>
            <a:off x="304800" y="1295400"/>
            <a:ext cx="8229600" cy="5181600"/>
          </a:xfrm>
        </p:spPr>
        <p:txBody>
          <a:bodyPr>
            <a:normAutofit/>
          </a:bodyPr>
          <a:lstStyle/>
          <a:p>
            <a:pPr>
              <a:lnSpc>
                <a:spcPct val="11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The two histograms shown in the left may have the same boxplot representation</a:t>
            </a:r>
          </a:p>
          <a:p>
            <a:pPr lvl="1">
              <a:lnSpc>
                <a:spcPct val="11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The same values for: min, Q1, median, Q3, max</a:t>
            </a:r>
          </a:p>
          <a:p>
            <a:pPr marL="393192" lvl="1" indent="0">
              <a:lnSpc>
                <a:spcPct val="110000"/>
              </a:lnSpc>
              <a:spcBef>
                <a:spcPct val="20000"/>
              </a:spcBef>
              <a:buClr>
                <a:schemeClr val="hlink"/>
              </a:buClr>
              <a:buSzPct val="55000"/>
              <a:buNone/>
            </a:pPr>
            <a:endParaRPr lang="en-US" altLang="en-US" sz="2000" dirty="0">
              <a:latin typeface="Times New Roman" panose="02020603050405020304" pitchFamily="18" charset="0"/>
              <a:cs typeface="Times New Roman" panose="02020603050405020304" pitchFamily="18" charset="0"/>
            </a:endParaRPr>
          </a:p>
          <a:p>
            <a:pPr>
              <a:lnSpc>
                <a:spcPct val="11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But they have rather different data distributions</a:t>
            </a:r>
          </a:p>
          <a:p>
            <a:endParaRPr lang="en-IN" sz="2000" dirty="0">
              <a:latin typeface="Times New Roman" panose="02020603050405020304" pitchFamily="18" charset="0"/>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0EF1C7C0-96ED-7803-A24F-F55A379AE189}"/>
              </a:ext>
            </a:extLst>
          </p:cNvPr>
          <p:cNvGraphicFramePr>
            <a:graphicFrameLocks noChangeAspect="1"/>
          </p:cNvGraphicFramePr>
          <p:nvPr>
            <p:extLst>
              <p:ext uri="{D42A27DB-BD31-4B8C-83A1-F6EECF244321}">
                <p14:modId xmlns:p14="http://schemas.microsoft.com/office/powerpoint/2010/main" val="849708730"/>
              </p:ext>
            </p:extLst>
          </p:nvPr>
        </p:nvGraphicFramePr>
        <p:xfrm>
          <a:off x="425245" y="3733800"/>
          <a:ext cx="3962400" cy="2417763"/>
        </p:xfrm>
        <a:graphic>
          <a:graphicData uri="http://schemas.openxmlformats.org/presentationml/2006/ole">
            <mc:AlternateContent xmlns:mc="http://schemas.openxmlformats.org/markup-compatibility/2006">
              <mc:Choice xmlns:v="urn:schemas-microsoft-com:vml" Requires="v">
                <p:oleObj name="SmartDraw" r:id="rId2" imgW="3063240" imgH="1691640" progId="SmartDraw.2">
                  <p:embed/>
                </p:oleObj>
              </mc:Choice>
              <mc:Fallback>
                <p:oleObj name="SmartDraw" r:id="rId2" imgW="3063240" imgH="1691640" progId="SmartDraw.2">
                  <p:embed/>
                  <p:pic>
                    <p:nvPicPr>
                      <p:cNvPr id="23556" name="Object 4">
                        <a:extLst>
                          <a:ext uri="{FF2B5EF4-FFF2-40B4-BE49-F238E27FC236}">
                            <a16:creationId xmlns:a16="http://schemas.microsoft.com/office/drawing/2014/main" id="{67126BE3-612C-01C0-85EC-1D13FEB03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45" y="3733800"/>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a:extLst>
              <a:ext uri="{FF2B5EF4-FFF2-40B4-BE49-F238E27FC236}">
                <a16:creationId xmlns:a16="http://schemas.microsoft.com/office/drawing/2014/main" id="{04EFBEAC-373A-7858-A338-543B6C969EA6}"/>
              </a:ext>
            </a:extLst>
          </p:cNvPr>
          <p:cNvGraphicFramePr>
            <a:graphicFrameLocks noChangeAspect="1"/>
          </p:cNvGraphicFramePr>
          <p:nvPr>
            <p:extLst>
              <p:ext uri="{D42A27DB-BD31-4B8C-83A1-F6EECF244321}">
                <p14:modId xmlns:p14="http://schemas.microsoft.com/office/powerpoint/2010/main" val="1768546792"/>
              </p:ext>
            </p:extLst>
          </p:nvPr>
        </p:nvGraphicFramePr>
        <p:xfrm>
          <a:off x="4953000" y="3581400"/>
          <a:ext cx="3886200" cy="2433637"/>
        </p:xfrm>
        <a:graphic>
          <a:graphicData uri="http://schemas.openxmlformats.org/presentationml/2006/ole">
            <mc:AlternateContent xmlns:mc="http://schemas.openxmlformats.org/markup-compatibility/2006">
              <mc:Choice xmlns:v="urn:schemas-microsoft-com:vml" Requires="v">
                <p:oleObj name="SmartDraw" r:id="rId4" imgW="3063240" imgH="1691640" progId="SmartDraw.2">
                  <p:embed/>
                </p:oleObj>
              </mc:Choice>
              <mc:Fallback>
                <p:oleObj name="SmartDraw" r:id="rId4" imgW="3063240" imgH="1691640" progId="SmartDraw.2">
                  <p:embed/>
                  <p:pic>
                    <p:nvPicPr>
                      <p:cNvPr id="23557" name="Object 7">
                        <a:extLst>
                          <a:ext uri="{FF2B5EF4-FFF2-40B4-BE49-F238E27FC236}">
                            <a16:creationId xmlns:a16="http://schemas.microsoft.com/office/drawing/2014/main" id="{5AA20C94-33CE-593B-76F8-7CF070E554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3581400"/>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55676933"/>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76FAE6AE-678A-3129-AE68-35A50057D694}"/>
              </a:ext>
            </a:extLst>
          </p:cNvPr>
          <p:cNvSpPr>
            <a:spLocks noGrp="1" noChangeArrowheads="1"/>
          </p:cNvSpPr>
          <p:nvPr>
            <p:ph type="title"/>
          </p:nvPr>
        </p:nvSpPr>
        <p:spPr/>
        <p:txBody>
          <a:bodyPr>
            <a:normAutofit/>
          </a:bodyPr>
          <a:lstStyle/>
          <a:p>
            <a:pPr algn="ctr" eaLnBrk="1" hangingPunct="1"/>
            <a:r>
              <a:rPr lang="en-US" altLang="en-US" sz="3200" dirty="0">
                <a:latin typeface="Times New Roman" panose="02020603050405020304" pitchFamily="18" charset="0"/>
                <a:cs typeface="Times New Roman" panose="02020603050405020304" pitchFamily="18" charset="0"/>
              </a:rPr>
              <a:t>Quantile Plot</a:t>
            </a:r>
          </a:p>
        </p:txBody>
      </p:sp>
      <p:sp>
        <p:nvSpPr>
          <p:cNvPr id="24581" name="Rectangle 3">
            <a:extLst>
              <a:ext uri="{FF2B5EF4-FFF2-40B4-BE49-F238E27FC236}">
                <a16:creationId xmlns:a16="http://schemas.microsoft.com/office/drawing/2014/main" id="{EE326B31-4D06-43D1-7C27-91800709410C}"/>
              </a:ext>
            </a:extLst>
          </p:cNvPr>
          <p:cNvSpPr>
            <a:spLocks noGrp="1" noChangeArrowheads="1"/>
          </p:cNvSpPr>
          <p:nvPr>
            <p:ph type="body" idx="1"/>
          </p:nvPr>
        </p:nvSpPr>
        <p:spPr>
          <a:xfrm>
            <a:off x="304800" y="1331913"/>
            <a:ext cx="8382000" cy="2478087"/>
          </a:xfrm>
        </p:spPr>
        <p:txBody>
          <a:bodyPr>
            <a:norm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Displays all of the data (allowing the user to assess both the overall behavior and unusual occurrences)</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Plots </a:t>
            </a:r>
            <a:r>
              <a:rPr lang="en-US" altLang="en-US" sz="2000" b="1" dirty="0">
                <a:latin typeface="Times New Roman" panose="02020603050405020304" pitchFamily="18" charset="0"/>
                <a:cs typeface="Times New Roman" panose="02020603050405020304" pitchFamily="18" charset="0"/>
              </a:rPr>
              <a:t>quantile</a:t>
            </a:r>
            <a:r>
              <a:rPr lang="en-US" altLang="en-US" sz="2000" dirty="0">
                <a:latin typeface="Times New Roman" panose="02020603050405020304" pitchFamily="18" charset="0"/>
                <a:cs typeface="Times New Roman" panose="02020603050405020304" pitchFamily="18" charset="0"/>
              </a:rPr>
              <a:t> information</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For a data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data sorted in increasing order,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indicates that approximately 100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of the data are below or equal to the value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p>
        </p:txBody>
      </p:sp>
      <p:pic>
        <p:nvPicPr>
          <p:cNvPr id="24582" name="Picture 8">
            <a:extLst>
              <a:ext uri="{FF2B5EF4-FFF2-40B4-BE49-F238E27FC236}">
                <a16:creationId xmlns:a16="http://schemas.microsoft.com/office/drawing/2014/main" id="{A90B5646-8FB5-F895-BA46-339817EAE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602038"/>
            <a:ext cx="5867400" cy="298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EBC6DDF8-1BC8-654B-9217-BA9353C7FC37}"/>
              </a:ext>
            </a:extLst>
          </p:cNvPr>
          <p:cNvSpPr>
            <a:spLocks noGrp="1" noChangeArrowheads="1"/>
          </p:cNvSpPr>
          <p:nvPr>
            <p:ph type="title"/>
          </p:nvPr>
        </p:nvSpPr>
        <p:spPr>
          <a:xfrm>
            <a:off x="457200" y="274638"/>
            <a:ext cx="8229600" cy="563562"/>
          </a:xfrm>
        </p:spPr>
        <p:txBody>
          <a:bodyPr>
            <a:normAutofit fontScale="90000"/>
          </a:bodyPr>
          <a:lstStyle/>
          <a:p>
            <a:pPr algn="ctr" eaLnBrk="1" hangingPunct="1"/>
            <a:r>
              <a:rPr lang="en-US" altLang="en-US" sz="3200" dirty="0">
                <a:latin typeface="Times New Roman" panose="02020603050405020304" pitchFamily="18" charset="0"/>
                <a:cs typeface="Times New Roman" panose="02020603050405020304" pitchFamily="18" charset="0"/>
              </a:rPr>
              <a:t>Quantile-Quantile (Q-Q) Plot</a:t>
            </a:r>
          </a:p>
        </p:txBody>
      </p:sp>
      <p:sp>
        <p:nvSpPr>
          <p:cNvPr id="25604" name="Rectangle 3">
            <a:extLst>
              <a:ext uri="{FF2B5EF4-FFF2-40B4-BE49-F238E27FC236}">
                <a16:creationId xmlns:a16="http://schemas.microsoft.com/office/drawing/2014/main" id="{CF66CCCD-0D9F-2C2C-38AD-3BD353B7E6A4}"/>
              </a:ext>
            </a:extLst>
          </p:cNvPr>
          <p:cNvSpPr>
            <a:spLocks noGrp="1" noChangeArrowheads="1"/>
          </p:cNvSpPr>
          <p:nvPr>
            <p:ph type="body" idx="1"/>
          </p:nvPr>
        </p:nvSpPr>
        <p:spPr>
          <a:xfrm>
            <a:off x="304800" y="853440"/>
            <a:ext cx="8382000" cy="1905000"/>
          </a:xfrm>
        </p:spPr>
        <p:txBody>
          <a:bodyPr>
            <a:norm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Graphs the quantiles of one univariate distribution against the corresponding quantiles of another</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View: Is there is a shift in going from one distribution to another?</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Example shows unit price of items sold at Branch 1 vs. Branch 2 for each quantile.  Unit prices of items sold at Branch 1 tend to be lower than those at Branch 2.</a:t>
            </a:r>
          </a:p>
        </p:txBody>
      </p:sp>
      <p:pic>
        <p:nvPicPr>
          <p:cNvPr id="25605" name="Picture 8">
            <a:extLst>
              <a:ext uri="{FF2B5EF4-FFF2-40B4-BE49-F238E27FC236}">
                <a16:creationId xmlns:a16="http://schemas.microsoft.com/office/drawing/2014/main" id="{DC9A38BC-B87A-9B43-E46D-FEE621162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200400"/>
            <a:ext cx="5343525" cy="306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7561AE6-6F79-E368-266C-D2C237457FB1}"/>
              </a:ext>
            </a:extLst>
          </p:cNvPr>
          <p:cNvSpPr txBox="1"/>
          <p:nvPr/>
        </p:nvSpPr>
        <p:spPr>
          <a:xfrm>
            <a:off x="5672906" y="2362200"/>
            <a:ext cx="2816942" cy="3416320"/>
          </a:xfrm>
          <a:prstGeom prst="rect">
            <a:avLst/>
          </a:prstGeom>
          <a:noFill/>
        </p:spPr>
        <p:txBody>
          <a:bodyPr wrap="square">
            <a:spAutoFit/>
          </a:bodyPr>
          <a:lstStyle/>
          <a:p>
            <a:pPr algn="just"/>
            <a:r>
              <a:rPr lang="en-US" altLang="en-US" b="1" dirty="0">
                <a:latin typeface="Times New Roman" panose="02020603050405020304" pitchFamily="18" charset="0"/>
                <a:cs typeface="Times New Roman" panose="02020603050405020304" pitchFamily="18" charset="0"/>
              </a:rPr>
              <a:t>Note: </a:t>
            </a:r>
            <a:r>
              <a:rPr lang="en-US" altLang="en-US" dirty="0">
                <a:latin typeface="Times New Roman" panose="02020603050405020304" pitchFamily="18" charset="0"/>
                <a:cs typeface="Times New Roman" panose="02020603050405020304" pitchFamily="18" charset="0"/>
              </a:rPr>
              <a:t>We need to </a:t>
            </a:r>
            <a:r>
              <a:rPr lang="en-US" altLang="en-US" b="1" dirty="0">
                <a:latin typeface="Times New Roman" panose="02020603050405020304" pitchFamily="18" charset="0"/>
                <a:cs typeface="Times New Roman" panose="02020603050405020304" pitchFamily="18" charset="0"/>
              </a:rPr>
              <a:t>label</a:t>
            </a:r>
            <a:r>
              <a:rPr lang="en-US" altLang="en-US" dirty="0">
                <a:latin typeface="Times New Roman" panose="02020603050405020304" pitchFamily="18" charset="0"/>
                <a:cs typeface="Times New Roman" panose="02020603050405020304" pitchFamily="18" charset="0"/>
              </a:rPr>
              <a:t> the dark plotted points as </a:t>
            </a:r>
            <a:r>
              <a:rPr lang="en-US" altLang="en-US" b="1" dirty="0">
                <a:latin typeface="Times New Roman" panose="02020603050405020304" pitchFamily="18" charset="0"/>
                <a:cs typeface="Times New Roman" panose="02020603050405020304" pitchFamily="18" charset="0"/>
              </a:rPr>
              <a:t>Q1, Median, Q3</a:t>
            </a:r>
            <a:r>
              <a:rPr lang="en-US" altLang="en-US" dirty="0">
                <a:latin typeface="Times New Roman" panose="02020603050405020304" pitchFamily="18" charset="0"/>
                <a:cs typeface="Times New Roman" panose="02020603050405020304" pitchFamily="18" charset="0"/>
              </a:rPr>
              <a:t> – that would help in understanding this graph.</a:t>
            </a:r>
          </a:p>
          <a:p>
            <a:pPr algn="just"/>
            <a:r>
              <a:rPr lang="en-US" altLang="en-US" b="1" dirty="0">
                <a:latin typeface="Times New Roman" panose="02020603050405020304" pitchFamily="18" charset="0"/>
                <a:cs typeface="Times New Roman" panose="02020603050405020304" pitchFamily="18" charset="0"/>
              </a:rPr>
              <a:t>Tell audience</a:t>
            </a:r>
            <a:r>
              <a:rPr lang="en-US" altLang="en-US" dirty="0">
                <a:latin typeface="Times New Roman" panose="02020603050405020304" pitchFamily="18" charset="0"/>
                <a:cs typeface="Times New Roman" panose="02020603050405020304" pitchFamily="18" charset="0"/>
              </a:rPr>
              <a:t>: There is a shift in distribution of branch 1 WRT branch 2 in that the unit prices of items sold at branch 1 tend to be lower than those at branch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7DD4D224-B25A-931D-ED70-CA3E747DF3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D29ED82-7A0F-4857-8175-4B70438F6613}" type="slidenum">
              <a:rPr lang="en-US" altLang="en-US" sz="1200"/>
              <a:pPr eaLnBrk="1" hangingPunct="1"/>
              <a:t>32</a:t>
            </a:fld>
            <a:endParaRPr lang="en-US" altLang="en-US" sz="1200"/>
          </a:p>
        </p:txBody>
      </p:sp>
      <p:sp>
        <p:nvSpPr>
          <p:cNvPr id="26627" name="Rectangle 1026">
            <a:extLst>
              <a:ext uri="{FF2B5EF4-FFF2-40B4-BE49-F238E27FC236}">
                <a16:creationId xmlns:a16="http://schemas.microsoft.com/office/drawing/2014/main" id="{C54B4E94-3910-570B-C1CF-E6EDC7070A2C}"/>
              </a:ext>
            </a:extLst>
          </p:cNvPr>
          <p:cNvSpPr>
            <a:spLocks noGrp="1" noChangeArrowheads="1"/>
          </p:cNvSpPr>
          <p:nvPr>
            <p:ph type="title"/>
          </p:nvPr>
        </p:nvSpPr>
        <p:spPr>
          <a:xfrm>
            <a:off x="457200" y="274638"/>
            <a:ext cx="8229600" cy="411162"/>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Scatter plot</a:t>
            </a:r>
          </a:p>
        </p:txBody>
      </p:sp>
      <p:sp>
        <p:nvSpPr>
          <p:cNvPr id="26628" name="Rectangle 1027">
            <a:extLst>
              <a:ext uri="{FF2B5EF4-FFF2-40B4-BE49-F238E27FC236}">
                <a16:creationId xmlns:a16="http://schemas.microsoft.com/office/drawing/2014/main" id="{7D4BA9F1-5DFF-2E22-C983-1331DC437997}"/>
              </a:ext>
            </a:extLst>
          </p:cNvPr>
          <p:cNvSpPr>
            <a:spLocks noGrp="1" noChangeArrowheads="1"/>
          </p:cNvSpPr>
          <p:nvPr>
            <p:ph type="body" idx="1"/>
          </p:nvPr>
        </p:nvSpPr>
        <p:spPr>
          <a:xfrm>
            <a:off x="304800" y="1295400"/>
            <a:ext cx="8382000" cy="1779588"/>
          </a:xfrm>
        </p:spPr>
        <p:txBody>
          <a:bodyPr/>
          <a:lstStyle/>
          <a:p>
            <a:pPr eaLnBrk="1" hangingPunct="1"/>
            <a:r>
              <a:rPr lang="en-US" altLang="en-US" sz="2400" dirty="0">
                <a:latin typeface="Times New Roman" panose="02020603050405020304" pitchFamily="18" charset="0"/>
                <a:cs typeface="Times New Roman" panose="02020603050405020304" pitchFamily="18" charset="0"/>
              </a:rPr>
              <a:t>Provides a first look at bivariate data to see clusters of points, outliers, </a:t>
            </a:r>
            <a:r>
              <a:rPr lang="en-US" altLang="en-US" sz="2400" dirty="0" err="1">
                <a:latin typeface="Times New Roman" panose="02020603050405020304" pitchFamily="18" charset="0"/>
                <a:cs typeface="Times New Roman" panose="02020603050405020304" pitchFamily="18" charset="0"/>
              </a:rPr>
              <a:t>etc</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Each pair of values is treated as a pair of coordinates and plotted as points in the plane</a:t>
            </a:r>
          </a:p>
        </p:txBody>
      </p:sp>
      <p:pic>
        <p:nvPicPr>
          <p:cNvPr id="26629" name="Picture 8">
            <a:extLst>
              <a:ext uri="{FF2B5EF4-FFF2-40B4-BE49-F238E27FC236}">
                <a16:creationId xmlns:a16="http://schemas.microsoft.com/office/drawing/2014/main" id="{197F9FF4-5D50-1FCE-29B9-2D5239C20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971800"/>
            <a:ext cx="7391400"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B12F31D3-531A-98A0-4F1A-DE4068890B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6646E72-46AD-4B72-A3AE-B1C704D7BC17}" type="slidenum">
              <a:rPr lang="en-US" altLang="en-US" sz="1200"/>
              <a:pPr eaLnBrk="1" hangingPunct="1"/>
              <a:t>33</a:t>
            </a:fld>
            <a:endParaRPr lang="en-US" altLang="en-US" sz="1200"/>
          </a:p>
        </p:txBody>
      </p:sp>
      <p:sp>
        <p:nvSpPr>
          <p:cNvPr id="27651" name="Rectangle 2">
            <a:extLst>
              <a:ext uri="{FF2B5EF4-FFF2-40B4-BE49-F238E27FC236}">
                <a16:creationId xmlns:a16="http://schemas.microsoft.com/office/drawing/2014/main" id="{372E057B-4580-6DD6-90B9-4FAB2DF23DBB}"/>
              </a:ext>
            </a:extLst>
          </p:cNvPr>
          <p:cNvSpPr>
            <a:spLocks noGrp="1" noChangeArrowheads="1"/>
          </p:cNvSpPr>
          <p:nvPr>
            <p:ph type="title"/>
          </p:nvPr>
        </p:nvSpPr>
        <p:spPr>
          <a:xfrm>
            <a:off x="0" y="228600"/>
            <a:ext cx="9144000" cy="9144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Positively and Negatively Correlated Data</a:t>
            </a:r>
          </a:p>
        </p:txBody>
      </p:sp>
      <p:sp>
        <p:nvSpPr>
          <p:cNvPr id="27652" name="Rectangle 3">
            <a:extLst>
              <a:ext uri="{FF2B5EF4-FFF2-40B4-BE49-F238E27FC236}">
                <a16:creationId xmlns:a16="http://schemas.microsoft.com/office/drawing/2014/main" id="{C777A69F-0E2F-2C67-EFB5-603DA3FDF4C2}"/>
              </a:ext>
            </a:extLst>
          </p:cNvPr>
          <p:cNvSpPr>
            <a:spLocks noGrp="1" noChangeArrowheads="1"/>
          </p:cNvSpPr>
          <p:nvPr>
            <p:ph type="body" idx="1"/>
          </p:nvPr>
        </p:nvSpPr>
        <p:spPr>
          <a:xfrm>
            <a:off x="4191000" y="4906963"/>
            <a:ext cx="4267200" cy="1412875"/>
          </a:xfrm>
          <a:noFill/>
        </p:spPr>
        <p:txBody>
          <a:bodyPr lIns="92075" tIns="46038" rIns="92075" bIns="46038">
            <a:normAutofit fontScale="92500" lnSpcReduction="20000"/>
          </a:bodyPr>
          <a:lstStyle/>
          <a:p>
            <a:pPr eaLnBrk="1" hangingPunct="1">
              <a:lnSpc>
                <a:spcPct val="140000"/>
              </a:lnSpc>
            </a:pPr>
            <a:r>
              <a:rPr lang="en-US" altLang="en-US" sz="1800"/>
              <a:t>The left half fragment is positively correlated</a:t>
            </a:r>
          </a:p>
          <a:p>
            <a:pPr eaLnBrk="1" hangingPunct="1">
              <a:lnSpc>
                <a:spcPct val="140000"/>
              </a:lnSpc>
            </a:pPr>
            <a:r>
              <a:rPr lang="en-US" altLang="en-US" sz="1800"/>
              <a:t>The right half is negative correlated</a:t>
            </a:r>
            <a:endParaRPr lang="en-US" altLang="en-US" sz="1800">
              <a:solidFill>
                <a:schemeClr val="hlink"/>
              </a:solidFill>
            </a:endParaRPr>
          </a:p>
        </p:txBody>
      </p:sp>
      <p:pic>
        <p:nvPicPr>
          <p:cNvPr id="27653" name="Picture 4" descr="ha02correl1">
            <a:extLst>
              <a:ext uri="{FF2B5EF4-FFF2-40B4-BE49-F238E27FC236}">
                <a16:creationId xmlns:a16="http://schemas.microsoft.com/office/drawing/2014/main" id="{83B749CA-D98A-D21E-14FC-44CF9043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5" descr="ha02correl2">
            <a:extLst>
              <a:ext uri="{FF2B5EF4-FFF2-40B4-BE49-F238E27FC236}">
                <a16:creationId xmlns:a16="http://schemas.microsoft.com/office/drawing/2014/main" id="{456A1346-51E0-E82C-B09D-9A31C0A7C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6" descr="fig46">
            <a:extLst>
              <a:ext uri="{FF2B5EF4-FFF2-40B4-BE49-F238E27FC236}">
                <a16:creationId xmlns:a16="http://schemas.microsoft.com/office/drawing/2014/main" id="{00C8DBD8-E14B-B0A0-AF16-4D1E9E2392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angle 7">
            <a:extLst>
              <a:ext uri="{FF2B5EF4-FFF2-40B4-BE49-F238E27FC236}">
                <a16:creationId xmlns:a16="http://schemas.microsoft.com/office/drawing/2014/main" id="{4CB682BC-7C9F-32A3-2233-46D06ADF2140}"/>
              </a:ext>
            </a:extLst>
          </p:cNvPr>
          <p:cNvSpPr>
            <a:spLocks noChangeArrowheads="1"/>
          </p:cNvSpPr>
          <p:nvPr/>
        </p:nvSpPr>
        <p:spPr bwMode="auto">
          <a:xfrm>
            <a:off x="4191000" y="4953000"/>
            <a:ext cx="4267200" cy="1447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FA560C-C797-93D2-0D72-A0B69410DA2D}"/>
              </a:ext>
            </a:extLst>
          </p:cNvPr>
          <p:cNvSpPr>
            <a:spLocks noGrp="1"/>
          </p:cNvSpPr>
          <p:nvPr>
            <p:ph idx="1"/>
          </p:nvPr>
        </p:nvSpPr>
        <p:spPr>
          <a:xfrm>
            <a:off x="489020" y="951244"/>
            <a:ext cx="8229600" cy="3925556"/>
          </a:xfrm>
        </p:spPr>
        <p:txBody>
          <a:bodyPr/>
          <a:lstStyle/>
          <a:p>
            <a:pPr marL="109537" indent="0">
              <a:buNone/>
            </a:pPr>
            <a:r>
              <a:rPr lang="en-IN" sz="1800" dirty="0">
                <a:latin typeface="Times New Roman" panose="02020603050405020304" pitchFamily="18" charset="0"/>
                <a:cs typeface="Times New Roman" panose="02020603050405020304" pitchFamily="18" charset="0"/>
              </a:rPr>
              <a:t>The dataset can be provided by the Industry or downloaded form open source.</a:t>
            </a:r>
          </a:p>
          <a:p>
            <a:pPr marL="109537" indent="0">
              <a:buNone/>
            </a:pPr>
            <a:r>
              <a:rPr lang="en-IN" sz="1800" b="1" dirty="0">
                <a:latin typeface="Times New Roman" panose="02020603050405020304" pitchFamily="18" charset="0"/>
                <a:cs typeface="Times New Roman" panose="02020603050405020304" pitchFamily="18" charset="0"/>
              </a:rPr>
              <a:t>Haberman's Survival Data:</a:t>
            </a:r>
          </a:p>
          <a:p>
            <a:pPr marL="109537" indent="0">
              <a:buNone/>
            </a:pPr>
            <a:r>
              <a:rPr lang="en-IN" sz="1800" dirty="0">
                <a:latin typeface="Times New Roman" panose="02020603050405020304" pitchFamily="18" charset="0"/>
                <a:cs typeface="Times New Roman" panose="02020603050405020304" pitchFamily="18" charset="0"/>
                <a:hlinkClick r:id="rId2"/>
              </a:rPr>
              <a:t>https://www.kaggle.com/datasets/gilsousa/habermans-survival-data-set</a:t>
            </a:r>
            <a:r>
              <a:rPr lang="en-IN" sz="1800" dirty="0">
                <a:latin typeface="Times New Roman" panose="02020603050405020304" pitchFamily="18" charset="0"/>
                <a:cs typeface="Times New Roman" panose="02020603050405020304" pitchFamily="18" charset="0"/>
              </a:rPr>
              <a:t>.</a:t>
            </a:r>
          </a:p>
          <a:p>
            <a:pPr marL="109537" indent="0">
              <a:buNone/>
            </a:pPr>
            <a:r>
              <a:rPr lang="en-US" sz="1800" b="1" dirty="0">
                <a:latin typeface="Times New Roman" panose="02020603050405020304" pitchFamily="18" charset="0"/>
                <a:cs typeface="Times New Roman" panose="02020603050405020304" pitchFamily="18" charset="0"/>
              </a:rPr>
              <a:t>Attribute Information</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Patient’s age at the time of operation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Year of operation (year — 1900,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A number of positive axillary nodes were detected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Survival status (class attribute)</a:t>
            </a:r>
          </a:p>
          <a:p>
            <a:pPr lvl="1"/>
            <a:r>
              <a:rPr lang="en-US" sz="1800" dirty="0">
                <a:latin typeface="Times New Roman" panose="02020603050405020304" pitchFamily="18" charset="0"/>
                <a:cs typeface="Times New Roman" panose="02020603050405020304" pitchFamily="18" charset="0"/>
              </a:rPr>
              <a:t>The patient survived 5 years or longer post-operation.</a:t>
            </a:r>
          </a:p>
          <a:p>
            <a:pPr lvl="1"/>
            <a:r>
              <a:rPr lang="en-US" sz="1800" dirty="0">
                <a:latin typeface="Times New Roman" panose="02020603050405020304" pitchFamily="18" charset="0"/>
                <a:cs typeface="Times New Roman" panose="02020603050405020304" pitchFamily="18" charset="0"/>
              </a:rPr>
              <a:t>The patient died within 5 years post-operation.</a:t>
            </a:r>
          </a:p>
          <a:p>
            <a:pPr marL="109537" indent="0">
              <a:buNone/>
            </a:pPr>
            <a:r>
              <a:rPr lang="en-US" sz="1800" dirty="0">
                <a:latin typeface="Times New Roman" panose="02020603050405020304" pitchFamily="18" charset="0"/>
                <a:cs typeface="Times New Roman" panose="02020603050405020304" pitchFamily="18" charset="0"/>
              </a:rPr>
              <a:t>Attributes 1, 2, and 3 form our features (independent variables), while attribute 4 is our class label (dependent variable).</a:t>
            </a:r>
            <a:endParaRPr lang="en-IN" sz="1800" dirty="0">
              <a:latin typeface="Times New Roman" panose="02020603050405020304" pitchFamily="18" charset="0"/>
              <a:cs typeface="Times New Roman" panose="02020603050405020304" pitchFamily="18" charset="0"/>
            </a:endParaRPr>
          </a:p>
          <a:p>
            <a:pPr marL="109537" indent="0">
              <a:buNone/>
            </a:pP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4826A53-69E1-C1D5-17F5-D8AF4CABC93E}"/>
              </a:ext>
            </a:extLst>
          </p:cNvPr>
          <p:cNvSpPr>
            <a:spLocks noGrp="1"/>
          </p:cNvSpPr>
          <p:nvPr>
            <p:ph type="title"/>
          </p:nvPr>
        </p:nvSpPr>
        <p:spPr>
          <a:xfrm>
            <a:off x="457200" y="274638"/>
            <a:ext cx="8229600" cy="639762"/>
          </a:xfrm>
        </p:spPr>
        <p:txBody>
          <a:bodyPr>
            <a:normAutofit/>
          </a:bodyPr>
          <a:lstStyle/>
          <a:p>
            <a:pPr marL="452437" indent="-342900" algn="ctr"/>
            <a:r>
              <a:rPr lang="en-IN" sz="3200" dirty="0">
                <a:solidFill>
                  <a:srgbClr val="002060"/>
                </a:solidFill>
                <a:latin typeface="Times New Roman" panose="02020603050405020304" pitchFamily="18" charset="0"/>
                <a:cs typeface="Times New Roman" panose="02020603050405020304" pitchFamily="18" charset="0"/>
              </a:rPr>
              <a:t>Dataset Description </a:t>
            </a:r>
            <a:endParaRPr lang="en-IN" sz="3200" dirty="0">
              <a:solidFill>
                <a:srgbClr val="002060"/>
              </a:solidFill>
            </a:endParaRPr>
          </a:p>
        </p:txBody>
      </p:sp>
      <p:pic>
        <p:nvPicPr>
          <p:cNvPr id="5" name="Picture 4">
            <a:extLst>
              <a:ext uri="{FF2B5EF4-FFF2-40B4-BE49-F238E27FC236}">
                <a16:creationId xmlns:a16="http://schemas.microsoft.com/office/drawing/2014/main" id="{B923AE94-CCCC-5188-258F-81B8F01CFD6D}"/>
              </a:ext>
            </a:extLst>
          </p:cNvPr>
          <p:cNvPicPr>
            <a:picLocks noChangeAspect="1"/>
          </p:cNvPicPr>
          <p:nvPr/>
        </p:nvPicPr>
        <p:blipFill>
          <a:blip r:embed="rId3"/>
          <a:stretch>
            <a:fillRect/>
          </a:stretch>
        </p:blipFill>
        <p:spPr>
          <a:xfrm>
            <a:off x="2512368" y="4799265"/>
            <a:ext cx="5976620" cy="1906335"/>
          </a:xfrm>
          <a:prstGeom prst="rect">
            <a:avLst/>
          </a:prstGeom>
        </p:spPr>
      </p:pic>
    </p:spTree>
    <p:extLst>
      <p:ext uri="{BB962C8B-B14F-4D97-AF65-F5344CB8AC3E}">
        <p14:creationId xmlns:p14="http://schemas.microsoft.com/office/powerpoint/2010/main" val="1835599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9452B-2C95-938F-DEAC-F189F77E7B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EC4F4-0158-09AE-7C0D-C9A86DD4B5D2}"/>
              </a:ext>
            </a:extLst>
          </p:cNvPr>
          <p:cNvSpPr>
            <a:spLocks noGrp="1"/>
          </p:cNvSpPr>
          <p:nvPr>
            <p:ph idx="1"/>
          </p:nvPr>
        </p:nvSpPr>
        <p:spPr/>
        <p:txBody>
          <a:bodyPr/>
          <a:lstStyle/>
          <a:p>
            <a:pPr marL="109537" indent="0">
              <a:buNone/>
            </a:pPr>
            <a:r>
              <a:rPr lang="en-IN" sz="1800" b="1" dirty="0">
                <a:solidFill>
                  <a:srgbClr val="002060"/>
                </a:solidFill>
                <a:latin typeface="Times New Roman" panose="02020603050405020304" pitchFamily="18" charset="0"/>
                <a:cs typeface="Times New Roman" panose="02020603050405020304" pitchFamily="18" charset="0"/>
              </a:rPr>
              <a:t>Importing Libraries</a:t>
            </a:r>
            <a:endParaRPr lang="en-IN" sz="18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as np</a:t>
            </a:r>
          </a:p>
          <a:p>
            <a:r>
              <a:rPr lang="en-IN" sz="1800" dirty="0">
                <a:latin typeface="Times New Roman" panose="02020603050405020304" pitchFamily="18" charset="0"/>
                <a:cs typeface="Times New Roman" panose="02020603050405020304" pitchFamily="18" charset="0"/>
              </a:rPr>
              <a:t>import pandas as pd </a:t>
            </a: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matplotlib.pyplot</a:t>
            </a:r>
            <a:r>
              <a:rPr lang="en-IN" sz="1800" dirty="0">
                <a:latin typeface="Times New Roman" panose="02020603050405020304" pitchFamily="18" charset="0"/>
                <a:cs typeface="Times New Roman" panose="02020603050405020304" pitchFamily="18" charset="0"/>
              </a:rPr>
              <a:t> as </a:t>
            </a:r>
            <a:r>
              <a:rPr lang="en-IN" sz="1800" dirty="0" err="1">
                <a:latin typeface="Times New Roman" panose="02020603050405020304" pitchFamily="18" charset="0"/>
                <a:cs typeface="Times New Roman" panose="02020603050405020304" pitchFamily="18" charset="0"/>
              </a:rPr>
              <a:t>plt</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import seaborn as </a:t>
            </a:r>
            <a:r>
              <a:rPr lang="en-IN" sz="1800" dirty="0" err="1">
                <a:latin typeface="Times New Roman" panose="02020603050405020304" pitchFamily="18" charset="0"/>
                <a:cs typeface="Times New Roman" panose="02020603050405020304" pitchFamily="18" charset="0"/>
              </a:rPr>
              <a:t>sns</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scipy.stats</a:t>
            </a:r>
            <a:r>
              <a:rPr lang="en-IN" sz="1800" dirty="0">
                <a:latin typeface="Times New Roman" panose="02020603050405020304" pitchFamily="18" charset="0"/>
                <a:cs typeface="Times New Roman" panose="02020603050405020304" pitchFamily="18" charset="0"/>
              </a:rPr>
              <a:t> as stats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109537" indent="0">
              <a:buNone/>
            </a:pPr>
            <a:r>
              <a:rPr lang="en-US" sz="1800" b="1" dirty="0">
                <a:solidFill>
                  <a:srgbClr val="002060"/>
                </a:solidFill>
                <a:latin typeface="Times New Roman" panose="02020603050405020304" pitchFamily="18" charset="0"/>
                <a:cs typeface="Times New Roman" panose="02020603050405020304" pitchFamily="18" charset="0"/>
              </a:rPr>
              <a:t>Load the dataset in pandas </a:t>
            </a:r>
            <a:r>
              <a:rPr lang="en-US" sz="1800" b="1" dirty="0" err="1">
                <a:solidFill>
                  <a:srgbClr val="002060"/>
                </a:solidFill>
                <a:latin typeface="Times New Roman" panose="02020603050405020304" pitchFamily="18" charset="0"/>
                <a:cs typeface="Times New Roman" panose="02020603050405020304" pitchFamily="18" charset="0"/>
              </a:rPr>
              <a:t>dataframe</a:t>
            </a:r>
            <a:r>
              <a:rPr lang="en-US" sz="1800" b="1" dirty="0">
                <a:solidFill>
                  <a:srgbClr val="002060"/>
                </a:solidFill>
                <a:latin typeface="Times New Roman" panose="02020603050405020304" pitchFamily="18" charset="0"/>
                <a:cs typeface="Times New Roman" panose="02020603050405020304" pitchFamily="18" charset="0"/>
              </a:rPr>
              <a:t>:</a:t>
            </a:r>
            <a:endParaRPr lang="en-IN" sz="1800" b="1" dirty="0">
              <a:solidFill>
                <a:srgbClr val="002060"/>
              </a:solidFill>
              <a:latin typeface="Times New Roman" panose="02020603050405020304" pitchFamily="18" charset="0"/>
              <a:cs typeface="Times New Roman" panose="02020603050405020304" pitchFamily="18" charset="0"/>
            </a:endParaRPr>
          </a:p>
          <a:p>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pd.read_csv</a:t>
            </a:r>
            <a:r>
              <a:rPr lang="en-IN" sz="1800" dirty="0">
                <a:latin typeface="Times New Roman" panose="02020603050405020304" pitchFamily="18" charset="0"/>
                <a:cs typeface="Times New Roman" panose="02020603050405020304" pitchFamily="18" charset="0"/>
              </a:rPr>
              <a:t>('haberman.csv', header = 0)</a:t>
            </a:r>
          </a:p>
          <a:p>
            <a:r>
              <a:rPr lang="en-IN" sz="1800" dirty="0" err="1">
                <a:latin typeface="Times New Roman" panose="02020603050405020304" pitchFamily="18" charset="0"/>
                <a:cs typeface="Times New Roman" panose="02020603050405020304" pitchFamily="18" charset="0"/>
              </a:rPr>
              <a:t>df.columns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patient_age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operation_year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positive_axillary_nodes</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4000A106-E74A-892F-9356-93B78BCD561A}"/>
              </a:ext>
            </a:extLst>
          </p:cNvPr>
          <p:cNvSpPr>
            <a:spLocks noGrp="1"/>
          </p:cNvSpPr>
          <p:nvPr>
            <p:ph type="title"/>
          </p:nvPr>
        </p:nvSpPr>
        <p:spPr>
          <a:xfrm>
            <a:off x="457200" y="274638"/>
            <a:ext cx="8229600" cy="792162"/>
          </a:xfrm>
        </p:spPr>
        <p:txBody>
          <a:bodyPr>
            <a:normAutofit/>
          </a:bodyPr>
          <a:lstStyle/>
          <a:p>
            <a:pPr marL="452437" indent="-342900" algn="ctr"/>
            <a:r>
              <a:rPr lang="en-IN" sz="3600" dirty="0">
                <a:solidFill>
                  <a:srgbClr val="002060"/>
                </a:solidFill>
                <a:effectLst/>
                <a:latin typeface="Times New Roman" panose="02020603050405020304" pitchFamily="18" charset="0"/>
                <a:cs typeface="Times New Roman" panose="02020603050405020304" pitchFamily="18" charset="0"/>
              </a:rPr>
              <a:t>Importing Libraries and Loading Data</a:t>
            </a:r>
            <a:endParaRPr lang="en-IN" dirty="0"/>
          </a:p>
        </p:txBody>
      </p:sp>
    </p:spTree>
    <p:extLst>
      <p:ext uri="{BB962C8B-B14F-4D97-AF65-F5344CB8AC3E}">
        <p14:creationId xmlns:p14="http://schemas.microsoft.com/office/powerpoint/2010/main" val="3786410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13B0-1276-F39E-E6D3-F91623299019}"/>
              </a:ext>
            </a:extLst>
          </p:cNvPr>
          <p:cNvSpPr>
            <a:spLocks noGrp="1"/>
          </p:cNvSpPr>
          <p:nvPr>
            <p:ph idx="1"/>
          </p:nvPr>
        </p:nvSpPr>
        <p:spPr>
          <a:xfrm>
            <a:off x="457200" y="914400"/>
            <a:ext cx="8458200" cy="4038600"/>
          </a:xfrm>
        </p:spPr>
        <p:txBody>
          <a:bodyPr/>
          <a:lstStyle/>
          <a:p>
            <a:pPr marL="109537" indent="0">
              <a:buNone/>
            </a:pPr>
            <a:r>
              <a:rPr lang="en-US" sz="1800" dirty="0">
                <a:latin typeface="Times New Roman" panose="02020603050405020304" pitchFamily="18" charset="0"/>
                <a:cs typeface="Times New Roman" panose="02020603050405020304" pitchFamily="18" charset="0"/>
              </a:rPr>
              <a:t>To understand the dataset, let’s just see the first few rows.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df.head</a:t>
            </a:r>
            <a:r>
              <a:rPr lang="en-IN" sz="1800" dirty="0">
                <a:latin typeface="Times New Roman" panose="02020603050405020304" pitchFamily="18" charset="0"/>
                <a:cs typeface="Times New Roman" panose="02020603050405020304" pitchFamily="18" charset="0"/>
              </a:rPr>
              <a:t>())</a:t>
            </a:r>
          </a:p>
          <a:p>
            <a:pPr marL="109537" indent="0">
              <a:buNone/>
            </a:pPr>
            <a:r>
              <a:rPr lang="en-US" sz="1800" dirty="0">
                <a:latin typeface="Times New Roman" panose="02020603050405020304" pitchFamily="18" charset="0"/>
                <a:cs typeface="Times New Roman" panose="02020603050405020304" pitchFamily="18" charset="0"/>
              </a:rPr>
              <a:t>To understand the size of the dataset, we check its shape.</a:t>
            </a:r>
          </a:p>
          <a:p>
            <a:r>
              <a:rPr lang="en-IN" sz="1800" dirty="0" err="1">
                <a:latin typeface="Times New Roman" panose="02020603050405020304" pitchFamily="18" charset="0"/>
                <a:cs typeface="Times New Roman" panose="02020603050405020304" pitchFamily="18" charset="0"/>
              </a:rPr>
              <a:t>df.shape</a:t>
            </a:r>
            <a:endParaRPr lang="en-IN" sz="1800" dirty="0">
              <a:latin typeface="Times New Roman" panose="02020603050405020304" pitchFamily="18" charset="0"/>
              <a:cs typeface="Times New Roman" panose="02020603050405020304" pitchFamily="18" charset="0"/>
            </a:endParaRPr>
          </a:p>
          <a:p>
            <a:pPr marL="109537" indent="0">
              <a:buNone/>
            </a:pPr>
            <a:r>
              <a:rPr lang="en-IN" sz="2400" b="1" dirty="0">
                <a:latin typeface="Times New Roman" panose="02020603050405020304" pitchFamily="18" charset="0"/>
                <a:cs typeface="Times New Roman" panose="02020603050405020304" pitchFamily="18" charset="0"/>
              </a:rPr>
              <a:t>Output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(305, 4)</a:t>
            </a:r>
          </a:p>
          <a:p>
            <a:pPr marL="109537" indent="0">
              <a:buNone/>
            </a:pPr>
            <a:r>
              <a:rPr lang="en-IN" sz="1800" b="1" dirty="0">
                <a:latin typeface="Times New Roman" panose="02020603050405020304" pitchFamily="18" charset="0"/>
                <a:cs typeface="Times New Roman" panose="02020603050405020304" pitchFamily="18" charset="0"/>
              </a:rPr>
              <a:t>To Check for Missing Values</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print("Missing values in each column:\n", </a:t>
            </a:r>
            <a:r>
              <a:rPr lang="en-US" sz="1800" dirty="0" err="1">
                <a:latin typeface="Times New Roman" panose="02020603050405020304" pitchFamily="18" charset="0"/>
                <a:cs typeface="Times New Roman" panose="02020603050405020304" pitchFamily="18" charset="0"/>
              </a:rPr>
              <a:t>df.isnull</a:t>
            </a:r>
            <a:r>
              <a:rPr lang="en-US" sz="1800" dirty="0">
                <a:latin typeface="Times New Roman" panose="02020603050405020304" pitchFamily="18" charset="0"/>
                <a:cs typeface="Times New Roman" panose="02020603050405020304" pitchFamily="18" charset="0"/>
              </a:rPr>
              <a:t>().sum())</a:t>
            </a:r>
          </a:p>
          <a:p>
            <a:endParaRPr lang="en-US" sz="1800" dirty="0">
              <a:latin typeface="Times New Roman" panose="02020603050405020304" pitchFamily="18" charset="0"/>
              <a:cs typeface="Times New Roman" panose="02020603050405020304" pitchFamily="18" charset="0"/>
            </a:endParaRPr>
          </a:p>
          <a:p>
            <a:pPr marL="109537" indent="0">
              <a:buNone/>
            </a:pPr>
            <a:r>
              <a:rPr lang="en-US" sz="1800" b="1" dirty="0">
                <a:latin typeface="Times New Roman" panose="02020603050405020304" pitchFamily="18" charset="0"/>
                <a:cs typeface="Times New Roman" panose="02020603050405020304" pitchFamily="18" charset="0"/>
              </a:rPr>
              <a:t>For Data Information: </a:t>
            </a:r>
            <a:r>
              <a:rPr lang="en-US" sz="1800" dirty="0">
                <a:latin typeface="Times New Roman" panose="02020603050405020304" pitchFamily="18" charset="0"/>
                <a:cs typeface="Times New Roman" panose="02020603050405020304" pitchFamily="18" charset="0"/>
              </a:rPr>
              <a:t>Let’s get a summary of the dataset to understand the data types and further verify the absence of missing values.</a:t>
            </a:r>
          </a:p>
          <a:p>
            <a:r>
              <a:rPr lang="en-US" sz="1800" dirty="0">
                <a:latin typeface="Times New Roman" panose="02020603050405020304" pitchFamily="18" charset="0"/>
                <a:cs typeface="Times New Roman" panose="02020603050405020304" pitchFamily="18" charset="0"/>
              </a:rPr>
              <a:t>df.info()</a:t>
            </a:r>
          </a:p>
          <a:p>
            <a:pPr marL="109537"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D82753F-EBA4-734E-A9A2-D53DA0485699}"/>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endParaRPr lang="en-IN" sz="3200" dirty="0">
              <a:solidFill>
                <a:srgbClr val="002060"/>
              </a:solidFill>
              <a:effectLst/>
            </a:endParaRPr>
          </a:p>
        </p:txBody>
      </p:sp>
      <p:pic>
        <p:nvPicPr>
          <p:cNvPr id="4" name="Picture 3">
            <a:extLst>
              <a:ext uri="{FF2B5EF4-FFF2-40B4-BE49-F238E27FC236}">
                <a16:creationId xmlns:a16="http://schemas.microsoft.com/office/drawing/2014/main" id="{DEB3BBC1-7E7C-3D7B-944D-368B7F80E88F}"/>
              </a:ext>
            </a:extLst>
          </p:cNvPr>
          <p:cNvPicPr>
            <a:picLocks noChangeAspect="1"/>
          </p:cNvPicPr>
          <p:nvPr/>
        </p:nvPicPr>
        <p:blipFill>
          <a:blip r:embed="rId2"/>
          <a:stretch>
            <a:fillRect/>
          </a:stretch>
        </p:blipFill>
        <p:spPr>
          <a:xfrm>
            <a:off x="2512368" y="4799265"/>
            <a:ext cx="5976620" cy="1906335"/>
          </a:xfrm>
          <a:prstGeom prst="rect">
            <a:avLst/>
          </a:prstGeom>
        </p:spPr>
      </p:pic>
    </p:spTree>
    <p:extLst>
      <p:ext uri="{BB962C8B-B14F-4D97-AF65-F5344CB8AC3E}">
        <p14:creationId xmlns:p14="http://schemas.microsoft.com/office/powerpoint/2010/main" val="1686660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9E61-9148-9FE9-2EA1-0F7B2B8FAB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98EC07-A6E1-3968-CC97-28FB477760D7}"/>
              </a:ext>
            </a:extLst>
          </p:cNvPr>
          <p:cNvSpPr>
            <a:spLocks noGrp="1"/>
          </p:cNvSpPr>
          <p:nvPr>
            <p:ph idx="1"/>
          </p:nvPr>
        </p:nvSpPr>
        <p:spPr>
          <a:xfrm>
            <a:off x="457200" y="935334"/>
            <a:ext cx="8229600" cy="34718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Data Preparation:</a:t>
            </a:r>
          </a:p>
          <a:p>
            <a:pPr lvl="1"/>
            <a:r>
              <a:rPr lang="en-US" sz="1800" dirty="0">
                <a:latin typeface="Times New Roman" panose="02020603050405020304" pitchFamily="18" charset="0"/>
                <a:cs typeface="Times New Roman" panose="02020603050405020304" pitchFamily="18" charset="0"/>
              </a:rPr>
              <a:t>Before proceeding with statistical analysis and visualization, we need to modify the original class labels. The current labels are 1 (survived 5 years or more) and 2 (died within 5 years), which are not very descriptive. We’ll map these to more intuitive categorical variables: ‘</a:t>
            </a:r>
            <a:r>
              <a:rPr lang="en-US" sz="1800" dirty="0" err="1">
                <a:latin typeface="Times New Roman" panose="02020603050405020304" pitchFamily="18" charset="0"/>
                <a:cs typeface="Times New Roman" panose="02020603050405020304" pitchFamily="18" charset="0"/>
              </a:rPr>
              <a:t>yes’</a:t>
            </a:r>
            <a:r>
              <a:rPr lang="en-US" sz="1800" dirty="0">
                <a:latin typeface="Times New Roman" panose="02020603050405020304" pitchFamily="18" charset="0"/>
                <a:cs typeface="Times New Roman" panose="02020603050405020304" pitchFamily="18" charset="0"/>
              </a:rPr>
              <a:t> for survival and ‘no’ for non-survival.</a:t>
            </a:r>
          </a:p>
          <a:p>
            <a:pPr lvl="1"/>
            <a:endParaRPr lang="en-IN" sz="1800" dirty="0">
              <a:latin typeface="Times New Roman" panose="02020603050405020304" pitchFamily="18" charset="0"/>
              <a:cs typeface="Times New Roman" panose="02020603050405020304" pitchFamily="18" charset="0"/>
            </a:endParaRPr>
          </a:p>
          <a:p>
            <a:pPr marL="392113" lvl="1" indent="0">
              <a:buNone/>
            </a:pPr>
            <a:r>
              <a:rPr lang="en-IN" sz="1800" dirty="0">
                <a:latin typeface="Times New Roman" panose="02020603050405020304" pitchFamily="18" charset="0"/>
                <a:cs typeface="Times New Roman" panose="02020603050405020304" pitchFamily="18" charset="0"/>
              </a:rPr>
              <a:t># Map survival status values to categorical variables '</a:t>
            </a:r>
            <a:r>
              <a:rPr lang="en-IN" sz="1800" dirty="0" err="1">
                <a:latin typeface="Times New Roman" panose="02020603050405020304" pitchFamily="18" charset="0"/>
                <a:cs typeface="Times New Roman" panose="02020603050405020304" pitchFamily="18" charset="0"/>
              </a:rPr>
              <a:t>yes'</a:t>
            </a:r>
            <a:r>
              <a:rPr lang="en-IN" sz="1800" dirty="0">
                <a:latin typeface="Times New Roman" panose="02020603050405020304" pitchFamily="18" charset="0"/>
                <a:cs typeface="Times New Roman" panose="02020603050405020304" pitchFamily="18" charset="0"/>
              </a:rPr>
              <a:t> and 'no'</a:t>
            </a:r>
          </a:p>
          <a:p>
            <a:pPr lvl="1"/>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'].map({1: 'yes', 2: 'no'})</a:t>
            </a:r>
          </a:p>
          <a:p>
            <a:pPr lvl="1"/>
            <a:endParaRPr lang="en-IN" sz="1800" dirty="0">
              <a:latin typeface="Times New Roman" panose="02020603050405020304" pitchFamily="18" charset="0"/>
              <a:cs typeface="Times New Roman" panose="02020603050405020304" pitchFamily="18" charset="0"/>
            </a:endParaRPr>
          </a:p>
          <a:p>
            <a:pPr marL="392113" lvl="1" indent="0">
              <a:buNone/>
            </a:pPr>
            <a:r>
              <a:rPr lang="en-IN" sz="1800" dirty="0">
                <a:latin typeface="Times New Roman" panose="02020603050405020304" pitchFamily="18" charset="0"/>
                <a:cs typeface="Times New Roman" panose="02020603050405020304" pitchFamily="18" charset="0"/>
              </a:rPr>
              <a:t># Display the updated </a:t>
            </a:r>
            <a:r>
              <a:rPr lang="en-IN" sz="1800" dirty="0" err="1">
                <a:latin typeface="Times New Roman" panose="02020603050405020304" pitchFamily="18" charset="0"/>
                <a:cs typeface="Times New Roman" panose="02020603050405020304" pitchFamily="18" charset="0"/>
              </a:rPr>
              <a:t>DataFrame</a:t>
            </a:r>
            <a:r>
              <a:rPr lang="en-IN" sz="1800" dirty="0">
                <a:latin typeface="Times New Roman" panose="02020603050405020304" pitchFamily="18" charset="0"/>
                <a:cs typeface="Times New Roman" panose="02020603050405020304" pitchFamily="18" charset="0"/>
              </a:rPr>
              <a:t> to verify changes</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df.head</a:t>
            </a:r>
            <a:r>
              <a:rPr lang="en-IN" sz="18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BBA59587-B6C3-8276-313B-2C679F167F24}"/>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400" dirty="0">
                <a:solidFill>
                  <a:srgbClr val="002060"/>
                </a:solidFill>
                <a:latin typeface="Times New Roman" panose="02020603050405020304" pitchFamily="18" charset="0"/>
                <a:cs typeface="Times New Roman" panose="02020603050405020304" pitchFamily="18" charset="0"/>
              </a:rPr>
              <a:t>Data Preparation</a:t>
            </a:r>
            <a:endParaRPr lang="en-IN" sz="2400" dirty="0">
              <a:solidFill>
                <a:srgbClr val="002060"/>
              </a:solidFill>
              <a:effectLst/>
            </a:endParaRPr>
          </a:p>
        </p:txBody>
      </p:sp>
      <p:pic>
        <p:nvPicPr>
          <p:cNvPr id="5" name="Picture 4">
            <a:extLst>
              <a:ext uri="{FF2B5EF4-FFF2-40B4-BE49-F238E27FC236}">
                <a16:creationId xmlns:a16="http://schemas.microsoft.com/office/drawing/2014/main" id="{97D2B029-8A66-AC62-0675-DB49F0B32072}"/>
              </a:ext>
            </a:extLst>
          </p:cNvPr>
          <p:cNvPicPr>
            <a:picLocks noChangeAspect="1"/>
          </p:cNvPicPr>
          <p:nvPr/>
        </p:nvPicPr>
        <p:blipFill>
          <a:blip r:embed="rId2"/>
          <a:stretch>
            <a:fillRect/>
          </a:stretch>
        </p:blipFill>
        <p:spPr>
          <a:xfrm>
            <a:off x="304800" y="4469902"/>
            <a:ext cx="8646796" cy="1930898"/>
          </a:xfrm>
          <a:prstGeom prst="rect">
            <a:avLst/>
          </a:prstGeom>
        </p:spPr>
      </p:pic>
    </p:spTree>
    <p:extLst>
      <p:ext uri="{BB962C8B-B14F-4D97-AF65-F5344CB8AC3E}">
        <p14:creationId xmlns:p14="http://schemas.microsoft.com/office/powerpoint/2010/main" val="2802212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0FAD-BF52-C31F-893C-B2AF9AF57D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8F15EE-871F-E3D5-E18E-3E487FA29285}"/>
              </a:ext>
            </a:extLst>
          </p:cNvPr>
          <p:cNvSpPr>
            <a:spLocks noGrp="1"/>
          </p:cNvSpPr>
          <p:nvPr>
            <p:ph idx="1"/>
          </p:nvPr>
        </p:nvSpPr>
        <p:spPr>
          <a:xfrm>
            <a:off x="36844" y="1066800"/>
            <a:ext cx="8802356" cy="1676400"/>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General Statistical Analysis:</a:t>
            </a:r>
          </a:p>
          <a:p>
            <a:pPr lvl="1"/>
            <a:r>
              <a:rPr lang="en-US" sz="1800" dirty="0">
                <a:latin typeface="Times New Roman" panose="02020603050405020304" pitchFamily="18" charset="0"/>
                <a:cs typeface="Times New Roman" panose="02020603050405020304" pitchFamily="18" charset="0"/>
              </a:rPr>
              <a:t>We will now perform a general statistical analysis to understand the overall distribution and central tendencies of the data.</a:t>
            </a:r>
          </a:p>
          <a:p>
            <a:pPr marL="392113" lvl="1" indent="0">
              <a:buNone/>
            </a:pPr>
            <a:r>
              <a:rPr lang="en-US" sz="1800" dirty="0">
                <a:latin typeface="Times New Roman" panose="02020603050405020304" pitchFamily="18" charset="0"/>
                <a:cs typeface="Times New Roman" panose="02020603050405020304" pitchFamily="18" charset="0"/>
              </a:rPr>
              <a:t># Display summary statistics of the </a:t>
            </a:r>
            <a:r>
              <a:rPr lang="en-US" sz="1800" dirty="0" err="1">
                <a:latin typeface="Times New Roman" panose="02020603050405020304" pitchFamily="18" charset="0"/>
                <a:cs typeface="Times New Roman" panose="02020603050405020304" pitchFamily="18" charset="0"/>
              </a:rPr>
              <a:t>DataFrame</a:t>
            </a:r>
            <a:endParaRPr lang="en-US" sz="1800" dirty="0">
              <a:latin typeface="Times New Roman" panose="02020603050405020304" pitchFamily="18" charset="0"/>
              <a:cs typeface="Times New Roman" panose="02020603050405020304" pitchFamily="18" charset="0"/>
            </a:endParaRPr>
          </a:p>
          <a:p>
            <a:pPr lvl="1"/>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 .describe ()</a:t>
            </a:r>
          </a:p>
        </p:txBody>
      </p:sp>
      <p:sp>
        <p:nvSpPr>
          <p:cNvPr id="3" name="Title 2">
            <a:extLst>
              <a:ext uri="{FF2B5EF4-FFF2-40B4-BE49-F238E27FC236}">
                <a16:creationId xmlns:a16="http://schemas.microsoft.com/office/drawing/2014/main" id="{19A6503D-610C-2E37-1DAC-5CA550FABB22}"/>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General Statistical Analysis</a:t>
            </a:r>
            <a:endParaRPr lang="en-IN" sz="2700" dirty="0">
              <a:solidFill>
                <a:srgbClr val="002060"/>
              </a:solidFill>
              <a:effectLst/>
            </a:endParaRPr>
          </a:p>
        </p:txBody>
      </p:sp>
      <p:sp>
        <p:nvSpPr>
          <p:cNvPr id="4" name="AutoShape 2" descr="Statistical analysis,exploratory data analysis">
            <a:extLst>
              <a:ext uri="{FF2B5EF4-FFF2-40B4-BE49-F238E27FC236}">
                <a16:creationId xmlns:a16="http://schemas.microsoft.com/office/drawing/2014/main" id="{A25956E7-A2CE-7D39-E503-D6B697769C1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0BDF17D1-A7F4-A1A9-1A77-85C64DD7833A}"/>
              </a:ext>
            </a:extLst>
          </p:cNvPr>
          <p:cNvPicPr>
            <a:picLocks noChangeAspect="1"/>
          </p:cNvPicPr>
          <p:nvPr/>
        </p:nvPicPr>
        <p:blipFill>
          <a:blip r:embed="rId2"/>
          <a:srcRect l="7987" t="13778" r="-2231"/>
          <a:stretch>
            <a:fillRect/>
          </a:stretch>
        </p:blipFill>
        <p:spPr>
          <a:xfrm>
            <a:off x="232340" y="3048000"/>
            <a:ext cx="4348871" cy="3063558"/>
          </a:xfrm>
          <a:prstGeom prst="rect">
            <a:avLst/>
          </a:prstGeom>
        </p:spPr>
      </p:pic>
      <p:sp>
        <p:nvSpPr>
          <p:cNvPr id="8" name="TextBox 7">
            <a:extLst>
              <a:ext uri="{FF2B5EF4-FFF2-40B4-BE49-F238E27FC236}">
                <a16:creationId xmlns:a16="http://schemas.microsoft.com/office/drawing/2014/main" id="{970D78BB-3516-B511-8964-835591276452}"/>
              </a:ext>
            </a:extLst>
          </p:cNvPr>
          <p:cNvSpPr txBox="1"/>
          <p:nvPr/>
        </p:nvSpPr>
        <p:spPr>
          <a:xfrm>
            <a:off x="4581211" y="2438400"/>
            <a:ext cx="4298629" cy="4247317"/>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average, patients got operated at age of </a:t>
            </a:r>
            <a:r>
              <a:rPr lang="en-US" dirty="0">
                <a:latin typeface="Times New Roman" panose="02020603050405020304" pitchFamily="18" charset="0"/>
                <a:cs typeface="Times New Roman" panose="02020603050405020304" pitchFamily="18" charset="0"/>
              </a:rPr>
              <a:t>52</a:t>
            </a:r>
            <a:r>
              <a:rPr lang="en-US"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average number of positive axillary nodes detected = 4.</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 indicated by the 50th percentile, the median of positive axillary nodes is 1.</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 indicated by the 75th percentile, 75% of the patients have less than 4 nodes detected.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you see, there is a significant difference between the mean and the median values. This is because there are some outliers in our data and the mean is influenced by the presence of outliers.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965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F8FC-7157-AD0E-4A76-A1A6E89BD22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D391F-BF34-DBF0-B84C-78B851ACFEAD}"/>
              </a:ext>
            </a:extLst>
          </p:cNvPr>
          <p:cNvSpPr>
            <a:spLocks noGrp="1"/>
          </p:cNvSpPr>
          <p:nvPr>
            <p:ph idx="1"/>
          </p:nvPr>
        </p:nvSpPr>
        <p:spPr>
          <a:xfrm>
            <a:off x="457200" y="1481138"/>
            <a:ext cx="8229600" cy="17192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Class-wise Statistical Analysis: </a:t>
            </a:r>
            <a:r>
              <a:rPr lang="en-US" sz="1800" dirty="0">
                <a:latin typeface="Times New Roman" panose="02020603050405020304" pitchFamily="18" charset="0"/>
                <a:cs typeface="Times New Roman" panose="02020603050405020304" pitchFamily="18" charset="0"/>
              </a:rPr>
              <a:t>To gain deeper insights, we’ll perform a statistical analysis for each class (survived vs. not survived) separately.</a:t>
            </a:r>
          </a:p>
          <a:p>
            <a:pPr marL="392113" lvl="1" indent="0">
              <a:buNone/>
            </a:pPr>
            <a:r>
              <a:rPr lang="en-US" sz="1800" b="1" dirty="0">
                <a:latin typeface="Times New Roman" panose="02020603050405020304" pitchFamily="18" charset="0"/>
                <a:cs typeface="Times New Roman" panose="02020603050405020304" pitchFamily="18" charset="0"/>
              </a:rPr>
              <a:t>Survived (Yes) Analysis:</a:t>
            </a:r>
          </a:p>
          <a:p>
            <a:pPr lvl="1"/>
            <a:r>
              <a:rPr lang="en-IN" sz="1800" dirty="0" err="1">
                <a:latin typeface="Times New Roman" panose="02020603050405020304" pitchFamily="18" charset="0"/>
                <a:cs typeface="Times New Roman" panose="02020603050405020304" pitchFamily="18" charset="0"/>
              </a:rPr>
              <a:t>survival_yes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yes'</a:t>
            </a:r>
            <a:r>
              <a:rPr lang="en-IN" sz="1800" dirty="0">
                <a:latin typeface="Times New Roman" panose="02020603050405020304" pitchFamily="18" charset="0"/>
                <a:cs typeface="Times New Roman" panose="02020603050405020304" pitchFamily="18" charset="0"/>
              </a:rPr>
              <a:t>]</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survival_yes.describe</a:t>
            </a:r>
            <a:r>
              <a:rPr lang="en-IN" sz="1800" dirty="0">
                <a:latin typeface="Times New Roman" panose="02020603050405020304" pitchFamily="18" charset="0"/>
                <a:cs typeface="Times New Roman" panose="02020603050405020304" pitchFamily="18" charset="0"/>
              </a:rPr>
              <a:t>())</a:t>
            </a:r>
          </a:p>
          <a:p>
            <a:endParaRPr lang="en-IN" dirty="0"/>
          </a:p>
        </p:txBody>
      </p:sp>
      <p:sp>
        <p:nvSpPr>
          <p:cNvPr id="3" name="Title 2">
            <a:extLst>
              <a:ext uri="{FF2B5EF4-FFF2-40B4-BE49-F238E27FC236}">
                <a16:creationId xmlns:a16="http://schemas.microsoft.com/office/drawing/2014/main" id="{AB495BC0-A971-7489-2F46-2E110ED5AA6A}"/>
              </a:ext>
            </a:extLst>
          </p:cNvPr>
          <p:cNvSpPr>
            <a:spLocks noGrp="1"/>
          </p:cNvSpPr>
          <p:nvPr>
            <p:ph type="title"/>
          </p:nvPr>
        </p:nvSpPr>
        <p:spPr>
          <a:xfrm>
            <a:off x="457200" y="274638"/>
            <a:ext cx="82296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a:t>
            </a:r>
            <a:endParaRPr lang="en-IN" sz="2700" dirty="0">
              <a:solidFill>
                <a:srgbClr val="002060"/>
              </a:solidFill>
              <a:effectLst/>
            </a:endParaRPr>
          </a:p>
        </p:txBody>
      </p:sp>
      <p:pic>
        <p:nvPicPr>
          <p:cNvPr id="5" name="Picture 4">
            <a:extLst>
              <a:ext uri="{FF2B5EF4-FFF2-40B4-BE49-F238E27FC236}">
                <a16:creationId xmlns:a16="http://schemas.microsoft.com/office/drawing/2014/main" id="{5735A70B-B519-F4D4-BC4E-F4D9F42974A1}"/>
              </a:ext>
            </a:extLst>
          </p:cNvPr>
          <p:cNvPicPr>
            <a:picLocks noChangeAspect="1"/>
          </p:cNvPicPr>
          <p:nvPr/>
        </p:nvPicPr>
        <p:blipFill>
          <a:blip r:embed="rId2"/>
          <a:stretch>
            <a:fillRect/>
          </a:stretch>
        </p:blipFill>
        <p:spPr>
          <a:xfrm>
            <a:off x="762000" y="3276600"/>
            <a:ext cx="6096528" cy="3406435"/>
          </a:xfrm>
          <a:prstGeom prst="rect">
            <a:avLst/>
          </a:prstGeom>
        </p:spPr>
      </p:pic>
    </p:spTree>
    <p:extLst>
      <p:ext uri="{BB962C8B-B14F-4D97-AF65-F5344CB8AC3E}">
        <p14:creationId xmlns:p14="http://schemas.microsoft.com/office/powerpoint/2010/main" val="3851297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10F3-08B9-BD4F-BD57-F1CD953D5E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FD31AA-71DD-E2F7-9E39-A5B33F938D65}"/>
              </a:ext>
            </a:extLst>
          </p:cNvPr>
          <p:cNvSpPr>
            <a:spLocks noGrp="1"/>
          </p:cNvSpPr>
          <p:nvPr>
            <p:ph idx="1"/>
          </p:nvPr>
        </p:nvSpPr>
        <p:spPr>
          <a:xfrm>
            <a:off x="457200" y="1481138"/>
            <a:ext cx="8229600" cy="17192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Class-wise Statistical Analysis: </a:t>
            </a:r>
            <a:r>
              <a:rPr lang="en-US" sz="1800" dirty="0">
                <a:latin typeface="Times New Roman" panose="02020603050405020304" pitchFamily="18" charset="0"/>
                <a:cs typeface="Times New Roman" panose="02020603050405020304" pitchFamily="18" charset="0"/>
              </a:rPr>
              <a:t>To gain deeper insights, we’ll perform a statistical analysis for each class (survived vs. not survived) separately.</a:t>
            </a:r>
          </a:p>
          <a:p>
            <a:pPr marL="392113" lvl="1" indent="0">
              <a:buNone/>
            </a:pPr>
            <a:r>
              <a:rPr lang="en-US" sz="1800" b="1" dirty="0">
                <a:latin typeface="Times New Roman" panose="02020603050405020304" pitchFamily="18" charset="0"/>
                <a:cs typeface="Times New Roman" panose="02020603050405020304" pitchFamily="18" charset="0"/>
              </a:rPr>
              <a:t>Not Survived (No) Analysis:</a:t>
            </a:r>
          </a:p>
          <a:p>
            <a:pPr lvl="1"/>
            <a:r>
              <a:rPr lang="en-IN" sz="1800" dirty="0" err="1">
                <a:latin typeface="Times New Roman" panose="02020603050405020304" pitchFamily="18" charset="0"/>
                <a:cs typeface="Times New Roman" panose="02020603050405020304" pitchFamily="18" charset="0"/>
              </a:rPr>
              <a:t>survival_no</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'no']</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survival_no.describe</a:t>
            </a:r>
            <a:r>
              <a:rPr lang="en-IN" sz="1800" dirty="0">
                <a:latin typeface="Times New Roman" panose="02020603050405020304" pitchFamily="18" charset="0"/>
                <a:cs typeface="Times New Roman" panose="02020603050405020304" pitchFamily="18" charset="0"/>
              </a:rPr>
              <a:t>())</a:t>
            </a:r>
            <a:endParaRPr lang="en-IN" dirty="0"/>
          </a:p>
        </p:txBody>
      </p:sp>
      <p:sp>
        <p:nvSpPr>
          <p:cNvPr id="3" name="Title 2">
            <a:extLst>
              <a:ext uri="{FF2B5EF4-FFF2-40B4-BE49-F238E27FC236}">
                <a16:creationId xmlns:a16="http://schemas.microsoft.com/office/drawing/2014/main" id="{6FD5D9BF-BFAC-3714-6491-C8B6F7585B29}"/>
              </a:ext>
            </a:extLst>
          </p:cNvPr>
          <p:cNvSpPr>
            <a:spLocks noGrp="1"/>
          </p:cNvSpPr>
          <p:nvPr>
            <p:ph type="title"/>
          </p:nvPr>
        </p:nvSpPr>
        <p:spPr>
          <a:xfrm>
            <a:off x="228600" y="274638"/>
            <a:ext cx="87630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 </a:t>
            </a:r>
            <a:r>
              <a:rPr lang="en-IN" sz="2700" dirty="0" err="1">
                <a:solidFill>
                  <a:srgbClr val="002060"/>
                </a:solidFill>
                <a:latin typeface="Times New Roman" panose="02020603050405020304" pitchFamily="18" charset="0"/>
                <a:cs typeface="Times New Roman" panose="02020603050405020304" pitchFamily="18" charset="0"/>
              </a:rPr>
              <a:t>Contd</a:t>
            </a:r>
            <a:r>
              <a:rPr lang="en-IN" sz="2700" dirty="0">
                <a:solidFill>
                  <a:srgbClr val="002060"/>
                </a:solidFill>
                <a:latin typeface="Times New Roman" panose="02020603050405020304" pitchFamily="18" charset="0"/>
                <a:cs typeface="Times New Roman" panose="02020603050405020304" pitchFamily="18" charset="0"/>
              </a:rPr>
              <a:t>…</a:t>
            </a:r>
            <a:endParaRPr lang="en-IN" sz="2700" dirty="0">
              <a:solidFill>
                <a:srgbClr val="002060"/>
              </a:solidFill>
              <a:effectLst/>
            </a:endParaRPr>
          </a:p>
        </p:txBody>
      </p:sp>
      <p:pic>
        <p:nvPicPr>
          <p:cNvPr id="6" name="Picture 5">
            <a:extLst>
              <a:ext uri="{FF2B5EF4-FFF2-40B4-BE49-F238E27FC236}">
                <a16:creationId xmlns:a16="http://schemas.microsoft.com/office/drawing/2014/main" id="{9385E3E0-5A85-7AE0-2CBC-3163336CCB4C}"/>
              </a:ext>
            </a:extLst>
          </p:cNvPr>
          <p:cNvPicPr>
            <a:picLocks noChangeAspect="1"/>
          </p:cNvPicPr>
          <p:nvPr/>
        </p:nvPicPr>
        <p:blipFill>
          <a:blip r:embed="rId2"/>
          <a:stretch>
            <a:fillRect/>
          </a:stretch>
        </p:blipFill>
        <p:spPr>
          <a:xfrm>
            <a:off x="1524000" y="3458308"/>
            <a:ext cx="5768840" cy="3215919"/>
          </a:xfrm>
          <a:prstGeom prst="rect">
            <a:avLst/>
          </a:prstGeom>
        </p:spPr>
      </p:pic>
    </p:spTree>
    <p:extLst>
      <p:ext uri="{BB962C8B-B14F-4D97-AF65-F5344CB8AC3E}">
        <p14:creationId xmlns:p14="http://schemas.microsoft.com/office/powerpoint/2010/main" val="867993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1F3FB9-F7D0-FC1B-3911-18826B834B32}"/>
              </a:ext>
            </a:extLst>
          </p:cNvPr>
          <p:cNvSpPr>
            <a:spLocks noGrp="1"/>
          </p:cNvSpPr>
          <p:nvPr>
            <p:ph idx="1"/>
          </p:nvPr>
        </p:nvSpPr>
        <p:spPr/>
        <p:txBody>
          <a:bodyPr/>
          <a:lstStyle/>
          <a:p>
            <a:pPr marL="109537" indent="0">
              <a:buNone/>
            </a:pPr>
            <a:r>
              <a:rPr lang="en-US" sz="2400" dirty="0">
                <a:latin typeface="Times New Roman" panose="02020603050405020304" pitchFamily="18" charset="0"/>
                <a:cs typeface="Times New Roman" panose="02020603050405020304" pitchFamily="18" charset="0"/>
              </a:rPr>
              <a:t>From the above class-wise analysis, it can be observed that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average age at which the patient is operated on is nearly the same in both cases.</a:t>
            </a:r>
          </a:p>
          <a:p>
            <a:r>
              <a:rPr lang="en-US" sz="2400" dirty="0">
                <a:latin typeface="Times New Roman" panose="02020603050405020304" pitchFamily="18" charset="0"/>
                <a:cs typeface="Times New Roman" panose="02020603050405020304" pitchFamily="18" charset="0"/>
              </a:rPr>
              <a:t>Patients who died within 5 years on average had about 4 to 5 positive axillary nodes more than the patients who lived over 5 years post-operation.</a:t>
            </a:r>
            <a:endParaRPr lang="en-IN" sz="24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C9293AE6-5C71-8169-4BDA-443E3157CE76}"/>
              </a:ext>
            </a:extLst>
          </p:cNvPr>
          <p:cNvSpPr>
            <a:spLocks noGrp="1"/>
          </p:cNvSpPr>
          <p:nvPr>
            <p:ph type="title"/>
          </p:nvPr>
        </p:nvSpPr>
        <p:spPr>
          <a:xfrm>
            <a:off x="228600" y="274638"/>
            <a:ext cx="87630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 </a:t>
            </a:r>
            <a:r>
              <a:rPr lang="en-IN" sz="2700" dirty="0" err="1">
                <a:solidFill>
                  <a:srgbClr val="002060"/>
                </a:solidFill>
                <a:latin typeface="Times New Roman" panose="02020603050405020304" pitchFamily="18" charset="0"/>
                <a:cs typeface="Times New Roman" panose="02020603050405020304" pitchFamily="18" charset="0"/>
              </a:rPr>
              <a:t>Contd</a:t>
            </a:r>
            <a:r>
              <a:rPr lang="en-IN" sz="2700" dirty="0">
                <a:solidFill>
                  <a:srgbClr val="002060"/>
                </a:solidFill>
                <a:latin typeface="Times New Roman" panose="02020603050405020304" pitchFamily="18" charset="0"/>
                <a:cs typeface="Times New Roman" panose="02020603050405020304" pitchFamily="18" charset="0"/>
              </a:rPr>
              <a:t>…</a:t>
            </a:r>
            <a:endParaRPr lang="en-IN" sz="2700" dirty="0">
              <a:solidFill>
                <a:srgbClr val="002060"/>
              </a:solidFill>
              <a:effectLst/>
            </a:endParaRPr>
          </a:p>
        </p:txBody>
      </p:sp>
    </p:spTree>
    <p:extLst>
      <p:ext uri="{BB962C8B-B14F-4D97-AF65-F5344CB8AC3E}">
        <p14:creationId xmlns:p14="http://schemas.microsoft.com/office/powerpoint/2010/main" val="1902102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1EDDC-74BB-74A6-5014-63EB6F461CC3}"/>
              </a:ext>
            </a:extLst>
          </p:cNvPr>
          <p:cNvSpPr>
            <a:spLocks noGrp="1"/>
          </p:cNvSpPr>
          <p:nvPr>
            <p:ph idx="1"/>
          </p:nvPr>
        </p:nvSpPr>
        <p:spPr>
          <a:xfrm>
            <a:off x="457200" y="841689"/>
            <a:ext cx="8409634" cy="4525962"/>
          </a:xfrm>
        </p:spPr>
        <p:txBody>
          <a:bodyPr/>
          <a:lstStyle/>
          <a:p>
            <a:r>
              <a:rPr lang="en-US" sz="1800" dirty="0">
                <a:latin typeface="Times New Roman" panose="02020603050405020304" pitchFamily="18" charset="0"/>
                <a:cs typeface="Times New Roman" panose="02020603050405020304" pitchFamily="18" charset="0"/>
              </a:rPr>
              <a:t>Uni-variate analysis involves studying one variable at a time. This type of analysis helps in understanding the distribution and characteristics of each variable individually. Below are different ways to perform </a:t>
            </a:r>
            <a:r>
              <a:rPr lang="en-US" sz="1800" dirty="0" err="1">
                <a:latin typeface="Times New Roman" panose="02020603050405020304" pitchFamily="18" charset="0"/>
                <a:cs typeface="Times New Roman" panose="02020603050405020304" pitchFamily="18" charset="0"/>
              </a:rPr>
              <a:t>uni</a:t>
            </a:r>
            <a:r>
              <a:rPr lang="en-US" sz="1800" dirty="0">
                <a:latin typeface="Times New Roman" panose="02020603050405020304" pitchFamily="18" charset="0"/>
                <a:cs typeface="Times New Roman" panose="02020603050405020304" pitchFamily="18" charset="0"/>
              </a:rPr>
              <a:t>-variate analysis along with their outputs and interpretations.</a:t>
            </a:r>
          </a:p>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Distribution Plots:</a:t>
            </a:r>
          </a:p>
          <a:p>
            <a:r>
              <a:rPr lang="en-US" sz="1800" dirty="0">
                <a:latin typeface="Times New Roman" panose="02020603050405020304" pitchFamily="18" charset="0"/>
                <a:cs typeface="Times New Roman" panose="02020603050405020304" pitchFamily="18" charset="0"/>
              </a:rPr>
              <a:t>Distribution plots, also known as probability density function (PDF) plots, show how values in a dataset are spread out. They help us see the shape of the data distribution and identify patterns.</a:t>
            </a:r>
          </a:p>
          <a:p>
            <a:r>
              <a:rPr lang="en-US" sz="1800" dirty="0" err="1">
                <a:latin typeface="Times New Roman" panose="02020603050405020304" pitchFamily="18" charset="0"/>
                <a:cs typeface="Times New Roman" panose="02020603050405020304" pitchFamily="18" charset="0"/>
              </a:rPr>
              <a:t>sns.FacetGrid</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height=5).map(</a:t>
            </a:r>
            <a:r>
              <a:rPr lang="en-US" sz="1800" dirty="0" err="1">
                <a:latin typeface="Times New Roman" panose="02020603050405020304" pitchFamily="18" charset="0"/>
                <a:cs typeface="Times New Roman" panose="02020603050405020304" pitchFamily="18" charset="0"/>
              </a:rPr>
              <a:t>sns.histplot</a:t>
            </a:r>
            <a:r>
              <a:rPr lang="en-US" sz="1800" dirty="0">
                <a:latin typeface="Times New Roman" panose="02020603050405020304" pitchFamily="18" charset="0"/>
                <a:cs typeface="Times New Roman" panose="02020603050405020304" pitchFamily="18" charset="0"/>
              </a:rPr>
              <a:t>, "Age", </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=True).</a:t>
            </a:r>
            <a:r>
              <a:rPr lang="en-US" sz="1800" dirty="0" err="1">
                <a:latin typeface="Times New Roman" panose="02020603050405020304" pitchFamily="18" charset="0"/>
                <a:cs typeface="Times New Roman" panose="02020603050405020304" pitchFamily="18" charset="0"/>
              </a:rPr>
              <a:t>add_legend</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('Distribution of Age')</a:t>
            </a:r>
          </a:p>
          <a:p>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('Age')</a:t>
            </a:r>
          </a:p>
          <a:p>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('Frequency')</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837D71D-ED24-3D6A-D78B-76635B68C7F9}"/>
              </a:ext>
            </a:extLst>
          </p:cNvPr>
          <p:cNvSpPr>
            <a:spLocks noGrp="1"/>
          </p:cNvSpPr>
          <p:nvPr>
            <p:ph type="title"/>
          </p:nvPr>
        </p:nvSpPr>
        <p:spPr>
          <a:xfrm>
            <a:off x="457200" y="76200"/>
            <a:ext cx="8229600" cy="576262"/>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E74D5B3-1AD5-0485-763A-DC0DD96C1F8E}"/>
              </a:ext>
            </a:extLst>
          </p:cNvPr>
          <p:cNvPicPr>
            <a:picLocks noChangeAspect="1"/>
          </p:cNvPicPr>
          <p:nvPr/>
        </p:nvPicPr>
        <p:blipFill>
          <a:blip r:embed="rId2"/>
          <a:stretch>
            <a:fillRect/>
          </a:stretch>
        </p:blipFill>
        <p:spPr>
          <a:xfrm>
            <a:off x="5334000" y="3816699"/>
            <a:ext cx="3532834" cy="2961752"/>
          </a:xfrm>
          <a:prstGeom prst="rect">
            <a:avLst/>
          </a:prstGeom>
        </p:spPr>
      </p:pic>
      <p:sp>
        <p:nvSpPr>
          <p:cNvPr id="7" name="TextBox 6">
            <a:extLst>
              <a:ext uri="{FF2B5EF4-FFF2-40B4-BE49-F238E27FC236}">
                <a16:creationId xmlns:a16="http://schemas.microsoft.com/office/drawing/2014/main" id="{610DB481-CEBB-7113-E24C-0C5ABE50E094}"/>
              </a:ext>
            </a:extLst>
          </p:cNvPr>
          <p:cNvSpPr txBox="1"/>
          <p:nvPr/>
        </p:nvSpPr>
        <p:spPr>
          <a:xfrm>
            <a:off x="152400" y="5123759"/>
            <a:ext cx="5105400" cy="1785104"/>
          </a:xfrm>
          <a:prstGeom prst="rect">
            <a:avLst/>
          </a:prstGeom>
          <a:noFill/>
        </p:spPr>
        <p:txBody>
          <a:bodyPr wrap="square">
            <a:spAutoFit/>
          </a:bodyPr>
          <a:lstStyle/>
          <a:p>
            <a:pPr algn="l">
              <a:lnSpc>
                <a:spcPts val="2700"/>
              </a:lnSpc>
              <a:spcAft>
                <a:spcPts val="0"/>
              </a:spcAft>
              <a:buFont typeface="Arial" panose="020B0604020202020204" pitchFamily="34" charset="0"/>
              <a:buChar char="•"/>
            </a:pPr>
            <a:r>
              <a:rPr lang="en-US" sz="1600" b="0" i="0" dirty="0">
                <a:solidFill>
                  <a:srgbClr val="C00000"/>
                </a:solidFill>
                <a:effectLst/>
                <a:latin typeface="Times New Roman" panose="02020603050405020304" pitchFamily="18" charset="0"/>
                <a:cs typeface="Times New Roman" panose="02020603050405020304" pitchFamily="18" charset="0"/>
              </a:rPr>
              <a:t>Among all age groups, patients aged 40-60 years are the highest.</a:t>
            </a:r>
          </a:p>
          <a:p>
            <a:pPr algn="l">
              <a:lnSpc>
                <a:spcPts val="2700"/>
              </a:lnSpc>
              <a:spcAft>
                <a:spcPts val="0"/>
              </a:spcAft>
              <a:buFont typeface="Arial" panose="020B0604020202020204" pitchFamily="34" charset="0"/>
              <a:buChar char="•"/>
            </a:pPr>
            <a:r>
              <a:rPr lang="en-US" sz="1600" b="0" i="0" dirty="0">
                <a:solidFill>
                  <a:srgbClr val="C00000"/>
                </a:solidFill>
                <a:effectLst/>
                <a:latin typeface="Times New Roman" panose="02020603050405020304" pitchFamily="18" charset="0"/>
                <a:cs typeface="Times New Roman" panose="02020603050405020304" pitchFamily="18" charset="0"/>
              </a:rPr>
              <a:t>There is a high overlap between the class labels, implying that survival status post-operation cannot be discerned from age alone.</a:t>
            </a:r>
          </a:p>
        </p:txBody>
      </p:sp>
    </p:spTree>
    <p:extLst>
      <p:ext uri="{BB962C8B-B14F-4D97-AF65-F5344CB8AC3E}">
        <p14:creationId xmlns:p14="http://schemas.microsoft.com/office/powerpoint/2010/main" val="13508183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C4755A-5AC3-65BE-694C-96D14D0790DD}"/>
              </a:ext>
            </a:extLst>
          </p:cNvPr>
          <p:cNvSpPr>
            <a:spLocks noGrp="1"/>
          </p:cNvSpPr>
          <p:nvPr>
            <p:ph idx="1"/>
          </p:nvPr>
        </p:nvSpPr>
        <p:spPr>
          <a:xfrm>
            <a:off x="457200" y="1481138"/>
            <a:ext cx="8229600" cy="2481262"/>
          </a:xfrm>
        </p:spPr>
        <p:txBody>
          <a:bodyPr/>
          <a:lstStyle/>
          <a:p>
            <a:r>
              <a:rPr lang="en-IN" sz="1800" dirty="0">
                <a:latin typeface="Times New Roman" panose="02020603050405020304" pitchFamily="18" charset="0"/>
                <a:cs typeface="Times New Roman" panose="02020603050405020304" pitchFamily="18" charset="0"/>
              </a:rPr>
              <a:t>Operation Year</a:t>
            </a:r>
          </a:p>
          <a:p>
            <a:r>
              <a:rPr lang="en-IN" sz="1800" dirty="0" err="1">
                <a:latin typeface="Times New Roman" panose="02020603050405020304" pitchFamily="18" charset="0"/>
                <a:cs typeface="Times New Roman" panose="02020603050405020304" pitchFamily="18" charset="0"/>
              </a:rPr>
              <a:t>sns.FacetGrid</a:t>
            </a:r>
            <a:r>
              <a:rPr lang="en-IN" sz="1800" dirty="0">
                <a:latin typeface="Times New Roman" panose="02020603050405020304" pitchFamily="18" charset="0"/>
                <a:cs typeface="Times New Roman" panose="02020603050405020304" pitchFamily="18" charset="0"/>
              </a:rPr>
              <a:t>(data, hue="</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height=5).map(</a:t>
            </a:r>
            <a:r>
              <a:rPr lang="en-IN" sz="1800" dirty="0" err="1">
                <a:latin typeface="Times New Roman" panose="02020603050405020304" pitchFamily="18" charset="0"/>
                <a:cs typeface="Times New Roman" panose="02020603050405020304" pitchFamily="18" charset="0"/>
              </a:rPr>
              <a:t>sns.histplot</a:t>
            </a:r>
            <a:r>
              <a:rPr lang="en-IN" sz="1800" dirty="0">
                <a:latin typeface="Times New Roman" panose="02020603050405020304" pitchFamily="18" charset="0"/>
                <a:cs typeface="Times New Roman" panose="02020603050405020304" pitchFamily="18" charset="0"/>
              </a:rPr>
              <a:t>, "Year", </a:t>
            </a:r>
            <a:r>
              <a:rPr lang="en-IN" sz="1800" dirty="0" err="1">
                <a:latin typeface="Times New Roman" panose="02020603050405020304" pitchFamily="18" charset="0"/>
                <a:cs typeface="Times New Roman" panose="02020603050405020304" pitchFamily="18" charset="0"/>
              </a:rPr>
              <a:t>kde</a:t>
            </a:r>
            <a:r>
              <a:rPr lang="en-IN" sz="1800" dirty="0">
                <a:latin typeface="Times New Roman" panose="02020603050405020304" pitchFamily="18" charset="0"/>
                <a:cs typeface="Times New Roman" panose="02020603050405020304" pitchFamily="18" charset="0"/>
              </a:rPr>
              <a:t>=True).</a:t>
            </a:r>
            <a:r>
              <a:rPr lang="en-IN" sz="1800" dirty="0" err="1">
                <a:latin typeface="Times New Roman" panose="02020603050405020304" pitchFamily="18" charset="0"/>
                <a:cs typeface="Times New Roman" panose="02020603050405020304" pitchFamily="18" charset="0"/>
              </a:rPr>
              <a:t>add_legend</a:t>
            </a:r>
            <a:r>
              <a:rPr lang="en-IN" sz="1800" dirty="0">
                <a:latin typeface="Times New Roman" panose="02020603050405020304" pitchFamily="18" charset="0"/>
                <a:cs typeface="Times New Roman" panose="02020603050405020304" pitchFamily="18" charset="0"/>
              </a:rPr>
              <a:t>()</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('Distribution of Operation Year')</a:t>
            </a:r>
          </a:p>
          <a:p>
            <a:r>
              <a:rPr lang="en-IN" sz="1800" dirty="0" err="1">
                <a:latin typeface="Times New Roman" panose="02020603050405020304" pitchFamily="18" charset="0"/>
                <a:cs typeface="Times New Roman" panose="02020603050405020304" pitchFamily="18" charset="0"/>
              </a:rPr>
              <a:t>plt.xlabel</a:t>
            </a:r>
            <a:r>
              <a:rPr lang="en-IN" sz="1800" dirty="0">
                <a:latin typeface="Times New Roman" panose="02020603050405020304" pitchFamily="18" charset="0"/>
                <a:cs typeface="Times New Roman" panose="02020603050405020304" pitchFamily="18" charset="0"/>
              </a:rPr>
              <a:t>('Operation Year')</a:t>
            </a:r>
          </a:p>
          <a:p>
            <a:r>
              <a:rPr lang="en-IN" sz="1800" dirty="0" err="1">
                <a:latin typeface="Times New Roman" panose="02020603050405020304" pitchFamily="18" charset="0"/>
                <a:cs typeface="Times New Roman" panose="02020603050405020304" pitchFamily="18" charset="0"/>
              </a:rPr>
              <a:t>plt.ylabel</a:t>
            </a:r>
            <a:r>
              <a:rPr lang="en-IN" sz="1800" dirty="0">
                <a:latin typeface="Times New Roman" panose="02020603050405020304" pitchFamily="18" charset="0"/>
                <a:cs typeface="Times New Roman" panose="02020603050405020304" pitchFamily="18" charset="0"/>
              </a:rPr>
              <a:t>('Frequency')</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p:txBody>
      </p:sp>
      <p:sp>
        <p:nvSpPr>
          <p:cNvPr id="4" name="Title 2">
            <a:extLst>
              <a:ext uri="{FF2B5EF4-FFF2-40B4-BE49-F238E27FC236}">
                <a16:creationId xmlns:a16="http://schemas.microsoft.com/office/drawing/2014/main" id="{DE8DED10-3935-66E8-DE6C-EFE2D30EB38B}"/>
              </a:ext>
            </a:extLst>
          </p:cNvPr>
          <p:cNvSpPr>
            <a:spLocks noGrp="1"/>
          </p:cNvSpPr>
          <p:nvPr>
            <p:ph type="title"/>
          </p:nvPr>
        </p:nvSpPr>
        <p:spPr>
          <a:xfrm>
            <a:off x="152400" y="274638"/>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9928DE-8257-7FAF-BE7A-FEA954437554}"/>
              </a:ext>
            </a:extLst>
          </p:cNvPr>
          <p:cNvSpPr txBox="1"/>
          <p:nvPr/>
        </p:nvSpPr>
        <p:spPr>
          <a:xfrm>
            <a:off x="304800" y="4114800"/>
            <a:ext cx="3962400" cy="1797928"/>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Similar to the age plot, there is a significant overlap between the class labels, suggesting that operation year alone is not a distinctive factor for survival status.</a:t>
            </a:r>
          </a:p>
        </p:txBody>
      </p:sp>
      <p:pic>
        <p:nvPicPr>
          <p:cNvPr id="8" name="Picture 7">
            <a:extLst>
              <a:ext uri="{FF2B5EF4-FFF2-40B4-BE49-F238E27FC236}">
                <a16:creationId xmlns:a16="http://schemas.microsoft.com/office/drawing/2014/main" id="{FF7E6E4A-33FB-E830-7A90-3AC2DB27A16C}"/>
              </a:ext>
            </a:extLst>
          </p:cNvPr>
          <p:cNvPicPr>
            <a:picLocks noChangeAspect="1"/>
          </p:cNvPicPr>
          <p:nvPr/>
        </p:nvPicPr>
        <p:blipFill>
          <a:blip r:embed="rId2"/>
          <a:stretch>
            <a:fillRect/>
          </a:stretch>
        </p:blipFill>
        <p:spPr>
          <a:xfrm>
            <a:off x="4841514" y="3124200"/>
            <a:ext cx="3994337" cy="3322562"/>
          </a:xfrm>
          <a:prstGeom prst="rect">
            <a:avLst/>
          </a:prstGeom>
        </p:spPr>
      </p:pic>
    </p:spTree>
    <p:extLst>
      <p:ext uri="{BB962C8B-B14F-4D97-AF65-F5344CB8AC3E}">
        <p14:creationId xmlns:p14="http://schemas.microsoft.com/office/powerpoint/2010/main" val="399737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B888EC-F0E2-5DC1-B18F-4DEAF2A9C3E3}"/>
              </a:ext>
            </a:extLst>
          </p:cNvPr>
          <p:cNvSpPr>
            <a:spLocks noGrp="1"/>
          </p:cNvSpPr>
          <p:nvPr>
            <p:ph idx="1"/>
          </p:nvPr>
        </p:nvSpPr>
        <p:spPr>
          <a:xfrm>
            <a:off x="457200" y="1153886"/>
            <a:ext cx="8229600" cy="2328862"/>
          </a:xfrm>
        </p:spPr>
        <p:txBody>
          <a:bodyPr>
            <a:normAutofit lnSpcReduction="10000"/>
          </a:bodyPr>
          <a:lstStyle/>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Number of Positive Axillary Nodes</a:t>
            </a:r>
          </a:p>
          <a:p>
            <a:r>
              <a:rPr lang="en-US" sz="1800" dirty="0" err="1">
                <a:latin typeface="Times New Roman" panose="02020603050405020304" pitchFamily="18" charset="0"/>
                <a:cs typeface="Times New Roman" panose="02020603050405020304" pitchFamily="18" charset="0"/>
              </a:rPr>
              <a:t>sns.FacetGrid</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height=5).map(</a:t>
            </a:r>
            <a:r>
              <a:rPr lang="en-US" sz="1800" dirty="0" err="1">
                <a:latin typeface="Times New Roman" panose="02020603050405020304" pitchFamily="18" charset="0"/>
                <a:cs typeface="Times New Roman" panose="02020603050405020304" pitchFamily="18" charset="0"/>
              </a:rPr>
              <a:t>sns.histplot</a:t>
            </a:r>
            <a:r>
              <a:rPr lang="en-US" sz="1800" dirty="0">
                <a:latin typeface="Times New Roman" panose="02020603050405020304" pitchFamily="18" charset="0"/>
                <a:cs typeface="Times New Roman" panose="02020603050405020304" pitchFamily="18" charset="0"/>
              </a:rPr>
              <a:t>, "Nodes", </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=True).</a:t>
            </a:r>
            <a:r>
              <a:rPr lang="en-US" sz="1800" dirty="0" err="1">
                <a:latin typeface="Times New Roman" panose="02020603050405020304" pitchFamily="18" charset="0"/>
                <a:cs typeface="Times New Roman" panose="02020603050405020304" pitchFamily="18" charset="0"/>
              </a:rPr>
              <a:t>add_legend</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('Distribution of Positive Axillary Nodes')</a:t>
            </a:r>
          </a:p>
          <a:p>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('Number of Positive Axillary Nodes')</a:t>
            </a:r>
          </a:p>
          <a:p>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('Frequency')</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9EA15C03-4F03-506A-43A4-CA58F609FE84}"/>
              </a:ext>
            </a:extLst>
          </p:cNvPr>
          <p:cNvSpPr>
            <a:spLocks noGrp="1"/>
          </p:cNvSpPr>
          <p:nvPr>
            <p:ph type="title"/>
          </p:nvPr>
        </p:nvSpPr>
        <p:spPr>
          <a:xfrm>
            <a:off x="152400" y="274638"/>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060A1F-4A92-D869-DA39-3DA2D2D90AA2}"/>
              </a:ext>
            </a:extLst>
          </p:cNvPr>
          <p:cNvPicPr>
            <a:picLocks noChangeAspect="1"/>
          </p:cNvPicPr>
          <p:nvPr/>
        </p:nvPicPr>
        <p:blipFill>
          <a:blip r:embed="rId2"/>
          <a:stretch>
            <a:fillRect/>
          </a:stretch>
        </p:blipFill>
        <p:spPr>
          <a:xfrm>
            <a:off x="4724400" y="3269488"/>
            <a:ext cx="4115097" cy="3365235"/>
          </a:xfrm>
          <a:prstGeom prst="rect">
            <a:avLst/>
          </a:prstGeom>
        </p:spPr>
      </p:pic>
      <p:sp>
        <p:nvSpPr>
          <p:cNvPr id="8" name="TextBox 7">
            <a:extLst>
              <a:ext uri="{FF2B5EF4-FFF2-40B4-BE49-F238E27FC236}">
                <a16:creationId xmlns:a16="http://schemas.microsoft.com/office/drawing/2014/main" id="{8E5F72D9-A497-EEE3-DB33-644BA5743317}"/>
              </a:ext>
            </a:extLst>
          </p:cNvPr>
          <p:cNvSpPr txBox="1"/>
          <p:nvPr/>
        </p:nvSpPr>
        <p:spPr>
          <a:xfrm>
            <a:off x="304503" y="3828720"/>
            <a:ext cx="4115097" cy="1900520"/>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4 or fewer axillary nodes mostly survived 5 years or longer.</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more than 4 axillary nodes have a lower likelihood of survival compared to those with 4 or fewer nodes.</a:t>
            </a:r>
          </a:p>
        </p:txBody>
      </p:sp>
    </p:spTree>
    <p:extLst>
      <p:ext uri="{BB962C8B-B14F-4D97-AF65-F5344CB8AC3E}">
        <p14:creationId xmlns:p14="http://schemas.microsoft.com/office/powerpoint/2010/main" val="119020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B4BD5E-27AE-0C9A-B059-D67E6A62B739}"/>
              </a:ext>
            </a:extLst>
          </p:cNvPr>
          <p:cNvSpPr>
            <a:spLocks noGrp="1"/>
          </p:cNvSpPr>
          <p:nvPr>
            <p:ph idx="1"/>
          </p:nvPr>
        </p:nvSpPr>
        <p:spPr>
          <a:xfrm>
            <a:off x="304800" y="901857"/>
            <a:ext cx="7162800" cy="5376862"/>
          </a:xfrm>
        </p:spPr>
        <p:txBody>
          <a:bodyPr/>
          <a:lstStyle/>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Cumulative Distribution Function (CDF): </a:t>
            </a:r>
            <a:r>
              <a:rPr lang="en-US" sz="1800" dirty="0">
                <a:latin typeface="Times New Roman" panose="02020603050405020304" pitchFamily="18" charset="0"/>
                <a:cs typeface="Times New Roman" panose="02020603050405020304" pitchFamily="18" charset="0"/>
              </a:rPr>
              <a:t>CDF plots show the probability that a variable will take a value less than or equal to a specific value. They provide a cumulative measure of the distribution.</a:t>
            </a: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1]['Nodes'],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Yes')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2]['Nodes'],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No')</a:t>
            </a:r>
          </a:p>
          <a:p>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plt.legend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plt.xlabel</a:t>
            </a:r>
            <a:r>
              <a:rPr lang="en-US" sz="1400" dirty="0">
                <a:latin typeface="Times New Roman" panose="02020603050405020304" pitchFamily="18" charset="0"/>
                <a:cs typeface="Times New Roman" panose="02020603050405020304" pitchFamily="18" charset="0"/>
              </a:rPr>
              <a:t>("Positive Axillary Nodes")</a:t>
            </a:r>
          </a:p>
          <a:p>
            <a:r>
              <a:rPr lang="en-US" sz="1400" dirty="0" err="1">
                <a:latin typeface="Times New Roman" panose="02020603050405020304" pitchFamily="18" charset="0"/>
                <a:cs typeface="Times New Roman" panose="02020603050405020304" pitchFamily="18" charset="0"/>
              </a:rPr>
              <a:t>plt.ylabel</a:t>
            </a:r>
            <a:r>
              <a:rPr lang="en-US" sz="1400" dirty="0">
                <a:latin typeface="Times New Roman" panose="02020603050405020304" pitchFamily="18" charset="0"/>
                <a:cs typeface="Times New Roman" panose="02020603050405020304" pitchFamily="18" charset="0"/>
              </a:rPr>
              <a:t>("CDF")</a:t>
            </a:r>
          </a:p>
          <a:p>
            <a:r>
              <a:rPr lang="en-US" sz="1400" dirty="0" err="1">
                <a:latin typeface="Times New Roman" panose="02020603050405020304" pitchFamily="18" charset="0"/>
                <a:cs typeface="Times New Roman" panose="02020603050405020304" pitchFamily="18" charset="0"/>
              </a:rPr>
              <a:t>plt.title</a:t>
            </a:r>
            <a:r>
              <a:rPr lang="en-US" sz="1400" dirty="0">
                <a:latin typeface="Times New Roman" panose="02020603050405020304" pitchFamily="18" charset="0"/>
                <a:cs typeface="Times New Roman" panose="02020603050405020304" pitchFamily="18" charset="0"/>
              </a:rPr>
              <a:t>('Cumulative Distribution Function for Positive Axillary Nodes')</a:t>
            </a:r>
          </a:p>
          <a:p>
            <a:r>
              <a:rPr lang="en-US" sz="1400" dirty="0" err="1">
                <a:latin typeface="Times New Roman" panose="02020603050405020304" pitchFamily="18" charset="0"/>
                <a:cs typeface="Times New Roman" panose="02020603050405020304" pitchFamily="18" charset="0"/>
              </a:rPr>
              <a:t>plt.grid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plt.show</a:t>
            </a:r>
            <a:r>
              <a:rPr lang="en-US" sz="14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dirty="0"/>
          </a:p>
        </p:txBody>
      </p:sp>
      <p:sp>
        <p:nvSpPr>
          <p:cNvPr id="4" name="Title 2">
            <a:extLst>
              <a:ext uri="{FF2B5EF4-FFF2-40B4-BE49-F238E27FC236}">
                <a16:creationId xmlns:a16="http://schemas.microsoft.com/office/drawing/2014/main" id="{FE5EAF54-2F79-DD7F-3662-6BE87FD3DD1D}"/>
              </a:ext>
            </a:extLst>
          </p:cNvPr>
          <p:cNvSpPr>
            <a:spLocks noGrp="1"/>
          </p:cNvSpPr>
          <p:nvPr>
            <p:ph type="title"/>
          </p:nvPr>
        </p:nvSpPr>
        <p:spPr>
          <a:xfrm>
            <a:off x="152400" y="33495"/>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307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50B1-8671-1F39-BE3B-2F920AA62E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1ED1C6-F2F0-5CC5-6BC8-1BEDB3BBDAC3}"/>
              </a:ext>
            </a:extLst>
          </p:cNvPr>
          <p:cNvSpPr>
            <a:spLocks noGrp="1"/>
          </p:cNvSpPr>
          <p:nvPr>
            <p:ph idx="1"/>
          </p:nvPr>
        </p:nvSpPr>
        <p:spPr>
          <a:xfrm>
            <a:off x="190081" y="2398790"/>
            <a:ext cx="5943600" cy="4279743"/>
          </a:xfrm>
        </p:spPr>
        <p:txBody>
          <a:bodyPr/>
          <a:lstStyle/>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1]['Nodes'],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Yes')</a:t>
            </a: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2]['Nodes'],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No')</a:t>
            </a:r>
          </a:p>
          <a:p>
            <a:r>
              <a:rPr lang="en-US" sz="1400" dirty="0" err="1">
                <a:latin typeface="Times New Roman" panose="02020603050405020304" pitchFamily="18" charset="0"/>
                <a:cs typeface="Times New Roman" panose="02020603050405020304" pitchFamily="18" charset="0"/>
              </a:rPr>
              <a:t>plt.legend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plt.xlabel</a:t>
            </a:r>
            <a:r>
              <a:rPr lang="en-US" sz="1400" dirty="0">
                <a:latin typeface="Times New Roman" panose="02020603050405020304" pitchFamily="18" charset="0"/>
                <a:cs typeface="Times New Roman" panose="02020603050405020304" pitchFamily="18" charset="0"/>
              </a:rPr>
              <a:t>("Positive Axillary Nodes")</a:t>
            </a:r>
          </a:p>
          <a:p>
            <a:r>
              <a:rPr lang="en-US" sz="1400" dirty="0" err="1">
                <a:latin typeface="Times New Roman" panose="02020603050405020304" pitchFamily="18" charset="0"/>
                <a:cs typeface="Times New Roman" panose="02020603050405020304" pitchFamily="18" charset="0"/>
              </a:rPr>
              <a:t>plt.ylabel</a:t>
            </a:r>
            <a:r>
              <a:rPr lang="en-US" sz="1400" dirty="0">
                <a:latin typeface="Times New Roman" panose="02020603050405020304" pitchFamily="18" charset="0"/>
                <a:cs typeface="Times New Roman" panose="02020603050405020304" pitchFamily="18" charset="0"/>
              </a:rPr>
              <a:t>("CDF")</a:t>
            </a:r>
          </a:p>
          <a:p>
            <a:r>
              <a:rPr lang="en-US" sz="1400" dirty="0" err="1">
                <a:latin typeface="Times New Roman" panose="02020603050405020304" pitchFamily="18" charset="0"/>
                <a:cs typeface="Times New Roman" panose="02020603050405020304" pitchFamily="18" charset="0"/>
              </a:rPr>
              <a:t>plt.title</a:t>
            </a:r>
            <a:r>
              <a:rPr lang="en-US" sz="1400" dirty="0">
                <a:latin typeface="Times New Roman" panose="02020603050405020304" pitchFamily="18" charset="0"/>
                <a:cs typeface="Times New Roman" panose="02020603050405020304" pitchFamily="18" charset="0"/>
              </a:rPr>
              <a:t>('Cumulative Distribution Function for Positive Axillary Nodes')</a:t>
            </a:r>
          </a:p>
          <a:p>
            <a:r>
              <a:rPr lang="en-US" sz="1400" dirty="0" err="1">
                <a:latin typeface="Times New Roman" panose="02020603050405020304" pitchFamily="18" charset="0"/>
                <a:cs typeface="Times New Roman" panose="02020603050405020304" pitchFamily="18" charset="0"/>
              </a:rPr>
              <a:t>plt.grid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plt.show</a:t>
            </a:r>
            <a:r>
              <a:rPr lang="en-US" sz="14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dirty="0"/>
          </a:p>
        </p:txBody>
      </p:sp>
      <p:sp>
        <p:nvSpPr>
          <p:cNvPr id="4" name="Title 2">
            <a:extLst>
              <a:ext uri="{FF2B5EF4-FFF2-40B4-BE49-F238E27FC236}">
                <a16:creationId xmlns:a16="http://schemas.microsoft.com/office/drawing/2014/main" id="{416CBD7E-E3E9-F517-7727-AEE1B564029C}"/>
              </a:ext>
            </a:extLst>
          </p:cNvPr>
          <p:cNvSpPr>
            <a:spLocks noGrp="1"/>
          </p:cNvSpPr>
          <p:nvPr>
            <p:ph type="title"/>
          </p:nvPr>
        </p:nvSpPr>
        <p:spPr>
          <a:xfrm>
            <a:off x="152400" y="33495"/>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3" name="Content Placeholder 4">
            <a:extLst>
              <a:ext uri="{FF2B5EF4-FFF2-40B4-BE49-F238E27FC236}">
                <a16:creationId xmlns:a16="http://schemas.microsoft.com/office/drawing/2014/main" id="{5E43C49F-36B1-24D6-A00B-3F44091758B2}"/>
              </a:ext>
            </a:extLst>
          </p:cNvPr>
          <p:cNvPicPr>
            <a:picLocks noChangeAspect="1"/>
          </p:cNvPicPr>
          <p:nvPr/>
        </p:nvPicPr>
        <p:blipFill>
          <a:blip r:embed="rId2"/>
          <a:stretch>
            <a:fillRect/>
          </a:stretch>
        </p:blipFill>
        <p:spPr bwMode="auto">
          <a:xfrm>
            <a:off x="5752170" y="901857"/>
            <a:ext cx="3201749"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2322DDA-C410-CE73-EE5F-FF1EAC88D8E4}"/>
              </a:ext>
            </a:extLst>
          </p:cNvPr>
          <p:cNvSpPr txBox="1"/>
          <p:nvPr/>
        </p:nvSpPr>
        <p:spPr>
          <a:xfrm>
            <a:off x="381000" y="989070"/>
            <a:ext cx="4577024" cy="1077218"/>
          </a:xfrm>
          <a:prstGeom prst="rect">
            <a:avLst/>
          </a:prstGeom>
          <a:noFill/>
        </p:spPr>
        <p:txBody>
          <a:bodyPr wrap="square">
            <a:spAutoFit/>
          </a:bodyPr>
          <a:lstStyle/>
          <a:p>
            <a:pPr marL="109537" indent="0">
              <a:buNone/>
            </a:pPr>
            <a:r>
              <a:rPr lang="en-US" sz="1600" b="1" dirty="0">
                <a:solidFill>
                  <a:srgbClr val="002060"/>
                </a:solidFill>
                <a:latin typeface="Times New Roman" panose="02020603050405020304" pitchFamily="18" charset="0"/>
                <a:cs typeface="Times New Roman" panose="02020603050405020304" pitchFamily="18" charset="0"/>
              </a:rPr>
              <a:t>Cumulative Distribution Function (CDF): </a:t>
            </a:r>
            <a:r>
              <a:rPr lang="en-US" sz="1600" dirty="0">
                <a:latin typeface="Times New Roman" panose="02020603050405020304" pitchFamily="18" charset="0"/>
                <a:cs typeface="Times New Roman" panose="02020603050405020304" pitchFamily="18" charset="0"/>
              </a:rPr>
              <a:t>CDF plots show the probability that a variable will take a value less than or equal to a specific value. They provide a cumulative measure of the distribution.</a:t>
            </a:r>
          </a:p>
        </p:txBody>
      </p:sp>
      <p:sp>
        <p:nvSpPr>
          <p:cNvPr id="8" name="TextBox 7">
            <a:extLst>
              <a:ext uri="{FF2B5EF4-FFF2-40B4-BE49-F238E27FC236}">
                <a16:creationId xmlns:a16="http://schemas.microsoft.com/office/drawing/2014/main" id="{AB32E17A-165D-E80A-48CB-3A98052D6C36}"/>
              </a:ext>
            </a:extLst>
          </p:cNvPr>
          <p:cNvSpPr txBox="1"/>
          <p:nvPr/>
        </p:nvSpPr>
        <p:spPr>
          <a:xfrm>
            <a:off x="5943599" y="3434024"/>
            <a:ext cx="3018693" cy="2939266"/>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4 or fewer positive axillary nodes have about an 85% chance of surviving 5 years or longer post-operation.</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likelihood decreases for patients with more than 4 axillary nodes.</a:t>
            </a:r>
          </a:p>
        </p:txBody>
      </p:sp>
    </p:spTree>
    <p:extLst>
      <p:ext uri="{BB962C8B-B14F-4D97-AF65-F5344CB8AC3E}">
        <p14:creationId xmlns:p14="http://schemas.microsoft.com/office/powerpoint/2010/main" val="1603025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6AD2435-CD4A-18E2-0FB4-664E530E6640}"/>
              </a:ext>
            </a:extLst>
          </p:cNvPr>
          <p:cNvSpPr>
            <a:spLocks noGrp="1"/>
          </p:cNvSpPr>
          <p:nvPr>
            <p:ph idx="1"/>
          </p:nvPr>
        </p:nvSpPr>
        <p:spPr>
          <a:xfrm>
            <a:off x="304800" y="1066800"/>
            <a:ext cx="8229600" cy="4525962"/>
          </a:xfrm>
        </p:spPr>
        <p:txBody>
          <a:bodyPr/>
          <a:lstStyle/>
          <a:p>
            <a:pPr algn="just"/>
            <a:r>
              <a:rPr lang="en-US" sz="1800" dirty="0">
                <a:latin typeface="Times New Roman" panose="02020603050405020304" pitchFamily="18" charset="0"/>
                <a:cs typeface="Times New Roman" panose="02020603050405020304" pitchFamily="18" charset="0"/>
              </a:rPr>
              <a:t>Box plots, also known as box-and-whisker plots, summarize data using five key metrics: minimum, lower quartile (25th percentile), median (50th percentile), upper quartile (75th percentile), and maximum. They also highlight outliers.</a:t>
            </a:r>
          </a:p>
          <a:p>
            <a:pPr algn="just"/>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figsize</a:t>
            </a:r>
            <a:r>
              <a:rPr lang="en-IN" sz="1800" dirty="0">
                <a:latin typeface="Times New Roman" panose="02020603050405020304" pitchFamily="18" charset="0"/>
                <a:cs typeface="Times New Roman" panose="02020603050405020304" pitchFamily="18" charset="0"/>
              </a:rPr>
              <a:t>=(15, 4))</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(1, 3, 1)</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y='Age',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Age')</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(1, 3, 2)</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y='Year',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Operation Year')</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(1, 3, 3)</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y='Nodes',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Positive Axillary Nodes')</a:t>
            </a:r>
          </a:p>
          <a:p>
            <a:pPr algn="just"/>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pPr algn="just"/>
            <a:endParaRPr lang="en-IN" sz="1800" dirty="0">
              <a:latin typeface="Times New Roman" panose="02020603050405020304" pitchFamily="18" charset="0"/>
              <a:cs typeface="Times New Roman" panose="02020603050405020304" pitchFamily="18" charset="0"/>
            </a:endParaRPr>
          </a:p>
        </p:txBody>
      </p:sp>
      <p:sp>
        <p:nvSpPr>
          <p:cNvPr id="9" name="Title 2">
            <a:extLst>
              <a:ext uri="{FF2B5EF4-FFF2-40B4-BE49-F238E27FC236}">
                <a16:creationId xmlns:a16="http://schemas.microsoft.com/office/drawing/2014/main" id="{0A7C8052-D257-A42E-91C7-24EBEFC304E2}"/>
              </a:ext>
            </a:extLst>
          </p:cNvPr>
          <p:cNvSpPr>
            <a:spLocks noGrp="1"/>
          </p:cNvSpPr>
          <p:nvPr>
            <p:ph type="title"/>
          </p:nvPr>
        </p:nvSpPr>
        <p:spPr>
          <a:xfrm>
            <a:off x="152400" y="152399"/>
            <a:ext cx="8915400" cy="749457"/>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effectLst/>
                <a:latin typeface="Times New Roman" panose="02020603050405020304" pitchFamily="18" charset="0"/>
                <a:cs typeface="Times New Roman" panose="02020603050405020304" pitchFamily="18" charset="0"/>
              </a:rPr>
              <a:t>Box Plots </a:t>
            </a:r>
            <a:r>
              <a:rPr lang="en-US" sz="2400" dirty="0">
                <a:solidFill>
                  <a:srgbClr val="002060"/>
                </a:solidFill>
                <a:latin typeface="Times New Roman" panose="02020603050405020304" pitchFamily="18" charset="0"/>
                <a:cs typeface="Times New Roman" panose="02020603050405020304" pitchFamily="18" charset="0"/>
              </a:rPr>
              <a:t>Contd..</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25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CCF3-4208-DBBF-6C35-2963EE555679}"/>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09DBC19F-8A0F-A6D7-8D3E-E9F9D4993D98}"/>
              </a:ext>
            </a:extLst>
          </p:cNvPr>
          <p:cNvSpPr>
            <a:spLocks noGrp="1"/>
          </p:cNvSpPr>
          <p:nvPr>
            <p:ph type="title"/>
          </p:nvPr>
        </p:nvSpPr>
        <p:spPr>
          <a:xfrm>
            <a:off x="152400" y="152399"/>
            <a:ext cx="8915400" cy="749457"/>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effectLst/>
                <a:latin typeface="Times New Roman" panose="02020603050405020304" pitchFamily="18" charset="0"/>
                <a:cs typeface="Times New Roman" panose="02020603050405020304" pitchFamily="18" charset="0"/>
              </a:rPr>
              <a:t>Box Plots </a:t>
            </a:r>
            <a:r>
              <a:rPr lang="en-US" sz="2400" dirty="0">
                <a:solidFill>
                  <a:srgbClr val="002060"/>
                </a:solidFill>
                <a:latin typeface="Times New Roman" panose="02020603050405020304" pitchFamily="18" charset="0"/>
                <a:cs typeface="Times New Roman" panose="02020603050405020304" pitchFamily="18" charset="0"/>
              </a:rPr>
              <a:t>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B480BC0-6F20-1EA2-36A8-480138A64321}"/>
              </a:ext>
            </a:extLst>
          </p:cNvPr>
          <p:cNvPicPr>
            <a:picLocks noChangeAspect="1"/>
          </p:cNvPicPr>
          <p:nvPr/>
        </p:nvPicPr>
        <p:blipFill>
          <a:blip r:embed="rId2"/>
          <a:stretch>
            <a:fillRect/>
          </a:stretch>
        </p:blipFill>
        <p:spPr>
          <a:xfrm>
            <a:off x="716600" y="1077977"/>
            <a:ext cx="8327754" cy="2667000"/>
          </a:xfrm>
          <a:prstGeom prst="rect">
            <a:avLst/>
          </a:prstGeom>
        </p:spPr>
      </p:pic>
      <p:sp>
        <p:nvSpPr>
          <p:cNvPr id="5" name="TextBox 4">
            <a:extLst>
              <a:ext uri="{FF2B5EF4-FFF2-40B4-BE49-F238E27FC236}">
                <a16:creationId xmlns:a16="http://schemas.microsoft.com/office/drawing/2014/main" id="{073CE6C5-F94C-7FD1-C201-5E3CF5E2B58C}"/>
              </a:ext>
            </a:extLst>
          </p:cNvPr>
          <p:cNvSpPr txBox="1"/>
          <p:nvPr/>
        </p:nvSpPr>
        <p:spPr>
          <a:xfrm>
            <a:off x="842387" y="4572000"/>
            <a:ext cx="7239000" cy="1208023"/>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patient age and operation year plots show similar statistics.</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isolated points in the positive axillary nodes box plot are outliers, which is expected in medical datasets.</a:t>
            </a:r>
          </a:p>
        </p:txBody>
      </p:sp>
    </p:spTree>
    <p:extLst>
      <p:ext uri="{BB962C8B-B14F-4D97-AF65-F5344CB8AC3E}">
        <p14:creationId xmlns:p14="http://schemas.microsoft.com/office/powerpoint/2010/main" val="3988164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B17BF-76F5-989F-EFBD-48583248D4C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538A2B1-7C5E-28FA-2E54-927A1C7DA203}"/>
              </a:ext>
            </a:extLst>
          </p:cNvPr>
          <p:cNvSpPr>
            <a:spLocks noGrp="1"/>
          </p:cNvSpPr>
          <p:nvPr>
            <p:ph idx="1"/>
          </p:nvPr>
        </p:nvSpPr>
        <p:spPr>
          <a:xfrm>
            <a:off x="457200" y="594970"/>
            <a:ext cx="8229600" cy="4525962"/>
          </a:xfrm>
        </p:spPr>
        <p:txBody>
          <a:bodyPr/>
          <a:lstStyle/>
          <a:p>
            <a:r>
              <a:rPr lang="en-US" sz="1800" dirty="0">
                <a:latin typeface="Times New Roman" panose="02020603050405020304" pitchFamily="18" charset="0"/>
                <a:cs typeface="Times New Roman" panose="02020603050405020304" pitchFamily="18" charset="0"/>
              </a:rPr>
              <a:t>Violin plots combine the features of box plots and density plots. They provide a visual summary of the data and show the distribution’s shape, density, and variability.</a:t>
            </a:r>
          </a:p>
          <a:p>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figsize</a:t>
            </a:r>
            <a:r>
              <a:rPr lang="en-IN" sz="1800" dirty="0">
                <a:latin typeface="Times New Roman" panose="02020603050405020304" pitchFamily="18" charset="0"/>
                <a:cs typeface="Times New Roman" panose="02020603050405020304" pitchFamily="18" charset="0"/>
              </a:rPr>
              <a:t>=(15, 4))</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(1, 3, 1)</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y='Age',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Age')</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(1, 3, 2)</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y='Year',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Operation Year')</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(1, 3, 3)</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y='Nodes',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Positive Axillary Nodes')</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9" name="Title 2">
            <a:extLst>
              <a:ext uri="{FF2B5EF4-FFF2-40B4-BE49-F238E27FC236}">
                <a16:creationId xmlns:a16="http://schemas.microsoft.com/office/drawing/2014/main" id="{C741A570-CA61-2D38-770A-AB88974C7032}"/>
              </a:ext>
            </a:extLst>
          </p:cNvPr>
          <p:cNvSpPr>
            <a:spLocks noGrp="1"/>
          </p:cNvSpPr>
          <p:nvPr>
            <p:ph type="title"/>
          </p:nvPr>
        </p:nvSpPr>
        <p:spPr>
          <a:xfrm>
            <a:off x="152400" y="152399"/>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effectLst/>
                <a:latin typeface="Times New Roman" panose="02020603050405020304" pitchFamily="18" charset="0"/>
                <a:cs typeface="Times New Roman" panose="02020603050405020304" pitchFamily="18" charset="0"/>
              </a:rPr>
              <a:t>Violin Plots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556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45D721-2BF8-99E9-68FF-B902F15FAFCD}"/>
              </a:ext>
            </a:extLst>
          </p:cNvPr>
          <p:cNvSpPr>
            <a:spLocks noGrp="1"/>
          </p:cNvSpPr>
          <p:nvPr>
            <p:ph idx="1"/>
          </p:nvPr>
        </p:nvSpPr>
        <p:spPr>
          <a:xfrm>
            <a:off x="228600" y="4114800"/>
            <a:ext cx="8229600" cy="2252662"/>
          </a:xfrm>
        </p:spPr>
        <p:txBody>
          <a:bodyPr/>
          <a:lstStyle/>
          <a:p>
            <a:r>
              <a:rPr lang="en-US" sz="1800" dirty="0">
                <a:latin typeface="Times New Roman" panose="02020603050405020304" pitchFamily="18" charset="0"/>
                <a:cs typeface="Times New Roman" panose="02020603050405020304" pitchFamily="18" charset="0"/>
              </a:rPr>
              <a:t>The distribution of positive axillary nodes is highly skewed for the ‘</a:t>
            </a:r>
            <a:r>
              <a:rPr lang="en-US" sz="1800" dirty="0" err="1">
                <a:latin typeface="Times New Roman" panose="02020603050405020304" pitchFamily="18" charset="0"/>
                <a:cs typeface="Times New Roman" panose="02020603050405020304" pitchFamily="18" charset="0"/>
              </a:rPr>
              <a:t>yes’</a:t>
            </a:r>
            <a:r>
              <a:rPr lang="en-US" sz="1800" dirty="0">
                <a:latin typeface="Times New Roman" panose="02020603050405020304" pitchFamily="18" charset="0"/>
                <a:cs typeface="Times New Roman" panose="02020603050405020304" pitchFamily="18" charset="0"/>
              </a:rPr>
              <a:t> class label and moderately skewed for the ‘no’ label.</a:t>
            </a:r>
          </a:p>
          <a:p>
            <a:r>
              <a:rPr lang="en-US" sz="1800" dirty="0">
                <a:latin typeface="Times New Roman" panose="02020603050405020304" pitchFamily="18" charset="0"/>
                <a:cs typeface="Times New Roman" panose="02020603050405020304" pitchFamily="18" charset="0"/>
              </a:rPr>
              <a:t>The majority of patients, regardless of survival status, have a lower number of positive axillary nodes, with those having 4 or fewer nodes more likely to survive 5 years post-operation.</a:t>
            </a:r>
          </a:p>
          <a:p>
            <a:r>
              <a:rPr lang="en-US" sz="1800" dirty="0">
                <a:latin typeface="Times New Roman" panose="02020603050405020304" pitchFamily="18" charset="0"/>
                <a:cs typeface="Times New Roman" panose="02020603050405020304" pitchFamily="18" charset="0"/>
              </a:rPr>
              <a:t>These observations align with our previous analyses and provide a deeper understanding of the data.</a:t>
            </a:r>
          </a:p>
          <a:p>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6336DDE-7377-0032-848B-5189FB82F5E5}"/>
              </a:ext>
            </a:extLst>
          </p:cNvPr>
          <p:cNvPicPr>
            <a:picLocks noChangeAspect="1"/>
          </p:cNvPicPr>
          <p:nvPr/>
        </p:nvPicPr>
        <p:blipFill>
          <a:blip r:embed="rId2"/>
          <a:stretch>
            <a:fillRect/>
          </a:stretch>
        </p:blipFill>
        <p:spPr>
          <a:xfrm>
            <a:off x="914400" y="1649792"/>
            <a:ext cx="7148179" cy="2232853"/>
          </a:xfrm>
          <a:prstGeom prst="rect">
            <a:avLst/>
          </a:prstGeom>
        </p:spPr>
      </p:pic>
      <p:sp>
        <p:nvSpPr>
          <p:cNvPr id="5" name="Title 2">
            <a:extLst>
              <a:ext uri="{FF2B5EF4-FFF2-40B4-BE49-F238E27FC236}">
                <a16:creationId xmlns:a16="http://schemas.microsoft.com/office/drawing/2014/main" id="{BB716C98-8A8A-BB5C-E1FF-97569145FCCE}"/>
              </a:ext>
            </a:extLst>
          </p:cNvPr>
          <p:cNvSpPr>
            <a:spLocks noGrp="1"/>
          </p:cNvSpPr>
          <p:nvPr>
            <p:ph type="title"/>
          </p:nvPr>
        </p:nvSpPr>
        <p:spPr>
          <a:xfrm>
            <a:off x="114300" y="431300"/>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effectLst/>
                <a:latin typeface="Times New Roman" panose="02020603050405020304" pitchFamily="18" charset="0"/>
                <a:cs typeface="Times New Roman" panose="02020603050405020304" pitchFamily="18" charset="0"/>
              </a:rPr>
              <a:t>Violin Plots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26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E1FFED-3A7E-7972-1DC7-31CE8956A2E1}"/>
              </a:ext>
            </a:extLst>
          </p:cNvPr>
          <p:cNvSpPr>
            <a:spLocks noGrp="1"/>
          </p:cNvSpPr>
          <p:nvPr>
            <p:ph idx="1"/>
          </p:nvPr>
        </p:nvSpPr>
        <p:spPr>
          <a:xfrm>
            <a:off x="457200" y="946033"/>
            <a:ext cx="8229600" cy="2633662"/>
          </a:xfrm>
        </p:spPr>
        <p:txBody>
          <a:bodyPr/>
          <a:lstStyle/>
          <a:p>
            <a:r>
              <a:rPr lang="en-US" sz="1800" dirty="0">
                <a:latin typeface="Times New Roman" panose="02020603050405020304" pitchFamily="18" charset="0"/>
                <a:cs typeface="Times New Roman" panose="02020603050405020304" pitchFamily="18" charset="0"/>
              </a:rPr>
              <a:t>Bar charts display the frequency or count of categories within a single variable, making them useful for comparing different groups.</a:t>
            </a:r>
          </a:p>
          <a:p>
            <a:pPr marL="109537" indent="0">
              <a:buNone/>
            </a:pPr>
            <a:r>
              <a:rPr lang="en-US" sz="1800" b="1" dirty="0">
                <a:latin typeface="Times New Roman" panose="02020603050405020304" pitchFamily="18" charset="0"/>
                <a:cs typeface="Times New Roman" panose="02020603050405020304" pitchFamily="18" charset="0"/>
              </a:rPr>
              <a:t>Survival Status Count</a:t>
            </a:r>
            <a:endParaRPr lang="en-US" sz="1800" dirty="0">
              <a:latin typeface="Times New Roman" panose="02020603050405020304" pitchFamily="18" charset="0"/>
              <a:cs typeface="Times New Roman" panose="02020603050405020304" pitchFamily="18" charset="0"/>
            </a:endParaRPr>
          </a:p>
          <a:p>
            <a:pPr latinLnBrk="0"/>
            <a:r>
              <a:rPr lang="en-US" sz="1800" dirty="0" err="1">
                <a:latin typeface="Times New Roman" panose="02020603050405020304" pitchFamily="18" charset="0"/>
                <a:cs typeface="Times New Roman" panose="02020603050405020304" pitchFamily="18" charset="0"/>
              </a:rPr>
              <a:t>sns.countplot</a:t>
            </a:r>
            <a:r>
              <a:rPr lang="en-US" sz="1800" dirty="0">
                <a:latin typeface="Times New Roman" panose="02020603050405020304" pitchFamily="18" charset="0"/>
                <a:cs typeface="Times New Roman" panose="02020603050405020304" pitchFamily="18" charset="0"/>
              </a:rPr>
              <a:t>(x='</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data=</a:t>
            </a:r>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a:t>
            </a:r>
          </a:p>
          <a:p>
            <a:pPr latinLnBrk="0"/>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('Count of Survival Status')</a:t>
            </a:r>
          </a:p>
          <a:p>
            <a:pPr latinLnBrk="0"/>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('Survival Status')</a:t>
            </a:r>
          </a:p>
          <a:p>
            <a:pPr latinLnBrk="0"/>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('Count')</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E39DC424-C6C7-ED4B-FEA2-ECA03566AF0F}"/>
              </a:ext>
            </a:extLst>
          </p:cNvPr>
          <p:cNvSpPr>
            <a:spLocks noGrp="1"/>
          </p:cNvSpPr>
          <p:nvPr>
            <p:ph type="title"/>
          </p:nvPr>
        </p:nvSpPr>
        <p:spPr>
          <a:xfrm>
            <a:off x="224413" y="126564"/>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Bar Charts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B958C24-EC85-048B-16CA-4C0BFD1A0484}"/>
              </a:ext>
            </a:extLst>
          </p:cNvPr>
          <p:cNvPicPr>
            <a:picLocks noChangeAspect="1"/>
          </p:cNvPicPr>
          <p:nvPr/>
        </p:nvPicPr>
        <p:blipFill>
          <a:blip r:embed="rId2"/>
          <a:stretch>
            <a:fillRect/>
          </a:stretch>
        </p:blipFill>
        <p:spPr>
          <a:xfrm>
            <a:off x="4572000" y="3294571"/>
            <a:ext cx="4298397" cy="3436865"/>
          </a:xfrm>
          <a:prstGeom prst="rect">
            <a:avLst/>
          </a:prstGeom>
        </p:spPr>
      </p:pic>
      <p:sp>
        <p:nvSpPr>
          <p:cNvPr id="8" name="TextBox 7">
            <a:extLst>
              <a:ext uri="{FF2B5EF4-FFF2-40B4-BE49-F238E27FC236}">
                <a16:creationId xmlns:a16="http://schemas.microsoft.com/office/drawing/2014/main" id="{A78E836B-82E4-9BDC-F6A7-84C08907C28D}"/>
              </a:ext>
            </a:extLst>
          </p:cNvPr>
          <p:cNvSpPr txBox="1"/>
          <p:nvPr/>
        </p:nvSpPr>
        <p:spPr>
          <a:xfrm>
            <a:off x="224413" y="4114039"/>
            <a:ext cx="4038600" cy="1797928"/>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This bar chart shows the number of patients who survived 5 years or longer versus those who did not. It helps visualize the class imbalance in the dataset.</a:t>
            </a:r>
          </a:p>
        </p:txBody>
      </p:sp>
    </p:spTree>
    <p:extLst>
      <p:ext uri="{BB962C8B-B14F-4D97-AF65-F5344CB8AC3E}">
        <p14:creationId xmlns:p14="http://schemas.microsoft.com/office/powerpoint/2010/main" val="3038717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7C1701-7545-56C7-F6A3-1B9D904B98ED}"/>
              </a:ext>
            </a:extLst>
          </p:cNvPr>
          <p:cNvSpPr>
            <a:spLocks noGrp="1"/>
          </p:cNvSpPr>
          <p:nvPr>
            <p:ph idx="1"/>
          </p:nvPr>
        </p:nvSpPr>
        <p:spPr>
          <a:xfrm>
            <a:off x="381000" y="762000"/>
            <a:ext cx="8229600" cy="3124200"/>
          </a:xfrm>
        </p:spPr>
        <p:txBody>
          <a:bodyPr/>
          <a:lstStyle/>
          <a:p>
            <a:r>
              <a:rPr lang="en-IN" sz="1800" dirty="0">
                <a:latin typeface="Times New Roman" panose="02020603050405020304" pitchFamily="18" charset="0"/>
                <a:cs typeface="Times New Roman" panose="02020603050405020304" pitchFamily="18" charset="0"/>
              </a:rPr>
              <a:t>Histograms show the distribution of numerical data by grouping data points into bins. They help understand the frequency distribution of a variable.</a:t>
            </a:r>
          </a:p>
          <a:p>
            <a:r>
              <a:rPr lang="en-IN" sz="1800" b="1" dirty="0">
                <a:latin typeface="Times New Roman" panose="02020603050405020304" pitchFamily="18" charset="0"/>
                <a:cs typeface="Times New Roman" panose="02020603050405020304" pitchFamily="18" charset="0"/>
              </a:rPr>
              <a:t>Age Distribution</a:t>
            </a:r>
            <a:endParaRPr lang="en-IN" sz="1800" dirty="0">
              <a:latin typeface="Times New Roman" panose="02020603050405020304" pitchFamily="18" charset="0"/>
              <a:cs typeface="Times New Roman" panose="02020603050405020304" pitchFamily="18" charset="0"/>
            </a:endParaRPr>
          </a:p>
          <a:p>
            <a:pPr latinLnBrk="0"/>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['Age'].plot(kind='hist', bins=20, </a:t>
            </a:r>
            <a:r>
              <a:rPr lang="en-IN" sz="1800" dirty="0" err="1">
                <a:latin typeface="Times New Roman" panose="02020603050405020304" pitchFamily="18" charset="0"/>
                <a:cs typeface="Times New Roman" panose="02020603050405020304" pitchFamily="18" charset="0"/>
              </a:rPr>
              <a:t>edgecolor</a:t>
            </a:r>
            <a:r>
              <a:rPr lang="en-IN" sz="1800" dirty="0">
                <a:latin typeface="Times New Roman" panose="02020603050405020304" pitchFamily="18" charset="0"/>
                <a:cs typeface="Times New Roman" panose="02020603050405020304" pitchFamily="18" charset="0"/>
              </a:rPr>
              <a:t>='black')</a:t>
            </a:r>
          </a:p>
          <a:p>
            <a:pPr latinLnBrk="0"/>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('Histogram of Age')</a:t>
            </a:r>
          </a:p>
          <a:p>
            <a:pPr latinLnBrk="0"/>
            <a:r>
              <a:rPr lang="en-IN" sz="1800" dirty="0" err="1">
                <a:latin typeface="Times New Roman" panose="02020603050405020304" pitchFamily="18" charset="0"/>
                <a:cs typeface="Times New Roman" panose="02020603050405020304" pitchFamily="18" charset="0"/>
              </a:rPr>
              <a:t>plt.xlabel</a:t>
            </a:r>
            <a:r>
              <a:rPr lang="en-IN" sz="1800" dirty="0">
                <a:latin typeface="Times New Roman" panose="02020603050405020304" pitchFamily="18" charset="0"/>
                <a:cs typeface="Times New Roman" panose="02020603050405020304" pitchFamily="18" charset="0"/>
              </a:rPr>
              <a:t>('Age')</a:t>
            </a:r>
          </a:p>
          <a:p>
            <a:pPr latinLnBrk="0"/>
            <a:r>
              <a:rPr lang="en-IN" sz="1800" dirty="0" err="1">
                <a:latin typeface="Times New Roman" panose="02020603050405020304" pitchFamily="18" charset="0"/>
                <a:cs typeface="Times New Roman" panose="02020603050405020304" pitchFamily="18" charset="0"/>
              </a:rPr>
              <a:t>plt.ylabel</a:t>
            </a:r>
            <a:r>
              <a:rPr lang="en-IN" sz="1800" dirty="0">
                <a:latin typeface="Times New Roman" panose="02020603050405020304" pitchFamily="18" charset="0"/>
                <a:cs typeface="Times New Roman" panose="02020603050405020304" pitchFamily="18" charset="0"/>
              </a:rPr>
              <a:t>('Frequency')</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D9B41F9C-5567-FD77-17E9-32FE4C359F4F}"/>
              </a:ext>
            </a:extLst>
          </p:cNvPr>
          <p:cNvSpPr>
            <a:spLocks noGrp="1"/>
          </p:cNvSpPr>
          <p:nvPr>
            <p:ph type="title"/>
          </p:nvPr>
        </p:nvSpPr>
        <p:spPr>
          <a:xfrm>
            <a:off x="224413" y="126564"/>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Histograms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1A6A41C-09FA-86D1-21EC-E3AB455887E9}"/>
              </a:ext>
            </a:extLst>
          </p:cNvPr>
          <p:cNvPicPr>
            <a:picLocks noChangeAspect="1"/>
          </p:cNvPicPr>
          <p:nvPr/>
        </p:nvPicPr>
        <p:blipFill>
          <a:blip r:embed="rId2"/>
          <a:stretch>
            <a:fillRect/>
          </a:stretch>
        </p:blipFill>
        <p:spPr>
          <a:xfrm>
            <a:off x="4603820" y="2895600"/>
            <a:ext cx="4038904" cy="3301365"/>
          </a:xfrm>
          <a:prstGeom prst="rect">
            <a:avLst/>
          </a:prstGeom>
        </p:spPr>
      </p:pic>
      <p:sp>
        <p:nvSpPr>
          <p:cNvPr id="8" name="TextBox 7">
            <a:extLst>
              <a:ext uri="{FF2B5EF4-FFF2-40B4-BE49-F238E27FC236}">
                <a16:creationId xmlns:a16="http://schemas.microsoft.com/office/drawing/2014/main" id="{E5AD19AA-97B0-D8B5-97AE-8A9B17CCB696}"/>
              </a:ext>
            </a:extLst>
          </p:cNvPr>
          <p:cNvSpPr txBox="1"/>
          <p:nvPr/>
        </p:nvSpPr>
        <p:spPr>
          <a:xfrm>
            <a:off x="417007" y="3886200"/>
            <a:ext cx="3581400" cy="1451679"/>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histogram displays how the ages of patients are distributed. Most patients are between 40 and 60 years old.</a:t>
            </a:r>
          </a:p>
        </p:txBody>
      </p:sp>
    </p:spTree>
    <p:extLst>
      <p:ext uri="{BB962C8B-B14F-4D97-AF65-F5344CB8AC3E}">
        <p14:creationId xmlns:p14="http://schemas.microsoft.com/office/powerpoint/2010/main" val="936180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1D8543-3FB3-69EB-24E8-A965C5911CF4}"/>
              </a:ext>
            </a:extLst>
          </p:cNvPr>
          <p:cNvSpPr>
            <a:spLocks noGrp="1"/>
          </p:cNvSpPr>
          <p:nvPr>
            <p:ph idx="1"/>
          </p:nvPr>
        </p:nvSpPr>
        <p:spPr>
          <a:xfrm>
            <a:off x="457200" y="876021"/>
            <a:ext cx="8229600" cy="4525962"/>
          </a:xfrm>
        </p:spPr>
        <p:txBody>
          <a:bodyPr/>
          <a:lstStyle/>
          <a:p>
            <a:r>
              <a:rPr lang="en-US" sz="1800" dirty="0">
                <a:latin typeface="Times New Roman" panose="02020603050405020304" pitchFamily="18" charset="0"/>
                <a:cs typeface="Times New Roman" panose="02020603050405020304" pitchFamily="18" charset="0"/>
              </a:rPr>
              <a:t>Bi-variate data analysis involves studying the relationship between two variables at a time. This helps in understanding how one variable affects another and can reveal underlying patterns or correlations. Here are some common methods for bi-variate analysis.</a:t>
            </a:r>
          </a:p>
          <a:p>
            <a:r>
              <a:rPr lang="en-US" sz="2400" b="1" dirty="0">
                <a:solidFill>
                  <a:srgbClr val="002060"/>
                </a:solidFill>
                <a:latin typeface="Times New Roman" panose="02020603050405020304" pitchFamily="18" charset="0"/>
                <a:cs typeface="Times New Roman" panose="02020603050405020304" pitchFamily="18" charset="0"/>
              </a:rPr>
              <a:t>Pair Plot</a:t>
            </a:r>
          </a:p>
          <a:p>
            <a:r>
              <a:rPr lang="en-US" sz="1800" dirty="0">
                <a:latin typeface="Times New Roman" panose="02020603050405020304" pitchFamily="18" charset="0"/>
                <a:cs typeface="Times New Roman" panose="02020603050405020304" pitchFamily="18" charset="0"/>
              </a:rPr>
              <a:t>A pair plot visualizes the pairwise relationships between variables in a dataset. It displays both the distributions of individual variables and their relationships.</a:t>
            </a:r>
          </a:p>
          <a:p>
            <a:pPr latinLnBrk="0"/>
            <a:r>
              <a:rPr lang="en-US" sz="1800" dirty="0" err="1">
                <a:latin typeface="Times New Roman" panose="02020603050405020304" pitchFamily="18" charset="0"/>
                <a:cs typeface="Times New Roman" panose="02020603050405020304" pitchFamily="18" charset="0"/>
              </a:rPr>
              <a:t>sns.set_style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whitegrid</a:t>
            </a:r>
            <a:r>
              <a:rPr lang="en-US" sz="1800" dirty="0">
                <a:latin typeface="Times New Roman" panose="02020603050405020304" pitchFamily="18" charset="0"/>
                <a:cs typeface="Times New Roman" panose="02020603050405020304" pitchFamily="18" charset="0"/>
              </a:rPr>
              <a:t>')</a:t>
            </a:r>
          </a:p>
          <a:p>
            <a:pPr latinLnBrk="0"/>
            <a:r>
              <a:rPr lang="en-US" sz="1800" dirty="0" err="1">
                <a:latin typeface="Times New Roman" panose="02020603050405020304" pitchFamily="18" charset="0"/>
                <a:cs typeface="Times New Roman" panose="02020603050405020304" pitchFamily="18" charset="0"/>
              </a:rPr>
              <a:t>sns.pairplot</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4D74AFCF-F4C6-BD5D-A60A-BCD329A67260}"/>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Pair Plot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24499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78B392-E4D0-3EE4-E54B-EFA7C71314EC}"/>
              </a:ext>
            </a:extLst>
          </p:cNvPr>
          <p:cNvPicPr>
            <a:picLocks noChangeAspect="1"/>
          </p:cNvPicPr>
          <p:nvPr/>
        </p:nvPicPr>
        <p:blipFill>
          <a:blip r:embed="rId2"/>
          <a:stretch>
            <a:fillRect/>
          </a:stretch>
        </p:blipFill>
        <p:spPr>
          <a:xfrm>
            <a:off x="3645230" y="1317557"/>
            <a:ext cx="5438480" cy="4626043"/>
          </a:xfrm>
          <a:prstGeom prst="rect">
            <a:avLst/>
          </a:prstGeom>
        </p:spPr>
      </p:pic>
      <p:sp>
        <p:nvSpPr>
          <p:cNvPr id="7" name="TextBox 6">
            <a:extLst>
              <a:ext uri="{FF2B5EF4-FFF2-40B4-BE49-F238E27FC236}">
                <a16:creationId xmlns:a16="http://schemas.microsoft.com/office/drawing/2014/main" id="{A91561D3-CB1D-CE5E-6BD2-DCC04322E091}"/>
              </a:ext>
            </a:extLst>
          </p:cNvPr>
          <p:cNvSpPr txBox="1"/>
          <p:nvPr/>
        </p:nvSpPr>
        <p:spPr>
          <a:xfrm>
            <a:off x="325734" y="797510"/>
            <a:ext cx="3340430" cy="5262979"/>
          </a:xfrm>
          <a:prstGeom prst="rect">
            <a:avLst/>
          </a:prstGeom>
          <a:noFill/>
        </p:spPr>
        <p:txBody>
          <a:bodyPr wrap="square">
            <a:spAutoFit/>
          </a:bodyPr>
          <a:lstStyle/>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pair plot shows scatter plots of each pair of variables and histograms of each variable along the diagonal.</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scatter plots on the upper and lower halves of the matrix are mirror images, so analyzing one half is sufficient.</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histograms on the diagonal show the univariate distribution of each feature.</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There is a high overlap between any two features, indicating no clear distinction between the survival status class labels based on feature pairs.</a:t>
            </a:r>
          </a:p>
          <a:p>
            <a:pPr algn="just">
              <a:spcAft>
                <a:spcPts val="0"/>
              </a:spcAft>
              <a:buNone/>
            </a:pPr>
            <a:r>
              <a:rPr lang="en-US" sz="1600" b="0" i="0" dirty="0">
                <a:solidFill>
                  <a:srgbClr val="383838"/>
                </a:solidFill>
                <a:effectLst/>
                <a:latin typeface="Times New Roman" panose="02020603050405020304" pitchFamily="18" charset="0"/>
                <a:cs typeface="Times New Roman" panose="02020603050405020304" pitchFamily="18" charset="0"/>
              </a:rPr>
              <a:t>While the pair plot provides an overview of the relationships between all pairs of variables, sometimes it is useful to focus on the relationship between just two specific variables in more detail. This is where the joint plot comes in.</a:t>
            </a:r>
          </a:p>
        </p:txBody>
      </p:sp>
      <p:sp>
        <p:nvSpPr>
          <p:cNvPr id="8" name="Title 2">
            <a:extLst>
              <a:ext uri="{FF2B5EF4-FFF2-40B4-BE49-F238E27FC236}">
                <a16:creationId xmlns:a16="http://schemas.microsoft.com/office/drawing/2014/main" id="{1564EA26-6571-0476-4D86-517CE1B3FA2E}"/>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Pair Plot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419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3C6E0B-01CD-2849-5E8B-D16E625CD2F4}"/>
              </a:ext>
            </a:extLst>
          </p:cNvPr>
          <p:cNvSpPr>
            <a:spLocks noGrp="1"/>
          </p:cNvSpPr>
          <p:nvPr>
            <p:ph idx="1"/>
          </p:nvPr>
        </p:nvSpPr>
        <p:spPr>
          <a:xfrm>
            <a:off x="457200" y="1481138"/>
            <a:ext cx="3810000" cy="2709862"/>
          </a:xfrm>
        </p:spPr>
        <p:txBody>
          <a:bodyPr/>
          <a:lstStyle/>
          <a:p>
            <a:pPr marL="109537" indent="0">
              <a:buNone/>
            </a:pPr>
            <a:r>
              <a:rPr lang="en-US" sz="1800" dirty="0">
                <a:latin typeface="Times New Roman" panose="02020603050405020304" pitchFamily="18" charset="0"/>
                <a:cs typeface="Times New Roman" panose="02020603050405020304" pitchFamily="18" charset="0"/>
              </a:rPr>
              <a:t>A joint plot provides a detailed view of the relationship between two variables along with their individual distributions.</a:t>
            </a:r>
          </a:p>
          <a:p>
            <a:pPr latinLnBrk="0"/>
            <a:r>
              <a:rPr lang="en-US" sz="1800" dirty="0" err="1">
                <a:latin typeface="Times New Roman" panose="02020603050405020304" pitchFamily="18" charset="0"/>
                <a:cs typeface="Times New Roman" panose="02020603050405020304" pitchFamily="18" charset="0"/>
              </a:rPr>
              <a:t>sns.jointplot</a:t>
            </a:r>
            <a:r>
              <a:rPr lang="en-US" sz="1800" dirty="0">
                <a:latin typeface="Times New Roman" panose="02020603050405020304" pitchFamily="18" charset="0"/>
                <a:cs typeface="Times New Roman" panose="02020603050405020304" pitchFamily="18" charset="0"/>
              </a:rPr>
              <a:t>(x='Age', y='Nodes', data=data, kind='scatter')</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E38C0B3A-0AB0-8260-2E4F-5069B2AF3BD3}"/>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Joint Plot</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C1B3512-B832-480C-FB65-C40F1AE2AFE1}"/>
              </a:ext>
            </a:extLst>
          </p:cNvPr>
          <p:cNvPicPr>
            <a:picLocks noChangeAspect="1"/>
          </p:cNvPicPr>
          <p:nvPr/>
        </p:nvPicPr>
        <p:blipFill>
          <a:blip r:embed="rId2"/>
          <a:stretch>
            <a:fillRect/>
          </a:stretch>
        </p:blipFill>
        <p:spPr>
          <a:xfrm>
            <a:off x="4038600" y="1371600"/>
            <a:ext cx="4907566" cy="4590949"/>
          </a:xfrm>
          <a:prstGeom prst="rect">
            <a:avLst/>
          </a:prstGeom>
        </p:spPr>
      </p:pic>
    </p:spTree>
    <p:extLst>
      <p:ext uri="{BB962C8B-B14F-4D97-AF65-F5344CB8AC3E}">
        <p14:creationId xmlns:p14="http://schemas.microsoft.com/office/powerpoint/2010/main" val="4981934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EF3A3-13C7-FE4B-3E16-A4899ACF9FBA}"/>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0DAD8F8F-D5A4-4849-8794-171A9744185C}"/>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Joint Plot</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9EA5D2A-E116-05AA-8D2D-3C383AF1472B}"/>
              </a:ext>
            </a:extLst>
          </p:cNvPr>
          <p:cNvPicPr>
            <a:picLocks noChangeAspect="1"/>
          </p:cNvPicPr>
          <p:nvPr/>
        </p:nvPicPr>
        <p:blipFill>
          <a:blip r:embed="rId2"/>
          <a:stretch>
            <a:fillRect/>
          </a:stretch>
        </p:blipFill>
        <p:spPr>
          <a:xfrm>
            <a:off x="3957145" y="1295400"/>
            <a:ext cx="4989021" cy="4667149"/>
          </a:xfrm>
          <a:prstGeom prst="rect">
            <a:avLst/>
          </a:prstGeom>
        </p:spPr>
      </p:pic>
      <p:sp>
        <p:nvSpPr>
          <p:cNvPr id="8" name="TextBox 7">
            <a:extLst>
              <a:ext uri="{FF2B5EF4-FFF2-40B4-BE49-F238E27FC236}">
                <a16:creationId xmlns:a16="http://schemas.microsoft.com/office/drawing/2014/main" id="{EDEB55FF-7494-3F5E-4743-16087DBF48E3}"/>
              </a:ext>
            </a:extLst>
          </p:cNvPr>
          <p:cNvSpPr txBox="1"/>
          <p:nvPr/>
        </p:nvSpPr>
        <p:spPr>
          <a:xfrm>
            <a:off x="304800" y="818029"/>
            <a:ext cx="3581400" cy="5078313"/>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Inter"/>
              </a:rPr>
              <a:t>The scatter plot in the center shows no correlation between the patient’s age and the number of positive axillary nodes detected.</a:t>
            </a:r>
          </a:p>
          <a:p>
            <a:pPr algn="just">
              <a:spcAft>
                <a:spcPts val="0"/>
              </a:spcAft>
              <a:buFont typeface="Arial" panose="020B0604020202020204" pitchFamily="34" charset="0"/>
              <a:buChar char="•"/>
            </a:pPr>
            <a:r>
              <a:rPr lang="en-US" b="0" i="0" dirty="0">
                <a:solidFill>
                  <a:srgbClr val="383838"/>
                </a:solidFill>
                <a:effectLst/>
                <a:latin typeface="Inter"/>
              </a:rPr>
              <a:t>The histogram on the top edge shows that patients are more likely to get operated on between the ages of 40 and 60 years.</a:t>
            </a:r>
          </a:p>
          <a:p>
            <a:pPr algn="just">
              <a:spcAft>
                <a:spcPts val="0"/>
              </a:spcAft>
              <a:buFont typeface="Arial" panose="020B0604020202020204" pitchFamily="34" charset="0"/>
              <a:buChar char="•"/>
            </a:pPr>
            <a:r>
              <a:rPr lang="en-US" b="0" i="0" dirty="0">
                <a:solidFill>
                  <a:srgbClr val="383838"/>
                </a:solidFill>
                <a:effectLst/>
                <a:latin typeface="Inter"/>
              </a:rPr>
              <a:t>The histogram on the right edge indicates that the majority of patients had fewer than 4 positive axillary nodes.</a:t>
            </a:r>
          </a:p>
          <a:p>
            <a:pPr algn="just">
              <a:spcAft>
                <a:spcPts val="0"/>
              </a:spcAft>
              <a:buNone/>
            </a:pPr>
            <a:r>
              <a:rPr lang="en-US" b="0" i="0" dirty="0">
                <a:solidFill>
                  <a:srgbClr val="383838"/>
                </a:solidFill>
                <a:effectLst/>
                <a:latin typeface="Inter"/>
              </a:rPr>
              <a:t>While joint plots and pair plots help visualize the relationships between pairs of variables, a heatmap can provide a broader view of the correlations among all the variables in the dataset simultaneously.</a:t>
            </a:r>
          </a:p>
        </p:txBody>
      </p:sp>
    </p:spTree>
    <p:extLst>
      <p:ext uri="{BB962C8B-B14F-4D97-AF65-F5344CB8AC3E}">
        <p14:creationId xmlns:p14="http://schemas.microsoft.com/office/powerpoint/2010/main" val="3545963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02F82-BDB3-0B3C-8241-9D947007CB69}"/>
              </a:ext>
            </a:extLst>
          </p:cNvPr>
          <p:cNvSpPr>
            <a:spLocks noGrp="1"/>
          </p:cNvSpPr>
          <p:nvPr>
            <p:ph idx="1"/>
          </p:nvPr>
        </p:nvSpPr>
        <p:spPr>
          <a:xfrm>
            <a:off x="457200" y="886907"/>
            <a:ext cx="8229600" cy="2008693"/>
          </a:xfrm>
        </p:spPr>
        <p:txBody>
          <a:bodyPr/>
          <a:lstStyle/>
          <a:p>
            <a:r>
              <a:rPr lang="en-IN" sz="1800" dirty="0">
                <a:latin typeface="Times New Roman" panose="02020603050405020304" pitchFamily="18" charset="0"/>
                <a:cs typeface="Times New Roman" panose="02020603050405020304" pitchFamily="18" charset="0"/>
              </a:rPr>
              <a:t>Heatmap</a:t>
            </a:r>
          </a:p>
          <a:p>
            <a:r>
              <a:rPr lang="en-IN" sz="1800" dirty="0">
                <a:latin typeface="Times New Roman" panose="02020603050405020304" pitchFamily="18" charset="0"/>
                <a:cs typeface="Times New Roman" panose="02020603050405020304" pitchFamily="18" charset="0"/>
              </a:rPr>
              <a:t>A heatmap visualizes the correlation between different variables. It uses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coding to represent the strength of the correlations, which can help identify relationships between variables.</a:t>
            </a:r>
          </a:p>
          <a:p>
            <a:pPr latinLnBrk="0"/>
            <a:r>
              <a:rPr lang="en-IN" sz="1800" dirty="0" err="1">
                <a:latin typeface="Times New Roman" panose="02020603050405020304" pitchFamily="18" charset="0"/>
                <a:cs typeface="Times New Roman" panose="02020603050405020304" pitchFamily="18" charset="0"/>
              </a:rPr>
              <a:t>sns.heatmap</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data.corr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cmap</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YlGnBu</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annot</a:t>
            </a:r>
            <a:r>
              <a:rPr lang="en-IN" sz="1800" dirty="0">
                <a:latin typeface="Times New Roman" panose="02020603050405020304" pitchFamily="18" charset="0"/>
                <a:cs typeface="Times New Roman" panose="02020603050405020304" pitchFamily="18" charset="0"/>
              </a:rPr>
              <a:t>=True)</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F3DAD43D-BAA8-FA2D-3DB4-0AC338EF4F66}"/>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Heatmap</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A8F0113-87E7-0F65-EF6B-C86370DC3EDB}"/>
              </a:ext>
            </a:extLst>
          </p:cNvPr>
          <p:cNvPicPr>
            <a:picLocks noChangeAspect="1"/>
          </p:cNvPicPr>
          <p:nvPr/>
        </p:nvPicPr>
        <p:blipFill>
          <a:blip r:embed="rId2"/>
          <a:srcRect l="7589" t="6336" r="2696" b="-2398"/>
          <a:stretch>
            <a:fillRect/>
          </a:stretch>
        </p:blipFill>
        <p:spPr>
          <a:xfrm>
            <a:off x="4612193" y="2618294"/>
            <a:ext cx="4191000" cy="3352799"/>
          </a:xfrm>
          <a:prstGeom prst="rect">
            <a:avLst/>
          </a:prstGeom>
        </p:spPr>
      </p:pic>
    </p:spTree>
    <p:extLst>
      <p:ext uri="{BB962C8B-B14F-4D97-AF65-F5344CB8AC3E}">
        <p14:creationId xmlns:p14="http://schemas.microsoft.com/office/powerpoint/2010/main" val="2610046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9AEA-7DB1-0133-DF6B-99647D3BA9A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AF2DAA3-778B-4E09-044B-791E57B3E0FE}"/>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Heatmap</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60C7C20-CED4-C7D2-854B-4B68F3987E52}"/>
              </a:ext>
            </a:extLst>
          </p:cNvPr>
          <p:cNvPicPr>
            <a:picLocks noChangeAspect="1"/>
          </p:cNvPicPr>
          <p:nvPr/>
        </p:nvPicPr>
        <p:blipFill>
          <a:blip r:embed="rId2"/>
          <a:srcRect l="7589" t="6336" r="2696" b="-2398"/>
          <a:stretch>
            <a:fillRect/>
          </a:stretch>
        </p:blipFill>
        <p:spPr>
          <a:xfrm>
            <a:off x="4612193" y="2618294"/>
            <a:ext cx="4191000" cy="3352799"/>
          </a:xfrm>
          <a:prstGeom prst="rect">
            <a:avLst/>
          </a:prstGeom>
        </p:spPr>
      </p:pic>
      <p:sp>
        <p:nvSpPr>
          <p:cNvPr id="8" name="TextBox 7">
            <a:extLst>
              <a:ext uri="{FF2B5EF4-FFF2-40B4-BE49-F238E27FC236}">
                <a16:creationId xmlns:a16="http://schemas.microsoft.com/office/drawing/2014/main" id="{4DD16547-7C08-AA4E-8D7A-29F14C83587B}"/>
              </a:ext>
            </a:extLst>
          </p:cNvPr>
          <p:cNvSpPr txBox="1"/>
          <p:nvPr/>
        </p:nvSpPr>
        <p:spPr>
          <a:xfrm>
            <a:off x="340806" y="990600"/>
            <a:ext cx="8193593" cy="1477328"/>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heatmap displays Pearson’s R values, indicating the correlation between pairs of variables.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Correlation values close to 0 suggest no linear relationship between the variables.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In this dataset, there are no strong correlations between any pairs of variables, as most values are near 0.</a:t>
            </a:r>
          </a:p>
        </p:txBody>
      </p:sp>
      <p:sp>
        <p:nvSpPr>
          <p:cNvPr id="7" name="TextBox 6">
            <a:extLst>
              <a:ext uri="{FF2B5EF4-FFF2-40B4-BE49-F238E27FC236}">
                <a16:creationId xmlns:a16="http://schemas.microsoft.com/office/drawing/2014/main" id="{197F9319-4CA5-0011-5CE1-576B1D8C325C}"/>
              </a:ext>
            </a:extLst>
          </p:cNvPr>
          <p:cNvSpPr txBox="1"/>
          <p:nvPr/>
        </p:nvSpPr>
        <p:spPr>
          <a:xfrm>
            <a:off x="340806" y="3056039"/>
            <a:ext cx="4191000" cy="2585323"/>
          </a:xfrm>
          <a:prstGeom prst="rect">
            <a:avLst/>
          </a:prstGeom>
          <a:noFill/>
        </p:spPr>
        <p:txBody>
          <a:bodyPr wrap="square">
            <a:spAutoFit/>
          </a:bodyPr>
          <a:lstStyle/>
          <a:p>
            <a:pPr algn="just">
              <a:spcAft>
                <a:spcPts val="0"/>
              </a:spcAft>
              <a:buNone/>
            </a:pPr>
            <a:r>
              <a:rPr lang="en-US" b="0" i="0" dirty="0">
                <a:solidFill>
                  <a:srgbClr val="383838"/>
                </a:solidFill>
                <a:effectLst/>
                <a:latin typeface="Times New Roman" panose="02020603050405020304" pitchFamily="18" charset="0"/>
                <a:cs typeface="Times New Roman" panose="02020603050405020304" pitchFamily="18" charset="0"/>
              </a:rPr>
              <a:t>These bi-variate analysis techniques provide valuable insights into the relationships between different features in the dataset, helping to understand how they interact and influence each other. Understanding these relationships is crucial for building more accurate models and making informed decisions in data analysis and machine learning tasks</a:t>
            </a:r>
          </a:p>
        </p:txBody>
      </p:sp>
    </p:spTree>
    <p:extLst>
      <p:ext uri="{BB962C8B-B14F-4D97-AF65-F5344CB8AC3E}">
        <p14:creationId xmlns:p14="http://schemas.microsoft.com/office/powerpoint/2010/main" val="13169774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FD8842-D25C-3ED9-FAFE-1F19165C7408}"/>
              </a:ext>
            </a:extLst>
          </p:cNvPr>
          <p:cNvSpPr>
            <a:spLocks noGrp="1"/>
          </p:cNvSpPr>
          <p:nvPr>
            <p:ph idx="1"/>
          </p:nvPr>
        </p:nvSpPr>
        <p:spPr>
          <a:xfrm>
            <a:off x="457200" y="990600"/>
            <a:ext cx="8229600" cy="2786062"/>
          </a:xfrm>
        </p:spPr>
        <p:txBody>
          <a:bodyPr/>
          <a:lstStyle/>
          <a:p>
            <a:r>
              <a:rPr lang="en-US" sz="1800" b="1" dirty="0">
                <a:latin typeface="Times New Roman" panose="02020603050405020304" pitchFamily="18" charset="0"/>
                <a:cs typeface="Times New Roman" panose="02020603050405020304" pitchFamily="18" charset="0"/>
              </a:rPr>
              <a:t>Multivariate analysis</a:t>
            </a:r>
            <a:r>
              <a:rPr lang="en-US" sz="1800" dirty="0">
                <a:latin typeface="Times New Roman" panose="02020603050405020304" pitchFamily="18" charset="0"/>
                <a:cs typeface="Times New Roman" panose="02020603050405020304" pitchFamily="18" charset="0"/>
              </a:rPr>
              <a:t> involves examining more than two variables simultaneously to understand their relationships and combined effects. This type of analysis is essential for uncovering complex interactions in data. Let’s explore several multivariate analysis techniques.</a:t>
            </a:r>
          </a:p>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Contour Plot:</a:t>
            </a:r>
          </a:p>
          <a:p>
            <a:r>
              <a:rPr lang="en-US" sz="1800" dirty="0">
                <a:latin typeface="Times New Roman" panose="02020603050405020304" pitchFamily="18" charset="0"/>
                <a:cs typeface="Times New Roman" panose="02020603050405020304" pitchFamily="18" charset="0"/>
              </a:rPr>
              <a:t>A contour plot is a graphical technique that represents a 3-dimensional surface by plotting constant z slices, called contours, in a 2-dimensional format. This allows us to visualize complex relationships between three variables in an easily interpretable 2-D chart.</a:t>
            </a: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5CA72D5-BC8D-5E06-8D30-F244B16D6EA5}"/>
              </a:ext>
            </a:extLst>
          </p:cNvPr>
          <p:cNvSpPr>
            <a:spLocks noGrp="1"/>
          </p:cNvSpPr>
          <p:nvPr>
            <p:ph type="title"/>
          </p:nvPr>
        </p:nvSpPr>
        <p:spPr>
          <a:xfrm>
            <a:off x="457200" y="274638"/>
            <a:ext cx="8229600" cy="715962"/>
          </a:xfrm>
        </p:spPr>
        <p:txBody>
          <a:bodyPr>
            <a:normAutofit/>
          </a:bodyPr>
          <a:lstStyle/>
          <a:p>
            <a:r>
              <a:rPr lang="en-US" sz="3200" dirty="0">
                <a:latin typeface="Times New Roman" panose="02020603050405020304" pitchFamily="18" charset="0"/>
                <a:cs typeface="Times New Roman" panose="02020603050405020304" pitchFamily="18" charset="0"/>
              </a:rPr>
              <a:t>Multivariate Analysis-Contour Plot</a:t>
            </a:r>
            <a:endParaRPr lang="en-IN" sz="3200" dirty="0"/>
          </a:p>
        </p:txBody>
      </p:sp>
      <p:pic>
        <p:nvPicPr>
          <p:cNvPr id="5" name="Picture 4">
            <a:extLst>
              <a:ext uri="{FF2B5EF4-FFF2-40B4-BE49-F238E27FC236}">
                <a16:creationId xmlns:a16="http://schemas.microsoft.com/office/drawing/2014/main" id="{3C37D19E-0358-3554-4A29-0D6D7DD63F15}"/>
              </a:ext>
            </a:extLst>
          </p:cNvPr>
          <p:cNvPicPr>
            <a:picLocks noChangeAspect="1"/>
          </p:cNvPicPr>
          <p:nvPr/>
        </p:nvPicPr>
        <p:blipFill>
          <a:blip r:embed="rId2"/>
          <a:stretch>
            <a:fillRect/>
          </a:stretch>
        </p:blipFill>
        <p:spPr>
          <a:xfrm>
            <a:off x="4343400" y="3581400"/>
            <a:ext cx="4130398" cy="2758679"/>
          </a:xfrm>
          <a:prstGeom prst="rect">
            <a:avLst/>
          </a:prstGeom>
        </p:spPr>
      </p:pic>
    </p:spTree>
    <p:extLst>
      <p:ext uri="{BB962C8B-B14F-4D97-AF65-F5344CB8AC3E}">
        <p14:creationId xmlns:p14="http://schemas.microsoft.com/office/powerpoint/2010/main" val="3059488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81BD32-E8DA-AEF8-E270-7642F14A2DAF}"/>
              </a:ext>
            </a:extLst>
          </p:cNvPr>
          <p:cNvSpPr>
            <a:spLocks noGrp="1"/>
          </p:cNvSpPr>
          <p:nvPr>
            <p:ph idx="1"/>
          </p:nvPr>
        </p:nvSpPr>
        <p:spPr>
          <a:xfrm>
            <a:off x="447989" y="762000"/>
            <a:ext cx="8229600" cy="1371600"/>
          </a:xfrm>
        </p:spPr>
        <p:txBody>
          <a:bodyPr/>
          <a:lstStyle/>
          <a:p>
            <a:r>
              <a:rPr lang="en-US" sz="1800" dirty="0">
                <a:latin typeface="Times New Roman" panose="02020603050405020304" pitchFamily="18" charset="0"/>
                <a:cs typeface="Times New Roman" panose="02020603050405020304" pitchFamily="18" charset="0"/>
              </a:rPr>
              <a:t>Now we examine the relationship between patient’s age and operation year, and how these relate to the number of patients.</a:t>
            </a:r>
          </a:p>
          <a:p>
            <a:pPr latinLnBrk="0"/>
            <a:r>
              <a:rPr lang="en-US" sz="1800" dirty="0" err="1">
                <a:latin typeface="Times New Roman" panose="02020603050405020304" pitchFamily="18" charset="0"/>
                <a:cs typeface="Times New Roman" panose="02020603050405020304" pitchFamily="18" charset="0"/>
              </a:rPr>
              <a:t>sns.jointplot</a:t>
            </a:r>
            <a:r>
              <a:rPr lang="en-US" sz="1800" dirty="0">
                <a:latin typeface="Times New Roman" panose="02020603050405020304" pitchFamily="18" charset="0"/>
                <a:cs typeface="Times New Roman" panose="02020603050405020304" pitchFamily="18" charset="0"/>
              </a:rPr>
              <a:t>(x='Age', y='Year', data=data, kind='</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 fill=True)</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5A7E376C-3526-82BE-EE52-D43170A195D3}"/>
              </a:ext>
            </a:extLst>
          </p:cNvPr>
          <p:cNvSpPr>
            <a:spLocks noGrp="1"/>
          </p:cNvSpPr>
          <p:nvPr>
            <p:ph type="title"/>
          </p:nvPr>
        </p:nvSpPr>
        <p:spPr>
          <a:xfrm>
            <a:off x="457200" y="168584"/>
            <a:ext cx="8229600" cy="715962"/>
          </a:xfrm>
        </p:spPr>
        <p:txBody>
          <a:bodyPr>
            <a:normAutofit/>
          </a:bodyPr>
          <a:lstStyle/>
          <a:p>
            <a:r>
              <a:rPr lang="en-US" sz="3200" dirty="0">
                <a:latin typeface="Times New Roman" panose="02020603050405020304" pitchFamily="18" charset="0"/>
                <a:cs typeface="Times New Roman" panose="02020603050405020304" pitchFamily="18" charset="0"/>
              </a:rPr>
              <a:t>Multivariate Analysis-Contour Plot</a:t>
            </a:r>
            <a:endParaRPr lang="en-IN" sz="3200" dirty="0"/>
          </a:p>
        </p:txBody>
      </p:sp>
      <p:pic>
        <p:nvPicPr>
          <p:cNvPr id="6" name="Picture 5">
            <a:extLst>
              <a:ext uri="{FF2B5EF4-FFF2-40B4-BE49-F238E27FC236}">
                <a16:creationId xmlns:a16="http://schemas.microsoft.com/office/drawing/2014/main" id="{1CB49FFA-B205-0BD1-422F-2C265A9DF4F5}"/>
              </a:ext>
            </a:extLst>
          </p:cNvPr>
          <p:cNvPicPr>
            <a:picLocks noChangeAspect="1"/>
          </p:cNvPicPr>
          <p:nvPr/>
        </p:nvPicPr>
        <p:blipFill>
          <a:blip r:embed="rId2"/>
          <a:stretch>
            <a:fillRect/>
          </a:stretch>
        </p:blipFill>
        <p:spPr>
          <a:xfrm>
            <a:off x="152400" y="2338257"/>
            <a:ext cx="3810000" cy="3757743"/>
          </a:xfrm>
          <a:prstGeom prst="rect">
            <a:avLst/>
          </a:prstGeom>
        </p:spPr>
      </p:pic>
      <p:sp>
        <p:nvSpPr>
          <p:cNvPr id="8" name="TextBox 7">
            <a:extLst>
              <a:ext uri="{FF2B5EF4-FFF2-40B4-BE49-F238E27FC236}">
                <a16:creationId xmlns:a16="http://schemas.microsoft.com/office/drawing/2014/main" id="{7F71045A-A99D-2DDF-0AE8-7ED2013AFED6}"/>
              </a:ext>
            </a:extLst>
          </p:cNvPr>
          <p:cNvSpPr txBox="1"/>
          <p:nvPr/>
        </p:nvSpPr>
        <p:spPr>
          <a:xfrm>
            <a:off x="4198885" y="1828800"/>
            <a:ext cx="4577024" cy="5078313"/>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From the above contour plot, it can be observed that the years 1959–1964 witnessed more patients in the age group of 45–55 years.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contour lines represent the density of data points. Closer contour lines indicate a higher density of data points.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areas with the darkest shading represent the highest density of patients, showing the most common combinations of age and operation year.</a:t>
            </a:r>
          </a:p>
          <a:p>
            <a:pPr algn="just">
              <a:spcAft>
                <a:spcPts val="0"/>
              </a:spcAft>
              <a:buNone/>
            </a:pPr>
            <a:r>
              <a:rPr lang="en-US" b="0" i="0" dirty="0">
                <a:solidFill>
                  <a:srgbClr val="383838"/>
                </a:solidFill>
                <a:effectLst/>
                <a:latin typeface="Times New Roman" panose="02020603050405020304" pitchFamily="18" charset="0"/>
                <a:cs typeface="Times New Roman" panose="02020603050405020304" pitchFamily="18" charset="0"/>
              </a:rPr>
              <a:t>By utilizing contour plots, we can effectively consolidate information from three dimensions into a two-dimensional format, making it easier to identify patterns and relationships in the data. This approach enhances our ability to perform comprehensive multivariate analysis and extract valuable insights from complex datasets.</a:t>
            </a:r>
          </a:p>
        </p:txBody>
      </p:sp>
    </p:spTree>
    <p:extLst>
      <p:ext uri="{BB962C8B-B14F-4D97-AF65-F5344CB8AC3E}">
        <p14:creationId xmlns:p14="http://schemas.microsoft.com/office/powerpoint/2010/main" val="26843935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0DDA0A-565C-DE00-D514-5814DE16AC82}"/>
              </a:ext>
            </a:extLst>
          </p:cNvPr>
          <p:cNvSpPr>
            <a:spLocks noGrp="1"/>
          </p:cNvSpPr>
          <p:nvPr>
            <p:ph idx="1"/>
          </p:nvPr>
        </p:nvSpPr>
        <p:spPr>
          <a:xfrm>
            <a:off x="211668" y="2438400"/>
            <a:ext cx="4572000" cy="3763962"/>
          </a:xfrm>
        </p:spPr>
        <p:txBody>
          <a:bodyPr/>
          <a:lstStyle/>
          <a:p>
            <a:pPr marL="109537" indent="0" latinLnBrk="0">
              <a:buNone/>
            </a:pPr>
            <a:endParaRPr lang="en-IN" sz="1800" dirty="0">
              <a:latin typeface="Times New Roman" panose="02020603050405020304" pitchFamily="18" charset="0"/>
              <a:cs typeface="Times New Roman" panose="02020603050405020304" pitchFamily="18" charset="0"/>
            </a:endParaRPr>
          </a:p>
          <a:p>
            <a:pPr latinLnBrk="0"/>
            <a:r>
              <a:rPr lang="en-IN" sz="1800" dirty="0">
                <a:latin typeface="Times New Roman" panose="02020603050405020304" pitchFamily="18" charset="0"/>
                <a:cs typeface="Times New Roman" panose="02020603050405020304" pitchFamily="18" charset="0"/>
              </a:rPr>
              <a:t>fig = </a:t>
            </a:r>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p>
          <a:p>
            <a:pPr latinLnBrk="0"/>
            <a:r>
              <a:rPr lang="en-IN" sz="1800" dirty="0" err="1">
                <a:latin typeface="Times New Roman" panose="02020603050405020304" pitchFamily="18" charset="0"/>
                <a:cs typeface="Times New Roman" panose="02020603050405020304" pitchFamily="18" charset="0"/>
              </a:rPr>
              <a:t>ax</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fig.add_subplot</a:t>
            </a:r>
            <a:r>
              <a:rPr lang="en-IN" sz="1800" dirty="0">
                <a:latin typeface="Times New Roman" panose="02020603050405020304" pitchFamily="18" charset="0"/>
                <a:cs typeface="Times New Roman" panose="02020603050405020304" pitchFamily="18" charset="0"/>
              </a:rPr>
              <a:t>(111, projection='3d')</a:t>
            </a:r>
          </a:p>
          <a:p>
            <a:pPr latinLnBrk="0"/>
            <a:endParaRPr lang="en-IN" sz="1800" dirty="0">
              <a:latin typeface="Times New Roman" panose="02020603050405020304" pitchFamily="18" charset="0"/>
              <a:cs typeface="Times New Roman" panose="02020603050405020304" pitchFamily="18" charset="0"/>
            </a:endParaRPr>
          </a:p>
          <a:p>
            <a:pPr latinLnBrk="0"/>
            <a:r>
              <a:rPr lang="en-IN" sz="1800" dirty="0" err="1">
                <a:latin typeface="Times New Roman" panose="02020603050405020304" pitchFamily="18" charset="0"/>
                <a:cs typeface="Times New Roman" panose="02020603050405020304" pitchFamily="18" charset="0"/>
              </a:rPr>
              <a:t>ax.scatter</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['Age'],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['Year'],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['Nodes'])</a:t>
            </a:r>
          </a:p>
          <a:p>
            <a:pPr latinLnBrk="0"/>
            <a:r>
              <a:rPr lang="en-IN" sz="1800" dirty="0" err="1">
                <a:latin typeface="Times New Roman" panose="02020603050405020304" pitchFamily="18" charset="0"/>
                <a:cs typeface="Times New Roman" panose="02020603050405020304" pitchFamily="18" charset="0"/>
              </a:rPr>
              <a:t>ax.set_xlabel</a:t>
            </a:r>
            <a:r>
              <a:rPr lang="en-IN" sz="1800" dirty="0">
                <a:latin typeface="Times New Roman" panose="02020603050405020304" pitchFamily="18" charset="0"/>
                <a:cs typeface="Times New Roman" panose="02020603050405020304" pitchFamily="18" charset="0"/>
              </a:rPr>
              <a:t>('Age')</a:t>
            </a:r>
          </a:p>
          <a:p>
            <a:pPr latinLnBrk="0"/>
            <a:r>
              <a:rPr lang="en-IN" sz="1800" dirty="0" err="1">
                <a:latin typeface="Times New Roman" panose="02020603050405020304" pitchFamily="18" charset="0"/>
                <a:cs typeface="Times New Roman" panose="02020603050405020304" pitchFamily="18" charset="0"/>
              </a:rPr>
              <a:t>ax.set_ylabel</a:t>
            </a:r>
            <a:r>
              <a:rPr lang="en-IN" sz="1800" dirty="0">
                <a:latin typeface="Times New Roman" panose="02020603050405020304" pitchFamily="18" charset="0"/>
                <a:cs typeface="Times New Roman" panose="02020603050405020304" pitchFamily="18" charset="0"/>
              </a:rPr>
              <a:t>('Year')</a:t>
            </a:r>
          </a:p>
          <a:p>
            <a:pPr latinLnBrk="0"/>
            <a:r>
              <a:rPr lang="en-IN" sz="1800" dirty="0" err="1">
                <a:latin typeface="Times New Roman" panose="02020603050405020304" pitchFamily="18" charset="0"/>
                <a:cs typeface="Times New Roman" panose="02020603050405020304" pitchFamily="18" charset="0"/>
              </a:rPr>
              <a:t>ax.set_zlabel</a:t>
            </a:r>
            <a:r>
              <a:rPr lang="en-IN" sz="1800" dirty="0">
                <a:latin typeface="Times New Roman" panose="02020603050405020304" pitchFamily="18" charset="0"/>
                <a:cs typeface="Times New Roman" panose="02020603050405020304" pitchFamily="18" charset="0"/>
              </a:rPr>
              <a:t>('Nodes')</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BC088B25-42F6-AEED-5827-B91A4AA0B1B7}"/>
              </a:ext>
            </a:extLst>
          </p:cNvPr>
          <p:cNvSpPr>
            <a:spLocks noGrp="1"/>
          </p:cNvSpPr>
          <p:nvPr>
            <p:ph type="title"/>
          </p:nvPr>
        </p:nvSpPr>
        <p:spPr>
          <a:xfrm>
            <a:off x="457200" y="168584"/>
            <a:ext cx="8229600" cy="715962"/>
          </a:xfrm>
        </p:spPr>
        <p:txBody>
          <a:bodyPr>
            <a:normAutofit/>
          </a:bodyPr>
          <a:lstStyle/>
          <a:p>
            <a:r>
              <a:rPr lang="en-US" sz="3200" dirty="0">
                <a:solidFill>
                  <a:srgbClr val="002060"/>
                </a:solidFill>
                <a:effectLst/>
                <a:latin typeface="Times New Roman" panose="02020603050405020304" pitchFamily="18" charset="0"/>
                <a:cs typeface="Times New Roman" panose="02020603050405020304" pitchFamily="18" charset="0"/>
              </a:rPr>
              <a:t>Multivariate Analysis- </a:t>
            </a:r>
            <a:r>
              <a:rPr lang="en-IN" sz="3200" dirty="0">
                <a:solidFill>
                  <a:srgbClr val="002060"/>
                </a:solidFill>
                <a:effectLst/>
                <a:latin typeface="Times New Roman" panose="02020603050405020304" pitchFamily="18" charset="0"/>
                <a:cs typeface="Times New Roman" panose="02020603050405020304" pitchFamily="18" charset="0"/>
              </a:rPr>
              <a:t>3D Scatter Plot</a:t>
            </a:r>
            <a:endParaRPr lang="en-IN" sz="3200" dirty="0">
              <a:solidFill>
                <a:srgbClr val="002060"/>
              </a:solidFill>
              <a:effectLst/>
            </a:endParaRPr>
          </a:p>
        </p:txBody>
      </p:sp>
      <p:sp>
        <p:nvSpPr>
          <p:cNvPr id="6" name="TextBox 5">
            <a:extLst>
              <a:ext uri="{FF2B5EF4-FFF2-40B4-BE49-F238E27FC236}">
                <a16:creationId xmlns:a16="http://schemas.microsoft.com/office/drawing/2014/main" id="{03B8D17B-4D2A-783A-2988-F473AD6A539B}"/>
              </a:ext>
            </a:extLst>
          </p:cNvPr>
          <p:cNvSpPr txBox="1"/>
          <p:nvPr/>
        </p:nvSpPr>
        <p:spPr>
          <a:xfrm>
            <a:off x="304800" y="884546"/>
            <a:ext cx="8610600" cy="1292662"/>
          </a:xfrm>
          <a:prstGeom prst="rect">
            <a:avLst/>
          </a:prstGeom>
          <a:noFill/>
        </p:spPr>
        <p:txBody>
          <a:bodyPr wrap="square">
            <a:spAutoFit/>
          </a:bodyPr>
          <a:lstStyle/>
          <a:p>
            <a:pPr marL="109537" indent="0">
              <a:buNone/>
            </a:pPr>
            <a:r>
              <a:rPr lang="en-IN" sz="2400" b="1" dirty="0">
                <a:latin typeface="Times New Roman" panose="02020603050405020304" pitchFamily="18" charset="0"/>
                <a:cs typeface="Times New Roman" panose="02020603050405020304" pitchFamily="18" charset="0"/>
              </a:rPr>
              <a:t>3D Scatter Plot:</a:t>
            </a:r>
          </a:p>
          <a:p>
            <a:r>
              <a:rPr lang="en-IN" sz="1800" dirty="0">
                <a:latin typeface="Times New Roman" panose="02020603050405020304" pitchFamily="18" charset="0"/>
                <a:cs typeface="Times New Roman" panose="02020603050405020304" pitchFamily="18" charset="0"/>
              </a:rPr>
              <a:t>A 3D scatter plot is an extension of the traditional scatter plot into three dimensions, which allows us to visualize the relationship among three variables.</a:t>
            </a:r>
          </a:p>
          <a:p>
            <a:pPr latinLnBrk="0"/>
            <a:r>
              <a:rPr lang="en-IN" sz="1800" dirty="0">
                <a:latin typeface="Times New Roman" panose="02020603050405020304" pitchFamily="18" charset="0"/>
                <a:cs typeface="Times New Roman" panose="02020603050405020304" pitchFamily="18" charset="0"/>
              </a:rPr>
              <a:t>from mpl_toolkits.mplot3d import Axes3D</a:t>
            </a:r>
          </a:p>
        </p:txBody>
      </p:sp>
      <p:pic>
        <p:nvPicPr>
          <p:cNvPr id="8" name="Picture 7">
            <a:extLst>
              <a:ext uri="{FF2B5EF4-FFF2-40B4-BE49-F238E27FC236}">
                <a16:creationId xmlns:a16="http://schemas.microsoft.com/office/drawing/2014/main" id="{ED4C2667-EA05-58D0-99D3-E0F611FBA346}"/>
              </a:ext>
            </a:extLst>
          </p:cNvPr>
          <p:cNvPicPr>
            <a:picLocks noChangeAspect="1"/>
          </p:cNvPicPr>
          <p:nvPr/>
        </p:nvPicPr>
        <p:blipFill>
          <a:blip r:embed="rId2"/>
          <a:stretch>
            <a:fillRect/>
          </a:stretch>
        </p:blipFill>
        <p:spPr>
          <a:xfrm>
            <a:off x="4698257" y="2591064"/>
            <a:ext cx="4267570" cy="3909399"/>
          </a:xfrm>
          <a:prstGeom prst="rect">
            <a:avLst/>
          </a:prstGeom>
        </p:spPr>
      </p:pic>
    </p:spTree>
    <p:extLst>
      <p:ext uri="{BB962C8B-B14F-4D97-AF65-F5344CB8AC3E}">
        <p14:creationId xmlns:p14="http://schemas.microsoft.com/office/powerpoint/2010/main" val="9720960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197911-ED31-13BE-7FF9-855542BD8754}"/>
              </a:ext>
            </a:extLst>
          </p:cNvPr>
          <p:cNvSpPr>
            <a:spLocks noGrp="1"/>
          </p:cNvSpPr>
          <p:nvPr>
            <p:ph idx="1"/>
          </p:nvPr>
        </p:nvSpPr>
        <p:spPr/>
        <p:txBody>
          <a:bodyPr>
            <a:normAutofit/>
          </a:bodyPr>
          <a:lstStyle/>
          <a:p>
            <a:pPr marL="109728" indent="0" algn="ctr">
              <a:buNone/>
            </a:pPr>
            <a:r>
              <a:rPr lang="en-US" altLang="en-US" sz="3200" dirty="0">
                <a:solidFill>
                  <a:srgbClr val="002060"/>
                </a:solidFill>
              </a:rPr>
              <a:t>Data Visualization</a:t>
            </a:r>
            <a:endParaRPr lang="en-IN" sz="3200" dirty="0">
              <a:solidFill>
                <a:srgbClr val="002060"/>
              </a:solidFill>
            </a:endParaRPr>
          </a:p>
        </p:txBody>
      </p:sp>
    </p:spTree>
    <p:extLst>
      <p:ext uri="{BB962C8B-B14F-4D97-AF65-F5344CB8AC3E}">
        <p14:creationId xmlns:p14="http://schemas.microsoft.com/office/powerpoint/2010/main" val="5517613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C9F1A227-2B1F-A913-860A-DF570E1EB5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F5C9F82-6B26-4B35-A3E5-5462CE556735}" type="slidenum">
              <a:rPr lang="en-US" altLang="en-US" sz="1200"/>
              <a:pPr eaLnBrk="1" hangingPunct="1"/>
              <a:t>63</a:t>
            </a:fld>
            <a:endParaRPr lang="en-US" altLang="en-US" sz="1200"/>
          </a:p>
        </p:txBody>
      </p:sp>
      <p:sp>
        <p:nvSpPr>
          <p:cNvPr id="30723" name="Rectangle 2">
            <a:extLst>
              <a:ext uri="{FF2B5EF4-FFF2-40B4-BE49-F238E27FC236}">
                <a16:creationId xmlns:a16="http://schemas.microsoft.com/office/drawing/2014/main" id="{ED2AAA7F-C4EB-1989-0C42-0AE0D8B21C59}"/>
              </a:ext>
            </a:extLst>
          </p:cNvPr>
          <p:cNvSpPr>
            <a:spLocks noGrp="1" noChangeArrowheads="1"/>
          </p:cNvSpPr>
          <p:nvPr>
            <p:ph type="title"/>
          </p:nvPr>
        </p:nvSpPr>
        <p:spPr>
          <a:xfrm>
            <a:off x="0" y="381000"/>
            <a:ext cx="9144000" cy="609600"/>
          </a:xfrm>
        </p:spPr>
        <p:txBody>
          <a:bodyPr>
            <a:normAutofit fontScale="90000"/>
          </a:bodyPr>
          <a:lstStyle/>
          <a:p>
            <a:pPr eaLnBrk="1" hangingPunct="1"/>
            <a:r>
              <a:rPr lang="en-US" altLang="en-US" dirty="0"/>
              <a:t>Data Visualization</a:t>
            </a:r>
          </a:p>
        </p:txBody>
      </p:sp>
      <p:sp>
        <p:nvSpPr>
          <p:cNvPr id="30724" name="Rectangle 3">
            <a:extLst>
              <a:ext uri="{FF2B5EF4-FFF2-40B4-BE49-F238E27FC236}">
                <a16:creationId xmlns:a16="http://schemas.microsoft.com/office/drawing/2014/main" id="{3895F6C2-61EE-45CA-9994-05FE6B10CDFF}"/>
              </a:ext>
            </a:extLst>
          </p:cNvPr>
          <p:cNvSpPr>
            <a:spLocks noGrp="1" noChangeArrowheads="1"/>
          </p:cNvSpPr>
          <p:nvPr>
            <p:ph type="body" idx="1"/>
          </p:nvPr>
        </p:nvSpPr>
        <p:spPr>
          <a:xfrm>
            <a:off x="304800" y="1295400"/>
            <a:ext cx="8534400" cy="5257800"/>
          </a:xfrm>
        </p:spPr>
        <p:txBody>
          <a:bodyPr/>
          <a:lstStyle/>
          <a:p>
            <a:pPr eaLnBrk="1" hangingPunct="1">
              <a:lnSpc>
                <a:spcPct val="110000"/>
              </a:lnSpc>
            </a:pPr>
            <a:r>
              <a:rPr lang="en-US" altLang="en-US" sz="1800"/>
              <a:t>Why data visualization?</a:t>
            </a:r>
          </a:p>
          <a:p>
            <a:pPr lvl="1" eaLnBrk="1" hangingPunct="1">
              <a:lnSpc>
                <a:spcPct val="110000"/>
              </a:lnSpc>
            </a:pPr>
            <a:r>
              <a:rPr lang="en-US" altLang="en-US" sz="1800">
                <a:solidFill>
                  <a:schemeClr val="tx2"/>
                </a:solidFill>
              </a:rPr>
              <a:t>Gain insight</a:t>
            </a:r>
            <a:r>
              <a:rPr lang="en-US" altLang="en-US" sz="1800"/>
              <a:t> into an information space by mapping data onto graphical primitives</a:t>
            </a:r>
          </a:p>
          <a:p>
            <a:pPr lvl="1" eaLnBrk="1" hangingPunct="1">
              <a:lnSpc>
                <a:spcPct val="110000"/>
              </a:lnSpc>
            </a:pPr>
            <a:r>
              <a:rPr lang="en-US" altLang="en-US" sz="1800">
                <a:solidFill>
                  <a:schemeClr val="tx2"/>
                </a:solidFill>
              </a:rPr>
              <a:t>Provide qualitative overview</a:t>
            </a:r>
            <a:r>
              <a:rPr lang="en-US" altLang="en-US" sz="1800"/>
              <a:t> of large data sets</a:t>
            </a:r>
          </a:p>
          <a:p>
            <a:pPr lvl="1" eaLnBrk="1" hangingPunct="1">
              <a:lnSpc>
                <a:spcPct val="110000"/>
              </a:lnSpc>
            </a:pPr>
            <a:r>
              <a:rPr lang="en-US" altLang="en-US" sz="1800">
                <a:solidFill>
                  <a:schemeClr val="tx2"/>
                </a:solidFill>
              </a:rPr>
              <a:t>Search</a:t>
            </a:r>
            <a:r>
              <a:rPr lang="en-US" altLang="en-US" sz="1800"/>
              <a:t> for patterns, trends, structure, irregularities, relationships among data</a:t>
            </a:r>
          </a:p>
          <a:p>
            <a:pPr lvl="1" eaLnBrk="1" hangingPunct="1">
              <a:lnSpc>
                <a:spcPct val="110000"/>
              </a:lnSpc>
            </a:pPr>
            <a:r>
              <a:rPr lang="en-US" altLang="en-US" sz="1800">
                <a:solidFill>
                  <a:schemeClr val="tx2"/>
                </a:solidFill>
              </a:rPr>
              <a:t>Help find interesting regions and suitable parameters</a:t>
            </a:r>
            <a:r>
              <a:rPr lang="en-US" altLang="en-US" sz="1800"/>
              <a:t> for further quantitative analysis</a:t>
            </a:r>
          </a:p>
          <a:p>
            <a:pPr lvl="1" eaLnBrk="1" hangingPunct="1">
              <a:lnSpc>
                <a:spcPct val="110000"/>
              </a:lnSpc>
            </a:pPr>
            <a:r>
              <a:rPr lang="en-US" altLang="en-US" sz="1800">
                <a:solidFill>
                  <a:schemeClr val="tx2"/>
                </a:solidFill>
              </a:rPr>
              <a:t>Provide a visual proof</a:t>
            </a:r>
            <a:r>
              <a:rPr lang="en-US" altLang="en-US" sz="1800"/>
              <a:t> of computer representations derived</a:t>
            </a:r>
          </a:p>
          <a:p>
            <a:pPr eaLnBrk="1" hangingPunct="1">
              <a:lnSpc>
                <a:spcPct val="110000"/>
              </a:lnSpc>
            </a:pPr>
            <a:r>
              <a:rPr lang="en-US" altLang="en-US" sz="1800"/>
              <a:t>Categorization of visualization methods:</a:t>
            </a:r>
          </a:p>
          <a:p>
            <a:pPr lvl="1" eaLnBrk="1" hangingPunct="1">
              <a:lnSpc>
                <a:spcPct val="110000"/>
              </a:lnSpc>
            </a:pPr>
            <a:r>
              <a:rPr lang="en-US" altLang="en-US" sz="1800"/>
              <a:t>Pixel-oriented visualization techniques</a:t>
            </a:r>
          </a:p>
          <a:p>
            <a:pPr lvl="1" eaLnBrk="1" hangingPunct="1">
              <a:lnSpc>
                <a:spcPct val="110000"/>
              </a:lnSpc>
            </a:pPr>
            <a:r>
              <a:rPr lang="en-US" altLang="en-US" sz="1800"/>
              <a:t>Geometric projection visualization techniques</a:t>
            </a:r>
          </a:p>
          <a:p>
            <a:pPr lvl="1" eaLnBrk="1" hangingPunct="1">
              <a:lnSpc>
                <a:spcPct val="110000"/>
              </a:lnSpc>
            </a:pPr>
            <a:r>
              <a:rPr lang="en-US" altLang="en-US" sz="1800"/>
              <a:t>Icon-based visualization techniques</a:t>
            </a:r>
          </a:p>
          <a:p>
            <a:pPr lvl="1" eaLnBrk="1" hangingPunct="1">
              <a:lnSpc>
                <a:spcPct val="110000"/>
              </a:lnSpc>
            </a:pPr>
            <a:r>
              <a:rPr lang="en-US" altLang="en-US" sz="1800"/>
              <a:t>Hierarchical visualization techniques</a:t>
            </a:r>
          </a:p>
          <a:p>
            <a:pPr lvl="1" eaLnBrk="1" hangingPunct="1">
              <a:lnSpc>
                <a:spcPct val="110000"/>
              </a:lnSpc>
            </a:pPr>
            <a:r>
              <a:rPr lang="en-US" altLang="en-US" sz="1800"/>
              <a:t>Visualizing complex data and relations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DCD0C4BB-FD70-DE9D-E4E7-A89A31904397}"/>
              </a:ext>
            </a:extLst>
          </p:cNvPr>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B5231BD-6759-4B6B-8A85-5BEC96E911AB}" type="slidenum">
              <a:rPr lang="en-US" altLang="en-US" sz="1200"/>
              <a:pPr algn="r" eaLnBrk="1" hangingPunct="1"/>
              <a:t>64</a:t>
            </a:fld>
            <a:endParaRPr lang="en-US" altLang="en-US" sz="1200"/>
          </a:p>
        </p:txBody>
      </p:sp>
      <p:sp>
        <p:nvSpPr>
          <p:cNvPr id="31747" name="Rectangle 2">
            <a:extLst>
              <a:ext uri="{FF2B5EF4-FFF2-40B4-BE49-F238E27FC236}">
                <a16:creationId xmlns:a16="http://schemas.microsoft.com/office/drawing/2014/main" id="{5692077C-134D-5D30-07DA-88C4E761C06B}"/>
              </a:ext>
            </a:extLst>
          </p:cNvPr>
          <p:cNvSpPr>
            <a:spLocks noGrp="1" noChangeArrowheads="1"/>
          </p:cNvSpPr>
          <p:nvPr>
            <p:ph type="title" idx="4294967295"/>
          </p:nvPr>
        </p:nvSpPr>
        <p:spPr>
          <a:xfrm>
            <a:off x="0" y="381000"/>
            <a:ext cx="9144000" cy="609600"/>
          </a:xfrm>
        </p:spPr>
        <p:txBody>
          <a:bodyPr>
            <a:normAutofit fontScale="90000"/>
          </a:bodyPr>
          <a:lstStyle/>
          <a:p>
            <a:pPr eaLnBrk="1" hangingPunct="1"/>
            <a:r>
              <a:rPr lang="en-US" altLang="en-US"/>
              <a:t>Pixel-Oriented Visualization Techniques</a:t>
            </a:r>
          </a:p>
        </p:txBody>
      </p:sp>
      <p:sp>
        <p:nvSpPr>
          <p:cNvPr id="31748" name="Rectangle 3">
            <a:extLst>
              <a:ext uri="{FF2B5EF4-FFF2-40B4-BE49-F238E27FC236}">
                <a16:creationId xmlns:a16="http://schemas.microsoft.com/office/drawing/2014/main" id="{593AF8C5-249E-F0D0-FD6A-8B85F2D6C3CB}"/>
              </a:ext>
            </a:extLst>
          </p:cNvPr>
          <p:cNvSpPr>
            <a:spLocks noGrp="1" noChangeArrowheads="1"/>
          </p:cNvSpPr>
          <p:nvPr>
            <p:ph type="body" idx="4294967295"/>
          </p:nvPr>
        </p:nvSpPr>
        <p:spPr>
          <a:xfrm>
            <a:off x="304800" y="1295400"/>
            <a:ext cx="8534400" cy="1905000"/>
          </a:xfrm>
        </p:spPr>
        <p:txBody>
          <a:bodyPr/>
          <a:lstStyle/>
          <a:p>
            <a:pPr eaLnBrk="1" hangingPunct="1">
              <a:lnSpc>
                <a:spcPct val="110000"/>
              </a:lnSpc>
            </a:pPr>
            <a:r>
              <a:rPr lang="en-US" altLang="en-US" sz="2000"/>
              <a:t>For a data set of m dimensions, create m windows on the screen, one for each dimension</a:t>
            </a:r>
          </a:p>
          <a:p>
            <a:pPr eaLnBrk="1" hangingPunct="1">
              <a:lnSpc>
                <a:spcPct val="110000"/>
              </a:lnSpc>
            </a:pPr>
            <a:r>
              <a:rPr lang="en-US" altLang="en-US" sz="2000"/>
              <a:t>The m dimension values of a record are mapped to m pixels at the corresponding positions in the windows</a:t>
            </a:r>
          </a:p>
          <a:p>
            <a:pPr eaLnBrk="1" hangingPunct="1">
              <a:lnSpc>
                <a:spcPct val="110000"/>
              </a:lnSpc>
            </a:pPr>
            <a:r>
              <a:rPr lang="en-US" altLang="en-US" sz="2000"/>
              <a:t>The colors of the pixels reflect the corresponding values</a:t>
            </a:r>
          </a:p>
        </p:txBody>
      </p:sp>
      <p:pic>
        <p:nvPicPr>
          <p:cNvPr id="31749" name="Picture 5">
            <a:extLst>
              <a:ext uri="{FF2B5EF4-FFF2-40B4-BE49-F238E27FC236}">
                <a16:creationId xmlns:a16="http://schemas.microsoft.com/office/drawing/2014/main" id="{60301D53-B358-5553-FB17-4079D8189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352800"/>
            <a:ext cx="8613775" cy="290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0" name="Text Box 6">
            <a:extLst>
              <a:ext uri="{FF2B5EF4-FFF2-40B4-BE49-F238E27FC236}">
                <a16:creationId xmlns:a16="http://schemas.microsoft.com/office/drawing/2014/main" id="{6FD52968-012C-AD42-7580-A46FDBB3DF2D}"/>
              </a:ext>
            </a:extLst>
          </p:cNvPr>
          <p:cNvSpPr txBox="1">
            <a:spLocks noChangeArrowheads="1"/>
          </p:cNvSpPr>
          <p:nvPr/>
        </p:nvSpPr>
        <p:spPr bwMode="auto">
          <a:xfrm>
            <a:off x="152400" y="6172200"/>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buFontTx/>
              <a:buAutoNum type="alphaLcParenBoth"/>
            </a:pPr>
            <a:r>
              <a:rPr lang="en-US" altLang="en-US" sz="2000"/>
              <a:t>Income</a:t>
            </a:r>
          </a:p>
        </p:txBody>
      </p:sp>
      <p:sp>
        <p:nvSpPr>
          <p:cNvPr id="31751" name="Text Box 7">
            <a:extLst>
              <a:ext uri="{FF2B5EF4-FFF2-40B4-BE49-F238E27FC236}">
                <a16:creationId xmlns:a16="http://schemas.microsoft.com/office/drawing/2014/main" id="{AD6CBF23-037C-FA1C-BDB8-6F6F48E50AF9}"/>
              </a:ext>
            </a:extLst>
          </p:cNvPr>
          <p:cNvSpPr txBox="1">
            <a:spLocks noChangeArrowheads="1"/>
          </p:cNvSpPr>
          <p:nvPr/>
        </p:nvSpPr>
        <p:spPr bwMode="auto">
          <a:xfrm>
            <a:off x="2362200" y="61722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(b) Credit Limit</a:t>
            </a:r>
          </a:p>
        </p:txBody>
      </p:sp>
      <p:sp>
        <p:nvSpPr>
          <p:cNvPr id="31752" name="Text Box 8">
            <a:extLst>
              <a:ext uri="{FF2B5EF4-FFF2-40B4-BE49-F238E27FC236}">
                <a16:creationId xmlns:a16="http://schemas.microsoft.com/office/drawing/2014/main" id="{093BAFA8-EA60-892F-DF3C-F7A2632EA9C5}"/>
              </a:ext>
            </a:extLst>
          </p:cNvPr>
          <p:cNvSpPr txBox="1">
            <a:spLocks noChangeArrowheads="1"/>
          </p:cNvSpPr>
          <p:nvPr/>
        </p:nvSpPr>
        <p:spPr bwMode="auto">
          <a:xfrm>
            <a:off x="4495800" y="6172200"/>
            <a:ext cx="2819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(c) transaction volume</a:t>
            </a:r>
          </a:p>
        </p:txBody>
      </p:sp>
      <p:sp>
        <p:nvSpPr>
          <p:cNvPr id="31753" name="Text Box 9">
            <a:extLst>
              <a:ext uri="{FF2B5EF4-FFF2-40B4-BE49-F238E27FC236}">
                <a16:creationId xmlns:a16="http://schemas.microsoft.com/office/drawing/2014/main" id="{7728E9BA-CE25-0442-26A1-D671432F4697}"/>
              </a:ext>
            </a:extLst>
          </p:cNvPr>
          <p:cNvSpPr txBox="1">
            <a:spLocks noChangeArrowheads="1"/>
          </p:cNvSpPr>
          <p:nvPr/>
        </p:nvSpPr>
        <p:spPr bwMode="auto">
          <a:xfrm>
            <a:off x="7239000" y="6156325"/>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spcBef>
                <a:spcPct val="50000"/>
              </a:spcBef>
            </a:pPr>
            <a:r>
              <a:rPr lang="en-US" altLang="en-US" sz="2000"/>
              <a:t>(d) 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999F4336-7B14-0A22-51A8-6A867C6C03EC}"/>
              </a:ext>
            </a:extLst>
          </p:cNvPr>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59848553-C175-4B4A-B03A-AD88EF71E8CD}" type="slidenum">
              <a:rPr lang="en-US" altLang="en-US" sz="1200"/>
              <a:pPr algn="r" eaLnBrk="1" hangingPunct="1"/>
              <a:t>65</a:t>
            </a:fld>
            <a:endParaRPr lang="en-US" altLang="en-US" sz="1200"/>
          </a:p>
        </p:txBody>
      </p:sp>
      <p:sp>
        <p:nvSpPr>
          <p:cNvPr id="32771" name="Rectangle 2">
            <a:extLst>
              <a:ext uri="{FF2B5EF4-FFF2-40B4-BE49-F238E27FC236}">
                <a16:creationId xmlns:a16="http://schemas.microsoft.com/office/drawing/2014/main" id="{66A870FC-81C0-911C-6AFF-67B8FBCA8713}"/>
              </a:ext>
            </a:extLst>
          </p:cNvPr>
          <p:cNvSpPr>
            <a:spLocks noGrp="1" noChangeArrowheads="1"/>
          </p:cNvSpPr>
          <p:nvPr>
            <p:ph type="title" idx="4294967295"/>
          </p:nvPr>
        </p:nvSpPr>
        <p:spPr>
          <a:xfrm>
            <a:off x="0" y="304800"/>
            <a:ext cx="9144000" cy="609600"/>
          </a:xfrm>
        </p:spPr>
        <p:txBody>
          <a:bodyPr>
            <a:normAutofit fontScale="90000"/>
          </a:bodyPr>
          <a:lstStyle/>
          <a:p>
            <a:pPr eaLnBrk="1" hangingPunct="1"/>
            <a:r>
              <a:rPr lang="en-US" altLang="en-US"/>
              <a:t>Laying Out Pixels in Circle Segments</a:t>
            </a:r>
          </a:p>
        </p:txBody>
      </p:sp>
      <p:sp>
        <p:nvSpPr>
          <p:cNvPr id="32772" name="Rectangle 3">
            <a:extLst>
              <a:ext uri="{FF2B5EF4-FFF2-40B4-BE49-F238E27FC236}">
                <a16:creationId xmlns:a16="http://schemas.microsoft.com/office/drawing/2014/main" id="{F1D8096F-2D15-CC56-2C84-0A0BAAD62DE0}"/>
              </a:ext>
            </a:extLst>
          </p:cNvPr>
          <p:cNvSpPr>
            <a:spLocks noGrp="1" noChangeArrowheads="1"/>
          </p:cNvSpPr>
          <p:nvPr>
            <p:ph type="body" idx="4294967295"/>
          </p:nvPr>
        </p:nvSpPr>
        <p:spPr>
          <a:xfrm>
            <a:off x="304800" y="1295400"/>
            <a:ext cx="8534400" cy="838200"/>
          </a:xfrm>
        </p:spPr>
        <p:txBody>
          <a:bodyPr/>
          <a:lstStyle/>
          <a:p>
            <a:pPr eaLnBrk="1" hangingPunct="1">
              <a:lnSpc>
                <a:spcPct val="110000"/>
              </a:lnSpc>
            </a:pPr>
            <a:r>
              <a:rPr lang="en-US" altLang="en-US" sz="2000"/>
              <a:t>To save space and show the connections among multiple dimensions, space filling is often done in a circle segment</a:t>
            </a:r>
          </a:p>
        </p:txBody>
      </p:sp>
      <p:sp>
        <p:nvSpPr>
          <p:cNvPr id="32773" name="Text Box 6">
            <a:extLst>
              <a:ext uri="{FF2B5EF4-FFF2-40B4-BE49-F238E27FC236}">
                <a16:creationId xmlns:a16="http://schemas.microsoft.com/office/drawing/2014/main" id="{B0AA480B-FAAB-0F6D-5AFF-943DEFB07224}"/>
              </a:ext>
            </a:extLst>
          </p:cNvPr>
          <p:cNvSpPr txBox="1">
            <a:spLocks noChangeArrowheads="1"/>
          </p:cNvSpPr>
          <p:nvPr/>
        </p:nvSpPr>
        <p:spPr bwMode="auto">
          <a:xfrm>
            <a:off x="381000" y="5851525"/>
            <a:ext cx="388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spcBef>
                <a:spcPct val="50000"/>
              </a:spcBef>
              <a:buFontTx/>
              <a:buAutoNum type="alphaLcParenBoth"/>
            </a:pPr>
            <a:r>
              <a:rPr lang="en-US" altLang="en-US" sz="2000"/>
              <a:t>Representing a data record in circle segment</a:t>
            </a:r>
          </a:p>
        </p:txBody>
      </p:sp>
      <p:sp>
        <p:nvSpPr>
          <p:cNvPr id="32774" name="Text Box 7">
            <a:extLst>
              <a:ext uri="{FF2B5EF4-FFF2-40B4-BE49-F238E27FC236}">
                <a16:creationId xmlns:a16="http://schemas.microsoft.com/office/drawing/2014/main" id="{0AAFC770-FCD0-C7F9-A59C-B7434B4C62F2}"/>
              </a:ext>
            </a:extLst>
          </p:cNvPr>
          <p:cNvSpPr txBox="1">
            <a:spLocks noChangeArrowheads="1"/>
          </p:cNvSpPr>
          <p:nvPr/>
        </p:nvSpPr>
        <p:spPr bwMode="auto">
          <a:xfrm>
            <a:off x="4495800" y="6019800"/>
            <a:ext cx="449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(b) Laying out pixels in circle segment</a:t>
            </a:r>
          </a:p>
        </p:txBody>
      </p:sp>
      <p:pic>
        <p:nvPicPr>
          <p:cNvPr id="32775" name="Picture 10">
            <a:extLst>
              <a:ext uri="{FF2B5EF4-FFF2-40B4-BE49-F238E27FC236}">
                <a16:creationId xmlns:a16="http://schemas.microsoft.com/office/drawing/2014/main" id="{CC409C13-A23B-8C61-96D9-DC5D160023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98725"/>
            <a:ext cx="375761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6" name="Picture 11">
            <a:extLst>
              <a:ext uri="{FF2B5EF4-FFF2-40B4-BE49-F238E27FC236}">
                <a16:creationId xmlns:a16="http://schemas.microsoft.com/office/drawing/2014/main" id="{7F191D9B-A614-1BFB-0FFF-94419E2F65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182813"/>
            <a:ext cx="4078288" cy="376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C1BA5711-BFF8-0DC8-B4B6-0AE1EB5487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FB71D0A-DC85-4177-A540-63B13D6B8128}" type="slidenum">
              <a:rPr lang="en-US" altLang="en-US" sz="1200"/>
              <a:pPr eaLnBrk="1" hangingPunct="1"/>
              <a:t>66</a:t>
            </a:fld>
            <a:endParaRPr lang="en-US" altLang="en-US" sz="1200"/>
          </a:p>
        </p:txBody>
      </p:sp>
      <p:sp>
        <p:nvSpPr>
          <p:cNvPr id="33795" name="Rectangle 2">
            <a:extLst>
              <a:ext uri="{FF2B5EF4-FFF2-40B4-BE49-F238E27FC236}">
                <a16:creationId xmlns:a16="http://schemas.microsoft.com/office/drawing/2014/main" id="{4ECC4789-740A-1319-88E5-6AE63CF8B33D}"/>
              </a:ext>
            </a:extLst>
          </p:cNvPr>
          <p:cNvSpPr>
            <a:spLocks noGrp="1" noChangeArrowheads="1"/>
          </p:cNvSpPr>
          <p:nvPr>
            <p:ph type="title"/>
          </p:nvPr>
        </p:nvSpPr>
        <p:spPr/>
        <p:txBody>
          <a:bodyPr/>
          <a:lstStyle/>
          <a:p>
            <a:pPr eaLnBrk="1" hangingPunct="1"/>
            <a:r>
              <a:rPr lang="en-US" altLang="en-US" sz="3200"/>
              <a:t>Geometric Projection Visualization Techniques</a:t>
            </a:r>
          </a:p>
        </p:txBody>
      </p:sp>
      <p:sp>
        <p:nvSpPr>
          <p:cNvPr id="33796" name="Rectangle 3">
            <a:extLst>
              <a:ext uri="{FF2B5EF4-FFF2-40B4-BE49-F238E27FC236}">
                <a16:creationId xmlns:a16="http://schemas.microsoft.com/office/drawing/2014/main" id="{839E2070-21CF-55E3-CB52-991C739BC048}"/>
              </a:ext>
            </a:extLst>
          </p:cNvPr>
          <p:cNvSpPr>
            <a:spLocks noGrp="1" noChangeArrowheads="1"/>
          </p:cNvSpPr>
          <p:nvPr>
            <p:ph type="body" idx="1"/>
          </p:nvPr>
        </p:nvSpPr>
        <p:spPr>
          <a:xfrm>
            <a:off x="304800" y="1295400"/>
            <a:ext cx="8534400" cy="5334000"/>
          </a:xfrm>
        </p:spPr>
        <p:txBody>
          <a:bodyPr/>
          <a:lstStyle/>
          <a:p>
            <a:pPr eaLnBrk="1" hangingPunct="1">
              <a:lnSpc>
                <a:spcPct val="110000"/>
              </a:lnSpc>
            </a:pPr>
            <a:r>
              <a:rPr lang="de-DE" altLang="en-US" sz="2400"/>
              <a:t>Visualization of geometric transformations and projections of the data</a:t>
            </a:r>
          </a:p>
          <a:p>
            <a:pPr eaLnBrk="1" hangingPunct="1">
              <a:lnSpc>
                <a:spcPct val="110000"/>
              </a:lnSpc>
            </a:pPr>
            <a:r>
              <a:rPr lang="de-DE" altLang="en-US" sz="2400"/>
              <a:t>Methods</a:t>
            </a:r>
          </a:p>
          <a:p>
            <a:pPr lvl="1" eaLnBrk="1" hangingPunct="1">
              <a:lnSpc>
                <a:spcPct val="110000"/>
              </a:lnSpc>
            </a:pPr>
            <a:r>
              <a:rPr lang="de-DE" altLang="en-US" sz="2400"/>
              <a:t>Direct visualization</a:t>
            </a:r>
          </a:p>
          <a:p>
            <a:pPr lvl="1" eaLnBrk="1" hangingPunct="1">
              <a:lnSpc>
                <a:spcPct val="110000"/>
              </a:lnSpc>
            </a:pPr>
            <a:r>
              <a:rPr lang="de-DE" altLang="en-US" sz="2400"/>
              <a:t>Scatterplot and scatterplot matrices</a:t>
            </a:r>
          </a:p>
          <a:p>
            <a:pPr lvl="1" eaLnBrk="1" hangingPunct="1">
              <a:lnSpc>
                <a:spcPct val="110000"/>
              </a:lnSpc>
            </a:pPr>
            <a:r>
              <a:rPr lang="de-DE" altLang="en-US" sz="2400"/>
              <a:t>Landscapes</a:t>
            </a:r>
          </a:p>
          <a:p>
            <a:pPr lvl="1" eaLnBrk="1" hangingPunct="1">
              <a:lnSpc>
                <a:spcPct val="110000"/>
              </a:lnSpc>
            </a:pPr>
            <a:r>
              <a:rPr lang="de-DE" altLang="en-US" sz="2400"/>
              <a:t>Projection pursuit technique: Help users find meaningful projections of multidimensional data</a:t>
            </a:r>
          </a:p>
          <a:p>
            <a:pPr lvl="1" eaLnBrk="1" hangingPunct="1">
              <a:lnSpc>
                <a:spcPct val="110000"/>
              </a:lnSpc>
            </a:pPr>
            <a:r>
              <a:rPr lang="de-DE" altLang="en-US" sz="2400"/>
              <a:t>Prosection views</a:t>
            </a:r>
          </a:p>
          <a:p>
            <a:pPr lvl="1" eaLnBrk="1" hangingPunct="1">
              <a:lnSpc>
                <a:spcPct val="110000"/>
              </a:lnSpc>
            </a:pPr>
            <a:r>
              <a:rPr lang="de-DE" altLang="en-US" sz="2400"/>
              <a:t>Hyperslice</a:t>
            </a:r>
          </a:p>
          <a:p>
            <a:pPr lvl="1" eaLnBrk="1" hangingPunct="1">
              <a:lnSpc>
                <a:spcPct val="110000"/>
              </a:lnSpc>
            </a:pPr>
            <a:r>
              <a:rPr lang="de-DE" altLang="en-US" sz="2400"/>
              <a:t>Parallel coordinates</a:t>
            </a:r>
            <a:endParaRPr lang="en-US" altLang="en-US"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012E8D05-8035-B2B0-5547-1A31382E7F44}"/>
              </a:ext>
            </a:extLst>
          </p:cNvPr>
          <p:cNvSpPr>
            <a:spLocks noGrp="1"/>
          </p:cNvSpPr>
          <p:nvPr>
            <p:ph type="ftr" sz="quarter" idx="4294967295"/>
          </p:nvPr>
        </p:nvSpPr>
        <p:spPr bwMode="auto">
          <a:xfrm>
            <a:off x="3124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200"/>
              <a:t>Data Mining: Concepts and Techniques</a:t>
            </a:r>
          </a:p>
        </p:txBody>
      </p:sp>
      <p:sp>
        <p:nvSpPr>
          <p:cNvPr id="34819" name="Slide Number Placeholder 4">
            <a:extLst>
              <a:ext uri="{FF2B5EF4-FFF2-40B4-BE49-F238E27FC236}">
                <a16:creationId xmlns:a16="http://schemas.microsoft.com/office/drawing/2014/main" id="{311D61EE-1FE2-0194-C715-3C395E2775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46511D4-AE7F-466E-BF11-282E4CAD229D}" type="slidenum">
              <a:rPr lang="en-US" altLang="en-US" sz="1200"/>
              <a:pPr eaLnBrk="1" hangingPunct="1"/>
              <a:t>67</a:t>
            </a:fld>
            <a:endParaRPr lang="en-US" altLang="en-US" sz="1200"/>
          </a:p>
        </p:txBody>
      </p:sp>
      <p:sp>
        <p:nvSpPr>
          <p:cNvPr id="34820" name="Rectangle 2">
            <a:extLst>
              <a:ext uri="{FF2B5EF4-FFF2-40B4-BE49-F238E27FC236}">
                <a16:creationId xmlns:a16="http://schemas.microsoft.com/office/drawing/2014/main" id="{B6608916-F4CA-ACFE-C38C-945DC2355150}"/>
              </a:ext>
            </a:extLst>
          </p:cNvPr>
          <p:cNvSpPr>
            <a:spLocks noGrp="1" noChangeArrowheads="1"/>
          </p:cNvSpPr>
          <p:nvPr>
            <p:ph type="title"/>
          </p:nvPr>
        </p:nvSpPr>
        <p:spPr/>
        <p:txBody>
          <a:bodyPr/>
          <a:lstStyle/>
          <a:p>
            <a:pPr eaLnBrk="1" hangingPunct="1"/>
            <a:r>
              <a:rPr lang="en-US" altLang="en-US"/>
              <a:t>Direct Data Visualization</a:t>
            </a:r>
          </a:p>
        </p:txBody>
      </p:sp>
      <p:pic>
        <p:nvPicPr>
          <p:cNvPr id="34821" name="Picture 3" descr="fig1-6b">
            <a:extLst>
              <a:ext uri="{FF2B5EF4-FFF2-40B4-BE49-F238E27FC236}">
                <a16:creationId xmlns:a16="http://schemas.microsoft.com/office/drawing/2014/main" id="{F0345646-3C9E-A22D-2AFE-4D28C2DEF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219200"/>
            <a:ext cx="73152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4">
            <a:extLst>
              <a:ext uri="{FF2B5EF4-FFF2-40B4-BE49-F238E27FC236}">
                <a16:creationId xmlns:a16="http://schemas.microsoft.com/office/drawing/2014/main" id="{22B23429-9C11-B862-DACE-11ABC3430D17}"/>
              </a:ext>
            </a:extLst>
          </p:cNvPr>
          <p:cNvSpPr txBox="1">
            <a:spLocks noChangeArrowheads="1"/>
          </p:cNvSpPr>
          <p:nvPr/>
        </p:nvSpPr>
        <p:spPr bwMode="auto">
          <a:xfrm rot="5400000">
            <a:off x="-1855788" y="3630613"/>
            <a:ext cx="5083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Times New Roman" panose="02020603050405020304" pitchFamily="18" charset="0"/>
              </a:rPr>
              <a:t>Ribbons with Twists Based on Vorticity</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62B73BA2-E86D-9EBA-E684-53D14E6856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4923C3A-8F91-4CC8-B51A-304BFAECA3E6}" type="slidenum">
              <a:rPr lang="en-US" altLang="en-US" sz="1200"/>
              <a:pPr eaLnBrk="1" hangingPunct="1"/>
              <a:t>68</a:t>
            </a:fld>
            <a:endParaRPr lang="en-US" altLang="en-US" sz="1200"/>
          </a:p>
        </p:txBody>
      </p:sp>
      <p:sp>
        <p:nvSpPr>
          <p:cNvPr id="35843" name="Rectangle 2">
            <a:extLst>
              <a:ext uri="{FF2B5EF4-FFF2-40B4-BE49-F238E27FC236}">
                <a16:creationId xmlns:a16="http://schemas.microsoft.com/office/drawing/2014/main" id="{AE750320-5B6A-C698-4378-9A44BF12C713}"/>
              </a:ext>
            </a:extLst>
          </p:cNvPr>
          <p:cNvSpPr>
            <a:spLocks noGrp="1" noChangeArrowheads="1"/>
          </p:cNvSpPr>
          <p:nvPr>
            <p:ph type="title"/>
          </p:nvPr>
        </p:nvSpPr>
        <p:spPr>
          <a:xfrm>
            <a:off x="152400" y="228600"/>
            <a:ext cx="8763000" cy="609600"/>
          </a:xfrm>
        </p:spPr>
        <p:txBody>
          <a:bodyPr/>
          <a:lstStyle/>
          <a:p>
            <a:pPr eaLnBrk="1" hangingPunct="1"/>
            <a:r>
              <a:rPr lang="de-DE" altLang="en-US" sz="3200">
                <a:latin typeface="Arial" panose="020B0604020202020204" pitchFamily="34" charset="0"/>
              </a:rPr>
              <a:t>Scatterplot Matrices</a:t>
            </a:r>
            <a:endParaRPr lang="en-US" altLang="en-US" sz="3200">
              <a:latin typeface="Arial" panose="020B0604020202020204" pitchFamily="34" charset="0"/>
            </a:endParaRPr>
          </a:p>
        </p:txBody>
      </p:sp>
      <p:sp>
        <p:nvSpPr>
          <p:cNvPr id="35844" name="Rectangle 3">
            <a:extLst>
              <a:ext uri="{FF2B5EF4-FFF2-40B4-BE49-F238E27FC236}">
                <a16:creationId xmlns:a16="http://schemas.microsoft.com/office/drawing/2014/main" id="{655379F0-C330-9ED1-31BE-DF77DA55DF98}"/>
              </a:ext>
            </a:extLst>
          </p:cNvPr>
          <p:cNvSpPr>
            <a:spLocks noGrp="1" noChangeArrowheads="1"/>
          </p:cNvSpPr>
          <p:nvPr>
            <p:ph type="body" idx="1"/>
          </p:nvPr>
        </p:nvSpPr>
        <p:spPr>
          <a:xfrm>
            <a:off x="304800" y="6172200"/>
            <a:ext cx="8382000" cy="304800"/>
          </a:xfrm>
        </p:spPr>
        <p:txBody>
          <a:bodyPr>
            <a:normAutofit fontScale="92500"/>
          </a:bodyPr>
          <a:lstStyle/>
          <a:p>
            <a:pPr algn="ctr" eaLnBrk="1" hangingPunct="1">
              <a:lnSpc>
                <a:spcPct val="80000"/>
              </a:lnSpc>
              <a:buFont typeface="Wingdings" panose="05000000000000000000" pitchFamily="2" charset="2"/>
              <a:buNone/>
            </a:pPr>
            <a:r>
              <a:rPr lang="en-US" altLang="en-US" sz="1600"/>
              <a:t>Matrix </a:t>
            </a:r>
            <a:r>
              <a:rPr lang="de-DE" altLang="en-US" sz="1600"/>
              <a:t>of scatterplots (x-y-diagrams) of the k-dim. data [total of (k2/2-k) scatterplots]</a:t>
            </a:r>
            <a:endParaRPr lang="en-US" altLang="en-US" sz="1600"/>
          </a:p>
        </p:txBody>
      </p:sp>
      <p:pic>
        <p:nvPicPr>
          <p:cNvPr id="35845" name="Picture 4" descr="scatplot">
            <a:extLst>
              <a:ext uri="{FF2B5EF4-FFF2-40B4-BE49-F238E27FC236}">
                <a16:creationId xmlns:a16="http://schemas.microsoft.com/office/drawing/2014/main" id="{55B91DA7-E85D-D921-AD7D-1B77EF935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806450"/>
            <a:ext cx="5410200" cy="52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Text Box 5">
            <a:extLst>
              <a:ext uri="{FF2B5EF4-FFF2-40B4-BE49-F238E27FC236}">
                <a16:creationId xmlns:a16="http://schemas.microsoft.com/office/drawing/2014/main" id="{26E5923A-8BDA-50E5-2050-65DB102A15FB}"/>
              </a:ext>
            </a:extLst>
          </p:cNvPr>
          <p:cNvSpPr txBox="1">
            <a:spLocks noChangeArrowheads="1"/>
          </p:cNvSpPr>
          <p:nvPr/>
        </p:nvSpPr>
        <p:spPr bwMode="auto">
          <a:xfrm rot="-5400000">
            <a:off x="-69056" y="3421856"/>
            <a:ext cx="3155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800">
                <a:solidFill>
                  <a:schemeClr val="accent1"/>
                </a:solidFill>
                <a:latin typeface="Arial" panose="020B0604020202020204" pitchFamily="34" charset="0"/>
              </a:rPr>
              <a:t>Used by</a:t>
            </a:r>
            <a:r>
              <a:rPr lang="de-DE" altLang="en-US" sz="800" u="sng">
                <a:solidFill>
                  <a:schemeClr val="accent1"/>
                </a:solidFill>
                <a:latin typeface="Arial" panose="020B0604020202020204" pitchFamily="34" charset="0"/>
              </a:rPr>
              <a:t> </a:t>
            </a:r>
            <a:r>
              <a:rPr lang="de-DE" altLang="en-US" sz="800">
                <a:solidFill>
                  <a:schemeClr val="accent1"/>
                </a:solidFill>
                <a:latin typeface="Arial" panose="020B0604020202020204" pitchFamily="34" charset="0"/>
              </a:rPr>
              <a:t>ermission of M. Ward, Worcester Polytechnic</a:t>
            </a:r>
            <a:r>
              <a:rPr lang="de-DE" altLang="en-US" sz="1200">
                <a:solidFill>
                  <a:schemeClr val="accent1"/>
                </a:solidFill>
                <a:latin typeface="Arial" panose="020B0604020202020204" pitchFamily="34" charset="0"/>
              </a:rPr>
              <a:t> </a:t>
            </a:r>
            <a:r>
              <a:rPr lang="de-DE" altLang="en-US" sz="800">
                <a:solidFill>
                  <a:schemeClr val="accent1"/>
                </a:solidFill>
                <a:latin typeface="Arial" panose="020B0604020202020204" pitchFamily="34" charset="0"/>
              </a:rPr>
              <a:t>Institute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B2489142-07B0-7288-6590-8DE4FD5A0CF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3553786-05A0-4502-A10E-87D01EB15183}" type="slidenum">
              <a:rPr lang="en-US" altLang="en-US" sz="1200"/>
              <a:pPr eaLnBrk="1" hangingPunct="1"/>
              <a:t>69</a:t>
            </a:fld>
            <a:endParaRPr lang="en-US" altLang="en-US" sz="1200"/>
          </a:p>
        </p:txBody>
      </p:sp>
      <p:sp>
        <p:nvSpPr>
          <p:cNvPr id="36867" name="Rectangle 2">
            <a:extLst>
              <a:ext uri="{FF2B5EF4-FFF2-40B4-BE49-F238E27FC236}">
                <a16:creationId xmlns:a16="http://schemas.microsoft.com/office/drawing/2014/main" id="{5B02B99E-F185-CF81-9FDF-C98E2ECBAAC7}"/>
              </a:ext>
            </a:extLst>
          </p:cNvPr>
          <p:cNvSpPr>
            <a:spLocks noChangeArrowheads="1"/>
          </p:cNvSpPr>
          <p:nvPr/>
        </p:nvSpPr>
        <p:spPr bwMode="auto">
          <a:xfrm>
            <a:off x="0" y="5410200"/>
            <a:ext cx="89916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1044575" indent="-1588" eaLnBrk="0" hangingPunct="0">
              <a:tabLst>
                <a:tab pos="1333500" algn="l"/>
              </a:tabLst>
              <a:defRPr sz="2400">
                <a:solidFill>
                  <a:schemeClr val="tx1"/>
                </a:solidFill>
                <a:latin typeface="Tahoma" panose="020B0604030504040204" pitchFamily="34" charset="0"/>
              </a:defRPr>
            </a:lvl1pPr>
            <a:lvl2pPr marL="742950" indent="-285750" eaLnBrk="0" hangingPunct="0">
              <a:tabLst>
                <a:tab pos="1333500" algn="l"/>
              </a:tabLst>
              <a:defRPr sz="2400">
                <a:solidFill>
                  <a:schemeClr val="tx1"/>
                </a:solidFill>
                <a:latin typeface="Tahoma" panose="020B0604030504040204" pitchFamily="34" charset="0"/>
              </a:defRPr>
            </a:lvl2pPr>
            <a:lvl3pPr marL="1143000" indent="-228600" eaLnBrk="0" hangingPunct="0">
              <a:tabLst>
                <a:tab pos="1333500" algn="l"/>
              </a:tabLst>
              <a:defRPr sz="2400">
                <a:solidFill>
                  <a:schemeClr val="tx1"/>
                </a:solidFill>
                <a:latin typeface="Tahoma" panose="020B0604030504040204" pitchFamily="34" charset="0"/>
              </a:defRPr>
            </a:lvl3pPr>
            <a:lvl4pPr marL="1600200" indent="-228600" eaLnBrk="0" hangingPunct="0">
              <a:tabLst>
                <a:tab pos="1333500" algn="l"/>
              </a:tabLst>
              <a:defRPr sz="2400">
                <a:solidFill>
                  <a:schemeClr val="tx1"/>
                </a:solidFill>
                <a:latin typeface="Tahoma" panose="020B0604030504040204" pitchFamily="34" charset="0"/>
              </a:defRPr>
            </a:lvl4pPr>
            <a:lvl5pPr marL="2057400" indent="-228600" eaLnBrk="0" hangingPunct="0">
              <a:tabLst>
                <a:tab pos="1333500" algn="l"/>
              </a:tabLst>
              <a:defRPr sz="2400">
                <a:solidFill>
                  <a:schemeClr val="tx1"/>
                </a:solidFill>
                <a:latin typeface="Tahoma" panose="020B0604030504040204" pitchFamily="34" charset="0"/>
              </a:defRPr>
            </a:lvl5pPr>
            <a:lvl6pPr marL="25146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6pPr>
            <a:lvl7pPr marL="29718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7pPr>
            <a:lvl8pPr marL="34290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8pPr>
            <a:lvl9pPr marL="38862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9pPr>
          </a:lstStyle>
          <a:p>
            <a:pPr eaLnBrk="1" hangingPunct="1">
              <a:lnSpc>
                <a:spcPct val="90000"/>
              </a:lnSpc>
              <a:spcBef>
                <a:spcPct val="20000"/>
              </a:spcBef>
              <a:buClr>
                <a:schemeClr val="accent1"/>
              </a:buClr>
              <a:buSzPct val="80000"/>
              <a:buFont typeface="Wingdings" panose="05000000000000000000" pitchFamily="2" charset="2"/>
              <a:buNone/>
            </a:pPr>
            <a:endParaRPr lang="de-DE" altLang="en-US" sz="2000" b="1" u="sng">
              <a:latin typeface="Arial" panose="020B0604020202020204" pitchFamily="34" charset="0"/>
            </a:endParaRPr>
          </a:p>
        </p:txBody>
      </p:sp>
      <p:sp>
        <p:nvSpPr>
          <p:cNvPr id="36868" name="Text Box 3">
            <a:extLst>
              <a:ext uri="{FF2B5EF4-FFF2-40B4-BE49-F238E27FC236}">
                <a16:creationId xmlns:a16="http://schemas.microsoft.com/office/drawing/2014/main" id="{859DDDC5-01F4-FEA2-2B45-1EF512ED15E6}"/>
              </a:ext>
            </a:extLst>
          </p:cNvPr>
          <p:cNvSpPr txBox="1">
            <a:spLocks noChangeArrowheads="1"/>
          </p:cNvSpPr>
          <p:nvPr/>
        </p:nvSpPr>
        <p:spPr bwMode="auto">
          <a:xfrm>
            <a:off x="7381875" y="2590800"/>
            <a:ext cx="14573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1400">
                <a:solidFill>
                  <a:schemeClr val="tx2"/>
                </a:solidFill>
                <a:latin typeface="Arial" panose="020B0604020202020204" pitchFamily="34" charset="0"/>
              </a:rPr>
              <a:t>news articles</a:t>
            </a:r>
            <a:br>
              <a:rPr lang="de-DE" altLang="en-US" sz="1400">
                <a:solidFill>
                  <a:schemeClr val="tx2"/>
                </a:solidFill>
                <a:latin typeface="Arial" panose="020B0604020202020204" pitchFamily="34" charset="0"/>
              </a:rPr>
            </a:br>
            <a:r>
              <a:rPr lang="de-DE" altLang="en-US" sz="1400">
                <a:solidFill>
                  <a:schemeClr val="tx2"/>
                </a:solidFill>
                <a:latin typeface="Arial" panose="020B0604020202020204" pitchFamily="34" charset="0"/>
              </a:rPr>
              <a:t>visualized as</a:t>
            </a:r>
            <a:br>
              <a:rPr lang="de-DE" altLang="en-US" sz="1400">
                <a:solidFill>
                  <a:schemeClr val="tx2"/>
                </a:solidFill>
                <a:latin typeface="Arial" panose="020B0604020202020204" pitchFamily="34" charset="0"/>
              </a:rPr>
            </a:br>
            <a:r>
              <a:rPr lang="de-DE" altLang="en-US" sz="1400">
                <a:solidFill>
                  <a:schemeClr val="tx2"/>
                </a:solidFill>
                <a:latin typeface="Arial" panose="020B0604020202020204" pitchFamily="34" charset="0"/>
              </a:rPr>
              <a:t>a landscape</a:t>
            </a:r>
          </a:p>
        </p:txBody>
      </p:sp>
      <p:pic>
        <p:nvPicPr>
          <p:cNvPr id="36869" name="Picture 4" descr="Landscape">
            <a:extLst>
              <a:ext uri="{FF2B5EF4-FFF2-40B4-BE49-F238E27FC236}">
                <a16:creationId xmlns:a16="http://schemas.microsoft.com/office/drawing/2014/main" id="{1DE9891D-7241-945F-0B27-F821AFC05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117600"/>
            <a:ext cx="5638800"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Text Box 5">
            <a:extLst>
              <a:ext uri="{FF2B5EF4-FFF2-40B4-BE49-F238E27FC236}">
                <a16:creationId xmlns:a16="http://schemas.microsoft.com/office/drawing/2014/main" id="{BDB7C2C8-B123-C664-A69F-12D51E0EE1C5}"/>
              </a:ext>
            </a:extLst>
          </p:cNvPr>
          <p:cNvSpPr txBox="1">
            <a:spLocks noChangeArrowheads="1"/>
          </p:cNvSpPr>
          <p:nvPr/>
        </p:nvSpPr>
        <p:spPr bwMode="auto">
          <a:xfrm rot="-5400000">
            <a:off x="-442912" y="3351212"/>
            <a:ext cx="37211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1000">
                <a:solidFill>
                  <a:schemeClr val="accent1"/>
                </a:solidFill>
                <a:latin typeface="Arial" panose="020B0604020202020204" pitchFamily="34" charset="0"/>
              </a:rPr>
              <a:t>Used by permission of B. Wright, Visible Decisions Inc.</a:t>
            </a:r>
          </a:p>
        </p:txBody>
      </p:sp>
      <p:sp>
        <p:nvSpPr>
          <p:cNvPr id="36871" name="Rectangle 6">
            <a:extLst>
              <a:ext uri="{FF2B5EF4-FFF2-40B4-BE49-F238E27FC236}">
                <a16:creationId xmlns:a16="http://schemas.microsoft.com/office/drawing/2014/main" id="{894B0D7D-DD2A-0B7B-831D-DE9F7C47FC6E}"/>
              </a:ext>
            </a:extLst>
          </p:cNvPr>
          <p:cNvSpPr>
            <a:spLocks noGrp="1" noChangeArrowheads="1"/>
          </p:cNvSpPr>
          <p:nvPr>
            <p:ph type="title"/>
          </p:nvPr>
        </p:nvSpPr>
        <p:spPr/>
        <p:txBody>
          <a:bodyPr/>
          <a:lstStyle/>
          <a:p>
            <a:pPr eaLnBrk="1" hangingPunct="1"/>
            <a:r>
              <a:rPr lang="de-DE" altLang="en-US">
                <a:latin typeface="Arial" panose="020B0604020202020204" pitchFamily="34" charset="0"/>
              </a:rPr>
              <a:t>Landscapes</a:t>
            </a:r>
            <a:endParaRPr lang="en-US" altLang="en-US" sz="4800">
              <a:latin typeface="Arial" panose="020B0604020202020204" pitchFamily="34" charset="0"/>
            </a:endParaRPr>
          </a:p>
        </p:txBody>
      </p:sp>
      <p:sp>
        <p:nvSpPr>
          <p:cNvPr id="36872" name="Rectangle 7">
            <a:extLst>
              <a:ext uri="{FF2B5EF4-FFF2-40B4-BE49-F238E27FC236}">
                <a16:creationId xmlns:a16="http://schemas.microsoft.com/office/drawing/2014/main" id="{D27B55A3-F06E-55BA-00C0-A6040DAB3BBA}"/>
              </a:ext>
            </a:extLst>
          </p:cNvPr>
          <p:cNvSpPr>
            <a:spLocks noGrp="1" noChangeArrowheads="1"/>
          </p:cNvSpPr>
          <p:nvPr>
            <p:ph type="body" idx="1"/>
          </p:nvPr>
        </p:nvSpPr>
        <p:spPr>
          <a:xfrm>
            <a:off x="304800" y="5486400"/>
            <a:ext cx="8382000" cy="1066800"/>
          </a:xfrm>
        </p:spPr>
        <p:txBody>
          <a:bodyPr>
            <a:normAutofit fontScale="92500" lnSpcReduction="20000"/>
          </a:bodyPr>
          <a:lstStyle/>
          <a:p>
            <a:pPr eaLnBrk="1" hangingPunct="1">
              <a:lnSpc>
                <a:spcPct val="90000"/>
              </a:lnSpc>
            </a:pPr>
            <a:r>
              <a:rPr lang="de-DE" altLang="en-US" sz="2000"/>
              <a:t>Visualization of the data as perspective landscape</a:t>
            </a:r>
            <a:endParaRPr lang="de-DE" altLang="en-US" sz="2000" b="1"/>
          </a:p>
          <a:p>
            <a:pPr eaLnBrk="1" hangingPunct="1">
              <a:lnSpc>
                <a:spcPct val="90000"/>
              </a:lnSpc>
            </a:pPr>
            <a:r>
              <a:rPr lang="de-DE" altLang="en-US" sz="2000"/>
              <a:t>The data needs to be transformed into a (possibly artificial) 2D spatial representation which preserves the characteristics of the data </a:t>
            </a:r>
            <a:endParaRPr lang="en-US" altLang="en-US" sz="2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AE56D59B-6C32-ADDA-5653-08BD95DA54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94FE579-F418-4386-85D5-1227D5EF4620}" type="slidenum">
              <a:rPr lang="en-US" altLang="en-US" sz="1200"/>
              <a:pPr eaLnBrk="1" hangingPunct="1"/>
              <a:t>70</a:t>
            </a:fld>
            <a:endParaRPr lang="en-US" altLang="en-US" sz="1200"/>
          </a:p>
        </p:txBody>
      </p:sp>
      <p:pic>
        <p:nvPicPr>
          <p:cNvPr id="37891" name="Picture 3">
            <a:extLst>
              <a:ext uri="{FF2B5EF4-FFF2-40B4-BE49-F238E27FC236}">
                <a16:creationId xmlns:a16="http://schemas.microsoft.com/office/drawing/2014/main" id="{3940EBE3-D2ED-C442-E006-A980DDF4D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886200"/>
            <a:ext cx="65532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4">
            <a:extLst>
              <a:ext uri="{FF2B5EF4-FFF2-40B4-BE49-F238E27FC236}">
                <a16:creationId xmlns:a16="http://schemas.microsoft.com/office/drawing/2014/main" id="{1D95B34D-3983-0296-AE82-AE211C91219C}"/>
              </a:ext>
            </a:extLst>
          </p:cNvPr>
          <p:cNvSpPr>
            <a:spLocks noGrp="1" noChangeArrowheads="1"/>
          </p:cNvSpPr>
          <p:nvPr>
            <p:ph type="title"/>
          </p:nvPr>
        </p:nvSpPr>
        <p:spPr/>
        <p:txBody>
          <a:bodyPr/>
          <a:lstStyle/>
          <a:p>
            <a:pPr eaLnBrk="1" hangingPunct="1"/>
            <a:r>
              <a:rPr lang="de-DE" altLang="en-US"/>
              <a:t>Parallel Coordinates</a:t>
            </a:r>
            <a:endParaRPr lang="en-US" altLang="en-US" sz="4000"/>
          </a:p>
        </p:txBody>
      </p:sp>
      <p:sp>
        <p:nvSpPr>
          <p:cNvPr id="37893" name="Rectangle 5">
            <a:extLst>
              <a:ext uri="{FF2B5EF4-FFF2-40B4-BE49-F238E27FC236}">
                <a16:creationId xmlns:a16="http://schemas.microsoft.com/office/drawing/2014/main" id="{C4FC987A-F357-418D-C448-9CD08D562E3B}"/>
              </a:ext>
            </a:extLst>
          </p:cNvPr>
          <p:cNvSpPr>
            <a:spLocks noGrp="1" noChangeArrowheads="1"/>
          </p:cNvSpPr>
          <p:nvPr>
            <p:ph type="body" idx="1"/>
          </p:nvPr>
        </p:nvSpPr>
        <p:spPr>
          <a:xfrm>
            <a:off x="381000" y="1295400"/>
            <a:ext cx="8458200" cy="2286000"/>
          </a:xfrm>
        </p:spPr>
        <p:txBody>
          <a:bodyPr>
            <a:normAutofit lnSpcReduction="10000"/>
          </a:bodyPr>
          <a:lstStyle/>
          <a:p>
            <a:pPr eaLnBrk="1" hangingPunct="1"/>
            <a:r>
              <a:rPr lang="de-DE" altLang="en-US" sz="2000"/>
              <a:t>n equidistant axes which are parallel to one of the screen axes and correspond to the attributes </a:t>
            </a:r>
          </a:p>
          <a:p>
            <a:pPr eaLnBrk="1" hangingPunct="1"/>
            <a:r>
              <a:rPr lang="de-DE" altLang="en-US" sz="2000"/>
              <a:t>The axes are scaled to the [minimum, maximum]: range of the corresponding attribute</a:t>
            </a:r>
          </a:p>
          <a:p>
            <a:pPr eaLnBrk="1" hangingPunct="1"/>
            <a:r>
              <a:rPr lang="de-DE" altLang="en-US" sz="2000"/>
              <a:t>Every data item corresponds to a polygonal line which intersects each of the axes at the point which corresponds to the value for the attribute</a:t>
            </a:r>
            <a:endParaRPr lang="en-US" altLang="en-US" sz="2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4297B5EF-13B1-2590-356F-47C66947F92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84AD607-F0AA-4E9E-A0CB-700A544D43DB}" type="slidenum">
              <a:rPr lang="en-US" altLang="en-US" sz="1200"/>
              <a:pPr eaLnBrk="1" hangingPunct="1"/>
              <a:t>71</a:t>
            </a:fld>
            <a:endParaRPr lang="en-US" altLang="en-US" sz="1200"/>
          </a:p>
        </p:txBody>
      </p:sp>
      <p:pic>
        <p:nvPicPr>
          <p:cNvPr id="38915" name="Picture 2" descr="ParCoord_KapIIb">
            <a:extLst>
              <a:ext uri="{FF2B5EF4-FFF2-40B4-BE49-F238E27FC236}">
                <a16:creationId xmlns:a16="http://schemas.microsoft.com/office/drawing/2014/main" id="{6021F974-9C2A-23BA-61BF-BD8B569BE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92238"/>
            <a:ext cx="7467600" cy="493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3">
            <a:extLst>
              <a:ext uri="{FF2B5EF4-FFF2-40B4-BE49-F238E27FC236}">
                <a16:creationId xmlns:a16="http://schemas.microsoft.com/office/drawing/2014/main" id="{B3CC3D04-963B-6F0D-308B-9BBF334E7F3A}"/>
              </a:ext>
            </a:extLst>
          </p:cNvPr>
          <p:cNvSpPr>
            <a:spLocks noGrp="1" noChangeArrowheads="1"/>
          </p:cNvSpPr>
          <p:nvPr>
            <p:ph type="title" idx="4294967295"/>
          </p:nvPr>
        </p:nvSpPr>
        <p:spPr>
          <a:xfrm>
            <a:off x="0" y="381000"/>
            <a:ext cx="9144000" cy="609600"/>
          </a:xfrm>
        </p:spPr>
        <p:txBody>
          <a:bodyPr>
            <a:normAutofit fontScale="90000"/>
          </a:bodyPr>
          <a:lstStyle/>
          <a:p>
            <a:pPr eaLnBrk="1" hangingPunct="1"/>
            <a:r>
              <a:rPr lang="en-US" altLang="en-US"/>
              <a:t>Parallel Coordinates of a Data Set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4AD5C185-C2E2-96CC-2B9E-D69DC537DD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649F3F7-57EE-4BE9-8274-4EF361793DDC}" type="slidenum">
              <a:rPr lang="en-US" altLang="en-US" sz="1200"/>
              <a:pPr eaLnBrk="1" hangingPunct="1"/>
              <a:t>72</a:t>
            </a:fld>
            <a:endParaRPr lang="en-US" altLang="en-US" sz="1200"/>
          </a:p>
        </p:txBody>
      </p:sp>
      <p:sp>
        <p:nvSpPr>
          <p:cNvPr id="39939" name="Rectangle 3">
            <a:extLst>
              <a:ext uri="{FF2B5EF4-FFF2-40B4-BE49-F238E27FC236}">
                <a16:creationId xmlns:a16="http://schemas.microsoft.com/office/drawing/2014/main" id="{0B9101FA-191B-8AB6-0239-5F75D78DE9E0}"/>
              </a:ext>
            </a:extLst>
          </p:cNvPr>
          <p:cNvSpPr>
            <a:spLocks noGrp="1" noChangeArrowheads="1"/>
          </p:cNvSpPr>
          <p:nvPr>
            <p:ph type="title"/>
          </p:nvPr>
        </p:nvSpPr>
        <p:spPr/>
        <p:txBody>
          <a:bodyPr>
            <a:normAutofit fontScale="90000"/>
          </a:bodyPr>
          <a:lstStyle/>
          <a:p>
            <a:pPr eaLnBrk="1" hangingPunct="1"/>
            <a:r>
              <a:rPr lang="de-DE" altLang="en-US">
                <a:solidFill>
                  <a:srgbClr val="170981"/>
                </a:solidFill>
              </a:rPr>
              <a:t>Icon-Based Visualization Techniques</a:t>
            </a:r>
            <a:endParaRPr lang="en-US" altLang="en-US">
              <a:solidFill>
                <a:srgbClr val="170981"/>
              </a:solidFill>
            </a:endParaRPr>
          </a:p>
        </p:txBody>
      </p:sp>
      <p:sp>
        <p:nvSpPr>
          <p:cNvPr id="39940" name="Rectangle 4">
            <a:extLst>
              <a:ext uri="{FF2B5EF4-FFF2-40B4-BE49-F238E27FC236}">
                <a16:creationId xmlns:a16="http://schemas.microsoft.com/office/drawing/2014/main" id="{1A1833E9-0925-D4B7-54B7-C7439B6EAEEC}"/>
              </a:ext>
            </a:extLst>
          </p:cNvPr>
          <p:cNvSpPr>
            <a:spLocks noGrp="1" noChangeArrowheads="1"/>
          </p:cNvSpPr>
          <p:nvPr>
            <p:ph type="body" idx="1"/>
          </p:nvPr>
        </p:nvSpPr>
        <p:spPr>
          <a:xfrm>
            <a:off x="304800" y="1447800"/>
            <a:ext cx="8458200" cy="4953000"/>
          </a:xfrm>
        </p:spPr>
        <p:txBody>
          <a:bodyPr/>
          <a:lstStyle/>
          <a:p>
            <a:pPr eaLnBrk="1" hangingPunct="1">
              <a:lnSpc>
                <a:spcPct val="110000"/>
              </a:lnSpc>
            </a:pPr>
            <a:r>
              <a:rPr lang="de-DE" altLang="en-US" sz="2400"/>
              <a:t>Visualization of the data values as features of icons</a:t>
            </a:r>
          </a:p>
          <a:p>
            <a:pPr eaLnBrk="1" hangingPunct="1">
              <a:lnSpc>
                <a:spcPct val="110000"/>
              </a:lnSpc>
            </a:pPr>
            <a:r>
              <a:rPr lang="de-DE" altLang="en-US" sz="2400"/>
              <a:t>Typical visualization methods</a:t>
            </a:r>
          </a:p>
          <a:p>
            <a:pPr lvl="1" eaLnBrk="1" hangingPunct="1">
              <a:lnSpc>
                <a:spcPct val="110000"/>
              </a:lnSpc>
            </a:pPr>
            <a:r>
              <a:rPr lang="de-DE" altLang="en-US" sz="2400"/>
              <a:t>Chernoff Faces</a:t>
            </a:r>
          </a:p>
          <a:p>
            <a:pPr lvl="1" eaLnBrk="1" hangingPunct="1">
              <a:lnSpc>
                <a:spcPct val="110000"/>
              </a:lnSpc>
            </a:pPr>
            <a:r>
              <a:rPr lang="de-DE" altLang="en-US" sz="2400"/>
              <a:t>Stick Figures</a:t>
            </a:r>
          </a:p>
          <a:p>
            <a:pPr eaLnBrk="1" hangingPunct="1">
              <a:lnSpc>
                <a:spcPct val="110000"/>
              </a:lnSpc>
            </a:pPr>
            <a:r>
              <a:rPr lang="de-DE" altLang="en-US" sz="2400"/>
              <a:t>General techniques</a:t>
            </a:r>
          </a:p>
          <a:p>
            <a:pPr lvl="1" eaLnBrk="1" hangingPunct="1">
              <a:lnSpc>
                <a:spcPct val="110000"/>
              </a:lnSpc>
            </a:pPr>
            <a:r>
              <a:rPr lang="de-DE" altLang="en-US" sz="2400"/>
              <a:t>Shape coding: Use shape to represent certain information encoding</a:t>
            </a:r>
          </a:p>
          <a:p>
            <a:pPr lvl="1" eaLnBrk="1" hangingPunct="1">
              <a:lnSpc>
                <a:spcPct val="110000"/>
              </a:lnSpc>
            </a:pPr>
            <a:r>
              <a:rPr lang="de-DE" altLang="en-US" sz="2400"/>
              <a:t>Color icons: Use color icons to encode more information</a:t>
            </a:r>
          </a:p>
          <a:p>
            <a:pPr lvl="1" eaLnBrk="1" hangingPunct="1">
              <a:lnSpc>
                <a:spcPct val="110000"/>
              </a:lnSpc>
            </a:pPr>
            <a:r>
              <a:rPr lang="de-DE" altLang="en-US" sz="2400"/>
              <a:t>Tile bars: Use small icons to represent the relevant feature vectors in document retrieval</a:t>
            </a:r>
            <a:endParaRPr lang="en-US" altLang="en-US"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62C42A5E-58D3-7DCF-E54B-478D8AB64A5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9AEEE68-2E48-495D-B28E-5396A271DE28}" type="slidenum">
              <a:rPr lang="en-US" altLang="en-US" sz="1200"/>
              <a:pPr eaLnBrk="1" hangingPunct="1"/>
              <a:t>73</a:t>
            </a:fld>
            <a:endParaRPr lang="en-US" altLang="en-US" sz="1200"/>
          </a:p>
        </p:txBody>
      </p:sp>
      <p:sp>
        <p:nvSpPr>
          <p:cNvPr id="40963" name="Rectangle 2">
            <a:extLst>
              <a:ext uri="{FF2B5EF4-FFF2-40B4-BE49-F238E27FC236}">
                <a16:creationId xmlns:a16="http://schemas.microsoft.com/office/drawing/2014/main" id="{E8BD6557-B2AC-02E3-72CF-822980F86CE5}"/>
              </a:ext>
            </a:extLst>
          </p:cNvPr>
          <p:cNvSpPr>
            <a:spLocks noGrp="1" noChangeArrowheads="1"/>
          </p:cNvSpPr>
          <p:nvPr>
            <p:ph type="title"/>
          </p:nvPr>
        </p:nvSpPr>
        <p:spPr/>
        <p:txBody>
          <a:bodyPr/>
          <a:lstStyle/>
          <a:p>
            <a:pPr eaLnBrk="1" hangingPunct="1"/>
            <a:r>
              <a:rPr lang="en-US" altLang="en-US"/>
              <a:t>Chernoff Faces</a:t>
            </a:r>
          </a:p>
        </p:txBody>
      </p:sp>
      <p:sp>
        <p:nvSpPr>
          <p:cNvPr id="40964" name="Rectangle 3">
            <a:extLst>
              <a:ext uri="{FF2B5EF4-FFF2-40B4-BE49-F238E27FC236}">
                <a16:creationId xmlns:a16="http://schemas.microsoft.com/office/drawing/2014/main" id="{44D67E81-D33D-5183-A059-1A6DB955D0AF}"/>
              </a:ext>
            </a:extLst>
          </p:cNvPr>
          <p:cNvSpPr>
            <a:spLocks noGrp="1" noChangeArrowheads="1"/>
          </p:cNvSpPr>
          <p:nvPr>
            <p:ph type="body" sz="half" idx="1"/>
          </p:nvPr>
        </p:nvSpPr>
        <p:spPr>
          <a:xfrm>
            <a:off x="304800" y="1371600"/>
            <a:ext cx="8458200" cy="2667000"/>
          </a:xfrm>
        </p:spPr>
        <p:txBody>
          <a:bodyPr>
            <a:normAutofit lnSpcReduction="10000"/>
          </a:bodyPr>
          <a:lstStyle/>
          <a:p>
            <a:pPr eaLnBrk="1" hangingPunct="1">
              <a:lnSpc>
                <a:spcPct val="120000"/>
              </a:lnSpc>
            </a:pPr>
            <a:r>
              <a:rPr lang="en-US" altLang="en-US" sz="2000"/>
              <a:t>A way to display variables on a two-dimensional surface, e.g., let x be eyebrow slant, y be eye size, z be nose length, etc. </a:t>
            </a:r>
          </a:p>
          <a:p>
            <a:pPr eaLnBrk="1" hangingPunct="1">
              <a:lnSpc>
                <a:spcPct val="120000"/>
              </a:lnSpc>
            </a:pPr>
            <a:r>
              <a:rPr lang="en-US" altLang="en-US" sz="2000"/>
              <a:t>The figure shows faces produced using 10 characteristics--head eccentricity, eye size, eye spacing, eye eccentricity, pupil size, eyebrow slant, nose size, mouth shape, mouth size, and mouth opening): Each assigned one of 10 possible values, generated using </a:t>
            </a:r>
            <a:r>
              <a:rPr lang="en-US" altLang="en-US" sz="2000" i="1">
                <a:hlinkClick r:id="rId3"/>
              </a:rPr>
              <a:t>Mathematica</a:t>
            </a:r>
            <a:r>
              <a:rPr lang="en-US" altLang="en-US" sz="2000"/>
              <a:t> (S. Dickson)</a:t>
            </a:r>
          </a:p>
        </p:txBody>
      </p:sp>
      <p:sp>
        <p:nvSpPr>
          <p:cNvPr id="40965" name="Rectangle 5">
            <a:extLst>
              <a:ext uri="{FF2B5EF4-FFF2-40B4-BE49-F238E27FC236}">
                <a16:creationId xmlns:a16="http://schemas.microsoft.com/office/drawing/2014/main" id="{CE7325E8-8C32-E792-A386-E81FBEFE7A24}"/>
              </a:ext>
            </a:extLst>
          </p:cNvPr>
          <p:cNvSpPr>
            <a:spLocks noGrp="1" noChangeArrowheads="1"/>
          </p:cNvSpPr>
          <p:nvPr>
            <p:ph type="body" sz="half" idx="2"/>
          </p:nvPr>
        </p:nvSpPr>
        <p:spPr>
          <a:xfrm>
            <a:off x="304800" y="4200525"/>
            <a:ext cx="5486400" cy="2198688"/>
          </a:xfrm>
        </p:spPr>
        <p:txBody>
          <a:bodyPr>
            <a:normAutofit fontScale="92500" lnSpcReduction="10000"/>
          </a:bodyPr>
          <a:lstStyle/>
          <a:p>
            <a:pPr eaLnBrk="1" hangingPunct="1">
              <a:lnSpc>
                <a:spcPct val="110000"/>
              </a:lnSpc>
            </a:pPr>
            <a:r>
              <a:rPr lang="en-US" altLang="en-US" sz="2000"/>
              <a:t>REFERENCE: Gonick, L. and Smith, W. </a:t>
            </a:r>
            <a:r>
              <a:rPr lang="en-US" altLang="en-US" sz="2000" i="1">
                <a:hlinkClick r:id="rId4"/>
              </a:rPr>
              <a:t>The Cartoon Guide to Statistics.</a:t>
            </a:r>
            <a:r>
              <a:rPr lang="en-US" altLang="en-US" sz="2000"/>
              <a:t> New York: Harper Perennial, p. 212, 1993</a:t>
            </a:r>
          </a:p>
          <a:p>
            <a:pPr eaLnBrk="1" hangingPunct="1">
              <a:lnSpc>
                <a:spcPct val="110000"/>
              </a:lnSpc>
            </a:pPr>
            <a:r>
              <a:rPr lang="en-US" altLang="en-US" sz="2000"/>
              <a:t>Weisstein, Eric W. "Chernoff Face." From </a:t>
            </a:r>
            <a:r>
              <a:rPr lang="en-US" altLang="en-US" sz="2000" i="1"/>
              <a:t>MathWorld</a:t>
            </a:r>
            <a:r>
              <a:rPr lang="en-US" altLang="en-US" sz="2000"/>
              <a:t>--A Wolfram Web Resource. </a:t>
            </a:r>
            <a:r>
              <a:rPr lang="en-US" altLang="en-US" sz="2000">
                <a:hlinkClick r:id="rId5"/>
              </a:rPr>
              <a:t>mathworld.wolfram.com/ChernoffFace.html</a:t>
            </a:r>
            <a:r>
              <a:rPr lang="en-US" altLang="en-US" sz="2000"/>
              <a:t> </a:t>
            </a:r>
          </a:p>
        </p:txBody>
      </p:sp>
      <p:pic>
        <p:nvPicPr>
          <p:cNvPr id="40966" name="Picture 4" descr="ChernoffFaces">
            <a:extLst>
              <a:ext uri="{FF2B5EF4-FFF2-40B4-BE49-F238E27FC236}">
                <a16:creationId xmlns:a16="http://schemas.microsoft.com/office/drawing/2014/main" id="{9CA71FD2-3A0F-D2B8-C545-CE11ADEE9F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886200"/>
            <a:ext cx="3429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A30D96A6-327E-3D3A-B06C-CD031BC2FD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C1ACF71-4DE6-4EB7-B0B6-F6D2D8AFEA03}" type="slidenum">
              <a:rPr lang="en-US" altLang="en-US" sz="1200"/>
              <a:pPr eaLnBrk="1" hangingPunct="1"/>
              <a:t>74</a:t>
            </a:fld>
            <a:endParaRPr lang="en-US" altLang="en-US" sz="1200"/>
          </a:p>
        </p:txBody>
      </p:sp>
      <p:pic>
        <p:nvPicPr>
          <p:cNvPr id="41987" name="Picture 2" descr="StickCensus">
            <a:extLst>
              <a:ext uri="{FF2B5EF4-FFF2-40B4-BE49-F238E27FC236}">
                <a16:creationId xmlns:a16="http://schemas.microsoft.com/office/drawing/2014/main" id="{A34AD169-438C-3FE3-9062-3A67FFCEA6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838200"/>
            <a:ext cx="6208713" cy="580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3">
            <a:extLst>
              <a:ext uri="{FF2B5EF4-FFF2-40B4-BE49-F238E27FC236}">
                <a16:creationId xmlns:a16="http://schemas.microsoft.com/office/drawing/2014/main" id="{13F7B960-3DE8-03C9-C28D-9991539935F0}"/>
              </a:ext>
            </a:extLst>
          </p:cNvPr>
          <p:cNvSpPr>
            <a:spLocks noChangeArrowheads="1"/>
          </p:cNvSpPr>
          <p:nvPr/>
        </p:nvSpPr>
        <p:spPr bwMode="auto">
          <a:xfrm>
            <a:off x="174625" y="6559550"/>
            <a:ext cx="74453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defTabSz="381000" eaLnBrk="0" hangingPunct="0">
              <a:defRPr sz="2400">
                <a:solidFill>
                  <a:schemeClr val="tx1"/>
                </a:solidFill>
                <a:latin typeface="Tahoma" panose="020B0604030504040204" pitchFamily="34" charset="0"/>
              </a:defRPr>
            </a:lvl1pPr>
            <a:lvl2pPr marL="742950" indent="-285750" defTabSz="381000" eaLnBrk="0" hangingPunct="0">
              <a:defRPr sz="2400">
                <a:solidFill>
                  <a:schemeClr val="tx1"/>
                </a:solidFill>
                <a:latin typeface="Tahoma" panose="020B0604030504040204" pitchFamily="34" charset="0"/>
              </a:defRPr>
            </a:lvl2pPr>
            <a:lvl3pPr marL="1143000" indent="-228600" defTabSz="381000" eaLnBrk="0" hangingPunct="0">
              <a:defRPr sz="2400">
                <a:solidFill>
                  <a:schemeClr val="tx1"/>
                </a:solidFill>
                <a:latin typeface="Tahoma" panose="020B0604030504040204" pitchFamily="34" charset="0"/>
              </a:defRPr>
            </a:lvl3pPr>
            <a:lvl4pPr marL="1600200" indent="-228600" defTabSz="381000" eaLnBrk="0" hangingPunct="0">
              <a:defRPr sz="2400">
                <a:solidFill>
                  <a:schemeClr val="tx1"/>
                </a:solidFill>
                <a:latin typeface="Tahoma" panose="020B0604030504040204" pitchFamily="34" charset="0"/>
              </a:defRPr>
            </a:lvl4pPr>
            <a:lvl5pPr marL="2057400" indent="-228600" defTabSz="381000" eaLnBrk="0" hangingPunct="0">
              <a:defRPr sz="2400">
                <a:solidFill>
                  <a:schemeClr val="tx1"/>
                </a:solidFill>
                <a:latin typeface="Tahoma" panose="020B0604030504040204" pitchFamily="34" charset="0"/>
              </a:defRPr>
            </a:lvl5pPr>
            <a:lvl6pPr marL="2514600" indent="-228600" defTabSz="381000"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381000"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381000"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3810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SzPct val="130000"/>
            </a:pPr>
            <a:r>
              <a:rPr lang="en-US" altLang="en-US" sz="1100"/>
              <a:t>Two attributes mapped to axes, remaining attributes mapped to angle or length of limbs”. Look at texture pattern</a:t>
            </a:r>
            <a:endParaRPr lang="de-DE" altLang="en-US" sz="1800">
              <a:latin typeface="Arial Narrow" panose="020B0606020202030204" pitchFamily="34" charset="0"/>
            </a:endParaRPr>
          </a:p>
        </p:txBody>
      </p:sp>
      <p:sp>
        <p:nvSpPr>
          <p:cNvPr id="41989" name="Text Box 4">
            <a:extLst>
              <a:ext uri="{FF2B5EF4-FFF2-40B4-BE49-F238E27FC236}">
                <a16:creationId xmlns:a16="http://schemas.microsoft.com/office/drawing/2014/main" id="{A566E7C6-6A60-F156-08E4-F0460962F119}"/>
              </a:ext>
            </a:extLst>
          </p:cNvPr>
          <p:cNvSpPr txBox="1">
            <a:spLocks noChangeArrowheads="1"/>
          </p:cNvSpPr>
          <p:nvPr/>
        </p:nvSpPr>
        <p:spPr bwMode="auto">
          <a:xfrm>
            <a:off x="6781800" y="1066800"/>
            <a:ext cx="223837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a:latin typeface="Arial" panose="020B0604020202020204" pitchFamily="34" charset="0"/>
              </a:rPr>
              <a:t>A census data figure showing age, income, gender, education, etc.</a:t>
            </a:r>
          </a:p>
        </p:txBody>
      </p:sp>
      <p:sp>
        <p:nvSpPr>
          <p:cNvPr id="41990" name="Text Box 5">
            <a:extLst>
              <a:ext uri="{FF2B5EF4-FFF2-40B4-BE49-F238E27FC236}">
                <a16:creationId xmlns:a16="http://schemas.microsoft.com/office/drawing/2014/main" id="{445E4F29-4553-0FD5-9955-017D707772A0}"/>
              </a:ext>
            </a:extLst>
          </p:cNvPr>
          <p:cNvSpPr txBox="1">
            <a:spLocks noChangeArrowheads="1"/>
          </p:cNvSpPr>
          <p:nvPr/>
        </p:nvSpPr>
        <p:spPr bwMode="auto">
          <a:xfrm rot="-5417876">
            <a:off x="-1455737" y="3741737"/>
            <a:ext cx="35829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800">
                <a:solidFill>
                  <a:schemeClr val="accent1"/>
                </a:solidFill>
                <a:latin typeface="Arial" panose="020B0604020202020204" pitchFamily="34" charset="0"/>
              </a:rPr>
              <a:t>used by permission of G. Grinstein, University of Massachusettes at Lowell</a:t>
            </a:r>
          </a:p>
        </p:txBody>
      </p:sp>
      <p:sp>
        <p:nvSpPr>
          <p:cNvPr id="41991" name="Rectangle 6">
            <a:extLst>
              <a:ext uri="{FF2B5EF4-FFF2-40B4-BE49-F238E27FC236}">
                <a16:creationId xmlns:a16="http://schemas.microsoft.com/office/drawing/2014/main" id="{371F37B3-B59B-3474-05D6-F5B97F912314}"/>
              </a:ext>
            </a:extLst>
          </p:cNvPr>
          <p:cNvSpPr>
            <a:spLocks noGrp="1" noChangeArrowheads="1"/>
          </p:cNvSpPr>
          <p:nvPr>
            <p:ph type="title" idx="4294967295"/>
          </p:nvPr>
        </p:nvSpPr>
        <p:spPr>
          <a:xfrm>
            <a:off x="685800" y="0"/>
            <a:ext cx="7772400" cy="762000"/>
          </a:xfrm>
        </p:spPr>
        <p:txBody>
          <a:bodyPr/>
          <a:lstStyle/>
          <a:p>
            <a:pPr eaLnBrk="1" hangingPunct="1"/>
            <a:r>
              <a:rPr lang="de-DE" altLang="en-US"/>
              <a:t>Stick</a:t>
            </a:r>
            <a:r>
              <a:rPr lang="de-DE" altLang="en-US">
                <a:solidFill>
                  <a:schemeClr val="tx1"/>
                </a:solidFill>
              </a:rPr>
              <a:t> </a:t>
            </a:r>
            <a:r>
              <a:rPr lang="de-DE" altLang="en-US"/>
              <a:t>Figure</a:t>
            </a:r>
            <a:endParaRPr lang="en-US" altLang="en-US" sz="4000"/>
          </a:p>
        </p:txBody>
      </p:sp>
      <p:sp>
        <p:nvSpPr>
          <p:cNvPr id="41992" name="Text Box 12">
            <a:extLst>
              <a:ext uri="{FF2B5EF4-FFF2-40B4-BE49-F238E27FC236}">
                <a16:creationId xmlns:a16="http://schemas.microsoft.com/office/drawing/2014/main" id="{689731FA-D993-84F6-E565-8DEBAD4333EA}"/>
              </a:ext>
            </a:extLst>
          </p:cNvPr>
          <p:cNvSpPr txBox="1">
            <a:spLocks noChangeArrowheads="1"/>
          </p:cNvSpPr>
          <p:nvPr/>
        </p:nvSpPr>
        <p:spPr bwMode="auto">
          <a:xfrm>
            <a:off x="6858000" y="4419600"/>
            <a:ext cx="2286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a:t>A 5-piece stick figure (1 body and 4 limbs w. different angle/length)</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E3F1226E-D30F-0F25-724D-DC1C2879B2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4702395-F803-470E-A68F-1A175B1CA5D8}" type="slidenum">
              <a:rPr lang="en-US" altLang="en-US" sz="1200"/>
              <a:pPr eaLnBrk="1" hangingPunct="1"/>
              <a:t>75</a:t>
            </a:fld>
            <a:endParaRPr lang="en-US" altLang="en-US" sz="1200"/>
          </a:p>
        </p:txBody>
      </p:sp>
      <p:sp>
        <p:nvSpPr>
          <p:cNvPr id="43011" name="Rectangle 2">
            <a:extLst>
              <a:ext uri="{FF2B5EF4-FFF2-40B4-BE49-F238E27FC236}">
                <a16:creationId xmlns:a16="http://schemas.microsoft.com/office/drawing/2014/main" id="{739614D4-E9C4-EF17-B10E-CFF5BCA9E1E0}"/>
              </a:ext>
            </a:extLst>
          </p:cNvPr>
          <p:cNvSpPr>
            <a:spLocks noGrp="1" noChangeArrowheads="1"/>
          </p:cNvSpPr>
          <p:nvPr>
            <p:ph type="title"/>
          </p:nvPr>
        </p:nvSpPr>
        <p:spPr/>
        <p:txBody>
          <a:bodyPr/>
          <a:lstStyle/>
          <a:p>
            <a:pPr eaLnBrk="1" hangingPunct="1"/>
            <a:r>
              <a:rPr lang="de-DE" altLang="en-US" sz="3200">
                <a:solidFill>
                  <a:srgbClr val="170981"/>
                </a:solidFill>
              </a:rPr>
              <a:t>Hierarchical Visualization Techniques</a:t>
            </a:r>
            <a:endParaRPr lang="en-US" altLang="en-US" sz="3200">
              <a:solidFill>
                <a:srgbClr val="170981"/>
              </a:solidFill>
            </a:endParaRPr>
          </a:p>
        </p:txBody>
      </p:sp>
      <p:sp>
        <p:nvSpPr>
          <p:cNvPr id="43012" name="Rectangle 3">
            <a:extLst>
              <a:ext uri="{FF2B5EF4-FFF2-40B4-BE49-F238E27FC236}">
                <a16:creationId xmlns:a16="http://schemas.microsoft.com/office/drawing/2014/main" id="{D47022F0-A947-97AF-F8E9-78D1531B8F9E}"/>
              </a:ext>
            </a:extLst>
          </p:cNvPr>
          <p:cNvSpPr>
            <a:spLocks noGrp="1" noChangeArrowheads="1"/>
          </p:cNvSpPr>
          <p:nvPr>
            <p:ph type="body" idx="1"/>
          </p:nvPr>
        </p:nvSpPr>
        <p:spPr/>
        <p:txBody>
          <a:bodyPr/>
          <a:lstStyle/>
          <a:p>
            <a:pPr eaLnBrk="1" hangingPunct="1">
              <a:lnSpc>
                <a:spcPct val="110000"/>
              </a:lnSpc>
            </a:pPr>
            <a:r>
              <a:rPr lang="de-DE" altLang="en-US"/>
              <a:t>Visualization of the data using a hierarchical partitioning into subspaces</a:t>
            </a:r>
          </a:p>
          <a:p>
            <a:pPr eaLnBrk="1" hangingPunct="1">
              <a:lnSpc>
                <a:spcPct val="110000"/>
              </a:lnSpc>
            </a:pPr>
            <a:r>
              <a:rPr lang="de-DE" altLang="en-US"/>
              <a:t>Methods</a:t>
            </a:r>
          </a:p>
          <a:p>
            <a:pPr lvl="1" eaLnBrk="1" hangingPunct="1">
              <a:lnSpc>
                <a:spcPct val="110000"/>
              </a:lnSpc>
            </a:pPr>
            <a:r>
              <a:rPr lang="de-DE" altLang="en-US"/>
              <a:t>Dimensional Stacking</a:t>
            </a:r>
          </a:p>
          <a:p>
            <a:pPr lvl="1" eaLnBrk="1" hangingPunct="1">
              <a:lnSpc>
                <a:spcPct val="110000"/>
              </a:lnSpc>
            </a:pPr>
            <a:r>
              <a:rPr lang="de-DE" altLang="en-US"/>
              <a:t>Worlds-within-Worlds</a:t>
            </a:r>
          </a:p>
          <a:p>
            <a:pPr lvl="1" eaLnBrk="1" hangingPunct="1">
              <a:lnSpc>
                <a:spcPct val="110000"/>
              </a:lnSpc>
            </a:pPr>
            <a:r>
              <a:rPr lang="de-DE" altLang="en-US"/>
              <a:t>Tree-Map </a:t>
            </a:r>
          </a:p>
          <a:p>
            <a:pPr lvl="1" eaLnBrk="1" hangingPunct="1">
              <a:lnSpc>
                <a:spcPct val="110000"/>
              </a:lnSpc>
            </a:pPr>
            <a:r>
              <a:rPr lang="de-DE" altLang="en-US"/>
              <a:t>Cone Trees</a:t>
            </a:r>
          </a:p>
          <a:p>
            <a:pPr lvl="1" eaLnBrk="1" hangingPunct="1">
              <a:lnSpc>
                <a:spcPct val="110000"/>
              </a:lnSpc>
            </a:pPr>
            <a:r>
              <a:rPr lang="de-DE" altLang="en-US"/>
              <a:t>InfoCube</a:t>
            </a:r>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a:extLst>
              <a:ext uri="{FF2B5EF4-FFF2-40B4-BE49-F238E27FC236}">
                <a16:creationId xmlns:a16="http://schemas.microsoft.com/office/drawing/2014/main" id="{5579786D-737F-EE4D-BBC5-00667D1DB1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BBFED2D-9C6D-47B1-AAA3-B31B8E21810F}" type="slidenum">
              <a:rPr lang="en-US" altLang="en-US" sz="1200"/>
              <a:pPr eaLnBrk="1" hangingPunct="1"/>
              <a:t>76</a:t>
            </a:fld>
            <a:endParaRPr lang="en-US" altLang="en-US" sz="1200"/>
          </a:p>
        </p:txBody>
      </p:sp>
      <p:sp>
        <p:nvSpPr>
          <p:cNvPr id="44035" name="Rectangle 2">
            <a:extLst>
              <a:ext uri="{FF2B5EF4-FFF2-40B4-BE49-F238E27FC236}">
                <a16:creationId xmlns:a16="http://schemas.microsoft.com/office/drawing/2014/main" id="{08AEE29B-4DA4-8742-7679-6B18E322927C}"/>
              </a:ext>
            </a:extLst>
          </p:cNvPr>
          <p:cNvSpPr>
            <a:spLocks noGrp="1" noChangeArrowheads="1"/>
          </p:cNvSpPr>
          <p:nvPr>
            <p:ph type="title"/>
          </p:nvPr>
        </p:nvSpPr>
        <p:spPr/>
        <p:txBody>
          <a:bodyPr/>
          <a:lstStyle/>
          <a:p>
            <a:pPr eaLnBrk="1" hangingPunct="1"/>
            <a:r>
              <a:rPr lang="en-US" altLang="en-US" sz="3200"/>
              <a:t>Dimensional Stacking</a:t>
            </a:r>
          </a:p>
        </p:txBody>
      </p:sp>
      <p:pic>
        <p:nvPicPr>
          <p:cNvPr id="44036" name="Picture 4">
            <a:extLst>
              <a:ext uri="{FF2B5EF4-FFF2-40B4-BE49-F238E27FC236}">
                <a16:creationId xmlns:a16="http://schemas.microsoft.com/office/drawing/2014/main" id="{FAF0CB4A-6433-2813-FDBD-4A4A592C5AFA}"/>
              </a:ext>
            </a:extLst>
          </p:cNvPr>
          <p:cNvPicPr>
            <a:picLocks noGrp="1" noChangeAspect="1" noChangeArrowheads="1"/>
          </p:cNvPicPr>
          <p:nvPr>
            <p:ph type="body" sz="half" idx="1"/>
          </p:nvPr>
        </p:nvPicPr>
        <p:blipFill>
          <a:blip r:embed="rId3">
            <a:extLst>
              <a:ext uri="{28A0092B-C50C-407E-A947-70E740481C1C}">
                <a14:useLocalDpi xmlns:a14="http://schemas.microsoft.com/office/drawing/2010/main" val="0"/>
              </a:ext>
            </a:extLst>
          </a:blip>
          <a:srcRect/>
          <a:stretch>
            <a:fillRect/>
          </a:stretch>
        </p:blipFill>
        <p:spPr>
          <a:xfrm>
            <a:off x="304800" y="1295400"/>
            <a:ext cx="8153400" cy="2125663"/>
          </a:xfrm>
          <a:noFill/>
        </p:spPr>
      </p:pic>
      <p:sp>
        <p:nvSpPr>
          <p:cNvPr id="44037" name="Rectangle 5">
            <a:extLst>
              <a:ext uri="{FF2B5EF4-FFF2-40B4-BE49-F238E27FC236}">
                <a16:creationId xmlns:a16="http://schemas.microsoft.com/office/drawing/2014/main" id="{2A5147F3-2337-40E7-A305-A4305D6D1DB7}"/>
              </a:ext>
            </a:extLst>
          </p:cNvPr>
          <p:cNvSpPr>
            <a:spLocks noGrp="1" noChangeArrowheads="1"/>
          </p:cNvSpPr>
          <p:nvPr>
            <p:ph type="body" sz="half" idx="2"/>
          </p:nvPr>
        </p:nvSpPr>
        <p:spPr>
          <a:xfrm>
            <a:off x="304800" y="3581400"/>
            <a:ext cx="8610600" cy="2819400"/>
          </a:xfrm>
        </p:spPr>
        <p:txBody>
          <a:bodyPr>
            <a:normAutofit fontScale="92500"/>
          </a:bodyPr>
          <a:lstStyle/>
          <a:p>
            <a:pPr eaLnBrk="1" hangingPunct="1"/>
            <a:r>
              <a:rPr lang="de-DE" altLang="en-US" sz="2400" dirty="0"/>
              <a:t>Partitioning of the n-dimensional attribute space in 2-D subspaces, which are ‘stacked’ into each other</a:t>
            </a:r>
          </a:p>
          <a:p>
            <a:pPr eaLnBrk="1" hangingPunct="1"/>
            <a:r>
              <a:rPr lang="de-DE" altLang="en-US" sz="2400" dirty="0"/>
              <a:t>Partitioning of the attribute value ranges into classes.  The important attributes should be used on the outer levels.</a:t>
            </a:r>
            <a:endParaRPr lang="de-DE" altLang="en-US" sz="2400" b="1" dirty="0"/>
          </a:p>
          <a:p>
            <a:pPr eaLnBrk="1" hangingPunct="1"/>
            <a:r>
              <a:rPr lang="de-DE" altLang="en-US" sz="2400" dirty="0"/>
              <a:t>Adequate for data with ordinal attributes of low cardinality</a:t>
            </a:r>
          </a:p>
          <a:p>
            <a:pPr eaLnBrk="1" hangingPunct="1"/>
            <a:r>
              <a:rPr lang="en-US" altLang="en-US" sz="2400" dirty="0"/>
              <a:t>But, difficult to display more than nine dimensions</a:t>
            </a:r>
          </a:p>
          <a:p>
            <a:pPr eaLnBrk="1" hangingPunct="1"/>
            <a:r>
              <a:rPr lang="en-US" altLang="en-US" sz="2400" dirty="0"/>
              <a:t>Important to map dimensions appropriately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0C3306BD-58DB-E04A-E7D1-585FF7A6F14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376AB1F-9733-415A-AAAE-52B97A5A3ACE}" type="slidenum">
              <a:rPr lang="en-US" altLang="en-US" sz="1200"/>
              <a:pPr eaLnBrk="1" hangingPunct="1"/>
              <a:t>77</a:t>
            </a:fld>
            <a:endParaRPr lang="en-US" altLang="en-US" sz="1200"/>
          </a:p>
        </p:txBody>
      </p:sp>
      <p:sp>
        <p:nvSpPr>
          <p:cNvPr id="45059" name="Rectangle 2">
            <a:extLst>
              <a:ext uri="{FF2B5EF4-FFF2-40B4-BE49-F238E27FC236}">
                <a16:creationId xmlns:a16="http://schemas.microsoft.com/office/drawing/2014/main" id="{B58CCECE-EC8B-3B97-D01D-0AAF6070E104}"/>
              </a:ext>
            </a:extLst>
          </p:cNvPr>
          <p:cNvSpPr>
            <a:spLocks noChangeArrowheads="1"/>
          </p:cNvSpPr>
          <p:nvPr/>
        </p:nvSpPr>
        <p:spPr bwMode="auto">
          <a:xfrm>
            <a:off x="1066800" y="1219200"/>
            <a:ext cx="7581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3810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2">
              <a:spcBef>
                <a:spcPts val="1900"/>
              </a:spcBef>
              <a:spcAft>
                <a:spcPts val="1500"/>
              </a:spcAft>
            </a:pPr>
            <a:r>
              <a:rPr lang="de-DE" altLang="en-US" sz="1000">
                <a:solidFill>
                  <a:schemeClr val="accent1"/>
                </a:solidFill>
                <a:latin typeface="Arial" panose="020B0604020202020204" pitchFamily="34" charset="0"/>
              </a:rPr>
              <a:t>Used by permission of M. Ward, Worcester Polytechnic Institute</a:t>
            </a:r>
          </a:p>
        </p:txBody>
      </p:sp>
      <p:pic>
        <p:nvPicPr>
          <p:cNvPr id="45060" name="Picture 3" descr="dimstack">
            <a:extLst>
              <a:ext uri="{FF2B5EF4-FFF2-40B4-BE49-F238E27FC236}">
                <a16:creationId xmlns:a16="http://schemas.microsoft.com/office/drawing/2014/main" id="{C8FFD103-EB6E-7525-7EC4-FB2EEA996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60500"/>
            <a:ext cx="7419975"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4">
            <a:extLst>
              <a:ext uri="{FF2B5EF4-FFF2-40B4-BE49-F238E27FC236}">
                <a16:creationId xmlns:a16="http://schemas.microsoft.com/office/drawing/2014/main" id="{15EB5861-4958-FB16-D5F1-44408D50BEA6}"/>
              </a:ext>
            </a:extLst>
          </p:cNvPr>
          <p:cNvSpPr txBox="1">
            <a:spLocks noChangeArrowheads="1"/>
          </p:cNvSpPr>
          <p:nvPr/>
        </p:nvSpPr>
        <p:spPr bwMode="auto">
          <a:xfrm>
            <a:off x="381000" y="57150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2000">
                <a:latin typeface="Arial" panose="020B0604020202020204" pitchFamily="34" charset="0"/>
              </a:rPr>
              <a:t>Visualization of oil mining data with longitude and latitude mapped to the outer x-, y-axes and ore grade and depth mapped to the inner x-, y-axes</a:t>
            </a:r>
          </a:p>
        </p:txBody>
      </p:sp>
      <p:sp>
        <p:nvSpPr>
          <p:cNvPr id="45062" name="Rectangle 5">
            <a:extLst>
              <a:ext uri="{FF2B5EF4-FFF2-40B4-BE49-F238E27FC236}">
                <a16:creationId xmlns:a16="http://schemas.microsoft.com/office/drawing/2014/main" id="{68A43E6E-A0AE-59BE-3DEA-347AF3BCF56B}"/>
              </a:ext>
            </a:extLst>
          </p:cNvPr>
          <p:cNvSpPr>
            <a:spLocks noGrp="1" noChangeArrowheads="1"/>
          </p:cNvSpPr>
          <p:nvPr>
            <p:ph type="title" idx="4294967295"/>
          </p:nvPr>
        </p:nvSpPr>
        <p:spPr/>
        <p:txBody>
          <a:bodyPr/>
          <a:lstStyle/>
          <a:p>
            <a:pPr eaLnBrk="1" hangingPunct="1"/>
            <a:r>
              <a:rPr lang="en-US" altLang="en-US"/>
              <a:t>Dimensional Stacking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6">
            <a:extLst>
              <a:ext uri="{FF2B5EF4-FFF2-40B4-BE49-F238E27FC236}">
                <a16:creationId xmlns:a16="http://schemas.microsoft.com/office/drawing/2014/main" id="{610CE021-8959-82F7-AEA6-31DE2F4742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89E79B5-7D96-4C09-A09E-309E9AE55C70}" type="slidenum">
              <a:rPr lang="en-US" altLang="en-US" sz="1200"/>
              <a:pPr eaLnBrk="1" hangingPunct="1"/>
              <a:t>78</a:t>
            </a:fld>
            <a:endParaRPr lang="en-US" altLang="en-US" sz="1200"/>
          </a:p>
        </p:txBody>
      </p:sp>
      <p:sp>
        <p:nvSpPr>
          <p:cNvPr id="46083" name="Rectangle 2">
            <a:extLst>
              <a:ext uri="{FF2B5EF4-FFF2-40B4-BE49-F238E27FC236}">
                <a16:creationId xmlns:a16="http://schemas.microsoft.com/office/drawing/2014/main" id="{D3E3AB79-BF94-8961-240A-7E958FD6FDAD}"/>
              </a:ext>
            </a:extLst>
          </p:cNvPr>
          <p:cNvSpPr>
            <a:spLocks noGrp="1" noChangeArrowheads="1"/>
          </p:cNvSpPr>
          <p:nvPr>
            <p:ph type="title"/>
          </p:nvPr>
        </p:nvSpPr>
        <p:spPr/>
        <p:txBody>
          <a:bodyPr/>
          <a:lstStyle/>
          <a:p>
            <a:pPr eaLnBrk="1" hangingPunct="1"/>
            <a:r>
              <a:rPr lang="de-DE" altLang="en-US"/>
              <a:t>Worlds-within-Worlds</a:t>
            </a:r>
            <a:endParaRPr lang="en-US" altLang="en-US"/>
          </a:p>
        </p:txBody>
      </p:sp>
      <p:sp>
        <p:nvSpPr>
          <p:cNvPr id="46084" name="Rectangle 3">
            <a:extLst>
              <a:ext uri="{FF2B5EF4-FFF2-40B4-BE49-F238E27FC236}">
                <a16:creationId xmlns:a16="http://schemas.microsoft.com/office/drawing/2014/main" id="{EA7FF610-BE11-865A-7E96-236DB1A1BCC1}"/>
              </a:ext>
            </a:extLst>
          </p:cNvPr>
          <p:cNvSpPr>
            <a:spLocks noGrp="1" noChangeArrowheads="1"/>
          </p:cNvSpPr>
          <p:nvPr>
            <p:ph type="body" sz="half" idx="1"/>
          </p:nvPr>
        </p:nvSpPr>
        <p:spPr>
          <a:xfrm>
            <a:off x="152400" y="1295400"/>
            <a:ext cx="8839200" cy="1981200"/>
          </a:xfrm>
        </p:spPr>
        <p:txBody>
          <a:bodyPr/>
          <a:lstStyle/>
          <a:p>
            <a:pPr marL="457200" indent="-457200" eaLnBrk="1" hangingPunct="1">
              <a:lnSpc>
                <a:spcPct val="110000"/>
              </a:lnSpc>
            </a:pPr>
            <a:r>
              <a:rPr lang="de-DE" altLang="en-US" sz="2000"/>
              <a:t>Assign </a:t>
            </a:r>
            <a:r>
              <a:rPr lang="en-US" altLang="en-US" sz="2000"/>
              <a:t>the function and two most important parameters to innermost world </a:t>
            </a:r>
          </a:p>
          <a:p>
            <a:pPr marL="457200" indent="-457200" eaLnBrk="1" hangingPunct="1">
              <a:lnSpc>
                <a:spcPct val="110000"/>
              </a:lnSpc>
            </a:pPr>
            <a:r>
              <a:rPr lang="en-US" altLang="en-US" sz="2000"/>
              <a:t>Fix all other parameters at constant values - draw other (1 or 2 or 3 dimensional worlds choosing these as the axes)</a:t>
            </a:r>
          </a:p>
          <a:p>
            <a:pPr marL="457200" indent="-457200" eaLnBrk="1" hangingPunct="1">
              <a:lnSpc>
                <a:spcPct val="110000"/>
              </a:lnSpc>
            </a:pPr>
            <a:r>
              <a:rPr lang="en-US" altLang="en-US" sz="2000"/>
              <a:t>Software that uses this paradigm</a:t>
            </a:r>
          </a:p>
          <a:p>
            <a:pPr marL="457200" indent="-457200" eaLnBrk="1" hangingPunct="1">
              <a:lnSpc>
                <a:spcPct val="110000"/>
              </a:lnSpc>
            </a:pPr>
            <a:endParaRPr lang="en-US" altLang="en-US" sz="2000"/>
          </a:p>
        </p:txBody>
      </p:sp>
      <p:sp>
        <p:nvSpPr>
          <p:cNvPr id="46085" name="Rectangle 5">
            <a:extLst>
              <a:ext uri="{FF2B5EF4-FFF2-40B4-BE49-F238E27FC236}">
                <a16:creationId xmlns:a16="http://schemas.microsoft.com/office/drawing/2014/main" id="{D76843FF-F1C2-FE3E-4728-15CEB30EBA50}"/>
              </a:ext>
            </a:extLst>
          </p:cNvPr>
          <p:cNvSpPr>
            <a:spLocks noGrp="1" noChangeArrowheads="1"/>
          </p:cNvSpPr>
          <p:nvPr>
            <p:ph type="body" sz="half" idx="2"/>
          </p:nvPr>
        </p:nvSpPr>
        <p:spPr>
          <a:xfrm>
            <a:off x="-76200" y="3276600"/>
            <a:ext cx="3810000" cy="3200400"/>
          </a:xfrm>
        </p:spPr>
        <p:txBody>
          <a:bodyPr/>
          <a:lstStyle/>
          <a:p>
            <a:pPr marL="800100" lvl="1" indent="-342900" eaLnBrk="1" hangingPunct="1"/>
            <a:r>
              <a:rPr lang="en-US" altLang="en-US" sz="2000"/>
              <a:t>N–vision: Dynamic interaction through data glove and stereo displays, including  rotation, scaling (inner) and translation (inner/outer) </a:t>
            </a:r>
          </a:p>
          <a:p>
            <a:pPr marL="800100" lvl="1" indent="-342900" eaLnBrk="1" hangingPunct="1"/>
            <a:r>
              <a:rPr lang="en-US" altLang="en-US" sz="2000"/>
              <a:t>Auto Visual: Static interaction by means of queries</a:t>
            </a:r>
          </a:p>
        </p:txBody>
      </p:sp>
      <p:pic>
        <p:nvPicPr>
          <p:cNvPr id="46086" name="Picture 4" descr="pic1">
            <a:extLst>
              <a:ext uri="{FF2B5EF4-FFF2-40B4-BE49-F238E27FC236}">
                <a16:creationId xmlns:a16="http://schemas.microsoft.com/office/drawing/2014/main" id="{CEBE0081-5715-B897-3614-5C43C63E8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200400"/>
            <a:ext cx="5562600"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D40336B2-B51C-EC08-D30B-5E2CE17E0E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1FAB539-7D36-44F8-A9D4-A5F1BCB138B0}" type="slidenum">
              <a:rPr lang="en-US" altLang="en-US" sz="1200"/>
              <a:pPr eaLnBrk="1" hangingPunct="1"/>
              <a:t>79</a:t>
            </a:fld>
            <a:endParaRPr lang="en-US" altLang="en-US" sz="1200"/>
          </a:p>
        </p:txBody>
      </p:sp>
      <p:sp>
        <p:nvSpPr>
          <p:cNvPr id="47107" name="Rectangle 3">
            <a:extLst>
              <a:ext uri="{FF2B5EF4-FFF2-40B4-BE49-F238E27FC236}">
                <a16:creationId xmlns:a16="http://schemas.microsoft.com/office/drawing/2014/main" id="{1551FD03-5719-8F9F-81BC-4350055A50E1}"/>
              </a:ext>
            </a:extLst>
          </p:cNvPr>
          <p:cNvSpPr>
            <a:spLocks noGrp="1" noChangeArrowheads="1"/>
          </p:cNvSpPr>
          <p:nvPr>
            <p:ph type="title"/>
          </p:nvPr>
        </p:nvSpPr>
        <p:spPr/>
        <p:txBody>
          <a:bodyPr/>
          <a:lstStyle/>
          <a:p>
            <a:pPr eaLnBrk="1" hangingPunct="1"/>
            <a:r>
              <a:rPr lang="en-US" altLang="en-US"/>
              <a:t>Tree-Map</a:t>
            </a:r>
            <a:endParaRPr lang="en-US" altLang="en-US">
              <a:solidFill>
                <a:schemeClr val="tx1"/>
              </a:solidFill>
            </a:endParaRPr>
          </a:p>
        </p:txBody>
      </p:sp>
      <p:sp>
        <p:nvSpPr>
          <p:cNvPr id="47108" name="Rectangle 6">
            <a:extLst>
              <a:ext uri="{FF2B5EF4-FFF2-40B4-BE49-F238E27FC236}">
                <a16:creationId xmlns:a16="http://schemas.microsoft.com/office/drawing/2014/main" id="{F291FFF9-C1E1-CD39-CFAF-6CA14247BEDE}"/>
              </a:ext>
            </a:extLst>
          </p:cNvPr>
          <p:cNvSpPr>
            <a:spLocks noGrp="1" noChangeArrowheads="1"/>
          </p:cNvSpPr>
          <p:nvPr>
            <p:ph type="body" idx="1"/>
          </p:nvPr>
        </p:nvSpPr>
        <p:spPr>
          <a:xfrm>
            <a:off x="304800" y="1295400"/>
            <a:ext cx="8610600" cy="1676400"/>
          </a:xfrm>
        </p:spPr>
        <p:txBody>
          <a:bodyPr>
            <a:normAutofit fontScale="92500" lnSpcReduction="10000"/>
          </a:bodyPr>
          <a:lstStyle/>
          <a:p>
            <a:pPr eaLnBrk="1" hangingPunct="1"/>
            <a:r>
              <a:rPr lang="de-DE" altLang="en-US" sz="2400"/>
              <a:t>Screen-filling method which uses a hierarchical partitioning of the screen into regions depending on the attribute values</a:t>
            </a:r>
            <a:endParaRPr lang="de-DE" altLang="en-US" sz="2400" b="1"/>
          </a:p>
          <a:p>
            <a:pPr eaLnBrk="1" hangingPunct="1"/>
            <a:r>
              <a:rPr lang="de-DE" altLang="en-US" sz="2400"/>
              <a:t>The x- and y-dimension of the screen are partitioned alternately according to the attribute values (classes)</a:t>
            </a:r>
            <a:endParaRPr lang="en-US" altLang="en-US" sz="2400"/>
          </a:p>
        </p:txBody>
      </p:sp>
      <p:pic>
        <p:nvPicPr>
          <p:cNvPr id="47109" name="Picture 4" descr="all102001">
            <a:extLst>
              <a:ext uri="{FF2B5EF4-FFF2-40B4-BE49-F238E27FC236}">
                <a16:creationId xmlns:a16="http://schemas.microsoft.com/office/drawing/2014/main" id="{CF54F19A-C770-9353-6EB8-52822976B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048000"/>
            <a:ext cx="5334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 Box 5">
            <a:extLst>
              <a:ext uri="{FF2B5EF4-FFF2-40B4-BE49-F238E27FC236}">
                <a16:creationId xmlns:a16="http://schemas.microsoft.com/office/drawing/2014/main" id="{9800F722-13C0-2814-9842-036ED6881AF5}"/>
              </a:ext>
            </a:extLst>
          </p:cNvPr>
          <p:cNvSpPr txBox="1">
            <a:spLocks noChangeArrowheads="1"/>
          </p:cNvSpPr>
          <p:nvPr/>
        </p:nvSpPr>
        <p:spPr bwMode="auto">
          <a:xfrm>
            <a:off x="630238" y="4419600"/>
            <a:ext cx="290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MSR Netscan Image</a:t>
            </a:r>
          </a:p>
        </p:txBody>
      </p:sp>
      <p:sp>
        <p:nvSpPr>
          <p:cNvPr id="47111" name="Rectangle 1">
            <a:extLst>
              <a:ext uri="{FF2B5EF4-FFF2-40B4-BE49-F238E27FC236}">
                <a16:creationId xmlns:a16="http://schemas.microsoft.com/office/drawing/2014/main" id="{7932D91C-666F-2030-46C4-574B76AF909F}"/>
              </a:ext>
            </a:extLst>
          </p:cNvPr>
          <p:cNvSpPr>
            <a:spLocks noChangeArrowheads="1"/>
          </p:cNvSpPr>
          <p:nvPr/>
        </p:nvSpPr>
        <p:spPr bwMode="auto">
          <a:xfrm>
            <a:off x="4038600" y="6553200"/>
            <a:ext cx="4572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a:t>Ack.: http://www.cs.umd.edu/hcil/treemap-history/all102001.jpg</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6CF7B2FB-45DE-A739-906C-A61D738477F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923C325-CDEF-42D0-85DC-977F38D7ACDC}" type="slidenum">
              <a:rPr lang="en-US" altLang="en-US" sz="1200"/>
              <a:pPr eaLnBrk="1" hangingPunct="1"/>
              <a:t>80</a:t>
            </a:fld>
            <a:endParaRPr lang="en-US" altLang="en-US" sz="1200"/>
          </a:p>
        </p:txBody>
      </p:sp>
      <p:pic>
        <p:nvPicPr>
          <p:cNvPr id="48131" name="Picture 2">
            <a:extLst>
              <a:ext uri="{FF2B5EF4-FFF2-40B4-BE49-F238E27FC236}">
                <a16:creationId xmlns:a16="http://schemas.microsoft.com/office/drawing/2014/main" id="{61435F60-649A-D1F9-47CE-9EE1E5A9E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95400"/>
            <a:ext cx="75438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4">
            <a:extLst>
              <a:ext uri="{FF2B5EF4-FFF2-40B4-BE49-F238E27FC236}">
                <a16:creationId xmlns:a16="http://schemas.microsoft.com/office/drawing/2014/main" id="{2885404E-6BB2-51B1-1ABB-F585B0C6EF9B}"/>
              </a:ext>
            </a:extLst>
          </p:cNvPr>
          <p:cNvSpPr>
            <a:spLocks noGrp="1" noChangeArrowheads="1"/>
          </p:cNvSpPr>
          <p:nvPr>
            <p:ph type="title"/>
          </p:nvPr>
        </p:nvSpPr>
        <p:spPr/>
        <p:txBody>
          <a:bodyPr/>
          <a:lstStyle/>
          <a:p>
            <a:pPr eaLnBrk="1" hangingPunct="1"/>
            <a:r>
              <a:rPr lang="en-US" altLang="en-US" sz="3200" b="0"/>
              <a:t>Tree-Map of a File System (Schneiderman)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A90215DB-9124-524F-1708-D50C82D3A3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252F86E-FC54-4101-A41F-BCDFCA3CC991}" type="slidenum">
              <a:rPr lang="en-US" altLang="en-US" sz="1200"/>
              <a:pPr eaLnBrk="1" hangingPunct="1"/>
              <a:t>81</a:t>
            </a:fld>
            <a:endParaRPr lang="en-US" altLang="en-US" sz="1200"/>
          </a:p>
        </p:txBody>
      </p:sp>
      <p:sp>
        <p:nvSpPr>
          <p:cNvPr id="49155" name="Rectangle 2">
            <a:extLst>
              <a:ext uri="{FF2B5EF4-FFF2-40B4-BE49-F238E27FC236}">
                <a16:creationId xmlns:a16="http://schemas.microsoft.com/office/drawing/2014/main" id="{3994D3BD-5555-50B2-B480-B371A1953DFE}"/>
              </a:ext>
            </a:extLst>
          </p:cNvPr>
          <p:cNvSpPr>
            <a:spLocks noGrp="1" noChangeArrowheads="1"/>
          </p:cNvSpPr>
          <p:nvPr>
            <p:ph type="title"/>
          </p:nvPr>
        </p:nvSpPr>
        <p:spPr/>
        <p:txBody>
          <a:bodyPr/>
          <a:lstStyle/>
          <a:p>
            <a:pPr eaLnBrk="1" hangingPunct="1"/>
            <a:r>
              <a:rPr lang="de-DE" altLang="en-US"/>
              <a:t>InfoCube</a:t>
            </a:r>
            <a:endParaRPr lang="en-US" altLang="en-US"/>
          </a:p>
        </p:txBody>
      </p:sp>
      <p:sp>
        <p:nvSpPr>
          <p:cNvPr id="49156" name="Rectangle 3">
            <a:extLst>
              <a:ext uri="{FF2B5EF4-FFF2-40B4-BE49-F238E27FC236}">
                <a16:creationId xmlns:a16="http://schemas.microsoft.com/office/drawing/2014/main" id="{6A29ED58-8E00-9862-5F8C-6B0DF9F52AB9}"/>
              </a:ext>
            </a:extLst>
          </p:cNvPr>
          <p:cNvSpPr>
            <a:spLocks noGrp="1" noChangeArrowheads="1"/>
          </p:cNvSpPr>
          <p:nvPr>
            <p:ph type="body" idx="1"/>
          </p:nvPr>
        </p:nvSpPr>
        <p:spPr>
          <a:xfrm>
            <a:off x="304800" y="1295400"/>
            <a:ext cx="8686800" cy="4953000"/>
          </a:xfrm>
        </p:spPr>
        <p:txBody>
          <a:bodyPr/>
          <a:lstStyle/>
          <a:p>
            <a:pPr eaLnBrk="1" hangingPunct="1"/>
            <a:r>
              <a:rPr lang="de-DE" altLang="en-US"/>
              <a:t>A 3-D visualization technique where hierarchical information is displayed as nested semi-transparent cubes </a:t>
            </a:r>
          </a:p>
          <a:p>
            <a:pPr eaLnBrk="1" hangingPunct="1"/>
            <a:r>
              <a:rPr lang="de-DE" altLang="en-US"/>
              <a:t>The outermost cubes correspond to the top level data, while the subnodes or the lower level data are represented as smaller cubes inside the outermost cubes, and so on</a:t>
            </a:r>
          </a:p>
        </p:txBody>
      </p:sp>
      <p:pic>
        <p:nvPicPr>
          <p:cNvPr id="49157" name="Picture 11" descr="http://www.csl.sony.co.jp/person/rekimoto/cube/cube.gif">
            <a:extLst>
              <a:ext uri="{FF2B5EF4-FFF2-40B4-BE49-F238E27FC236}">
                <a16:creationId xmlns:a16="http://schemas.microsoft.com/office/drawing/2014/main" id="{E71FD1C3-89B3-EEC5-2A28-CA7735492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3550" y="4114800"/>
            <a:ext cx="36004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77985261-879C-8EE5-CA80-63ECB1790C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55E70CC-186B-4184-8F44-BE7FD8C87C74}" type="slidenum">
              <a:rPr lang="en-US" altLang="en-US" sz="1200"/>
              <a:pPr eaLnBrk="1" hangingPunct="1"/>
              <a:t>82</a:t>
            </a:fld>
            <a:endParaRPr lang="en-US" altLang="en-US" sz="1200"/>
          </a:p>
        </p:txBody>
      </p:sp>
      <p:pic>
        <p:nvPicPr>
          <p:cNvPr id="50179" name="Picture 6" descr="GraphVis_ExConeTree_15_den_top">
            <a:extLst>
              <a:ext uri="{FF2B5EF4-FFF2-40B4-BE49-F238E27FC236}">
                <a16:creationId xmlns:a16="http://schemas.microsoft.com/office/drawing/2014/main" id="{5126EFB0-B353-3D02-020D-4BAE947AF2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3276600"/>
            <a:ext cx="310515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5" descr="GraphVis_ExConeTree_15_den">
            <a:extLst>
              <a:ext uri="{FF2B5EF4-FFF2-40B4-BE49-F238E27FC236}">
                <a16:creationId xmlns:a16="http://schemas.microsoft.com/office/drawing/2014/main" id="{1EC40B4D-6E08-4FBA-C830-7D8C0A717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0100" y="152400"/>
            <a:ext cx="47625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2">
            <a:extLst>
              <a:ext uri="{FF2B5EF4-FFF2-40B4-BE49-F238E27FC236}">
                <a16:creationId xmlns:a16="http://schemas.microsoft.com/office/drawing/2014/main" id="{9C395E1A-5EBB-1E1E-52DB-740AC56EBD37}"/>
              </a:ext>
            </a:extLst>
          </p:cNvPr>
          <p:cNvSpPr>
            <a:spLocks noGrp="1" noChangeArrowheads="1"/>
          </p:cNvSpPr>
          <p:nvPr>
            <p:ph type="title"/>
          </p:nvPr>
        </p:nvSpPr>
        <p:spPr>
          <a:xfrm>
            <a:off x="152400" y="304800"/>
            <a:ext cx="7391400" cy="609600"/>
          </a:xfrm>
        </p:spPr>
        <p:txBody>
          <a:bodyPr>
            <a:normAutofit fontScale="90000"/>
          </a:bodyPr>
          <a:lstStyle/>
          <a:p>
            <a:pPr eaLnBrk="1" hangingPunct="1"/>
            <a:r>
              <a:rPr lang="de-DE" altLang="en-US"/>
              <a:t>Three-D Cone Trees</a:t>
            </a:r>
            <a:endParaRPr lang="en-US" altLang="en-US"/>
          </a:p>
        </p:txBody>
      </p:sp>
      <p:sp>
        <p:nvSpPr>
          <p:cNvPr id="50182" name="Rectangle 3">
            <a:extLst>
              <a:ext uri="{FF2B5EF4-FFF2-40B4-BE49-F238E27FC236}">
                <a16:creationId xmlns:a16="http://schemas.microsoft.com/office/drawing/2014/main" id="{01FC8EA1-A8A5-8535-0710-62A62E56BCC5}"/>
              </a:ext>
            </a:extLst>
          </p:cNvPr>
          <p:cNvSpPr>
            <a:spLocks noGrp="1" noChangeArrowheads="1"/>
          </p:cNvSpPr>
          <p:nvPr>
            <p:ph type="body" idx="1"/>
          </p:nvPr>
        </p:nvSpPr>
        <p:spPr>
          <a:xfrm>
            <a:off x="304800" y="1295400"/>
            <a:ext cx="5410200" cy="5181600"/>
          </a:xfrm>
        </p:spPr>
        <p:txBody>
          <a:bodyPr>
            <a:normAutofit fontScale="92500" lnSpcReduction="10000"/>
          </a:bodyPr>
          <a:lstStyle/>
          <a:p>
            <a:pPr eaLnBrk="1" hangingPunct="1">
              <a:lnSpc>
                <a:spcPct val="110000"/>
              </a:lnSpc>
            </a:pPr>
            <a:r>
              <a:rPr lang="en-US" altLang="en-US" sz="2000" i="1"/>
              <a:t>3D</a:t>
            </a:r>
            <a:r>
              <a:rPr lang="en-US" altLang="en-US" sz="2000"/>
              <a:t> </a:t>
            </a:r>
            <a:r>
              <a:rPr lang="en-US" altLang="en-US" sz="2000" i="1"/>
              <a:t>cone tree</a:t>
            </a:r>
            <a:r>
              <a:rPr lang="en-US" altLang="en-US" sz="2000"/>
              <a:t> visualization technique works well for up to a thousand nodes or so</a:t>
            </a:r>
          </a:p>
          <a:p>
            <a:pPr eaLnBrk="1" hangingPunct="1">
              <a:lnSpc>
                <a:spcPct val="110000"/>
              </a:lnSpc>
            </a:pPr>
            <a:r>
              <a:rPr lang="en-US" altLang="en-US" sz="2000"/>
              <a:t>First build a </a:t>
            </a:r>
            <a:r>
              <a:rPr lang="en-US" altLang="en-US" sz="2000" i="1"/>
              <a:t>2D</a:t>
            </a:r>
            <a:r>
              <a:rPr lang="en-US" altLang="en-US" sz="2000"/>
              <a:t> </a:t>
            </a:r>
            <a:r>
              <a:rPr lang="en-US" altLang="en-US" sz="2000" i="1"/>
              <a:t>circle tree</a:t>
            </a:r>
            <a:r>
              <a:rPr lang="en-US" altLang="en-US" sz="2000"/>
              <a:t> that arranges its nodes in concentric circles centered on the root node</a:t>
            </a:r>
          </a:p>
          <a:p>
            <a:pPr eaLnBrk="1" hangingPunct="1">
              <a:lnSpc>
                <a:spcPct val="110000"/>
              </a:lnSpc>
            </a:pPr>
            <a:r>
              <a:rPr lang="en-US" altLang="en-US" sz="2000"/>
              <a:t>Cannot avoid overlaps when projected to 2D </a:t>
            </a:r>
          </a:p>
          <a:p>
            <a:pPr eaLnBrk="1" hangingPunct="1">
              <a:lnSpc>
                <a:spcPct val="110000"/>
              </a:lnSpc>
            </a:pPr>
            <a:r>
              <a:rPr lang="en-US" altLang="en-US" sz="2000"/>
              <a:t>G. Robertson, J. Mackinlay, S. Card. “Cone Trees: Animated 3D Visualizations of Hierarchical Information”, </a:t>
            </a:r>
            <a:r>
              <a:rPr lang="en-US" altLang="en-US" sz="2000" i="1"/>
              <a:t>ACM SIGCHI'91</a:t>
            </a:r>
          </a:p>
          <a:p>
            <a:pPr eaLnBrk="1" hangingPunct="1">
              <a:lnSpc>
                <a:spcPct val="110000"/>
              </a:lnSpc>
            </a:pPr>
            <a:r>
              <a:rPr lang="en-US" altLang="en-US" sz="2000"/>
              <a:t>Graph from Nadeau Software Consulting website: Visualize a social network data set that models the way an infection spreads from one person to the next </a:t>
            </a:r>
            <a:endParaRPr lang="de-DE" altLang="en-US" sz="2000"/>
          </a:p>
        </p:txBody>
      </p:sp>
      <p:sp>
        <p:nvSpPr>
          <p:cNvPr id="50183" name="TextBox 1">
            <a:extLst>
              <a:ext uri="{FF2B5EF4-FFF2-40B4-BE49-F238E27FC236}">
                <a16:creationId xmlns:a16="http://schemas.microsoft.com/office/drawing/2014/main" id="{B3E40BD9-F6F9-E79A-F328-B3A4B7A0CE16}"/>
              </a:ext>
            </a:extLst>
          </p:cNvPr>
          <p:cNvSpPr txBox="1">
            <a:spLocks noChangeArrowheads="1"/>
          </p:cNvSpPr>
          <p:nvPr/>
        </p:nvSpPr>
        <p:spPr bwMode="auto">
          <a:xfrm>
            <a:off x="4419600" y="6381750"/>
            <a:ext cx="4464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400"/>
              <a:t>Ack.: http://nadeausoftware.com/articles/visualization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3F4EB46-C359-35FC-1693-124C539400B4}"/>
              </a:ext>
            </a:extLst>
          </p:cNvPr>
          <p:cNvSpPr>
            <a:spLocks noGrp="1" noChangeArrowheads="1"/>
          </p:cNvSpPr>
          <p:nvPr>
            <p:ph type="title"/>
          </p:nvPr>
        </p:nvSpPr>
        <p:spPr/>
        <p:txBody>
          <a:bodyPr/>
          <a:lstStyle/>
          <a:p>
            <a:r>
              <a:rPr lang="en-US" altLang="en-US" sz="3200"/>
              <a:t>Visualizing Complex Data and Relations</a:t>
            </a:r>
          </a:p>
        </p:txBody>
      </p:sp>
      <p:sp>
        <p:nvSpPr>
          <p:cNvPr id="51203" name="Rectangle 3">
            <a:extLst>
              <a:ext uri="{FF2B5EF4-FFF2-40B4-BE49-F238E27FC236}">
                <a16:creationId xmlns:a16="http://schemas.microsoft.com/office/drawing/2014/main" id="{67F83745-58BD-CC4C-E125-2D4A28762736}"/>
              </a:ext>
            </a:extLst>
          </p:cNvPr>
          <p:cNvSpPr>
            <a:spLocks noGrp="1" noChangeArrowheads="1"/>
          </p:cNvSpPr>
          <p:nvPr>
            <p:ph type="body" idx="1"/>
          </p:nvPr>
        </p:nvSpPr>
        <p:spPr>
          <a:xfrm>
            <a:off x="304800" y="1219200"/>
            <a:ext cx="8610600" cy="914400"/>
          </a:xfrm>
        </p:spPr>
        <p:txBody>
          <a:bodyPr>
            <a:normAutofit fontScale="92500"/>
          </a:bodyPr>
          <a:lstStyle/>
          <a:p>
            <a:pPr>
              <a:lnSpc>
                <a:spcPct val="90000"/>
              </a:lnSpc>
            </a:pPr>
            <a:r>
              <a:rPr lang="en-US" altLang="en-US" sz="2400"/>
              <a:t>Visualizing non-numerical data: text and social networks</a:t>
            </a:r>
          </a:p>
          <a:p>
            <a:pPr>
              <a:lnSpc>
                <a:spcPct val="90000"/>
              </a:lnSpc>
            </a:pPr>
            <a:r>
              <a:rPr lang="en-US" altLang="en-US" sz="2400"/>
              <a:t>Tag cloud: visualizing user-generated tags</a:t>
            </a:r>
          </a:p>
        </p:txBody>
      </p:sp>
      <p:pic>
        <p:nvPicPr>
          <p:cNvPr id="51204" name="Picture 4">
            <a:extLst>
              <a:ext uri="{FF2B5EF4-FFF2-40B4-BE49-F238E27FC236}">
                <a16:creationId xmlns:a16="http://schemas.microsoft.com/office/drawing/2014/main" id="{C694CEF5-B4B9-7721-ECCF-0AF936A52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184400"/>
            <a:ext cx="5105400" cy="421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5" name="Rectangle 5">
            <a:extLst>
              <a:ext uri="{FF2B5EF4-FFF2-40B4-BE49-F238E27FC236}">
                <a16:creationId xmlns:a16="http://schemas.microsoft.com/office/drawing/2014/main" id="{2DF59FC6-A3BE-2970-4145-40D4547229EE}"/>
              </a:ext>
            </a:extLst>
          </p:cNvPr>
          <p:cNvSpPr>
            <a:spLocks noChangeArrowheads="1"/>
          </p:cNvSpPr>
          <p:nvPr/>
        </p:nvSpPr>
        <p:spPr bwMode="auto">
          <a:xfrm>
            <a:off x="381000" y="2133600"/>
            <a:ext cx="3581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1">
              <a:spcBef>
                <a:spcPct val="20000"/>
              </a:spcBef>
              <a:buClr>
                <a:schemeClr val="hlink"/>
              </a:buClr>
              <a:buSzPct val="55000"/>
              <a:buFont typeface="Wingdings" panose="05000000000000000000" pitchFamily="2" charset="2"/>
              <a:buChar char="n"/>
            </a:pPr>
            <a:r>
              <a:rPr lang="en-US" altLang="en-US"/>
              <a:t>The importance of tag is represented by font size/color</a:t>
            </a:r>
          </a:p>
          <a:p>
            <a:pPr>
              <a:spcBef>
                <a:spcPct val="20000"/>
              </a:spcBef>
              <a:buClr>
                <a:schemeClr val="folHlink"/>
              </a:buClr>
              <a:buSzPct val="60000"/>
              <a:buFont typeface="Wingdings" panose="05000000000000000000" pitchFamily="2" charset="2"/>
              <a:buChar char="n"/>
            </a:pPr>
            <a:r>
              <a:rPr lang="en-US" altLang="en-US"/>
              <a:t>Besides text data, there are also methods to visualize relationships, such as visualizing social networks</a:t>
            </a:r>
          </a:p>
        </p:txBody>
      </p:sp>
      <p:sp>
        <p:nvSpPr>
          <p:cNvPr id="51206" name="Text Box 6">
            <a:extLst>
              <a:ext uri="{FF2B5EF4-FFF2-40B4-BE49-F238E27FC236}">
                <a16:creationId xmlns:a16="http://schemas.microsoft.com/office/drawing/2014/main" id="{6E5390FC-96DC-9B01-908C-97EC1753B781}"/>
              </a:ext>
            </a:extLst>
          </p:cNvPr>
          <p:cNvSpPr txBox="1">
            <a:spLocks noChangeArrowheads="1"/>
          </p:cNvSpPr>
          <p:nvPr/>
        </p:nvSpPr>
        <p:spPr bwMode="auto">
          <a:xfrm>
            <a:off x="4191000" y="6324600"/>
            <a:ext cx="480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t>Newsmap: Google News Stories in 2005</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ADA146-7199-6B34-00AB-CE848E64A5F3}"/>
              </a:ext>
            </a:extLst>
          </p:cNvPr>
          <p:cNvSpPr>
            <a:spLocks noGrp="1"/>
          </p:cNvSpPr>
          <p:nvPr>
            <p:ph idx="1"/>
          </p:nvPr>
        </p:nvSpPr>
        <p:spPr/>
        <p:txBody>
          <a:bodyPr/>
          <a:lstStyle/>
          <a:p>
            <a:endParaRPr lang="en-IN"/>
          </a:p>
        </p:txBody>
      </p:sp>
      <p:sp>
        <p:nvSpPr>
          <p:cNvPr id="3" name="Title 2">
            <a:extLst>
              <a:ext uri="{FF2B5EF4-FFF2-40B4-BE49-F238E27FC236}">
                <a16:creationId xmlns:a16="http://schemas.microsoft.com/office/drawing/2014/main" id="{6FCACFDA-F7EF-3C3C-38BA-0E26F4BCE558}"/>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34219775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9A9C28A5-E139-51EB-E19C-07DBBD4A46A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42E0C04-85AA-4DAB-A776-6EDD31D1403B}" type="slidenum">
              <a:rPr lang="en-US" altLang="en-US" sz="1200"/>
              <a:pPr eaLnBrk="1" hangingPunct="1"/>
              <a:t>85</a:t>
            </a:fld>
            <a:endParaRPr lang="en-US" altLang="en-US" sz="1200"/>
          </a:p>
        </p:txBody>
      </p:sp>
      <p:sp>
        <p:nvSpPr>
          <p:cNvPr id="53251" name="Rectangle 2">
            <a:extLst>
              <a:ext uri="{FF2B5EF4-FFF2-40B4-BE49-F238E27FC236}">
                <a16:creationId xmlns:a16="http://schemas.microsoft.com/office/drawing/2014/main" id="{F413FC97-33CD-C73E-3774-66E2150B83EC}"/>
              </a:ext>
            </a:extLst>
          </p:cNvPr>
          <p:cNvSpPr>
            <a:spLocks noGrp="1" noChangeArrowheads="1"/>
          </p:cNvSpPr>
          <p:nvPr>
            <p:ph type="title"/>
          </p:nvPr>
        </p:nvSpPr>
        <p:spPr/>
        <p:txBody>
          <a:bodyPr/>
          <a:lstStyle/>
          <a:p>
            <a:pPr eaLnBrk="1" hangingPunct="1"/>
            <a:r>
              <a:rPr lang="en-US" altLang="en-US">
                <a:solidFill>
                  <a:srgbClr val="170981"/>
                </a:solidFill>
              </a:rPr>
              <a:t>Similarity and Dissimilarity</a:t>
            </a:r>
          </a:p>
        </p:txBody>
      </p:sp>
      <p:sp>
        <p:nvSpPr>
          <p:cNvPr id="53252" name="Rectangle 3">
            <a:extLst>
              <a:ext uri="{FF2B5EF4-FFF2-40B4-BE49-F238E27FC236}">
                <a16:creationId xmlns:a16="http://schemas.microsoft.com/office/drawing/2014/main" id="{BDFEA151-71C9-0E90-B098-D1B5894911F1}"/>
              </a:ext>
            </a:extLst>
          </p:cNvPr>
          <p:cNvSpPr>
            <a:spLocks noGrp="1" noChangeArrowheads="1"/>
          </p:cNvSpPr>
          <p:nvPr>
            <p:ph type="body" idx="1"/>
          </p:nvPr>
        </p:nvSpPr>
        <p:spPr>
          <a:xfrm>
            <a:off x="304800" y="1295400"/>
            <a:ext cx="8534400" cy="5181600"/>
          </a:xfrm>
        </p:spPr>
        <p:txBody>
          <a:bodyPr/>
          <a:lstStyle/>
          <a:p>
            <a:pPr eaLnBrk="1" hangingPunct="1"/>
            <a:r>
              <a:rPr lang="en-US" altLang="en-US" sz="2400" b="1"/>
              <a:t>Similarity</a:t>
            </a:r>
          </a:p>
          <a:p>
            <a:pPr lvl="1" eaLnBrk="1" hangingPunct="1"/>
            <a:r>
              <a:rPr lang="en-US" altLang="en-US" sz="2400"/>
              <a:t>Numerical measure of how alike two data objects are</a:t>
            </a:r>
          </a:p>
          <a:p>
            <a:pPr lvl="1" eaLnBrk="1" hangingPunct="1"/>
            <a:r>
              <a:rPr lang="en-US" altLang="en-US" sz="2400"/>
              <a:t>Value is higher when objects are more alike</a:t>
            </a:r>
          </a:p>
          <a:p>
            <a:pPr lvl="1" eaLnBrk="1" hangingPunct="1"/>
            <a:r>
              <a:rPr lang="en-US" altLang="en-US" sz="2400"/>
              <a:t>Often falls in the range [0,1]</a:t>
            </a:r>
          </a:p>
          <a:p>
            <a:pPr eaLnBrk="1" hangingPunct="1"/>
            <a:r>
              <a:rPr lang="en-US" altLang="en-US" sz="2400" b="1"/>
              <a:t>Dissimilarity</a:t>
            </a:r>
            <a:r>
              <a:rPr lang="en-US" altLang="en-US" sz="2400"/>
              <a:t> (e.g., distance)</a:t>
            </a:r>
          </a:p>
          <a:p>
            <a:pPr lvl="1" eaLnBrk="1" hangingPunct="1"/>
            <a:r>
              <a:rPr lang="en-US" altLang="en-US" sz="2400"/>
              <a:t>Numerical measure of how different two data objects are</a:t>
            </a:r>
          </a:p>
          <a:p>
            <a:pPr lvl="1" eaLnBrk="1" hangingPunct="1"/>
            <a:r>
              <a:rPr lang="en-US" altLang="en-US" sz="2400"/>
              <a:t>Lower when objects are more alike</a:t>
            </a:r>
          </a:p>
          <a:p>
            <a:pPr lvl="1" eaLnBrk="1" hangingPunct="1"/>
            <a:r>
              <a:rPr lang="en-US" altLang="en-US" sz="2400"/>
              <a:t>Minimum dissimilarity is often 0</a:t>
            </a:r>
          </a:p>
          <a:p>
            <a:pPr lvl="1" eaLnBrk="1" hangingPunct="1"/>
            <a:r>
              <a:rPr lang="en-US" altLang="en-US" sz="2400"/>
              <a:t>Upper limit varies</a:t>
            </a:r>
          </a:p>
          <a:p>
            <a:pPr eaLnBrk="1" hangingPunct="1"/>
            <a:r>
              <a:rPr lang="en-US" altLang="en-US" sz="2400" b="1"/>
              <a:t>Proximity</a:t>
            </a:r>
            <a:r>
              <a:rPr lang="en-US" altLang="en-US" sz="2400"/>
              <a:t> refers to a similarity or dissimilarity</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27BB47DC-B7AC-CB04-146F-AF13C742A2E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7D89936-CA11-482B-B5E1-325B59092CF4}" type="slidenum">
              <a:rPr lang="en-US" altLang="en-US" sz="1200"/>
              <a:pPr eaLnBrk="1" hangingPunct="1"/>
              <a:t>86</a:t>
            </a:fld>
            <a:endParaRPr lang="en-US" altLang="en-US" sz="1200"/>
          </a:p>
        </p:txBody>
      </p:sp>
      <p:sp>
        <p:nvSpPr>
          <p:cNvPr id="54275" name="Rectangle 2">
            <a:extLst>
              <a:ext uri="{FF2B5EF4-FFF2-40B4-BE49-F238E27FC236}">
                <a16:creationId xmlns:a16="http://schemas.microsoft.com/office/drawing/2014/main" id="{0232B625-EC16-DDA8-9FA6-DE03B7D63712}"/>
              </a:ext>
            </a:extLst>
          </p:cNvPr>
          <p:cNvSpPr>
            <a:spLocks noGrp="1" noChangeArrowheads="1"/>
          </p:cNvSpPr>
          <p:nvPr>
            <p:ph type="title"/>
          </p:nvPr>
        </p:nvSpPr>
        <p:spPr>
          <a:xfrm>
            <a:off x="457200" y="304800"/>
            <a:ext cx="8001000" cy="609600"/>
          </a:xfrm>
        </p:spPr>
        <p:txBody>
          <a:bodyPr>
            <a:normAutofit fontScale="90000"/>
          </a:bodyPr>
          <a:lstStyle/>
          <a:p>
            <a:pPr eaLnBrk="1" hangingPunct="1"/>
            <a:r>
              <a:rPr lang="en-US" altLang="en-US"/>
              <a:t>Data Matrix and Dissimilarity Matrix</a:t>
            </a:r>
          </a:p>
        </p:txBody>
      </p:sp>
      <p:sp>
        <p:nvSpPr>
          <p:cNvPr id="54276" name="Rectangle 3">
            <a:extLst>
              <a:ext uri="{FF2B5EF4-FFF2-40B4-BE49-F238E27FC236}">
                <a16:creationId xmlns:a16="http://schemas.microsoft.com/office/drawing/2014/main" id="{D2E56F29-22C9-C22A-8439-5D536DB221AE}"/>
              </a:ext>
            </a:extLst>
          </p:cNvPr>
          <p:cNvSpPr>
            <a:spLocks noGrp="1" noChangeArrowheads="1"/>
          </p:cNvSpPr>
          <p:nvPr>
            <p:ph type="body" idx="1"/>
          </p:nvPr>
        </p:nvSpPr>
        <p:spPr>
          <a:xfrm>
            <a:off x="304800" y="1295400"/>
            <a:ext cx="3962400" cy="5181600"/>
          </a:xfrm>
        </p:spPr>
        <p:txBody>
          <a:bodyPr/>
          <a:lstStyle/>
          <a:p>
            <a:pPr eaLnBrk="1" hangingPunct="1"/>
            <a:r>
              <a:rPr lang="en-US" altLang="en-US" sz="2400">
                <a:solidFill>
                  <a:schemeClr val="hlink"/>
                </a:solidFill>
              </a:rPr>
              <a:t>Data matrix</a:t>
            </a:r>
          </a:p>
          <a:p>
            <a:pPr lvl="1" eaLnBrk="1" hangingPunct="1"/>
            <a:r>
              <a:rPr lang="en-US" altLang="en-US" sz="2400"/>
              <a:t>n data points with p dimensions</a:t>
            </a:r>
          </a:p>
          <a:p>
            <a:pPr lvl="1" eaLnBrk="1" hangingPunct="1"/>
            <a:r>
              <a:rPr lang="en-US" altLang="en-US" sz="2400"/>
              <a:t>Two modes</a:t>
            </a:r>
          </a:p>
          <a:p>
            <a:pPr eaLnBrk="1" hangingPunct="1"/>
            <a:endParaRPr lang="en-US" altLang="en-US" sz="2400"/>
          </a:p>
          <a:p>
            <a:pPr eaLnBrk="1" hangingPunct="1"/>
            <a:endParaRPr lang="en-US" altLang="en-US" sz="2400"/>
          </a:p>
          <a:p>
            <a:pPr eaLnBrk="1" hangingPunct="1"/>
            <a:r>
              <a:rPr lang="en-US" altLang="en-US" sz="2400">
                <a:solidFill>
                  <a:schemeClr val="hlink"/>
                </a:solidFill>
              </a:rPr>
              <a:t>Dissimilarity matrix</a:t>
            </a:r>
          </a:p>
          <a:p>
            <a:pPr lvl="1" eaLnBrk="1" hangingPunct="1"/>
            <a:r>
              <a:rPr lang="en-US" altLang="en-US" sz="2400"/>
              <a:t>n data points, but registers only the distance </a:t>
            </a:r>
          </a:p>
          <a:p>
            <a:pPr lvl="1" eaLnBrk="1" hangingPunct="1"/>
            <a:r>
              <a:rPr lang="en-US" altLang="en-US" sz="2400"/>
              <a:t>A triangular matrix</a:t>
            </a:r>
          </a:p>
          <a:p>
            <a:pPr lvl="1" eaLnBrk="1" hangingPunct="1"/>
            <a:r>
              <a:rPr lang="en-US" altLang="en-US" sz="2400"/>
              <a:t>Single mode</a:t>
            </a:r>
          </a:p>
        </p:txBody>
      </p:sp>
      <p:graphicFrame>
        <p:nvGraphicFramePr>
          <p:cNvPr id="54277" name="Object 4">
            <a:extLst>
              <a:ext uri="{FF2B5EF4-FFF2-40B4-BE49-F238E27FC236}">
                <a16:creationId xmlns:a16="http://schemas.microsoft.com/office/drawing/2014/main" id="{BC6EBD81-DBC1-5A6E-E199-33F4D1DB77AA}"/>
              </a:ext>
            </a:extLst>
          </p:cNvPr>
          <p:cNvGraphicFramePr>
            <a:graphicFrameLocks noChangeAspect="1"/>
          </p:cNvGraphicFramePr>
          <p:nvPr/>
        </p:nvGraphicFramePr>
        <p:xfrm>
          <a:off x="4419600" y="1752600"/>
          <a:ext cx="3124200" cy="2058988"/>
        </p:xfrm>
        <a:graphic>
          <a:graphicData uri="http://schemas.openxmlformats.org/presentationml/2006/ole">
            <mc:AlternateContent xmlns:mc="http://schemas.openxmlformats.org/markup-compatibility/2006">
              <mc:Choice xmlns:v="urn:schemas-microsoft-com:vml" Requires="v">
                <p:oleObj name="Equation" r:id="rId3" imgW="1778000" imgH="1244600" progId="Equation.3">
                  <p:embed/>
                </p:oleObj>
              </mc:Choice>
              <mc:Fallback>
                <p:oleObj name="Equation" r:id="rId3" imgW="1778000" imgH="1244600" progId="Equation.3">
                  <p:embed/>
                  <p:pic>
                    <p:nvPicPr>
                      <p:cNvPr id="54277" name="Object 4">
                        <a:extLst>
                          <a:ext uri="{FF2B5EF4-FFF2-40B4-BE49-F238E27FC236}">
                            <a16:creationId xmlns:a16="http://schemas.microsoft.com/office/drawing/2014/main" id="{BC6EBD81-DBC1-5A6E-E199-33F4D1DB77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752600"/>
                        <a:ext cx="3124200" cy="205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278" name="Object 5">
            <a:extLst>
              <a:ext uri="{FF2B5EF4-FFF2-40B4-BE49-F238E27FC236}">
                <a16:creationId xmlns:a16="http://schemas.microsoft.com/office/drawing/2014/main" id="{042CFB15-127A-1F44-F2D0-B6725255D88D}"/>
              </a:ext>
            </a:extLst>
          </p:cNvPr>
          <p:cNvGraphicFramePr>
            <a:graphicFrameLocks noChangeAspect="1"/>
          </p:cNvGraphicFramePr>
          <p:nvPr/>
        </p:nvGraphicFramePr>
        <p:xfrm>
          <a:off x="4419600" y="4191000"/>
          <a:ext cx="3429000" cy="1970088"/>
        </p:xfrm>
        <a:graphic>
          <a:graphicData uri="http://schemas.openxmlformats.org/presentationml/2006/ole">
            <mc:AlternateContent xmlns:mc="http://schemas.openxmlformats.org/markup-compatibility/2006">
              <mc:Choice xmlns:v="urn:schemas-microsoft-com:vml" Requires="v">
                <p:oleObj name="Equation" r:id="rId5" imgW="1828800" imgH="1143000" progId="Equation.3">
                  <p:embed/>
                </p:oleObj>
              </mc:Choice>
              <mc:Fallback>
                <p:oleObj name="Equation" r:id="rId5" imgW="1828800" imgH="1143000" progId="Equation.3">
                  <p:embed/>
                  <p:pic>
                    <p:nvPicPr>
                      <p:cNvPr id="54278" name="Object 5">
                        <a:extLst>
                          <a:ext uri="{FF2B5EF4-FFF2-40B4-BE49-F238E27FC236}">
                            <a16:creationId xmlns:a16="http://schemas.microsoft.com/office/drawing/2014/main" id="{042CFB15-127A-1F44-F2D0-B6725255D8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4191000"/>
                        <a:ext cx="3429000"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AD28DD0E-79C2-6DA3-F91D-23B0EF60E13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0596672-1D9A-45ED-8F7D-75494545A0D9}" type="slidenum">
              <a:rPr lang="en-US" altLang="en-US" sz="1200"/>
              <a:pPr eaLnBrk="1" hangingPunct="1"/>
              <a:t>87</a:t>
            </a:fld>
            <a:endParaRPr lang="en-US" altLang="en-US" sz="1200"/>
          </a:p>
        </p:txBody>
      </p:sp>
      <p:sp>
        <p:nvSpPr>
          <p:cNvPr id="55299" name="Rectangle 2">
            <a:extLst>
              <a:ext uri="{FF2B5EF4-FFF2-40B4-BE49-F238E27FC236}">
                <a16:creationId xmlns:a16="http://schemas.microsoft.com/office/drawing/2014/main" id="{A001C06F-D68A-EA9C-66A7-EF1605ECA3DC}"/>
              </a:ext>
            </a:extLst>
          </p:cNvPr>
          <p:cNvSpPr>
            <a:spLocks noGrp="1" noChangeArrowheads="1"/>
          </p:cNvSpPr>
          <p:nvPr>
            <p:ph type="title"/>
          </p:nvPr>
        </p:nvSpPr>
        <p:spPr>
          <a:xfrm>
            <a:off x="152400" y="228600"/>
            <a:ext cx="8763000" cy="782638"/>
          </a:xfrm>
          <a:noFill/>
        </p:spPr>
        <p:txBody>
          <a:bodyPr lIns="92075" tIns="46038" rIns="92075" bIns="46038" anchor="ctr"/>
          <a:lstStyle/>
          <a:p>
            <a:pPr eaLnBrk="1" hangingPunct="1"/>
            <a:r>
              <a:rPr lang="en-US" altLang="en-US" sz="3200">
                <a:solidFill>
                  <a:srgbClr val="170981"/>
                </a:solidFill>
              </a:rPr>
              <a:t>Proximity Measure for Nominal Attributes</a:t>
            </a:r>
          </a:p>
        </p:txBody>
      </p:sp>
      <p:sp>
        <p:nvSpPr>
          <p:cNvPr id="55300" name="Rectangle 3">
            <a:extLst>
              <a:ext uri="{FF2B5EF4-FFF2-40B4-BE49-F238E27FC236}">
                <a16:creationId xmlns:a16="http://schemas.microsoft.com/office/drawing/2014/main" id="{C7ADFD63-949E-6F42-08C1-30D56761F39D}"/>
              </a:ext>
            </a:extLst>
          </p:cNvPr>
          <p:cNvSpPr>
            <a:spLocks noGrp="1" noChangeArrowheads="1"/>
          </p:cNvSpPr>
          <p:nvPr>
            <p:ph type="body" idx="1"/>
          </p:nvPr>
        </p:nvSpPr>
        <p:spPr>
          <a:xfrm>
            <a:off x="381000" y="1447800"/>
            <a:ext cx="8458200" cy="4648200"/>
          </a:xfrm>
          <a:noFill/>
        </p:spPr>
        <p:txBody>
          <a:bodyPr lIns="92075" tIns="46038" rIns="92075" bIns="46038">
            <a:normAutofit lnSpcReduction="10000"/>
          </a:bodyPr>
          <a:lstStyle/>
          <a:p>
            <a:pPr eaLnBrk="1" hangingPunct="1">
              <a:lnSpc>
                <a:spcPct val="120000"/>
              </a:lnSpc>
            </a:pPr>
            <a:r>
              <a:rPr lang="en-US" altLang="en-US"/>
              <a:t>Can take 2 or more states, e.g., red, yellow, blue, green (generalization of a binary attribute)</a:t>
            </a:r>
          </a:p>
          <a:p>
            <a:pPr eaLnBrk="1" hangingPunct="1">
              <a:lnSpc>
                <a:spcPct val="120000"/>
              </a:lnSpc>
            </a:pPr>
            <a:r>
              <a:rPr lang="en-US" altLang="en-US" u="sng"/>
              <a:t>Method 1</a:t>
            </a:r>
            <a:r>
              <a:rPr lang="en-US" altLang="en-US"/>
              <a:t>: Simple matching</a:t>
            </a:r>
            <a:endParaRPr lang="en-US" altLang="en-US" i="1"/>
          </a:p>
          <a:p>
            <a:pPr lvl="1" eaLnBrk="1" hangingPunct="1">
              <a:lnSpc>
                <a:spcPct val="120000"/>
              </a:lnSpc>
            </a:pPr>
            <a:r>
              <a:rPr lang="en-US" altLang="en-US" i="1"/>
              <a:t>m</a:t>
            </a:r>
            <a:r>
              <a:rPr lang="en-US" altLang="en-US"/>
              <a:t>: # of matches,</a:t>
            </a:r>
            <a:r>
              <a:rPr lang="en-US" altLang="en-US" i="1"/>
              <a:t> p</a:t>
            </a:r>
            <a:r>
              <a:rPr lang="en-US" altLang="en-US"/>
              <a:t>: total # of variables</a:t>
            </a:r>
          </a:p>
          <a:p>
            <a:pPr eaLnBrk="1" hangingPunct="1">
              <a:lnSpc>
                <a:spcPct val="120000"/>
              </a:lnSpc>
            </a:pPr>
            <a:endParaRPr lang="en-US" altLang="en-US"/>
          </a:p>
          <a:p>
            <a:pPr eaLnBrk="1" hangingPunct="1">
              <a:lnSpc>
                <a:spcPct val="120000"/>
              </a:lnSpc>
            </a:pPr>
            <a:r>
              <a:rPr lang="en-US" altLang="en-US" u="sng"/>
              <a:t>Method 2</a:t>
            </a:r>
            <a:r>
              <a:rPr lang="en-US" altLang="en-US"/>
              <a:t>: Use a large number of binary attributes</a:t>
            </a:r>
          </a:p>
          <a:p>
            <a:pPr lvl="1" eaLnBrk="1" hangingPunct="1">
              <a:lnSpc>
                <a:spcPct val="120000"/>
              </a:lnSpc>
            </a:pPr>
            <a:r>
              <a:rPr lang="en-US" altLang="en-US"/>
              <a:t>creating a new binary attribute for each of the </a:t>
            </a:r>
            <a:r>
              <a:rPr lang="en-US" altLang="en-US" i="1"/>
              <a:t>M</a:t>
            </a:r>
            <a:r>
              <a:rPr lang="en-US" altLang="en-US"/>
              <a:t> nominal states</a:t>
            </a:r>
          </a:p>
        </p:txBody>
      </p:sp>
      <p:graphicFrame>
        <p:nvGraphicFramePr>
          <p:cNvPr id="55301" name="Object 4">
            <a:extLst>
              <a:ext uri="{FF2B5EF4-FFF2-40B4-BE49-F238E27FC236}">
                <a16:creationId xmlns:a16="http://schemas.microsoft.com/office/drawing/2014/main" id="{7210DC03-35B7-6D1C-0C3E-37CB36812914}"/>
              </a:ext>
            </a:extLst>
          </p:cNvPr>
          <p:cNvGraphicFramePr>
            <a:graphicFrameLocks noChangeAspect="1"/>
          </p:cNvGraphicFramePr>
          <p:nvPr/>
        </p:nvGraphicFramePr>
        <p:xfrm>
          <a:off x="3124200" y="3810000"/>
          <a:ext cx="2667000" cy="666750"/>
        </p:xfrm>
        <a:graphic>
          <a:graphicData uri="http://schemas.openxmlformats.org/presentationml/2006/ole">
            <mc:AlternateContent xmlns:mc="http://schemas.openxmlformats.org/markup-compatibility/2006">
              <mc:Choice xmlns:v="urn:schemas-microsoft-com:vml" Requires="v">
                <p:oleObj name="Equation" r:id="rId3" imgW="1384300" imgH="469900" progId="Equation.3">
                  <p:embed/>
                </p:oleObj>
              </mc:Choice>
              <mc:Fallback>
                <p:oleObj name="Equation" r:id="rId3" imgW="1384300" imgH="469900" progId="Equation.3">
                  <p:embed/>
                  <p:pic>
                    <p:nvPicPr>
                      <p:cNvPr id="55301" name="Object 4">
                        <a:extLst>
                          <a:ext uri="{FF2B5EF4-FFF2-40B4-BE49-F238E27FC236}">
                            <a16:creationId xmlns:a16="http://schemas.microsoft.com/office/drawing/2014/main" id="{7210DC03-35B7-6D1C-0C3E-37CB368129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3810000"/>
                        <a:ext cx="2667000"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Slide Number Placeholder 7">
            <a:extLst>
              <a:ext uri="{FF2B5EF4-FFF2-40B4-BE49-F238E27FC236}">
                <a16:creationId xmlns:a16="http://schemas.microsoft.com/office/drawing/2014/main" id="{B5844B00-0BDF-5D77-B112-FD85A1E703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1FE2C40-28C0-4EF8-9881-FD60A0867EFC}" type="slidenum">
              <a:rPr lang="en-US" altLang="en-US" sz="1200"/>
              <a:pPr eaLnBrk="1" hangingPunct="1"/>
              <a:t>88</a:t>
            </a:fld>
            <a:endParaRPr lang="en-US" altLang="en-US" sz="1200"/>
          </a:p>
        </p:txBody>
      </p:sp>
      <p:sp>
        <p:nvSpPr>
          <p:cNvPr id="1029" name="Rectangle 2">
            <a:extLst>
              <a:ext uri="{FF2B5EF4-FFF2-40B4-BE49-F238E27FC236}">
                <a16:creationId xmlns:a16="http://schemas.microsoft.com/office/drawing/2014/main" id="{5FF07EFA-0963-A540-5540-C7B2C3C483EB}"/>
              </a:ext>
            </a:extLst>
          </p:cNvPr>
          <p:cNvSpPr>
            <a:spLocks noGrp="1" noChangeArrowheads="1"/>
          </p:cNvSpPr>
          <p:nvPr>
            <p:ph type="title"/>
          </p:nvPr>
        </p:nvSpPr>
        <p:spPr>
          <a:xfrm>
            <a:off x="304800" y="228600"/>
            <a:ext cx="8610600" cy="609600"/>
          </a:xfrm>
          <a:noFill/>
        </p:spPr>
        <p:txBody>
          <a:bodyPr lIns="92075" tIns="46038" rIns="92075" bIns="46038" anchor="ctr"/>
          <a:lstStyle/>
          <a:p>
            <a:pPr eaLnBrk="1" hangingPunct="1"/>
            <a:r>
              <a:rPr lang="en-US" altLang="en-US" sz="3200">
                <a:solidFill>
                  <a:srgbClr val="170981"/>
                </a:solidFill>
              </a:rPr>
              <a:t>Proximity Measure for Binary Attributes</a:t>
            </a:r>
          </a:p>
        </p:txBody>
      </p:sp>
      <p:sp>
        <p:nvSpPr>
          <p:cNvPr id="1030" name="Rectangle 3">
            <a:extLst>
              <a:ext uri="{FF2B5EF4-FFF2-40B4-BE49-F238E27FC236}">
                <a16:creationId xmlns:a16="http://schemas.microsoft.com/office/drawing/2014/main" id="{7D28AA02-54A2-98DE-583A-DC36683EDBFC}"/>
              </a:ext>
            </a:extLst>
          </p:cNvPr>
          <p:cNvSpPr>
            <a:spLocks noGrp="1" noChangeArrowheads="1"/>
          </p:cNvSpPr>
          <p:nvPr>
            <p:ph type="body" sz="half" idx="1"/>
          </p:nvPr>
        </p:nvSpPr>
        <p:spPr>
          <a:xfrm>
            <a:off x="228600" y="1295400"/>
            <a:ext cx="4648200" cy="3810000"/>
          </a:xfrm>
          <a:noFill/>
        </p:spPr>
        <p:txBody>
          <a:bodyPr lIns="92075" tIns="46038" rIns="92075" bIns="46038">
            <a:normAutofit fontScale="92500" lnSpcReduction="10000"/>
          </a:bodyPr>
          <a:lstStyle/>
          <a:p>
            <a:pPr eaLnBrk="1" hangingPunct="1">
              <a:lnSpc>
                <a:spcPct val="130000"/>
              </a:lnSpc>
            </a:pPr>
            <a:r>
              <a:rPr lang="en-US" altLang="en-US" sz="2000" dirty="0"/>
              <a:t>A contingency table for binary data</a:t>
            </a:r>
          </a:p>
          <a:p>
            <a:pPr eaLnBrk="1" hangingPunct="1">
              <a:lnSpc>
                <a:spcPct val="130000"/>
              </a:lnSpc>
            </a:pPr>
            <a:endParaRPr lang="en-US" altLang="en-US" sz="2000" dirty="0"/>
          </a:p>
          <a:p>
            <a:pPr eaLnBrk="1" hangingPunct="1">
              <a:lnSpc>
                <a:spcPct val="130000"/>
              </a:lnSpc>
            </a:pPr>
            <a:r>
              <a:rPr lang="en-US" altLang="en-US" sz="2000" dirty="0"/>
              <a:t>Distance measure for symmetric binary variables: </a:t>
            </a:r>
          </a:p>
          <a:p>
            <a:pPr eaLnBrk="1" hangingPunct="1">
              <a:lnSpc>
                <a:spcPct val="130000"/>
              </a:lnSpc>
            </a:pPr>
            <a:r>
              <a:rPr lang="en-US" altLang="en-US" sz="2000" dirty="0"/>
              <a:t>Distance measure for asymmetric binary variables: </a:t>
            </a:r>
          </a:p>
          <a:p>
            <a:pPr eaLnBrk="1" hangingPunct="1">
              <a:lnSpc>
                <a:spcPct val="130000"/>
              </a:lnSpc>
            </a:pPr>
            <a:r>
              <a:rPr lang="en-US" altLang="en-US" sz="2000" dirty="0"/>
              <a:t>Jaccard coefficient (</a:t>
            </a:r>
            <a:r>
              <a:rPr lang="en-US" altLang="en-US" sz="2000" i="1" dirty="0">
                <a:solidFill>
                  <a:schemeClr val="hlink"/>
                </a:solidFill>
              </a:rPr>
              <a:t>similarity</a:t>
            </a:r>
            <a:r>
              <a:rPr lang="en-US" altLang="en-US" sz="2000" dirty="0"/>
              <a:t> measure for </a:t>
            </a:r>
            <a:r>
              <a:rPr lang="en-US" altLang="en-US" sz="2000" i="1" dirty="0"/>
              <a:t>asymmetric </a:t>
            </a:r>
            <a:r>
              <a:rPr lang="en-US" altLang="en-US" sz="2000" dirty="0"/>
              <a:t>binary variables): </a:t>
            </a:r>
          </a:p>
        </p:txBody>
      </p:sp>
      <p:sp>
        <p:nvSpPr>
          <p:cNvPr id="1031" name="Rectangle 15">
            <a:extLst>
              <a:ext uri="{FF2B5EF4-FFF2-40B4-BE49-F238E27FC236}">
                <a16:creationId xmlns:a16="http://schemas.microsoft.com/office/drawing/2014/main" id="{75E19585-97F7-E178-B6F6-3A9FDF65D817}"/>
              </a:ext>
            </a:extLst>
          </p:cNvPr>
          <p:cNvSpPr>
            <a:spLocks noChangeArrowheads="1"/>
          </p:cNvSpPr>
          <p:nvPr/>
        </p:nvSpPr>
        <p:spPr bwMode="auto">
          <a:xfrm>
            <a:off x="228600" y="5181600"/>
            <a:ext cx="853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130000"/>
              </a:lnSpc>
              <a:spcBef>
                <a:spcPct val="20000"/>
              </a:spcBef>
              <a:buClr>
                <a:schemeClr val="folHlink"/>
              </a:buClr>
              <a:buSzPct val="60000"/>
              <a:buFont typeface="Wingdings" panose="05000000000000000000" pitchFamily="2" charset="2"/>
              <a:buChar char="n"/>
            </a:pPr>
            <a:r>
              <a:rPr lang="en-US" altLang="en-US" sz="2000"/>
              <a:t>Note: Jaccard coefficient is the same as “coherence”:</a:t>
            </a:r>
          </a:p>
        </p:txBody>
      </p:sp>
      <p:pic>
        <p:nvPicPr>
          <p:cNvPr id="1032" name="Picture 18" descr="eqjaccard">
            <a:extLst>
              <a:ext uri="{FF2B5EF4-FFF2-40B4-BE49-F238E27FC236}">
                <a16:creationId xmlns:a16="http://schemas.microsoft.com/office/drawing/2014/main" id="{BB91C863-8AB3-6428-C743-91C9FF067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267200"/>
            <a:ext cx="43434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Diagram 1">
            <a:extLst>
              <a:ext uri="{FF2B5EF4-FFF2-40B4-BE49-F238E27FC236}">
                <a16:creationId xmlns:a16="http://schemas.microsoft.com/office/drawing/2014/main" id="{ABBF62F3-63E0-B9E6-C5A3-C03056FDE31E}"/>
              </a:ext>
            </a:extLst>
          </p:cNvPr>
          <p:cNvGraphicFramePr/>
          <p:nvPr/>
        </p:nvGraphicFramePr>
        <p:xfrm>
          <a:off x="6477000" y="2413000"/>
          <a:ext cx="381000" cy="233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33" name="Picture 30" descr="eqbinarysym">
            <a:extLst>
              <a:ext uri="{FF2B5EF4-FFF2-40B4-BE49-F238E27FC236}">
                <a16:creationId xmlns:a16="http://schemas.microsoft.com/office/drawing/2014/main" id="{AF61C15F-8CCE-D2FD-7EE8-E38878DF38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0" y="2514600"/>
            <a:ext cx="3429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31" descr="eqbinaryasym">
            <a:extLst>
              <a:ext uri="{FF2B5EF4-FFF2-40B4-BE49-F238E27FC236}">
                <a16:creationId xmlns:a16="http://schemas.microsoft.com/office/drawing/2014/main" id="{46F1396E-220B-3C71-F207-4DF849891F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505200"/>
            <a:ext cx="29718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35" descr="eqcoherence">
            <a:extLst>
              <a:ext uri="{FF2B5EF4-FFF2-40B4-BE49-F238E27FC236}">
                <a16:creationId xmlns:a16="http://schemas.microsoft.com/office/drawing/2014/main" id="{0FB16EF9-5BCA-E483-DF30-5A205B6A597B}"/>
              </a:ext>
            </a:extLst>
          </p:cNvPr>
          <p:cNvPicPr>
            <a:picLocks noGrp="1" noChangeAspect="1" noChangeArrowheads="1"/>
          </p:cNvPicPr>
          <p:nvPr>
            <p:ph sz="quarter" idx="3"/>
          </p:nvPr>
        </p:nvPicPr>
        <p:blipFill>
          <a:blip r:embed="rId11">
            <a:extLst>
              <a:ext uri="{28A0092B-C50C-407E-A947-70E740481C1C}">
                <a14:useLocalDpi xmlns:a14="http://schemas.microsoft.com/office/drawing/2010/main" val="0"/>
              </a:ext>
            </a:extLst>
          </a:blip>
          <a:srcRect/>
          <a:stretch>
            <a:fillRect/>
          </a:stretch>
        </p:blipFill>
        <p:spPr>
          <a:xfrm>
            <a:off x="381000" y="5638800"/>
            <a:ext cx="8305800" cy="731838"/>
          </a:xfrm>
          <a:noFill/>
        </p:spPr>
      </p:pic>
      <p:pic>
        <p:nvPicPr>
          <p:cNvPr id="1036" name="Picture 36" descr="eqcontingency2">
            <a:extLst>
              <a:ext uri="{FF2B5EF4-FFF2-40B4-BE49-F238E27FC236}">
                <a16:creationId xmlns:a16="http://schemas.microsoft.com/office/drawing/2014/main" id="{F4B41A3C-1753-5661-C63E-A20519A19CD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9200" y="1276350"/>
            <a:ext cx="39624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7" name="Text Box 37">
            <a:extLst>
              <a:ext uri="{FF2B5EF4-FFF2-40B4-BE49-F238E27FC236}">
                <a16:creationId xmlns:a16="http://schemas.microsoft.com/office/drawing/2014/main" id="{E336636F-C169-AB81-C98E-8449BDC16066}"/>
              </a:ext>
            </a:extLst>
          </p:cNvPr>
          <p:cNvSpPr txBox="1">
            <a:spLocks noChangeArrowheads="1"/>
          </p:cNvSpPr>
          <p:nvPr/>
        </p:nvSpPr>
        <p:spPr bwMode="auto">
          <a:xfrm>
            <a:off x="4343400" y="1690688"/>
            <a:ext cx="9636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Object </a:t>
            </a:r>
            <a:r>
              <a:rPr lang="en-US" altLang="en-US" sz="1800" i="1"/>
              <a:t>i</a:t>
            </a:r>
            <a:endParaRPr lang="en-US" altLang="en-US" sz="1800"/>
          </a:p>
        </p:txBody>
      </p:sp>
      <p:sp>
        <p:nvSpPr>
          <p:cNvPr id="1038" name="Text Box 38">
            <a:extLst>
              <a:ext uri="{FF2B5EF4-FFF2-40B4-BE49-F238E27FC236}">
                <a16:creationId xmlns:a16="http://schemas.microsoft.com/office/drawing/2014/main" id="{1B98EB8C-B622-CFFF-494C-5F7E536D422F}"/>
              </a:ext>
            </a:extLst>
          </p:cNvPr>
          <p:cNvSpPr txBox="1">
            <a:spLocks noChangeArrowheads="1"/>
          </p:cNvSpPr>
          <p:nvPr/>
        </p:nvSpPr>
        <p:spPr bwMode="auto">
          <a:xfrm>
            <a:off x="6705600" y="928688"/>
            <a:ext cx="976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800"/>
              <a:t>Object </a:t>
            </a:r>
            <a:r>
              <a:rPr lang="en-US" altLang="en-US" sz="1800" i="1"/>
              <a:t>j</a:t>
            </a:r>
            <a:endParaRPr lang="en-US" altLang="en-US" sz="1800"/>
          </a:p>
        </p:txBody>
      </p:sp>
    </p:spTree>
  </p:cSld>
  <p:clrMapOvr>
    <a:masterClrMapping/>
  </p:clrMapOvr>
  <p:transition>
    <p:zo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2CDC915B-B102-82AC-4F55-174D3D81C99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F8A247D-4835-4BC1-A234-70412EF4305A}" type="slidenum">
              <a:rPr lang="en-US" altLang="en-US" sz="1200"/>
              <a:pPr eaLnBrk="1" hangingPunct="1"/>
              <a:t>89</a:t>
            </a:fld>
            <a:endParaRPr lang="en-US" altLang="en-US" sz="1200"/>
          </a:p>
        </p:txBody>
      </p:sp>
      <p:sp>
        <p:nvSpPr>
          <p:cNvPr id="56323" name="Rectangle 2">
            <a:extLst>
              <a:ext uri="{FF2B5EF4-FFF2-40B4-BE49-F238E27FC236}">
                <a16:creationId xmlns:a16="http://schemas.microsoft.com/office/drawing/2014/main" id="{FE25608A-2980-0D92-2887-DF96EB0DFB73}"/>
              </a:ext>
            </a:extLst>
          </p:cNvPr>
          <p:cNvSpPr>
            <a:spLocks noGrp="1" noChangeArrowheads="1"/>
          </p:cNvSpPr>
          <p:nvPr>
            <p:ph type="title"/>
          </p:nvPr>
        </p:nvSpPr>
        <p:spPr>
          <a:xfrm>
            <a:off x="304800" y="228600"/>
            <a:ext cx="8631238" cy="838200"/>
          </a:xfrm>
        </p:spPr>
        <p:txBody>
          <a:bodyPr>
            <a:normAutofit fontScale="90000"/>
          </a:bodyPr>
          <a:lstStyle/>
          <a:p>
            <a:pPr eaLnBrk="1" hangingPunct="1"/>
            <a:r>
              <a:rPr lang="en-US" altLang="en-US"/>
              <a:t>Dissimilarity between Binary Variables</a:t>
            </a:r>
          </a:p>
        </p:txBody>
      </p:sp>
      <p:sp>
        <p:nvSpPr>
          <p:cNvPr id="56324" name="Rectangle 3">
            <a:extLst>
              <a:ext uri="{FF2B5EF4-FFF2-40B4-BE49-F238E27FC236}">
                <a16:creationId xmlns:a16="http://schemas.microsoft.com/office/drawing/2014/main" id="{1010DAA7-687C-9C63-95AF-92726AAE7065}"/>
              </a:ext>
            </a:extLst>
          </p:cNvPr>
          <p:cNvSpPr>
            <a:spLocks noGrp="1" noChangeArrowheads="1"/>
          </p:cNvSpPr>
          <p:nvPr>
            <p:ph type="body" idx="1"/>
          </p:nvPr>
        </p:nvSpPr>
        <p:spPr>
          <a:xfrm>
            <a:off x="304800" y="1447800"/>
            <a:ext cx="8382000" cy="4949825"/>
          </a:xfrm>
        </p:spPr>
        <p:txBody>
          <a:bodyPr/>
          <a:lstStyle/>
          <a:p>
            <a:pPr eaLnBrk="1" hangingPunct="1"/>
            <a:r>
              <a:rPr lang="en-US" altLang="en-US" sz="2400"/>
              <a:t>Example</a:t>
            </a:r>
          </a:p>
          <a:p>
            <a:pPr eaLnBrk="1" hangingPunct="1"/>
            <a:endParaRPr lang="en-US" altLang="en-US" sz="2400"/>
          </a:p>
          <a:p>
            <a:pPr eaLnBrk="1" hangingPunct="1"/>
            <a:endParaRPr lang="en-US" altLang="en-US" sz="2400"/>
          </a:p>
          <a:p>
            <a:pPr lvl="1" eaLnBrk="1" hangingPunct="1"/>
            <a:endParaRPr lang="en-US" altLang="en-US" sz="2400"/>
          </a:p>
          <a:p>
            <a:pPr lvl="1" eaLnBrk="1" hangingPunct="1"/>
            <a:endParaRPr lang="en-US" altLang="en-US" sz="2000"/>
          </a:p>
          <a:p>
            <a:pPr lvl="1" eaLnBrk="1" hangingPunct="1"/>
            <a:r>
              <a:rPr lang="en-US" altLang="en-US" sz="2000"/>
              <a:t>Gender is a symmetric attribute</a:t>
            </a:r>
          </a:p>
          <a:p>
            <a:pPr lvl="1" eaLnBrk="1" hangingPunct="1"/>
            <a:r>
              <a:rPr lang="en-US" altLang="en-US" sz="2000"/>
              <a:t>The remaining attributes are asymmetric binary</a:t>
            </a:r>
          </a:p>
          <a:p>
            <a:pPr lvl="1" eaLnBrk="1" hangingPunct="1"/>
            <a:r>
              <a:rPr lang="en-US" altLang="en-US" sz="2000"/>
              <a:t>Let the values Y and P be 1, and the value N 0</a:t>
            </a:r>
          </a:p>
        </p:txBody>
      </p:sp>
      <p:graphicFrame>
        <p:nvGraphicFramePr>
          <p:cNvPr id="56325" name="Object 4">
            <a:extLst>
              <a:ext uri="{FF2B5EF4-FFF2-40B4-BE49-F238E27FC236}">
                <a16:creationId xmlns:a16="http://schemas.microsoft.com/office/drawing/2014/main" id="{26E9E5A6-C42F-AE5F-01CA-D2FEA912A78C}"/>
              </a:ext>
            </a:extLst>
          </p:cNvPr>
          <p:cNvGraphicFramePr>
            <a:graphicFrameLocks noChangeAspect="1"/>
          </p:cNvGraphicFramePr>
          <p:nvPr/>
        </p:nvGraphicFramePr>
        <p:xfrm>
          <a:off x="1143000" y="1981200"/>
          <a:ext cx="6932613" cy="1600200"/>
        </p:xfrm>
        <a:graphic>
          <a:graphicData uri="http://schemas.openxmlformats.org/presentationml/2006/ole">
            <mc:AlternateContent xmlns:mc="http://schemas.openxmlformats.org/markup-compatibility/2006">
              <mc:Choice xmlns:v="urn:schemas-microsoft-com:vml" Requires="v">
                <p:oleObj name="Document" r:id="rId3" imgW="6819900" imgH="1475232" progId="Word.Document.8">
                  <p:embed/>
                </p:oleObj>
              </mc:Choice>
              <mc:Fallback>
                <p:oleObj name="Document" r:id="rId3" imgW="6819900" imgH="1475232" progId="Word.Document.8">
                  <p:embed/>
                  <p:pic>
                    <p:nvPicPr>
                      <p:cNvPr id="56325" name="Object 4">
                        <a:extLst>
                          <a:ext uri="{FF2B5EF4-FFF2-40B4-BE49-F238E27FC236}">
                            <a16:creationId xmlns:a16="http://schemas.microsoft.com/office/drawing/2014/main" id="{26E9E5A6-C42F-AE5F-01CA-D2FEA912A7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81200"/>
                        <a:ext cx="6932613"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a:extLst>
              <a:ext uri="{FF2B5EF4-FFF2-40B4-BE49-F238E27FC236}">
                <a16:creationId xmlns:a16="http://schemas.microsoft.com/office/drawing/2014/main" id="{5B75A62E-FFF5-5C04-BB4A-34CB28BB28C2}"/>
              </a:ext>
            </a:extLst>
          </p:cNvPr>
          <p:cNvGraphicFramePr>
            <a:graphicFrameLocks noChangeAspect="1"/>
          </p:cNvGraphicFramePr>
          <p:nvPr/>
        </p:nvGraphicFramePr>
        <p:xfrm>
          <a:off x="2057400" y="4784725"/>
          <a:ext cx="4191000" cy="1692275"/>
        </p:xfrm>
        <a:graphic>
          <a:graphicData uri="http://schemas.openxmlformats.org/presentationml/2006/ole">
            <mc:AlternateContent xmlns:mc="http://schemas.openxmlformats.org/markup-compatibility/2006">
              <mc:Choice xmlns:v="urn:schemas-microsoft-com:vml" Requires="v">
                <p:oleObj name="Equation" r:id="rId5" imgW="2019300" imgH="1219200" progId="Equation.3">
                  <p:embed/>
                </p:oleObj>
              </mc:Choice>
              <mc:Fallback>
                <p:oleObj name="Equation" r:id="rId5" imgW="2019300" imgH="1219200" progId="Equation.3">
                  <p:embed/>
                  <p:pic>
                    <p:nvPicPr>
                      <p:cNvPr id="56326" name="Object 5">
                        <a:extLst>
                          <a:ext uri="{FF2B5EF4-FFF2-40B4-BE49-F238E27FC236}">
                            <a16:creationId xmlns:a16="http://schemas.microsoft.com/office/drawing/2014/main" id="{5B75A62E-FFF5-5C04-BB4A-34CB28BB28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784725"/>
                        <a:ext cx="41910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6">
            <a:extLst>
              <a:ext uri="{FF2B5EF4-FFF2-40B4-BE49-F238E27FC236}">
                <a16:creationId xmlns:a16="http://schemas.microsoft.com/office/drawing/2014/main" id="{C25752F7-C008-4B2B-F746-9D514089A25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F38871B-DFBC-46F9-949E-B8159CCF2DD3}" type="slidenum">
              <a:rPr lang="en-US" altLang="en-US" sz="1200"/>
              <a:pPr eaLnBrk="1" hangingPunct="1"/>
              <a:t>90</a:t>
            </a:fld>
            <a:endParaRPr lang="en-US" altLang="en-US" sz="1200"/>
          </a:p>
        </p:txBody>
      </p:sp>
      <p:sp>
        <p:nvSpPr>
          <p:cNvPr id="57347" name="Rectangle 2">
            <a:extLst>
              <a:ext uri="{FF2B5EF4-FFF2-40B4-BE49-F238E27FC236}">
                <a16:creationId xmlns:a16="http://schemas.microsoft.com/office/drawing/2014/main" id="{9FA27B64-99CA-CD14-58ED-7C04F46E0461}"/>
              </a:ext>
            </a:extLst>
          </p:cNvPr>
          <p:cNvSpPr>
            <a:spLocks noGrp="1" noChangeArrowheads="1"/>
          </p:cNvSpPr>
          <p:nvPr>
            <p:ph type="title"/>
          </p:nvPr>
        </p:nvSpPr>
        <p:spPr>
          <a:noFill/>
        </p:spPr>
        <p:txBody>
          <a:bodyPr lIns="92075" tIns="46038" rIns="92075" bIns="46038" anchor="ctr"/>
          <a:lstStyle/>
          <a:p>
            <a:pPr eaLnBrk="1" hangingPunct="1"/>
            <a:r>
              <a:rPr lang="en-US" altLang="en-US" sz="3200">
                <a:solidFill>
                  <a:srgbClr val="170981"/>
                </a:solidFill>
              </a:rPr>
              <a:t>Standardizing Numeric Data</a:t>
            </a:r>
          </a:p>
        </p:txBody>
      </p:sp>
      <p:sp>
        <p:nvSpPr>
          <p:cNvPr id="57348" name="Rectangle 3">
            <a:extLst>
              <a:ext uri="{FF2B5EF4-FFF2-40B4-BE49-F238E27FC236}">
                <a16:creationId xmlns:a16="http://schemas.microsoft.com/office/drawing/2014/main" id="{1B0E713F-1CDC-FB85-E2BF-EE1A65F969B8}"/>
              </a:ext>
            </a:extLst>
          </p:cNvPr>
          <p:cNvSpPr>
            <a:spLocks noGrp="1" noChangeArrowheads="1"/>
          </p:cNvSpPr>
          <p:nvPr>
            <p:ph type="body" sz="half" idx="1"/>
          </p:nvPr>
        </p:nvSpPr>
        <p:spPr>
          <a:xfrm>
            <a:off x="304800" y="1295400"/>
            <a:ext cx="8382000" cy="5181600"/>
          </a:xfrm>
          <a:noFill/>
        </p:spPr>
        <p:txBody>
          <a:bodyPr lIns="92075" tIns="46038" rIns="92075" bIns="46038"/>
          <a:lstStyle/>
          <a:p>
            <a:pPr eaLnBrk="1" hangingPunct="1">
              <a:lnSpc>
                <a:spcPct val="110000"/>
              </a:lnSpc>
            </a:pPr>
            <a:r>
              <a:rPr lang="en-US" altLang="en-US" sz="2000"/>
              <a:t>Z-score: </a:t>
            </a:r>
          </a:p>
          <a:p>
            <a:pPr lvl="1" eaLnBrk="1" hangingPunct="1">
              <a:lnSpc>
                <a:spcPct val="110000"/>
              </a:lnSpc>
            </a:pPr>
            <a:r>
              <a:rPr lang="en-US" altLang="en-US" sz="2000"/>
              <a:t>X: raw score to be standardized, </a:t>
            </a:r>
            <a:r>
              <a:rPr lang="el-GR" altLang="en-US" sz="2000">
                <a:cs typeface="Tahoma" panose="020B0604030504040204" pitchFamily="34" charset="0"/>
              </a:rPr>
              <a:t>μ</a:t>
            </a:r>
            <a:r>
              <a:rPr lang="en-US" altLang="en-US" sz="2000">
                <a:cs typeface="Tahoma" panose="020B0604030504040204" pitchFamily="34" charset="0"/>
              </a:rPr>
              <a:t>: mean of the population, </a:t>
            </a:r>
            <a:r>
              <a:rPr lang="el-GR" altLang="en-US" sz="2000">
                <a:cs typeface="Tahoma" panose="020B0604030504040204" pitchFamily="34" charset="0"/>
              </a:rPr>
              <a:t>σ</a:t>
            </a:r>
            <a:r>
              <a:rPr lang="en-US" altLang="en-US" sz="2000">
                <a:cs typeface="Tahoma" panose="020B0604030504040204" pitchFamily="34" charset="0"/>
              </a:rPr>
              <a:t>: standard deviation</a:t>
            </a:r>
            <a:endParaRPr lang="el-GR" altLang="en-US" sz="2000">
              <a:cs typeface="Tahoma" panose="020B0604030504040204" pitchFamily="34" charset="0"/>
            </a:endParaRPr>
          </a:p>
          <a:p>
            <a:pPr lvl="1" eaLnBrk="1" hangingPunct="1">
              <a:lnSpc>
                <a:spcPct val="110000"/>
              </a:lnSpc>
            </a:pPr>
            <a:r>
              <a:rPr lang="en-US" altLang="en-US" sz="2000"/>
              <a:t>the distance between the raw score and the population mean in units of the standard deviation</a:t>
            </a:r>
          </a:p>
          <a:p>
            <a:pPr lvl="1" eaLnBrk="1" hangingPunct="1">
              <a:lnSpc>
                <a:spcPct val="110000"/>
              </a:lnSpc>
            </a:pPr>
            <a:r>
              <a:rPr lang="en-US" altLang="en-US" sz="2000">
                <a:cs typeface="Tahoma" panose="020B0604030504040204" pitchFamily="34" charset="0"/>
              </a:rPr>
              <a:t>negative </a:t>
            </a:r>
            <a:r>
              <a:rPr lang="en-US" altLang="en-US" sz="2000"/>
              <a:t>when the raw score is below the mean, “+” when above</a:t>
            </a:r>
          </a:p>
          <a:p>
            <a:pPr eaLnBrk="1" hangingPunct="1">
              <a:lnSpc>
                <a:spcPct val="110000"/>
              </a:lnSpc>
            </a:pPr>
            <a:r>
              <a:rPr lang="en-US" altLang="en-US" sz="2000"/>
              <a:t>An alternative way: Calculate the mean absolute deviation</a:t>
            </a:r>
          </a:p>
          <a:p>
            <a:pPr eaLnBrk="1" hangingPunct="1">
              <a:lnSpc>
                <a:spcPct val="110000"/>
              </a:lnSpc>
            </a:pPr>
            <a:endParaRPr lang="en-US" altLang="en-US" sz="2000"/>
          </a:p>
          <a:p>
            <a:pPr lvl="1" eaLnBrk="1" hangingPunct="1">
              <a:lnSpc>
                <a:spcPct val="110000"/>
              </a:lnSpc>
              <a:buFont typeface="Wingdings" panose="05000000000000000000" pitchFamily="2" charset="2"/>
              <a:buNone/>
            </a:pPr>
            <a:r>
              <a:rPr lang="en-US" altLang="en-US" sz="2000"/>
              <a:t>where</a:t>
            </a:r>
          </a:p>
          <a:p>
            <a:pPr lvl="1" eaLnBrk="1" hangingPunct="1">
              <a:lnSpc>
                <a:spcPct val="110000"/>
              </a:lnSpc>
            </a:pPr>
            <a:endParaRPr lang="en-US" altLang="en-US" sz="2000"/>
          </a:p>
          <a:p>
            <a:pPr lvl="1" eaLnBrk="1" hangingPunct="1">
              <a:lnSpc>
                <a:spcPct val="110000"/>
              </a:lnSpc>
            </a:pPr>
            <a:r>
              <a:rPr lang="en-US" altLang="en-US" sz="2000"/>
              <a:t>standardized measure (</a:t>
            </a:r>
            <a:r>
              <a:rPr lang="en-US" altLang="en-US" sz="2000" i="1"/>
              <a:t>z-score</a:t>
            </a:r>
            <a:r>
              <a:rPr lang="en-US" altLang="en-US" sz="2000"/>
              <a:t>):</a:t>
            </a:r>
          </a:p>
          <a:p>
            <a:pPr eaLnBrk="1" hangingPunct="1">
              <a:lnSpc>
                <a:spcPct val="110000"/>
              </a:lnSpc>
            </a:pPr>
            <a:r>
              <a:rPr lang="en-US" altLang="en-US" sz="2000"/>
              <a:t>Using mean absolute deviation is more robust than using standard deviation </a:t>
            </a:r>
          </a:p>
        </p:txBody>
      </p:sp>
      <p:graphicFrame>
        <p:nvGraphicFramePr>
          <p:cNvPr id="57349" name="Object 4">
            <a:extLst>
              <a:ext uri="{FF2B5EF4-FFF2-40B4-BE49-F238E27FC236}">
                <a16:creationId xmlns:a16="http://schemas.microsoft.com/office/drawing/2014/main" id="{EC43C72D-A09C-D320-D628-85299EDDA998}"/>
              </a:ext>
            </a:extLst>
          </p:cNvPr>
          <p:cNvGraphicFramePr>
            <a:graphicFrameLocks noChangeAspect="1"/>
          </p:cNvGraphicFramePr>
          <p:nvPr/>
        </p:nvGraphicFramePr>
        <p:xfrm>
          <a:off x="1828800" y="4419600"/>
          <a:ext cx="2819400" cy="495300"/>
        </p:xfrm>
        <a:graphic>
          <a:graphicData uri="http://schemas.openxmlformats.org/presentationml/2006/ole">
            <mc:AlternateContent xmlns:mc="http://schemas.openxmlformats.org/markup-compatibility/2006">
              <mc:Choice xmlns:v="urn:schemas-microsoft-com:vml" Requires="v">
                <p:oleObj name="Equation" r:id="rId3" imgW="2374900" imgH="419100" progId="Equation.3">
                  <p:embed/>
                </p:oleObj>
              </mc:Choice>
              <mc:Fallback>
                <p:oleObj name="Equation" r:id="rId3" imgW="2374900" imgH="419100" progId="Equation.3">
                  <p:embed/>
                  <p:pic>
                    <p:nvPicPr>
                      <p:cNvPr id="57349" name="Object 4">
                        <a:extLst>
                          <a:ext uri="{FF2B5EF4-FFF2-40B4-BE49-F238E27FC236}">
                            <a16:creationId xmlns:a16="http://schemas.microsoft.com/office/drawing/2014/main" id="{EC43C72D-A09C-D320-D628-85299EDDA9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419600"/>
                        <a:ext cx="2819400" cy="495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0" name="Object 5">
            <a:extLst>
              <a:ext uri="{FF2B5EF4-FFF2-40B4-BE49-F238E27FC236}">
                <a16:creationId xmlns:a16="http://schemas.microsoft.com/office/drawing/2014/main" id="{932C9B42-461A-DFDA-0228-5848DBFA664B}"/>
              </a:ext>
            </a:extLst>
          </p:cNvPr>
          <p:cNvGraphicFramePr>
            <a:graphicFrameLocks noChangeAspect="1"/>
          </p:cNvGraphicFramePr>
          <p:nvPr/>
        </p:nvGraphicFramePr>
        <p:xfrm>
          <a:off x="2667000" y="3962400"/>
          <a:ext cx="5334000" cy="496888"/>
        </p:xfrm>
        <a:graphic>
          <a:graphicData uri="http://schemas.openxmlformats.org/presentationml/2006/ole">
            <mc:AlternateContent xmlns:mc="http://schemas.openxmlformats.org/markup-compatibility/2006">
              <mc:Choice xmlns:v="urn:schemas-microsoft-com:vml" Requires="v">
                <p:oleObj name="Equation" r:id="rId5" imgW="4343400" imgH="406400" progId="Equation.3">
                  <p:embed/>
                </p:oleObj>
              </mc:Choice>
              <mc:Fallback>
                <p:oleObj name="Equation" r:id="rId5" imgW="4343400" imgH="406400" progId="Equation.3">
                  <p:embed/>
                  <p:pic>
                    <p:nvPicPr>
                      <p:cNvPr id="57350" name="Object 5">
                        <a:extLst>
                          <a:ext uri="{FF2B5EF4-FFF2-40B4-BE49-F238E27FC236}">
                            <a16:creationId xmlns:a16="http://schemas.microsoft.com/office/drawing/2014/main" id="{932C9B42-461A-DFDA-0228-5848DBFA66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3962400"/>
                        <a:ext cx="53340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1" name="Object 6">
            <a:extLst>
              <a:ext uri="{FF2B5EF4-FFF2-40B4-BE49-F238E27FC236}">
                <a16:creationId xmlns:a16="http://schemas.microsoft.com/office/drawing/2014/main" id="{FA5CE3A8-A997-BF98-D212-4E2AAFE34325}"/>
              </a:ext>
            </a:extLst>
          </p:cNvPr>
          <p:cNvGraphicFramePr>
            <a:graphicFrameLocks noChangeAspect="1"/>
          </p:cNvGraphicFramePr>
          <p:nvPr/>
        </p:nvGraphicFramePr>
        <p:xfrm>
          <a:off x="5181600" y="4724400"/>
          <a:ext cx="1905000" cy="892175"/>
        </p:xfrm>
        <a:graphic>
          <a:graphicData uri="http://schemas.openxmlformats.org/presentationml/2006/ole">
            <mc:AlternateContent xmlns:mc="http://schemas.openxmlformats.org/markup-compatibility/2006">
              <mc:Choice xmlns:v="urn:schemas-microsoft-com:vml" Requires="v">
                <p:oleObj name="Equation" r:id="rId7" imgW="1409088" imgH="660113" progId="Equation.3">
                  <p:embed/>
                </p:oleObj>
              </mc:Choice>
              <mc:Fallback>
                <p:oleObj name="Equation" r:id="rId7" imgW="1409088" imgH="660113" progId="Equation.3">
                  <p:embed/>
                  <p:pic>
                    <p:nvPicPr>
                      <p:cNvPr id="57351" name="Object 6">
                        <a:extLst>
                          <a:ext uri="{FF2B5EF4-FFF2-40B4-BE49-F238E27FC236}">
                            <a16:creationId xmlns:a16="http://schemas.microsoft.com/office/drawing/2014/main" id="{FA5CE3A8-A997-BF98-D212-4E2AAFE3432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4724400"/>
                        <a:ext cx="1905000" cy="892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352" name="Object 7">
            <a:extLst>
              <a:ext uri="{FF2B5EF4-FFF2-40B4-BE49-F238E27FC236}">
                <a16:creationId xmlns:a16="http://schemas.microsoft.com/office/drawing/2014/main" id="{071738FA-98B5-6D4F-DC48-FB583F2AA772}"/>
              </a:ext>
            </a:extLst>
          </p:cNvPr>
          <p:cNvGraphicFramePr>
            <a:graphicFrameLocks noGrp="1" noChangeAspect="1"/>
          </p:cNvGraphicFramePr>
          <p:nvPr>
            <p:ph sz="half" idx="2"/>
          </p:nvPr>
        </p:nvGraphicFramePr>
        <p:xfrm>
          <a:off x="1981200" y="1143000"/>
          <a:ext cx="1409700" cy="601663"/>
        </p:xfrm>
        <a:graphic>
          <a:graphicData uri="http://schemas.openxmlformats.org/presentationml/2006/ole">
            <mc:AlternateContent xmlns:mc="http://schemas.openxmlformats.org/markup-compatibility/2006">
              <mc:Choice xmlns:v="urn:schemas-microsoft-com:vml" Requires="v">
                <p:oleObj name="Equation" r:id="rId9" imgW="952087" imgH="406224" progId="Equation.3">
                  <p:embed/>
                </p:oleObj>
              </mc:Choice>
              <mc:Fallback>
                <p:oleObj name="Equation" r:id="rId9" imgW="952087" imgH="406224" progId="Equation.3">
                  <p:embed/>
                  <p:pic>
                    <p:nvPicPr>
                      <p:cNvPr id="57352" name="Object 7">
                        <a:extLst>
                          <a:ext uri="{FF2B5EF4-FFF2-40B4-BE49-F238E27FC236}">
                            <a16:creationId xmlns:a16="http://schemas.microsoft.com/office/drawing/2014/main" id="{071738FA-98B5-6D4F-DC48-FB583F2AA7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1143000"/>
                        <a:ext cx="1409700" cy="601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2F767B76-C4FE-B1BA-FB4D-0D28667B96B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2F547DEA-1DA2-464A-B788-0357C29B3C26}" type="slidenum">
              <a:rPr lang="en-US" altLang="en-US" sz="1200"/>
              <a:pPr eaLnBrk="1" hangingPunct="1"/>
              <a:t>91</a:t>
            </a:fld>
            <a:endParaRPr lang="en-US" altLang="en-US" sz="1200"/>
          </a:p>
        </p:txBody>
      </p:sp>
      <p:sp>
        <p:nvSpPr>
          <p:cNvPr id="58371" name="Rectangle 2">
            <a:extLst>
              <a:ext uri="{FF2B5EF4-FFF2-40B4-BE49-F238E27FC236}">
                <a16:creationId xmlns:a16="http://schemas.microsoft.com/office/drawing/2014/main" id="{A7CF1CC7-87CD-4E10-6CF5-3367E20A4CC5}"/>
              </a:ext>
            </a:extLst>
          </p:cNvPr>
          <p:cNvSpPr>
            <a:spLocks noGrp="1" noChangeArrowheads="1"/>
          </p:cNvSpPr>
          <p:nvPr>
            <p:ph type="title"/>
          </p:nvPr>
        </p:nvSpPr>
        <p:spPr>
          <a:xfrm>
            <a:off x="152400" y="304800"/>
            <a:ext cx="8763000" cy="762000"/>
          </a:xfrm>
        </p:spPr>
        <p:txBody>
          <a:bodyPr>
            <a:normAutofit fontScale="90000"/>
          </a:bodyPr>
          <a:lstStyle/>
          <a:p>
            <a:pPr eaLnBrk="1" hangingPunct="1"/>
            <a:r>
              <a:rPr lang="en-US" altLang="en-US" sz="3200"/>
              <a:t>Example: </a:t>
            </a:r>
            <a:br>
              <a:rPr lang="en-US" altLang="en-US" sz="3200"/>
            </a:br>
            <a:r>
              <a:rPr lang="en-US" altLang="en-US" sz="3200"/>
              <a:t>Data Matrix and Dissimilarity Matrix</a:t>
            </a:r>
          </a:p>
        </p:txBody>
      </p:sp>
      <p:graphicFrame>
        <p:nvGraphicFramePr>
          <p:cNvPr id="58372" name="Object 4">
            <a:extLst>
              <a:ext uri="{FF2B5EF4-FFF2-40B4-BE49-F238E27FC236}">
                <a16:creationId xmlns:a16="http://schemas.microsoft.com/office/drawing/2014/main" id="{4BACC0CF-EA68-298F-B505-DC2C836604E9}"/>
              </a:ext>
            </a:extLst>
          </p:cNvPr>
          <p:cNvGraphicFramePr>
            <a:graphicFrameLocks noChangeAspect="1"/>
          </p:cNvGraphicFramePr>
          <p:nvPr/>
        </p:nvGraphicFramePr>
        <p:xfrm>
          <a:off x="4824413" y="1981200"/>
          <a:ext cx="2947987" cy="1581150"/>
        </p:xfrm>
        <a:graphic>
          <a:graphicData uri="http://schemas.openxmlformats.org/presentationml/2006/ole">
            <mc:AlternateContent xmlns:mc="http://schemas.openxmlformats.org/markup-compatibility/2006">
              <mc:Choice xmlns:v="urn:schemas-microsoft-com:vml" Requires="v">
                <p:oleObj name="Worksheet" r:id="rId3" imgW="1838249" imgH="857402" progId="Excel.Sheet.8">
                  <p:embed/>
                </p:oleObj>
              </mc:Choice>
              <mc:Fallback>
                <p:oleObj name="Worksheet" r:id="rId3" imgW="1838249" imgH="857402" progId="Excel.Sheet.8">
                  <p:embed/>
                  <p:pic>
                    <p:nvPicPr>
                      <p:cNvPr id="58372" name="Object 4">
                        <a:extLst>
                          <a:ext uri="{FF2B5EF4-FFF2-40B4-BE49-F238E27FC236}">
                            <a16:creationId xmlns:a16="http://schemas.microsoft.com/office/drawing/2014/main" id="{4BACC0CF-EA68-298F-B505-DC2C836604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4413" y="1981200"/>
                        <a:ext cx="2947987"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3" name="Text Box 5">
            <a:extLst>
              <a:ext uri="{FF2B5EF4-FFF2-40B4-BE49-F238E27FC236}">
                <a16:creationId xmlns:a16="http://schemas.microsoft.com/office/drawing/2014/main" id="{4997EC3D-28F7-0825-7F27-F18A7D195219}"/>
              </a:ext>
            </a:extLst>
          </p:cNvPr>
          <p:cNvSpPr txBox="1">
            <a:spLocks noChangeArrowheads="1"/>
          </p:cNvSpPr>
          <p:nvPr/>
        </p:nvSpPr>
        <p:spPr bwMode="auto">
          <a:xfrm>
            <a:off x="3886200" y="3962400"/>
            <a:ext cx="48006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2000" b="1"/>
              <a:t>Dissimilarity Matrix </a:t>
            </a:r>
          </a:p>
          <a:p>
            <a:pPr algn="ctr">
              <a:spcBef>
                <a:spcPct val="50000"/>
              </a:spcBef>
            </a:pPr>
            <a:r>
              <a:rPr lang="en-US" altLang="en-US" sz="2000" b="1"/>
              <a:t>(with </a:t>
            </a:r>
            <a:r>
              <a:rPr lang="en-US" altLang="en-US" sz="2000" b="1">
                <a:solidFill>
                  <a:schemeClr val="tx2"/>
                </a:solidFill>
              </a:rPr>
              <a:t>Euclidean Distance)</a:t>
            </a:r>
          </a:p>
        </p:txBody>
      </p:sp>
      <p:graphicFrame>
        <p:nvGraphicFramePr>
          <p:cNvPr id="58374" name="Object 6">
            <a:extLst>
              <a:ext uri="{FF2B5EF4-FFF2-40B4-BE49-F238E27FC236}">
                <a16:creationId xmlns:a16="http://schemas.microsoft.com/office/drawing/2014/main" id="{3E109BEF-DE5A-9C43-4F3D-1D1E3C4E01CD}"/>
              </a:ext>
            </a:extLst>
          </p:cNvPr>
          <p:cNvGraphicFramePr>
            <a:graphicFrameLocks noChangeAspect="1"/>
          </p:cNvGraphicFramePr>
          <p:nvPr/>
        </p:nvGraphicFramePr>
        <p:xfrm>
          <a:off x="4008438" y="5029200"/>
          <a:ext cx="4906962" cy="1365250"/>
        </p:xfrm>
        <a:graphic>
          <a:graphicData uri="http://schemas.openxmlformats.org/presentationml/2006/ole">
            <mc:AlternateContent xmlns:mc="http://schemas.openxmlformats.org/markup-compatibility/2006">
              <mc:Choice xmlns:v="urn:schemas-microsoft-com:vml" Requires="v">
                <p:oleObj name="Worksheet" r:id="rId5" imgW="3057449" imgH="866851" progId="Excel.Sheet.8">
                  <p:embed/>
                </p:oleObj>
              </mc:Choice>
              <mc:Fallback>
                <p:oleObj name="Worksheet" r:id="rId5" imgW="3057449" imgH="866851" progId="Excel.Sheet.8">
                  <p:embed/>
                  <p:pic>
                    <p:nvPicPr>
                      <p:cNvPr id="58374" name="Object 6">
                        <a:extLst>
                          <a:ext uri="{FF2B5EF4-FFF2-40B4-BE49-F238E27FC236}">
                            <a16:creationId xmlns:a16="http://schemas.microsoft.com/office/drawing/2014/main" id="{3E109BEF-DE5A-9C43-4F3D-1D1E3C4E01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8438" y="5029200"/>
                        <a:ext cx="4906962"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5" name="Text Box 7">
            <a:extLst>
              <a:ext uri="{FF2B5EF4-FFF2-40B4-BE49-F238E27FC236}">
                <a16:creationId xmlns:a16="http://schemas.microsoft.com/office/drawing/2014/main" id="{9B122EE9-EFF7-C2A0-9382-7649A5E9FBD9}"/>
              </a:ext>
            </a:extLst>
          </p:cNvPr>
          <p:cNvSpPr txBox="1">
            <a:spLocks noChangeArrowheads="1"/>
          </p:cNvSpPr>
          <p:nvPr/>
        </p:nvSpPr>
        <p:spPr bwMode="auto">
          <a:xfrm>
            <a:off x="4648200" y="1447800"/>
            <a:ext cx="3276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2000" b="1">
                <a:latin typeface="Arial" panose="020B0604020202020204" pitchFamily="34" charset="0"/>
              </a:rPr>
              <a:t>Data Matrix</a:t>
            </a:r>
          </a:p>
        </p:txBody>
      </p:sp>
      <p:graphicFrame>
        <p:nvGraphicFramePr>
          <p:cNvPr id="58376" name="Object 12">
            <a:extLst>
              <a:ext uri="{FF2B5EF4-FFF2-40B4-BE49-F238E27FC236}">
                <a16:creationId xmlns:a16="http://schemas.microsoft.com/office/drawing/2014/main" id="{7822C2AC-8EE7-ECB3-E591-FB17F03A0215}"/>
              </a:ext>
            </a:extLst>
          </p:cNvPr>
          <p:cNvGraphicFramePr>
            <a:graphicFrameLocks noChangeAspect="1"/>
          </p:cNvGraphicFramePr>
          <p:nvPr/>
        </p:nvGraphicFramePr>
        <p:xfrm>
          <a:off x="427038" y="1219200"/>
          <a:ext cx="3306762" cy="4191000"/>
        </p:xfrm>
        <a:graphic>
          <a:graphicData uri="http://schemas.openxmlformats.org/presentationml/2006/ole">
            <mc:AlternateContent xmlns:mc="http://schemas.openxmlformats.org/markup-compatibility/2006">
              <mc:Choice xmlns:v="urn:schemas-microsoft-com:vml" Requires="v">
                <p:oleObj name="SmartDraw" r:id="rId7" imgW="4379976" imgH="5551932" progId="SmartDraw.2">
                  <p:embed/>
                </p:oleObj>
              </mc:Choice>
              <mc:Fallback>
                <p:oleObj name="SmartDraw" r:id="rId7" imgW="4379976" imgH="5551932" progId="SmartDraw.2">
                  <p:embed/>
                  <p:pic>
                    <p:nvPicPr>
                      <p:cNvPr id="58376" name="Object 12">
                        <a:extLst>
                          <a:ext uri="{FF2B5EF4-FFF2-40B4-BE49-F238E27FC236}">
                            <a16:creationId xmlns:a16="http://schemas.microsoft.com/office/drawing/2014/main" id="{7822C2AC-8EE7-ECB3-E591-FB17F03A02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038" y="1219200"/>
                        <a:ext cx="3306762"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35153CD1-B66C-CF83-B134-21B071DCDE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BB25B4F-8604-4BDD-8518-0A3451E672F3}" type="slidenum">
              <a:rPr lang="en-US" altLang="en-US" sz="1200"/>
              <a:pPr eaLnBrk="1" hangingPunct="1"/>
              <a:t>92</a:t>
            </a:fld>
            <a:endParaRPr lang="en-US" altLang="en-US" sz="1200"/>
          </a:p>
        </p:txBody>
      </p:sp>
      <p:sp>
        <p:nvSpPr>
          <p:cNvPr id="59395" name="Rectangle 2">
            <a:extLst>
              <a:ext uri="{FF2B5EF4-FFF2-40B4-BE49-F238E27FC236}">
                <a16:creationId xmlns:a16="http://schemas.microsoft.com/office/drawing/2014/main" id="{3473BE79-D7C9-4DF6-4CB2-1BB02A8C95BE}"/>
              </a:ext>
            </a:extLst>
          </p:cNvPr>
          <p:cNvSpPr>
            <a:spLocks noGrp="1" noChangeArrowheads="1"/>
          </p:cNvSpPr>
          <p:nvPr>
            <p:ph type="title"/>
          </p:nvPr>
        </p:nvSpPr>
        <p:spPr>
          <a:xfrm>
            <a:off x="0" y="228600"/>
            <a:ext cx="9144000" cy="685800"/>
          </a:xfrm>
        </p:spPr>
        <p:txBody>
          <a:bodyPr>
            <a:normAutofit fontScale="90000"/>
          </a:bodyPr>
          <a:lstStyle/>
          <a:p>
            <a:pPr eaLnBrk="1" hangingPunct="1"/>
            <a:r>
              <a:rPr lang="en-US" altLang="en-US" sz="3200"/>
              <a:t>Distance on Numeric Data: Minkowski Distance</a:t>
            </a:r>
          </a:p>
        </p:txBody>
      </p:sp>
      <p:sp>
        <p:nvSpPr>
          <p:cNvPr id="59396" name="Rectangle 3">
            <a:extLst>
              <a:ext uri="{FF2B5EF4-FFF2-40B4-BE49-F238E27FC236}">
                <a16:creationId xmlns:a16="http://schemas.microsoft.com/office/drawing/2014/main" id="{6BF0A73E-9F27-C5D0-2103-720EF8A2D50E}"/>
              </a:ext>
            </a:extLst>
          </p:cNvPr>
          <p:cNvSpPr>
            <a:spLocks noGrp="1" noChangeArrowheads="1"/>
          </p:cNvSpPr>
          <p:nvPr>
            <p:ph type="body" idx="1"/>
          </p:nvPr>
        </p:nvSpPr>
        <p:spPr>
          <a:xfrm>
            <a:off x="304800" y="1219200"/>
            <a:ext cx="8458200" cy="5029200"/>
          </a:xfrm>
        </p:spPr>
        <p:txBody>
          <a:bodyPr>
            <a:normAutofit fontScale="92500"/>
          </a:bodyPr>
          <a:lstStyle/>
          <a:p>
            <a:pPr marL="381000" indent="-381000" eaLnBrk="1" hangingPunct="1">
              <a:spcBef>
                <a:spcPts val="600"/>
              </a:spcBef>
              <a:spcAft>
                <a:spcPts val="600"/>
              </a:spcAft>
            </a:pPr>
            <a:r>
              <a:rPr lang="en-US" altLang="en-US" sz="2400" i="1">
                <a:solidFill>
                  <a:schemeClr val="hlink"/>
                </a:solidFill>
              </a:rPr>
              <a:t>Minkowski distance</a:t>
            </a:r>
            <a:r>
              <a:rPr lang="en-US" altLang="en-US" sz="2400"/>
              <a:t>: A popular distance measure</a:t>
            </a:r>
          </a:p>
          <a:p>
            <a:pPr marL="381000" indent="-381000" eaLnBrk="1" hangingPunct="1">
              <a:spcBef>
                <a:spcPts val="600"/>
              </a:spcBef>
              <a:spcAft>
                <a:spcPts val="600"/>
              </a:spcAft>
            </a:pPr>
            <a:endParaRPr lang="en-US" altLang="en-US" sz="2400"/>
          </a:p>
          <a:p>
            <a:pPr marL="838200" lvl="1" indent="-381000" eaLnBrk="1" hangingPunct="1">
              <a:spcBef>
                <a:spcPts val="600"/>
              </a:spcBef>
              <a:spcAft>
                <a:spcPts val="600"/>
              </a:spcAft>
              <a:buFont typeface="Wingdings" panose="05000000000000000000" pitchFamily="2" charset="2"/>
              <a:buNone/>
            </a:pPr>
            <a:endParaRPr lang="en-US" altLang="en-US" sz="2400"/>
          </a:p>
          <a:p>
            <a:pPr marL="838200" lvl="1" indent="-381000" eaLnBrk="1" hangingPunct="1">
              <a:spcBef>
                <a:spcPts val="600"/>
              </a:spcBef>
              <a:spcAft>
                <a:spcPts val="600"/>
              </a:spcAft>
              <a:buFont typeface="Wingdings" panose="05000000000000000000" pitchFamily="2" charset="2"/>
              <a:buNone/>
            </a:pPr>
            <a:r>
              <a:rPr lang="en-US" altLang="en-US" sz="2400"/>
              <a:t>where  </a:t>
            </a:r>
            <a:r>
              <a:rPr lang="en-US" altLang="en-US" sz="2400" i="1"/>
              <a:t>i</a:t>
            </a:r>
            <a:r>
              <a:rPr lang="en-US" altLang="en-US" sz="2400"/>
              <a:t> = (</a:t>
            </a:r>
            <a:r>
              <a:rPr lang="en-US" altLang="en-US" sz="2400" i="1"/>
              <a:t>x</a:t>
            </a:r>
            <a:r>
              <a:rPr lang="en-US" altLang="en-US" sz="2400" baseline="-25000"/>
              <a:t>i1</a:t>
            </a:r>
            <a:r>
              <a:rPr lang="en-US" altLang="en-US" sz="2400"/>
              <a:t>, </a:t>
            </a:r>
            <a:r>
              <a:rPr lang="en-US" altLang="en-US" sz="2400" i="1"/>
              <a:t>x</a:t>
            </a:r>
            <a:r>
              <a:rPr lang="en-US" altLang="en-US" sz="2400" baseline="-25000"/>
              <a:t>i2</a:t>
            </a:r>
            <a:r>
              <a:rPr lang="en-US" altLang="en-US" sz="2400"/>
              <a:t>, …, </a:t>
            </a:r>
            <a:r>
              <a:rPr lang="en-US" altLang="en-US" sz="2400" i="1"/>
              <a:t>x</a:t>
            </a:r>
            <a:r>
              <a:rPr lang="en-US" altLang="en-US" sz="2400" baseline="-25000"/>
              <a:t>ip</a:t>
            </a:r>
            <a:r>
              <a:rPr lang="en-US" altLang="en-US" sz="2400"/>
              <a:t>) and</a:t>
            </a:r>
            <a:r>
              <a:rPr lang="en-US" altLang="en-US" sz="2400" i="1"/>
              <a:t> j</a:t>
            </a:r>
            <a:r>
              <a:rPr lang="en-US" altLang="en-US" sz="2400"/>
              <a:t> = (</a:t>
            </a:r>
            <a:r>
              <a:rPr lang="en-US" altLang="en-US" sz="2400" i="1"/>
              <a:t>x</a:t>
            </a:r>
            <a:r>
              <a:rPr lang="en-US" altLang="en-US" sz="2400" baseline="-25000"/>
              <a:t>j1</a:t>
            </a:r>
            <a:r>
              <a:rPr lang="en-US" altLang="en-US" sz="2400"/>
              <a:t>, </a:t>
            </a:r>
            <a:r>
              <a:rPr lang="en-US" altLang="en-US" sz="2400" i="1"/>
              <a:t>x</a:t>
            </a:r>
            <a:r>
              <a:rPr lang="en-US" altLang="en-US" sz="2400" baseline="-25000"/>
              <a:t>j2</a:t>
            </a:r>
            <a:r>
              <a:rPr lang="en-US" altLang="en-US" sz="2400"/>
              <a:t>, …, </a:t>
            </a:r>
            <a:r>
              <a:rPr lang="en-US" altLang="en-US" sz="2400" i="1"/>
              <a:t>x</a:t>
            </a:r>
            <a:r>
              <a:rPr lang="en-US" altLang="en-US" sz="2400" baseline="-25000"/>
              <a:t>jp</a:t>
            </a:r>
            <a:r>
              <a:rPr lang="en-US" altLang="en-US" sz="2400"/>
              <a:t>) are two </a:t>
            </a:r>
            <a:r>
              <a:rPr lang="en-US" altLang="en-US" sz="2400" i="1"/>
              <a:t>p</a:t>
            </a:r>
            <a:r>
              <a:rPr lang="en-US" altLang="en-US" sz="2400"/>
              <a:t>-dimensional data objects, and </a:t>
            </a:r>
            <a:r>
              <a:rPr lang="en-US" altLang="en-US" sz="2400" i="1"/>
              <a:t>h</a:t>
            </a:r>
            <a:r>
              <a:rPr lang="en-US" altLang="en-US" sz="2400"/>
              <a:t> is the order (the distance so defined is also called L-</a:t>
            </a:r>
            <a:r>
              <a:rPr lang="en-US" altLang="en-US" sz="2400" i="1"/>
              <a:t>h</a:t>
            </a:r>
            <a:r>
              <a:rPr lang="en-US" altLang="en-US" sz="2400"/>
              <a:t> norm)</a:t>
            </a:r>
          </a:p>
          <a:p>
            <a:pPr marL="381000" indent="-381000" eaLnBrk="1" hangingPunct="1">
              <a:spcBef>
                <a:spcPts val="600"/>
              </a:spcBef>
              <a:spcAft>
                <a:spcPts val="600"/>
              </a:spcAft>
            </a:pPr>
            <a:r>
              <a:rPr lang="en-US" altLang="en-US" sz="2400"/>
              <a:t>Properties</a:t>
            </a:r>
          </a:p>
          <a:p>
            <a:pPr marL="838200" lvl="1" indent="-381000" eaLnBrk="1" hangingPunct="1">
              <a:spcBef>
                <a:spcPts val="600"/>
              </a:spcBef>
              <a:spcAft>
                <a:spcPts val="600"/>
              </a:spcAft>
            </a:pPr>
            <a:r>
              <a:rPr lang="en-US" altLang="en-US" sz="2400"/>
              <a:t>d(i, j) </a:t>
            </a:r>
            <a:r>
              <a:rPr lang="en-US" altLang="en-US" sz="2400">
                <a:sym typeface="Symbol" panose="05050102010706020507" pitchFamily="18" charset="2"/>
              </a:rPr>
              <a:t>&gt; 0 if i </a:t>
            </a:r>
            <a:r>
              <a:rPr lang="en-US" altLang="en-US" sz="2400">
                <a:cs typeface="Tahoma" panose="020B0604030504040204" pitchFamily="34" charset="0"/>
                <a:sym typeface="Symbol" panose="05050102010706020507" pitchFamily="18" charset="2"/>
              </a:rPr>
              <a:t>≠ j</a:t>
            </a:r>
            <a:r>
              <a:rPr lang="en-US" altLang="en-US" sz="2400">
                <a:cs typeface="Tahoma" panose="020B0604030504040204" pitchFamily="34" charset="0"/>
              </a:rPr>
              <a:t>, and </a:t>
            </a:r>
            <a:r>
              <a:rPr lang="en-US" altLang="en-US" sz="2400"/>
              <a:t>d(i, i) </a:t>
            </a:r>
            <a:r>
              <a:rPr lang="en-US" altLang="en-US" sz="2400">
                <a:sym typeface="Symbol" panose="05050102010706020507" pitchFamily="18" charset="2"/>
              </a:rPr>
              <a:t>= 0 </a:t>
            </a:r>
            <a:r>
              <a:rPr lang="en-US" altLang="en-US" sz="2400"/>
              <a:t>(Positive definiteness)</a:t>
            </a:r>
          </a:p>
          <a:p>
            <a:pPr marL="838200" lvl="1" indent="-381000" eaLnBrk="1" hangingPunct="1">
              <a:spcBef>
                <a:spcPts val="600"/>
              </a:spcBef>
              <a:spcAft>
                <a:spcPts val="600"/>
              </a:spcAft>
            </a:pPr>
            <a:r>
              <a:rPr lang="en-US" altLang="en-US" sz="2400"/>
              <a:t>d(i, j) </a:t>
            </a:r>
            <a:r>
              <a:rPr lang="en-US" altLang="en-US" sz="2400">
                <a:sym typeface="Symbol" panose="05050102010706020507" pitchFamily="18" charset="2"/>
              </a:rPr>
              <a:t>= </a:t>
            </a:r>
            <a:r>
              <a:rPr lang="en-US" altLang="en-US" sz="2400"/>
              <a:t>d(j, i)</a:t>
            </a:r>
            <a:r>
              <a:rPr lang="en-US" altLang="en-US" sz="2400" i="1"/>
              <a:t>  </a:t>
            </a:r>
            <a:r>
              <a:rPr lang="en-US" altLang="en-US" sz="2400"/>
              <a:t>(Symmetry)</a:t>
            </a:r>
          </a:p>
          <a:p>
            <a:pPr marL="838200" lvl="1" indent="-381000" eaLnBrk="1" hangingPunct="1">
              <a:spcBef>
                <a:spcPts val="600"/>
              </a:spcBef>
              <a:spcAft>
                <a:spcPts val="600"/>
              </a:spcAft>
            </a:pPr>
            <a:r>
              <a:rPr lang="en-US" altLang="en-US" sz="2400"/>
              <a:t>d(i, j) </a:t>
            </a:r>
            <a:r>
              <a:rPr lang="en-US" altLang="en-US" sz="2400">
                <a:sym typeface="Symbol" panose="05050102010706020507" pitchFamily="18" charset="2"/>
              </a:rPr>
              <a:t> </a:t>
            </a:r>
            <a:r>
              <a:rPr lang="en-US" altLang="en-US" sz="2400"/>
              <a:t>d(i, k) </a:t>
            </a:r>
            <a:r>
              <a:rPr lang="en-US" altLang="en-US" sz="2400">
                <a:sym typeface="Symbol" panose="05050102010706020507" pitchFamily="18" charset="2"/>
              </a:rPr>
              <a:t>+ </a:t>
            </a:r>
            <a:r>
              <a:rPr lang="en-US" altLang="en-US" sz="2400"/>
              <a:t>d(k, j)</a:t>
            </a:r>
            <a:r>
              <a:rPr lang="en-US" altLang="en-US" sz="2400" i="1"/>
              <a:t>  </a:t>
            </a:r>
            <a:r>
              <a:rPr lang="en-US" altLang="en-US" sz="2400"/>
              <a:t>(Triangle Inequality)</a:t>
            </a:r>
            <a:endParaRPr lang="en-US" altLang="en-US" sz="2400" i="1"/>
          </a:p>
          <a:p>
            <a:pPr marL="381000" indent="-381000" eaLnBrk="1" hangingPunct="1">
              <a:spcBef>
                <a:spcPts val="600"/>
              </a:spcBef>
              <a:spcAft>
                <a:spcPts val="600"/>
              </a:spcAft>
            </a:pPr>
            <a:r>
              <a:rPr lang="en-US" altLang="en-US" sz="2400"/>
              <a:t>A distance that satisfies these properties is a </a:t>
            </a:r>
            <a:r>
              <a:rPr lang="en-US" altLang="en-US" sz="2400">
                <a:solidFill>
                  <a:srgbClr val="FF0000"/>
                </a:solidFill>
              </a:rPr>
              <a:t>metric</a:t>
            </a:r>
          </a:p>
        </p:txBody>
      </p:sp>
      <p:pic>
        <p:nvPicPr>
          <p:cNvPr id="59397" name="Picture 7" descr="eqminkowski">
            <a:extLst>
              <a:ext uri="{FF2B5EF4-FFF2-40B4-BE49-F238E27FC236}">
                <a16:creationId xmlns:a16="http://schemas.microsoft.com/office/drawing/2014/main" id="{7ACCF795-2D90-243D-FA76-36F06EE4D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28800"/>
            <a:ext cx="6400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6">
            <a:extLst>
              <a:ext uri="{FF2B5EF4-FFF2-40B4-BE49-F238E27FC236}">
                <a16:creationId xmlns:a16="http://schemas.microsoft.com/office/drawing/2014/main" id="{E115529E-6D4C-6A80-9107-A797141EA04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788BCF4-BA1E-4FA6-AE48-C914895E5E47}" type="slidenum">
              <a:rPr lang="en-US" altLang="en-US" sz="1200"/>
              <a:pPr eaLnBrk="1" hangingPunct="1"/>
              <a:t>93</a:t>
            </a:fld>
            <a:endParaRPr lang="en-US" altLang="en-US" sz="1200"/>
          </a:p>
        </p:txBody>
      </p:sp>
      <p:sp>
        <p:nvSpPr>
          <p:cNvPr id="60419" name="Rectangle 2">
            <a:extLst>
              <a:ext uri="{FF2B5EF4-FFF2-40B4-BE49-F238E27FC236}">
                <a16:creationId xmlns:a16="http://schemas.microsoft.com/office/drawing/2014/main" id="{7A25657E-BFD0-4C09-71F3-43AC36FE5CE7}"/>
              </a:ext>
            </a:extLst>
          </p:cNvPr>
          <p:cNvSpPr>
            <a:spLocks noGrp="1" noChangeArrowheads="1"/>
          </p:cNvSpPr>
          <p:nvPr>
            <p:ph type="title"/>
          </p:nvPr>
        </p:nvSpPr>
        <p:spPr/>
        <p:txBody>
          <a:bodyPr/>
          <a:lstStyle/>
          <a:p>
            <a:pPr eaLnBrk="1" hangingPunct="1"/>
            <a:r>
              <a:rPr lang="en-US" altLang="en-US" sz="3200"/>
              <a:t>Special Cases of Minkowski Distance</a:t>
            </a:r>
            <a:endParaRPr lang="en-US" altLang="en-US"/>
          </a:p>
        </p:txBody>
      </p:sp>
      <p:sp>
        <p:nvSpPr>
          <p:cNvPr id="60420" name="Rectangle 3">
            <a:extLst>
              <a:ext uri="{FF2B5EF4-FFF2-40B4-BE49-F238E27FC236}">
                <a16:creationId xmlns:a16="http://schemas.microsoft.com/office/drawing/2014/main" id="{EB2B986C-2C19-D849-B251-235B214EDA91}"/>
              </a:ext>
            </a:extLst>
          </p:cNvPr>
          <p:cNvSpPr>
            <a:spLocks noGrp="1" noChangeArrowheads="1"/>
          </p:cNvSpPr>
          <p:nvPr>
            <p:ph type="body" sz="half" idx="1"/>
          </p:nvPr>
        </p:nvSpPr>
        <p:spPr>
          <a:xfrm>
            <a:off x="304800" y="1295400"/>
            <a:ext cx="8077200" cy="5181600"/>
          </a:xfrm>
        </p:spPr>
        <p:txBody>
          <a:bodyPr/>
          <a:lstStyle/>
          <a:p>
            <a:pPr eaLnBrk="1" hangingPunct="1"/>
            <a:r>
              <a:rPr lang="en-US" altLang="en-US" sz="2000" i="1">
                <a:latin typeface="Arial" panose="020B0604020202020204" pitchFamily="34" charset="0"/>
                <a:cs typeface="Times New Roman" panose="02020603050405020304" pitchFamily="18" charset="0"/>
              </a:rPr>
              <a:t>h</a:t>
            </a:r>
            <a:r>
              <a:rPr lang="en-US" altLang="en-US" sz="2000">
                <a:latin typeface="Arial" panose="020B0604020202020204" pitchFamily="34" charset="0"/>
                <a:cs typeface="Times New Roman" panose="02020603050405020304" pitchFamily="18" charset="0"/>
              </a:rPr>
              <a:t> = 1:  </a:t>
            </a:r>
            <a:r>
              <a:rPr lang="en-US" altLang="en-US" sz="2000">
                <a:solidFill>
                  <a:schemeClr val="hlink"/>
                </a:solidFill>
                <a:latin typeface="Arial" panose="020B0604020202020204" pitchFamily="34" charset="0"/>
                <a:cs typeface="Times New Roman" panose="02020603050405020304" pitchFamily="18" charset="0"/>
              </a:rPr>
              <a:t>Manhattan</a:t>
            </a:r>
            <a:r>
              <a:rPr lang="en-US" altLang="en-US" sz="2000">
                <a:latin typeface="Arial" panose="020B0604020202020204" pitchFamily="34" charset="0"/>
                <a:cs typeface="Times New Roman" panose="02020603050405020304" pitchFamily="18" charset="0"/>
              </a:rPr>
              <a:t> (city block, L</a:t>
            </a:r>
            <a:r>
              <a:rPr lang="en-US" altLang="en-US" sz="2000" baseline="-30000">
                <a:latin typeface="Arial" panose="020B0604020202020204" pitchFamily="34" charset="0"/>
                <a:cs typeface="Times New Roman" panose="02020603050405020304" pitchFamily="18" charset="0"/>
              </a:rPr>
              <a:t>1</a:t>
            </a:r>
            <a:r>
              <a:rPr lang="en-US" altLang="en-US" sz="2000">
                <a:latin typeface="Arial" panose="020B0604020202020204" pitchFamily="34" charset="0"/>
                <a:cs typeface="Times New Roman" panose="02020603050405020304" pitchFamily="18" charset="0"/>
              </a:rPr>
              <a:t> norm)</a:t>
            </a:r>
            <a:r>
              <a:rPr lang="en-US" altLang="en-US" sz="2000">
                <a:solidFill>
                  <a:schemeClr val="hlink"/>
                </a:solidFill>
                <a:latin typeface="Arial" panose="020B0604020202020204" pitchFamily="34" charset="0"/>
                <a:cs typeface="Times New Roman" panose="02020603050405020304" pitchFamily="18" charset="0"/>
              </a:rPr>
              <a:t> distance</a:t>
            </a:r>
            <a:r>
              <a:rPr lang="en-US" altLang="en-US" sz="2000">
                <a:latin typeface="Arial" panose="020B0604020202020204" pitchFamily="34" charset="0"/>
                <a:cs typeface="Times New Roman" panose="02020603050405020304" pitchFamily="18" charset="0"/>
              </a:rPr>
              <a:t> </a:t>
            </a:r>
          </a:p>
          <a:p>
            <a:pPr lvl="1" eaLnBrk="1" hangingPunct="1"/>
            <a:r>
              <a:rPr lang="en-US" altLang="en-US" sz="2000">
                <a:latin typeface="Arial" panose="020B0604020202020204" pitchFamily="34" charset="0"/>
                <a:cs typeface="Times New Roman" panose="02020603050405020304" pitchFamily="18" charset="0"/>
              </a:rPr>
              <a:t>E.g., the Hamming distance: the number of bits that are different between two binary vectors</a:t>
            </a:r>
          </a:p>
          <a:p>
            <a:pPr lvl="1" eaLnBrk="1" hangingPunct="1"/>
            <a:endParaRPr lang="en-US" altLang="en-US" sz="2000" b="1">
              <a:latin typeface="Arial" panose="020B0604020202020204" pitchFamily="34" charset="0"/>
              <a:cs typeface="Times New Roman" panose="02020603050405020304" pitchFamily="18" charset="0"/>
            </a:endParaRPr>
          </a:p>
          <a:p>
            <a:pPr eaLnBrk="1" hangingPunct="1"/>
            <a:endParaRPr lang="en-US" altLang="en-US" sz="2000" i="1">
              <a:latin typeface="Arial" panose="020B0604020202020204" pitchFamily="34" charset="0"/>
              <a:cs typeface="Times New Roman" panose="02020603050405020304" pitchFamily="18" charset="0"/>
            </a:endParaRPr>
          </a:p>
          <a:p>
            <a:pPr eaLnBrk="1" hangingPunct="1"/>
            <a:r>
              <a:rPr lang="en-US" altLang="en-US" sz="2000" i="1">
                <a:latin typeface="Arial" panose="020B0604020202020204" pitchFamily="34" charset="0"/>
                <a:cs typeface="Times New Roman" panose="02020603050405020304" pitchFamily="18" charset="0"/>
              </a:rPr>
              <a:t>h </a:t>
            </a:r>
            <a:r>
              <a:rPr lang="en-US" altLang="en-US" sz="2000">
                <a:latin typeface="Arial" panose="020B0604020202020204" pitchFamily="34" charset="0"/>
                <a:cs typeface="Times New Roman" panose="02020603050405020304" pitchFamily="18" charset="0"/>
              </a:rPr>
              <a:t>= 2:  (L</a:t>
            </a:r>
            <a:r>
              <a:rPr lang="en-US" altLang="en-US" sz="2000" baseline="-25000">
                <a:latin typeface="Arial" panose="020B0604020202020204" pitchFamily="34" charset="0"/>
                <a:cs typeface="Times New Roman" panose="02020603050405020304" pitchFamily="18" charset="0"/>
              </a:rPr>
              <a:t>2</a:t>
            </a:r>
            <a:r>
              <a:rPr lang="en-US" altLang="en-US" sz="2000">
                <a:latin typeface="Arial" panose="020B0604020202020204" pitchFamily="34" charset="0"/>
                <a:cs typeface="Times New Roman" panose="02020603050405020304" pitchFamily="18" charset="0"/>
              </a:rPr>
              <a:t> norm) </a:t>
            </a:r>
            <a:r>
              <a:rPr lang="en-US" altLang="en-US" sz="2000">
                <a:solidFill>
                  <a:schemeClr val="hlink"/>
                </a:solidFill>
                <a:latin typeface="Arial" panose="020B0604020202020204" pitchFamily="34" charset="0"/>
                <a:cs typeface="Times New Roman" panose="02020603050405020304" pitchFamily="18" charset="0"/>
              </a:rPr>
              <a:t>Euclidean</a:t>
            </a:r>
            <a:r>
              <a:rPr lang="en-US" altLang="en-US" sz="2000">
                <a:latin typeface="Arial" panose="020B0604020202020204" pitchFamily="34" charset="0"/>
                <a:cs typeface="Times New Roman" panose="02020603050405020304" pitchFamily="18" charset="0"/>
              </a:rPr>
              <a:t> distance</a:t>
            </a:r>
          </a:p>
          <a:p>
            <a:pPr lvl="4" eaLnBrk="1" hangingPunct="1"/>
            <a:endParaRPr lang="en-US" altLang="en-US">
              <a:latin typeface="Arial" panose="020B0604020202020204" pitchFamily="34" charset="0"/>
              <a:cs typeface="Times New Roman" panose="02020603050405020304" pitchFamily="18" charset="0"/>
            </a:endParaRPr>
          </a:p>
          <a:p>
            <a:pPr eaLnBrk="1" hangingPunct="1"/>
            <a:endParaRPr lang="en-US" altLang="en-US" sz="2000" i="1">
              <a:latin typeface="Arial" panose="020B0604020202020204" pitchFamily="34" charset="0"/>
              <a:cs typeface="Times New Roman" panose="02020603050405020304" pitchFamily="18" charset="0"/>
            </a:endParaRPr>
          </a:p>
          <a:p>
            <a:pPr eaLnBrk="1" hangingPunct="1"/>
            <a:r>
              <a:rPr lang="en-US" altLang="en-US" sz="2000" i="1">
                <a:latin typeface="Arial" panose="020B0604020202020204" pitchFamily="34" charset="0"/>
                <a:cs typeface="Times New Roman" panose="02020603050405020304" pitchFamily="18" charset="0"/>
              </a:rPr>
              <a:t>h </a:t>
            </a:r>
            <a:r>
              <a:rPr lang="en-US" altLang="en-US" sz="2000">
                <a:latin typeface="Arial" panose="020B0604020202020204" pitchFamily="34" charset="0"/>
                <a:cs typeface="Times New Roman" panose="02020603050405020304" pitchFamily="18" charset="0"/>
                <a:sym typeface="Symbol" panose="05050102010706020507" pitchFamily="18" charset="2"/>
              </a:rPr>
              <a:t></a:t>
            </a:r>
            <a:r>
              <a:rPr lang="en-US" altLang="en-US" sz="2000">
                <a:latin typeface="Arial" panose="020B0604020202020204" pitchFamily="34" charset="0"/>
                <a:cs typeface="Times New Roman" panose="02020603050405020304" pitchFamily="18" charset="0"/>
              </a:rPr>
              <a:t> </a:t>
            </a:r>
            <a:r>
              <a:rPr lang="en-US" altLang="en-US" sz="2000">
                <a:latin typeface="Arial" panose="020B0604020202020204" pitchFamily="34" charset="0"/>
                <a:cs typeface="Times New Roman" panose="02020603050405020304" pitchFamily="18" charset="0"/>
                <a:sym typeface="Symbol" panose="05050102010706020507" pitchFamily="18" charset="2"/>
              </a:rPr>
              <a:t></a:t>
            </a:r>
            <a:r>
              <a:rPr lang="en-US" altLang="en-US" sz="2000">
                <a:latin typeface="Arial" panose="020B0604020202020204" pitchFamily="34" charset="0"/>
                <a:cs typeface="Times New Roman" panose="02020603050405020304" pitchFamily="18" charset="0"/>
              </a:rPr>
              <a:t>.  </a:t>
            </a:r>
            <a:r>
              <a:rPr lang="en-US" altLang="en-US" sz="2000">
                <a:solidFill>
                  <a:schemeClr val="hlink"/>
                </a:solidFill>
                <a:latin typeface="Arial" panose="020B0604020202020204" pitchFamily="34" charset="0"/>
                <a:cs typeface="Times New Roman" panose="02020603050405020304" pitchFamily="18" charset="0"/>
              </a:rPr>
              <a:t>“supremum”</a:t>
            </a:r>
            <a:r>
              <a:rPr lang="en-US" altLang="en-US" sz="2000">
                <a:latin typeface="Arial" panose="020B0604020202020204" pitchFamily="34" charset="0"/>
                <a:cs typeface="Times New Roman" panose="02020603050405020304" pitchFamily="18" charset="0"/>
              </a:rPr>
              <a:t> (L</a:t>
            </a:r>
            <a:r>
              <a:rPr lang="en-US" altLang="en-US" sz="2000" baseline="-30000">
                <a:latin typeface="Arial" panose="020B0604020202020204" pitchFamily="34" charset="0"/>
                <a:cs typeface="Times New Roman" panose="02020603050405020304" pitchFamily="18" charset="0"/>
              </a:rPr>
              <a:t>max </a:t>
            </a:r>
            <a:r>
              <a:rPr lang="en-US" altLang="en-US" sz="2000">
                <a:latin typeface="Arial" panose="020B0604020202020204" pitchFamily="34" charset="0"/>
                <a:cs typeface="Times New Roman" panose="02020603050405020304" pitchFamily="18" charset="0"/>
              </a:rPr>
              <a:t>norm, L</a:t>
            </a:r>
            <a:r>
              <a:rPr lang="en-US" altLang="en-US" sz="2000" baseline="-30000">
                <a:latin typeface="Arial" panose="020B0604020202020204" pitchFamily="34" charset="0"/>
                <a:cs typeface="Times New Roman" panose="02020603050405020304" pitchFamily="18" charset="0"/>
                <a:sym typeface="Symbol" panose="05050102010706020507" pitchFamily="18" charset="2"/>
              </a:rPr>
              <a:t></a:t>
            </a:r>
            <a:r>
              <a:rPr lang="en-US" altLang="en-US" sz="2000" baseline="-30000">
                <a:latin typeface="Arial" panose="020B0604020202020204" pitchFamily="34" charset="0"/>
                <a:cs typeface="Times New Roman" panose="02020603050405020304" pitchFamily="18" charset="0"/>
              </a:rPr>
              <a:t> </a:t>
            </a:r>
            <a:r>
              <a:rPr lang="en-US" altLang="en-US" sz="2000">
                <a:latin typeface="Arial" panose="020B0604020202020204" pitchFamily="34" charset="0"/>
                <a:cs typeface="Times New Roman" panose="02020603050405020304" pitchFamily="18" charset="0"/>
              </a:rPr>
              <a:t>norm) distance. </a:t>
            </a:r>
          </a:p>
          <a:p>
            <a:pPr lvl="1" eaLnBrk="1" hangingPunct="1"/>
            <a:r>
              <a:rPr lang="en-US" altLang="en-US" sz="2000">
                <a:latin typeface="Arial" panose="020B0604020202020204" pitchFamily="34" charset="0"/>
                <a:cs typeface="Times New Roman" panose="02020603050405020304" pitchFamily="18" charset="0"/>
              </a:rPr>
              <a:t>This is the maximum difference between any component (attribute) of the vectors</a:t>
            </a:r>
          </a:p>
          <a:p>
            <a:pPr lvl="1" eaLnBrk="1" hangingPunct="1"/>
            <a:endParaRPr lang="en-US" altLang="en-US" sz="2000">
              <a:latin typeface="Arial" panose="020B0604020202020204" pitchFamily="34" charset="0"/>
              <a:cs typeface="Times New Roman" panose="02020603050405020304" pitchFamily="18" charset="0"/>
            </a:endParaRPr>
          </a:p>
        </p:txBody>
      </p:sp>
      <p:graphicFrame>
        <p:nvGraphicFramePr>
          <p:cNvPr id="60421" name="Object 4">
            <a:extLst>
              <a:ext uri="{FF2B5EF4-FFF2-40B4-BE49-F238E27FC236}">
                <a16:creationId xmlns:a16="http://schemas.microsoft.com/office/drawing/2014/main" id="{25A50ABF-3ED3-36DA-33C0-4EEE46310901}"/>
              </a:ext>
            </a:extLst>
          </p:cNvPr>
          <p:cNvGraphicFramePr>
            <a:graphicFrameLocks noChangeAspect="1"/>
          </p:cNvGraphicFramePr>
          <p:nvPr/>
        </p:nvGraphicFramePr>
        <p:xfrm>
          <a:off x="2063750" y="3455988"/>
          <a:ext cx="5005388" cy="582612"/>
        </p:xfrm>
        <a:graphic>
          <a:graphicData uri="http://schemas.openxmlformats.org/presentationml/2006/ole">
            <mc:AlternateContent xmlns:mc="http://schemas.openxmlformats.org/markup-compatibility/2006">
              <mc:Choice xmlns:v="urn:schemas-microsoft-com:vml" Requires="v">
                <p:oleObj name="Equation" r:id="rId3" imgW="5003800" imgH="584200" progId="Equation.3">
                  <p:embed/>
                </p:oleObj>
              </mc:Choice>
              <mc:Fallback>
                <p:oleObj name="Equation" r:id="rId3" imgW="5003800" imgH="584200" progId="Equation.3">
                  <p:embed/>
                  <p:pic>
                    <p:nvPicPr>
                      <p:cNvPr id="60421" name="Object 4">
                        <a:extLst>
                          <a:ext uri="{FF2B5EF4-FFF2-40B4-BE49-F238E27FC236}">
                            <a16:creationId xmlns:a16="http://schemas.microsoft.com/office/drawing/2014/main" id="{25A50ABF-3ED3-36DA-33C0-4EEE463109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3455988"/>
                        <a:ext cx="5005388"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2" name="Object 5">
            <a:extLst>
              <a:ext uri="{FF2B5EF4-FFF2-40B4-BE49-F238E27FC236}">
                <a16:creationId xmlns:a16="http://schemas.microsoft.com/office/drawing/2014/main" id="{20B399FC-66A7-D96D-279C-EFC0F1482529}"/>
              </a:ext>
            </a:extLst>
          </p:cNvPr>
          <p:cNvGraphicFramePr>
            <a:graphicFrameLocks noGrp="1" noChangeAspect="1"/>
          </p:cNvGraphicFramePr>
          <p:nvPr>
            <p:ph sz="half" idx="2"/>
          </p:nvPr>
        </p:nvGraphicFramePr>
        <p:xfrm>
          <a:off x="2438400" y="2514600"/>
          <a:ext cx="4114800" cy="414338"/>
        </p:xfrm>
        <a:graphic>
          <a:graphicData uri="http://schemas.openxmlformats.org/presentationml/2006/ole">
            <mc:AlternateContent xmlns:mc="http://schemas.openxmlformats.org/markup-compatibility/2006">
              <mc:Choice xmlns:v="urn:schemas-microsoft-com:vml" Requires="v">
                <p:oleObj name="Microsoft Equation 3.0" r:id="rId5" imgW="4292600" imgH="431800" progId="Equation.3">
                  <p:embed/>
                </p:oleObj>
              </mc:Choice>
              <mc:Fallback>
                <p:oleObj name="Microsoft Equation 3.0" r:id="rId5" imgW="4292600" imgH="431800" progId="Equation.3">
                  <p:embed/>
                  <p:pic>
                    <p:nvPicPr>
                      <p:cNvPr id="60422" name="Object 5">
                        <a:extLst>
                          <a:ext uri="{FF2B5EF4-FFF2-40B4-BE49-F238E27FC236}">
                            <a16:creationId xmlns:a16="http://schemas.microsoft.com/office/drawing/2014/main" id="{20B399FC-66A7-D96D-279C-EFC0F14825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514600"/>
                        <a:ext cx="4114800" cy="414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0423" name="Picture 10">
            <a:extLst>
              <a:ext uri="{FF2B5EF4-FFF2-40B4-BE49-F238E27FC236}">
                <a16:creationId xmlns:a16="http://schemas.microsoft.com/office/drawing/2014/main" id="{F0F70993-D881-4D03-9F53-13A645EF70C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0200" y="5410200"/>
            <a:ext cx="60198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1B702A91-F739-92EA-37CB-C41740A166B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280C098-86A5-4B0A-9F00-2D346D64482C}" type="slidenum">
              <a:rPr lang="en-US" altLang="en-US" sz="1200"/>
              <a:pPr eaLnBrk="1" hangingPunct="1"/>
              <a:t>94</a:t>
            </a:fld>
            <a:endParaRPr lang="en-US" altLang="en-US" sz="1200"/>
          </a:p>
        </p:txBody>
      </p:sp>
      <p:sp>
        <p:nvSpPr>
          <p:cNvPr id="61443" name="Rectangle 2">
            <a:extLst>
              <a:ext uri="{FF2B5EF4-FFF2-40B4-BE49-F238E27FC236}">
                <a16:creationId xmlns:a16="http://schemas.microsoft.com/office/drawing/2014/main" id="{43C1531E-4291-064F-AB6C-8C2F7A05FEE9}"/>
              </a:ext>
            </a:extLst>
          </p:cNvPr>
          <p:cNvSpPr>
            <a:spLocks noGrp="1" noChangeArrowheads="1"/>
          </p:cNvSpPr>
          <p:nvPr>
            <p:ph type="title"/>
          </p:nvPr>
        </p:nvSpPr>
        <p:spPr/>
        <p:txBody>
          <a:bodyPr/>
          <a:lstStyle/>
          <a:p>
            <a:pPr eaLnBrk="1" hangingPunct="1"/>
            <a:r>
              <a:rPr lang="en-US" altLang="en-US"/>
              <a:t>Example: Minkowski Distance</a:t>
            </a:r>
          </a:p>
        </p:txBody>
      </p:sp>
      <p:sp>
        <p:nvSpPr>
          <p:cNvPr id="61444" name="Text Box 3">
            <a:extLst>
              <a:ext uri="{FF2B5EF4-FFF2-40B4-BE49-F238E27FC236}">
                <a16:creationId xmlns:a16="http://schemas.microsoft.com/office/drawing/2014/main" id="{5809D61C-93DE-A482-248D-285183ED5650}"/>
              </a:ext>
            </a:extLst>
          </p:cNvPr>
          <p:cNvSpPr txBox="1">
            <a:spLocks noChangeArrowheads="1"/>
          </p:cNvSpPr>
          <p:nvPr/>
        </p:nvSpPr>
        <p:spPr bwMode="auto">
          <a:xfrm>
            <a:off x="5334000" y="838200"/>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en-US" altLang="en-US" sz="2000" b="1">
                <a:latin typeface="Arial" panose="020B0604020202020204" pitchFamily="34" charset="0"/>
              </a:rPr>
              <a:t>Dissimilarity Matrices</a:t>
            </a:r>
          </a:p>
        </p:txBody>
      </p:sp>
      <p:graphicFrame>
        <p:nvGraphicFramePr>
          <p:cNvPr id="61445" name="Object 4">
            <a:extLst>
              <a:ext uri="{FF2B5EF4-FFF2-40B4-BE49-F238E27FC236}">
                <a16:creationId xmlns:a16="http://schemas.microsoft.com/office/drawing/2014/main" id="{741D4286-2A3F-95C7-4385-85844D57A18D}"/>
              </a:ext>
            </a:extLst>
          </p:cNvPr>
          <p:cNvGraphicFramePr>
            <a:graphicFrameLocks noChangeAspect="1"/>
          </p:cNvGraphicFramePr>
          <p:nvPr/>
        </p:nvGraphicFramePr>
        <p:xfrm>
          <a:off x="304800" y="1219200"/>
          <a:ext cx="2962275" cy="1363663"/>
        </p:xfrm>
        <a:graphic>
          <a:graphicData uri="http://schemas.openxmlformats.org/presentationml/2006/ole">
            <mc:AlternateContent xmlns:mc="http://schemas.openxmlformats.org/markup-compatibility/2006">
              <mc:Choice xmlns:v="urn:schemas-microsoft-com:vml" Requires="v">
                <p:oleObj name="Worksheet" r:id="rId3" imgW="1838249" imgH="819302" progId="Excel.Sheet.8">
                  <p:embed/>
                </p:oleObj>
              </mc:Choice>
              <mc:Fallback>
                <p:oleObj name="Worksheet" r:id="rId3" imgW="1838249" imgH="819302" progId="Excel.Sheet.8">
                  <p:embed/>
                  <p:pic>
                    <p:nvPicPr>
                      <p:cNvPr id="61445" name="Object 4">
                        <a:extLst>
                          <a:ext uri="{FF2B5EF4-FFF2-40B4-BE49-F238E27FC236}">
                            <a16:creationId xmlns:a16="http://schemas.microsoft.com/office/drawing/2014/main" id="{741D4286-2A3F-95C7-4385-85844D57A1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19200"/>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6" name="Object 5">
            <a:extLst>
              <a:ext uri="{FF2B5EF4-FFF2-40B4-BE49-F238E27FC236}">
                <a16:creationId xmlns:a16="http://schemas.microsoft.com/office/drawing/2014/main" id="{9DF8B742-C444-E855-B510-F0691F99E900}"/>
              </a:ext>
            </a:extLst>
          </p:cNvPr>
          <p:cNvGraphicFramePr>
            <a:graphicFrameLocks noChangeAspect="1"/>
          </p:cNvGraphicFramePr>
          <p:nvPr/>
        </p:nvGraphicFramePr>
        <p:xfrm>
          <a:off x="3810000" y="1600200"/>
          <a:ext cx="4948238" cy="1320800"/>
        </p:xfrm>
        <a:graphic>
          <a:graphicData uri="http://schemas.openxmlformats.org/presentationml/2006/ole">
            <mc:AlternateContent xmlns:mc="http://schemas.openxmlformats.org/markup-compatibility/2006">
              <mc:Choice xmlns:v="urn:schemas-microsoft-com:vml" Requires="v">
                <p:oleObj name="Worksheet" r:id="rId5" imgW="3057449" imgH="819302" progId="Excel.Sheet.8">
                  <p:embed/>
                </p:oleObj>
              </mc:Choice>
              <mc:Fallback>
                <p:oleObj name="Worksheet" r:id="rId5" imgW="3057449" imgH="819302" progId="Excel.Sheet.8">
                  <p:embed/>
                  <p:pic>
                    <p:nvPicPr>
                      <p:cNvPr id="61446" name="Object 5">
                        <a:extLst>
                          <a:ext uri="{FF2B5EF4-FFF2-40B4-BE49-F238E27FC236}">
                            <a16:creationId xmlns:a16="http://schemas.microsoft.com/office/drawing/2014/main" id="{9DF8B742-C444-E855-B510-F0691F99E9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6002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7" name="Object 6">
            <a:extLst>
              <a:ext uri="{FF2B5EF4-FFF2-40B4-BE49-F238E27FC236}">
                <a16:creationId xmlns:a16="http://schemas.microsoft.com/office/drawing/2014/main" id="{598777D0-CA6E-A7AF-A76A-012B5E74B8F4}"/>
              </a:ext>
            </a:extLst>
          </p:cNvPr>
          <p:cNvGraphicFramePr>
            <a:graphicFrameLocks noChangeAspect="1"/>
          </p:cNvGraphicFramePr>
          <p:nvPr/>
        </p:nvGraphicFramePr>
        <p:xfrm>
          <a:off x="3810000" y="3429000"/>
          <a:ext cx="4948238" cy="1320800"/>
        </p:xfrm>
        <a:graphic>
          <a:graphicData uri="http://schemas.openxmlformats.org/presentationml/2006/ole">
            <mc:AlternateContent xmlns:mc="http://schemas.openxmlformats.org/markup-compatibility/2006">
              <mc:Choice xmlns:v="urn:schemas-microsoft-com:vml" Requires="v">
                <p:oleObj name="Worksheet" r:id="rId7" imgW="3057449" imgH="819302" progId="Excel.Sheet.8">
                  <p:embed/>
                </p:oleObj>
              </mc:Choice>
              <mc:Fallback>
                <p:oleObj name="Worksheet" r:id="rId7" imgW="3057449" imgH="819302" progId="Excel.Sheet.8">
                  <p:embed/>
                  <p:pic>
                    <p:nvPicPr>
                      <p:cNvPr id="61447" name="Object 6">
                        <a:extLst>
                          <a:ext uri="{FF2B5EF4-FFF2-40B4-BE49-F238E27FC236}">
                            <a16:creationId xmlns:a16="http://schemas.microsoft.com/office/drawing/2014/main" id="{598777D0-CA6E-A7AF-A76A-012B5E74B8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3429000"/>
                        <a:ext cx="4948238"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48" name="Object 7">
            <a:extLst>
              <a:ext uri="{FF2B5EF4-FFF2-40B4-BE49-F238E27FC236}">
                <a16:creationId xmlns:a16="http://schemas.microsoft.com/office/drawing/2014/main" id="{941EB65B-7018-D900-62B6-66AD37BF0E5A}"/>
              </a:ext>
            </a:extLst>
          </p:cNvPr>
          <p:cNvGraphicFramePr>
            <a:graphicFrameLocks noChangeAspect="1"/>
          </p:cNvGraphicFramePr>
          <p:nvPr/>
        </p:nvGraphicFramePr>
        <p:xfrm>
          <a:off x="3810000" y="5254625"/>
          <a:ext cx="4872038" cy="1374775"/>
        </p:xfrm>
        <a:graphic>
          <a:graphicData uri="http://schemas.openxmlformats.org/presentationml/2006/ole">
            <mc:AlternateContent xmlns:mc="http://schemas.openxmlformats.org/markup-compatibility/2006">
              <mc:Choice xmlns:v="urn:schemas-microsoft-com:vml" Requires="v">
                <p:oleObj name="Worksheet" r:id="rId9" imgW="3057449" imgH="838200" progId="Excel.Sheet.8">
                  <p:embed/>
                </p:oleObj>
              </mc:Choice>
              <mc:Fallback>
                <p:oleObj name="Worksheet" r:id="rId9" imgW="3057449" imgH="838200" progId="Excel.Sheet.8">
                  <p:embed/>
                  <p:pic>
                    <p:nvPicPr>
                      <p:cNvPr id="61448" name="Object 7">
                        <a:extLst>
                          <a:ext uri="{FF2B5EF4-FFF2-40B4-BE49-F238E27FC236}">
                            <a16:creationId xmlns:a16="http://schemas.microsoft.com/office/drawing/2014/main" id="{941EB65B-7018-D900-62B6-66AD37BF0E5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0" y="5254625"/>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49" name="Rectangle 16">
            <a:extLst>
              <a:ext uri="{FF2B5EF4-FFF2-40B4-BE49-F238E27FC236}">
                <a16:creationId xmlns:a16="http://schemas.microsoft.com/office/drawing/2014/main" id="{E23DD666-99DD-58BE-74B2-5A1B95BA7BFE}"/>
              </a:ext>
            </a:extLst>
          </p:cNvPr>
          <p:cNvSpPr>
            <a:spLocks noChangeArrowheads="1"/>
          </p:cNvSpPr>
          <p:nvPr/>
        </p:nvSpPr>
        <p:spPr bwMode="auto">
          <a:xfrm>
            <a:off x="3595688" y="1066800"/>
            <a:ext cx="2576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t>Manhattan (L</a:t>
            </a:r>
            <a:r>
              <a:rPr lang="en-US" altLang="en-US" b="1" baseline="-25000"/>
              <a:t>1</a:t>
            </a:r>
            <a:r>
              <a:rPr lang="en-US" altLang="en-US" b="1"/>
              <a:t>)</a:t>
            </a:r>
          </a:p>
        </p:txBody>
      </p:sp>
      <p:sp>
        <p:nvSpPr>
          <p:cNvPr id="61450" name="Rectangle 17">
            <a:extLst>
              <a:ext uri="{FF2B5EF4-FFF2-40B4-BE49-F238E27FC236}">
                <a16:creationId xmlns:a16="http://schemas.microsoft.com/office/drawing/2014/main" id="{A928D6E5-6E39-47B6-11A9-C5DCBF294636}"/>
              </a:ext>
            </a:extLst>
          </p:cNvPr>
          <p:cNvSpPr>
            <a:spLocks noChangeArrowheads="1"/>
          </p:cNvSpPr>
          <p:nvPr/>
        </p:nvSpPr>
        <p:spPr bwMode="auto">
          <a:xfrm>
            <a:off x="3581400" y="2895600"/>
            <a:ext cx="2332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t>Euclidean (L</a:t>
            </a:r>
            <a:r>
              <a:rPr lang="en-US" altLang="en-US" b="1" baseline="-25000"/>
              <a:t>2</a:t>
            </a:r>
            <a:r>
              <a:rPr lang="en-US" altLang="en-US" b="1"/>
              <a:t>)</a:t>
            </a:r>
          </a:p>
        </p:txBody>
      </p:sp>
      <p:sp>
        <p:nvSpPr>
          <p:cNvPr id="61451" name="Rectangle 18">
            <a:extLst>
              <a:ext uri="{FF2B5EF4-FFF2-40B4-BE49-F238E27FC236}">
                <a16:creationId xmlns:a16="http://schemas.microsoft.com/office/drawing/2014/main" id="{E6B4A554-7620-82E5-26E3-51AEEDF8F2A6}"/>
              </a:ext>
            </a:extLst>
          </p:cNvPr>
          <p:cNvSpPr>
            <a:spLocks noChangeArrowheads="1"/>
          </p:cNvSpPr>
          <p:nvPr/>
        </p:nvSpPr>
        <p:spPr bwMode="auto">
          <a:xfrm>
            <a:off x="3657600" y="4800600"/>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b="1"/>
              <a:t>Supremum </a:t>
            </a:r>
          </a:p>
        </p:txBody>
      </p:sp>
      <p:graphicFrame>
        <p:nvGraphicFramePr>
          <p:cNvPr id="61452" name="Object 19">
            <a:extLst>
              <a:ext uri="{FF2B5EF4-FFF2-40B4-BE49-F238E27FC236}">
                <a16:creationId xmlns:a16="http://schemas.microsoft.com/office/drawing/2014/main" id="{697AE620-2AAF-41F6-9D78-77DCDFF6F07D}"/>
              </a:ext>
            </a:extLst>
          </p:cNvPr>
          <p:cNvGraphicFramePr>
            <a:graphicFrameLocks noChangeAspect="1"/>
          </p:cNvGraphicFramePr>
          <p:nvPr/>
        </p:nvGraphicFramePr>
        <p:xfrm>
          <a:off x="265113" y="2819400"/>
          <a:ext cx="3006725" cy="3810000"/>
        </p:xfrm>
        <a:graphic>
          <a:graphicData uri="http://schemas.openxmlformats.org/presentationml/2006/ole">
            <mc:AlternateContent xmlns:mc="http://schemas.openxmlformats.org/markup-compatibility/2006">
              <mc:Choice xmlns:v="urn:schemas-microsoft-com:vml" Requires="v">
                <p:oleObj name="SmartDraw" r:id="rId11" imgW="4379976" imgH="5551932" progId="SmartDraw.2">
                  <p:embed/>
                </p:oleObj>
              </mc:Choice>
              <mc:Fallback>
                <p:oleObj name="SmartDraw" r:id="rId11" imgW="4379976" imgH="5551932" progId="SmartDraw.2">
                  <p:embed/>
                  <p:pic>
                    <p:nvPicPr>
                      <p:cNvPr id="61452" name="Object 19">
                        <a:extLst>
                          <a:ext uri="{FF2B5EF4-FFF2-40B4-BE49-F238E27FC236}">
                            <a16:creationId xmlns:a16="http://schemas.microsoft.com/office/drawing/2014/main" id="{697AE620-2AAF-41F6-9D78-77DCDFF6F07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113" y="2819400"/>
                        <a:ext cx="3006725"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ECC6E8BB-50C6-42E8-1DC7-D25E3E597CB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D7AB8D5-6CE8-4FE7-A67C-78637055D31C}" type="slidenum">
              <a:rPr lang="en-US" altLang="en-US" sz="1200"/>
              <a:pPr eaLnBrk="1" hangingPunct="1"/>
              <a:t>95</a:t>
            </a:fld>
            <a:endParaRPr lang="en-US" altLang="en-US" sz="1200"/>
          </a:p>
        </p:txBody>
      </p:sp>
      <p:sp>
        <p:nvSpPr>
          <p:cNvPr id="62467" name="Rectangle 2">
            <a:extLst>
              <a:ext uri="{FF2B5EF4-FFF2-40B4-BE49-F238E27FC236}">
                <a16:creationId xmlns:a16="http://schemas.microsoft.com/office/drawing/2014/main" id="{A141A64B-83DA-6851-0842-27BAD7858B9A}"/>
              </a:ext>
            </a:extLst>
          </p:cNvPr>
          <p:cNvSpPr>
            <a:spLocks noGrp="1" noChangeArrowheads="1"/>
          </p:cNvSpPr>
          <p:nvPr>
            <p:ph type="title"/>
          </p:nvPr>
        </p:nvSpPr>
        <p:spPr>
          <a:xfrm>
            <a:off x="1371600" y="457200"/>
            <a:ext cx="6553200" cy="630238"/>
          </a:xfrm>
          <a:noFill/>
        </p:spPr>
        <p:txBody>
          <a:bodyPr lIns="92075" tIns="46038" rIns="92075" bIns="46038" anchor="ctr"/>
          <a:lstStyle/>
          <a:p>
            <a:pPr eaLnBrk="1" hangingPunct="1"/>
            <a:r>
              <a:rPr lang="en-US" altLang="en-US" sz="3200">
                <a:solidFill>
                  <a:srgbClr val="170981"/>
                </a:solidFill>
              </a:rPr>
              <a:t>Ordinal Variables</a:t>
            </a:r>
          </a:p>
        </p:txBody>
      </p:sp>
      <p:sp>
        <p:nvSpPr>
          <p:cNvPr id="62468" name="Rectangle 3">
            <a:extLst>
              <a:ext uri="{FF2B5EF4-FFF2-40B4-BE49-F238E27FC236}">
                <a16:creationId xmlns:a16="http://schemas.microsoft.com/office/drawing/2014/main" id="{692F6520-637A-EE56-C864-2DA9F8A77623}"/>
              </a:ext>
            </a:extLst>
          </p:cNvPr>
          <p:cNvSpPr>
            <a:spLocks noGrp="1" noChangeArrowheads="1"/>
          </p:cNvSpPr>
          <p:nvPr>
            <p:ph type="body" idx="1"/>
          </p:nvPr>
        </p:nvSpPr>
        <p:spPr>
          <a:xfrm>
            <a:off x="228600" y="1524000"/>
            <a:ext cx="8458200" cy="4800600"/>
          </a:xfrm>
          <a:noFill/>
        </p:spPr>
        <p:txBody>
          <a:bodyPr lIns="92075" tIns="46038" rIns="92075" bIns="46038"/>
          <a:lstStyle/>
          <a:p>
            <a:pPr eaLnBrk="1" hangingPunct="1">
              <a:lnSpc>
                <a:spcPct val="110000"/>
              </a:lnSpc>
            </a:pPr>
            <a:r>
              <a:rPr lang="en-US" altLang="en-US" sz="2400"/>
              <a:t>An ordinal variable can be discrete or continuous</a:t>
            </a:r>
          </a:p>
          <a:p>
            <a:pPr eaLnBrk="1" hangingPunct="1">
              <a:lnSpc>
                <a:spcPct val="110000"/>
              </a:lnSpc>
            </a:pPr>
            <a:r>
              <a:rPr lang="en-US" altLang="en-US" sz="2400"/>
              <a:t>Order is important, e.g., rank</a:t>
            </a:r>
          </a:p>
          <a:p>
            <a:pPr eaLnBrk="1" hangingPunct="1">
              <a:lnSpc>
                <a:spcPct val="110000"/>
              </a:lnSpc>
            </a:pPr>
            <a:r>
              <a:rPr lang="en-US" altLang="en-US" sz="2400"/>
              <a:t>Can be treated like interval-scaled </a:t>
            </a:r>
          </a:p>
          <a:p>
            <a:pPr lvl="1" eaLnBrk="1" hangingPunct="1">
              <a:lnSpc>
                <a:spcPct val="110000"/>
              </a:lnSpc>
            </a:pPr>
            <a:r>
              <a:rPr lang="en-US" altLang="en-US" sz="2400"/>
              <a:t>replace </a:t>
            </a:r>
            <a:r>
              <a:rPr lang="en-US" altLang="en-US" sz="2400" i="1"/>
              <a:t>x</a:t>
            </a:r>
            <a:r>
              <a:rPr lang="en-US" altLang="en-US" sz="2400" i="1" baseline="-25000"/>
              <a:t>if</a:t>
            </a:r>
            <a:r>
              <a:rPr lang="en-US" altLang="en-US" sz="2400" baseline="-25000"/>
              <a:t> </a:t>
            </a:r>
            <a:r>
              <a:rPr lang="en-US" altLang="en-US" sz="2400"/>
              <a:t> by their rank </a:t>
            </a:r>
          </a:p>
          <a:p>
            <a:pPr lvl="1" eaLnBrk="1" hangingPunct="1">
              <a:lnSpc>
                <a:spcPct val="110000"/>
              </a:lnSpc>
            </a:pPr>
            <a:r>
              <a:rPr lang="en-US" altLang="en-US" sz="2400"/>
              <a:t>map the range of each variable onto [0, 1] by replacing</a:t>
            </a:r>
            <a:r>
              <a:rPr lang="en-US" altLang="en-US" sz="2400" i="1"/>
              <a:t> i</a:t>
            </a:r>
            <a:r>
              <a:rPr lang="en-US" altLang="en-US" sz="2400"/>
              <a:t>-th object in the </a:t>
            </a:r>
            <a:r>
              <a:rPr lang="en-US" altLang="en-US" sz="2400" i="1"/>
              <a:t>f</a:t>
            </a:r>
            <a:r>
              <a:rPr lang="en-US" altLang="en-US" sz="2400"/>
              <a:t>-th variable by</a:t>
            </a:r>
          </a:p>
          <a:p>
            <a:pPr lvl="1" eaLnBrk="1" hangingPunct="1">
              <a:lnSpc>
                <a:spcPct val="110000"/>
              </a:lnSpc>
            </a:pPr>
            <a:endParaRPr lang="en-US" altLang="en-US" sz="2400"/>
          </a:p>
          <a:p>
            <a:pPr lvl="1" eaLnBrk="1" hangingPunct="1">
              <a:lnSpc>
                <a:spcPct val="110000"/>
              </a:lnSpc>
            </a:pPr>
            <a:endParaRPr lang="en-US" altLang="en-US" sz="2400"/>
          </a:p>
          <a:p>
            <a:pPr lvl="1" eaLnBrk="1" hangingPunct="1">
              <a:lnSpc>
                <a:spcPct val="110000"/>
              </a:lnSpc>
            </a:pPr>
            <a:r>
              <a:rPr lang="en-US" altLang="en-US" sz="2400"/>
              <a:t>compute the dissimilarity using methods for interval-scaled variables</a:t>
            </a:r>
          </a:p>
        </p:txBody>
      </p:sp>
      <p:graphicFrame>
        <p:nvGraphicFramePr>
          <p:cNvPr id="62469" name="Object 4">
            <a:extLst>
              <a:ext uri="{FF2B5EF4-FFF2-40B4-BE49-F238E27FC236}">
                <a16:creationId xmlns:a16="http://schemas.microsoft.com/office/drawing/2014/main" id="{2595F6A7-96F3-5C49-C623-66B23B0F4274}"/>
              </a:ext>
            </a:extLst>
          </p:cNvPr>
          <p:cNvGraphicFramePr>
            <a:graphicFrameLocks noChangeAspect="1"/>
          </p:cNvGraphicFramePr>
          <p:nvPr/>
        </p:nvGraphicFramePr>
        <p:xfrm>
          <a:off x="3352800" y="4419600"/>
          <a:ext cx="2438400" cy="812800"/>
        </p:xfrm>
        <a:graphic>
          <a:graphicData uri="http://schemas.openxmlformats.org/presentationml/2006/ole">
            <mc:AlternateContent xmlns:mc="http://schemas.openxmlformats.org/markup-compatibility/2006">
              <mc:Choice xmlns:v="urn:schemas-microsoft-com:vml" Requires="v">
                <p:oleObj name="Equation" r:id="rId3" imgW="1168400" imgH="711200" progId="Equation.3">
                  <p:embed/>
                </p:oleObj>
              </mc:Choice>
              <mc:Fallback>
                <p:oleObj name="Equation" r:id="rId3" imgW="1168400" imgH="711200" progId="Equation.3">
                  <p:embed/>
                  <p:pic>
                    <p:nvPicPr>
                      <p:cNvPr id="62469" name="Object 4">
                        <a:extLst>
                          <a:ext uri="{FF2B5EF4-FFF2-40B4-BE49-F238E27FC236}">
                            <a16:creationId xmlns:a16="http://schemas.microsoft.com/office/drawing/2014/main" id="{2595F6A7-96F3-5C49-C623-66B23B0F4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4419600"/>
                        <a:ext cx="2438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70" name="Object 5">
            <a:extLst>
              <a:ext uri="{FF2B5EF4-FFF2-40B4-BE49-F238E27FC236}">
                <a16:creationId xmlns:a16="http://schemas.microsoft.com/office/drawing/2014/main" id="{7EF69306-FFBE-F1E2-9432-E078783A0AB4}"/>
              </a:ext>
            </a:extLst>
          </p:cNvPr>
          <p:cNvGraphicFramePr>
            <a:graphicFrameLocks noChangeAspect="1"/>
          </p:cNvGraphicFramePr>
          <p:nvPr/>
        </p:nvGraphicFramePr>
        <p:xfrm>
          <a:off x="5105400" y="2971800"/>
          <a:ext cx="2209800" cy="442913"/>
        </p:xfrm>
        <a:graphic>
          <a:graphicData uri="http://schemas.openxmlformats.org/presentationml/2006/ole">
            <mc:AlternateContent xmlns:mc="http://schemas.openxmlformats.org/markup-compatibility/2006">
              <mc:Choice xmlns:v="urn:schemas-microsoft-com:vml" Requires="v">
                <p:oleObj name="Equation" r:id="rId5" imgW="1397000" imgH="368300" progId="Equation.3">
                  <p:embed/>
                </p:oleObj>
              </mc:Choice>
              <mc:Fallback>
                <p:oleObj name="Equation" r:id="rId5" imgW="1397000" imgH="368300" progId="Equation.3">
                  <p:embed/>
                  <p:pic>
                    <p:nvPicPr>
                      <p:cNvPr id="62470" name="Object 5">
                        <a:extLst>
                          <a:ext uri="{FF2B5EF4-FFF2-40B4-BE49-F238E27FC236}">
                            <a16:creationId xmlns:a16="http://schemas.microsoft.com/office/drawing/2014/main" id="{7EF69306-FFBE-F1E2-9432-E078783A0A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2971800"/>
                        <a:ext cx="2209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7">
            <a:extLst>
              <a:ext uri="{FF2B5EF4-FFF2-40B4-BE49-F238E27FC236}">
                <a16:creationId xmlns:a16="http://schemas.microsoft.com/office/drawing/2014/main" id="{F9A93085-5469-BBE9-B68C-22996611489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CAEF3CD-DADD-445C-9707-F06514434407}" type="slidenum">
              <a:rPr lang="en-US" altLang="en-US" sz="1200"/>
              <a:pPr eaLnBrk="1" hangingPunct="1"/>
              <a:t>96</a:t>
            </a:fld>
            <a:endParaRPr lang="en-US" altLang="en-US" sz="1200"/>
          </a:p>
        </p:txBody>
      </p:sp>
      <p:sp>
        <p:nvSpPr>
          <p:cNvPr id="63491" name="Rectangle 2">
            <a:extLst>
              <a:ext uri="{FF2B5EF4-FFF2-40B4-BE49-F238E27FC236}">
                <a16:creationId xmlns:a16="http://schemas.microsoft.com/office/drawing/2014/main" id="{122C19B5-623B-FD90-5702-AF4BAB1C4610}"/>
              </a:ext>
            </a:extLst>
          </p:cNvPr>
          <p:cNvSpPr>
            <a:spLocks noGrp="1" noChangeArrowheads="1"/>
          </p:cNvSpPr>
          <p:nvPr>
            <p:ph type="title"/>
          </p:nvPr>
        </p:nvSpPr>
        <p:spPr/>
        <p:txBody>
          <a:bodyPr/>
          <a:lstStyle/>
          <a:p>
            <a:pPr eaLnBrk="1" hangingPunct="1"/>
            <a:r>
              <a:rPr lang="en-US" altLang="en-US" sz="3200">
                <a:solidFill>
                  <a:srgbClr val="170981"/>
                </a:solidFill>
              </a:rPr>
              <a:t>Attributes of Mixed Type</a:t>
            </a:r>
          </a:p>
        </p:txBody>
      </p:sp>
      <p:sp>
        <p:nvSpPr>
          <p:cNvPr id="63492" name="Rectangle 3">
            <a:extLst>
              <a:ext uri="{FF2B5EF4-FFF2-40B4-BE49-F238E27FC236}">
                <a16:creationId xmlns:a16="http://schemas.microsoft.com/office/drawing/2014/main" id="{18371A1E-3FEA-F5C5-FE30-EF4599F735B0}"/>
              </a:ext>
            </a:extLst>
          </p:cNvPr>
          <p:cNvSpPr>
            <a:spLocks noGrp="1" noChangeArrowheads="1"/>
          </p:cNvSpPr>
          <p:nvPr>
            <p:ph type="body" sz="half" idx="1"/>
          </p:nvPr>
        </p:nvSpPr>
        <p:spPr>
          <a:xfrm>
            <a:off x="304800" y="1295400"/>
            <a:ext cx="8534400" cy="5181600"/>
          </a:xfrm>
        </p:spPr>
        <p:txBody>
          <a:bodyPr/>
          <a:lstStyle/>
          <a:p>
            <a:pPr eaLnBrk="1" hangingPunct="1">
              <a:lnSpc>
                <a:spcPct val="90000"/>
              </a:lnSpc>
            </a:pPr>
            <a:r>
              <a:rPr lang="en-US" altLang="en-US" sz="2400"/>
              <a:t>A database may contain all attribute types</a:t>
            </a:r>
          </a:p>
          <a:p>
            <a:pPr lvl="1" eaLnBrk="1" hangingPunct="1">
              <a:lnSpc>
                <a:spcPct val="90000"/>
              </a:lnSpc>
            </a:pPr>
            <a:r>
              <a:rPr lang="en-US" altLang="en-US" sz="2400"/>
              <a:t>Nominal, symmetric binary, asymmetric binary, numeric, ordinal</a:t>
            </a:r>
          </a:p>
          <a:p>
            <a:pPr eaLnBrk="1" hangingPunct="1">
              <a:lnSpc>
                <a:spcPct val="90000"/>
              </a:lnSpc>
            </a:pPr>
            <a:r>
              <a:rPr lang="en-US" altLang="en-US" sz="2400"/>
              <a:t>One may use a weighted formula to combine their effects</a:t>
            </a:r>
          </a:p>
          <a:p>
            <a:pPr eaLnBrk="1" hangingPunct="1">
              <a:lnSpc>
                <a:spcPct val="90000"/>
              </a:lnSpc>
            </a:pPr>
            <a:endParaRPr lang="en-US" altLang="en-US" sz="2400"/>
          </a:p>
          <a:p>
            <a:pPr lvl="1" eaLnBrk="1" hangingPunct="1">
              <a:lnSpc>
                <a:spcPct val="90000"/>
              </a:lnSpc>
            </a:pPr>
            <a:endParaRPr lang="en-US" altLang="en-US" sz="2400" i="1"/>
          </a:p>
          <a:p>
            <a:pPr lvl="1" eaLnBrk="1" hangingPunct="1">
              <a:lnSpc>
                <a:spcPct val="90000"/>
              </a:lnSpc>
            </a:pPr>
            <a:endParaRPr lang="en-US" altLang="en-US" sz="2400" i="1"/>
          </a:p>
          <a:p>
            <a:pPr lvl="1" eaLnBrk="1" hangingPunct="1">
              <a:lnSpc>
                <a:spcPct val="90000"/>
              </a:lnSpc>
            </a:pPr>
            <a:r>
              <a:rPr lang="en-US" altLang="en-US" sz="2400" i="1"/>
              <a:t>f</a:t>
            </a:r>
            <a:r>
              <a:rPr lang="en-US" altLang="en-US" sz="2400"/>
              <a:t>  is binary or nominal:</a:t>
            </a:r>
          </a:p>
          <a:p>
            <a:pPr lvl="2" eaLnBrk="1" hangingPunct="1">
              <a:lnSpc>
                <a:spcPct val="90000"/>
              </a:lnSpc>
              <a:buFont typeface="Wingdings" panose="05000000000000000000" pitchFamily="2" charset="2"/>
              <a:buNone/>
            </a:pPr>
            <a:r>
              <a:rPr lang="en-US" altLang="en-US">
                <a:cs typeface="Tahoma" panose="020B0604030504040204" pitchFamily="34" charset="0"/>
              </a:rPr>
              <a:t>d</a:t>
            </a:r>
            <a:r>
              <a:rPr lang="en-US" altLang="en-US" baseline="-25000"/>
              <a:t>ij</a:t>
            </a:r>
            <a:r>
              <a:rPr lang="en-US" altLang="en-US" baseline="30000"/>
              <a:t>(f)</a:t>
            </a:r>
            <a:r>
              <a:rPr lang="en-US" altLang="en-US"/>
              <a:t> = 0  if x</a:t>
            </a:r>
            <a:r>
              <a:rPr lang="en-US" altLang="en-US" baseline="-25000"/>
              <a:t>if </a:t>
            </a:r>
            <a:r>
              <a:rPr lang="en-US" altLang="en-US"/>
              <a:t>= x</a:t>
            </a:r>
            <a:r>
              <a:rPr lang="en-US" altLang="en-US" baseline="-25000"/>
              <a:t>jf</a:t>
            </a:r>
            <a:r>
              <a:rPr lang="en-US" altLang="en-US"/>
              <a:t> , or </a:t>
            </a:r>
            <a:r>
              <a:rPr lang="en-US" altLang="en-US">
                <a:cs typeface="Tahoma" panose="020B0604030504040204" pitchFamily="34" charset="0"/>
              </a:rPr>
              <a:t>d</a:t>
            </a:r>
            <a:r>
              <a:rPr lang="en-US" altLang="en-US" baseline="-25000"/>
              <a:t>ij</a:t>
            </a:r>
            <a:r>
              <a:rPr lang="en-US" altLang="en-US" baseline="30000"/>
              <a:t>(f)</a:t>
            </a:r>
            <a:r>
              <a:rPr lang="en-US" altLang="en-US"/>
              <a:t> = 1 otherwise</a:t>
            </a:r>
          </a:p>
          <a:p>
            <a:pPr lvl="1" eaLnBrk="1" hangingPunct="1">
              <a:lnSpc>
                <a:spcPct val="90000"/>
              </a:lnSpc>
            </a:pPr>
            <a:r>
              <a:rPr lang="en-US" altLang="en-US" sz="2400" i="1"/>
              <a:t>f</a:t>
            </a:r>
            <a:r>
              <a:rPr lang="en-US" altLang="en-US" sz="2400"/>
              <a:t>  is numeric: use the normalized distance</a:t>
            </a:r>
          </a:p>
          <a:p>
            <a:pPr lvl="1" eaLnBrk="1" hangingPunct="1">
              <a:lnSpc>
                <a:spcPct val="90000"/>
              </a:lnSpc>
            </a:pPr>
            <a:r>
              <a:rPr lang="en-US" altLang="en-US" sz="2400" i="1"/>
              <a:t>f</a:t>
            </a:r>
            <a:r>
              <a:rPr lang="en-US" altLang="en-US" sz="2400"/>
              <a:t>  is ordinal </a:t>
            </a:r>
          </a:p>
          <a:p>
            <a:pPr lvl="2" eaLnBrk="1" hangingPunct="1">
              <a:lnSpc>
                <a:spcPct val="90000"/>
              </a:lnSpc>
            </a:pPr>
            <a:r>
              <a:rPr lang="en-US" altLang="en-US"/>
              <a:t>Compute ranks r</a:t>
            </a:r>
            <a:r>
              <a:rPr lang="en-US" altLang="en-US" baseline="-25000"/>
              <a:t>if</a:t>
            </a:r>
            <a:r>
              <a:rPr lang="en-US" altLang="en-US"/>
              <a:t> and  </a:t>
            </a:r>
          </a:p>
          <a:p>
            <a:pPr lvl="2" eaLnBrk="1" hangingPunct="1">
              <a:lnSpc>
                <a:spcPct val="90000"/>
              </a:lnSpc>
            </a:pPr>
            <a:r>
              <a:rPr lang="en-US" altLang="en-US"/>
              <a:t>Treat z</a:t>
            </a:r>
            <a:r>
              <a:rPr lang="en-US" altLang="en-US" baseline="-25000"/>
              <a:t>if</a:t>
            </a:r>
            <a:r>
              <a:rPr lang="en-US" altLang="en-US"/>
              <a:t> as interval-scaled</a:t>
            </a:r>
          </a:p>
          <a:p>
            <a:pPr lvl="2" eaLnBrk="1" hangingPunct="1">
              <a:lnSpc>
                <a:spcPct val="90000"/>
              </a:lnSpc>
            </a:pPr>
            <a:endParaRPr lang="en-US" altLang="en-US" sz="2000"/>
          </a:p>
        </p:txBody>
      </p:sp>
      <p:graphicFrame>
        <p:nvGraphicFramePr>
          <p:cNvPr id="63493" name="Object 4">
            <a:extLst>
              <a:ext uri="{FF2B5EF4-FFF2-40B4-BE49-F238E27FC236}">
                <a16:creationId xmlns:a16="http://schemas.microsoft.com/office/drawing/2014/main" id="{0E553033-50DD-DA80-70B9-3CC030E283AB}"/>
              </a:ext>
            </a:extLst>
          </p:cNvPr>
          <p:cNvGraphicFramePr>
            <a:graphicFrameLocks noGrp="1" noChangeAspect="1"/>
          </p:cNvGraphicFramePr>
          <p:nvPr>
            <p:ph sz="quarter" idx="2"/>
          </p:nvPr>
        </p:nvGraphicFramePr>
        <p:xfrm>
          <a:off x="2514600" y="2895600"/>
          <a:ext cx="3276600" cy="1146175"/>
        </p:xfrm>
        <a:graphic>
          <a:graphicData uri="http://schemas.openxmlformats.org/presentationml/2006/ole">
            <mc:AlternateContent xmlns:mc="http://schemas.openxmlformats.org/markup-compatibility/2006">
              <mc:Choice xmlns:v="urn:schemas-microsoft-com:vml" Requires="v">
                <p:oleObj name="Equation" r:id="rId3" imgW="2108200" imgH="736600" progId="Equation.3">
                  <p:embed/>
                </p:oleObj>
              </mc:Choice>
              <mc:Fallback>
                <p:oleObj name="Equation" r:id="rId3" imgW="2108200" imgH="736600" progId="Equation.3">
                  <p:embed/>
                  <p:pic>
                    <p:nvPicPr>
                      <p:cNvPr id="63493" name="Object 4">
                        <a:extLst>
                          <a:ext uri="{FF2B5EF4-FFF2-40B4-BE49-F238E27FC236}">
                            <a16:creationId xmlns:a16="http://schemas.microsoft.com/office/drawing/2014/main" id="{0E553033-50DD-DA80-70B9-3CC030E28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895600"/>
                        <a:ext cx="3276600" cy="1146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4" name="Object 5">
            <a:extLst>
              <a:ext uri="{FF2B5EF4-FFF2-40B4-BE49-F238E27FC236}">
                <a16:creationId xmlns:a16="http://schemas.microsoft.com/office/drawing/2014/main" id="{F4FBC6DC-69AB-79CE-0A5E-C458BF4AB496}"/>
              </a:ext>
            </a:extLst>
          </p:cNvPr>
          <p:cNvGraphicFramePr>
            <a:graphicFrameLocks noGrp="1" noChangeAspect="1"/>
          </p:cNvGraphicFramePr>
          <p:nvPr>
            <p:ph sz="quarter" idx="3"/>
          </p:nvPr>
        </p:nvGraphicFramePr>
        <p:xfrm>
          <a:off x="5791200" y="5748338"/>
          <a:ext cx="1371600" cy="728662"/>
        </p:xfrm>
        <a:graphic>
          <a:graphicData uri="http://schemas.openxmlformats.org/presentationml/2006/ole">
            <mc:AlternateContent xmlns:mc="http://schemas.openxmlformats.org/markup-compatibility/2006">
              <mc:Choice xmlns:v="urn:schemas-microsoft-com:vml" Requires="v">
                <p:oleObj name="Equation" r:id="rId5" imgW="1002865" imgH="533169" progId="Equation.3">
                  <p:embed/>
                </p:oleObj>
              </mc:Choice>
              <mc:Fallback>
                <p:oleObj name="Equation" r:id="rId5" imgW="1002865" imgH="533169" progId="Equation.3">
                  <p:embed/>
                  <p:pic>
                    <p:nvPicPr>
                      <p:cNvPr id="63494" name="Object 5">
                        <a:extLst>
                          <a:ext uri="{FF2B5EF4-FFF2-40B4-BE49-F238E27FC236}">
                            <a16:creationId xmlns:a16="http://schemas.microsoft.com/office/drawing/2014/main" id="{F4FBC6DC-69AB-79CE-0A5E-C458BF4AB4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5748338"/>
                        <a:ext cx="1371600"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8BD0AC7B-6EC8-87E8-1944-AEDE1CEA4C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27EB070-322B-46D7-ACD2-3B575C22614F}" type="slidenum">
              <a:rPr lang="en-US" altLang="en-US" sz="1200"/>
              <a:pPr eaLnBrk="1" hangingPunct="1"/>
              <a:t>97</a:t>
            </a:fld>
            <a:endParaRPr lang="en-US" altLang="en-US" sz="1200"/>
          </a:p>
        </p:txBody>
      </p:sp>
      <p:sp>
        <p:nvSpPr>
          <p:cNvPr id="64515" name="Rectangle 2">
            <a:extLst>
              <a:ext uri="{FF2B5EF4-FFF2-40B4-BE49-F238E27FC236}">
                <a16:creationId xmlns:a16="http://schemas.microsoft.com/office/drawing/2014/main" id="{6338C1D9-6670-8391-0D2D-2DA4828D8433}"/>
              </a:ext>
            </a:extLst>
          </p:cNvPr>
          <p:cNvSpPr>
            <a:spLocks noGrp="1" noChangeArrowheads="1"/>
          </p:cNvSpPr>
          <p:nvPr>
            <p:ph type="title"/>
          </p:nvPr>
        </p:nvSpPr>
        <p:spPr>
          <a:xfrm>
            <a:off x="752475" y="304800"/>
            <a:ext cx="7626350" cy="609600"/>
          </a:xfrm>
          <a:noFill/>
        </p:spPr>
        <p:txBody>
          <a:bodyPr lIns="92075" tIns="46038" rIns="92075" bIns="46038" anchor="ctr">
            <a:normAutofit fontScale="90000"/>
          </a:bodyPr>
          <a:lstStyle/>
          <a:p>
            <a:pPr eaLnBrk="1" hangingPunct="1"/>
            <a:r>
              <a:rPr lang="en-US" altLang="en-US">
                <a:solidFill>
                  <a:srgbClr val="170981"/>
                </a:solidFill>
              </a:rPr>
              <a:t> Cosine Similarity</a:t>
            </a:r>
          </a:p>
        </p:txBody>
      </p:sp>
      <p:sp>
        <p:nvSpPr>
          <p:cNvPr id="64516" name="Rectangle 3">
            <a:extLst>
              <a:ext uri="{FF2B5EF4-FFF2-40B4-BE49-F238E27FC236}">
                <a16:creationId xmlns:a16="http://schemas.microsoft.com/office/drawing/2014/main" id="{79E88CBD-D87C-53C8-ED11-86A11532FF17}"/>
              </a:ext>
            </a:extLst>
          </p:cNvPr>
          <p:cNvSpPr>
            <a:spLocks noGrp="1" noChangeArrowheads="1"/>
          </p:cNvSpPr>
          <p:nvPr>
            <p:ph type="body" idx="1"/>
          </p:nvPr>
        </p:nvSpPr>
        <p:spPr>
          <a:xfrm>
            <a:off x="152400" y="1066800"/>
            <a:ext cx="8763000" cy="5257800"/>
          </a:xfrm>
          <a:noFill/>
        </p:spPr>
        <p:txBody>
          <a:bodyPr lIns="92075" tIns="46038" rIns="92075" bIns="46038">
            <a:normAutofit lnSpcReduction="10000"/>
          </a:bodyPr>
          <a:lstStyle/>
          <a:p>
            <a:pPr eaLnBrk="1" hangingPunct="1">
              <a:lnSpc>
                <a:spcPct val="90000"/>
              </a:lnSpc>
            </a:pPr>
            <a:endParaRPr lang="en-US" altLang="en-US" sz="2000"/>
          </a:p>
          <a:p>
            <a:pPr eaLnBrk="1" hangingPunct="1">
              <a:lnSpc>
                <a:spcPct val="90000"/>
              </a:lnSpc>
            </a:pPr>
            <a:r>
              <a:rPr lang="en-US" altLang="en-US" sz="2000"/>
              <a:t>A </a:t>
            </a:r>
            <a:r>
              <a:rPr lang="en-US" altLang="en-US" sz="2000" b="1"/>
              <a:t>document</a:t>
            </a:r>
            <a:r>
              <a:rPr lang="en-US" altLang="en-US" sz="2000"/>
              <a:t> can be represented by thousands of attributes, each recording the </a:t>
            </a:r>
            <a:r>
              <a:rPr lang="en-US" altLang="en-US" sz="2000" i="1"/>
              <a:t>frequency</a:t>
            </a:r>
            <a:r>
              <a:rPr lang="en-US" altLang="en-US" sz="2000"/>
              <a:t> of a particular word (such as keywords) or phrase in the document.</a:t>
            </a:r>
          </a:p>
          <a:p>
            <a:pPr eaLnBrk="1" hangingPunct="1">
              <a:lnSpc>
                <a:spcPct val="90000"/>
              </a:lnSpc>
            </a:pPr>
            <a:endParaRPr lang="en-US" altLang="en-US" sz="2000"/>
          </a:p>
          <a:p>
            <a:pPr eaLnBrk="1" hangingPunct="1">
              <a:lnSpc>
                <a:spcPct val="90000"/>
              </a:lnSpc>
            </a:pPr>
            <a:endParaRPr lang="en-US" altLang="en-US" sz="2000"/>
          </a:p>
          <a:p>
            <a:pPr eaLnBrk="1" hangingPunct="1">
              <a:lnSpc>
                <a:spcPct val="90000"/>
              </a:lnSpc>
            </a:pPr>
            <a:endParaRPr lang="en-US" altLang="en-US" sz="2000"/>
          </a:p>
          <a:p>
            <a:pPr eaLnBrk="1" hangingPunct="1">
              <a:lnSpc>
                <a:spcPct val="90000"/>
              </a:lnSpc>
            </a:pPr>
            <a:endParaRPr lang="en-US" altLang="en-US" sz="2000"/>
          </a:p>
          <a:p>
            <a:pPr eaLnBrk="1" hangingPunct="1">
              <a:lnSpc>
                <a:spcPct val="90000"/>
              </a:lnSpc>
            </a:pPr>
            <a:endParaRPr lang="en-US" altLang="en-US" sz="2000"/>
          </a:p>
          <a:p>
            <a:pPr eaLnBrk="1" hangingPunct="1">
              <a:lnSpc>
                <a:spcPct val="90000"/>
              </a:lnSpc>
            </a:pPr>
            <a:r>
              <a:rPr lang="en-US" altLang="en-US" sz="2000"/>
              <a:t>Other vector objects: gene features in micro-arrays, …</a:t>
            </a:r>
          </a:p>
          <a:p>
            <a:pPr eaLnBrk="1" hangingPunct="1">
              <a:lnSpc>
                <a:spcPct val="90000"/>
              </a:lnSpc>
            </a:pPr>
            <a:r>
              <a:rPr lang="en-US" altLang="en-US" sz="2000"/>
              <a:t>Applications: information retrieval, biologic taxonomy, gene feature mapping, ...</a:t>
            </a:r>
          </a:p>
          <a:p>
            <a:pPr eaLnBrk="1" hangingPunct="1">
              <a:lnSpc>
                <a:spcPct val="90000"/>
              </a:lnSpc>
            </a:pPr>
            <a:r>
              <a:rPr lang="en-US" altLang="en-US" sz="2000"/>
              <a:t>Cosine measure: </a:t>
            </a:r>
            <a:r>
              <a:rPr lang="en-US" altLang="en-US" sz="2000">
                <a:cs typeface="Times New Roman" panose="02020603050405020304" pitchFamily="18" charset="0"/>
              </a:rPr>
              <a:t>If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and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are two vectors (e.g., term-frequency vectors), then</a:t>
            </a:r>
          </a:p>
          <a:p>
            <a:pPr algn="just" eaLnBrk="1" hangingPunct="1">
              <a:lnSpc>
                <a:spcPct val="90000"/>
              </a:lnSpc>
              <a:buFont typeface="Wingdings" panose="05000000000000000000" pitchFamily="2" charset="2"/>
              <a:buNone/>
            </a:pPr>
            <a:r>
              <a:rPr lang="en-US" altLang="en-US" sz="2000">
                <a:cs typeface="Times New Roman" panose="02020603050405020304" pitchFamily="18" charset="0"/>
              </a:rPr>
              <a:t>             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p>
          <a:p>
            <a:pPr lvl="1" algn="just" eaLnBrk="1" hangingPunct="1">
              <a:lnSpc>
                <a:spcPct val="90000"/>
              </a:lnSpc>
              <a:buFont typeface="Wingdings" panose="05000000000000000000" pitchFamily="2" charset="2"/>
              <a:buNone/>
            </a:pPr>
            <a:r>
              <a:rPr lang="en-US" altLang="en-US" sz="2000">
                <a:cs typeface="Times New Roman" panose="02020603050405020304" pitchFamily="18" charset="0"/>
              </a:rPr>
              <a:t>   where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indicates vector dot product, ||</a:t>
            </a:r>
            <a:r>
              <a:rPr lang="en-US" altLang="en-US" sz="2000" i="1">
                <a:cs typeface="Times New Roman" panose="02020603050405020304" pitchFamily="18" charset="0"/>
              </a:rPr>
              <a:t>d</a:t>
            </a:r>
            <a:r>
              <a:rPr lang="en-US" altLang="en-US" sz="2000">
                <a:cs typeface="Times New Roman" panose="02020603050405020304" pitchFamily="18" charset="0"/>
              </a:rPr>
              <a:t>||: the length of vector </a:t>
            </a:r>
            <a:r>
              <a:rPr lang="en-US" altLang="en-US" sz="2000" i="1">
                <a:cs typeface="Times New Roman" panose="02020603050405020304" pitchFamily="18" charset="0"/>
              </a:rPr>
              <a:t>d</a:t>
            </a:r>
          </a:p>
        </p:txBody>
      </p:sp>
      <p:pic>
        <p:nvPicPr>
          <p:cNvPr id="64517" name="Picture 4" descr="eqtable">
            <a:extLst>
              <a:ext uri="{FF2B5EF4-FFF2-40B4-BE49-F238E27FC236}">
                <a16:creationId xmlns:a16="http://schemas.microsoft.com/office/drawing/2014/main" id="{C3227CB0-C21C-007A-12EF-931F0DC8D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362200"/>
            <a:ext cx="8229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4E984AFD-E4F8-B567-266F-70FB1FF13C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A601874-566A-49CF-B30C-DFE56E55B334}" type="slidenum">
              <a:rPr lang="en-US" altLang="en-US" sz="1200"/>
              <a:pPr eaLnBrk="1" hangingPunct="1"/>
              <a:t>98</a:t>
            </a:fld>
            <a:endParaRPr lang="en-US" altLang="en-US" sz="1200"/>
          </a:p>
        </p:txBody>
      </p:sp>
      <p:sp>
        <p:nvSpPr>
          <p:cNvPr id="65539" name="Rectangle 2">
            <a:extLst>
              <a:ext uri="{FF2B5EF4-FFF2-40B4-BE49-F238E27FC236}">
                <a16:creationId xmlns:a16="http://schemas.microsoft.com/office/drawing/2014/main" id="{948023CF-4127-6F4B-F1C6-CFC03F9027C5}"/>
              </a:ext>
            </a:extLst>
          </p:cNvPr>
          <p:cNvSpPr>
            <a:spLocks noGrp="1" noChangeArrowheads="1"/>
          </p:cNvSpPr>
          <p:nvPr>
            <p:ph type="title"/>
          </p:nvPr>
        </p:nvSpPr>
        <p:spPr>
          <a:xfrm>
            <a:off x="752475" y="304800"/>
            <a:ext cx="7626350" cy="609600"/>
          </a:xfrm>
          <a:noFill/>
        </p:spPr>
        <p:txBody>
          <a:bodyPr lIns="92075" tIns="46038" rIns="92075" bIns="46038" anchor="ctr">
            <a:normAutofit fontScale="90000"/>
          </a:bodyPr>
          <a:lstStyle/>
          <a:p>
            <a:pPr eaLnBrk="1" hangingPunct="1"/>
            <a:r>
              <a:rPr lang="en-US" altLang="en-US">
                <a:solidFill>
                  <a:srgbClr val="170981"/>
                </a:solidFill>
              </a:rPr>
              <a:t> Example: Cosine Similarity</a:t>
            </a:r>
          </a:p>
        </p:txBody>
      </p:sp>
      <p:sp>
        <p:nvSpPr>
          <p:cNvPr id="65540" name="Rectangle 3">
            <a:extLst>
              <a:ext uri="{FF2B5EF4-FFF2-40B4-BE49-F238E27FC236}">
                <a16:creationId xmlns:a16="http://schemas.microsoft.com/office/drawing/2014/main" id="{F8A9CEE2-1DDD-2E93-267E-79D364A4515F}"/>
              </a:ext>
            </a:extLst>
          </p:cNvPr>
          <p:cNvSpPr>
            <a:spLocks noGrp="1" noChangeArrowheads="1"/>
          </p:cNvSpPr>
          <p:nvPr>
            <p:ph type="body" idx="1"/>
          </p:nvPr>
        </p:nvSpPr>
        <p:spPr>
          <a:xfrm>
            <a:off x="152400" y="1066800"/>
            <a:ext cx="8763000" cy="5257800"/>
          </a:xfrm>
          <a:noFill/>
        </p:spPr>
        <p:txBody>
          <a:bodyPr lIns="92075" tIns="46038" rIns="92075" bIns="46038">
            <a:normAutofit lnSpcReduction="10000"/>
          </a:bodyPr>
          <a:lstStyle/>
          <a:p>
            <a:pPr eaLnBrk="1" hangingPunct="1">
              <a:lnSpc>
                <a:spcPct val="90000"/>
              </a:lnSpc>
            </a:pPr>
            <a:endParaRPr lang="en-US" altLang="en-US" sz="2000">
              <a:cs typeface="Times New Roman" panose="02020603050405020304" pitchFamily="18" charset="0"/>
            </a:endParaRPr>
          </a:p>
          <a:p>
            <a:pPr eaLnBrk="1" hangingPunct="1">
              <a:lnSpc>
                <a:spcPct val="90000"/>
              </a:lnSpc>
            </a:pPr>
            <a:r>
              <a:rPr lang="en-US" altLang="en-US" sz="2000">
                <a:cs typeface="Times New Roman" panose="02020603050405020304" pitchFamily="18" charset="0"/>
              </a:rPr>
              <a:t>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 </a:t>
            </a:r>
          </a:p>
          <a:p>
            <a:pPr lvl="1" algn="just" eaLnBrk="1" hangingPunct="1">
              <a:lnSpc>
                <a:spcPct val="90000"/>
              </a:lnSpc>
              <a:buFont typeface="Wingdings" panose="05000000000000000000" pitchFamily="2" charset="2"/>
              <a:buNone/>
            </a:pPr>
            <a:r>
              <a:rPr lang="en-US" altLang="en-US" sz="2000">
                <a:cs typeface="Times New Roman" panose="02020603050405020304" pitchFamily="18" charset="0"/>
              </a:rPr>
              <a:t>   where </a:t>
            </a:r>
            <a:r>
              <a:rPr lang="en-US" altLang="en-US" sz="2000">
                <a:cs typeface="Times New Roman" panose="02020603050405020304" pitchFamily="18" charset="0"/>
                <a:sym typeface="Symbol" panose="05050102010706020507" pitchFamily="18" charset="2"/>
              </a:rPr>
              <a:t></a:t>
            </a:r>
            <a:r>
              <a:rPr lang="en-US" altLang="en-US" sz="2000">
                <a:cs typeface="Times New Roman" panose="02020603050405020304" pitchFamily="18" charset="0"/>
              </a:rPr>
              <a:t> indicates vector dot product, ||</a:t>
            </a:r>
            <a:r>
              <a:rPr lang="en-US" altLang="en-US" sz="2000" i="1">
                <a:cs typeface="Times New Roman" panose="02020603050405020304" pitchFamily="18" charset="0"/>
              </a:rPr>
              <a:t>d</a:t>
            </a:r>
            <a:r>
              <a:rPr lang="en-US" altLang="en-US" sz="2000">
                <a:cs typeface="Times New Roman" panose="02020603050405020304" pitchFamily="18" charset="0"/>
              </a:rPr>
              <a:t>|: the length of vector </a:t>
            </a:r>
            <a:r>
              <a:rPr lang="en-US" altLang="en-US" sz="2000" i="1">
                <a:cs typeface="Times New Roman" panose="02020603050405020304" pitchFamily="18" charset="0"/>
              </a:rPr>
              <a:t>d</a:t>
            </a:r>
          </a:p>
          <a:p>
            <a:pPr lvl="1" algn="just" eaLnBrk="1" hangingPunct="1">
              <a:lnSpc>
                <a:spcPct val="90000"/>
              </a:lnSpc>
              <a:buFont typeface="Wingdings" panose="05000000000000000000" pitchFamily="2" charset="2"/>
              <a:buNone/>
            </a:pPr>
            <a:endParaRPr lang="en-US" altLang="en-US" sz="2000" i="1">
              <a:cs typeface="Times New Roman" panose="02020603050405020304" pitchFamily="18" charset="0"/>
            </a:endParaRPr>
          </a:p>
          <a:p>
            <a:pPr algn="just" eaLnBrk="1" hangingPunct="1">
              <a:lnSpc>
                <a:spcPct val="90000"/>
              </a:lnSpc>
            </a:pPr>
            <a:r>
              <a:rPr lang="en-US" altLang="en-US" sz="2000">
                <a:cs typeface="Times New Roman" panose="02020603050405020304" pitchFamily="18" charset="0"/>
              </a:rPr>
              <a:t>Ex: Find the </a:t>
            </a:r>
            <a:r>
              <a:rPr lang="en-US" altLang="en-US" sz="2000" b="1">
                <a:cs typeface="Times New Roman" panose="02020603050405020304" pitchFamily="18" charset="0"/>
              </a:rPr>
              <a:t>similarity</a:t>
            </a:r>
            <a:r>
              <a:rPr lang="en-US" altLang="en-US" sz="2000">
                <a:cs typeface="Times New Roman" panose="02020603050405020304" pitchFamily="18" charset="0"/>
              </a:rPr>
              <a:t> between documents 1 and 2.</a:t>
            </a:r>
          </a:p>
          <a:p>
            <a:pPr algn="just" eaLnBrk="1" hangingPunct="1">
              <a:lnSpc>
                <a:spcPct val="90000"/>
              </a:lnSpc>
            </a:pPr>
            <a:endParaRPr lang="en-US" altLang="en-US" sz="2000">
              <a:cs typeface="Times New Roman" panose="02020603050405020304" pitchFamily="18" charset="0"/>
            </a:endParaRPr>
          </a:p>
          <a:p>
            <a:pPr lvl="1" algn="just" eaLnBrk="1" hangingPunct="1">
              <a:lnSpc>
                <a:spcPct val="90000"/>
              </a:lnSpc>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a:t>
            </a:r>
            <a:r>
              <a:rPr lang="en-US" altLang="en-US" sz="2000" b="1">
                <a:cs typeface="Times New Roman" panose="02020603050405020304" pitchFamily="18" charset="0"/>
              </a:rPr>
              <a:t>=  </a:t>
            </a:r>
            <a:r>
              <a:rPr lang="en-US" altLang="en-US" sz="2000">
                <a:cs typeface="Times New Roman" panose="02020603050405020304" pitchFamily="18" charset="0"/>
              </a:rPr>
              <a:t>(5, 0, 3, 0, 2, 0, 0, 2, 0, 0)</a:t>
            </a:r>
          </a:p>
          <a:p>
            <a:pPr lvl="1" algn="just" eaLnBrk="1" hangingPunct="1">
              <a:lnSpc>
                <a:spcPct val="90000"/>
              </a:lnSpc>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b="1">
                <a:cs typeface="Times New Roman" panose="02020603050405020304" pitchFamily="18" charset="0"/>
              </a:rPr>
              <a:t> =  </a:t>
            </a:r>
            <a:r>
              <a:rPr lang="en-US" altLang="en-US" sz="2000">
                <a:cs typeface="Times New Roman" panose="02020603050405020304" pitchFamily="18" charset="0"/>
              </a:rPr>
              <a:t>(3, 0, 2, 0, 1, 1, 0, 1, 0, 1)</a:t>
            </a:r>
          </a:p>
          <a:p>
            <a:pPr lvl="1" algn="just" eaLnBrk="1" hangingPunct="1">
              <a:lnSpc>
                <a:spcPct val="90000"/>
              </a:lnSpc>
              <a:buFont typeface="Wingdings" panose="05000000000000000000" pitchFamily="2" charset="2"/>
              <a:buNone/>
            </a:pPr>
            <a:endParaRPr lang="en-US" altLang="en-US" sz="2000">
              <a:cs typeface="Times New Roman" panose="02020603050405020304" pitchFamily="18" charset="0"/>
            </a:endParaRPr>
          </a:p>
          <a:p>
            <a:pPr lvl="1" algn="just" eaLnBrk="1" hangingPunct="1">
              <a:lnSpc>
                <a:spcPct val="90000"/>
              </a:lnSpc>
              <a:buFont typeface="Wingdings" panose="05000000000000000000" pitchFamily="2" charset="2"/>
              <a:buNone/>
            </a:pP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sym typeface="Symbol" panose="05050102010706020507" pitchFamily="18" charset="2"/>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2 </a:t>
            </a:r>
            <a:r>
              <a:rPr lang="en-US" altLang="en-US" sz="2000">
                <a:cs typeface="Times New Roman" panose="02020603050405020304" pitchFamily="18" charset="0"/>
              </a:rPr>
              <a:t>= 5*3+0*0+3*2+0*0+2*1+0*1+0*1+2*1+0*0+0*1 = 25</a:t>
            </a:r>
          </a:p>
          <a:p>
            <a:pPr lvl="1" algn="just" eaLnBrk="1" hangingPunct="1">
              <a:lnSpc>
                <a:spcPct val="90000"/>
              </a:lnSpc>
              <a:buFont typeface="Wingdings" panose="05000000000000000000" pitchFamily="2" charset="2"/>
              <a:buNone/>
            </a:pPr>
            <a:r>
              <a:rPr lang="en-US" altLang="en-US" sz="2000">
                <a:cs typeface="Times New Roman" panose="02020603050405020304" pitchFamily="18" charset="0"/>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a:cs typeface="Times New Roman" panose="02020603050405020304" pitchFamily="18" charset="0"/>
              </a:rPr>
              <a:t>||= (5*5+0*0+3*3+0*0+2*2+0*0+0*0+2*2+0*0+0*0)</a:t>
            </a:r>
            <a:r>
              <a:rPr lang="en-US" altLang="en-US" sz="2000" b="1" baseline="30000">
                <a:cs typeface="Times New Roman" panose="02020603050405020304" pitchFamily="18" charset="0"/>
              </a:rPr>
              <a:t>0.5</a:t>
            </a:r>
            <a:r>
              <a:rPr lang="en-US" altLang="en-US" sz="2000">
                <a:cs typeface="Times New Roman" panose="02020603050405020304" pitchFamily="18" charset="0"/>
              </a:rPr>
              <a:t>=(42)</a:t>
            </a:r>
            <a:r>
              <a:rPr lang="en-US" altLang="en-US" sz="2000" b="1" baseline="30000">
                <a:cs typeface="Times New Roman" panose="02020603050405020304" pitchFamily="18" charset="0"/>
              </a:rPr>
              <a:t>0.5</a:t>
            </a:r>
            <a:r>
              <a:rPr lang="en-US" altLang="en-US" sz="2000">
                <a:cs typeface="Times New Roman" panose="02020603050405020304" pitchFamily="18" charset="0"/>
              </a:rPr>
              <a:t>  = 6.481</a:t>
            </a:r>
          </a:p>
          <a:p>
            <a:pPr lvl="1" algn="just" eaLnBrk="1" hangingPunct="1">
              <a:lnSpc>
                <a:spcPct val="90000"/>
              </a:lnSpc>
              <a:buFont typeface="Wingdings" panose="05000000000000000000" pitchFamily="2" charset="2"/>
              <a:buNone/>
            </a:pPr>
            <a:r>
              <a:rPr lang="en-US" altLang="en-US" sz="2000">
                <a:cs typeface="Times New Roman" panose="02020603050405020304" pitchFamily="18" charset="0"/>
              </a:rPr>
              <a:t>||</a:t>
            </a:r>
            <a:r>
              <a:rPr lang="en-US" altLang="en-US" sz="2000" i="1">
                <a:cs typeface="Times New Roman" panose="02020603050405020304" pitchFamily="18" charset="0"/>
              </a:rPr>
              <a:t>d</a:t>
            </a:r>
            <a:r>
              <a:rPr lang="en-US" altLang="en-US" sz="2000" i="1" baseline="-30000">
                <a:cs typeface="Times New Roman" panose="02020603050405020304" pitchFamily="18" charset="0"/>
              </a:rPr>
              <a:t>2</a:t>
            </a:r>
            <a:r>
              <a:rPr lang="en-US" altLang="en-US" sz="2000">
                <a:cs typeface="Times New Roman" panose="02020603050405020304" pitchFamily="18" charset="0"/>
              </a:rPr>
              <a:t>||= (3*3+0*0+2*2+0*0+1*1+1*1+0*0+1*1+0*0+1*1)</a:t>
            </a:r>
            <a:r>
              <a:rPr lang="en-US" altLang="en-US" sz="2000" b="1" baseline="30000">
                <a:cs typeface="Times New Roman" panose="02020603050405020304" pitchFamily="18" charset="0"/>
              </a:rPr>
              <a:t>0.5</a:t>
            </a:r>
            <a:r>
              <a:rPr lang="en-US" altLang="en-US" sz="2000">
                <a:cs typeface="Times New Roman" panose="02020603050405020304" pitchFamily="18" charset="0"/>
              </a:rPr>
              <a:t>=(17)</a:t>
            </a:r>
            <a:r>
              <a:rPr lang="en-US" altLang="en-US" sz="2000" b="1" baseline="30000">
                <a:cs typeface="Times New Roman" panose="02020603050405020304" pitchFamily="18" charset="0"/>
              </a:rPr>
              <a:t>0.5</a:t>
            </a:r>
            <a:r>
              <a:rPr lang="en-US" altLang="en-US" sz="2000">
                <a:cs typeface="Times New Roman" panose="02020603050405020304" pitchFamily="18" charset="0"/>
              </a:rPr>
              <a:t>       = 4.12</a:t>
            </a:r>
          </a:p>
          <a:p>
            <a:pPr lvl="1" algn="just" eaLnBrk="1" hangingPunct="1">
              <a:lnSpc>
                <a:spcPct val="90000"/>
              </a:lnSpc>
              <a:buFont typeface="Wingdings" panose="05000000000000000000" pitchFamily="2" charset="2"/>
              <a:buNone/>
            </a:pPr>
            <a:r>
              <a:rPr lang="en-US" altLang="en-US" sz="2000">
                <a:cs typeface="Times New Roman" panose="02020603050405020304" pitchFamily="18" charset="0"/>
              </a:rPr>
              <a:t>cos(</a:t>
            </a:r>
            <a:r>
              <a:rPr lang="en-US" altLang="en-US" sz="2000" i="1">
                <a:cs typeface="Times New Roman" panose="02020603050405020304" pitchFamily="18" charset="0"/>
              </a:rPr>
              <a:t>d</a:t>
            </a:r>
            <a:r>
              <a:rPr lang="en-US" altLang="en-US" sz="2000" i="1" baseline="-30000">
                <a:cs typeface="Times New Roman" panose="02020603050405020304" pitchFamily="18" charset="0"/>
              </a:rPr>
              <a:t>1</a:t>
            </a:r>
            <a:r>
              <a:rPr lang="en-US" altLang="en-US" sz="2000" i="1">
                <a:cs typeface="Times New Roman" panose="02020603050405020304" pitchFamily="18" charset="0"/>
              </a:rPr>
              <a:t>, d</a:t>
            </a:r>
            <a:r>
              <a:rPr lang="en-US" altLang="en-US" sz="2000" i="1" baseline="-30000">
                <a:cs typeface="Times New Roman" panose="02020603050405020304" pitchFamily="18" charset="0"/>
              </a:rPr>
              <a:t>2</a:t>
            </a:r>
            <a:r>
              <a:rPr lang="en-US" altLang="en-US" sz="2000">
                <a:cs typeface="Times New Roman" panose="02020603050405020304" pitchFamily="18" charset="0"/>
              </a:rPr>
              <a:t> ) = 0.94</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11070</TotalTime>
  <Words>7708</Words>
  <Application>Microsoft Office PowerPoint</Application>
  <PresentationFormat>On-screen Show (4:3)</PresentationFormat>
  <Paragraphs>910</Paragraphs>
  <Slides>99</Slides>
  <Notes>52</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7</vt:i4>
      </vt:variant>
      <vt:variant>
        <vt:lpstr>Slide Titles</vt:lpstr>
      </vt:variant>
      <vt:variant>
        <vt:i4>99</vt:i4>
      </vt:variant>
    </vt:vector>
  </HeadingPairs>
  <TitlesOfParts>
    <vt:vector size="119" baseType="lpstr">
      <vt:lpstr>Aptos</vt:lpstr>
      <vt:lpstr>Arial</vt:lpstr>
      <vt:lpstr>Arial Narrow</vt:lpstr>
      <vt:lpstr>Inter</vt:lpstr>
      <vt:lpstr>Lucida Sans Unicode</vt:lpstr>
      <vt:lpstr>Symbol</vt:lpstr>
      <vt:lpstr>Tahoma</vt:lpstr>
      <vt:lpstr>Times New Roman</vt:lpstr>
      <vt:lpstr>Verdana</vt:lpstr>
      <vt:lpstr>Wingdings</vt:lpstr>
      <vt:lpstr>Wingdings 2</vt:lpstr>
      <vt:lpstr>Wingdings 3</vt:lpstr>
      <vt:lpstr>Concourse</vt:lpstr>
      <vt:lpstr>Visio</vt:lpstr>
      <vt:lpstr>Document</vt:lpstr>
      <vt:lpstr>Microsoft Equation 3.0</vt:lpstr>
      <vt:lpstr>Equation</vt:lpstr>
      <vt:lpstr>Chart</vt:lpstr>
      <vt:lpstr>SmartDraw</vt:lpstr>
      <vt:lpstr>Worksheet</vt:lpstr>
      <vt:lpstr>Data Mining Unit-I: Introduction to Data Mining</vt:lpstr>
      <vt:lpstr>Course Overview</vt:lpstr>
      <vt:lpstr>Data Mining Syllabus</vt:lpstr>
      <vt:lpstr>PowerPoint Presentation</vt:lpstr>
      <vt:lpstr>UNIT - I Introduction to Data Mining</vt:lpstr>
      <vt:lpstr>Unit I: Introductionto Data Mining</vt:lpstr>
      <vt:lpstr>Chapter 2 in Prescribed textbook</vt:lpstr>
      <vt:lpstr>Types of Data Sets </vt:lpstr>
      <vt:lpstr>Important Characteristics of Structured Data</vt:lpstr>
      <vt:lpstr>Data Objects</vt:lpstr>
      <vt:lpstr>Types of Attributes</vt:lpstr>
      <vt:lpstr>Nominal Attributes</vt:lpstr>
      <vt:lpstr>Binary Attributes</vt:lpstr>
      <vt:lpstr>Ordinal Attributes</vt:lpstr>
      <vt:lpstr>Numerical Attributes</vt:lpstr>
      <vt:lpstr>Discrete vs. Continuous Attributes </vt:lpstr>
      <vt:lpstr>PowerPoint Presentation</vt:lpstr>
      <vt:lpstr>Basic Statistical Descriptions of Data</vt:lpstr>
      <vt:lpstr>Basic Statistical Descriptions of Data</vt:lpstr>
      <vt:lpstr>Measuring the Central Tendency</vt:lpstr>
      <vt:lpstr> Symmetric vs. Skewed Data</vt:lpstr>
      <vt:lpstr>PowerPoint Presentation</vt:lpstr>
      <vt:lpstr>Measuring the Dispersion of Data</vt:lpstr>
      <vt:lpstr> Boxplot Analysis</vt:lpstr>
      <vt:lpstr>Visualization of Data Dispersion: 3-D Boxplots</vt:lpstr>
      <vt:lpstr>Properties of Normal Distribution Curve</vt:lpstr>
      <vt:lpstr>Graphic Displays of Basic Statistical Descriptions</vt:lpstr>
      <vt:lpstr>Histogram Analysis</vt:lpstr>
      <vt:lpstr>Histograms Often Tell More than Boxplots</vt:lpstr>
      <vt:lpstr>Quantile Plot</vt:lpstr>
      <vt:lpstr>Quantile-Quantile (Q-Q) Plot</vt:lpstr>
      <vt:lpstr>Scatter plot</vt:lpstr>
      <vt:lpstr>Positively and Negatively Correlated Data</vt:lpstr>
      <vt:lpstr>Dataset Description </vt:lpstr>
      <vt:lpstr>Importing Libraries and Loading Data</vt:lpstr>
      <vt:lpstr>Understanding Data</vt:lpstr>
      <vt:lpstr>Understanding Data- Data Preparation</vt:lpstr>
      <vt:lpstr>Understanding Data- General Statistical Analysis</vt:lpstr>
      <vt:lpstr>Understanding Data- Class-wise Statistical Analysis</vt:lpstr>
      <vt:lpstr>Understanding Data- Class-wise Statistical Analysis Contd…</vt:lpstr>
      <vt:lpstr>Understanding Data- Class-wise Statistical Analysis Contd…</vt:lpstr>
      <vt:lpstr>Uni-variate Data Analysis</vt:lpstr>
      <vt:lpstr>Uni-variate Data Analysis- Distribution Plots Contd..</vt:lpstr>
      <vt:lpstr>Uni-variate Data Analysis- Distribution Plots Contd..</vt:lpstr>
      <vt:lpstr>Uni-variate Data Analysis- Distribution Plots Contd..</vt:lpstr>
      <vt:lpstr>Uni-variate Data Analysis- Distribution Plots Contd..</vt:lpstr>
      <vt:lpstr>Uni-variate Data Analysis- Box Plots Contd..</vt:lpstr>
      <vt:lpstr>Uni-variate Data Analysis- Box Plots Contd..</vt:lpstr>
      <vt:lpstr>Uni-variate Data Analysis- Violin Plots </vt:lpstr>
      <vt:lpstr>Uni-variate Data Analysis- Violin Plots </vt:lpstr>
      <vt:lpstr>Uni-variate Data Analysis- Bar Charts </vt:lpstr>
      <vt:lpstr>Uni-variate Data Analysis- Histograms </vt:lpstr>
      <vt:lpstr>Bi-variate Data Analysis-Pair Plot</vt:lpstr>
      <vt:lpstr>Bi-variate Data Analysis-Pair Plot</vt:lpstr>
      <vt:lpstr>Bi-variate Data Analysis-Joint Plot</vt:lpstr>
      <vt:lpstr>Bi-variate Data Analysis-Joint Plot</vt:lpstr>
      <vt:lpstr>Bi-variate Data Analysis-Heatmap</vt:lpstr>
      <vt:lpstr>Bi-variate Data Analysis-Heatmap</vt:lpstr>
      <vt:lpstr>Multivariate Analysis-Contour Plot</vt:lpstr>
      <vt:lpstr>Multivariate Analysis-Contour Plot</vt:lpstr>
      <vt:lpstr>Multivariate Analysis- 3D Scatter Plot</vt:lpstr>
      <vt:lpstr>PowerPoint Presentation</vt:lpstr>
      <vt:lpstr>Data Visualization</vt:lpstr>
      <vt:lpstr>Pixel-Oriented Visualization Techniques</vt:lpstr>
      <vt:lpstr>Laying Out Pixels in Circle Segments</vt:lpstr>
      <vt:lpstr>Geometric Projection Visualization Techniques</vt:lpstr>
      <vt:lpstr>Direct Data Visualization</vt:lpstr>
      <vt:lpstr>Scatterplot Matrices</vt:lpstr>
      <vt:lpstr>Landscapes</vt:lpstr>
      <vt:lpstr>Parallel Coordinates</vt:lpstr>
      <vt:lpstr>Parallel Coordinates of a Data Set</vt:lpstr>
      <vt:lpstr>Icon-Based Visualization Techniques</vt:lpstr>
      <vt:lpstr>Chernoff Faces</vt:lpstr>
      <vt:lpstr>Stick Figure</vt:lpstr>
      <vt:lpstr>Hierarchical Visualization Techniques</vt:lpstr>
      <vt:lpstr>Dimensional Stacking</vt:lpstr>
      <vt:lpstr>Dimensional Stacking</vt:lpstr>
      <vt:lpstr>Worlds-within-Worlds</vt:lpstr>
      <vt:lpstr>Tree-Map</vt:lpstr>
      <vt:lpstr>Tree-Map of a File System (Schneiderman)</vt:lpstr>
      <vt:lpstr>InfoCube</vt:lpstr>
      <vt:lpstr>Three-D Cone Trees</vt:lpstr>
      <vt:lpstr>Visualizing Complex Data and Relations</vt:lpstr>
      <vt:lpstr>PowerPoint Presentation</vt:lpstr>
      <vt:lpstr>Similarity and Dissimilarity</vt:lpstr>
      <vt:lpstr>Data Matrix and Dissimilarity Matrix</vt:lpstr>
      <vt:lpstr>Proximity Measure for Nominal Attributes</vt:lpstr>
      <vt:lpstr>Proximity Measure for Binary Attributes</vt:lpstr>
      <vt:lpstr>Dissimilarity between Binary Variables</vt:lpstr>
      <vt:lpstr>Standardizing Numeric Data</vt:lpstr>
      <vt:lpstr>Example:  Data Matrix and Dissimilarity Matrix</vt:lpstr>
      <vt:lpstr>Distance on Numeric Data: Minkowski Distance</vt:lpstr>
      <vt:lpstr>Special Cases of Minkowski Distance</vt:lpstr>
      <vt:lpstr>Example: Minkowski Distance</vt:lpstr>
      <vt:lpstr>Ordinal Variables</vt:lpstr>
      <vt:lpstr>Attributes of Mixed Type</vt:lpstr>
      <vt:lpstr> Cosine Similarity</vt:lpstr>
      <vt:lpstr> Example: Cosine Similarity</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21</cp:revision>
  <dcterms:created xsi:type="dcterms:W3CDTF">2024-02-25T13:29:34Z</dcterms:created>
  <dcterms:modified xsi:type="dcterms:W3CDTF">2026-07-27T04:12:05Z</dcterms:modified>
</cp:coreProperties>
</file>